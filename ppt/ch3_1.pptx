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emf" ContentType="image/x-emf"/>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tags/tag48.xml" ContentType="application/vnd.openxmlformats-officedocument.presentationml.tags+xml"/>
  <Override PartName="/ppt/notesSlides/notesSlide72.xml" ContentType="application/vnd.openxmlformats-officedocument.presentationml.notesSlide+xml"/>
  <Override PartName="/ppt/tags/tag49.xml" ContentType="application/vnd.openxmlformats-officedocument.presentationml.tags+xml"/>
  <Override PartName="/ppt/notesSlides/notesSlide73.xml" ContentType="application/vnd.openxmlformats-officedocument.presentationml.notesSlide+xml"/>
  <Override PartName="/ppt/tags/tag50.xml" ContentType="application/vnd.openxmlformats-officedocument.presentationml.tags+xml"/>
  <Override PartName="/ppt/notesSlides/notesSlide74.xml" ContentType="application/vnd.openxmlformats-officedocument.presentationml.notesSlide+xml"/>
  <Override PartName="/ppt/tags/tag51.xml" ContentType="application/vnd.openxmlformats-officedocument.presentationml.tags+xml"/>
  <Override PartName="/ppt/notesSlides/notesSlide75.xml" ContentType="application/vnd.openxmlformats-officedocument.presentationml.notesSlide+xml"/>
  <Override PartName="/ppt/tags/tag52.xml" ContentType="application/vnd.openxmlformats-officedocument.presentationml.tags+xml"/>
  <Override PartName="/ppt/notesSlides/notesSlide76.xml" ContentType="application/vnd.openxmlformats-officedocument.presentationml.notesSlide+xml"/>
  <Override PartName="/ppt/tags/tag53.xml" ContentType="application/vnd.openxmlformats-officedocument.presentationml.tags+xml"/>
  <Override PartName="/ppt/notesSlides/notesSlide77.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notesSlides/notesSlide78.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notesSlides/notesSlide79.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notesSlides/notesSlide80.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notesSlides/notesSlide81.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notesSlides/notesSlide82.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notesSlides/notesSlide83.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notesSlides/notesSlide84.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notesSlides/notesSlide85.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notesSlides/notesSlide86.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64" r:id="rId2"/>
  </p:sldMasterIdLst>
  <p:notesMasterIdLst>
    <p:notesMasterId r:id="rId127"/>
  </p:notesMasterIdLst>
  <p:handoutMasterIdLst>
    <p:handoutMasterId r:id="rId128"/>
  </p:handoutMasterIdLst>
  <p:sldIdLst>
    <p:sldId id="520" r:id="rId3"/>
    <p:sldId id="518" r:id="rId4"/>
    <p:sldId id="401" r:id="rId5"/>
    <p:sldId id="404" r:id="rId6"/>
    <p:sldId id="405" r:id="rId7"/>
    <p:sldId id="403" r:id="rId8"/>
    <p:sldId id="402" r:id="rId9"/>
    <p:sldId id="406" r:id="rId10"/>
    <p:sldId id="407" r:id="rId11"/>
    <p:sldId id="408" r:id="rId12"/>
    <p:sldId id="409" r:id="rId13"/>
    <p:sldId id="410" r:id="rId14"/>
    <p:sldId id="411" r:id="rId15"/>
    <p:sldId id="412" r:id="rId16"/>
    <p:sldId id="413" r:id="rId17"/>
    <p:sldId id="414" r:id="rId18"/>
    <p:sldId id="415" r:id="rId19"/>
    <p:sldId id="284" r:id="rId20"/>
    <p:sldId id="416" r:id="rId21"/>
    <p:sldId id="417" r:id="rId22"/>
    <p:sldId id="418" r:id="rId23"/>
    <p:sldId id="419" r:id="rId24"/>
    <p:sldId id="420" r:id="rId25"/>
    <p:sldId id="421" r:id="rId26"/>
    <p:sldId id="422" r:id="rId27"/>
    <p:sldId id="396" r:id="rId28"/>
    <p:sldId id="423" r:id="rId29"/>
    <p:sldId id="424" r:id="rId30"/>
    <p:sldId id="425" r:id="rId31"/>
    <p:sldId id="426" r:id="rId32"/>
    <p:sldId id="427" r:id="rId33"/>
    <p:sldId id="428" r:id="rId34"/>
    <p:sldId id="429" r:id="rId35"/>
    <p:sldId id="430" r:id="rId36"/>
    <p:sldId id="431" r:id="rId37"/>
    <p:sldId id="432" r:id="rId38"/>
    <p:sldId id="433" r:id="rId39"/>
    <p:sldId id="521" r:id="rId40"/>
    <p:sldId id="434" r:id="rId41"/>
    <p:sldId id="435" r:id="rId42"/>
    <p:sldId id="519" r:id="rId43"/>
    <p:sldId id="436" r:id="rId44"/>
    <p:sldId id="437" r:id="rId45"/>
    <p:sldId id="438" r:id="rId46"/>
    <p:sldId id="439" r:id="rId47"/>
    <p:sldId id="440" r:id="rId48"/>
    <p:sldId id="441" r:id="rId49"/>
    <p:sldId id="442" r:id="rId50"/>
    <p:sldId id="443" r:id="rId51"/>
    <p:sldId id="444" r:id="rId52"/>
    <p:sldId id="445" r:id="rId53"/>
    <p:sldId id="446" r:id="rId54"/>
    <p:sldId id="447" r:id="rId55"/>
    <p:sldId id="448" r:id="rId56"/>
    <p:sldId id="449" r:id="rId57"/>
    <p:sldId id="450" r:id="rId58"/>
    <p:sldId id="451" r:id="rId59"/>
    <p:sldId id="452" r:id="rId60"/>
    <p:sldId id="453" r:id="rId61"/>
    <p:sldId id="454" r:id="rId62"/>
    <p:sldId id="455" r:id="rId63"/>
    <p:sldId id="456" r:id="rId64"/>
    <p:sldId id="457" r:id="rId65"/>
    <p:sldId id="458" r:id="rId66"/>
    <p:sldId id="459" r:id="rId67"/>
    <p:sldId id="460" r:id="rId68"/>
    <p:sldId id="461" r:id="rId69"/>
    <p:sldId id="462" r:id="rId70"/>
    <p:sldId id="498" r:id="rId71"/>
    <p:sldId id="499" r:id="rId72"/>
    <p:sldId id="463" r:id="rId73"/>
    <p:sldId id="464" r:id="rId74"/>
    <p:sldId id="465" r:id="rId75"/>
    <p:sldId id="466" r:id="rId76"/>
    <p:sldId id="467" r:id="rId77"/>
    <p:sldId id="468" r:id="rId78"/>
    <p:sldId id="469" r:id="rId79"/>
    <p:sldId id="470" r:id="rId80"/>
    <p:sldId id="471" r:id="rId81"/>
    <p:sldId id="472" r:id="rId82"/>
    <p:sldId id="473" r:id="rId83"/>
    <p:sldId id="474" r:id="rId84"/>
    <p:sldId id="475" r:id="rId85"/>
    <p:sldId id="476" r:id="rId86"/>
    <p:sldId id="477" r:id="rId87"/>
    <p:sldId id="478" r:id="rId88"/>
    <p:sldId id="479" r:id="rId89"/>
    <p:sldId id="480" r:id="rId90"/>
    <p:sldId id="481" r:id="rId91"/>
    <p:sldId id="482" r:id="rId92"/>
    <p:sldId id="483" r:id="rId93"/>
    <p:sldId id="485" r:id="rId94"/>
    <p:sldId id="486" r:id="rId95"/>
    <p:sldId id="487" r:id="rId96"/>
    <p:sldId id="488" r:id="rId97"/>
    <p:sldId id="489" r:id="rId98"/>
    <p:sldId id="490" r:id="rId99"/>
    <p:sldId id="491" r:id="rId100"/>
    <p:sldId id="492" r:id="rId101"/>
    <p:sldId id="493" r:id="rId102"/>
    <p:sldId id="494" r:id="rId103"/>
    <p:sldId id="495" r:id="rId104"/>
    <p:sldId id="496" r:id="rId105"/>
    <p:sldId id="497" r:id="rId106"/>
    <p:sldId id="500" r:id="rId107"/>
    <p:sldId id="484" r:id="rId108"/>
    <p:sldId id="501" r:id="rId109"/>
    <p:sldId id="502" r:id="rId110"/>
    <p:sldId id="503" r:id="rId111"/>
    <p:sldId id="504" r:id="rId112"/>
    <p:sldId id="505" r:id="rId113"/>
    <p:sldId id="506" r:id="rId114"/>
    <p:sldId id="507" r:id="rId115"/>
    <p:sldId id="508" r:id="rId116"/>
    <p:sldId id="509" r:id="rId117"/>
    <p:sldId id="510" r:id="rId118"/>
    <p:sldId id="511" r:id="rId119"/>
    <p:sldId id="512" r:id="rId120"/>
    <p:sldId id="513" r:id="rId121"/>
    <p:sldId id="514" r:id="rId122"/>
    <p:sldId id="515" r:id="rId123"/>
    <p:sldId id="516" r:id="rId124"/>
    <p:sldId id="517" r:id="rId125"/>
    <p:sldId id="399" r:id="rId126"/>
  </p:sldIdLst>
  <p:sldSz cx="9144000" cy="5143500" type="screen16x9"/>
  <p:notesSz cx="6858000" cy="9144000"/>
  <p:custDataLst>
    <p:tags r:id="rId1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94">
          <p15:clr>
            <a:srgbClr val="A4A3A4"/>
          </p15:clr>
        </p15:guide>
        <p15:guide id="2" pos="2815">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4"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A1DA"/>
    <a:srgbClr val="4EE5FA"/>
    <a:srgbClr val="FFFFFF"/>
    <a:srgbClr val="558ED5"/>
    <a:srgbClr val="0065B0"/>
    <a:srgbClr val="268099"/>
    <a:srgbClr val="005CA8"/>
    <a:srgbClr val="0060A8"/>
    <a:srgbClr val="19C3FF"/>
    <a:srgbClr val="00C0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849" autoAdjust="0"/>
    <p:restoredTop sz="70030" autoAdjust="0"/>
  </p:normalViewPr>
  <p:slideViewPr>
    <p:cSldViewPr>
      <p:cViewPr varScale="1">
        <p:scale>
          <a:sx n="101" d="100"/>
          <a:sy n="101" d="100"/>
        </p:scale>
        <p:origin x="786" y="96"/>
      </p:cViewPr>
      <p:guideLst>
        <p:guide orient="horz" pos="1594"/>
        <p:guide pos="2815"/>
      </p:guideLst>
    </p:cSldViewPr>
  </p:slideViewPr>
  <p:notesTextViewPr>
    <p:cViewPr>
      <p:scale>
        <a:sx n="100" d="100"/>
        <a:sy n="100" d="100"/>
      </p:scale>
      <p:origin x="0" y="0"/>
    </p:cViewPr>
  </p:notesTextViewPr>
  <p:sorterViewPr>
    <p:cViewPr>
      <p:scale>
        <a:sx n="100" d="100"/>
        <a:sy n="100" d="100"/>
      </p:scale>
      <p:origin x="0" y="1302"/>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handoutMaster" Target="handoutMasters/handoutMaster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tableStyles" Target="tableStyle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tags" Target="tags/tag1.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commentAuthors" Target="commentAuthor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viewProps" Target="viewProp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image" Target="../media/image4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9.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91.wmf"/><Relationship Id="rId7" Type="http://schemas.openxmlformats.org/officeDocument/2006/relationships/image" Target="../media/image95.emf"/><Relationship Id="rId2" Type="http://schemas.openxmlformats.org/officeDocument/2006/relationships/image" Target="../media/image90.wmf"/><Relationship Id="rId1" Type="http://schemas.openxmlformats.org/officeDocument/2006/relationships/image" Target="../media/image89.wmf"/><Relationship Id="rId6" Type="http://schemas.openxmlformats.org/officeDocument/2006/relationships/image" Target="../media/image94.wmf"/><Relationship Id="rId5" Type="http://schemas.openxmlformats.org/officeDocument/2006/relationships/image" Target="../media/image93.wmf"/><Relationship Id="rId4" Type="http://schemas.openxmlformats.org/officeDocument/2006/relationships/image" Target="../media/image92.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103.wmf"/><Relationship Id="rId13" Type="http://schemas.openxmlformats.org/officeDocument/2006/relationships/image" Target="../media/image79.wmf"/><Relationship Id="rId3" Type="http://schemas.openxmlformats.org/officeDocument/2006/relationships/image" Target="../media/image98.wmf"/><Relationship Id="rId7" Type="http://schemas.openxmlformats.org/officeDocument/2006/relationships/image" Target="../media/image102.wmf"/><Relationship Id="rId12" Type="http://schemas.openxmlformats.org/officeDocument/2006/relationships/image" Target="../media/image107.wmf"/><Relationship Id="rId17" Type="http://schemas.openxmlformats.org/officeDocument/2006/relationships/image" Target="../media/image93.wmf"/><Relationship Id="rId2" Type="http://schemas.openxmlformats.org/officeDocument/2006/relationships/image" Target="../media/image97.wmf"/><Relationship Id="rId16" Type="http://schemas.openxmlformats.org/officeDocument/2006/relationships/image" Target="../media/image92.wmf"/><Relationship Id="rId1" Type="http://schemas.openxmlformats.org/officeDocument/2006/relationships/image" Target="../media/image96.wmf"/><Relationship Id="rId6" Type="http://schemas.openxmlformats.org/officeDocument/2006/relationships/image" Target="../media/image101.wmf"/><Relationship Id="rId11" Type="http://schemas.openxmlformats.org/officeDocument/2006/relationships/image" Target="../media/image106.wmf"/><Relationship Id="rId5" Type="http://schemas.openxmlformats.org/officeDocument/2006/relationships/image" Target="../media/image100.wmf"/><Relationship Id="rId15" Type="http://schemas.openxmlformats.org/officeDocument/2006/relationships/image" Target="../media/image91.wmf"/><Relationship Id="rId10" Type="http://schemas.openxmlformats.org/officeDocument/2006/relationships/image" Target="../media/image105.wmf"/><Relationship Id="rId4" Type="http://schemas.openxmlformats.org/officeDocument/2006/relationships/image" Target="../media/image99.wmf"/><Relationship Id="rId9" Type="http://schemas.openxmlformats.org/officeDocument/2006/relationships/image" Target="../media/image104.wmf"/><Relationship Id="rId14" Type="http://schemas.openxmlformats.org/officeDocument/2006/relationships/image" Target="../media/image90.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0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image" Target="../media/image110.wmf"/><Relationship Id="rId1" Type="http://schemas.openxmlformats.org/officeDocument/2006/relationships/image" Target="../media/image109.wmf"/><Relationship Id="rId5" Type="http://schemas.openxmlformats.org/officeDocument/2006/relationships/image" Target="../media/image113.wmf"/><Relationship Id="rId4" Type="http://schemas.openxmlformats.org/officeDocument/2006/relationships/image" Target="../media/image112.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14.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115.wmf"/><Relationship Id="rId1" Type="http://schemas.openxmlformats.org/officeDocument/2006/relationships/image" Target="../media/image11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56.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56.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5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57.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57.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57.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58.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56.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56.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296.wmf"/><Relationship Id="rId1" Type="http://schemas.openxmlformats.org/officeDocument/2006/relationships/image" Target="../media/image295.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41.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382.e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385.wmf"/><Relationship Id="rId2" Type="http://schemas.openxmlformats.org/officeDocument/2006/relationships/image" Target="../media/image384.wmf"/><Relationship Id="rId1" Type="http://schemas.openxmlformats.org/officeDocument/2006/relationships/image" Target="../media/image383.wmf"/><Relationship Id="rId6" Type="http://schemas.openxmlformats.org/officeDocument/2006/relationships/image" Target="../media/image388.wmf"/><Relationship Id="rId5" Type="http://schemas.openxmlformats.org/officeDocument/2006/relationships/image" Target="../media/image387.wmf"/><Relationship Id="rId4" Type="http://schemas.openxmlformats.org/officeDocument/2006/relationships/image" Target="../media/image386.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8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2026/5/19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F1FAED0-7D10-4239-9B56-C55805060B86}" type="datetimeFigureOut">
              <a:rPr lang="zh-CN" altLang="en-US" smtClean="0"/>
              <a:t>2026/5/19</a:t>
            </a:fld>
            <a:endParaRPr lang="zh-CN" altLang="en-US"/>
          </a:p>
        </p:txBody>
      </p:sp>
      <p:sp>
        <p:nvSpPr>
          <p:cNvPr id="4" name="幻灯片图像占位符 3"/>
          <p:cNvSpPr>
            <a:spLocks noGrp="1" noRot="1" noChangeAspect="1"/>
          </p:cNvSpPr>
          <p:nvPr>
            <p:ph type="sldImg" idx="2"/>
          </p:nvPr>
        </p:nvSpPr>
        <p:spPr>
          <a:xfrm>
            <a:off x="381534" y="685800"/>
            <a:ext cx="6094934"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147A23-5BA8-44CE-9215-79B767159C4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smtClean="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a:t>
            </a:fld>
            <a:endParaRPr lang="zh-CN" altLang="en-US"/>
          </a:p>
        </p:txBody>
      </p:sp>
    </p:spTree>
    <p:extLst>
      <p:ext uri="{BB962C8B-B14F-4D97-AF65-F5344CB8AC3E}">
        <p14:creationId xmlns:p14="http://schemas.microsoft.com/office/powerpoint/2010/main" val="1091597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smtClean="0"/>
              <a:t>This is an introductory of robotics course, containing both fundamental as well as some more advanced concepts. It presents a broad overview of robotics with focus on manipulators and mobile robots, and includes robot kinematics, dynamics, planning and control, programming language.</a:t>
            </a:r>
            <a:endParaRPr lang="zh-CN" altLang="zh-CN" dirty="0" smtClean="0"/>
          </a:p>
          <a:p>
            <a:r>
              <a:rPr lang="en-US" altLang="zh-CN" dirty="0" smtClean="0"/>
              <a:t>The course is divided between the following areas:</a:t>
            </a:r>
            <a:endParaRPr lang="zh-CN" altLang="zh-CN" dirty="0" smtClean="0"/>
          </a:p>
          <a:p>
            <a:r>
              <a:rPr lang="en-US" altLang="zh-CN" dirty="0" smtClean="0"/>
              <a:t>Robotics Introduction</a:t>
            </a:r>
          </a:p>
          <a:p>
            <a:r>
              <a:rPr lang="en-US" altLang="zh-CN" dirty="0" smtClean="0"/>
              <a:t>System Model of Robot</a:t>
            </a:r>
            <a:endParaRPr lang="zh-CN" altLang="zh-CN" dirty="0" smtClean="0"/>
          </a:p>
          <a:p>
            <a:r>
              <a:rPr lang="en-US" altLang="zh-CN" dirty="0" smtClean="0"/>
              <a:t>Robot kinematics</a:t>
            </a:r>
            <a:endParaRPr lang="zh-CN" altLang="zh-CN" dirty="0" smtClean="0"/>
          </a:p>
          <a:p>
            <a:r>
              <a:rPr lang="en-US" altLang="zh-CN" dirty="0" smtClean="0"/>
              <a:t>Robot dynamics</a:t>
            </a:r>
            <a:endParaRPr lang="zh-CN" altLang="zh-CN" dirty="0" smtClean="0"/>
          </a:p>
          <a:p>
            <a:r>
              <a:rPr lang="en-US" altLang="zh-CN" dirty="0" smtClean="0"/>
              <a:t>Robot control</a:t>
            </a:r>
            <a:endParaRPr lang="zh-CN" altLang="zh-CN" dirty="0" smtClean="0"/>
          </a:p>
          <a:p>
            <a:r>
              <a:rPr lang="en-US" altLang="zh-CN" dirty="0" smtClean="0"/>
              <a:t>Robot motion planning</a:t>
            </a:r>
          </a:p>
          <a:p>
            <a:r>
              <a:rPr lang="en-US" altLang="zh-CN" dirty="0" smtClean="0"/>
              <a:t>…</a:t>
            </a:r>
            <a:endParaRPr lang="zh-CN" altLang="en-US" dirty="0" smtClean="0"/>
          </a:p>
          <a:p>
            <a:r>
              <a:rPr lang="zh-CN" altLang="en-US" dirty="0" smtClean="0"/>
              <a:t>今天我们开始第三章，运动学的学习。</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a:t>
            </a:fld>
            <a:endParaRPr lang="zh-CN" altLang="en-US"/>
          </a:p>
        </p:txBody>
      </p:sp>
    </p:spTree>
    <p:extLst>
      <p:ext uri="{BB962C8B-B14F-4D97-AF65-F5344CB8AC3E}">
        <p14:creationId xmlns:p14="http://schemas.microsoft.com/office/powerpoint/2010/main" val="978865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smtClean="0"/>
              <a:t>机器人运动学主要研究在不考虑作用于机器人的力和力矩的情况下，机器人相对于固定参考坐标系的运动与时间之间的关系，通常使用三维空间坐标系以及空间物体的位姿来描述机器人的运动。对于移动机器人来说，我们通常只考虑平面坐标系下的移动，平面移动机器人的运动仅描述机器人位置与时间之间的关系；而对于空间机器人（包括飞行机器人、水下航行机器人、工业机械臂等）来说，则要考虑三维坐标环境下的机器人位姿，即位置和姿态。</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a:t>
            </a:fld>
            <a:endParaRPr lang="zh-CN" altLang="en-US"/>
          </a:p>
        </p:txBody>
      </p:sp>
    </p:spTree>
    <p:extLst>
      <p:ext uri="{BB962C8B-B14F-4D97-AF65-F5344CB8AC3E}">
        <p14:creationId xmlns:p14="http://schemas.microsoft.com/office/powerpoint/2010/main" val="16993582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常见的机器人运动学问题可归纳如下：</a:t>
            </a:r>
          </a:p>
          <a:p>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．对一给定的机器人，已知机器人的物理参数和环境，给出机器人的一系列控制过程，求机器人从初始到最终相对于参考坐标系的位置和姿态。该问题通常称为正运动学问题。</a:t>
            </a:r>
          </a:p>
          <a:p>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．对一给定的机器人，已知机器人的物理参数和环境，给定机器人最终相对于参考坐标系的期望位置和姿态</a:t>
            </a:r>
            <a:r>
              <a:rPr lang="en-US" altLang="zh-CN" sz="1200" kern="1200" dirty="0" smtClean="0">
                <a:solidFill>
                  <a:schemeClr val="tx1"/>
                </a:solidFill>
                <a:effectLst/>
                <a:latin typeface="+mn-lt"/>
                <a:ea typeface="+mn-ea"/>
                <a:cs typeface="+mn-cs"/>
              </a:rPr>
              <a:t>  (</a:t>
            </a:r>
            <a:r>
              <a:rPr lang="zh-CN" altLang="zh-CN" sz="1200" kern="1200" dirty="0" smtClean="0">
                <a:solidFill>
                  <a:schemeClr val="tx1"/>
                </a:solidFill>
                <a:effectLst/>
                <a:latin typeface="+mn-lt"/>
                <a:ea typeface="+mn-ea"/>
                <a:cs typeface="+mn-cs"/>
              </a:rPr>
              <a:t>位姿</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，求如何控制机器人从初始位姿运动到最终的位姿。该问题通常称为逆运动学问题。</a:t>
            </a:r>
          </a:p>
          <a:p>
            <a:r>
              <a:rPr lang="zh-CN" altLang="zh-CN" sz="1200" kern="1200" dirty="0" smtClean="0">
                <a:solidFill>
                  <a:schemeClr val="tx1"/>
                </a:solidFill>
                <a:effectLst/>
                <a:latin typeface="+mn-lt"/>
                <a:ea typeface="+mn-ea"/>
                <a:cs typeface="+mn-cs"/>
              </a:rPr>
              <a:t>这两个问题是机器人运动学中的基本问题。针对机器人运动学的研究，工业机械臂、轮式移动机器人是研究得比较透彻的两类机器人，目前在智能制造、新零售等领域大量出现轮式机器人安装机械臂的形式，这种形式的机器人又称为复合机器人。本教材主要讨论这三类机器人的运动学基础算法。</a:t>
            </a:r>
          </a:p>
        </p:txBody>
      </p:sp>
      <p:sp>
        <p:nvSpPr>
          <p:cNvPr id="4" name="灯片编号占位符 3"/>
          <p:cNvSpPr>
            <a:spLocks noGrp="1"/>
          </p:cNvSpPr>
          <p:nvPr>
            <p:ph type="sldNum" sz="quarter" idx="10"/>
          </p:nvPr>
        </p:nvSpPr>
        <p:spPr/>
        <p:txBody>
          <a:bodyPr/>
          <a:lstStyle/>
          <a:p>
            <a:fld id="{1C147A23-5BA8-44CE-9215-79B767159C41}" type="slidenum">
              <a:rPr lang="zh-CN" altLang="en-US" smtClean="0"/>
              <a:t>4</a:t>
            </a:fld>
            <a:endParaRPr lang="zh-CN" altLang="en-US"/>
          </a:p>
        </p:txBody>
      </p:sp>
    </p:spTree>
    <p:extLst>
      <p:ext uri="{BB962C8B-B14F-4D97-AF65-F5344CB8AC3E}">
        <p14:creationId xmlns:p14="http://schemas.microsoft.com/office/powerpoint/2010/main" val="5082527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从机构学角度可将操作臂机器人</a:t>
            </a:r>
            <a:r>
              <a:rPr lang="en-US" altLang="zh-CN" sz="1200" kern="1200" dirty="0" smtClean="0">
                <a:solidFill>
                  <a:schemeClr val="tx1"/>
                </a:solidFill>
                <a:effectLst/>
                <a:latin typeface="+mn-lt"/>
                <a:ea typeface="+mn-ea"/>
                <a:cs typeface="+mn-cs"/>
              </a:rPr>
              <a:t>(manipulator)</a:t>
            </a:r>
            <a:r>
              <a:rPr lang="zh-CN" altLang="zh-CN" sz="1200" kern="1200" dirty="0" smtClean="0">
                <a:solidFill>
                  <a:schemeClr val="tx1"/>
                </a:solidFill>
                <a:effectLst/>
                <a:latin typeface="+mn-lt"/>
                <a:ea typeface="+mn-ea"/>
                <a:cs typeface="+mn-cs"/>
              </a:rPr>
              <a:t>机构分为开环机构和闭环机构两大类：以开环机构为机器人机构原型的称为串联机器人；以闭环机构为机器人原型的称为并联机器人。</a:t>
            </a:r>
            <a:endParaRPr lang="en-US"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5</a:t>
            </a:fld>
            <a:endParaRPr lang="zh-CN" altLang="en-US"/>
          </a:p>
        </p:txBody>
      </p:sp>
    </p:spTree>
    <p:extLst>
      <p:ext uri="{BB962C8B-B14F-4D97-AF65-F5344CB8AC3E}">
        <p14:creationId xmlns:p14="http://schemas.microsoft.com/office/powerpoint/2010/main" val="39142893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smtClean="0"/>
              <a:t>工业机器人的运动学的讲解包含这些知识，</a:t>
            </a:r>
            <a:r>
              <a:rPr lang="zh-CN" altLang="zh-CN" sz="1200" kern="1200" dirty="0" smtClean="0">
                <a:solidFill>
                  <a:schemeClr val="tx1"/>
                </a:solidFill>
                <a:effectLst/>
                <a:latin typeface="+mn-lt"/>
                <a:ea typeface="+mn-ea"/>
                <a:cs typeface="+mn-cs"/>
              </a:rPr>
              <a:t>在工业机器人运动学这一章，我们以最简单的三自由度机器人出发，从几何法，到多种解析法，再到数值法，给大家介绍运动学。</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a:t>
            </a:fld>
            <a:endParaRPr lang="zh-CN" altLang="en-US"/>
          </a:p>
        </p:txBody>
      </p:sp>
    </p:spTree>
    <p:extLst>
      <p:ext uri="{BB962C8B-B14F-4D97-AF65-F5344CB8AC3E}">
        <p14:creationId xmlns:p14="http://schemas.microsoft.com/office/powerpoint/2010/main" val="9097058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smtClean="0"/>
              <a:t>平面</a:t>
            </a:r>
            <a:r>
              <a:rPr lang="en-US" altLang="zh-CN" dirty="0" smtClean="0"/>
              <a:t>2</a:t>
            </a:r>
            <a:r>
              <a:rPr lang="zh-CN" altLang="en-US" dirty="0" smtClean="0"/>
              <a:t>自由度</a:t>
            </a:r>
            <a:r>
              <a:rPr lang="en-US" altLang="zh-CN" dirty="0" smtClean="0"/>
              <a:t>-&gt;</a:t>
            </a:r>
            <a:r>
              <a:rPr lang="zh-CN" altLang="en-US" dirty="0" smtClean="0"/>
              <a:t>空间</a:t>
            </a:r>
            <a:r>
              <a:rPr lang="en-US" altLang="zh-CN" dirty="0" smtClean="0"/>
              <a:t>3</a:t>
            </a:r>
            <a:r>
              <a:rPr lang="zh-CN" altLang="en-US" dirty="0" smtClean="0"/>
              <a:t>自由度机器人</a:t>
            </a:r>
            <a:r>
              <a:rPr lang="en-US" altLang="zh-CN" dirty="0" smtClean="0"/>
              <a:t>-&gt;</a:t>
            </a:r>
            <a:r>
              <a:rPr lang="zh-CN" altLang="en-US" dirty="0" smtClean="0"/>
              <a:t>通用</a:t>
            </a:r>
            <a:r>
              <a:rPr lang="en-US" altLang="zh-CN" dirty="0" smtClean="0"/>
              <a:t>6</a:t>
            </a:r>
            <a:r>
              <a:rPr lang="zh-CN" altLang="en-US" dirty="0" smtClean="0"/>
              <a:t>轴机器人</a:t>
            </a:r>
            <a:r>
              <a:rPr lang="en-US" altLang="zh-CN" dirty="0" smtClean="0"/>
              <a:t>-&gt;n</a:t>
            </a:r>
            <a:r>
              <a:rPr lang="zh-CN" altLang="en-US" dirty="0" smtClean="0"/>
              <a:t>自由度机器人</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7</a:t>
            </a:fld>
            <a:endParaRPr lang="zh-CN" altLang="en-US"/>
          </a:p>
        </p:txBody>
      </p:sp>
    </p:spTree>
    <p:extLst>
      <p:ext uri="{BB962C8B-B14F-4D97-AF65-F5344CB8AC3E}">
        <p14:creationId xmlns:p14="http://schemas.microsoft.com/office/powerpoint/2010/main" val="21123670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在一般机器人应用问题中，人们感兴趣的是：末端执行器相对于固定参考坐标系的空间几何描述，也就是机器人的运动学问题，机械臂</a:t>
            </a:r>
            <a:r>
              <a:rPr lang="en-US" altLang="zh-CN" sz="1200" kern="1200" dirty="0" smtClean="0">
                <a:solidFill>
                  <a:schemeClr val="tx1"/>
                </a:solidFill>
                <a:effectLst/>
                <a:latin typeface="+mn-lt"/>
                <a:ea typeface="+mn-ea"/>
                <a:cs typeface="+mn-cs"/>
              </a:rPr>
              <a:t>(Manipulator)</a:t>
            </a:r>
            <a:r>
              <a:rPr lang="zh-CN" altLang="zh-CN" sz="1200" kern="1200" dirty="0" smtClean="0">
                <a:solidFill>
                  <a:schemeClr val="tx1"/>
                </a:solidFill>
                <a:effectLst/>
                <a:latin typeface="+mn-lt"/>
                <a:ea typeface="+mn-ea"/>
                <a:cs typeface="+mn-cs"/>
              </a:rPr>
              <a:t>的</a:t>
            </a:r>
            <a:r>
              <a:rPr lang="zh-CN" altLang="zh-CN" sz="1200" b="1" kern="1200" dirty="0" smtClean="0">
                <a:solidFill>
                  <a:schemeClr val="tx1"/>
                </a:solidFill>
                <a:effectLst/>
                <a:latin typeface="+mn-lt"/>
                <a:ea typeface="+mn-ea"/>
                <a:cs typeface="+mn-cs"/>
              </a:rPr>
              <a:t>运动学</a:t>
            </a:r>
            <a:r>
              <a:rPr lang="zh-CN" altLang="zh-CN" sz="1200" kern="1200" dirty="0" smtClean="0">
                <a:solidFill>
                  <a:schemeClr val="tx1"/>
                </a:solidFill>
                <a:effectLst/>
                <a:latin typeface="+mn-lt"/>
                <a:ea typeface="+mn-ea"/>
                <a:cs typeface="+mn-cs"/>
              </a:rPr>
              <a:t>即是研究机器人手臂末端执行器位姿与关节变量空间之间的关系。</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假设有一个构型已知的机器臂，如图</a:t>
            </a:r>
            <a:r>
              <a:rPr lang="en-US" altLang="zh-CN" sz="1200" kern="1200" dirty="0" smtClean="0">
                <a:solidFill>
                  <a:schemeClr val="tx1"/>
                </a:solidFill>
                <a:effectLst/>
                <a:latin typeface="+mn-lt"/>
                <a:ea typeface="+mn-ea"/>
                <a:cs typeface="+mn-cs"/>
              </a:rPr>
              <a:t>3.2</a:t>
            </a:r>
            <a:r>
              <a:rPr lang="zh-CN" altLang="zh-CN" sz="1200" kern="1200" dirty="0" smtClean="0">
                <a:solidFill>
                  <a:schemeClr val="tx1"/>
                </a:solidFill>
                <a:effectLst/>
                <a:latin typeface="+mn-lt"/>
                <a:ea typeface="+mn-ea"/>
                <a:cs typeface="+mn-cs"/>
              </a:rPr>
              <a:t>所示，</a:t>
            </a:r>
            <a:r>
              <a:rPr lang="en-US" altLang="zh-CN" sz="1200" kern="1200" dirty="0" smtClean="0">
                <a:solidFill>
                  <a:schemeClr val="tx1"/>
                </a:solidFill>
                <a:effectLst/>
                <a:latin typeface="+mn-lt"/>
                <a:ea typeface="+mn-ea"/>
                <a:cs typeface="+mn-cs"/>
              </a:rPr>
              <a:t>{B}</a:t>
            </a:r>
            <a:r>
              <a:rPr lang="zh-CN" altLang="zh-CN" sz="1200" kern="1200" dirty="0" smtClean="0">
                <a:solidFill>
                  <a:schemeClr val="tx1"/>
                </a:solidFill>
                <a:effectLst/>
                <a:latin typeface="+mn-lt"/>
                <a:ea typeface="+mn-ea"/>
                <a:cs typeface="+mn-cs"/>
              </a:rPr>
              <a:t>代表基坐标系，</a:t>
            </a:r>
            <a:r>
              <a:rPr lang="en-US" altLang="zh-CN" sz="1200" kern="1200" dirty="0" smtClean="0">
                <a:solidFill>
                  <a:schemeClr val="tx1"/>
                </a:solidFill>
                <a:effectLst/>
                <a:latin typeface="+mn-lt"/>
                <a:ea typeface="+mn-ea"/>
                <a:cs typeface="+mn-cs"/>
              </a:rPr>
              <a:t>{H}</a:t>
            </a:r>
            <a:r>
              <a:rPr lang="zh-CN" altLang="zh-CN" sz="1200" kern="1200" dirty="0" smtClean="0">
                <a:solidFill>
                  <a:schemeClr val="tx1"/>
                </a:solidFill>
                <a:effectLst/>
                <a:latin typeface="+mn-lt"/>
                <a:ea typeface="+mn-ea"/>
                <a:cs typeface="+mn-cs"/>
              </a:rPr>
              <a:t>为末端坐标系，</a:t>
            </a:r>
            <a:r>
              <a:rPr lang="en-US" altLang="zh-CN" sz="1200" kern="1200" dirty="0" smtClean="0">
                <a:solidFill>
                  <a:schemeClr val="tx1"/>
                </a:solidFill>
                <a:effectLst/>
                <a:latin typeface="+mn-lt"/>
                <a:ea typeface="+mn-ea"/>
                <a:cs typeface="+mn-cs"/>
              </a:rPr>
              <a:t>{P}</a:t>
            </a:r>
            <a:r>
              <a:rPr lang="zh-CN" altLang="zh-CN" sz="1200" kern="1200" dirty="0" smtClean="0">
                <a:solidFill>
                  <a:schemeClr val="tx1"/>
                </a:solidFill>
                <a:effectLst/>
                <a:latin typeface="+mn-lt"/>
                <a:ea typeface="+mn-ea"/>
                <a:cs typeface="+mn-cs"/>
              </a:rPr>
              <a:t>为工件坐标系。它的所有连杆长度和关节角度都是已知的，如何计算机械臂</a:t>
            </a:r>
            <a:r>
              <a:rPr lang="zh-CN" altLang="en-US" sz="1200" kern="1200" dirty="0" smtClean="0">
                <a:solidFill>
                  <a:schemeClr val="tx1"/>
                </a:solidFill>
                <a:effectLst/>
                <a:latin typeface="+mn-lt"/>
                <a:ea typeface="+mn-ea"/>
                <a:cs typeface="+mn-cs"/>
              </a:rPr>
              <a:t>末端</a:t>
            </a:r>
            <a:r>
              <a:rPr lang="zh-CN" altLang="zh-CN" sz="1200" kern="1200" dirty="0" smtClean="0">
                <a:solidFill>
                  <a:schemeClr val="tx1"/>
                </a:solidFill>
                <a:effectLst/>
                <a:latin typeface="+mn-lt"/>
                <a:ea typeface="+mn-ea"/>
                <a:cs typeface="+mn-cs"/>
              </a:rPr>
              <a:t>位姿的方程，称为</a:t>
            </a:r>
            <a:r>
              <a:rPr lang="zh-CN" altLang="zh-CN" sz="1200" b="1" kern="1200" dirty="0" smtClean="0">
                <a:solidFill>
                  <a:schemeClr val="tx1"/>
                </a:solidFill>
                <a:effectLst/>
                <a:latin typeface="+mn-lt"/>
                <a:ea typeface="+mn-ea"/>
                <a:cs typeface="+mn-cs"/>
              </a:rPr>
              <a:t>正运动学方程</a:t>
            </a:r>
            <a:r>
              <a:rPr lang="zh-CN" altLang="zh-CN" sz="1200" kern="1200" dirty="0" smtClean="0">
                <a:solidFill>
                  <a:schemeClr val="tx1"/>
                </a:solidFill>
                <a:effectLst/>
                <a:latin typeface="+mn-lt"/>
                <a:ea typeface="+mn-ea"/>
                <a:cs typeface="+mn-cs"/>
              </a:rPr>
              <a:t>。使用正运动学方程可以计算任一瞬间机器人的位姿。如果想要将机器臂的末端执行器运动到一个期望的位姿，就必须知道机器臂每一个旋转关节的旋转角度以及平动关节的位移长度，才能将机械臂末端执行器定位在所期望的位姿，如何求取各关节值的方程称为</a:t>
            </a:r>
            <a:r>
              <a:rPr lang="zh-CN" altLang="zh-CN" sz="1200" b="1" kern="1200" dirty="0" smtClean="0">
                <a:solidFill>
                  <a:schemeClr val="tx1"/>
                </a:solidFill>
                <a:effectLst/>
                <a:latin typeface="+mn-lt"/>
                <a:ea typeface="+mn-ea"/>
                <a:cs typeface="+mn-cs"/>
              </a:rPr>
              <a:t>逆运动学方程</a:t>
            </a:r>
            <a:r>
              <a:rPr lang="zh-CN" altLang="zh-CN" sz="1200" kern="1200" dirty="0" smtClean="0">
                <a:solidFill>
                  <a:schemeClr val="tx1"/>
                </a:solidFill>
                <a:effectLst/>
                <a:latin typeface="+mn-lt"/>
                <a:ea typeface="+mn-ea"/>
                <a:cs typeface="+mn-cs"/>
              </a:rPr>
              <a:t>。对于重复性固定点作业环境来说，正运动学的重复精度比较重要，而在作业点非固定的情况下，逆运动学方程更为重要，机器人的控制器使用这些方程来计算关节值，并以此来运行机器臂到达期望的位姿。</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8</a:t>
            </a:fld>
            <a:endParaRPr lang="zh-CN" altLang="en-US"/>
          </a:p>
        </p:txBody>
      </p:sp>
    </p:spTree>
    <p:extLst>
      <p:ext uri="{BB962C8B-B14F-4D97-AF65-F5344CB8AC3E}">
        <p14:creationId xmlns:p14="http://schemas.microsoft.com/office/powerpoint/2010/main" val="14555429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例</a:t>
                </a:r>
                <a:r>
                  <a:rPr lang="en-US" altLang="zh-CN" sz="1200" kern="1200" dirty="0">
                    <a:solidFill>
                      <a:schemeClr val="tx1"/>
                    </a:solidFill>
                    <a:effectLst/>
                    <a:latin typeface="+mn-lt"/>
                    <a:ea typeface="+mn-ea"/>
                    <a:cs typeface="+mn-cs"/>
                  </a:rPr>
                  <a:t>3.1 </a:t>
                </a:r>
                <a:r>
                  <a:rPr lang="zh-CN" altLang="zh-CN" sz="1200" kern="1200" dirty="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3.3</a:t>
                </a:r>
                <a:r>
                  <a:rPr lang="zh-CN" altLang="zh-CN" sz="1200" kern="1200" dirty="0">
                    <a:solidFill>
                      <a:schemeClr val="tx1"/>
                    </a:solidFill>
                    <a:effectLst/>
                    <a:latin typeface="+mn-lt"/>
                    <a:ea typeface="+mn-ea"/>
                    <a:cs typeface="+mn-cs"/>
                  </a:rPr>
                  <a:t>所示，定义一个平面二维坐标下的两连杆机构，末端执行器位置向量为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𝑟</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𝑥</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𝑦</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，关节向量为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，末端执行器的位置和位形（各关节变量）如式</a:t>
                </a:r>
                <a:r>
                  <a:rPr lang="en-US" altLang="zh-CN" sz="1200" kern="1200" dirty="0">
                    <a:solidFill>
                      <a:schemeClr val="tx1"/>
                    </a:solidFill>
                    <a:effectLst/>
                    <a:latin typeface="+mn-lt"/>
                    <a:ea typeface="+mn-ea"/>
                    <a:cs typeface="+mn-cs"/>
                  </a:rPr>
                  <a:t>(3-1)</a:t>
                </a:r>
                <a:r>
                  <a:rPr lang="zh-CN" altLang="zh-CN" sz="1200" kern="1200" dirty="0">
                    <a:solidFill>
                      <a:schemeClr val="tx1"/>
                    </a:solidFill>
                    <a:effectLst/>
                    <a:latin typeface="+mn-lt"/>
                    <a:ea typeface="+mn-ea"/>
                    <a:cs typeface="+mn-cs"/>
                  </a:rPr>
                  <a:t>，连杆长度分别为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𝐿</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𝐿</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所谓几何法，我们根据几何关系，可以很容易就得到它的末端坐标与关节角之间方程式。通过关节角求末端坐标值，将其写成一般形式，就是正运动学方程。</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例</a:t>
                </a:r>
                <a:r>
                  <a:rPr lang="en-US" altLang="zh-CN" sz="1200" kern="1200" dirty="0">
                    <a:solidFill>
                      <a:schemeClr val="tx1"/>
                    </a:solidFill>
                    <a:effectLst/>
                    <a:latin typeface="+mn-lt"/>
                    <a:ea typeface="+mn-ea"/>
                    <a:cs typeface="+mn-cs"/>
                  </a:rPr>
                  <a:t>3.1 </a:t>
                </a:r>
                <a:r>
                  <a:rPr lang="zh-CN" altLang="zh-CN" sz="1200" kern="1200" dirty="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3.3</a:t>
                </a:r>
                <a:r>
                  <a:rPr lang="zh-CN" altLang="zh-CN" sz="1200" kern="1200" dirty="0">
                    <a:solidFill>
                      <a:schemeClr val="tx1"/>
                    </a:solidFill>
                    <a:effectLst/>
                    <a:latin typeface="+mn-lt"/>
                    <a:ea typeface="+mn-ea"/>
                    <a:cs typeface="+mn-cs"/>
                  </a:rPr>
                  <a:t>所示，定义一个平面二维坐标下的两连杆机构，末端执行器位置向量为</a:t>
                </a:r>
                <a:r>
                  <a:rPr lang="en-US" altLang="zh-CN" sz="1200" i="0" kern="1200">
                    <a:solidFill>
                      <a:schemeClr val="tx1"/>
                    </a:solidFill>
                    <a:effectLst/>
                    <a:latin typeface="+mn-lt"/>
                    <a:ea typeface="+mn-ea"/>
                    <a:cs typeface="+mn-cs"/>
                  </a:rPr>
                  <a:t>𝑟(𝑥,𝑦)</a:t>
                </a:r>
                <a:r>
                  <a:rPr lang="zh-CN" altLang="zh-CN" sz="1200" kern="1200" dirty="0">
                    <a:solidFill>
                      <a:schemeClr val="tx1"/>
                    </a:solidFill>
                    <a:effectLst/>
                    <a:latin typeface="+mn-lt"/>
                    <a:ea typeface="+mn-ea"/>
                    <a:cs typeface="+mn-cs"/>
                  </a:rPr>
                  <a:t>，关节向量为</a:t>
                </a:r>
                <a:r>
                  <a:rPr lang="en-US" altLang="zh-CN" sz="1200" i="0" kern="1200">
                    <a:solidFill>
                      <a:schemeClr val="tx1"/>
                    </a:solidFill>
                    <a:effectLst/>
                    <a:latin typeface="+mn-lt"/>
                    <a:ea typeface="+mn-ea"/>
                    <a:cs typeface="+mn-cs"/>
                  </a:rPr>
                  <a:t>𝜃(𝜃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，末端执行器的位置和位形（各关节变量）如式</a:t>
                </a:r>
                <a:r>
                  <a:rPr lang="en-US" altLang="zh-CN" sz="1200" kern="1200" dirty="0">
                    <a:solidFill>
                      <a:schemeClr val="tx1"/>
                    </a:solidFill>
                    <a:effectLst/>
                    <a:latin typeface="+mn-lt"/>
                    <a:ea typeface="+mn-ea"/>
                    <a:cs typeface="+mn-cs"/>
                  </a:rPr>
                  <a:t>(3-1)</a:t>
                </a:r>
                <a:r>
                  <a:rPr lang="zh-CN" altLang="zh-CN" sz="1200" kern="1200" dirty="0">
                    <a:solidFill>
                      <a:schemeClr val="tx1"/>
                    </a:solidFill>
                    <a:effectLst/>
                    <a:latin typeface="+mn-lt"/>
                    <a:ea typeface="+mn-ea"/>
                    <a:cs typeface="+mn-cs"/>
                  </a:rPr>
                  <a:t>，连杆长度分别为</a:t>
                </a:r>
                <a:r>
                  <a:rPr lang="en-US" altLang="zh-CN" sz="1200" i="0" kern="1200">
                    <a:solidFill>
                      <a:schemeClr val="tx1"/>
                    </a:solidFill>
                    <a:effectLst/>
                    <a:latin typeface="+mn-lt"/>
                    <a:ea typeface="+mn-ea"/>
                    <a:cs typeface="+mn-cs"/>
                  </a:rPr>
                  <a:t>𝐿</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𝐿</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9</a:t>
            </a:fld>
            <a:endParaRPr lang="zh-CN" altLang="en-US"/>
          </a:p>
        </p:txBody>
      </p:sp>
    </p:spTree>
    <p:extLst>
      <p:ext uri="{BB962C8B-B14F-4D97-AF65-F5344CB8AC3E}">
        <p14:creationId xmlns:p14="http://schemas.microsoft.com/office/powerpoint/2010/main" val="24785041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反过来通过末端坐标来求关节角的方程式，我们很容易就得到它的逆运动学方程</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对于这个平面坐标两连杆机构，我们先求一个阿利法角，它可以通过三角形余弦定理求得夹角的值，然后两个关节角就很容易就求出来了。</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10</a:t>
            </a:fld>
            <a:endParaRPr lang="zh-CN" altLang="en-US"/>
          </a:p>
        </p:txBody>
      </p:sp>
    </p:spTree>
    <p:extLst>
      <p:ext uri="{BB962C8B-B14F-4D97-AF65-F5344CB8AC3E}">
        <p14:creationId xmlns:p14="http://schemas.microsoft.com/office/powerpoint/2010/main" val="39783209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在图</a:t>
                </a:r>
                <a:r>
                  <a:rPr lang="en-US" altLang="zh-CN" sz="1200" kern="1200" dirty="0" smtClean="0">
                    <a:solidFill>
                      <a:schemeClr val="tx1"/>
                    </a:solidFill>
                    <a:effectLst/>
                    <a:latin typeface="+mn-lt"/>
                    <a:ea typeface="+mn-ea"/>
                    <a:cs typeface="+mn-cs"/>
                  </a:rPr>
                  <a:t>3.5</a:t>
                </a:r>
                <a:r>
                  <a:rPr lang="zh-CN" altLang="zh-CN" sz="1200" kern="1200" dirty="0" smtClean="0">
                    <a:solidFill>
                      <a:schemeClr val="tx1"/>
                    </a:solidFill>
                    <a:effectLst/>
                    <a:latin typeface="+mn-lt"/>
                    <a:ea typeface="+mn-ea"/>
                    <a:cs typeface="+mn-cs"/>
                  </a:rPr>
                  <a:t>中，机器人到达给定的末端执行位置</a:t>
                </a:r>
                <a:r>
                  <a:rPr lang="en-US" altLang="zh-CN" sz="1200" kern="1200" dirty="0" smtClean="0">
                    <a:solidFill>
                      <a:schemeClr val="tx1"/>
                    </a:solidFill>
                    <a:effectLst/>
                    <a:latin typeface="+mn-lt"/>
                    <a:ea typeface="+mn-ea"/>
                    <a:cs typeface="+mn-cs"/>
                  </a:rPr>
                  <a:t>P</a:t>
                </a:r>
                <a:r>
                  <a:rPr lang="zh-CN" altLang="zh-CN" sz="1200" kern="1200" dirty="0" smtClean="0">
                    <a:solidFill>
                      <a:schemeClr val="tx1"/>
                    </a:solidFill>
                    <a:effectLst/>
                    <a:latin typeface="+mn-lt"/>
                    <a:ea typeface="+mn-ea"/>
                    <a:cs typeface="+mn-cs"/>
                  </a:rPr>
                  <a:t>，有两个姿态满足要求，即图中的</a:t>
                </a:r>
                <a14:m>
                  <m:oMath xmlns:m="http://schemas.openxmlformats.org/officeDocument/2006/math">
                    <m:sSup>
                      <m:sSupPr>
                        <m:ctrlPr>
                          <a:rPr lang="zh-CN" altLang="zh-CN" sz="1200" i="1" kern="1200" smtClean="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𝛼</m:t>
                        </m:r>
                      </m:e>
                      <m:sup>
                        <m:r>
                          <a:rPr lang="en-US" altLang="zh-CN" sz="1200" i="1" kern="1200">
                            <a:solidFill>
                              <a:schemeClr val="tx1"/>
                            </a:solidFill>
                            <a:effectLst/>
                            <a:latin typeface="Cambria Math" panose="02040503050406030204" pitchFamily="18" charset="0"/>
                            <a:ea typeface="+mn-ea"/>
                            <a:cs typeface="+mn-cs"/>
                          </a:rPr>
                          <m:t>′</m:t>
                        </m:r>
                      </m:sup>
                    </m:sSup>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m:t>
                    </m:r>
                    <m:r>
                      <m:rPr>
                        <m:sty m:val="p"/>
                      </m:rPr>
                      <a:rPr lang="en-US" altLang="zh-CN" sz="1200" kern="1200">
                        <a:solidFill>
                          <a:schemeClr val="tx1"/>
                        </a:solidFill>
                        <a:effectLst/>
                        <a:latin typeface="Cambria Math" panose="02040503050406030204" pitchFamily="18" charset="0"/>
                        <a:ea typeface="+mn-ea"/>
                        <a:cs typeface="+mn-cs"/>
                      </a:rPr>
                      <m:t>α</m:t>
                    </m:r>
                  </m:oMath>
                </a14:m>
                <a:r>
                  <a:rPr lang="zh-CN" altLang="zh-CN" sz="1200" kern="1200" dirty="0" smtClean="0">
                    <a:solidFill>
                      <a:schemeClr val="tx1"/>
                    </a:solidFill>
                    <a:effectLst/>
                    <a:latin typeface="+mn-lt"/>
                    <a:ea typeface="+mn-ea"/>
                    <a:cs typeface="+mn-cs"/>
                  </a:rPr>
                  <a:t>也是其解。此时</a:t>
                </a:r>
                <a14:m>
                  <m:oMath xmlns:m="http://schemas.openxmlformats.org/officeDocument/2006/math">
                    <m:sSub>
                      <m:sSubPr>
                        <m:ctrlPr>
                          <a:rPr lang="zh-CN" altLang="zh-CN" sz="1200" i="1" kern="1200" smtClean="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smtClean="0">
                    <a:solidFill>
                      <a:schemeClr val="tx1"/>
                    </a:solidFill>
                    <a:effectLst/>
                    <a:latin typeface="+mn-lt"/>
                    <a:ea typeface="+mn-ea"/>
                    <a:cs typeface="+mn-cs"/>
                  </a:rPr>
                  <a:t>和</a:t>
                </a:r>
                <a14:m>
                  <m:oMath xmlns:m="http://schemas.openxmlformats.org/officeDocument/2006/math">
                    <m:sSub>
                      <m:sSubPr>
                        <m:ctrlPr>
                          <a:rPr lang="zh-CN" altLang="zh-CN" sz="1200" i="1" kern="1200" smtClean="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smtClean="0">
                    <a:solidFill>
                      <a:schemeClr val="tx1"/>
                    </a:solidFill>
                    <a:effectLst/>
                    <a:latin typeface="+mn-lt"/>
                    <a:ea typeface="+mn-ea"/>
                    <a:cs typeface="+mn-cs"/>
                  </a:rPr>
                  <a:t>变成为另外的值，即逆运动学方程的解不是唯一的。</a:t>
                </a:r>
              </a:p>
              <a:p>
                <a:r>
                  <a:rPr lang="zh-CN" altLang="zh-CN" sz="1200" kern="1200" dirty="0" smtClean="0">
                    <a:solidFill>
                      <a:schemeClr val="tx1"/>
                    </a:solidFill>
                    <a:effectLst/>
                    <a:latin typeface="+mn-lt"/>
                    <a:ea typeface="+mn-ea"/>
                    <a:cs typeface="+mn-cs"/>
                  </a:rPr>
                  <a:t>如果将运动学方程两边微分即可得到机器臂末端执行器的速度和关节速度的关系，再进一步进行微分将得到加速度之间的关系，处理这些关系也是机器人的运动学问题。</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在图</a:t>
                </a:r>
                <a:r>
                  <a:rPr lang="en-US" altLang="zh-CN" sz="1200" kern="1200" dirty="0" smtClean="0">
                    <a:solidFill>
                      <a:schemeClr val="tx1"/>
                    </a:solidFill>
                    <a:effectLst/>
                    <a:latin typeface="+mn-lt"/>
                    <a:ea typeface="+mn-ea"/>
                    <a:cs typeface="+mn-cs"/>
                  </a:rPr>
                  <a:t>3.5</a:t>
                </a:r>
                <a:r>
                  <a:rPr lang="zh-CN" altLang="zh-CN" sz="1200" kern="1200" dirty="0" smtClean="0">
                    <a:solidFill>
                      <a:schemeClr val="tx1"/>
                    </a:solidFill>
                    <a:effectLst/>
                    <a:latin typeface="+mn-lt"/>
                    <a:ea typeface="+mn-ea"/>
                    <a:cs typeface="+mn-cs"/>
                  </a:rPr>
                  <a:t>中，机器人到达给定的末端执行位置</a:t>
                </a:r>
                <a:r>
                  <a:rPr lang="en-US" altLang="zh-CN" sz="1200" kern="1200" dirty="0" smtClean="0">
                    <a:solidFill>
                      <a:schemeClr val="tx1"/>
                    </a:solidFill>
                    <a:effectLst/>
                    <a:latin typeface="+mn-lt"/>
                    <a:ea typeface="+mn-ea"/>
                    <a:cs typeface="+mn-cs"/>
                  </a:rPr>
                  <a:t>P</a:t>
                </a:r>
                <a:r>
                  <a:rPr lang="zh-CN" altLang="zh-CN" sz="1200" kern="1200" dirty="0" smtClean="0">
                    <a:solidFill>
                      <a:schemeClr val="tx1"/>
                    </a:solidFill>
                    <a:effectLst/>
                    <a:latin typeface="+mn-lt"/>
                    <a:ea typeface="+mn-ea"/>
                    <a:cs typeface="+mn-cs"/>
                  </a:rPr>
                  <a:t>，有两个姿态满足要求，即图中的</a:t>
                </a:r>
                <a:r>
                  <a:rPr lang="en-US" altLang="zh-CN" sz="1200" i="0" kern="1200">
                    <a:solidFill>
                      <a:schemeClr val="tx1"/>
                    </a:solidFill>
                    <a:effectLst/>
                    <a:latin typeface="+mn-lt"/>
                    <a:ea typeface="+mn-ea"/>
                    <a:cs typeface="+mn-cs"/>
                  </a:rPr>
                  <a:t>𝛼</a:t>
                </a:r>
                <a:r>
                  <a:rPr lang="zh-CN" altLang="zh-CN" sz="1200" i="0" kern="1200" smtClean="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′=−α</a:t>
                </a:r>
                <a:r>
                  <a:rPr lang="zh-CN" altLang="zh-CN" sz="1200" kern="1200" dirty="0" smtClean="0">
                    <a:solidFill>
                      <a:schemeClr val="tx1"/>
                    </a:solidFill>
                    <a:effectLst/>
                    <a:latin typeface="+mn-lt"/>
                    <a:ea typeface="+mn-ea"/>
                    <a:cs typeface="+mn-cs"/>
                  </a:rPr>
                  <a:t>也是其解。此时</a:t>
                </a:r>
                <a:r>
                  <a:rPr lang="en-US" altLang="zh-CN" sz="1200" i="0" kern="1200">
                    <a:solidFill>
                      <a:schemeClr val="tx1"/>
                    </a:solidFill>
                    <a:effectLst/>
                    <a:latin typeface="+mn-lt"/>
                    <a:ea typeface="+mn-ea"/>
                    <a:cs typeface="+mn-cs"/>
                  </a:rPr>
                  <a:t>𝜃</a:t>
                </a:r>
                <a:r>
                  <a:rPr lang="zh-CN" altLang="zh-CN" sz="1200" i="0" kern="1200" smtClean="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𝜃</a:t>
                </a:r>
                <a:r>
                  <a:rPr lang="zh-CN" altLang="zh-CN" sz="1200" i="0" kern="1200" smtClean="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变成为另外的值，即逆运动学方程的解不是唯一的。</a:t>
                </a:r>
              </a:p>
              <a:p>
                <a:r>
                  <a:rPr lang="zh-CN" altLang="zh-CN" sz="1200" kern="1200" dirty="0" smtClean="0">
                    <a:solidFill>
                      <a:schemeClr val="tx1"/>
                    </a:solidFill>
                    <a:effectLst/>
                    <a:latin typeface="+mn-lt"/>
                    <a:ea typeface="+mn-ea"/>
                    <a:cs typeface="+mn-cs"/>
                  </a:rPr>
                  <a:t>如果将运动学方程两边微分即可得到机器臂末端执行器的速度和关节速度的关系，再进一步进行微分将得到加速度之间的关系，处理这些关系也是机器人的运动学问题。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11</a:t>
            </a:fld>
            <a:endParaRPr lang="zh-CN" altLang="en-US"/>
          </a:p>
        </p:txBody>
      </p:sp>
    </p:spTree>
    <p:extLst>
      <p:ext uri="{BB962C8B-B14F-4D97-AF65-F5344CB8AC3E}">
        <p14:creationId xmlns:p14="http://schemas.microsoft.com/office/powerpoint/2010/main" val="35450488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机器人在二十世纪五、六十年代得到了发展，在工业领域进行实际的应用，这个时期所研发出来的机械手臂多为</a:t>
            </a:r>
            <a:r>
              <a:rPr lang="en-US" altLang="zh-CN" sz="1200" kern="1200" dirty="0" smtClean="0">
                <a:solidFill>
                  <a:schemeClr val="tx1"/>
                </a:solidFill>
                <a:effectLst/>
                <a:latin typeface="+mn-lt"/>
                <a:ea typeface="+mn-ea"/>
                <a:cs typeface="+mn-cs"/>
              </a:rPr>
              <a:t>3</a:t>
            </a:r>
            <a:r>
              <a:rPr lang="zh-CN" altLang="zh-CN" sz="1200" kern="1200" dirty="0" smtClean="0">
                <a:solidFill>
                  <a:schemeClr val="tx1"/>
                </a:solidFill>
                <a:effectLst/>
                <a:latin typeface="+mn-lt"/>
                <a:ea typeface="+mn-ea"/>
                <a:cs typeface="+mn-cs"/>
              </a:rPr>
              <a:t>个关节轴，而且有些机构直到目前为止依然被产业界广泛应用，尤其针对简单的加工、夹持与搬运等专用机器人，成为了自动化生产制造必备的好伙伴，后来才慢慢发展成具有六个关节轴的通用工业机械臂。</a:t>
            </a:r>
          </a:p>
          <a:p>
            <a:r>
              <a:rPr lang="zh-CN" altLang="zh-CN" sz="1200" kern="1200" dirty="0" smtClean="0">
                <a:solidFill>
                  <a:schemeClr val="tx1"/>
                </a:solidFill>
                <a:effectLst/>
                <a:latin typeface="+mn-lt"/>
                <a:ea typeface="+mn-ea"/>
                <a:cs typeface="+mn-cs"/>
              </a:rPr>
              <a:t>我们可以通过采用的惯性坐标系来对三关节的机械臂进行分类。如果是在直角坐标系下面，对空间中一个点的位置描述，一般采用三个相对于轴线</a:t>
            </a:r>
            <a:r>
              <a:rPr lang="en-US"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x,y,z</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的线性运动；而如果用球坐标来描述，则表示为一个线性运动和两个旋转运动。按机械臂运动学坐标系分类，以三关节机械臂为主，常见的机械臂有如下几种形式（</a:t>
            </a:r>
            <a:r>
              <a:rPr lang="en-US" altLang="zh-CN" sz="1200" kern="1200" dirty="0" smtClean="0">
                <a:solidFill>
                  <a:schemeClr val="tx1"/>
                </a:solidFill>
                <a:effectLst/>
                <a:latin typeface="+mn-lt"/>
                <a:ea typeface="+mn-ea"/>
                <a:cs typeface="+mn-cs"/>
              </a:rPr>
              <a:t>P</a:t>
            </a:r>
            <a:r>
              <a:rPr lang="zh-CN" altLang="zh-CN" sz="1200" kern="1200" dirty="0" smtClean="0">
                <a:solidFill>
                  <a:schemeClr val="tx1"/>
                </a:solidFill>
                <a:effectLst/>
                <a:latin typeface="+mn-lt"/>
                <a:ea typeface="+mn-ea"/>
                <a:cs typeface="+mn-cs"/>
              </a:rPr>
              <a:t>代表平动关节，</a:t>
            </a:r>
            <a:r>
              <a:rPr lang="en-US" altLang="zh-CN" sz="1200" kern="1200" dirty="0" smtClean="0">
                <a:solidFill>
                  <a:schemeClr val="tx1"/>
                </a:solidFill>
                <a:effectLst/>
                <a:latin typeface="+mn-lt"/>
                <a:ea typeface="+mn-ea"/>
                <a:cs typeface="+mn-cs"/>
              </a:rPr>
              <a:t>R</a:t>
            </a:r>
            <a:r>
              <a:rPr lang="zh-CN" altLang="zh-CN" sz="1200" kern="1200" dirty="0" smtClean="0">
                <a:solidFill>
                  <a:schemeClr val="tx1"/>
                </a:solidFill>
                <a:effectLst/>
                <a:latin typeface="+mn-lt"/>
                <a:ea typeface="+mn-ea"/>
                <a:cs typeface="+mn-cs"/>
              </a:rPr>
              <a:t>代表旋转关节）：</a:t>
            </a:r>
          </a:p>
          <a:p>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笛卡尔（台架，直角）坐标型</a:t>
            </a:r>
            <a:r>
              <a:rPr lang="en-US" altLang="zh-CN" sz="1200" kern="1200" dirty="0" smtClean="0">
                <a:solidFill>
                  <a:schemeClr val="tx1"/>
                </a:solidFill>
                <a:effectLst/>
                <a:latin typeface="+mn-lt"/>
                <a:ea typeface="+mn-ea"/>
                <a:cs typeface="+mn-cs"/>
              </a:rPr>
              <a:t>(PPP)</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圆柱坐标型</a:t>
            </a:r>
            <a:r>
              <a:rPr lang="en-US" altLang="zh-CN" sz="1200" kern="1200" dirty="0" smtClean="0">
                <a:solidFill>
                  <a:schemeClr val="tx1"/>
                </a:solidFill>
                <a:effectLst/>
                <a:latin typeface="+mn-lt"/>
                <a:ea typeface="+mn-ea"/>
                <a:cs typeface="+mn-cs"/>
              </a:rPr>
              <a:t>(RPP)</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(3)</a:t>
            </a:r>
            <a:r>
              <a:rPr lang="zh-CN" altLang="zh-CN" sz="1200" kern="1200" dirty="0" smtClean="0">
                <a:solidFill>
                  <a:schemeClr val="tx1"/>
                </a:solidFill>
                <a:effectLst/>
                <a:latin typeface="+mn-lt"/>
                <a:ea typeface="+mn-ea"/>
                <a:cs typeface="+mn-cs"/>
              </a:rPr>
              <a:t>球坐标型（</a:t>
            </a:r>
            <a:r>
              <a:rPr lang="en-US" altLang="zh-CN" sz="1200" kern="1200" dirty="0" smtClean="0">
                <a:solidFill>
                  <a:schemeClr val="tx1"/>
                </a:solidFill>
                <a:effectLst/>
                <a:latin typeface="+mn-lt"/>
                <a:ea typeface="+mn-ea"/>
                <a:cs typeface="+mn-cs"/>
              </a:rPr>
              <a:t>PRR</a:t>
            </a:r>
            <a:r>
              <a:rPr lang="zh-CN" altLang="zh-CN" sz="1200" kern="1200" dirty="0" smtClean="0">
                <a:solidFill>
                  <a:schemeClr val="tx1"/>
                </a:solidFill>
                <a:effectLst/>
                <a:latin typeface="+mn-lt"/>
                <a:ea typeface="+mn-ea"/>
                <a:cs typeface="+mn-cs"/>
              </a:rPr>
              <a:t>）</a:t>
            </a:r>
          </a:p>
          <a:p>
            <a:r>
              <a:rPr lang="en-US" altLang="zh-CN" sz="1200" kern="1200" dirty="0" smtClean="0">
                <a:solidFill>
                  <a:schemeClr val="tx1"/>
                </a:solidFill>
                <a:effectLst/>
                <a:latin typeface="+mn-lt"/>
                <a:ea typeface="+mn-ea"/>
                <a:cs typeface="+mn-cs"/>
              </a:rPr>
              <a:t>(4)</a:t>
            </a:r>
            <a:r>
              <a:rPr lang="zh-CN" altLang="zh-CN" sz="1200" kern="1200" dirty="0" smtClean="0">
                <a:solidFill>
                  <a:schemeClr val="tx1"/>
                </a:solidFill>
                <a:effectLst/>
                <a:latin typeface="+mn-lt"/>
                <a:ea typeface="+mn-ea"/>
                <a:cs typeface="+mn-cs"/>
              </a:rPr>
              <a:t>平面关节型</a:t>
            </a:r>
            <a:r>
              <a:rPr lang="en-US" altLang="zh-CN" sz="1200" kern="1200" dirty="0" smtClean="0">
                <a:solidFill>
                  <a:schemeClr val="tx1"/>
                </a:solidFill>
                <a:effectLst/>
                <a:latin typeface="+mn-lt"/>
                <a:ea typeface="+mn-ea"/>
                <a:cs typeface="+mn-cs"/>
              </a:rPr>
              <a:t>(RRP)</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(5)</a:t>
            </a:r>
            <a:r>
              <a:rPr lang="zh-CN" altLang="zh-CN" sz="1200" kern="1200" dirty="0" smtClean="0">
                <a:solidFill>
                  <a:schemeClr val="tx1"/>
                </a:solidFill>
                <a:effectLst/>
                <a:latin typeface="+mn-lt"/>
                <a:ea typeface="+mn-ea"/>
                <a:cs typeface="+mn-cs"/>
              </a:rPr>
              <a:t>链式</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拟人或全旋转</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坐标型，或称串联关节型（</a:t>
            </a:r>
            <a:r>
              <a:rPr lang="en-US" altLang="zh-CN" sz="1200" kern="1200" dirty="0" smtClean="0">
                <a:solidFill>
                  <a:schemeClr val="tx1"/>
                </a:solidFill>
                <a:effectLst/>
                <a:latin typeface="+mn-lt"/>
                <a:ea typeface="+mn-ea"/>
                <a:cs typeface="+mn-cs"/>
              </a:rPr>
              <a:t>RRR</a:t>
            </a:r>
            <a:r>
              <a:rPr lang="zh-CN" altLang="zh-CN" sz="1200" kern="1200" dirty="0" smtClean="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12</a:t>
            </a:fld>
            <a:endParaRPr lang="zh-CN" altLang="en-US"/>
          </a:p>
        </p:txBody>
      </p:sp>
    </p:spTree>
    <p:extLst>
      <p:ext uri="{BB962C8B-B14F-4D97-AF65-F5344CB8AC3E}">
        <p14:creationId xmlns:p14="http://schemas.microsoft.com/office/powerpoint/2010/main" val="8421002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式</a:t>
            </a:r>
            <a:r>
              <a:rPr lang="en-US" altLang="zh-CN" sz="1200" kern="1200" dirty="0" smtClean="0">
                <a:solidFill>
                  <a:schemeClr val="tx1"/>
                </a:solidFill>
                <a:effectLst/>
                <a:latin typeface="+mn-lt"/>
                <a:ea typeface="+mn-ea"/>
                <a:cs typeface="+mn-cs"/>
              </a:rPr>
              <a:t>(3-7)</a:t>
            </a:r>
            <a:r>
              <a:rPr lang="zh-CN" altLang="zh-CN" sz="1200" kern="1200" dirty="0" smtClean="0">
                <a:solidFill>
                  <a:schemeClr val="tx1"/>
                </a:solidFill>
                <a:effectLst/>
                <a:latin typeface="+mn-lt"/>
                <a:ea typeface="+mn-ea"/>
                <a:cs typeface="+mn-cs"/>
              </a:rPr>
              <a:t>中</a:t>
            </a:r>
            <a:r>
              <a:rPr lang="en-US" altLang="zh-CN" sz="1200" kern="1200" dirty="0" smtClean="0">
                <a:solidFill>
                  <a:schemeClr val="tx1"/>
                </a:solidFill>
                <a:effectLst/>
                <a:latin typeface="+mn-lt"/>
                <a:ea typeface="+mn-ea"/>
                <a:cs typeface="+mn-cs"/>
              </a:rPr>
              <a:t>, </a:t>
            </a:r>
            <a:r>
              <a:rPr lang="zh-CN" altLang="zh-CN" sz="1200" kern="1200" dirty="0" smtClean="0">
                <a:solidFill>
                  <a:schemeClr val="tx1"/>
                </a:solidFill>
                <a:effectLst/>
                <a:latin typeface="+mn-lt"/>
                <a:ea typeface="+mn-ea"/>
                <a:cs typeface="+mn-cs"/>
              </a:rPr>
              <a:t>是参考坐标系与末端执行器坐标系原点</a:t>
            </a:r>
            <a:r>
              <a:rPr lang="en-US" altLang="zh-CN" sz="1200" kern="1200" dirty="0" smtClean="0">
                <a:solidFill>
                  <a:schemeClr val="tx1"/>
                </a:solidFill>
                <a:effectLst/>
                <a:latin typeface="+mn-lt"/>
                <a:ea typeface="+mn-ea"/>
                <a:cs typeface="+mn-cs"/>
              </a:rPr>
              <a:t>P</a:t>
            </a:r>
            <a:r>
              <a:rPr lang="zh-CN" altLang="zh-CN" sz="1200" kern="1200" dirty="0" smtClean="0">
                <a:solidFill>
                  <a:schemeClr val="tx1"/>
                </a:solidFill>
                <a:effectLst/>
                <a:latin typeface="+mn-lt"/>
                <a:ea typeface="+mn-ea"/>
                <a:cs typeface="+mn-cs"/>
              </a:rPr>
              <a:t>的变换矩阵，而</a:t>
            </a:r>
            <a:r>
              <a:rPr lang="en-US" altLang="zh-CN" sz="1200" kern="1200" dirty="0" smtClean="0">
                <a:solidFill>
                  <a:schemeClr val="tx1"/>
                </a:solidFill>
                <a:effectLst/>
                <a:latin typeface="+mn-lt"/>
                <a:ea typeface="+mn-ea"/>
                <a:cs typeface="+mn-cs"/>
              </a:rPr>
              <a:t> </a:t>
            </a:r>
            <a:r>
              <a:rPr lang="zh-CN" altLang="zh-CN" sz="1200" kern="1200" dirty="0" smtClean="0">
                <a:solidFill>
                  <a:schemeClr val="tx1"/>
                </a:solidFill>
                <a:effectLst/>
                <a:latin typeface="+mn-lt"/>
                <a:ea typeface="+mn-ea"/>
                <a:cs typeface="+mn-cs"/>
              </a:rPr>
              <a:t>表示直角坐标变换矩阵。对于逆运动学的求解，只需简单地设定期望的位置等于</a:t>
            </a:r>
            <a:r>
              <a:rPr lang="en-US" altLang="zh-CN" sz="1200" kern="1200" dirty="0" smtClean="0">
                <a:solidFill>
                  <a:schemeClr val="tx1"/>
                </a:solidFill>
                <a:effectLst/>
                <a:latin typeface="+mn-lt"/>
                <a:ea typeface="+mn-ea"/>
                <a:cs typeface="+mn-cs"/>
              </a:rPr>
              <a:t>P</a:t>
            </a:r>
            <a:r>
              <a:rPr lang="zh-CN" altLang="zh-CN" sz="1200" kern="1200" dirty="0" smtClean="0">
                <a:solidFill>
                  <a:schemeClr val="tx1"/>
                </a:solidFill>
                <a:effectLst/>
                <a:latin typeface="+mn-lt"/>
                <a:ea typeface="+mn-ea"/>
                <a:cs typeface="+mn-cs"/>
              </a:rPr>
              <a:t>即可。对于平移变换矩阵来说，平移运动是可以交换顺序的，所以直角坐标机械臂的运动学逆解，只要不是由于工艺要求或空间限制，原则上来说也是可以交换轴顺序的。</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13</a:t>
            </a:fld>
            <a:endParaRPr lang="zh-CN" altLang="en-US"/>
          </a:p>
        </p:txBody>
      </p:sp>
    </p:spTree>
    <p:extLst>
      <p:ext uri="{BB962C8B-B14F-4D97-AF65-F5344CB8AC3E}">
        <p14:creationId xmlns:p14="http://schemas.microsoft.com/office/powerpoint/2010/main" val="9129162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圆柱型坐标机械臂驱动机构一般包括一个旋转驱动和两个线性平移驱动。如图</a:t>
                </a:r>
                <a:r>
                  <a:rPr lang="en-US" altLang="zh-CN" sz="1200" kern="1200" dirty="0">
                    <a:solidFill>
                      <a:schemeClr val="tx1"/>
                    </a:solidFill>
                    <a:effectLst/>
                    <a:latin typeface="+mn-lt"/>
                    <a:ea typeface="+mn-ea"/>
                    <a:cs typeface="+mn-cs"/>
                  </a:rPr>
                  <a:t>3.7</a:t>
                </a:r>
                <a:r>
                  <a:rPr lang="zh-CN" altLang="zh-CN" sz="1200" kern="1200" dirty="0">
                    <a:solidFill>
                      <a:schemeClr val="tx1"/>
                    </a:solidFill>
                    <a:effectLst/>
                    <a:latin typeface="+mn-lt"/>
                    <a:ea typeface="+mn-ea"/>
                    <a:cs typeface="+mn-cs"/>
                  </a:rPr>
                  <a:t>所示，假设其驱动顺序为：先沿</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𝑥</m:t>
                    </m:r>
                  </m:oMath>
                </a14:m>
                <a:r>
                  <a:rPr lang="zh-CN" altLang="zh-CN" sz="1200" kern="1200" dirty="0">
                    <a:solidFill>
                      <a:schemeClr val="tx1"/>
                    </a:solidFill>
                    <a:effectLst/>
                    <a:latin typeface="+mn-lt"/>
                    <a:ea typeface="+mn-ea"/>
                    <a:cs typeface="+mn-cs"/>
                  </a:rPr>
                  <a:t>轴移动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𝑟</m:t>
                    </m:r>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再绕</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𝑧</m:t>
                    </m:r>
                  </m:oMath>
                </a14:m>
                <a:r>
                  <a:rPr lang="zh-CN" altLang="zh-CN" sz="1200" kern="1200" dirty="0">
                    <a:solidFill>
                      <a:schemeClr val="tx1"/>
                    </a:solidFill>
                    <a:effectLst/>
                    <a:latin typeface="+mn-lt"/>
                    <a:ea typeface="+mn-ea"/>
                    <a:cs typeface="+mn-cs"/>
                  </a:rPr>
                  <a:t>轴旋转</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𝛼</m:t>
                    </m:r>
                  </m:oMath>
                </a14:m>
                <a:r>
                  <a:rPr lang="zh-CN" altLang="zh-CN" sz="1200" kern="1200" dirty="0">
                    <a:solidFill>
                      <a:schemeClr val="tx1"/>
                    </a:solidFill>
                    <a:effectLst/>
                    <a:latin typeface="+mn-lt"/>
                    <a:ea typeface="+mn-ea"/>
                    <a:cs typeface="+mn-cs"/>
                  </a:rPr>
                  <a:t>角，最后沿</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𝑧</m:t>
                    </m:r>
                  </m:oMath>
                </a14:m>
                <a:r>
                  <a:rPr lang="zh-CN" altLang="zh-CN" sz="1200" kern="1200" dirty="0">
                    <a:solidFill>
                      <a:schemeClr val="tx1"/>
                    </a:solidFill>
                    <a:effectLst/>
                    <a:latin typeface="+mn-lt"/>
                    <a:ea typeface="+mn-ea"/>
                    <a:cs typeface="+mn-cs"/>
                  </a:rPr>
                  <a:t>轴移动</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，则机械臂运动学正解的总变换可以通过依次左乘每一个变换矩阵而</a:t>
                </a:r>
                <a:r>
                  <a:rPr lang="zh-CN" altLang="zh-CN" sz="1200" kern="1200" dirty="0" smtClean="0">
                    <a:solidFill>
                      <a:schemeClr val="tx1"/>
                    </a:solidFill>
                    <a:effectLst/>
                    <a:latin typeface="+mn-lt"/>
                    <a:ea typeface="+mn-ea"/>
                    <a:cs typeface="+mn-cs"/>
                  </a:rPr>
                  <a:t>求得</a:t>
                </a:r>
                <a:endParaRPr lang="en-US" altLang="zh-CN"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假设初始坐标系为全局坐标系，经过一系列变换后，总变换矩阵前三列表示了工具坐标系相对全局坐标系的姿态，最后一列代表了工具坐标系原点在全局坐标系中的位置。</a:t>
                </a:r>
                <a:endParaRPr lang="zh-CN" altLang="zh-CN" sz="1200" kern="1200" dirty="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圆柱坐标机械臂逆解：给定末端执行器中心点</a:t>
                </a:r>
                <a:r>
                  <a:rPr lang="en-US" altLang="zh-CN" sz="1200" kern="1200" dirty="0">
                    <a:solidFill>
                      <a:schemeClr val="tx1"/>
                    </a:solidFill>
                    <a:effectLst/>
                    <a:latin typeface="+mn-lt"/>
                    <a:ea typeface="+mn-ea"/>
                    <a:cs typeface="+mn-cs"/>
                  </a:rPr>
                  <a:t>P</a:t>
                </a:r>
                <a:r>
                  <a:rPr lang="zh-CN" altLang="zh-CN" sz="1200" kern="1200" dirty="0">
                    <a:solidFill>
                      <a:schemeClr val="tx1"/>
                    </a:solidFill>
                    <a:effectLst/>
                    <a:latin typeface="+mn-lt"/>
                    <a:ea typeface="+mn-ea"/>
                    <a:cs typeface="+mn-cs"/>
                  </a:rPr>
                  <a:t>在空间的点位置</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𝑝</m:t>
                        </m:r>
                      </m:sub>
                    </m:sSub>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𝑦</m:t>
                        </m:r>
                      </m:e>
                      <m:sub>
                        <m:r>
                          <a:rPr lang="en-US" altLang="zh-CN" sz="1200" i="1" kern="1200">
                            <a:solidFill>
                              <a:schemeClr val="tx1"/>
                            </a:solidFill>
                            <a:effectLst/>
                            <a:latin typeface="Cambria Math" panose="02040503050406030204" pitchFamily="18" charset="0"/>
                            <a:ea typeface="+mn-ea"/>
                            <a:cs typeface="+mn-cs"/>
                          </a:rPr>
                          <m:t>𝑝</m:t>
                        </m:r>
                      </m:sub>
                    </m:sSub>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𝑝</m:t>
                        </m:r>
                      </m:sub>
                    </m:sSub>
                  </m:oMath>
                </a14:m>
                <a:r>
                  <a:rPr lang="zh-CN" altLang="zh-CN" sz="1200" kern="1200" dirty="0">
                    <a:solidFill>
                      <a:schemeClr val="tx1"/>
                    </a:solidFill>
                    <a:effectLst/>
                    <a:latin typeface="+mn-lt"/>
                    <a:ea typeface="+mn-ea"/>
                    <a:cs typeface="+mn-cs"/>
                  </a:rPr>
                  <a:t>，确定应输入的关节变量</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α</m:t>
                    </m:r>
                  </m:oMath>
                </a14:m>
                <a:r>
                  <a:rPr lang="zh-CN"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r</a:t>
                </a:r>
                <a:r>
                  <a:rPr lang="zh-CN"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𝑙</m:t>
                    </m:r>
                  </m:oMath>
                </a14:m>
                <a:r>
                  <a:rPr lang="zh-CN" altLang="zh-CN" sz="1200" kern="1200" dirty="0">
                    <a:solidFill>
                      <a:schemeClr val="tx1"/>
                    </a:solidFill>
                    <a:effectLst/>
                    <a:latin typeface="+mn-lt"/>
                    <a:ea typeface="+mn-ea"/>
                    <a:cs typeface="+mn-cs"/>
                  </a:rPr>
                  <a:t>各值，逆解公式见式</a:t>
                </a:r>
                <a:r>
                  <a:rPr lang="en-US" altLang="zh-CN" sz="1200" kern="1200" dirty="0">
                    <a:solidFill>
                      <a:schemeClr val="tx1"/>
                    </a:solidFill>
                    <a:effectLst/>
                    <a:latin typeface="+mn-lt"/>
                    <a:ea typeface="+mn-ea"/>
                    <a:cs typeface="+mn-cs"/>
                  </a:rPr>
                  <a:t>(3-10)</a:t>
                </a:r>
                <a:r>
                  <a:rPr lang="zh-CN" altLang="zh-CN" sz="1200" kern="1200" dirty="0">
                    <a:solidFill>
                      <a:schemeClr val="tx1"/>
                    </a:solidFill>
                    <a:effectLst/>
                    <a:latin typeface="+mn-lt"/>
                    <a:ea typeface="+mn-ea"/>
                    <a:cs typeface="+mn-cs"/>
                  </a:rPr>
                  <a:t>。</a:t>
                </a:r>
                <a:endParaRPr lang="zh-CN" altLang="en-US" dirty="0"/>
              </a:p>
            </p:txBody>
          </p:sp>
        </mc:Choice>
        <mc:Fallback xmlns="">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圆柱型坐标机械臂驱动机构一般包括一个旋转驱动和两个线性平移驱动。如图</a:t>
                </a:r>
                <a:r>
                  <a:rPr lang="en-US" altLang="zh-CN" sz="1200" kern="1200" dirty="0">
                    <a:solidFill>
                      <a:schemeClr val="tx1"/>
                    </a:solidFill>
                    <a:effectLst/>
                    <a:latin typeface="+mn-lt"/>
                    <a:ea typeface="+mn-ea"/>
                    <a:cs typeface="+mn-cs"/>
                  </a:rPr>
                  <a:t>3.7</a:t>
                </a:r>
                <a:r>
                  <a:rPr lang="zh-CN" altLang="zh-CN" sz="1200" kern="1200" dirty="0">
                    <a:solidFill>
                      <a:schemeClr val="tx1"/>
                    </a:solidFill>
                    <a:effectLst/>
                    <a:latin typeface="+mn-lt"/>
                    <a:ea typeface="+mn-ea"/>
                    <a:cs typeface="+mn-cs"/>
                  </a:rPr>
                  <a:t>所示，假设其驱动顺序为：先沿</a:t>
                </a:r>
                <a:r>
                  <a:rPr lang="en-US" altLang="zh-CN" sz="1200" i="0" kern="1200">
                    <a:solidFill>
                      <a:schemeClr val="tx1"/>
                    </a:solidFill>
                    <a:effectLst/>
                    <a:latin typeface="+mn-lt"/>
                    <a:ea typeface="+mn-ea"/>
                    <a:cs typeface="+mn-cs"/>
                  </a:rPr>
                  <a:t>𝑥</a:t>
                </a:r>
                <a:r>
                  <a:rPr lang="zh-CN" altLang="zh-CN" sz="1200" kern="1200" dirty="0">
                    <a:solidFill>
                      <a:schemeClr val="tx1"/>
                    </a:solidFill>
                    <a:effectLst/>
                    <a:latin typeface="+mn-lt"/>
                    <a:ea typeface="+mn-ea"/>
                    <a:cs typeface="+mn-cs"/>
                  </a:rPr>
                  <a:t>轴移动</a:t>
                </a:r>
                <a:r>
                  <a:rPr lang="en-US" altLang="zh-CN" sz="1200" i="0" kern="1200">
                    <a:solidFill>
                      <a:schemeClr val="tx1"/>
                    </a:solidFill>
                    <a:effectLst/>
                    <a:latin typeface="+mn-lt"/>
                    <a:ea typeface="+mn-ea"/>
                    <a:cs typeface="+mn-cs"/>
                  </a:rPr>
                  <a:t>𝑟</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再绕</a:t>
                </a:r>
                <a:r>
                  <a:rPr lang="en-US" altLang="zh-CN" sz="1200" i="0" kern="1200">
                    <a:solidFill>
                      <a:schemeClr val="tx1"/>
                    </a:solidFill>
                    <a:effectLst/>
                    <a:latin typeface="+mn-lt"/>
                    <a:ea typeface="+mn-ea"/>
                    <a:cs typeface="+mn-cs"/>
                  </a:rPr>
                  <a:t>𝑧</a:t>
                </a:r>
                <a:r>
                  <a:rPr lang="zh-CN" altLang="zh-CN" sz="1200" kern="1200" dirty="0">
                    <a:solidFill>
                      <a:schemeClr val="tx1"/>
                    </a:solidFill>
                    <a:effectLst/>
                    <a:latin typeface="+mn-lt"/>
                    <a:ea typeface="+mn-ea"/>
                    <a:cs typeface="+mn-cs"/>
                  </a:rPr>
                  <a:t>轴旋转</a:t>
                </a:r>
                <a:r>
                  <a:rPr lang="en-US" altLang="zh-CN" sz="1200" i="0" kern="1200">
                    <a:solidFill>
                      <a:schemeClr val="tx1"/>
                    </a:solidFill>
                    <a:effectLst/>
                    <a:latin typeface="+mn-lt"/>
                    <a:ea typeface="+mn-ea"/>
                    <a:cs typeface="+mn-cs"/>
                  </a:rPr>
                  <a:t>𝛼</a:t>
                </a:r>
                <a:r>
                  <a:rPr lang="zh-CN" altLang="zh-CN" sz="1200" kern="1200" dirty="0">
                    <a:solidFill>
                      <a:schemeClr val="tx1"/>
                    </a:solidFill>
                    <a:effectLst/>
                    <a:latin typeface="+mn-lt"/>
                    <a:ea typeface="+mn-ea"/>
                    <a:cs typeface="+mn-cs"/>
                  </a:rPr>
                  <a:t>角，最后沿</a:t>
                </a:r>
                <a:r>
                  <a:rPr lang="en-US" altLang="zh-CN" sz="1200" i="0" kern="1200">
                    <a:solidFill>
                      <a:schemeClr val="tx1"/>
                    </a:solidFill>
                    <a:effectLst/>
                    <a:latin typeface="+mn-lt"/>
                    <a:ea typeface="+mn-ea"/>
                    <a:cs typeface="+mn-cs"/>
                  </a:rPr>
                  <a:t>𝑧</a:t>
                </a:r>
                <a:r>
                  <a:rPr lang="zh-CN" altLang="zh-CN" sz="1200" kern="1200" dirty="0">
                    <a:solidFill>
                      <a:schemeClr val="tx1"/>
                    </a:solidFill>
                    <a:effectLst/>
                    <a:latin typeface="+mn-lt"/>
                    <a:ea typeface="+mn-ea"/>
                    <a:cs typeface="+mn-cs"/>
                  </a:rPr>
                  <a:t>轴移动</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，则机械臂运动学正解的总变换可以通过依次左乘每一个变换矩阵而</a:t>
                </a:r>
                <a:r>
                  <a:rPr lang="zh-CN" altLang="zh-CN" sz="1200" kern="1200" dirty="0" smtClean="0">
                    <a:solidFill>
                      <a:schemeClr val="tx1"/>
                    </a:solidFill>
                    <a:effectLst/>
                    <a:latin typeface="+mn-lt"/>
                    <a:ea typeface="+mn-ea"/>
                    <a:cs typeface="+mn-cs"/>
                  </a:rPr>
                  <a:t>求得</a:t>
                </a:r>
                <a:endParaRPr lang="en-US" altLang="zh-CN"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假设初始坐标系为全局坐标系，经过一系列变换后，总变换矩阵前三列表示了工具坐标系相对全局坐标系的姿态，最后一列代表了工具坐标系原点在全局坐标系中的位置。</a:t>
                </a:r>
                <a:endParaRPr lang="zh-CN" altLang="zh-CN" sz="1200" kern="1200" dirty="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圆柱坐标机械臂逆解：给定末端执行器中心点</a:t>
                </a:r>
                <a:r>
                  <a:rPr lang="en-US" altLang="zh-CN" sz="1200" kern="1200" dirty="0">
                    <a:solidFill>
                      <a:schemeClr val="tx1"/>
                    </a:solidFill>
                    <a:effectLst/>
                    <a:latin typeface="+mn-lt"/>
                    <a:ea typeface="+mn-ea"/>
                    <a:cs typeface="+mn-cs"/>
                  </a:rPr>
                  <a:t>P</a:t>
                </a:r>
                <a:r>
                  <a:rPr lang="zh-CN" altLang="zh-CN" sz="1200" kern="1200" dirty="0">
                    <a:solidFill>
                      <a:schemeClr val="tx1"/>
                    </a:solidFill>
                    <a:effectLst/>
                    <a:latin typeface="+mn-lt"/>
                    <a:ea typeface="+mn-ea"/>
                    <a:cs typeface="+mn-cs"/>
                  </a:rPr>
                  <a:t>在空间的点位置</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𝑝</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𝑝</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𝑝</a:t>
                </a:r>
                <a:r>
                  <a:rPr lang="zh-CN" altLang="zh-CN" sz="1200" kern="1200" dirty="0">
                    <a:solidFill>
                      <a:schemeClr val="tx1"/>
                    </a:solidFill>
                    <a:effectLst/>
                    <a:latin typeface="+mn-lt"/>
                    <a:ea typeface="+mn-ea"/>
                    <a:cs typeface="+mn-cs"/>
                  </a:rPr>
                  <a:t>，确定应输入的关节变量</a:t>
                </a:r>
                <a:r>
                  <a:rPr lang="en-US" altLang="zh-CN" sz="1200" i="0" kern="1200">
                    <a:solidFill>
                      <a:schemeClr val="tx1"/>
                    </a:solidFill>
                    <a:effectLst/>
                    <a:latin typeface="+mn-lt"/>
                    <a:ea typeface="+mn-ea"/>
                    <a:cs typeface="+mn-cs"/>
                  </a:rPr>
                  <a:t>α</a:t>
                </a:r>
                <a:r>
                  <a:rPr lang="zh-CN"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r</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𝑙</a:t>
                </a:r>
                <a:r>
                  <a:rPr lang="zh-CN" altLang="zh-CN" sz="1200" kern="1200" dirty="0">
                    <a:solidFill>
                      <a:schemeClr val="tx1"/>
                    </a:solidFill>
                    <a:effectLst/>
                    <a:latin typeface="+mn-lt"/>
                    <a:ea typeface="+mn-ea"/>
                    <a:cs typeface="+mn-cs"/>
                  </a:rPr>
                  <a:t>各值，逆解公式见式</a:t>
                </a:r>
                <a:r>
                  <a:rPr lang="en-US" altLang="zh-CN" sz="1200" kern="1200" dirty="0">
                    <a:solidFill>
                      <a:schemeClr val="tx1"/>
                    </a:solidFill>
                    <a:effectLst/>
                    <a:latin typeface="+mn-lt"/>
                    <a:ea typeface="+mn-ea"/>
                    <a:cs typeface="+mn-cs"/>
                  </a:rPr>
                  <a:t>(3-10)</a:t>
                </a:r>
                <a:r>
                  <a:rPr lang="zh-CN" altLang="zh-CN" sz="1200" kern="1200" dirty="0">
                    <a:solidFill>
                      <a:schemeClr val="tx1"/>
                    </a:solidFill>
                    <a:effectLst/>
                    <a:latin typeface="+mn-lt"/>
                    <a:ea typeface="+mn-ea"/>
                    <a:cs typeface="+mn-cs"/>
                  </a:rPr>
                  <a:t>。</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14</a:t>
            </a:fld>
            <a:endParaRPr lang="zh-CN" altLang="en-US"/>
          </a:p>
        </p:txBody>
      </p:sp>
    </p:spTree>
    <p:extLst>
      <p:ext uri="{BB962C8B-B14F-4D97-AF65-F5344CB8AC3E}">
        <p14:creationId xmlns:p14="http://schemas.microsoft.com/office/powerpoint/2010/main" val="17857465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3.8</a:t>
                </a:r>
                <a:r>
                  <a:rPr lang="zh-CN" altLang="zh-CN" sz="1200" kern="1200" dirty="0">
                    <a:solidFill>
                      <a:schemeClr val="tx1"/>
                    </a:solidFill>
                    <a:effectLst/>
                    <a:latin typeface="+mn-lt"/>
                    <a:ea typeface="+mn-ea"/>
                    <a:cs typeface="+mn-cs"/>
                  </a:rPr>
                  <a:t>所示，球坐标型机械臂驱动由一个线性驱动和两个旋转驱动组成。假设运动顺序为：先沿</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轴平移</a:t>
                </a:r>
                <a:r>
                  <a:rPr lang="en-US" altLang="zh-CN" sz="1200" kern="1200" dirty="0">
                    <a:solidFill>
                      <a:schemeClr val="tx1"/>
                    </a:solidFill>
                    <a:effectLst/>
                    <a:latin typeface="+mn-lt"/>
                    <a:ea typeface="+mn-ea"/>
                    <a:cs typeface="+mn-cs"/>
                  </a:rPr>
                  <a:t>r,</a:t>
                </a:r>
                <a:r>
                  <a:rPr lang="zh-CN" altLang="zh-CN" sz="1200" kern="1200" dirty="0">
                    <a:solidFill>
                      <a:schemeClr val="tx1"/>
                    </a:solidFill>
                    <a:effectLst/>
                    <a:latin typeface="+mn-lt"/>
                    <a:ea typeface="+mn-ea"/>
                    <a:cs typeface="+mn-cs"/>
                  </a:rPr>
                  <a:t>再绕</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轴旋转</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𝛽</m:t>
                    </m:r>
                  </m:oMath>
                </a14:m>
                <a:r>
                  <a:rPr lang="zh-CN" altLang="zh-CN" sz="1200" kern="1200" dirty="0">
                    <a:solidFill>
                      <a:schemeClr val="tx1"/>
                    </a:solidFill>
                    <a:effectLst/>
                    <a:latin typeface="+mn-lt"/>
                    <a:ea typeface="+mn-ea"/>
                    <a:cs typeface="+mn-cs"/>
                  </a:rPr>
                  <a:t>并绕</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轴旋转</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𝛾</m:t>
                    </m:r>
                  </m:oMath>
                </a14:m>
                <a:r>
                  <a:rPr lang="zh-CN" altLang="zh-CN" sz="1200" kern="1200" dirty="0">
                    <a:solidFill>
                      <a:schemeClr val="tx1"/>
                    </a:solidFill>
                    <a:effectLst/>
                    <a:latin typeface="+mn-lt"/>
                    <a:ea typeface="+mn-ea"/>
                    <a:cs typeface="+mn-cs"/>
                  </a:rPr>
                  <a:t>。则机械臂运动学正解的总变换可以通过依次左乘每一个矩阵而求得</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前</a:t>
                </a:r>
                <a:r>
                  <a:rPr lang="zh-CN" altLang="zh-CN" sz="1200" kern="1200" dirty="0">
                    <a:solidFill>
                      <a:schemeClr val="tx1"/>
                    </a:solidFill>
                    <a:effectLst/>
                    <a:latin typeface="+mn-lt"/>
                    <a:ea typeface="+mn-ea"/>
                    <a:cs typeface="+mn-cs"/>
                  </a:rPr>
                  <a:t>三列表示了经过一系列变换后的末端执行器坐标系相对于全局坐标系的姿态，最后一列代表了工具坐标系原点在全局坐标系中的位置。</a:t>
                </a:r>
              </a:p>
              <a:p>
                <a:r>
                  <a:rPr lang="zh-CN" altLang="zh-CN" sz="1200" kern="1200" dirty="0">
                    <a:solidFill>
                      <a:schemeClr val="tx1"/>
                    </a:solidFill>
                    <a:effectLst/>
                    <a:latin typeface="+mn-lt"/>
                    <a:ea typeface="+mn-ea"/>
                    <a:cs typeface="+mn-cs"/>
                  </a:rPr>
                  <a:t>球坐标机械臂的逆运动学方程：给定末端执行器中心点</a:t>
                </a:r>
                <a:r>
                  <a:rPr lang="en-US" altLang="zh-CN" sz="1200" kern="1200" dirty="0">
                    <a:solidFill>
                      <a:schemeClr val="tx1"/>
                    </a:solidFill>
                    <a:effectLst/>
                    <a:latin typeface="+mn-lt"/>
                    <a:ea typeface="+mn-ea"/>
                    <a:cs typeface="+mn-cs"/>
                  </a:rPr>
                  <a:t>P</a:t>
                </a:r>
                <a:r>
                  <a:rPr lang="zh-CN" altLang="zh-CN" sz="1200" kern="1200" dirty="0">
                    <a:solidFill>
                      <a:schemeClr val="tx1"/>
                    </a:solidFill>
                    <a:effectLst/>
                    <a:latin typeface="+mn-lt"/>
                    <a:ea typeface="+mn-ea"/>
                    <a:cs typeface="+mn-cs"/>
                  </a:rPr>
                  <a:t>在空间的点位置Ｐｘ，Ｐｙ，Ｐｚ，确定应输入的关节变量</a:t>
                </a:r>
                <a:r>
                  <a:rPr lang="en-US" altLang="zh-CN" sz="1200" kern="1200" dirty="0">
                    <a:solidFill>
                      <a:schemeClr val="tx1"/>
                    </a:solidFill>
                    <a:effectLst/>
                    <a:latin typeface="+mn-lt"/>
                    <a:ea typeface="+mn-ea"/>
                    <a:cs typeface="+mn-cs"/>
                  </a:rPr>
                  <a:t>r</a:t>
                </a:r>
                <a:r>
                  <a:rPr lang="zh-CN"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𝛽</m:t>
                    </m:r>
                  </m:oMath>
                </a14:m>
                <a:r>
                  <a:rPr lang="zh-CN"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𝛾</m:t>
                    </m:r>
                  </m:oMath>
                </a14:m>
                <a:r>
                  <a:rPr lang="zh-CN" altLang="zh-CN" sz="1200" kern="1200" dirty="0">
                    <a:solidFill>
                      <a:schemeClr val="tx1"/>
                    </a:solidFill>
                    <a:effectLst/>
                    <a:latin typeface="+mn-lt"/>
                    <a:ea typeface="+mn-ea"/>
                    <a:cs typeface="+mn-cs"/>
                  </a:rPr>
                  <a:t>各值。逆解求法步骤如下：</a:t>
                </a:r>
                <a:endParaRPr lang="zh-CN" altLang="en-US" dirty="0"/>
              </a:p>
            </p:txBody>
          </p:sp>
        </mc:Choice>
        <mc:Fallback xmlns="">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3.8</a:t>
                </a:r>
                <a:r>
                  <a:rPr lang="zh-CN" altLang="zh-CN" sz="1200" kern="1200" dirty="0">
                    <a:solidFill>
                      <a:schemeClr val="tx1"/>
                    </a:solidFill>
                    <a:effectLst/>
                    <a:latin typeface="+mn-lt"/>
                    <a:ea typeface="+mn-ea"/>
                    <a:cs typeface="+mn-cs"/>
                  </a:rPr>
                  <a:t>所示，球坐标型机械臂驱动由一个线性驱动和两个旋转驱动组成。假设运动顺序为：先沿</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轴平移</a:t>
                </a:r>
                <a:r>
                  <a:rPr lang="en-US" altLang="zh-CN" sz="1200" kern="1200" dirty="0">
                    <a:solidFill>
                      <a:schemeClr val="tx1"/>
                    </a:solidFill>
                    <a:effectLst/>
                    <a:latin typeface="+mn-lt"/>
                    <a:ea typeface="+mn-ea"/>
                    <a:cs typeface="+mn-cs"/>
                  </a:rPr>
                  <a:t>r,</a:t>
                </a:r>
                <a:r>
                  <a:rPr lang="zh-CN" altLang="zh-CN" sz="1200" kern="1200" dirty="0">
                    <a:solidFill>
                      <a:schemeClr val="tx1"/>
                    </a:solidFill>
                    <a:effectLst/>
                    <a:latin typeface="+mn-lt"/>
                    <a:ea typeface="+mn-ea"/>
                    <a:cs typeface="+mn-cs"/>
                  </a:rPr>
                  <a:t>再绕</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轴旋转</a:t>
                </a:r>
                <a:r>
                  <a:rPr lang="en-US" altLang="zh-CN" sz="1200" i="0" kern="1200">
                    <a:solidFill>
                      <a:schemeClr val="tx1"/>
                    </a:solidFill>
                    <a:effectLst/>
                    <a:latin typeface="+mn-lt"/>
                    <a:ea typeface="+mn-ea"/>
                    <a:cs typeface="+mn-cs"/>
                  </a:rPr>
                  <a:t>𝛽</a:t>
                </a:r>
                <a:r>
                  <a:rPr lang="zh-CN" altLang="zh-CN" sz="1200" kern="1200" dirty="0">
                    <a:solidFill>
                      <a:schemeClr val="tx1"/>
                    </a:solidFill>
                    <a:effectLst/>
                    <a:latin typeface="+mn-lt"/>
                    <a:ea typeface="+mn-ea"/>
                    <a:cs typeface="+mn-cs"/>
                  </a:rPr>
                  <a:t>并绕</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轴旋转</a:t>
                </a:r>
                <a:r>
                  <a:rPr lang="en-US" altLang="zh-CN" sz="1200" i="0" kern="1200">
                    <a:solidFill>
                      <a:schemeClr val="tx1"/>
                    </a:solidFill>
                    <a:effectLst/>
                    <a:latin typeface="+mn-lt"/>
                    <a:ea typeface="+mn-ea"/>
                    <a:cs typeface="+mn-cs"/>
                  </a:rPr>
                  <a:t>𝛾</a:t>
                </a:r>
                <a:r>
                  <a:rPr lang="zh-CN" altLang="zh-CN" sz="1200" kern="1200" dirty="0">
                    <a:solidFill>
                      <a:schemeClr val="tx1"/>
                    </a:solidFill>
                    <a:effectLst/>
                    <a:latin typeface="+mn-lt"/>
                    <a:ea typeface="+mn-ea"/>
                    <a:cs typeface="+mn-cs"/>
                  </a:rPr>
                  <a:t>。则机械臂运动学正解的总变换可以通过依次左乘每一个矩阵而求得</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前</a:t>
                </a:r>
                <a:r>
                  <a:rPr lang="zh-CN" altLang="zh-CN" sz="1200" kern="1200" dirty="0">
                    <a:solidFill>
                      <a:schemeClr val="tx1"/>
                    </a:solidFill>
                    <a:effectLst/>
                    <a:latin typeface="+mn-lt"/>
                    <a:ea typeface="+mn-ea"/>
                    <a:cs typeface="+mn-cs"/>
                  </a:rPr>
                  <a:t>三列表示了经过一系列变换后的末端执行器坐标系相对于全局坐标系的姿态，最后一列代表了工具坐标系原点在全局坐标系中的位置。</a:t>
                </a:r>
              </a:p>
              <a:p>
                <a:r>
                  <a:rPr lang="zh-CN" altLang="zh-CN" sz="1200" kern="1200" dirty="0">
                    <a:solidFill>
                      <a:schemeClr val="tx1"/>
                    </a:solidFill>
                    <a:effectLst/>
                    <a:latin typeface="+mn-lt"/>
                    <a:ea typeface="+mn-ea"/>
                    <a:cs typeface="+mn-cs"/>
                  </a:rPr>
                  <a:t>球坐标机械臂的逆运动学方程：给定末端执行器中心点</a:t>
                </a:r>
                <a:r>
                  <a:rPr lang="en-US" altLang="zh-CN" sz="1200" kern="1200" dirty="0">
                    <a:solidFill>
                      <a:schemeClr val="tx1"/>
                    </a:solidFill>
                    <a:effectLst/>
                    <a:latin typeface="+mn-lt"/>
                    <a:ea typeface="+mn-ea"/>
                    <a:cs typeface="+mn-cs"/>
                  </a:rPr>
                  <a:t>P</a:t>
                </a:r>
                <a:r>
                  <a:rPr lang="zh-CN" altLang="zh-CN" sz="1200" kern="1200" dirty="0">
                    <a:solidFill>
                      <a:schemeClr val="tx1"/>
                    </a:solidFill>
                    <a:effectLst/>
                    <a:latin typeface="+mn-lt"/>
                    <a:ea typeface="+mn-ea"/>
                    <a:cs typeface="+mn-cs"/>
                  </a:rPr>
                  <a:t>在空间的点位置Ｐｘ，Ｐｙ，Ｐｚ，确定应输入的关节变量</a:t>
                </a:r>
                <a:r>
                  <a:rPr lang="en-US" altLang="zh-CN" sz="1200" kern="1200" dirty="0">
                    <a:solidFill>
                      <a:schemeClr val="tx1"/>
                    </a:solidFill>
                    <a:effectLst/>
                    <a:latin typeface="+mn-lt"/>
                    <a:ea typeface="+mn-ea"/>
                    <a:cs typeface="+mn-cs"/>
                  </a:rPr>
                  <a:t>r</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𝛽</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𝛾</a:t>
                </a:r>
                <a:r>
                  <a:rPr lang="zh-CN" altLang="zh-CN" sz="1200" kern="1200" dirty="0">
                    <a:solidFill>
                      <a:schemeClr val="tx1"/>
                    </a:solidFill>
                    <a:effectLst/>
                    <a:latin typeface="+mn-lt"/>
                    <a:ea typeface="+mn-ea"/>
                    <a:cs typeface="+mn-cs"/>
                  </a:rPr>
                  <a:t>各值。逆解求法步骤如下：</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15</a:t>
            </a:fld>
            <a:endParaRPr lang="zh-CN" altLang="en-US"/>
          </a:p>
        </p:txBody>
      </p:sp>
    </p:spTree>
    <p:extLst>
      <p:ext uri="{BB962C8B-B14F-4D97-AF65-F5344CB8AC3E}">
        <p14:creationId xmlns:p14="http://schemas.microsoft.com/office/powerpoint/2010/main" val="41576580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平面关节型机械臂驱动采用两个回转关节驱动和一个移动关节驱动，和球面坐标机械臂有所不同的是，平面关节型机械臂的两个回转关节控制前后、左右运动，旋转运动处于平行平面，移动关节则实现上下运动，其工作空间的轨迹图形是纵截面为矩形的回转体，而球面关节的两个旋转运动，其中一个旋转运动为回转运动，另一个旋转为俯仰运动。三关节平面坐标机械臂的运动学类似球面坐标运动学的求解方法。后来的实际应用中，很多公司推出了四关节平面坐标机械臂，其中三个水平旋转关节，一个平动关节，机器人作业更灵活，又称</a:t>
            </a:r>
            <a:r>
              <a:rPr lang="en-US" altLang="zh-CN" sz="1200" kern="1200" dirty="0" smtClean="0">
                <a:solidFill>
                  <a:schemeClr val="tx1"/>
                </a:solidFill>
                <a:effectLst/>
                <a:latin typeface="+mn-lt"/>
                <a:ea typeface="+mn-ea"/>
                <a:cs typeface="+mn-cs"/>
              </a:rPr>
              <a:t>SCARA(Selective Compliance Assembly Robot Arm)</a:t>
            </a:r>
            <a:r>
              <a:rPr lang="zh-CN" altLang="zh-CN" sz="1200" kern="1200" dirty="0" smtClean="0">
                <a:solidFill>
                  <a:schemeClr val="tx1"/>
                </a:solidFill>
                <a:effectLst/>
                <a:latin typeface="+mn-lt"/>
                <a:ea typeface="+mn-ea"/>
                <a:cs typeface="+mn-cs"/>
              </a:rPr>
              <a:t>， 选择顺应性装配机器手臂</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机器人。</a:t>
            </a:r>
            <a:endParaRPr lang="en-US" altLang="zh-CN"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tx1"/>
                </a:solidFill>
                <a:effectLst/>
                <a:latin typeface="+mn-lt"/>
                <a:ea typeface="+mn-ea"/>
                <a:cs typeface="+mn-cs"/>
              </a:rPr>
              <a:t>SCARA</a:t>
            </a:r>
            <a:r>
              <a:rPr lang="zh-CN" altLang="zh-CN" sz="1200" kern="1200" dirty="0" smtClean="0">
                <a:solidFill>
                  <a:schemeClr val="tx1"/>
                </a:solidFill>
                <a:effectLst/>
                <a:latin typeface="+mn-lt"/>
                <a:ea typeface="+mn-ea"/>
                <a:cs typeface="+mn-cs"/>
              </a:rPr>
              <a:t>机器人目前还有大量的应用市场，其运动学分析我们在后面的章节进行详细分析。</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16</a:t>
            </a:fld>
            <a:endParaRPr lang="zh-CN" altLang="en-US"/>
          </a:p>
        </p:txBody>
      </p:sp>
    </p:spTree>
    <p:extLst>
      <p:ext uri="{BB962C8B-B14F-4D97-AF65-F5344CB8AC3E}">
        <p14:creationId xmlns:p14="http://schemas.microsoft.com/office/powerpoint/2010/main" val="37014711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如图</a:t>
            </a:r>
            <a:r>
              <a:rPr lang="en-US" altLang="zh-CN" sz="1200" kern="1200" dirty="0" smtClean="0">
                <a:solidFill>
                  <a:schemeClr val="tx1"/>
                </a:solidFill>
                <a:effectLst/>
                <a:latin typeface="+mn-lt"/>
                <a:ea typeface="+mn-ea"/>
                <a:cs typeface="+mn-cs"/>
              </a:rPr>
              <a:t>3.10</a:t>
            </a:r>
            <a:r>
              <a:rPr lang="zh-CN" altLang="zh-CN" sz="1200" kern="1200" dirty="0" smtClean="0">
                <a:solidFill>
                  <a:schemeClr val="tx1"/>
                </a:solidFill>
                <a:effectLst/>
                <a:latin typeface="+mn-lt"/>
                <a:ea typeface="+mn-ea"/>
                <a:cs typeface="+mn-cs"/>
              </a:rPr>
              <a:t>所示，链式坐标机械臂的驱动由三个旋转驱动组成。在后来的发展中，在三关节链式坐标机械臂的基础上，模仿人类的手臂，各大工业机器人厂家推出了三个腕部关节，形成了六自由度工业机械臂，使得机械臂的操作更加灵活，机械臂也朝通用机械臂的方向发展。有关六自由度串联旋转关节机器人的运动学将在后面的章节进行详细描述。</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17</a:t>
            </a:fld>
            <a:endParaRPr lang="zh-CN" altLang="en-US"/>
          </a:p>
        </p:txBody>
      </p:sp>
    </p:spTree>
    <p:extLst>
      <p:ext uri="{BB962C8B-B14F-4D97-AF65-F5344CB8AC3E}">
        <p14:creationId xmlns:p14="http://schemas.microsoft.com/office/powerpoint/2010/main" val="17163747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14:m>
                  <m:oMath xmlns:m="http://schemas.openxmlformats.org/officeDocument/2006/math">
                    <m:r>
                      <a:rPr lang="en-US" altLang="zh-CN" sz="1200" i="1" kern="1200" smtClean="0">
                        <a:solidFill>
                          <a:schemeClr val="tx1"/>
                        </a:solidFill>
                        <a:effectLst/>
                        <a:latin typeface="Cambria Math" panose="02040503050406030204" pitchFamily="18" charset="0"/>
                        <a:ea typeface="+mn-ea"/>
                        <a:cs typeface="+mn-cs"/>
                      </a:rPr>
                      <m:t>𝜃</m:t>
                    </m:r>
                  </m:oMath>
                </a14:m>
                <a:r>
                  <a:rPr lang="zh-CN" altLang="zh-CN" sz="1200" kern="1200" dirty="0">
                    <a:solidFill>
                      <a:schemeClr val="tx1"/>
                    </a:solidFill>
                    <a:effectLst/>
                    <a:latin typeface="+mn-lt"/>
                    <a:ea typeface="+mn-ea"/>
                    <a:cs typeface="+mn-cs"/>
                  </a:rPr>
                  <a:t>角表示绕</a:t>
                </a:r>
                <a:r>
                  <a:rPr lang="en-US" altLang="zh-CN" sz="1200" i="1"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轴的</a:t>
                </a:r>
                <a:r>
                  <a:rPr lang="zh-CN" altLang="zh-CN" sz="1200" b="1" kern="1200" dirty="0">
                    <a:solidFill>
                      <a:schemeClr val="tx1"/>
                    </a:solidFill>
                    <a:effectLst/>
                    <a:latin typeface="+mn-lt"/>
                    <a:ea typeface="+mn-ea"/>
                    <a:cs typeface="+mn-cs"/>
                  </a:rPr>
                  <a:t>旋转角</a:t>
                </a:r>
                <a:r>
                  <a:rPr lang="zh-CN"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表示在</a:t>
                </a:r>
                <a:r>
                  <a:rPr lang="en-US" altLang="zh-CN" sz="1200" i="1"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轴上两条相邻的公垂线之间的距离，</a:t>
                </a:r>
                <a:r>
                  <a:rPr lang="en-US" altLang="zh-CN" sz="1200" i="1"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表示每一条公垂线的长度（也叫</a:t>
                </a:r>
                <a:r>
                  <a:rPr lang="zh-CN" altLang="zh-CN" sz="1200" b="1" kern="1200" dirty="0">
                    <a:solidFill>
                      <a:schemeClr val="tx1"/>
                    </a:solidFill>
                    <a:effectLst/>
                    <a:latin typeface="+mn-lt"/>
                    <a:ea typeface="+mn-ea"/>
                    <a:cs typeface="+mn-cs"/>
                  </a:rPr>
                  <a:t>关节偏移量</a:t>
                </a:r>
                <a:r>
                  <a:rPr lang="zh-CN"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𝛼</m:t>
                    </m:r>
                  </m:oMath>
                </a14:m>
                <a:r>
                  <a:rPr lang="zh-CN" altLang="zh-CN" sz="1200" kern="1200" dirty="0">
                    <a:solidFill>
                      <a:schemeClr val="tx1"/>
                    </a:solidFill>
                    <a:effectLst/>
                    <a:latin typeface="+mn-lt"/>
                    <a:ea typeface="+mn-ea"/>
                    <a:cs typeface="+mn-cs"/>
                  </a:rPr>
                  <a:t>角表示两个相邻的</a:t>
                </a:r>
                <a:r>
                  <a:rPr lang="en-US" altLang="zh-CN" sz="1200" i="1"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轴之间的角度 （也叫</a:t>
                </a:r>
                <a:r>
                  <a:rPr lang="zh-CN" altLang="zh-CN" sz="1200" b="1" kern="1200" dirty="0">
                    <a:solidFill>
                      <a:schemeClr val="tx1"/>
                    </a:solidFill>
                    <a:effectLst/>
                    <a:latin typeface="+mn-lt"/>
                    <a:ea typeface="+mn-ea"/>
                    <a:cs typeface="+mn-cs"/>
                  </a:rPr>
                  <a:t>关节扭转</a:t>
                </a:r>
                <a:r>
                  <a:rPr lang="zh-CN" altLang="zh-CN" sz="1200" kern="1200" dirty="0">
                    <a:solidFill>
                      <a:schemeClr val="tx1"/>
                    </a:solidFill>
                    <a:effectLst/>
                    <a:latin typeface="+mn-lt"/>
                    <a:ea typeface="+mn-ea"/>
                    <a:cs typeface="+mn-cs"/>
                  </a:rPr>
                  <a:t>）。通常，只有</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oMath>
                </a14:m>
                <a:r>
                  <a:rPr lang="zh-CN" altLang="zh-CN" sz="1200" kern="1200" dirty="0">
                    <a:solidFill>
                      <a:schemeClr val="tx1"/>
                    </a:solidFill>
                    <a:effectLst/>
                    <a:latin typeface="+mn-lt"/>
                    <a:ea typeface="+mn-ea"/>
                    <a:cs typeface="+mn-cs"/>
                  </a:rPr>
                  <a:t>和</a:t>
                </a:r>
                <a:r>
                  <a:rPr lang="en-US" altLang="zh-CN" sz="1200" i="1"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是关节变量。</a:t>
                </a:r>
                <a:endParaRPr lang="zh-CN" altLang="en-US" dirty="0"/>
              </a:p>
            </p:txBody>
          </p:sp>
        </mc:Choice>
        <mc:Fallback xmlns="">
          <p:sp>
            <p:nvSpPr>
              <p:cNvPr id="3" name="备注占位符 2"/>
              <p:cNvSpPr>
                <a:spLocks noGrp="1"/>
              </p:cNvSpPr>
              <p:nvPr>
                <p:ph type="body" idx="1"/>
              </p:nvPr>
            </p:nvSpPr>
            <p:spPr/>
            <p:txBody>
              <a:bodyPr/>
              <a:lstStyle/>
              <a:p>
                <a:r>
                  <a:rPr lang="en-US" altLang="zh-CN" sz="1200" i="0" kern="1200" smtClean="0">
                    <a:solidFill>
                      <a:schemeClr val="tx1"/>
                    </a:solidFill>
                    <a:effectLst/>
                    <a:latin typeface="+mn-lt"/>
                    <a:ea typeface="+mn-ea"/>
                    <a:cs typeface="+mn-cs"/>
                  </a:rPr>
                  <a:t>𝜃</a:t>
                </a:r>
                <a:r>
                  <a:rPr lang="zh-CN" altLang="zh-CN" sz="1200" kern="1200" dirty="0">
                    <a:solidFill>
                      <a:schemeClr val="tx1"/>
                    </a:solidFill>
                    <a:effectLst/>
                    <a:latin typeface="+mn-lt"/>
                    <a:ea typeface="+mn-ea"/>
                    <a:cs typeface="+mn-cs"/>
                  </a:rPr>
                  <a:t>角表示绕</a:t>
                </a:r>
                <a:r>
                  <a:rPr lang="en-US" altLang="zh-CN" sz="1200" i="1"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轴的</a:t>
                </a:r>
                <a:r>
                  <a:rPr lang="zh-CN" altLang="zh-CN" sz="1200" b="1" kern="1200" dirty="0">
                    <a:solidFill>
                      <a:schemeClr val="tx1"/>
                    </a:solidFill>
                    <a:effectLst/>
                    <a:latin typeface="+mn-lt"/>
                    <a:ea typeface="+mn-ea"/>
                    <a:cs typeface="+mn-cs"/>
                  </a:rPr>
                  <a:t>旋转角</a:t>
                </a:r>
                <a:r>
                  <a:rPr lang="zh-CN" altLang="zh-CN" sz="1200" kern="1200" dirty="0">
                    <a:solidFill>
                      <a:schemeClr val="tx1"/>
                    </a:solidFill>
                    <a:effectLst/>
                    <a:latin typeface="+mn-lt"/>
                    <a:ea typeface="+mn-ea"/>
                    <a:cs typeface="+mn-cs"/>
                  </a:rPr>
                  <a:t>，</a:t>
                </a:r>
                <a:r>
                  <a:rPr lang="en-US" altLang="zh-CN" sz="1200" i="1"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表示在</a:t>
                </a:r>
                <a:r>
                  <a:rPr lang="en-US" altLang="zh-CN" sz="1200" i="1"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轴上两条相邻的公垂线之间的距离，</a:t>
                </a:r>
                <a:r>
                  <a:rPr lang="en-US" altLang="zh-CN" sz="1200" i="1"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表示每一条公垂线的长度（也叫</a:t>
                </a:r>
                <a:r>
                  <a:rPr lang="zh-CN" altLang="zh-CN" sz="1200" b="1" kern="1200" dirty="0">
                    <a:solidFill>
                      <a:schemeClr val="tx1"/>
                    </a:solidFill>
                    <a:effectLst/>
                    <a:latin typeface="+mn-lt"/>
                    <a:ea typeface="+mn-ea"/>
                    <a:cs typeface="+mn-cs"/>
                  </a:rPr>
                  <a:t>关节偏移量</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a:t>
                </a:r>
                <a:r>
                  <a:rPr lang="zh-CN" altLang="zh-CN" sz="1200" kern="1200" dirty="0">
                    <a:solidFill>
                      <a:schemeClr val="tx1"/>
                    </a:solidFill>
                    <a:effectLst/>
                    <a:latin typeface="+mn-lt"/>
                    <a:ea typeface="+mn-ea"/>
                    <a:cs typeface="+mn-cs"/>
                  </a:rPr>
                  <a:t>角表示两个相邻的</a:t>
                </a:r>
                <a:r>
                  <a:rPr lang="en-US" altLang="zh-CN" sz="1200" i="1"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轴之间的角度 （也叫</a:t>
                </a:r>
                <a:r>
                  <a:rPr lang="zh-CN" altLang="zh-CN" sz="1200" b="1" kern="1200" dirty="0">
                    <a:solidFill>
                      <a:schemeClr val="tx1"/>
                    </a:solidFill>
                    <a:effectLst/>
                    <a:latin typeface="+mn-lt"/>
                    <a:ea typeface="+mn-ea"/>
                    <a:cs typeface="+mn-cs"/>
                  </a:rPr>
                  <a:t>关节扭转</a:t>
                </a:r>
                <a:r>
                  <a:rPr lang="zh-CN" altLang="zh-CN" sz="1200" kern="1200" dirty="0">
                    <a:solidFill>
                      <a:schemeClr val="tx1"/>
                    </a:solidFill>
                    <a:effectLst/>
                    <a:latin typeface="+mn-lt"/>
                    <a:ea typeface="+mn-ea"/>
                    <a:cs typeface="+mn-cs"/>
                  </a:rPr>
                  <a:t>）。通常，只有</a:t>
                </a:r>
                <a:r>
                  <a:rPr lang="en-US" altLang="zh-CN" sz="1200" i="0" kern="1200">
                    <a:solidFill>
                      <a:schemeClr val="tx1"/>
                    </a:solidFill>
                    <a:effectLst/>
                    <a:latin typeface="+mn-lt"/>
                    <a:ea typeface="+mn-ea"/>
                    <a:cs typeface="+mn-cs"/>
                  </a:rPr>
                  <a:t>𝜃</a:t>
                </a:r>
                <a:r>
                  <a:rPr lang="zh-CN" altLang="zh-CN" sz="1200" kern="1200" dirty="0">
                    <a:solidFill>
                      <a:schemeClr val="tx1"/>
                    </a:solidFill>
                    <a:effectLst/>
                    <a:latin typeface="+mn-lt"/>
                    <a:ea typeface="+mn-ea"/>
                    <a:cs typeface="+mn-cs"/>
                  </a:rPr>
                  <a:t>和</a:t>
                </a:r>
                <a:r>
                  <a:rPr lang="en-US" altLang="zh-CN" sz="1200" i="1"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是关节变量。</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19</a:t>
            </a:fld>
            <a:endParaRPr lang="zh-CN" altLang="en-US"/>
          </a:p>
        </p:txBody>
      </p:sp>
    </p:spTree>
    <p:extLst>
      <p:ext uri="{BB962C8B-B14F-4D97-AF65-F5344CB8AC3E}">
        <p14:creationId xmlns:p14="http://schemas.microsoft.com/office/powerpoint/2010/main" val="4608031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3.11</a:t>
                </a:r>
                <a:r>
                  <a:rPr lang="zh-CN" altLang="zh-CN" sz="1200" kern="1200" dirty="0">
                    <a:solidFill>
                      <a:schemeClr val="tx1"/>
                    </a:solidFill>
                    <a:effectLst/>
                    <a:latin typeface="+mn-lt"/>
                    <a:ea typeface="+mn-ea"/>
                    <a:cs typeface="+mn-cs"/>
                  </a:rPr>
                  <a:t>表示了三个顺序的关节和两个连杆。这些关节可能是旋转的、滑动的、或两者都有。尽管在实际情况下，机器人的关节通常只有一个自由度，但图</a:t>
                </a:r>
                <a:r>
                  <a:rPr lang="en-US" altLang="zh-CN" sz="1200" kern="1200" dirty="0">
                    <a:solidFill>
                      <a:schemeClr val="tx1"/>
                    </a:solidFill>
                    <a:effectLst/>
                    <a:latin typeface="+mn-lt"/>
                    <a:ea typeface="+mn-ea"/>
                    <a:cs typeface="+mn-cs"/>
                  </a:rPr>
                  <a:t>3.11</a:t>
                </a:r>
                <a:r>
                  <a:rPr lang="zh-CN" altLang="zh-CN" sz="1200" kern="1200" dirty="0">
                    <a:solidFill>
                      <a:schemeClr val="tx1"/>
                    </a:solidFill>
                    <a:effectLst/>
                    <a:latin typeface="+mn-lt"/>
                    <a:ea typeface="+mn-ea"/>
                    <a:cs typeface="+mn-cs"/>
                  </a:rPr>
                  <a:t>中的关节可以表示一个或两个自由度。</a:t>
                </a:r>
              </a:p>
              <a:p>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3.11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）表示了三个关节，每个关节都是可以转动或平移的。第一个关节指定为关节</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，第二个关节为关节</a:t>
                </a:r>
                <a:r>
                  <a:rPr lang="en-US" altLang="zh-CN" sz="1200" kern="1200" dirty="0">
                    <a:solidFill>
                      <a:schemeClr val="tx1"/>
                    </a:solidFill>
                    <a:effectLst/>
                    <a:latin typeface="+mn-lt"/>
                    <a:ea typeface="+mn-ea"/>
                    <a:cs typeface="+mn-cs"/>
                  </a:rPr>
                  <a:t>n+1</a:t>
                </a:r>
                <a:r>
                  <a:rPr lang="zh-CN" altLang="zh-CN" sz="1200" kern="1200" dirty="0">
                    <a:solidFill>
                      <a:schemeClr val="tx1"/>
                    </a:solidFill>
                    <a:effectLst/>
                    <a:latin typeface="+mn-lt"/>
                    <a:ea typeface="+mn-ea"/>
                    <a:cs typeface="+mn-cs"/>
                  </a:rPr>
                  <a:t>，第三个关节为关节</a:t>
                </a:r>
                <a:r>
                  <a:rPr lang="en-US" altLang="zh-CN" sz="1200" kern="1200" dirty="0">
                    <a:solidFill>
                      <a:schemeClr val="tx1"/>
                    </a:solidFill>
                    <a:effectLst/>
                    <a:latin typeface="+mn-lt"/>
                    <a:ea typeface="+mn-ea"/>
                    <a:cs typeface="+mn-cs"/>
                  </a:rPr>
                  <a:t>n+2</a:t>
                </a:r>
                <a:r>
                  <a:rPr lang="zh-CN" altLang="zh-CN" sz="1200" kern="1200" dirty="0">
                    <a:solidFill>
                      <a:schemeClr val="tx1"/>
                    </a:solidFill>
                    <a:effectLst/>
                    <a:latin typeface="+mn-lt"/>
                    <a:ea typeface="+mn-ea"/>
                    <a:cs typeface="+mn-cs"/>
                  </a:rPr>
                  <a:t>。在这些关节的前后可能还有其他关节。连杆也是如此表示，连杆</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位于关节</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与</a:t>
                </a:r>
                <a:r>
                  <a:rPr lang="en-US" altLang="zh-CN" sz="1200" kern="1200" dirty="0">
                    <a:solidFill>
                      <a:schemeClr val="tx1"/>
                    </a:solidFill>
                    <a:effectLst/>
                    <a:latin typeface="+mn-lt"/>
                    <a:ea typeface="+mn-ea"/>
                    <a:cs typeface="+mn-cs"/>
                  </a:rPr>
                  <a:t>n+1</a:t>
                </a:r>
                <a:r>
                  <a:rPr lang="zh-CN" altLang="zh-CN" sz="1200" kern="1200" dirty="0">
                    <a:solidFill>
                      <a:schemeClr val="tx1"/>
                    </a:solidFill>
                    <a:effectLst/>
                    <a:latin typeface="+mn-lt"/>
                    <a:ea typeface="+mn-ea"/>
                    <a:cs typeface="+mn-cs"/>
                  </a:rPr>
                  <a:t>之间，连杆</a:t>
                </a:r>
                <a:r>
                  <a:rPr lang="en-US" altLang="zh-CN" sz="1200" kern="1200" dirty="0">
                    <a:solidFill>
                      <a:schemeClr val="tx1"/>
                    </a:solidFill>
                    <a:effectLst/>
                    <a:latin typeface="+mn-lt"/>
                    <a:ea typeface="+mn-ea"/>
                    <a:cs typeface="+mn-cs"/>
                  </a:rPr>
                  <a:t>n+1</a:t>
                </a:r>
                <a:r>
                  <a:rPr lang="zh-CN" altLang="zh-CN" sz="1200" kern="1200" dirty="0">
                    <a:solidFill>
                      <a:schemeClr val="tx1"/>
                    </a:solidFill>
                    <a:effectLst/>
                    <a:latin typeface="+mn-lt"/>
                    <a:ea typeface="+mn-ea"/>
                    <a:cs typeface="+mn-cs"/>
                  </a:rPr>
                  <a:t>位于关节</a:t>
                </a:r>
                <a:r>
                  <a:rPr lang="en-US" altLang="zh-CN" sz="1200" kern="1200" dirty="0">
                    <a:solidFill>
                      <a:schemeClr val="tx1"/>
                    </a:solidFill>
                    <a:effectLst/>
                    <a:latin typeface="+mn-lt"/>
                    <a:ea typeface="+mn-ea"/>
                    <a:cs typeface="+mn-cs"/>
                  </a:rPr>
                  <a:t>n+1</a:t>
                </a:r>
                <a:r>
                  <a:rPr lang="zh-CN" altLang="zh-CN" sz="1200" kern="1200" dirty="0">
                    <a:solidFill>
                      <a:schemeClr val="tx1"/>
                    </a:solidFill>
                    <a:effectLst/>
                    <a:latin typeface="+mn-lt"/>
                    <a:ea typeface="+mn-ea"/>
                    <a:cs typeface="+mn-cs"/>
                  </a:rPr>
                  <a:t>与</a:t>
                </a:r>
                <a:r>
                  <a:rPr lang="en-US" altLang="zh-CN" sz="1200" kern="1200" dirty="0">
                    <a:solidFill>
                      <a:schemeClr val="tx1"/>
                    </a:solidFill>
                    <a:effectLst/>
                    <a:latin typeface="+mn-lt"/>
                    <a:ea typeface="+mn-ea"/>
                    <a:cs typeface="+mn-cs"/>
                  </a:rPr>
                  <a:t>n+2</a:t>
                </a:r>
                <a:r>
                  <a:rPr lang="zh-CN" altLang="zh-CN" sz="1200" kern="1200" dirty="0">
                    <a:solidFill>
                      <a:schemeClr val="tx1"/>
                    </a:solidFill>
                    <a:effectLst/>
                    <a:latin typeface="+mn-lt"/>
                    <a:ea typeface="+mn-ea"/>
                    <a:cs typeface="+mn-cs"/>
                  </a:rPr>
                  <a:t>之间。</a:t>
                </a:r>
              </a:p>
              <a:p>
                <a:r>
                  <a:rPr lang="zh-CN" altLang="zh-CN" sz="1200" kern="1200" dirty="0">
                    <a:solidFill>
                      <a:schemeClr val="tx1"/>
                    </a:solidFill>
                    <a:effectLst/>
                    <a:latin typeface="+mn-lt"/>
                    <a:ea typeface="+mn-ea"/>
                    <a:cs typeface="+mn-cs"/>
                  </a:rPr>
                  <a:t>为了用</a:t>
                </a:r>
                <a:r>
                  <a:rPr lang="en-US" altLang="zh-CN" sz="1200" kern="1200" dirty="0">
                    <a:solidFill>
                      <a:schemeClr val="tx1"/>
                    </a:solidFill>
                    <a:effectLst/>
                    <a:latin typeface="+mn-lt"/>
                    <a:ea typeface="+mn-ea"/>
                    <a:cs typeface="+mn-cs"/>
                  </a:rPr>
                  <a:t>D-H</a:t>
                </a:r>
                <a:r>
                  <a:rPr lang="zh-CN" altLang="zh-CN" sz="1200" kern="1200" dirty="0">
                    <a:solidFill>
                      <a:schemeClr val="tx1"/>
                    </a:solidFill>
                    <a:effectLst/>
                    <a:latin typeface="+mn-lt"/>
                    <a:ea typeface="+mn-ea"/>
                    <a:cs typeface="+mn-cs"/>
                  </a:rPr>
                  <a:t>表示法对机器人建模，所要做的第一件事是为每个关节指定一个本地的参考坐标系。因此，对于每个关节，都必须指定一个</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轴和</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轴，通常并不需要指定</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轴，因为</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轴总是垂直于</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轴和</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轴的。此外，</a:t>
                </a:r>
                <a:r>
                  <a:rPr lang="en-US" altLang="zh-CN" sz="1200" kern="1200" dirty="0">
                    <a:solidFill>
                      <a:schemeClr val="tx1"/>
                    </a:solidFill>
                    <a:effectLst/>
                    <a:latin typeface="+mn-lt"/>
                    <a:ea typeface="+mn-ea"/>
                    <a:cs typeface="+mn-cs"/>
                  </a:rPr>
                  <a:t>D-H</a:t>
                </a:r>
                <a:r>
                  <a:rPr lang="zh-CN" altLang="zh-CN" sz="1200" kern="1200" dirty="0">
                    <a:solidFill>
                      <a:schemeClr val="tx1"/>
                    </a:solidFill>
                    <a:effectLst/>
                    <a:latin typeface="+mn-lt"/>
                    <a:ea typeface="+mn-ea"/>
                    <a:cs typeface="+mn-cs"/>
                  </a:rPr>
                  <a:t>表示法根本就不用</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轴。以下是给每个关节指定本地参考坐标系的步骤：</a:t>
                </a:r>
              </a:p>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）所有关节，无一例外的用</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轴表示。如果关节是旋转的，</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轴指向按右手法则旋转的方向。如果关节是滑动的，</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轴为沿直线运动的方向。在每一种情况下，关节</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处的</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轴（以及该关节的本地参考坐标系）的下标为</a:t>
                </a:r>
                <a:r>
                  <a:rPr lang="en-US" altLang="zh-CN" sz="1200" kern="1200" dirty="0">
                    <a:solidFill>
                      <a:schemeClr val="tx1"/>
                    </a:solidFill>
                    <a:effectLst/>
                    <a:latin typeface="+mn-lt"/>
                    <a:ea typeface="+mn-ea"/>
                    <a:cs typeface="+mn-cs"/>
                  </a:rPr>
                  <a:t>n-1</a:t>
                </a:r>
                <a:r>
                  <a:rPr lang="zh-CN" altLang="zh-CN" sz="1200" kern="1200" dirty="0">
                    <a:solidFill>
                      <a:schemeClr val="tx1"/>
                    </a:solidFill>
                    <a:effectLst/>
                    <a:latin typeface="+mn-lt"/>
                    <a:ea typeface="+mn-ea"/>
                    <a:cs typeface="+mn-cs"/>
                  </a:rPr>
                  <a:t>。例如，表示关节数</a:t>
                </a:r>
                <a:r>
                  <a:rPr lang="en-US" altLang="zh-CN" sz="1200" kern="1200" dirty="0">
                    <a:solidFill>
                      <a:schemeClr val="tx1"/>
                    </a:solidFill>
                    <a:effectLst/>
                    <a:latin typeface="+mn-lt"/>
                    <a:ea typeface="+mn-ea"/>
                    <a:cs typeface="+mn-cs"/>
                  </a:rPr>
                  <a:t>n+1</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轴是</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。这些简单规则可使我们很快地定义出所有关节的</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轴。对于旋转关节，绕</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轴的旋转（</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oMath>
                </a14:m>
                <a:r>
                  <a:rPr lang="zh-CN" altLang="zh-CN" sz="1200" kern="1200" dirty="0">
                    <a:solidFill>
                      <a:schemeClr val="tx1"/>
                    </a:solidFill>
                    <a:effectLst/>
                    <a:latin typeface="+mn-lt"/>
                    <a:ea typeface="+mn-ea"/>
                    <a:cs typeface="+mn-cs"/>
                  </a:rPr>
                  <a:t>角）是关节变量。对于滑动关节，沿</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轴的</a:t>
                </a:r>
                <a:r>
                  <a:rPr lang="zh-CN" altLang="zh-CN" sz="1200" b="1" kern="1200" dirty="0">
                    <a:solidFill>
                      <a:schemeClr val="tx1"/>
                    </a:solidFill>
                    <a:effectLst/>
                    <a:latin typeface="+mn-lt"/>
                    <a:ea typeface="+mn-ea"/>
                    <a:cs typeface="+mn-cs"/>
                  </a:rPr>
                  <a:t>连杆长度</a:t>
                </a:r>
                <a:r>
                  <a:rPr lang="en-US" altLang="zh-CN" sz="1200" b="1"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是关节变量</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3.11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）所示，通常关节不一定平行或相交。因此，通常</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轴是斜线，但总有一条距离最短的公垂线，它正交于任意两条斜线。通常在公垂线方向上定义本地参考坐标系的</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轴。所以如果</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𝑎</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表示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之间的公垂线，则</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的方向将沿</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𝑎</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。同样，在</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之间的公垂线为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𝑎</m:t>
                        </m:r>
                      </m:e>
                      <m:sub>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的方向将沿</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𝑎</m:t>
                        </m:r>
                      </m:e>
                      <m:sub>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。注意相邻关节之间的公垂线不一定相交或共线，因此，两个相邻坐标系原点的位置也可能不在同一个位置。根据上面介绍的知识并考虑下面例外的特殊情况，可以为所有的关节定义坐标系。</a:t>
                </a:r>
              </a:p>
              <a:p>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）如果两个关节的</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轴平行，那么它们之间就有无数条公垂线。这时可挑选与前一关节的公垂线共线的一条公垂线，这样做就可以简化模型。</a:t>
                </a:r>
              </a:p>
              <a:p>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）如果两个相邻关节的</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轴是相交的，那么它们之间就没有公垂线（或者说公垂线距离为零）。这时可将垂直于两条轴线构成的平面的直线定义为</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轴。也就是说，其公垂线是垂直于包含了两条</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轴的平面的直线，它也相当于选取两条</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轴的叉积方向作为</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轴。这也会使模型得以简化。</a:t>
                </a:r>
              </a:p>
              <a:p>
                <a:r>
                  <a:rPr lang="zh-CN" altLang="zh-CN" sz="1200" kern="1200" dirty="0">
                    <a:solidFill>
                      <a:schemeClr val="tx1"/>
                    </a:solidFill>
                    <a:effectLst/>
                    <a:latin typeface="+mn-lt"/>
                    <a:ea typeface="+mn-ea"/>
                    <a:cs typeface="+mn-cs"/>
                  </a:rPr>
                  <a:t>在图</a:t>
                </a:r>
                <a:r>
                  <a:rPr lang="en-US" altLang="zh-CN" sz="1200" kern="1200" dirty="0">
                    <a:solidFill>
                      <a:schemeClr val="tx1"/>
                    </a:solidFill>
                    <a:effectLst/>
                    <a:latin typeface="+mn-lt"/>
                    <a:ea typeface="+mn-ea"/>
                    <a:cs typeface="+mn-cs"/>
                  </a:rPr>
                  <a:t>3.11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）中，</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oMath>
                </a14:m>
                <a:r>
                  <a:rPr lang="zh-CN" altLang="zh-CN" sz="1200" kern="1200" dirty="0">
                    <a:solidFill>
                      <a:schemeClr val="tx1"/>
                    </a:solidFill>
                    <a:effectLst/>
                    <a:latin typeface="+mn-lt"/>
                    <a:ea typeface="+mn-ea"/>
                    <a:cs typeface="+mn-cs"/>
                  </a:rPr>
                  <a:t>角表示绕</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轴的</a:t>
                </a:r>
                <a:r>
                  <a:rPr lang="zh-CN" altLang="zh-CN" sz="1200" b="1" kern="1200" dirty="0">
                    <a:solidFill>
                      <a:schemeClr val="tx1"/>
                    </a:solidFill>
                    <a:effectLst/>
                    <a:latin typeface="+mn-lt"/>
                    <a:ea typeface="+mn-ea"/>
                    <a:cs typeface="+mn-cs"/>
                  </a:rPr>
                  <a:t>旋转角</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表示在</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轴上两条相邻的公垂线之间的距离，</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表示每一条公垂线的长度（也叫</a:t>
                </a:r>
                <a:r>
                  <a:rPr lang="zh-CN" altLang="zh-CN" sz="1200" b="1" kern="1200" dirty="0">
                    <a:solidFill>
                      <a:schemeClr val="tx1"/>
                    </a:solidFill>
                    <a:effectLst/>
                    <a:latin typeface="+mn-lt"/>
                    <a:ea typeface="+mn-ea"/>
                    <a:cs typeface="+mn-cs"/>
                  </a:rPr>
                  <a:t>关节偏移量</a:t>
                </a:r>
                <a:r>
                  <a:rPr lang="zh-CN" altLang="zh-CN" sz="1200" kern="1200" dirty="0">
                    <a:solidFill>
                      <a:schemeClr val="tx1"/>
                    </a:solidFill>
                    <a:effectLst/>
                    <a:latin typeface="+mn-lt"/>
                    <a:ea typeface="+mn-ea"/>
                    <a:cs typeface="+mn-cs"/>
                  </a:rPr>
                  <a:t>），角</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𝛼</m:t>
                    </m:r>
                  </m:oMath>
                </a14:m>
                <a:r>
                  <a:rPr lang="zh-CN" altLang="zh-CN" sz="1200" kern="1200" dirty="0">
                    <a:solidFill>
                      <a:schemeClr val="tx1"/>
                    </a:solidFill>
                    <a:effectLst/>
                    <a:latin typeface="+mn-lt"/>
                    <a:ea typeface="+mn-ea"/>
                    <a:cs typeface="+mn-cs"/>
                  </a:rPr>
                  <a:t>表示两个相邻的</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轴之间的角度 （也叫</a:t>
                </a:r>
                <a:r>
                  <a:rPr lang="zh-CN" altLang="zh-CN" sz="1200" b="1" kern="1200" dirty="0">
                    <a:solidFill>
                      <a:schemeClr val="tx1"/>
                    </a:solidFill>
                    <a:effectLst/>
                    <a:latin typeface="+mn-lt"/>
                    <a:ea typeface="+mn-ea"/>
                    <a:cs typeface="+mn-cs"/>
                  </a:rPr>
                  <a:t>关节扭转</a:t>
                </a:r>
                <a:r>
                  <a:rPr lang="zh-CN" altLang="zh-CN" sz="1200" kern="1200" dirty="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通常</a:t>
                </a:r>
                <a:r>
                  <a:rPr lang="zh-CN" altLang="zh-CN" sz="1200" kern="1200" dirty="0">
                    <a:solidFill>
                      <a:schemeClr val="tx1"/>
                    </a:solidFill>
                    <a:effectLst/>
                    <a:latin typeface="+mn-lt"/>
                    <a:ea typeface="+mn-ea"/>
                    <a:cs typeface="+mn-cs"/>
                  </a:rPr>
                  <a:t>，只有</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oMath>
                </a14:m>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是关节变量</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对于旋转关节，绕</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轴的旋转（</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oMath>
                </a14:m>
                <a:r>
                  <a:rPr lang="zh-CN" altLang="zh-CN" sz="1200" kern="1200" dirty="0">
                    <a:solidFill>
                      <a:schemeClr val="tx1"/>
                    </a:solidFill>
                    <a:effectLst/>
                    <a:latin typeface="+mn-lt"/>
                    <a:ea typeface="+mn-ea"/>
                    <a:cs typeface="+mn-cs"/>
                  </a:rPr>
                  <a:t>角）是关节变量。对于滑动关节，沿</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轴的</a:t>
                </a:r>
                <a:r>
                  <a:rPr lang="zh-CN" altLang="zh-CN" sz="1200" b="1" kern="1200" dirty="0">
                    <a:solidFill>
                      <a:schemeClr val="tx1"/>
                    </a:solidFill>
                    <a:effectLst/>
                    <a:latin typeface="+mn-lt"/>
                    <a:ea typeface="+mn-ea"/>
                    <a:cs typeface="+mn-cs"/>
                  </a:rPr>
                  <a:t>连杆长度</a:t>
                </a:r>
                <a:r>
                  <a:rPr lang="en-US" altLang="zh-CN" sz="1200" b="1"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是关节变量</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3.11</a:t>
                </a:r>
                <a:r>
                  <a:rPr lang="zh-CN" altLang="zh-CN" sz="1200" kern="1200" dirty="0">
                    <a:solidFill>
                      <a:schemeClr val="tx1"/>
                    </a:solidFill>
                    <a:effectLst/>
                    <a:latin typeface="+mn-lt"/>
                    <a:ea typeface="+mn-ea"/>
                    <a:cs typeface="+mn-cs"/>
                  </a:rPr>
                  <a:t>表示了三个顺序的关节和两个连杆。这些关节可能是旋转的、滑动的、或两者都有。尽管在实际情况下，机器人的关节通常只有一个自由度，但图</a:t>
                </a:r>
                <a:r>
                  <a:rPr lang="en-US" altLang="zh-CN" sz="1200" kern="1200" dirty="0">
                    <a:solidFill>
                      <a:schemeClr val="tx1"/>
                    </a:solidFill>
                    <a:effectLst/>
                    <a:latin typeface="+mn-lt"/>
                    <a:ea typeface="+mn-ea"/>
                    <a:cs typeface="+mn-cs"/>
                  </a:rPr>
                  <a:t>3.11</a:t>
                </a:r>
                <a:r>
                  <a:rPr lang="zh-CN" altLang="zh-CN" sz="1200" kern="1200" dirty="0">
                    <a:solidFill>
                      <a:schemeClr val="tx1"/>
                    </a:solidFill>
                    <a:effectLst/>
                    <a:latin typeface="+mn-lt"/>
                    <a:ea typeface="+mn-ea"/>
                    <a:cs typeface="+mn-cs"/>
                  </a:rPr>
                  <a:t>中的关节可以表示一个或两个自由度。</a:t>
                </a:r>
              </a:p>
              <a:p>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3.11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）表示了三个关节，每个关节都是可以转动或平移的。第一个关节指定为关节</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，第二个关节为关节</a:t>
                </a:r>
                <a:r>
                  <a:rPr lang="en-US" altLang="zh-CN" sz="1200" kern="1200" dirty="0">
                    <a:solidFill>
                      <a:schemeClr val="tx1"/>
                    </a:solidFill>
                    <a:effectLst/>
                    <a:latin typeface="+mn-lt"/>
                    <a:ea typeface="+mn-ea"/>
                    <a:cs typeface="+mn-cs"/>
                  </a:rPr>
                  <a:t>n+1</a:t>
                </a:r>
                <a:r>
                  <a:rPr lang="zh-CN" altLang="zh-CN" sz="1200" kern="1200" dirty="0">
                    <a:solidFill>
                      <a:schemeClr val="tx1"/>
                    </a:solidFill>
                    <a:effectLst/>
                    <a:latin typeface="+mn-lt"/>
                    <a:ea typeface="+mn-ea"/>
                    <a:cs typeface="+mn-cs"/>
                  </a:rPr>
                  <a:t>，第三个关节为关节</a:t>
                </a:r>
                <a:r>
                  <a:rPr lang="en-US" altLang="zh-CN" sz="1200" kern="1200" dirty="0">
                    <a:solidFill>
                      <a:schemeClr val="tx1"/>
                    </a:solidFill>
                    <a:effectLst/>
                    <a:latin typeface="+mn-lt"/>
                    <a:ea typeface="+mn-ea"/>
                    <a:cs typeface="+mn-cs"/>
                  </a:rPr>
                  <a:t>n+2</a:t>
                </a:r>
                <a:r>
                  <a:rPr lang="zh-CN" altLang="zh-CN" sz="1200" kern="1200" dirty="0">
                    <a:solidFill>
                      <a:schemeClr val="tx1"/>
                    </a:solidFill>
                    <a:effectLst/>
                    <a:latin typeface="+mn-lt"/>
                    <a:ea typeface="+mn-ea"/>
                    <a:cs typeface="+mn-cs"/>
                  </a:rPr>
                  <a:t>。在这些关节的前后可能还有其他关节。连杆也是如此表示，连杆</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位于关节</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与</a:t>
                </a:r>
                <a:r>
                  <a:rPr lang="en-US" altLang="zh-CN" sz="1200" kern="1200" dirty="0">
                    <a:solidFill>
                      <a:schemeClr val="tx1"/>
                    </a:solidFill>
                    <a:effectLst/>
                    <a:latin typeface="+mn-lt"/>
                    <a:ea typeface="+mn-ea"/>
                    <a:cs typeface="+mn-cs"/>
                  </a:rPr>
                  <a:t>n+1</a:t>
                </a:r>
                <a:r>
                  <a:rPr lang="zh-CN" altLang="zh-CN" sz="1200" kern="1200" dirty="0">
                    <a:solidFill>
                      <a:schemeClr val="tx1"/>
                    </a:solidFill>
                    <a:effectLst/>
                    <a:latin typeface="+mn-lt"/>
                    <a:ea typeface="+mn-ea"/>
                    <a:cs typeface="+mn-cs"/>
                  </a:rPr>
                  <a:t>之间，连杆</a:t>
                </a:r>
                <a:r>
                  <a:rPr lang="en-US" altLang="zh-CN" sz="1200" kern="1200" dirty="0">
                    <a:solidFill>
                      <a:schemeClr val="tx1"/>
                    </a:solidFill>
                    <a:effectLst/>
                    <a:latin typeface="+mn-lt"/>
                    <a:ea typeface="+mn-ea"/>
                    <a:cs typeface="+mn-cs"/>
                  </a:rPr>
                  <a:t>n+1</a:t>
                </a:r>
                <a:r>
                  <a:rPr lang="zh-CN" altLang="zh-CN" sz="1200" kern="1200" dirty="0">
                    <a:solidFill>
                      <a:schemeClr val="tx1"/>
                    </a:solidFill>
                    <a:effectLst/>
                    <a:latin typeface="+mn-lt"/>
                    <a:ea typeface="+mn-ea"/>
                    <a:cs typeface="+mn-cs"/>
                  </a:rPr>
                  <a:t>位于关节</a:t>
                </a:r>
                <a:r>
                  <a:rPr lang="en-US" altLang="zh-CN" sz="1200" kern="1200" dirty="0">
                    <a:solidFill>
                      <a:schemeClr val="tx1"/>
                    </a:solidFill>
                    <a:effectLst/>
                    <a:latin typeface="+mn-lt"/>
                    <a:ea typeface="+mn-ea"/>
                    <a:cs typeface="+mn-cs"/>
                  </a:rPr>
                  <a:t>n+1</a:t>
                </a:r>
                <a:r>
                  <a:rPr lang="zh-CN" altLang="zh-CN" sz="1200" kern="1200" dirty="0">
                    <a:solidFill>
                      <a:schemeClr val="tx1"/>
                    </a:solidFill>
                    <a:effectLst/>
                    <a:latin typeface="+mn-lt"/>
                    <a:ea typeface="+mn-ea"/>
                    <a:cs typeface="+mn-cs"/>
                  </a:rPr>
                  <a:t>与</a:t>
                </a:r>
                <a:r>
                  <a:rPr lang="en-US" altLang="zh-CN" sz="1200" kern="1200" dirty="0">
                    <a:solidFill>
                      <a:schemeClr val="tx1"/>
                    </a:solidFill>
                    <a:effectLst/>
                    <a:latin typeface="+mn-lt"/>
                    <a:ea typeface="+mn-ea"/>
                    <a:cs typeface="+mn-cs"/>
                  </a:rPr>
                  <a:t>n+2</a:t>
                </a:r>
                <a:r>
                  <a:rPr lang="zh-CN" altLang="zh-CN" sz="1200" kern="1200" dirty="0">
                    <a:solidFill>
                      <a:schemeClr val="tx1"/>
                    </a:solidFill>
                    <a:effectLst/>
                    <a:latin typeface="+mn-lt"/>
                    <a:ea typeface="+mn-ea"/>
                    <a:cs typeface="+mn-cs"/>
                  </a:rPr>
                  <a:t>之间。</a:t>
                </a:r>
              </a:p>
              <a:p>
                <a:r>
                  <a:rPr lang="zh-CN" altLang="zh-CN" sz="1200" kern="1200" dirty="0">
                    <a:solidFill>
                      <a:schemeClr val="tx1"/>
                    </a:solidFill>
                    <a:effectLst/>
                    <a:latin typeface="+mn-lt"/>
                    <a:ea typeface="+mn-ea"/>
                    <a:cs typeface="+mn-cs"/>
                  </a:rPr>
                  <a:t>为了用</a:t>
                </a:r>
                <a:r>
                  <a:rPr lang="en-US" altLang="zh-CN" sz="1200" kern="1200" dirty="0">
                    <a:solidFill>
                      <a:schemeClr val="tx1"/>
                    </a:solidFill>
                    <a:effectLst/>
                    <a:latin typeface="+mn-lt"/>
                    <a:ea typeface="+mn-ea"/>
                    <a:cs typeface="+mn-cs"/>
                  </a:rPr>
                  <a:t>D-H</a:t>
                </a:r>
                <a:r>
                  <a:rPr lang="zh-CN" altLang="zh-CN" sz="1200" kern="1200" dirty="0">
                    <a:solidFill>
                      <a:schemeClr val="tx1"/>
                    </a:solidFill>
                    <a:effectLst/>
                    <a:latin typeface="+mn-lt"/>
                    <a:ea typeface="+mn-ea"/>
                    <a:cs typeface="+mn-cs"/>
                  </a:rPr>
                  <a:t>表示法对机器人建模，所要做的第一件事是为每个关节指定一个本地的参考坐标系。因此，对于每个关节，都必须指定一个</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轴和</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轴，通常并不需要指定</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轴，因为</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轴总是垂直于</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轴和</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轴的。此外，</a:t>
                </a:r>
                <a:r>
                  <a:rPr lang="en-US" altLang="zh-CN" sz="1200" kern="1200" dirty="0">
                    <a:solidFill>
                      <a:schemeClr val="tx1"/>
                    </a:solidFill>
                    <a:effectLst/>
                    <a:latin typeface="+mn-lt"/>
                    <a:ea typeface="+mn-ea"/>
                    <a:cs typeface="+mn-cs"/>
                  </a:rPr>
                  <a:t>D-H</a:t>
                </a:r>
                <a:r>
                  <a:rPr lang="zh-CN" altLang="zh-CN" sz="1200" kern="1200" dirty="0">
                    <a:solidFill>
                      <a:schemeClr val="tx1"/>
                    </a:solidFill>
                    <a:effectLst/>
                    <a:latin typeface="+mn-lt"/>
                    <a:ea typeface="+mn-ea"/>
                    <a:cs typeface="+mn-cs"/>
                  </a:rPr>
                  <a:t>表示法根本就不用</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轴。以下是给每个关节指定本地参考坐标系的步骤：</a:t>
                </a:r>
              </a:p>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）所有关节，无一例外的用</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轴表示。如果关节是旋转的，</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轴指向按右手法则旋转的方向。如果关节是滑动的，</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轴为沿直线运动的方向。在每一种情况下，关节</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处的</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轴（以及该关节的本地参考坐标系）的下标为</a:t>
                </a:r>
                <a:r>
                  <a:rPr lang="en-US" altLang="zh-CN" sz="1200" kern="1200" dirty="0">
                    <a:solidFill>
                      <a:schemeClr val="tx1"/>
                    </a:solidFill>
                    <a:effectLst/>
                    <a:latin typeface="+mn-lt"/>
                    <a:ea typeface="+mn-ea"/>
                    <a:cs typeface="+mn-cs"/>
                  </a:rPr>
                  <a:t>n-1</a:t>
                </a:r>
                <a:r>
                  <a:rPr lang="zh-CN" altLang="zh-CN" sz="1200" kern="1200" dirty="0">
                    <a:solidFill>
                      <a:schemeClr val="tx1"/>
                    </a:solidFill>
                    <a:effectLst/>
                    <a:latin typeface="+mn-lt"/>
                    <a:ea typeface="+mn-ea"/>
                    <a:cs typeface="+mn-cs"/>
                  </a:rPr>
                  <a:t>。例如，表示关节数</a:t>
                </a:r>
                <a:r>
                  <a:rPr lang="en-US" altLang="zh-CN" sz="1200" kern="1200" dirty="0">
                    <a:solidFill>
                      <a:schemeClr val="tx1"/>
                    </a:solidFill>
                    <a:effectLst/>
                    <a:latin typeface="+mn-lt"/>
                    <a:ea typeface="+mn-ea"/>
                    <a:cs typeface="+mn-cs"/>
                  </a:rPr>
                  <a:t>n+1</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轴是</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。这些简单规则可使我们很快地定义出所有关节的</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轴。对于旋转关节，绕</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轴的旋转（</a:t>
                </a:r>
                <a:r>
                  <a:rPr lang="en-US" altLang="zh-CN" sz="1200" i="0" kern="1200">
                    <a:solidFill>
                      <a:schemeClr val="tx1"/>
                    </a:solidFill>
                    <a:effectLst/>
                    <a:latin typeface="+mn-lt"/>
                    <a:ea typeface="+mn-ea"/>
                    <a:cs typeface="+mn-cs"/>
                  </a:rPr>
                  <a:t>𝜃</a:t>
                </a:r>
                <a:r>
                  <a:rPr lang="zh-CN" altLang="zh-CN" sz="1200" kern="1200" dirty="0">
                    <a:solidFill>
                      <a:schemeClr val="tx1"/>
                    </a:solidFill>
                    <a:effectLst/>
                    <a:latin typeface="+mn-lt"/>
                    <a:ea typeface="+mn-ea"/>
                    <a:cs typeface="+mn-cs"/>
                  </a:rPr>
                  <a:t>角）是关节变量。对于滑动关节，沿</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轴的</a:t>
                </a:r>
                <a:r>
                  <a:rPr lang="zh-CN" altLang="zh-CN" sz="1200" b="1" kern="1200" dirty="0">
                    <a:solidFill>
                      <a:schemeClr val="tx1"/>
                    </a:solidFill>
                    <a:effectLst/>
                    <a:latin typeface="+mn-lt"/>
                    <a:ea typeface="+mn-ea"/>
                    <a:cs typeface="+mn-cs"/>
                  </a:rPr>
                  <a:t>连杆长度</a:t>
                </a:r>
                <a:r>
                  <a:rPr lang="en-US" altLang="zh-CN" sz="1200" b="1"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是关节变量</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3.11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）所示，通常关节不一定平行或相交。因此，通常</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轴是斜线，但总有一条距离最短的公垂线，它正交于任意两条斜线。通常在公垂线方向上定义本地参考坐标系的</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轴。所以如果</a:t>
                </a:r>
                <a:r>
                  <a:rPr lang="en-US" altLang="zh-CN" sz="1200" i="0" kern="1200">
                    <a:solidFill>
                      <a:schemeClr val="tx1"/>
                    </a:solidFill>
                    <a:effectLst/>
                    <a:latin typeface="+mn-lt"/>
                    <a:ea typeface="+mn-ea"/>
                    <a:cs typeface="+mn-cs"/>
                  </a:rPr>
                  <a:t>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表示</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与</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之间的公垂线，则</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的方向将沿</a:t>
                </a:r>
                <a:r>
                  <a:rPr lang="en-US" altLang="zh-CN" sz="1200" i="0" kern="1200">
                    <a:solidFill>
                      <a:schemeClr val="tx1"/>
                    </a:solidFill>
                    <a:effectLst/>
                    <a:latin typeface="+mn-lt"/>
                    <a:ea typeface="+mn-ea"/>
                    <a:cs typeface="+mn-cs"/>
                  </a:rPr>
                  <a:t>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。同样，在</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与</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之间的公垂线为</a:t>
                </a:r>
                <a:r>
                  <a:rPr lang="en-US" altLang="zh-CN" sz="1200" i="0" kern="1200">
                    <a:solidFill>
                      <a:schemeClr val="tx1"/>
                    </a:solidFill>
                    <a:effectLst/>
                    <a:latin typeface="+mn-lt"/>
                    <a:ea typeface="+mn-ea"/>
                    <a:cs typeface="+mn-cs"/>
                  </a:rPr>
                  <a:t>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的方向将沿</a:t>
                </a:r>
                <a:r>
                  <a:rPr lang="en-US" altLang="zh-CN" sz="1200" i="0" kern="1200">
                    <a:solidFill>
                      <a:schemeClr val="tx1"/>
                    </a:solidFill>
                    <a:effectLst/>
                    <a:latin typeface="+mn-lt"/>
                    <a:ea typeface="+mn-ea"/>
                    <a:cs typeface="+mn-cs"/>
                  </a:rPr>
                  <a:t>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。注意相邻关节之间的公垂线不一定相交或共线，因此，两个相邻坐标系原点的位置也可能不在同一个位置。根据上面介绍的知识并考虑下面例外的特殊情况，可以为所有的关节定义坐标系。</a:t>
                </a:r>
              </a:p>
              <a:p>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）如果两个关节的</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轴平行，那么它们之间就有无数条公垂线。这时可挑选与前一关节的公垂线共线的一条公垂线，这样做就可以简化模型。</a:t>
                </a:r>
              </a:p>
              <a:p>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）如果两个相邻关节的</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轴是相交的，那么它们之间就没有公垂线（或者说公垂线距离为零）。这时可将垂直于两条轴线构成的平面的直线定义为</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轴。也就是说，其公垂线是垂直于包含了两条</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轴的平面的直线，它也相当于选取两条</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轴的叉积方向作为</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轴。这也会使模型得以简化。</a:t>
                </a:r>
              </a:p>
              <a:p>
                <a:r>
                  <a:rPr lang="zh-CN" altLang="zh-CN" sz="1200" kern="1200" dirty="0">
                    <a:solidFill>
                      <a:schemeClr val="tx1"/>
                    </a:solidFill>
                    <a:effectLst/>
                    <a:latin typeface="+mn-lt"/>
                    <a:ea typeface="+mn-ea"/>
                    <a:cs typeface="+mn-cs"/>
                  </a:rPr>
                  <a:t>在图</a:t>
                </a:r>
                <a:r>
                  <a:rPr lang="en-US" altLang="zh-CN" sz="1200" kern="1200" dirty="0">
                    <a:solidFill>
                      <a:schemeClr val="tx1"/>
                    </a:solidFill>
                    <a:effectLst/>
                    <a:latin typeface="+mn-lt"/>
                    <a:ea typeface="+mn-ea"/>
                    <a:cs typeface="+mn-cs"/>
                  </a:rPr>
                  <a:t>3.11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）中，</a:t>
                </a:r>
                <a:r>
                  <a:rPr lang="en-US" altLang="zh-CN" sz="1200" i="0" kern="1200">
                    <a:solidFill>
                      <a:schemeClr val="tx1"/>
                    </a:solidFill>
                    <a:effectLst/>
                    <a:latin typeface="+mn-lt"/>
                    <a:ea typeface="+mn-ea"/>
                    <a:cs typeface="+mn-cs"/>
                  </a:rPr>
                  <a:t>𝜃</a:t>
                </a:r>
                <a:r>
                  <a:rPr lang="zh-CN" altLang="zh-CN" sz="1200" kern="1200" dirty="0">
                    <a:solidFill>
                      <a:schemeClr val="tx1"/>
                    </a:solidFill>
                    <a:effectLst/>
                    <a:latin typeface="+mn-lt"/>
                    <a:ea typeface="+mn-ea"/>
                    <a:cs typeface="+mn-cs"/>
                  </a:rPr>
                  <a:t>角表示绕</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轴的</a:t>
                </a:r>
                <a:r>
                  <a:rPr lang="zh-CN" altLang="zh-CN" sz="1200" b="1" kern="1200" dirty="0">
                    <a:solidFill>
                      <a:schemeClr val="tx1"/>
                    </a:solidFill>
                    <a:effectLst/>
                    <a:latin typeface="+mn-lt"/>
                    <a:ea typeface="+mn-ea"/>
                    <a:cs typeface="+mn-cs"/>
                  </a:rPr>
                  <a:t>旋转角</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表示在</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轴上两条相邻的公垂线之间的距离，</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表示每一条公垂线的长度（也叫</a:t>
                </a:r>
                <a:r>
                  <a:rPr lang="zh-CN" altLang="zh-CN" sz="1200" b="1" kern="1200" dirty="0">
                    <a:solidFill>
                      <a:schemeClr val="tx1"/>
                    </a:solidFill>
                    <a:effectLst/>
                    <a:latin typeface="+mn-lt"/>
                    <a:ea typeface="+mn-ea"/>
                    <a:cs typeface="+mn-cs"/>
                  </a:rPr>
                  <a:t>关节偏移量</a:t>
                </a:r>
                <a:r>
                  <a:rPr lang="zh-CN" altLang="zh-CN" sz="1200" kern="1200" dirty="0">
                    <a:solidFill>
                      <a:schemeClr val="tx1"/>
                    </a:solidFill>
                    <a:effectLst/>
                    <a:latin typeface="+mn-lt"/>
                    <a:ea typeface="+mn-ea"/>
                    <a:cs typeface="+mn-cs"/>
                  </a:rPr>
                  <a:t>），角</a:t>
                </a:r>
                <a:r>
                  <a:rPr lang="en-US" altLang="zh-CN" sz="1200" i="0" kern="1200">
                    <a:solidFill>
                      <a:schemeClr val="tx1"/>
                    </a:solidFill>
                    <a:effectLst/>
                    <a:latin typeface="+mn-lt"/>
                    <a:ea typeface="+mn-ea"/>
                    <a:cs typeface="+mn-cs"/>
                  </a:rPr>
                  <a:t>𝛼</a:t>
                </a:r>
                <a:r>
                  <a:rPr lang="zh-CN" altLang="zh-CN" sz="1200" kern="1200" dirty="0">
                    <a:solidFill>
                      <a:schemeClr val="tx1"/>
                    </a:solidFill>
                    <a:effectLst/>
                    <a:latin typeface="+mn-lt"/>
                    <a:ea typeface="+mn-ea"/>
                    <a:cs typeface="+mn-cs"/>
                  </a:rPr>
                  <a:t>表示两个相邻的</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轴之间的角度 （也叫</a:t>
                </a:r>
                <a:r>
                  <a:rPr lang="zh-CN" altLang="zh-CN" sz="1200" b="1" kern="1200" dirty="0">
                    <a:solidFill>
                      <a:schemeClr val="tx1"/>
                    </a:solidFill>
                    <a:effectLst/>
                    <a:latin typeface="+mn-lt"/>
                    <a:ea typeface="+mn-ea"/>
                    <a:cs typeface="+mn-cs"/>
                  </a:rPr>
                  <a:t>关节扭转</a:t>
                </a:r>
                <a:r>
                  <a:rPr lang="zh-CN" altLang="zh-CN" sz="1200" kern="1200" dirty="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通常</a:t>
                </a:r>
                <a:r>
                  <a:rPr lang="zh-CN" altLang="zh-CN" sz="1200" kern="1200" dirty="0">
                    <a:solidFill>
                      <a:schemeClr val="tx1"/>
                    </a:solidFill>
                    <a:effectLst/>
                    <a:latin typeface="+mn-lt"/>
                    <a:ea typeface="+mn-ea"/>
                    <a:cs typeface="+mn-cs"/>
                  </a:rPr>
                  <a:t>，只有</a:t>
                </a:r>
                <a:r>
                  <a:rPr lang="en-US" altLang="zh-CN" sz="1200" i="0" kern="1200">
                    <a:solidFill>
                      <a:schemeClr val="tx1"/>
                    </a:solidFill>
                    <a:effectLst/>
                    <a:latin typeface="+mn-lt"/>
                    <a:ea typeface="+mn-ea"/>
                    <a:cs typeface="+mn-cs"/>
                  </a:rPr>
                  <a:t>𝜃</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是关节变量</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对于旋转关节，绕</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轴的旋转（</a:t>
                </a:r>
                <a:r>
                  <a:rPr lang="en-US" altLang="zh-CN" sz="1200" i="0" kern="1200">
                    <a:solidFill>
                      <a:schemeClr val="tx1"/>
                    </a:solidFill>
                    <a:effectLst/>
                    <a:latin typeface="Cambria Math" panose="02040503050406030204" pitchFamily="18" charset="0"/>
                    <a:ea typeface="+mn-ea"/>
                    <a:cs typeface="+mn-cs"/>
                  </a:rPr>
                  <a:t>𝜃</a:t>
                </a:r>
                <a:r>
                  <a:rPr lang="zh-CN" altLang="zh-CN" sz="1200" kern="1200" dirty="0">
                    <a:solidFill>
                      <a:schemeClr val="tx1"/>
                    </a:solidFill>
                    <a:effectLst/>
                    <a:latin typeface="+mn-lt"/>
                    <a:ea typeface="+mn-ea"/>
                    <a:cs typeface="+mn-cs"/>
                  </a:rPr>
                  <a:t>角）是关节变量。对于滑动关节，沿</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轴的</a:t>
                </a:r>
                <a:r>
                  <a:rPr lang="zh-CN" altLang="zh-CN" sz="1200" b="1" kern="1200" dirty="0">
                    <a:solidFill>
                      <a:schemeClr val="tx1"/>
                    </a:solidFill>
                    <a:effectLst/>
                    <a:latin typeface="+mn-lt"/>
                    <a:ea typeface="+mn-ea"/>
                    <a:cs typeface="+mn-cs"/>
                  </a:rPr>
                  <a:t>连杆长度</a:t>
                </a:r>
                <a:r>
                  <a:rPr lang="en-US" altLang="zh-CN" sz="1200" b="1"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是关节变量</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20</a:t>
            </a:fld>
            <a:endParaRPr lang="zh-CN" altLang="en-US"/>
          </a:p>
        </p:txBody>
      </p:sp>
    </p:spTree>
    <p:extLst>
      <p:ext uri="{BB962C8B-B14F-4D97-AF65-F5344CB8AC3E}">
        <p14:creationId xmlns:p14="http://schemas.microsoft.com/office/powerpoint/2010/main" val="22304224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下一步来完成几个必要的运动，即将一个参考坐标系变换到下一个参考坐标系。假设现在位于本地坐标系</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𝑛</m:t>
                        </m:r>
                      </m:sub>
                    </m:sSub>
                    <m:r>
                      <a:rPr lang="zh-CN" altLang="en-US"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，那么通过以下四步标准运动即可到达下一个本地坐标系</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b>
                    </m:sSub>
                    <m:r>
                      <a:rPr lang="zh-CN" altLang="en-US"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）绕</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轴旋转</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3.11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）与（</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）所示），它使得</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互相平行，因为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𝑎</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𝑎</m:t>
                        </m:r>
                      </m:e>
                      <m:sub>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sub>
                    </m:sSub>
                  </m:oMath>
                </a14:m>
                <a:r>
                  <a:rPr lang="zh-CN" altLang="zh-CN" sz="1200" kern="1200" dirty="0">
                    <a:solidFill>
                      <a:schemeClr val="tx1"/>
                    </a:solidFill>
                    <a:effectLst/>
                    <a:latin typeface="+mn-lt"/>
                    <a:ea typeface="+mn-ea"/>
                    <a:cs typeface="+mn-cs"/>
                  </a:rPr>
                  <a:t>都是垂直于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轴的，因此绕</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轴旋转</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使它们平行（并且共面）。</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）沿</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轴平移</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距离，使得</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共线（如图</a:t>
                </a:r>
                <a:r>
                  <a:rPr lang="en-US" altLang="zh-CN" sz="1200" kern="1200" dirty="0">
                    <a:solidFill>
                      <a:schemeClr val="tx1"/>
                    </a:solidFill>
                    <a:effectLst/>
                    <a:latin typeface="+mn-lt"/>
                    <a:ea typeface="+mn-ea"/>
                    <a:cs typeface="+mn-cs"/>
                  </a:rPr>
                  <a:t>3.11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）所示）。因为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已经平行并且垂直于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，沿着</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移动则可使它们互相重叠在一起。</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）沿</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轴平移</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𝑎</m:t>
                        </m:r>
                      </m:e>
                      <m:sub>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的距离，使得</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的原点重合（如图</a:t>
                </a:r>
                <a:r>
                  <a:rPr lang="en-US" altLang="zh-CN" sz="1200" kern="1200" dirty="0">
                    <a:solidFill>
                      <a:schemeClr val="tx1"/>
                    </a:solidFill>
                    <a:effectLst/>
                    <a:latin typeface="+mn-lt"/>
                    <a:ea typeface="+mn-ea"/>
                    <a:cs typeface="+mn-cs"/>
                  </a:rPr>
                  <a:t>3.11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）所示）。这是两个参考坐标系的原点处在同一位置。</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）将</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轴绕</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轴旋转</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𝛼</m:t>
                        </m:r>
                      </m:e>
                      <m:sub>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，使得</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轴与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轴对准（如图</a:t>
                </a:r>
                <a:r>
                  <a:rPr lang="en-US" altLang="zh-CN" sz="1200" kern="1200" dirty="0">
                    <a:solidFill>
                      <a:schemeClr val="tx1"/>
                    </a:solidFill>
                    <a:effectLst/>
                    <a:latin typeface="+mn-lt"/>
                    <a:ea typeface="+mn-ea"/>
                    <a:cs typeface="+mn-cs"/>
                  </a:rPr>
                  <a:t>3.11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f</a:t>
                </a:r>
                <a:r>
                  <a:rPr lang="zh-CN" altLang="zh-CN" sz="1200" kern="1200" dirty="0">
                    <a:solidFill>
                      <a:schemeClr val="tx1"/>
                    </a:solidFill>
                    <a:effectLst/>
                    <a:latin typeface="+mn-lt"/>
                    <a:ea typeface="+mn-ea"/>
                    <a:cs typeface="+mn-cs"/>
                  </a:rPr>
                  <a:t>）所示）这时坐标系</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n+1</a:t>
                </a:r>
                <a:r>
                  <a:rPr lang="zh-CN" altLang="zh-CN" sz="1200" kern="1200" dirty="0">
                    <a:solidFill>
                      <a:schemeClr val="tx1"/>
                    </a:solidFill>
                    <a:effectLst/>
                    <a:latin typeface="+mn-lt"/>
                    <a:ea typeface="+mn-ea"/>
                    <a:cs typeface="+mn-cs"/>
                  </a:rPr>
                  <a:t>完全相同（如图</a:t>
                </a:r>
                <a:r>
                  <a:rPr lang="en-US" altLang="zh-CN" sz="1200" kern="1200" dirty="0">
                    <a:solidFill>
                      <a:schemeClr val="tx1"/>
                    </a:solidFill>
                    <a:effectLst/>
                    <a:latin typeface="+mn-lt"/>
                    <a:ea typeface="+mn-ea"/>
                    <a:cs typeface="+mn-cs"/>
                  </a:rPr>
                  <a:t>3.11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）所示）。至此，我们成功地从一个坐标系变换到了下一个坐标系。</a:t>
                </a:r>
              </a:p>
              <a:p>
                <a:r>
                  <a:rPr lang="zh-CN" altLang="zh-CN" sz="1200" kern="1200" dirty="0">
                    <a:solidFill>
                      <a:schemeClr val="tx1"/>
                    </a:solidFill>
                    <a:effectLst/>
                    <a:latin typeface="+mn-lt"/>
                    <a:ea typeface="+mn-ea"/>
                    <a:cs typeface="+mn-cs"/>
                  </a:rPr>
                  <a:t>在</a:t>
                </a:r>
                <a:r>
                  <a:rPr lang="en-US" altLang="zh-CN" sz="1200" kern="1200" dirty="0">
                    <a:solidFill>
                      <a:schemeClr val="tx1"/>
                    </a:solidFill>
                    <a:effectLst/>
                    <a:latin typeface="+mn-lt"/>
                    <a:ea typeface="+mn-ea"/>
                    <a:cs typeface="+mn-cs"/>
                  </a:rPr>
                  <a:t>n+1</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n+2</a:t>
                </a:r>
                <a:r>
                  <a:rPr lang="zh-CN" altLang="zh-CN" sz="1200" kern="1200" dirty="0">
                    <a:solidFill>
                      <a:schemeClr val="tx1"/>
                    </a:solidFill>
                    <a:effectLst/>
                    <a:latin typeface="+mn-lt"/>
                    <a:ea typeface="+mn-ea"/>
                    <a:cs typeface="+mn-cs"/>
                  </a:rPr>
                  <a:t>坐标系间严格地按照同样的四个运动顺序可以将一个坐标变换到下一个坐标系。如有必要，可以重复以上步骤，就可以实现一系列相邻坐标系之间的变换。从参考坐标系开始，我们可以将其转换到机器人的基座，然后到第一个关节，第二个关节</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，直至末端执行器。这里比较好的一点是，在任何两个坐标系之间的变换均可采用与前面相同的运动步骤。</a:t>
                </a:r>
                <a:endParaRPr lang="zh-CN" altLang="en-US" dirty="0"/>
              </a:p>
            </p:txBody>
          </p:sp>
        </mc:Choice>
        <mc:Fallback xmlns="">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下一步来完成几个必要的运动，即将一个参考坐标系变换到下一个参考坐标系。假设现在位于本地坐标系</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，那么通过以下四步标准运动即可到达下一个本地坐标系</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𝑛+1</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）绕</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轴旋转</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3.11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）与（</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）所示），它使得</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互相平行，因为</a:t>
                </a:r>
                <a:r>
                  <a:rPr lang="en-US" altLang="zh-CN" sz="1200" i="0" kern="1200">
                    <a:solidFill>
                      <a:schemeClr val="tx1"/>
                    </a:solidFill>
                    <a:effectLst/>
                    <a:latin typeface="+mn-lt"/>
                    <a:ea typeface="+mn-ea"/>
                    <a:cs typeface="+mn-cs"/>
                  </a:rPr>
                  <a:t>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𝑛+𝜃</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都是垂直于</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轴的，因此绕</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轴旋转</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使它们平行（并且共面）。</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）沿</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轴平移</a:t>
                </a:r>
                <a:r>
                  <a:rPr lang="en-US" altLang="zh-CN" sz="1200" i="0" kern="1200">
                    <a:solidFill>
                      <a:schemeClr val="tx1"/>
                    </a:solidFill>
                    <a:effectLst/>
                    <a:latin typeface="+mn-lt"/>
                    <a:ea typeface="+mn-ea"/>
                    <a:cs typeface="+mn-cs"/>
                  </a:rPr>
                  <a:t>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距离，使得</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共线（如图</a:t>
                </a:r>
                <a:r>
                  <a:rPr lang="en-US" altLang="zh-CN" sz="1200" kern="1200" dirty="0">
                    <a:solidFill>
                      <a:schemeClr val="tx1"/>
                    </a:solidFill>
                    <a:effectLst/>
                    <a:latin typeface="+mn-lt"/>
                    <a:ea typeface="+mn-ea"/>
                    <a:cs typeface="+mn-cs"/>
                  </a:rPr>
                  <a:t>3.11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）所示）。因为</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已经平行并且垂直于</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，沿着</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移动则可使它们互相重叠在一起。</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）沿</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轴平移</a:t>
                </a:r>
                <a:r>
                  <a:rPr lang="en-US" altLang="zh-CN" sz="1200" i="0" kern="1200">
                    <a:solidFill>
                      <a:schemeClr val="tx1"/>
                    </a:solidFill>
                    <a:effectLst/>
                    <a:latin typeface="+mn-lt"/>
                    <a:ea typeface="+mn-ea"/>
                    <a:cs typeface="+mn-cs"/>
                  </a:rPr>
                  <a:t>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的距离，使得</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的原点重合（如图</a:t>
                </a:r>
                <a:r>
                  <a:rPr lang="en-US" altLang="zh-CN" sz="1200" kern="1200" dirty="0">
                    <a:solidFill>
                      <a:schemeClr val="tx1"/>
                    </a:solidFill>
                    <a:effectLst/>
                    <a:latin typeface="+mn-lt"/>
                    <a:ea typeface="+mn-ea"/>
                    <a:cs typeface="+mn-cs"/>
                  </a:rPr>
                  <a:t>3.11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e</a:t>
                </a:r>
                <a:r>
                  <a:rPr lang="zh-CN" altLang="zh-CN" sz="1200" kern="1200" dirty="0">
                    <a:solidFill>
                      <a:schemeClr val="tx1"/>
                    </a:solidFill>
                    <a:effectLst/>
                    <a:latin typeface="+mn-lt"/>
                    <a:ea typeface="+mn-ea"/>
                    <a:cs typeface="+mn-cs"/>
                  </a:rPr>
                  <a:t>）所示）。这是两个参考坐标系的原点处在同一位置。</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）将</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轴绕</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轴旋转</a:t>
                </a:r>
                <a:r>
                  <a:rPr lang="en-US" altLang="zh-CN" sz="1200" i="0" kern="1200">
                    <a:solidFill>
                      <a:schemeClr val="tx1"/>
                    </a:solidFill>
                    <a:effectLst/>
                    <a:latin typeface="+mn-lt"/>
                    <a:ea typeface="+mn-ea"/>
                    <a:cs typeface="+mn-cs"/>
                  </a:rPr>
                  <a:t>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，使得</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轴与</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轴对准（如图</a:t>
                </a:r>
                <a:r>
                  <a:rPr lang="en-US" altLang="zh-CN" sz="1200" kern="1200" dirty="0">
                    <a:solidFill>
                      <a:schemeClr val="tx1"/>
                    </a:solidFill>
                    <a:effectLst/>
                    <a:latin typeface="+mn-lt"/>
                    <a:ea typeface="+mn-ea"/>
                    <a:cs typeface="+mn-cs"/>
                  </a:rPr>
                  <a:t>3.11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f</a:t>
                </a:r>
                <a:r>
                  <a:rPr lang="zh-CN" altLang="zh-CN" sz="1200" kern="1200" dirty="0">
                    <a:solidFill>
                      <a:schemeClr val="tx1"/>
                    </a:solidFill>
                    <a:effectLst/>
                    <a:latin typeface="+mn-lt"/>
                    <a:ea typeface="+mn-ea"/>
                    <a:cs typeface="+mn-cs"/>
                  </a:rPr>
                  <a:t>）所示）这时坐标系</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n+1</a:t>
                </a:r>
                <a:r>
                  <a:rPr lang="zh-CN" altLang="zh-CN" sz="1200" kern="1200" dirty="0">
                    <a:solidFill>
                      <a:schemeClr val="tx1"/>
                    </a:solidFill>
                    <a:effectLst/>
                    <a:latin typeface="+mn-lt"/>
                    <a:ea typeface="+mn-ea"/>
                    <a:cs typeface="+mn-cs"/>
                  </a:rPr>
                  <a:t>完全相同（如图</a:t>
                </a:r>
                <a:r>
                  <a:rPr lang="en-US" altLang="zh-CN" sz="1200" kern="1200" dirty="0">
                    <a:solidFill>
                      <a:schemeClr val="tx1"/>
                    </a:solidFill>
                    <a:effectLst/>
                    <a:latin typeface="+mn-lt"/>
                    <a:ea typeface="+mn-ea"/>
                    <a:cs typeface="+mn-cs"/>
                  </a:rPr>
                  <a:t>3.11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g</a:t>
                </a:r>
                <a:r>
                  <a:rPr lang="zh-CN" altLang="zh-CN" sz="1200" kern="1200" dirty="0">
                    <a:solidFill>
                      <a:schemeClr val="tx1"/>
                    </a:solidFill>
                    <a:effectLst/>
                    <a:latin typeface="+mn-lt"/>
                    <a:ea typeface="+mn-ea"/>
                    <a:cs typeface="+mn-cs"/>
                  </a:rPr>
                  <a:t>）所示）。至此，我们成功地从一个坐标系变换到了下一个坐标系。</a:t>
                </a:r>
              </a:p>
              <a:p>
                <a:r>
                  <a:rPr lang="zh-CN" altLang="zh-CN" sz="1200" kern="1200" dirty="0">
                    <a:solidFill>
                      <a:schemeClr val="tx1"/>
                    </a:solidFill>
                    <a:effectLst/>
                    <a:latin typeface="+mn-lt"/>
                    <a:ea typeface="+mn-ea"/>
                    <a:cs typeface="+mn-cs"/>
                  </a:rPr>
                  <a:t>在</a:t>
                </a:r>
                <a:r>
                  <a:rPr lang="en-US" altLang="zh-CN" sz="1200" kern="1200" dirty="0">
                    <a:solidFill>
                      <a:schemeClr val="tx1"/>
                    </a:solidFill>
                    <a:effectLst/>
                    <a:latin typeface="+mn-lt"/>
                    <a:ea typeface="+mn-ea"/>
                    <a:cs typeface="+mn-cs"/>
                  </a:rPr>
                  <a:t>n+1</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n+2</a:t>
                </a:r>
                <a:r>
                  <a:rPr lang="zh-CN" altLang="zh-CN" sz="1200" kern="1200" dirty="0">
                    <a:solidFill>
                      <a:schemeClr val="tx1"/>
                    </a:solidFill>
                    <a:effectLst/>
                    <a:latin typeface="+mn-lt"/>
                    <a:ea typeface="+mn-ea"/>
                    <a:cs typeface="+mn-cs"/>
                  </a:rPr>
                  <a:t>坐标系间严格地按照同样的四个运动顺序可以将一个坐标变换到下一个坐标系。如有必要，可以重复以上步骤，就可以实现一系列相邻坐标系之间的变换。从参考坐标系开始，我们可以将其转换到机器人的基座，然后到第一个关节，第二个关节</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，直至末端执行器。这里比较好的一点是，在任何两个坐标系之间的变换均可采用与前面相同的运动步骤。</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21</a:t>
            </a:fld>
            <a:endParaRPr lang="zh-CN" altLang="en-US"/>
          </a:p>
        </p:txBody>
      </p:sp>
    </p:spTree>
    <p:extLst>
      <p:ext uri="{BB962C8B-B14F-4D97-AF65-F5344CB8AC3E}">
        <p14:creationId xmlns:p14="http://schemas.microsoft.com/office/powerpoint/2010/main" val="13801881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通过右乘表示四个运动的四个矩阵就可以得到变换矩阵</a:t>
                </a:r>
                <a:r>
                  <a:rPr lang="en-US" altLang="zh-CN" sz="1200" kern="1200" dirty="0" smtClean="0">
                    <a:solidFill>
                      <a:schemeClr val="tx1"/>
                    </a:solidFill>
                    <a:effectLst/>
                    <a:latin typeface="+mn-lt"/>
                    <a:ea typeface="+mn-ea"/>
                    <a:cs typeface="+mn-cs"/>
                  </a:rPr>
                  <a:t>A</a:t>
                </a:r>
                <a:r>
                  <a:rPr lang="zh-CN" altLang="zh-CN" sz="1200" kern="1200" dirty="0" smtClean="0">
                    <a:solidFill>
                      <a:schemeClr val="tx1"/>
                    </a:solidFill>
                    <a:effectLst/>
                    <a:latin typeface="+mn-lt"/>
                    <a:ea typeface="+mn-ea"/>
                    <a:cs typeface="+mn-cs"/>
                  </a:rPr>
                  <a:t>，矩阵</a:t>
                </a:r>
                <a:r>
                  <a:rPr lang="en-US" altLang="zh-CN" sz="1200" kern="1200" dirty="0" smtClean="0">
                    <a:solidFill>
                      <a:schemeClr val="tx1"/>
                    </a:solidFill>
                    <a:effectLst/>
                    <a:latin typeface="+mn-lt"/>
                    <a:ea typeface="+mn-ea"/>
                    <a:cs typeface="+mn-cs"/>
                  </a:rPr>
                  <a:t>A</a:t>
                </a:r>
                <a:r>
                  <a:rPr lang="zh-CN" altLang="zh-CN" sz="1200" kern="1200" dirty="0" smtClean="0">
                    <a:solidFill>
                      <a:schemeClr val="tx1"/>
                    </a:solidFill>
                    <a:effectLst/>
                    <a:latin typeface="+mn-lt"/>
                    <a:ea typeface="+mn-ea"/>
                    <a:cs typeface="+mn-cs"/>
                  </a:rPr>
                  <a:t>表示了四个依次的运动。由于所有的变换都是相对于当前坐标系的（即他们都是相对于当前的本地坐标系来测量与执行），因此所有的矩阵都是右乘。从而得到结果如下：</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比如，一般机器人的关节</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与关节</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之间的变换可以简化为：</a:t>
                </a:r>
              </a:p>
              <a:p>
                <a:r>
                  <a:rPr lang="en-US" altLang="zh-CN" sz="1200" kern="1200" dirty="0">
                    <a:solidFill>
                      <a:schemeClr val="tx1"/>
                    </a:solidFill>
                    <a:effectLst/>
                    <a:latin typeface="+mn-lt"/>
                    <a:ea typeface="+mn-ea"/>
                    <a:cs typeface="+mn-cs"/>
                  </a:rPr>
                  <a:t>            </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2</m:t>
                            </m:r>
                          </m:sup>
                          <m:e>
                            <m:r>
                              <a:rPr lang="en-US" altLang="zh-CN" sz="1200" i="1" kern="1200">
                                <a:solidFill>
                                  <a:schemeClr val="tx1"/>
                                </a:solidFill>
                                <a:effectLst/>
                                <a:latin typeface="Cambria Math" panose="02040503050406030204" pitchFamily="18" charset="0"/>
                                <a:ea typeface="+mn-ea"/>
                                <a:cs typeface="+mn-cs"/>
                              </a:rPr>
                              <m:t>𝑇</m:t>
                            </m:r>
                          </m:e>
                        </m:sPre>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𝐴</m:t>
                        </m:r>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4"/>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𝐶</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3</m:t>
                                  </m:r>
                                </m:sub>
                              </m:sSub>
                            </m:e>
                            <m:e>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𝑆</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𝐶</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𝛼</m:t>
                                  </m:r>
                                </m:e>
                                <m:sub>
                                  <m:r>
                                    <a:rPr lang="en-US" altLang="zh-CN" sz="1200" i="1" kern="1200">
                                      <a:solidFill>
                                        <a:schemeClr val="tx1"/>
                                      </a:solidFill>
                                      <a:effectLst/>
                                      <a:latin typeface="Cambria Math" panose="02040503050406030204" pitchFamily="18" charset="0"/>
                                      <a:ea typeface="+mn-ea"/>
                                      <a:cs typeface="+mn-cs"/>
                                    </a:rPr>
                                    <m:t>3</m:t>
                                  </m:r>
                                </m:sub>
                              </m:sSub>
                            </m:e>
                            <m:e>
                              <m:r>
                                <a:rPr lang="en-US" altLang="zh-CN" sz="1200" i="1" kern="1200">
                                  <a:solidFill>
                                    <a:schemeClr val="tx1"/>
                                  </a:solidFill>
                                  <a:effectLst/>
                                  <a:latin typeface="Cambria Math" panose="02040503050406030204" pitchFamily="18" charset="0"/>
                                  <a:ea typeface="+mn-ea"/>
                                  <a:cs typeface="+mn-cs"/>
                                </a:rPr>
                                <m:t>𝑆</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𝑆</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𝛼</m:t>
                                  </m:r>
                                </m:e>
                                <m:sub>
                                  <m:r>
                                    <a:rPr lang="en-US" altLang="zh-CN" sz="1200" i="1" kern="1200">
                                      <a:solidFill>
                                        <a:schemeClr val="tx1"/>
                                      </a:solidFill>
                                      <a:effectLst/>
                                      <a:latin typeface="Cambria Math" panose="02040503050406030204" pitchFamily="18" charset="0"/>
                                      <a:ea typeface="+mn-ea"/>
                                      <a:cs typeface="+mn-cs"/>
                                    </a:rPr>
                                    <m:t>3</m:t>
                                  </m:r>
                                </m:sub>
                              </m:sSub>
                            </m:e>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𝑎</m:t>
                                  </m:r>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𝐶</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3</m:t>
                                  </m:r>
                                </m:sub>
                              </m:sSub>
                            </m:e>
                          </m:mr>
                          <m:mr>
                            <m:e>
                              <m:r>
                                <a:rPr lang="en-US" altLang="zh-CN" sz="1200" i="1" kern="1200">
                                  <a:solidFill>
                                    <a:schemeClr val="tx1"/>
                                  </a:solidFill>
                                  <a:effectLst/>
                                  <a:latin typeface="Cambria Math" panose="02040503050406030204" pitchFamily="18" charset="0"/>
                                  <a:ea typeface="+mn-ea"/>
                                  <a:cs typeface="+mn-cs"/>
                                </a:rPr>
                                <m:t>𝑆</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3</m:t>
                                  </m:r>
                                </m:sub>
                              </m:sSub>
                            </m:e>
                            <m:e>
                              <m:r>
                                <a:rPr lang="en-US" altLang="zh-CN" sz="1200" i="1" kern="1200">
                                  <a:solidFill>
                                    <a:schemeClr val="tx1"/>
                                  </a:solidFill>
                                  <a:effectLst/>
                                  <a:latin typeface="Cambria Math" panose="02040503050406030204" pitchFamily="18" charset="0"/>
                                  <a:ea typeface="+mn-ea"/>
                                  <a:cs typeface="+mn-cs"/>
                                </a:rPr>
                                <m:t>𝐶</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𝐶</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𝛼</m:t>
                                  </m:r>
                                </m:e>
                                <m:sub>
                                  <m:r>
                                    <a:rPr lang="en-US" altLang="zh-CN" sz="1200" i="1" kern="1200">
                                      <a:solidFill>
                                        <a:schemeClr val="tx1"/>
                                      </a:solidFill>
                                      <a:effectLst/>
                                      <a:latin typeface="Cambria Math" panose="02040503050406030204" pitchFamily="18" charset="0"/>
                                      <a:ea typeface="+mn-ea"/>
                                      <a:cs typeface="+mn-cs"/>
                                    </a:rPr>
                                    <m:t>3</m:t>
                                  </m:r>
                                </m:sub>
                              </m:sSub>
                            </m:e>
                            <m:e>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𝐶</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𝑆</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𝛼</m:t>
                                  </m:r>
                                </m:e>
                                <m:sub>
                                  <m:r>
                                    <a:rPr lang="en-US" altLang="zh-CN" sz="1200" i="1" kern="1200">
                                      <a:solidFill>
                                        <a:schemeClr val="tx1"/>
                                      </a:solidFill>
                                      <a:effectLst/>
                                      <a:latin typeface="Cambria Math" panose="02040503050406030204" pitchFamily="18" charset="0"/>
                                      <a:ea typeface="+mn-ea"/>
                                      <a:cs typeface="+mn-cs"/>
                                    </a:rPr>
                                    <m:t>3</m:t>
                                  </m:r>
                                </m:sub>
                              </m:sSub>
                            </m:e>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𝑎</m:t>
                                  </m:r>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𝑆</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3</m:t>
                                  </m:r>
                                </m:sub>
                              </m:sSub>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𝑆</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𝛼</m:t>
                                  </m:r>
                                </m:e>
                                <m:sub>
                                  <m:r>
                                    <a:rPr lang="en-US" altLang="zh-CN" sz="1200" i="1" kern="1200">
                                      <a:solidFill>
                                        <a:schemeClr val="tx1"/>
                                      </a:solidFill>
                                      <a:effectLst/>
                                      <a:latin typeface="Cambria Math" panose="02040503050406030204" pitchFamily="18" charset="0"/>
                                      <a:ea typeface="+mn-ea"/>
                                      <a:cs typeface="+mn-cs"/>
                                    </a:rPr>
                                    <m:t>3</m:t>
                                  </m:r>
                                </m:sub>
                              </m:sSub>
                            </m:e>
                            <m:e>
                              <m:r>
                                <a:rPr lang="en-US" altLang="zh-CN" sz="1200" i="1" kern="1200">
                                  <a:solidFill>
                                    <a:schemeClr val="tx1"/>
                                  </a:solidFill>
                                  <a:effectLst/>
                                  <a:latin typeface="Cambria Math" panose="02040503050406030204" pitchFamily="18" charset="0"/>
                                  <a:ea typeface="+mn-ea"/>
                                  <a:cs typeface="+mn-cs"/>
                                </a:rPr>
                                <m:t>𝐶</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𝛼</m:t>
                                  </m:r>
                                </m:e>
                                <m:sub>
                                  <m:r>
                                    <a:rPr lang="en-US" altLang="zh-CN" sz="1200" i="1" kern="1200">
                                      <a:solidFill>
                                        <a:schemeClr val="tx1"/>
                                      </a:solidFill>
                                      <a:effectLst/>
                                      <a:latin typeface="Cambria Math" panose="02040503050406030204" pitchFamily="18" charset="0"/>
                                      <a:ea typeface="+mn-ea"/>
                                      <a:cs typeface="+mn-cs"/>
                                    </a:rPr>
                                    <m:t>3</m:t>
                                  </m:r>
                                </m:sub>
                              </m:sSub>
                            </m:e>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3</m:t>
                                  </m:r>
                                </m:sub>
                              </m:sSub>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
                      </m:e>
                    </m:d>
                  </m:oMath>
                </a14:m>
                <a:r>
                  <a:rPr lang="en-US" altLang="zh-CN" sz="1200" kern="1200" dirty="0">
                    <a:solidFill>
                      <a:schemeClr val="tx1"/>
                    </a:solidFill>
                    <a:effectLst/>
                    <a:latin typeface="+mn-lt"/>
                    <a:ea typeface="+mn-ea"/>
                    <a:cs typeface="+mn-cs"/>
                  </a:rPr>
                  <a:t> </a:t>
                </a:r>
                <a:endParaRPr lang="en-US" altLang="zh-CN" sz="1200" kern="1200" dirty="0" smtClean="0">
                  <a:solidFill>
                    <a:schemeClr val="tx1"/>
                  </a:solidFill>
                  <a:effectLst/>
                  <a:latin typeface="+mn-lt"/>
                  <a:ea typeface="+mn-ea"/>
                  <a:cs typeface="+mn-cs"/>
                </a:endParaRPr>
              </a:p>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通过右乘表示四个运动的四个矩阵就可以得到变换矩阵</a:t>
                </a:r>
                <a:r>
                  <a:rPr lang="en-US" altLang="zh-CN" sz="1200" kern="1200" dirty="0" smtClean="0">
                    <a:solidFill>
                      <a:schemeClr val="tx1"/>
                    </a:solidFill>
                    <a:effectLst/>
                    <a:latin typeface="+mn-lt"/>
                    <a:ea typeface="+mn-ea"/>
                    <a:cs typeface="+mn-cs"/>
                  </a:rPr>
                  <a:t>A</a:t>
                </a:r>
                <a:r>
                  <a:rPr lang="zh-CN" altLang="zh-CN" sz="1200" kern="1200" dirty="0" smtClean="0">
                    <a:solidFill>
                      <a:schemeClr val="tx1"/>
                    </a:solidFill>
                    <a:effectLst/>
                    <a:latin typeface="+mn-lt"/>
                    <a:ea typeface="+mn-ea"/>
                    <a:cs typeface="+mn-cs"/>
                  </a:rPr>
                  <a:t>，矩阵</a:t>
                </a:r>
                <a:r>
                  <a:rPr lang="en-US" altLang="zh-CN" sz="1200" kern="1200" dirty="0" smtClean="0">
                    <a:solidFill>
                      <a:schemeClr val="tx1"/>
                    </a:solidFill>
                    <a:effectLst/>
                    <a:latin typeface="+mn-lt"/>
                    <a:ea typeface="+mn-ea"/>
                    <a:cs typeface="+mn-cs"/>
                  </a:rPr>
                  <a:t>A</a:t>
                </a:r>
                <a:r>
                  <a:rPr lang="zh-CN" altLang="zh-CN" sz="1200" kern="1200" dirty="0" smtClean="0">
                    <a:solidFill>
                      <a:schemeClr val="tx1"/>
                    </a:solidFill>
                    <a:effectLst/>
                    <a:latin typeface="+mn-lt"/>
                    <a:ea typeface="+mn-ea"/>
                    <a:cs typeface="+mn-cs"/>
                  </a:rPr>
                  <a:t>表示了四个依次的运动。由于所有的变换都是相对于当前坐标系的（即他们都是相对于当前的本地坐标系来测量与执行），因此所有的矩阵都是右乘。从而得到结果如下：</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比如，一般机器人的关节</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与关节</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之间的变换可以简化为：</a:t>
                </a:r>
              </a:p>
              <a:p>
                <a:r>
                  <a:rPr lang="en-US" altLang="zh-CN" sz="1200" kern="1200" dirty="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3=𝐴</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𝐶𝜃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3&amp;</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𝑆𝜃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 𝐶𝛼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3&amp;𝑆𝜃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 𝑆𝛼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3&amp;𝑎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 𝐶𝜃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3@𝑆𝜃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3&amp;𝐶𝜃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 𝐶𝛼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3&amp;</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𝐶𝜃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 𝑆𝛼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3&amp;𝑎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 𝑆𝜃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3@0&amp;𝑆𝛼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3&amp;𝐶𝛼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3&amp;𝑑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3@0&amp;0&amp;0&amp;1)]</a:t>
                </a:r>
                <a:r>
                  <a:rPr lang="en-US" altLang="zh-CN" sz="1200" kern="1200" dirty="0">
                    <a:solidFill>
                      <a:schemeClr val="tx1"/>
                    </a:solidFill>
                    <a:effectLst/>
                    <a:latin typeface="+mn-lt"/>
                    <a:ea typeface="+mn-ea"/>
                    <a:cs typeface="+mn-cs"/>
                  </a:rPr>
                  <a:t> </a:t>
                </a:r>
                <a:endParaRPr lang="en-US" altLang="zh-CN" sz="1200" kern="1200" dirty="0" smtClean="0">
                  <a:solidFill>
                    <a:schemeClr val="tx1"/>
                  </a:solidFill>
                  <a:effectLst/>
                  <a:latin typeface="+mn-lt"/>
                  <a:ea typeface="+mn-ea"/>
                  <a:cs typeface="+mn-cs"/>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22</a:t>
            </a:fld>
            <a:endParaRPr lang="zh-CN" altLang="en-US"/>
          </a:p>
        </p:txBody>
      </p:sp>
    </p:spTree>
    <p:extLst>
      <p:ext uri="{BB962C8B-B14F-4D97-AF65-F5344CB8AC3E}">
        <p14:creationId xmlns:p14="http://schemas.microsoft.com/office/powerpoint/2010/main" val="30261065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a:t>
                </a:r>
                <a:r>
                  <a:rPr lang="en-US" altLang="zh-CN" sz="1200" kern="1200" dirty="0" smtClean="0">
                    <a:solidFill>
                      <a:schemeClr val="tx1"/>
                    </a:solidFill>
                    <a:effectLst/>
                    <a:latin typeface="+mn-lt"/>
                    <a:ea typeface="+mn-ea"/>
                    <a:cs typeface="+mn-cs"/>
                  </a:rPr>
                  <a:t>n+1</a:t>
                </a:r>
                <a:r>
                  <a:rPr lang="zh-CN" altLang="zh-CN" sz="1200" kern="1200" dirty="0" smtClean="0">
                    <a:solidFill>
                      <a:schemeClr val="tx1"/>
                    </a:solidFill>
                    <a:effectLst/>
                    <a:latin typeface="+mn-lt"/>
                    <a:ea typeface="+mn-ea"/>
                    <a:cs typeface="+mn-cs"/>
                  </a:rPr>
                  <a:t>和</a:t>
                </a:r>
                <a:r>
                  <a:rPr lang="en-US" altLang="zh-CN" sz="1200" kern="1200" dirty="0" smtClean="0">
                    <a:solidFill>
                      <a:schemeClr val="tx1"/>
                    </a:solidFill>
                    <a:effectLst/>
                    <a:latin typeface="+mn-lt"/>
                    <a:ea typeface="+mn-ea"/>
                    <a:cs typeface="+mn-cs"/>
                  </a:rPr>
                  <a:t>n+2</a:t>
                </a:r>
                <a:r>
                  <a:rPr lang="zh-CN" altLang="zh-CN" sz="1200" kern="1200" dirty="0" smtClean="0">
                    <a:solidFill>
                      <a:schemeClr val="tx1"/>
                    </a:solidFill>
                    <a:effectLst/>
                    <a:latin typeface="+mn-lt"/>
                    <a:ea typeface="+mn-ea"/>
                    <a:cs typeface="+mn-cs"/>
                  </a:rPr>
                  <a:t>坐标系间严格地按照同样的四个运动顺序可以将一个坐标变换到下一个坐标系。如有必要，可以重复以上步骤，就可以实现一系列相邻坐标系之间的变换。从参考坐标系开始，我们可以将其转换到机器人的基座，然后到第一个关节，第二个关节</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，直至末端执行器。这里比较好的一点是，在任何两个坐标系之间的变换均可采用与前面相同的运动步骤。</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在机器人的基座上，可以从第一个关节开始变换到第二个关节，然后到第三个</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，再到机器人的手，最终到末端执行器。若把每个变换定义为，则可以得到许多表示变换的矩阵。在机器人的基座与手之间的总变换则为：</a:t>
                </a:r>
                <a:endParaRPr lang="en-US" altLang="zh-CN" sz="1200" kern="1200" dirty="0" smtClean="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sSub>
                        <m:sSubPr>
                          <m:ctrlPr>
                            <a:rPr lang="zh-CN" altLang="zh-CN" sz="1200" i="1" kern="1200" smtClean="0">
                              <a:solidFill>
                                <a:schemeClr val="tx1"/>
                              </a:solidFill>
                              <a:effectLst/>
                              <a:latin typeface="Cambria Math" panose="02040503050406030204" pitchFamily="18" charset="0"/>
                              <a:ea typeface="+mn-ea"/>
                              <a:cs typeface="+mn-cs"/>
                            </a:rPr>
                          </m:ctrlPr>
                        </m:sSub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𝑅</m:t>
                              </m:r>
                            </m:sup>
                            <m:e>
                              <m:r>
                                <a:rPr lang="en-US" altLang="zh-CN" sz="1200" i="1" kern="1200">
                                  <a:solidFill>
                                    <a:schemeClr val="tx1"/>
                                  </a:solidFill>
                                  <a:effectLst/>
                                  <a:latin typeface="Cambria Math" panose="02040503050406030204" pitchFamily="18" charset="0"/>
                                  <a:ea typeface="+mn-ea"/>
                                  <a:cs typeface="+mn-cs"/>
                                </a:rPr>
                                <m:t>𝑇</m:t>
                              </m:r>
                            </m:e>
                          </m:sPre>
                        </m:e>
                        <m:sub>
                          <m:r>
                            <a:rPr lang="en-US" altLang="zh-CN" sz="1200" i="1" kern="1200">
                              <a:solidFill>
                                <a:schemeClr val="tx1"/>
                              </a:solidFill>
                              <a:effectLst/>
                              <a:latin typeface="Cambria Math" panose="02040503050406030204" pitchFamily="18" charset="0"/>
                              <a:ea typeface="+mn-ea"/>
                              <a:cs typeface="+mn-cs"/>
                            </a:rPr>
                            <m:t>𝐻</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𝑅</m:t>
                              </m:r>
                            </m:sup>
                            <m:e>
                              <m:r>
                                <a:rPr lang="en-US" altLang="zh-CN" sz="1200" i="1" kern="1200">
                                  <a:solidFill>
                                    <a:schemeClr val="tx1"/>
                                  </a:solidFill>
                                  <a:effectLst/>
                                  <a:latin typeface="Cambria Math" panose="02040503050406030204" pitchFamily="18" charset="0"/>
                                  <a:ea typeface="+mn-ea"/>
                                  <a:cs typeface="+mn-cs"/>
                                </a:rPr>
                                <m:t>𝑇</m:t>
                              </m:r>
                            </m:e>
                          </m:sPre>
                        </m:e>
                        <m:sub>
                          <m:r>
                            <a:rPr lang="en-US" altLang="zh-CN" sz="1200" i="1" kern="1200">
                              <a:solidFill>
                                <a:schemeClr val="tx1"/>
                              </a:solidFill>
                              <a:effectLst/>
                              <a:latin typeface="Cambria Math" panose="02040503050406030204" pitchFamily="18" charset="0"/>
                              <a:ea typeface="+mn-ea"/>
                              <a:cs typeface="+mn-cs"/>
                            </a:rPr>
                            <m:t>1</m:t>
                          </m:r>
                        </m:sub>
                      </m:sSub>
                      <m:sSub>
                        <m:sSubPr>
                          <m:ctrlPr>
                            <a:rPr lang="zh-CN" altLang="zh-CN" sz="1200" i="1" kern="1200">
                              <a:solidFill>
                                <a:schemeClr val="tx1"/>
                              </a:solidFill>
                              <a:effectLst/>
                              <a:latin typeface="Cambria Math" panose="02040503050406030204" pitchFamily="18" charset="0"/>
                              <a:ea typeface="+mn-ea"/>
                              <a:cs typeface="+mn-cs"/>
                            </a:rPr>
                          </m:ctrlPr>
                        </m:sSub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1</m:t>
                              </m:r>
                            </m:sup>
                            <m:e>
                              <m:r>
                                <a:rPr lang="en-US" altLang="zh-CN" sz="1200" i="1" kern="1200">
                                  <a:solidFill>
                                    <a:schemeClr val="tx1"/>
                                  </a:solidFill>
                                  <a:effectLst/>
                                  <a:latin typeface="Cambria Math" panose="02040503050406030204" pitchFamily="18" charset="0"/>
                                  <a:ea typeface="+mn-ea"/>
                                  <a:cs typeface="+mn-cs"/>
                                </a:rPr>
                                <m:t>𝑇</m:t>
                              </m:r>
                            </m:e>
                          </m:sPre>
                        </m:e>
                        <m:sub>
                          <m:r>
                            <a:rPr lang="en-US" altLang="zh-CN" sz="1200" i="1" kern="1200">
                              <a:solidFill>
                                <a:schemeClr val="tx1"/>
                              </a:solidFill>
                              <a:effectLst/>
                              <a:latin typeface="Cambria Math" panose="02040503050406030204" pitchFamily="18" charset="0"/>
                              <a:ea typeface="+mn-ea"/>
                              <a:cs typeface="+mn-cs"/>
                            </a:rPr>
                            <m:t>2</m:t>
                          </m:r>
                        </m:sub>
                      </m:sSub>
                      <m:sSub>
                        <m:sSubPr>
                          <m:ctrlPr>
                            <a:rPr lang="zh-CN" altLang="zh-CN" sz="1200" i="1" kern="1200">
                              <a:solidFill>
                                <a:schemeClr val="tx1"/>
                              </a:solidFill>
                              <a:effectLst/>
                              <a:latin typeface="Cambria Math" panose="02040503050406030204" pitchFamily="18" charset="0"/>
                              <a:ea typeface="+mn-ea"/>
                              <a:cs typeface="+mn-cs"/>
                            </a:rPr>
                          </m:ctrlPr>
                        </m:sSub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2</m:t>
                              </m:r>
                            </m:sup>
                            <m:e>
                              <m:r>
                                <a:rPr lang="en-US" altLang="zh-CN" sz="1200" i="1" kern="1200">
                                  <a:solidFill>
                                    <a:schemeClr val="tx1"/>
                                  </a:solidFill>
                                  <a:effectLst/>
                                  <a:latin typeface="Cambria Math" panose="02040503050406030204" pitchFamily="18" charset="0"/>
                                  <a:ea typeface="+mn-ea"/>
                                  <a:cs typeface="+mn-cs"/>
                                </a:rPr>
                                <m:t>𝑇</m:t>
                              </m:r>
                            </m:e>
                          </m:sPre>
                        </m:e>
                        <m:sub>
                          <m:r>
                            <a:rPr lang="en-US" altLang="zh-CN" sz="1200" i="1" kern="1200">
                              <a:solidFill>
                                <a:schemeClr val="tx1"/>
                              </a:solidFill>
                              <a:effectLst/>
                              <a:latin typeface="Cambria Math" panose="02040503050406030204" pitchFamily="18" charset="0"/>
                              <a:ea typeface="+mn-ea"/>
                              <a:cs typeface="+mn-cs"/>
                            </a:rPr>
                            <m:t>3</m:t>
                          </m:r>
                        </m:sub>
                      </m:sSub>
                      <m:r>
                        <a:rPr lang="zh-CN"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p>
                            <m:e>
                              <m:r>
                                <a:rPr lang="en-US" altLang="zh-CN" sz="1200" i="1" kern="1200">
                                  <a:solidFill>
                                    <a:schemeClr val="tx1"/>
                                  </a:solidFill>
                                  <a:effectLst/>
                                  <a:latin typeface="Cambria Math" panose="02040503050406030204" pitchFamily="18" charset="0"/>
                                  <a:ea typeface="+mn-ea"/>
                                  <a:cs typeface="+mn-cs"/>
                                </a:rPr>
                                <m:t>𝑇</m:t>
                              </m:r>
                            </m:e>
                          </m:sPre>
                        </m:e>
                        <m:sub>
                          <m:r>
                            <a:rPr lang="en-US" altLang="zh-CN" sz="1200" i="1" kern="1200">
                              <a:solidFill>
                                <a:schemeClr val="tx1"/>
                              </a:solidFill>
                              <a:effectLst/>
                              <a:latin typeface="Cambria Math" panose="02040503050406030204" pitchFamily="18" charset="0"/>
                              <a:ea typeface="+mn-ea"/>
                              <a:cs typeface="+mn-cs"/>
                            </a:rPr>
                            <m:t>𝑛</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𝐴</m:t>
                          </m:r>
                        </m:e>
                        <m:sub>
                          <m:r>
                            <a:rPr lang="en-US" altLang="zh-CN" sz="1200" i="1" kern="1200">
                              <a:solidFill>
                                <a:schemeClr val="tx1"/>
                              </a:solidFill>
                              <a:effectLst/>
                              <a:latin typeface="Cambria Math" panose="02040503050406030204" pitchFamily="18" charset="0"/>
                              <a:ea typeface="+mn-ea"/>
                              <a:cs typeface="+mn-cs"/>
                            </a:rPr>
                            <m:t>1</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𝐴</m:t>
                          </m:r>
                        </m:e>
                        <m:sub>
                          <m:r>
                            <a:rPr lang="en-US" altLang="zh-CN" sz="1200" i="1" kern="1200">
                              <a:solidFill>
                                <a:schemeClr val="tx1"/>
                              </a:solidFill>
                              <a:effectLst/>
                              <a:latin typeface="Cambria Math" panose="02040503050406030204" pitchFamily="18" charset="0"/>
                              <a:ea typeface="+mn-ea"/>
                              <a:cs typeface="+mn-cs"/>
                            </a:rPr>
                            <m:t>2</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𝐴</m:t>
                          </m:r>
                        </m:e>
                        <m:sub>
                          <m:r>
                            <a:rPr lang="en-US" altLang="zh-CN" sz="1200" i="1" kern="1200">
                              <a:solidFill>
                                <a:schemeClr val="tx1"/>
                              </a:solidFill>
                              <a:effectLst/>
                              <a:latin typeface="Cambria Math" panose="02040503050406030204" pitchFamily="18" charset="0"/>
                              <a:ea typeface="+mn-ea"/>
                              <a:cs typeface="+mn-cs"/>
                            </a:rPr>
                            <m:t>3</m:t>
                          </m:r>
                        </m:sub>
                      </m:sSub>
                      <m:r>
                        <a:rPr lang="zh-CN"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𝐴</m:t>
                          </m:r>
                        </m:e>
                        <m:sub>
                          <m:r>
                            <a:rPr lang="en-US" altLang="zh-CN" sz="1200" i="1" kern="1200">
                              <a:solidFill>
                                <a:schemeClr val="tx1"/>
                              </a:solidFill>
                              <a:effectLst/>
                              <a:latin typeface="Cambria Math" panose="02040503050406030204" pitchFamily="18" charset="0"/>
                              <a:ea typeface="+mn-ea"/>
                              <a:cs typeface="+mn-cs"/>
                            </a:rPr>
                            <m:t>𝑛</m:t>
                          </m:r>
                        </m:sub>
                      </m:sSub>
                    </m:oMath>
                  </m:oMathPara>
                </a14:m>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其中</a:t>
                </a:r>
                <a:r>
                  <a:rPr lang="en-US" altLang="zh-CN" sz="1200" kern="1200" dirty="0" smtClean="0">
                    <a:solidFill>
                      <a:schemeClr val="tx1"/>
                    </a:solidFill>
                    <a:effectLst/>
                    <a:latin typeface="+mn-lt"/>
                    <a:ea typeface="+mn-ea"/>
                    <a:cs typeface="+mn-cs"/>
                  </a:rPr>
                  <a:t>n</a:t>
                </a:r>
                <a:r>
                  <a:rPr lang="zh-CN" altLang="zh-CN" sz="1200" kern="1200" dirty="0" smtClean="0">
                    <a:solidFill>
                      <a:schemeClr val="tx1"/>
                    </a:solidFill>
                    <a:effectLst/>
                    <a:latin typeface="+mn-lt"/>
                    <a:ea typeface="+mn-ea"/>
                    <a:cs typeface="+mn-cs"/>
                  </a:rPr>
                  <a:t>是关节数。对于一个具有六个自由度的机器人而言，有</a:t>
                </a:r>
                <a:r>
                  <a:rPr lang="en-US" altLang="zh-CN" sz="1200" kern="1200" dirty="0" smtClean="0">
                    <a:solidFill>
                      <a:schemeClr val="tx1"/>
                    </a:solidFill>
                    <a:effectLst/>
                    <a:latin typeface="+mn-lt"/>
                    <a:ea typeface="+mn-ea"/>
                    <a:cs typeface="+mn-cs"/>
                  </a:rPr>
                  <a:t>6</a:t>
                </a:r>
                <a:r>
                  <a:rPr lang="zh-CN" altLang="zh-CN" sz="1200" kern="1200" dirty="0" smtClean="0">
                    <a:solidFill>
                      <a:schemeClr val="tx1"/>
                    </a:solidFill>
                    <a:effectLst/>
                    <a:latin typeface="+mn-lt"/>
                    <a:ea typeface="+mn-ea"/>
                    <a:cs typeface="+mn-cs"/>
                  </a:rPr>
                  <a:t>个</a:t>
                </a:r>
                <a:r>
                  <a:rPr lang="en-US" altLang="zh-CN" sz="1200" kern="1200" dirty="0" smtClean="0">
                    <a:solidFill>
                      <a:schemeClr val="tx1"/>
                    </a:solidFill>
                    <a:effectLst/>
                    <a:latin typeface="+mn-lt"/>
                    <a:ea typeface="+mn-ea"/>
                    <a:cs typeface="+mn-cs"/>
                  </a:rPr>
                  <a:t>A</a:t>
                </a:r>
                <a:r>
                  <a:rPr lang="zh-CN" altLang="zh-CN" sz="1200" kern="1200" dirty="0" smtClean="0">
                    <a:solidFill>
                      <a:schemeClr val="tx1"/>
                    </a:solidFill>
                    <a:effectLst/>
                    <a:latin typeface="+mn-lt"/>
                    <a:ea typeface="+mn-ea"/>
                    <a:cs typeface="+mn-cs"/>
                  </a:rPr>
                  <a:t>矩阵。</a:t>
                </a:r>
              </a:p>
              <a:p>
                <a:r>
                  <a:rPr lang="en-US" altLang="zh-CN" sz="1200" kern="1200" dirty="0" smtClean="0">
                    <a:solidFill>
                      <a:schemeClr val="tx1"/>
                    </a:solidFill>
                    <a:effectLst/>
                    <a:latin typeface="+mn-lt"/>
                    <a:ea typeface="+mn-ea"/>
                    <a:cs typeface="+mn-cs"/>
                  </a:rPr>
                  <a:t>	</a:t>
                </a:r>
                <a:r>
                  <a:rPr lang="zh-CN" altLang="zh-CN" sz="1200" kern="1200" dirty="0" smtClean="0">
                    <a:solidFill>
                      <a:schemeClr val="tx1"/>
                    </a:solidFill>
                    <a:effectLst/>
                    <a:latin typeface="+mn-lt"/>
                    <a:ea typeface="+mn-ea"/>
                    <a:cs typeface="+mn-cs"/>
                  </a:rPr>
                  <a:t>为了简化</a:t>
                </a:r>
                <a:r>
                  <a:rPr lang="en-US" altLang="zh-CN" sz="1200" kern="1200" dirty="0" smtClean="0">
                    <a:solidFill>
                      <a:schemeClr val="tx1"/>
                    </a:solidFill>
                    <a:effectLst/>
                    <a:latin typeface="+mn-lt"/>
                    <a:ea typeface="+mn-ea"/>
                    <a:cs typeface="+mn-cs"/>
                  </a:rPr>
                  <a:t>A</a:t>
                </a:r>
                <a:r>
                  <a:rPr lang="zh-CN" altLang="zh-CN" sz="1200" kern="1200" dirty="0" smtClean="0">
                    <a:solidFill>
                      <a:schemeClr val="tx1"/>
                    </a:solidFill>
                    <a:effectLst/>
                    <a:latin typeface="+mn-lt"/>
                    <a:ea typeface="+mn-ea"/>
                    <a:cs typeface="+mn-cs"/>
                  </a:rPr>
                  <a:t>矩阵的计算，可以制作一张关节和连杆参数的表格，其中每个连杆和关节的参数值可从机器人的原理示意图上确定，并且可将这些参数代入</a:t>
                </a:r>
                <a:r>
                  <a:rPr lang="en-US" altLang="zh-CN" sz="1200" kern="1200" dirty="0" smtClean="0">
                    <a:solidFill>
                      <a:schemeClr val="tx1"/>
                    </a:solidFill>
                    <a:effectLst/>
                    <a:latin typeface="+mn-lt"/>
                    <a:ea typeface="+mn-ea"/>
                    <a:cs typeface="+mn-cs"/>
                  </a:rPr>
                  <a:t>A</a:t>
                </a:r>
                <a:r>
                  <a:rPr lang="zh-CN" altLang="zh-CN" sz="1200" kern="1200" dirty="0" smtClean="0">
                    <a:solidFill>
                      <a:schemeClr val="tx1"/>
                    </a:solidFill>
                    <a:effectLst/>
                    <a:latin typeface="+mn-lt"/>
                    <a:ea typeface="+mn-ea"/>
                    <a:cs typeface="+mn-cs"/>
                  </a:rPr>
                  <a:t>矩阵。表</a:t>
                </a:r>
                <a:r>
                  <a:rPr lang="en-US" altLang="zh-CN" sz="1200" kern="1200" dirty="0" smtClean="0">
                    <a:solidFill>
                      <a:schemeClr val="tx1"/>
                    </a:solidFill>
                    <a:effectLst/>
                    <a:latin typeface="+mn-lt"/>
                    <a:ea typeface="+mn-ea"/>
                    <a:cs typeface="+mn-cs"/>
                  </a:rPr>
                  <a:t>3.1</a:t>
                </a:r>
                <a:r>
                  <a:rPr lang="zh-CN" altLang="zh-CN" sz="1200" kern="1200" dirty="0" smtClean="0">
                    <a:solidFill>
                      <a:schemeClr val="tx1"/>
                    </a:solidFill>
                    <a:effectLst/>
                    <a:latin typeface="+mn-lt"/>
                    <a:ea typeface="+mn-ea"/>
                    <a:cs typeface="+mn-cs"/>
                  </a:rPr>
                  <a:t>称为</a:t>
                </a:r>
                <a:r>
                  <a:rPr lang="en-US" altLang="zh-CN" sz="1200" kern="1200" dirty="0" smtClean="0">
                    <a:solidFill>
                      <a:schemeClr val="tx1"/>
                    </a:solidFill>
                    <a:effectLst/>
                    <a:latin typeface="+mn-lt"/>
                    <a:ea typeface="+mn-ea"/>
                    <a:cs typeface="+mn-cs"/>
                  </a:rPr>
                  <a:t>D-H</a:t>
                </a:r>
                <a:r>
                  <a:rPr lang="zh-CN" altLang="zh-CN" sz="1200" kern="1200" dirty="0" smtClean="0">
                    <a:solidFill>
                      <a:schemeClr val="tx1"/>
                    </a:solidFill>
                    <a:effectLst/>
                    <a:latin typeface="+mn-lt"/>
                    <a:ea typeface="+mn-ea"/>
                    <a:cs typeface="+mn-cs"/>
                  </a:rPr>
                  <a:t>参数表。</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a:t>
                </a:r>
                <a:r>
                  <a:rPr lang="en-US" altLang="zh-CN" sz="1200" kern="1200" dirty="0" smtClean="0">
                    <a:solidFill>
                      <a:schemeClr val="tx1"/>
                    </a:solidFill>
                    <a:effectLst/>
                    <a:latin typeface="+mn-lt"/>
                    <a:ea typeface="+mn-ea"/>
                    <a:cs typeface="+mn-cs"/>
                  </a:rPr>
                  <a:t>n+1</a:t>
                </a:r>
                <a:r>
                  <a:rPr lang="zh-CN" altLang="zh-CN" sz="1200" kern="1200" dirty="0" smtClean="0">
                    <a:solidFill>
                      <a:schemeClr val="tx1"/>
                    </a:solidFill>
                    <a:effectLst/>
                    <a:latin typeface="+mn-lt"/>
                    <a:ea typeface="+mn-ea"/>
                    <a:cs typeface="+mn-cs"/>
                  </a:rPr>
                  <a:t>和</a:t>
                </a:r>
                <a:r>
                  <a:rPr lang="en-US" altLang="zh-CN" sz="1200" kern="1200" dirty="0" smtClean="0">
                    <a:solidFill>
                      <a:schemeClr val="tx1"/>
                    </a:solidFill>
                    <a:effectLst/>
                    <a:latin typeface="+mn-lt"/>
                    <a:ea typeface="+mn-ea"/>
                    <a:cs typeface="+mn-cs"/>
                  </a:rPr>
                  <a:t>n+2</a:t>
                </a:r>
                <a:r>
                  <a:rPr lang="zh-CN" altLang="zh-CN" sz="1200" kern="1200" dirty="0" smtClean="0">
                    <a:solidFill>
                      <a:schemeClr val="tx1"/>
                    </a:solidFill>
                    <a:effectLst/>
                    <a:latin typeface="+mn-lt"/>
                    <a:ea typeface="+mn-ea"/>
                    <a:cs typeface="+mn-cs"/>
                  </a:rPr>
                  <a:t>坐标系间严格地按照同样的四个运动顺序可以将一个坐标变换到下一个坐标系。如有必要，可以重复以上步骤，就可以实现一系列相邻坐标系之间的变换。从参考坐标系开始，我们可以将其转换到机器人的基座，然后到第一个关节，第二个关节</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，直至末端执行器。这里比较好的一点是，在任何两个坐标系之间的变换均可采用与前面相同的运动步骤。</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在机器人的基座上，可以从第一个关节开始变换到第二个关节，然后到第三个</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，再到机器人的手，最终到末端执行器。若把每个变换定义为，则可以得到许多表示变换的矩阵。在机器人的基座与手之间的总变换则为：</a:t>
                </a:r>
                <a:endParaRPr lang="en-US" altLang="zh-CN" sz="1200" kern="1200" dirty="0" smtClean="0">
                  <a:solidFill>
                    <a:schemeClr val="tx1"/>
                  </a:solidFill>
                  <a:effectLst/>
                  <a:latin typeface="+mn-lt"/>
                  <a:ea typeface="+mn-ea"/>
                  <a:cs typeface="+mn-cs"/>
                </a:endParaRPr>
              </a:p>
              <a:p>
                <a:r>
                  <a:rPr lang="zh-CN" altLang="zh-CN" sz="1200" i="0" kern="1200" smtClean="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smtClean="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𝐻=</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𝑛=𝐴</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𝐴</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𝐴</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𝐴</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其中</a:t>
                </a:r>
                <a:r>
                  <a:rPr lang="en-US" altLang="zh-CN" sz="1200" kern="1200" dirty="0" smtClean="0">
                    <a:solidFill>
                      <a:schemeClr val="tx1"/>
                    </a:solidFill>
                    <a:effectLst/>
                    <a:latin typeface="+mn-lt"/>
                    <a:ea typeface="+mn-ea"/>
                    <a:cs typeface="+mn-cs"/>
                  </a:rPr>
                  <a:t>n</a:t>
                </a:r>
                <a:r>
                  <a:rPr lang="zh-CN" altLang="zh-CN" sz="1200" kern="1200" dirty="0" smtClean="0">
                    <a:solidFill>
                      <a:schemeClr val="tx1"/>
                    </a:solidFill>
                    <a:effectLst/>
                    <a:latin typeface="+mn-lt"/>
                    <a:ea typeface="+mn-ea"/>
                    <a:cs typeface="+mn-cs"/>
                  </a:rPr>
                  <a:t>是关节数。对于一个具有六个自由度的机器人而言，有</a:t>
                </a:r>
                <a:r>
                  <a:rPr lang="en-US" altLang="zh-CN" sz="1200" kern="1200" dirty="0" smtClean="0">
                    <a:solidFill>
                      <a:schemeClr val="tx1"/>
                    </a:solidFill>
                    <a:effectLst/>
                    <a:latin typeface="+mn-lt"/>
                    <a:ea typeface="+mn-ea"/>
                    <a:cs typeface="+mn-cs"/>
                  </a:rPr>
                  <a:t>6</a:t>
                </a:r>
                <a:r>
                  <a:rPr lang="zh-CN" altLang="zh-CN" sz="1200" kern="1200" dirty="0" smtClean="0">
                    <a:solidFill>
                      <a:schemeClr val="tx1"/>
                    </a:solidFill>
                    <a:effectLst/>
                    <a:latin typeface="+mn-lt"/>
                    <a:ea typeface="+mn-ea"/>
                    <a:cs typeface="+mn-cs"/>
                  </a:rPr>
                  <a:t>个</a:t>
                </a:r>
                <a:r>
                  <a:rPr lang="en-US" altLang="zh-CN" sz="1200" kern="1200" dirty="0" smtClean="0">
                    <a:solidFill>
                      <a:schemeClr val="tx1"/>
                    </a:solidFill>
                    <a:effectLst/>
                    <a:latin typeface="+mn-lt"/>
                    <a:ea typeface="+mn-ea"/>
                    <a:cs typeface="+mn-cs"/>
                  </a:rPr>
                  <a:t>A</a:t>
                </a:r>
                <a:r>
                  <a:rPr lang="zh-CN" altLang="zh-CN" sz="1200" kern="1200" dirty="0" smtClean="0">
                    <a:solidFill>
                      <a:schemeClr val="tx1"/>
                    </a:solidFill>
                    <a:effectLst/>
                    <a:latin typeface="+mn-lt"/>
                    <a:ea typeface="+mn-ea"/>
                    <a:cs typeface="+mn-cs"/>
                  </a:rPr>
                  <a:t>矩阵。</a:t>
                </a:r>
              </a:p>
              <a:p>
                <a:r>
                  <a:rPr lang="en-US" altLang="zh-CN" sz="1200" kern="1200" dirty="0" smtClean="0">
                    <a:solidFill>
                      <a:schemeClr val="tx1"/>
                    </a:solidFill>
                    <a:effectLst/>
                    <a:latin typeface="+mn-lt"/>
                    <a:ea typeface="+mn-ea"/>
                    <a:cs typeface="+mn-cs"/>
                  </a:rPr>
                  <a:t>	</a:t>
                </a:r>
                <a:r>
                  <a:rPr lang="zh-CN" altLang="zh-CN" sz="1200" kern="1200" dirty="0" smtClean="0">
                    <a:solidFill>
                      <a:schemeClr val="tx1"/>
                    </a:solidFill>
                    <a:effectLst/>
                    <a:latin typeface="+mn-lt"/>
                    <a:ea typeface="+mn-ea"/>
                    <a:cs typeface="+mn-cs"/>
                  </a:rPr>
                  <a:t>为了简化</a:t>
                </a:r>
                <a:r>
                  <a:rPr lang="en-US" altLang="zh-CN" sz="1200" kern="1200" dirty="0" smtClean="0">
                    <a:solidFill>
                      <a:schemeClr val="tx1"/>
                    </a:solidFill>
                    <a:effectLst/>
                    <a:latin typeface="+mn-lt"/>
                    <a:ea typeface="+mn-ea"/>
                    <a:cs typeface="+mn-cs"/>
                  </a:rPr>
                  <a:t>A</a:t>
                </a:r>
                <a:r>
                  <a:rPr lang="zh-CN" altLang="zh-CN" sz="1200" kern="1200" dirty="0" smtClean="0">
                    <a:solidFill>
                      <a:schemeClr val="tx1"/>
                    </a:solidFill>
                    <a:effectLst/>
                    <a:latin typeface="+mn-lt"/>
                    <a:ea typeface="+mn-ea"/>
                    <a:cs typeface="+mn-cs"/>
                  </a:rPr>
                  <a:t>矩阵的计算，可以制作一张关节和连杆参数的表格，其中每个连杆和关节的参数值可从机器人的原理示意图上确定，并且可将这些参数代入</a:t>
                </a:r>
                <a:r>
                  <a:rPr lang="en-US" altLang="zh-CN" sz="1200" kern="1200" dirty="0" smtClean="0">
                    <a:solidFill>
                      <a:schemeClr val="tx1"/>
                    </a:solidFill>
                    <a:effectLst/>
                    <a:latin typeface="+mn-lt"/>
                    <a:ea typeface="+mn-ea"/>
                    <a:cs typeface="+mn-cs"/>
                  </a:rPr>
                  <a:t>A</a:t>
                </a:r>
                <a:r>
                  <a:rPr lang="zh-CN" altLang="zh-CN" sz="1200" kern="1200" dirty="0" smtClean="0">
                    <a:solidFill>
                      <a:schemeClr val="tx1"/>
                    </a:solidFill>
                    <a:effectLst/>
                    <a:latin typeface="+mn-lt"/>
                    <a:ea typeface="+mn-ea"/>
                    <a:cs typeface="+mn-cs"/>
                  </a:rPr>
                  <a:t>矩阵。表</a:t>
                </a:r>
                <a:r>
                  <a:rPr lang="en-US" altLang="zh-CN" sz="1200" kern="1200" dirty="0" smtClean="0">
                    <a:solidFill>
                      <a:schemeClr val="tx1"/>
                    </a:solidFill>
                    <a:effectLst/>
                    <a:latin typeface="+mn-lt"/>
                    <a:ea typeface="+mn-ea"/>
                    <a:cs typeface="+mn-cs"/>
                  </a:rPr>
                  <a:t>3.1</a:t>
                </a:r>
                <a:r>
                  <a:rPr lang="zh-CN" altLang="zh-CN" sz="1200" kern="1200" dirty="0" smtClean="0">
                    <a:solidFill>
                      <a:schemeClr val="tx1"/>
                    </a:solidFill>
                    <a:effectLst/>
                    <a:latin typeface="+mn-lt"/>
                    <a:ea typeface="+mn-ea"/>
                    <a:cs typeface="+mn-cs"/>
                  </a:rPr>
                  <a:t>称为</a:t>
                </a:r>
                <a:r>
                  <a:rPr lang="en-US" altLang="zh-CN" sz="1200" kern="1200" dirty="0" smtClean="0">
                    <a:solidFill>
                      <a:schemeClr val="tx1"/>
                    </a:solidFill>
                    <a:effectLst/>
                    <a:latin typeface="+mn-lt"/>
                    <a:ea typeface="+mn-ea"/>
                    <a:cs typeface="+mn-cs"/>
                  </a:rPr>
                  <a:t>D-H</a:t>
                </a:r>
                <a:r>
                  <a:rPr lang="zh-CN" altLang="zh-CN" sz="1200" kern="1200" dirty="0" smtClean="0">
                    <a:solidFill>
                      <a:schemeClr val="tx1"/>
                    </a:solidFill>
                    <a:effectLst/>
                    <a:latin typeface="+mn-lt"/>
                    <a:ea typeface="+mn-ea"/>
                    <a:cs typeface="+mn-cs"/>
                  </a:rPr>
                  <a:t>参数表。</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23</a:t>
            </a:fld>
            <a:endParaRPr lang="zh-CN" altLang="en-US"/>
          </a:p>
        </p:txBody>
      </p:sp>
    </p:spTree>
    <p:extLst>
      <p:ext uri="{BB962C8B-B14F-4D97-AF65-F5344CB8AC3E}">
        <p14:creationId xmlns:p14="http://schemas.microsoft.com/office/powerpoint/2010/main" val="35727316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实际上，</a:t>
                </a:r>
                <a:r>
                  <a:rPr lang="en-US" altLang="zh-CN" sz="1200" kern="1200" dirty="0" smtClean="0">
                    <a:solidFill>
                      <a:schemeClr val="tx1"/>
                    </a:solidFill>
                    <a:effectLst/>
                    <a:latin typeface="+mn-lt"/>
                    <a:ea typeface="+mn-ea"/>
                    <a:cs typeface="+mn-cs"/>
                  </a:rPr>
                  <a:t>D-H</a:t>
                </a:r>
                <a:r>
                  <a:rPr lang="zh-CN" altLang="zh-CN" sz="1200" kern="1200" dirty="0" smtClean="0">
                    <a:solidFill>
                      <a:schemeClr val="tx1"/>
                    </a:solidFill>
                    <a:effectLst/>
                    <a:latin typeface="+mn-lt"/>
                    <a:ea typeface="+mn-ea"/>
                    <a:cs typeface="+mn-cs"/>
                  </a:rPr>
                  <a:t>参数有两种标定方式，以上描述的是标准</a:t>
                </a:r>
                <a:r>
                  <a:rPr lang="en-US" altLang="zh-CN" sz="1200" kern="1200" dirty="0" smtClean="0">
                    <a:solidFill>
                      <a:schemeClr val="tx1"/>
                    </a:solidFill>
                    <a:effectLst/>
                    <a:latin typeface="+mn-lt"/>
                    <a:ea typeface="+mn-ea"/>
                    <a:cs typeface="+mn-cs"/>
                  </a:rPr>
                  <a:t>D-H(Standard D-H)</a:t>
                </a:r>
                <a:r>
                  <a:rPr lang="zh-CN" altLang="zh-CN" sz="1200" kern="1200" dirty="0" smtClean="0">
                    <a:solidFill>
                      <a:schemeClr val="tx1"/>
                    </a:solidFill>
                    <a:effectLst/>
                    <a:latin typeface="+mn-lt"/>
                    <a:ea typeface="+mn-ea"/>
                    <a:cs typeface="+mn-cs"/>
                  </a:rPr>
                  <a:t>参数法，还有一种是</a:t>
                </a:r>
                <a:r>
                  <a:rPr lang="zh-CN" altLang="en-US" sz="1200" kern="1200" dirty="0" smtClean="0">
                    <a:solidFill>
                      <a:schemeClr val="tx1"/>
                    </a:solidFill>
                    <a:effectLst/>
                    <a:latin typeface="+mn-lt"/>
                    <a:ea typeface="+mn-ea"/>
                    <a:cs typeface="+mn-cs"/>
                  </a:rPr>
                  <a:t>修正</a:t>
                </a:r>
                <a:r>
                  <a:rPr lang="zh-CN" altLang="zh-CN" sz="1200" kern="1200" dirty="0" smtClean="0">
                    <a:solidFill>
                      <a:schemeClr val="tx1"/>
                    </a:solidFill>
                    <a:effectLst/>
                    <a:latin typeface="+mn-lt"/>
                    <a:ea typeface="+mn-ea"/>
                    <a:cs typeface="+mn-cs"/>
                  </a:rPr>
                  <a:t>的</a:t>
                </a:r>
                <a:r>
                  <a:rPr lang="en-US" altLang="zh-CN" sz="1200" kern="1200" dirty="0" smtClean="0">
                    <a:solidFill>
                      <a:schemeClr val="tx1"/>
                    </a:solidFill>
                    <a:effectLst/>
                    <a:latin typeface="+mn-lt"/>
                    <a:ea typeface="+mn-ea"/>
                    <a:cs typeface="+mn-cs"/>
                  </a:rPr>
                  <a:t>D-H(Modified D-H)</a:t>
                </a:r>
                <a:r>
                  <a:rPr lang="zh-CN" altLang="zh-CN" sz="1200" kern="1200" dirty="0" smtClean="0">
                    <a:solidFill>
                      <a:schemeClr val="tx1"/>
                    </a:solidFill>
                    <a:effectLst/>
                    <a:latin typeface="+mn-lt"/>
                    <a:ea typeface="+mn-ea"/>
                    <a:cs typeface="+mn-cs"/>
                  </a:rPr>
                  <a:t>参数法，其区别见图</a:t>
                </a:r>
                <a:r>
                  <a:rPr lang="en-US" altLang="zh-CN" sz="1200" kern="1200" dirty="0" smtClean="0">
                    <a:solidFill>
                      <a:schemeClr val="tx1"/>
                    </a:solidFill>
                    <a:effectLst/>
                    <a:latin typeface="+mn-lt"/>
                    <a:ea typeface="+mn-ea"/>
                    <a:cs typeface="+mn-cs"/>
                  </a:rPr>
                  <a:t>3.12</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Modified D-H</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）与</a:t>
                </a:r>
                <a:r>
                  <a:rPr lang="en-US" altLang="zh-CN" sz="1200" kern="1200" dirty="0">
                    <a:solidFill>
                      <a:schemeClr val="tx1"/>
                    </a:solidFill>
                    <a:effectLst/>
                    <a:latin typeface="+mn-lt"/>
                    <a:ea typeface="+mn-ea"/>
                    <a:cs typeface="+mn-cs"/>
                  </a:rPr>
                  <a:t> Standard D-H</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SDH</a:t>
                </a:r>
                <a:r>
                  <a:rPr lang="zh-CN" altLang="zh-CN" sz="1200" kern="1200" dirty="0">
                    <a:solidFill>
                      <a:schemeClr val="tx1"/>
                    </a:solidFill>
                    <a:effectLst/>
                    <a:latin typeface="+mn-lt"/>
                    <a:ea typeface="+mn-ea"/>
                    <a:cs typeface="+mn-cs"/>
                  </a:rPr>
                  <a:t>）的区别在于我们将奇形怪状的机械臂物理结构转换为简化连杆与关节时，</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）建立的坐标系有所不同（坐标原点不同，</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轴方向不同），</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）导致</a:t>
                </a:r>
                <a:r>
                  <a:rPr lang="en-US" altLang="zh-CN" sz="1200" kern="1200" dirty="0">
                    <a:solidFill>
                      <a:schemeClr val="tx1"/>
                    </a:solidFill>
                    <a:effectLst/>
                    <a:latin typeface="+mn-lt"/>
                    <a:ea typeface="+mn-ea"/>
                    <a:cs typeface="+mn-cs"/>
                  </a:rPr>
                  <a:t>D-H</a:t>
                </a:r>
                <a:r>
                  <a:rPr lang="zh-CN" altLang="zh-CN" sz="1200" kern="1200" dirty="0">
                    <a:solidFill>
                      <a:schemeClr val="tx1"/>
                    </a:solidFill>
                    <a:effectLst/>
                    <a:latin typeface="+mn-lt"/>
                    <a:ea typeface="+mn-ea"/>
                    <a:cs typeface="+mn-cs"/>
                  </a:rPr>
                  <a:t>参数不一样，</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）连杆与坐标系之间的变换关系不一样。最根本的原因在于标准</a:t>
                </a:r>
                <a:r>
                  <a:rPr lang="en-US" altLang="zh-CN" sz="1200" kern="1200" dirty="0">
                    <a:solidFill>
                      <a:schemeClr val="tx1"/>
                    </a:solidFill>
                    <a:effectLst/>
                    <a:latin typeface="+mn-lt"/>
                    <a:ea typeface="+mn-ea"/>
                    <a:cs typeface="+mn-cs"/>
                  </a:rPr>
                  <a:t>D-H</a:t>
                </a:r>
                <a:r>
                  <a:rPr lang="zh-CN" altLang="zh-CN" sz="1200" kern="1200" dirty="0">
                    <a:solidFill>
                      <a:schemeClr val="tx1"/>
                    </a:solidFill>
                    <a:effectLst/>
                    <a:latin typeface="+mn-lt"/>
                    <a:ea typeface="+mn-ea"/>
                    <a:cs typeface="+mn-cs"/>
                  </a:rPr>
                  <a:t>表示法将连杆坐标系建立在连杆输出端，也就是下一个关节上，其坐标系</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𝑂</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与关节</a:t>
                </a:r>
                <a:r>
                  <a:rPr lang="en-US" altLang="zh-CN" sz="1200" i="1"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对齐。</a:t>
                </a:r>
                <a:r>
                  <a:rPr lang="zh-CN" altLang="zh-CN" sz="1200" kern="1200" dirty="0" smtClean="0">
                    <a:solidFill>
                      <a:schemeClr val="tx1"/>
                    </a:solidFill>
                    <a:effectLst/>
                    <a:latin typeface="+mn-lt"/>
                    <a:ea typeface="+mn-ea"/>
                    <a:cs typeface="+mn-cs"/>
                  </a:rPr>
                  <a:t>而</a:t>
                </a:r>
                <a:r>
                  <a:rPr lang="zh-CN" altLang="en-US" sz="1200" kern="1200" dirty="0" smtClean="0">
                    <a:solidFill>
                      <a:schemeClr val="tx1"/>
                    </a:solidFill>
                    <a:effectLst/>
                    <a:latin typeface="+mn-lt"/>
                    <a:ea typeface="+mn-ea"/>
                    <a:cs typeface="+mn-cs"/>
                  </a:rPr>
                  <a:t>修正</a:t>
                </a:r>
                <a:r>
                  <a:rPr lang="en-US" altLang="zh-CN" sz="1200" kern="1200" dirty="0" smtClean="0">
                    <a:solidFill>
                      <a:schemeClr val="tx1"/>
                    </a:solidFill>
                    <a:effectLst/>
                    <a:latin typeface="+mn-lt"/>
                    <a:ea typeface="+mn-ea"/>
                    <a:cs typeface="+mn-cs"/>
                  </a:rPr>
                  <a:t>D-H</a:t>
                </a:r>
                <a:r>
                  <a:rPr lang="zh-CN" altLang="zh-CN" sz="1200" kern="1200" dirty="0">
                    <a:solidFill>
                      <a:schemeClr val="tx1"/>
                    </a:solidFill>
                    <a:effectLst/>
                    <a:latin typeface="+mn-lt"/>
                    <a:ea typeface="+mn-ea"/>
                    <a:cs typeface="+mn-cs"/>
                  </a:rPr>
                  <a:t>将连杆坐标系建立在</a:t>
                </a:r>
                <a:r>
                  <a:rPr lang="zh-CN" altLang="zh-CN" sz="1200" b="1" kern="1200" dirty="0">
                    <a:solidFill>
                      <a:schemeClr val="tx1"/>
                    </a:solidFill>
                    <a:effectLst/>
                    <a:latin typeface="+mn-lt"/>
                    <a:ea typeface="+mn-ea"/>
                    <a:cs typeface="+mn-cs"/>
                  </a:rPr>
                  <a:t>连杆输入端</a:t>
                </a:r>
                <a:r>
                  <a:rPr lang="zh-CN" altLang="zh-CN" sz="1200" kern="1200" dirty="0">
                    <a:solidFill>
                      <a:schemeClr val="tx1"/>
                    </a:solidFill>
                    <a:effectLst/>
                    <a:latin typeface="+mn-lt"/>
                    <a:ea typeface="+mn-ea"/>
                    <a:cs typeface="+mn-cs"/>
                  </a:rPr>
                  <a:t>，也就是上一个关节上，其坐标系</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𝑂</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与关节</a:t>
                </a:r>
                <a:r>
                  <a:rPr lang="en-US" altLang="zh-CN" sz="1200" i="1"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对齐。设想一下，如果一个连杆有两个输出，那么</a:t>
                </a:r>
                <a:r>
                  <a:rPr lang="en-US" altLang="zh-CN" sz="1200" kern="1200" dirty="0">
                    <a:solidFill>
                      <a:schemeClr val="tx1"/>
                    </a:solidFill>
                    <a:effectLst/>
                    <a:latin typeface="+mn-lt"/>
                    <a:ea typeface="+mn-ea"/>
                    <a:cs typeface="+mn-cs"/>
                  </a:rPr>
                  <a:t>SDH</a:t>
                </a:r>
                <a:r>
                  <a:rPr lang="zh-CN" altLang="zh-CN" sz="1200" kern="1200" dirty="0">
                    <a:solidFill>
                      <a:schemeClr val="tx1"/>
                    </a:solidFill>
                    <a:effectLst/>
                    <a:latin typeface="+mn-lt"/>
                    <a:ea typeface="+mn-ea"/>
                    <a:cs typeface="+mn-cs"/>
                  </a:rPr>
                  <a:t>就会产生歧义，</a:t>
                </a:r>
                <a:r>
                  <a:rPr lang="zh-CN" altLang="zh-CN" sz="1200" kern="1200" dirty="0" smtClean="0">
                    <a:solidFill>
                      <a:schemeClr val="tx1"/>
                    </a:solidFill>
                    <a:effectLst/>
                    <a:latin typeface="+mn-lt"/>
                    <a:ea typeface="+mn-ea"/>
                    <a:cs typeface="+mn-cs"/>
                  </a:rPr>
                  <a:t>采用</a:t>
                </a:r>
                <a:r>
                  <a:rPr lang="zh-CN" altLang="en-US" sz="1200" kern="1200" dirty="0" smtClean="0">
                    <a:solidFill>
                      <a:schemeClr val="tx1"/>
                    </a:solidFill>
                    <a:effectLst/>
                    <a:latin typeface="+mn-lt"/>
                    <a:ea typeface="+mn-ea"/>
                    <a:cs typeface="+mn-cs"/>
                  </a:rPr>
                  <a:t>修正</a:t>
                </a:r>
                <a:r>
                  <a:rPr lang="en-US" altLang="zh-CN" sz="1200" kern="1200" dirty="0" smtClean="0">
                    <a:solidFill>
                      <a:schemeClr val="tx1"/>
                    </a:solidFill>
                    <a:effectLst/>
                    <a:latin typeface="+mn-lt"/>
                    <a:ea typeface="+mn-ea"/>
                    <a:cs typeface="+mn-cs"/>
                  </a:rPr>
                  <a:t>D-H</a:t>
                </a:r>
                <a:r>
                  <a:rPr lang="zh-CN" altLang="zh-CN" sz="1200" kern="1200" dirty="0">
                    <a:solidFill>
                      <a:schemeClr val="tx1"/>
                    </a:solidFill>
                    <a:effectLst/>
                    <a:latin typeface="+mn-lt"/>
                    <a:ea typeface="+mn-ea"/>
                    <a:cs typeface="+mn-cs"/>
                  </a:rPr>
                  <a:t>表示法最根本的原因就在这</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实际上，</a:t>
                </a:r>
                <a:r>
                  <a:rPr lang="en-US" altLang="zh-CN" sz="1200" kern="1200" dirty="0" smtClean="0">
                    <a:solidFill>
                      <a:schemeClr val="tx1"/>
                    </a:solidFill>
                    <a:effectLst/>
                    <a:latin typeface="+mn-lt"/>
                    <a:ea typeface="+mn-ea"/>
                    <a:cs typeface="+mn-cs"/>
                  </a:rPr>
                  <a:t>D-H</a:t>
                </a:r>
                <a:r>
                  <a:rPr lang="zh-CN" altLang="zh-CN" sz="1200" kern="1200" dirty="0" smtClean="0">
                    <a:solidFill>
                      <a:schemeClr val="tx1"/>
                    </a:solidFill>
                    <a:effectLst/>
                    <a:latin typeface="+mn-lt"/>
                    <a:ea typeface="+mn-ea"/>
                    <a:cs typeface="+mn-cs"/>
                  </a:rPr>
                  <a:t>参数有两种标定方式，以上描述的是标准</a:t>
                </a:r>
                <a:r>
                  <a:rPr lang="en-US" altLang="zh-CN" sz="1200" kern="1200" dirty="0" smtClean="0">
                    <a:solidFill>
                      <a:schemeClr val="tx1"/>
                    </a:solidFill>
                    <a:effectLst/>
                    <a:latin typeface="+mn-lt"/>
                    <a:ea typeface="+mn-ea"/>
                    <a:cs typeface="+mn-cs"/>
                  </a:rPr>
                  <a:t>D-H(Standard D-H)</a:t>
                </a:r>
                <a:r>
                  <a:rPr lang="zh-CN" altLang="zh-CN" sz="1200" kern="1200" dirty="0" smtClean="0">
                    <a:solidFill>
                      <a:schemeClr val="tx1"/>
                    </a:solidFill>
                    <a:effectLst/>
                    <a:latin typeface="+mn-lt"/>
                    <a:ea typeface="+mn-ea"/>
                    <a:cs typeface="+mn-cs"/>
                  </a:rPr>
                  <a:t>参数法，还有一种是改进的</a:t>
                </a:r>
                <a:r>
                  <a:rPr lang="en-US" altLang="zh-CN" sz="1200" kern="1200" dirty="0" smtClean="0">
                    <a:solidFill>
                      <a:schemeClr val="tx1"/>
                    </a:solidFill>
                    <a:effectLst/>
                    <a:latin typeface="+mn-lt"/>
                    <a:ea typeface="+mn-ea"/>
                    <a:cs typeface="+mn-cs"/>
                  </a:rPr>
                  <a:t>D-H(Modified D-H)</a:t>
                </a:r>
                <a:r>
                  <a:rPr lang="zh-CN" altLang="zh-CN" sz="1200" kern="1200" dirty="0" smtClean="0">
                    <a:solidFill>
                      <a:schemeClr val="tx1"/>
                    </a:solidFill>
                    <a:effectLst/>
                    <a:latin typeface="+mn-lt"/>
                    <a:ea typeface="+mn-ea"/>
                    <a:cs typeface="+mn-cs"/>
                  </a:rPr>
                  <a:t>参数法，其区别见图</a:t>
                </a:r>
                <a:r>
                  <a:rPr lang="en-US" altLang="zh-CN" sz="1200" kern="1200" dirty="0" smtClean="0">
                    <a:solidFill>
                      <a:schemeClr val="tx1"/>
                    </a:solidFill>
                    <a:effectLst/>
                    <a:latin typeface="+mn-lt"/>
                    <a:ea typeface="+mn-ea"/>
                    <a:cs typeface="+mn-cs"/>
                  </a:rPr>
                  <a:t>3.12</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Modified D-H</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）与</a:t>
                </a:r>
                <a:r>
                  <a:rPr lang="en-US" altLang="zh-CN" sz="1200" kern="1200" dirty="0">
                    <a:solidFill>
                      <a:schemeClr val="tx1"/>
                    </a:solidFill>
                    <a:effectLst/>
                    <a:latin typeface="+mn-lt"/>
                    <a:ea typeface="+mn-ea"/>
                    <a:cs typeface="+mn-cs"/>
                  </a:rPr>
                  <a:t> Standard D-H</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SDH</a:t>
                </a:r>
                <a:r>
                  <a:rPr lang="zh-CN" altLang="zh-CN" sz="1200" kern="1200" dirty="0">
                    <a:solidFill>
                      <a:schemeClr val="tx1"/>
                    </a:solidFill>
                    <a:effectLst/>
                    <a:latin typeface="+mn-lt"/>
                    <a:ea typeface="+mn-ea"/>
                    <a:cs typeface="+mn-cs"/>
                  </a:rPr>
                  <a:t>）的区别在于我们将奇形怪状的机械臂物理结构转换为简化连杆与关节时，</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）建立的坐标系有所不同（坐标原点不同，</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轴方向不同），</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）导致</a:t>
                </a:r>
                <a:r>
                  <a:rPr lang="en-US" altLang="zh-CN" sz="1200" kern="1200" dirty="0">
                    <a:solidFill>
                      <a:schemeClr val="tx1"/>
                    </a:solidFill>
                    <a:effectLst/>
                    <a:latin typeface="+mn-lt"/>
                    <a:ea typeface="+mn-ea"/>
                    <a:cs typeface="+mn-cs"/>
                  </a:rPr>
                  <a:t>D-H</a:t>
                </a:r>
                <a:r>
                  <a:rPr lang="zh-CN" altLang="zh-CN" sz="1200" kern="1200" dirty="0">
                    <a:solidFill>
                      <a:schemeClr val="tx1"/>
                    </a:solidFill>
                    <a:effectLst/>
                    <a:latin typeface="+mn-lt"/>
                    <a:ea typeface="+mn-ea"/>
                    <a:cs typeface="+mn-cs"/>
                  </a:rPr>
                  <a:t>参数不一样，</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）连杆与坐标系之间的变换关系不一样。最根本的原因在于标准</a:t>
                </a:r>
                <a:r>
                  <a:rPr lang="en-US" altLang="zh-CN" sz="1200" kern="1200" dirty="0">
                    <a:solidFill>
                      <a:schemeClr val="tx1"/>
                    </a:solidFill>
                    <a:effectLst/>
                    <a:latin typeface="+mn-lt"/>
                    <a:ea typeface="+mn-ea"/>
                    <a:cs typeface="+mn-cs"/>
                  </a:rPr>
                  <a:t>D-H</a:t>
                </a:r>
                <a:r>
                  <a:rPr lang="zh-CN" altLang="zh-CN" sz="1200" kern="1200" dirty="0">
                    <a:solidFill>
                      <a:schemeClr val="tx1"/>
                    </a:solidFill>
                    <a:effectLst/>
                    <a:latin typeface="+mn-lt"/>
                    <a:ea typeface="+mn-ea"/>
                    <a:cs typeface="+mn-cs"/>
                  </a:rPr>
                  <a:t>表示法将连杆坐标系建立在连杆输出端，也就是下一个关节上，其坐标系</a:t>
                </a:r>
                <a:r>
                  <a:rPr lang="en-US" altLang="zh-CN" sz="1200" i="0" kern="1200">
                    <a:solidFill>
                      <a:schemeClr val="tx1"/>
                    </a:solidFill>
                    <a:effectLst/>
                    <a:latin typeface="+mn-lt"/>
                    <a:ea typeface="+mn-ea"/>
                    <a:cs typeface="+mn-cs"/>
                  </a:rPr>
                  <a:t>𝑂</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与关节</a:t>
                </a:r>
                <a:r>
                  <a:rPr lang="en-US" altLang="zh-CN" sz="1200" i="1"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对齐。而改进</a:t>
                </a:r>
                <a:r>
                  <a:rPr lang="en-US" altLang="zh-CN" sz="1200" kern="1200" dirty="0">
                    <a:solidFill>
                      <a:schemeClr val="tx1"/>
                    </a:solidFill>
                    <a:effectLst/>
                    <a:latin typeface="+mn-lt"/>
                    <a:ea typeface="+mn-ea"/>
                    <a:cs typeface="+mn-cs"/>
                  </a:rPr>
                  <a:t>D-H</a:t>
                </a:r>
                <a:r>
                  <a:rPr lang="zh-CN" altLang="zh-CN" sz="1200" kern="1200" dirty="0">
                    <a:solidFill>
                      <a:schemeClr val="tx1"/>
                    </a:solidFill>
                    <a:effectLst/>
                    <a:latin typeface="+mn-lt"/>
                    <a:ea typeface="+mn-ea"/>
                    <a:cs typeface="+mn-cs"/>
                  </a:rPr>
                  <a:t>将连杆坐标系建立在</a:t>
                </a:r>
                <a:r>
                  <a:rPr lang="zh-CN" altLang="zh-CN" sz="1200" b="1" kern="1200" dirty="0">
                    <a:solidFill>
                      <a:schemeClr val="tx1"/>
                    </a:solidFill>
                    <a:effectLst/>
                    <a:latin typeface="+mn-lt"/>
                    <a:ea typeface="+mn-ea"/>
                    <a:cs typeface="+mn-cs"/>
                  </a:rPr>
                  <a:t>连杆输入端</a:t>
                </a:r>
                <a:r>
                  <a:rPr lang="zh-CN" altLang="zh-CN" sz="1200" kern="1200" dirty="0">
                    <a:solidFill>
                      <a:schemeClr val="tx1"/>
                    </a:solidFill>
                    <a:effectLst/>
                    <a:latin typeface="+mn-lt"/>
                    <a:ea typeface="+mn-ea"/>
                    <a:cs typeface="+mn-cs"/>
                  </a:rPr>
                  <a:t>，也就是上一个关节上，其坐标系</a:t>
                </a:r>
                <a:r>
                  <a:rPr lang="en-US" altLang="zh-CN" sz="1200" i="0" kern="1200">
                    <a:solidFill>
                      <a:schemeClr val="tx1"/>
                    </a:solidFill>
                    <a:effectLst/>
                    <a:latin typeface="+mn-lt"/>
                    <a:ea typeface="+mn-ea"/>
                    <a:cs typeface="+mn-cs"/>
                  </a:rPr>
                  <a:t>𝑂</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与关节</a:t>
                </a:r>
                <a:r>
                  <a:rPr lang="en-US" altLang="zh-CN" sz="1200" i="1"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对齐。设想一下，如果一个连杆有两个输出，那么</a:t>
                </a:r>
                <a:r>
                  <a:rPr lang="en-US" altLang="zh-CN" sz="1200" kern="1200" dirty="0">
                    <a:solidFill>
                      <a:schemeClr val="tx1"/>
                    </a:solidFill>
                    <a:effectLst/>
                    <a:latin typeface="+mn-lt"/>
                    <a:ea typeface="+mn-ea"/>
                    <a:cs typeface="+mn-cs"/>
                  </a:rPr>
                  <a:t>SDH</a:t>
                </a:r>
                <a:r>
                  <a:rPr lang="zh-CN" altLang="zh-CN" sz="1200" kern="1200" dirty="0">
                    <a:solidFill>
                      <a:schemeClr val="tx1"/>
                    </a:solidFill>
                    <a:effectLst/>
                    <a:latin typeface="+mn-lt"/>
                    <a:ea typeface="+mn-ea"/>
                    <a:cs typeface="+mn-cs"/>
                  </a:rPr>
                  <a:t>就会产生歧义，采用改进</a:t>
                </a:r>
                <a:r>
                  <a:rPr lang="en-US" altLang="zh-CN" sz="1200" kern="1200" dirty="0">
                    <a:solidFill>
                      <a:schemeClr val="tx1"/>
                    </a:solidFill>
                    <a:effectLst/>
                    <a:latin typeface="+mn-lt"/>
                    <a:ea typeface="+mn-ea"/>
                    <a:cs typeface="+mn-cs"/>
                  </a:rPr>
                  <a:t>D-H</a:t>
                </a:r>
                <a:r>
                  <a:rPr lang="zh-CN" altLang="zh-CN" sz="1200" kern="1200" dirty="0">
                    <a:solidFill>
                      <a:schemeClr val="tx1"/>
                    </a:solidFill>
                    <a:effectLst/>
                    <a:latin typeface="+mn-lt"/>
                    <a:ea typeface="+mn-ea"/>
                    <a:cs typeface="+mn-cs"/>
                  </a:rPr>
                  <a:t>表示法最根本的原因就在这</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24</a:t>
            </a:fld>
            <a:endParaRPr lang="zh-CN" altLang="en-US"/>
          </a:p>
        </p:txBody>
      </p:sp>
    </p:spTree>
    <p:extLst>
      <p:ext uri="{BB962C8B-B14F-4D97-AF65-F5344CB8AC3E}">
        <p14:creationId xmlns:p14="http://schemas.microsoft.com/office/powerpoint/2010/main" val="22241645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25</a:t>
            </a:fld>
            <a:endParaRPr lang="zh-CN" altLang="en-US"/>
          </a:p>
        </p:txBody>
      </p:sp>
    </p:spTree>
    <p:extLst>
      <p:ext uri="{BB962C8B-B14F-4D97-AF65-F5344CB8AC3E}">
        <p14:creationId xmlns:p14="http://schemas.microsoft.com/office/powerpoint/2010/main" val="2618482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SCARA</a:t>
                </a:r>
                <a:r>
                  <a:rPr lang="zh-CN" altLang="zh-CN" sz="1200" kern="1200" dirty="0" smtClean="0">
                    <a:solidFill>
                      <a:schemeClr val="tx1"/>
                    </a:solidFill>
                    <a:effectLst/>
                    <a:latin typeface="+mn-lt"/>
                    <a:ea typeface="+mn-ea"/>
                    <a:cs typeface="+mn-cs"/>
                  </a:rPr>
                  <a:t>型机器人操作臂可以看作是一个开式运动链。它是由一系列连杆通过转动或移动关节串联而成的。为了研究操作臂各连杆之间的位移关系，可在每个连杆上固接一个坐标系，然后描述这些坐标系之间的关系。</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SCARA</a:t>
                </a:r>
                <a:r>
                  <a:rPr lang="zh-CN" altLang="zh-CN" sz="1200" kern="1200" dirty="0">
                    <a:solidFill>
                      <a:schemeClr val="tx1"/>
                    </a:solidFill>
                    <a:effectLst/>
                    <a:latin typeface="+mn-lt"/>
                    <a:ea typeface="+mn-ea"/>
                    <a:cs typeface="+mn-cs"/>
                  </a:rPr>
                  <a:t>机器人坐标系建立原则根据</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坐标系建立方法，</a:t>
                </a:r>
                <a:r>
                  <a:rPr lang="en-US" altLang="zh-CN" sz="1200" kern="1200" dirty="0">
                    <a:solidFill>
                      <a:schemeClr val="tx1"/>
                    </a:solidFill>
                    <a:effectLst/>
                    <a:latin typeface="+mn-lt"/>
                    <a:ea typeface="+mn-ea"/>
                    <a:cs typeface="+mn-cs"/>
                  </a:rPr>
                  <a:t>SCARA</a:t>
                </a:r>
                <a:r>
                  <a:rPr lang="zh-CN" altLang="zh-CN" sz="1200" kern="1200" dirty="0">
                    <a:solidFill>
                      <a:schemeClr val="tx1"/>
                    </a:solidFill>
                    <a:effectLst/>
                    <a:latin typeface="+mn-lt"/>
                    <a:ea typeface="+mn-ea"/>
                    <a:cs typeface="+mn-cs"/>
                  </a:rPr>
                  <a:t>机器人的每个关节坐标系的建立可参照以下的三原则：</a:t>
                </a:r>
              </a:p>
              <a:p>
                <a:r>
                  <a:rPr lang="en-US" altLang="zh-CN" sz="1200" kern="1200" dirty="0">
                    <a:solidFill>
                      <a:schemeClr val="tx1"/>
                    </a:solidFill>
                    <a:effectLst/>
                    <a:latin typeface="+mn-lt"/>
                    <a:ea typeface="+mn-ea"/>
                    <a:cs typeface="+mn-cs"/>
                  </a:rPr>
                  <a:t>(1)</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轴沿着第</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个关节的运动轴</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基坐标系的选择为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当第一关节变量为零时，零坐标系与一坐标系重合。</a:t>
                </a:r>
              </a:p>
              <a:p>
                <a:r>
                  <a:rPr lang="en-US" altLang="zh-CN" sz="1200" kern="1200" dirty="0">
                    <a:solidFill>
                      <a:schemeClr val="tx1"/>
                    </a:solidFill>
                    <a:effectLst/>
                    <a:latin typeface="+mn-lt"/>
                    <a:ea typeface="+mn-ea"/>
                    <a:cs typeface="+mn-cs"/>
                  </a:rPr>
                  <a:t>(2)</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轴垂直于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轴并指向离开</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轴的方向。</a:t>
                </a:r>
              </a:p>
              <a:p>
                <a:r>
                  <a:rPr lang="en-US" altLang="zh-CN" sz="1200" kern="1200" dirty="0">
                    <a:solidFill>
                      <a:schemeClr val="tx1"/>
                    </a:solidFill>
                    <a:effectLst/>
                    <a:latin typeface="+mn-lt"/>
                    <a:ea typeface="+mn-ea"/>
                    <a:cs typeface="+mn-cs"/>
                  </a:rPr>
                  <a:t>(3)</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𝑦</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轴的方向按右手定则确定。</a:t>
                </a:r>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）构件参数的确定根据</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表示法，构件本身的结构参数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𝑎</m:t>
                        </m:r>
                      </m:e>
                      <m:sub>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𝛼</m:t>
                        </m:r>
                      </m:e>
                      <m:sub>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和相对位置参数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可由以下的方法确定</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为绕</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轴</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按右手定则</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由</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轴到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轴的关节角。</a:t>
                </a:r>
              </a:p>
              <a:p>
                <a:r>
                  <a:rPr lang="en-US" altLang="zh-CN" sz="1200" kern="1200" dirty="0">
                    <a:solidFill>
                      <a:schemeClr val="tx1"/>
                    </a:solidFill>
                    <a:effectLst/>
                    <a:latin typeface="+mn-lt"/>
                    <a:ea typeface="+mn-ea"/>
                    <a:cs typeface="+mn-cs"/>
                  </a:rPr>
                  <a:t>(2)</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为沿</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轴，将</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轴平移至</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轴的距离。</a:t>
                </a:r>
              </a:p>
              <a:p>
                <a:r>
                  <a:rPr lang="en-US" altLang="zh-CN" sz="1200" kern="1200" dirty="0">
                    <a:solidFill>
                      <a:schemeClr val="tx1"/>
                    </a:solidFill>
                    <a:effectLst/>
                    <a:latin typeface="+mn-lt"/>
                    <a:ea typeface="+mn-ea"/>
                    <a:cs typeface="+mn-cs"/>
                  </a:rPr>
                  <a:t>(3)</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𝑎</m:t>
                        </m:r>
                      </m:e>
                      <m:sub>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为沿</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轴从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量至</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轴的距离。</a:t>
                </a:r>
              </a:p>
              <a:p>
                <a:r>
                  <a:rPr lang="en-US" altLang="zh-CN" sz="1200" kern="1200" dirty="0">
                    <a:solidFill>
                      <a:schemeClr val="tx1"/>
                    </a:solidFill>
                    <a:effectLst/>
                    <a:latin typeface="+mn-lt"/>
                    <a:ea typeface="+mn-ea"/>
                    <a:cs typeface="+mn-cs"/>
                  </a:rPr>
                  <a:t>(4)</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𝛼</m:t>
                        </m:r>
                      </m:e>
                      <m:sub>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为绕</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轴</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按右手定则</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由</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轴到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轴的偏转角。</a:t>
                </a:r>
              </a:p>
              <a:p>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）变换矩阵的建立全部的连杆规定坐标系之后，就可以按照下列的顺序来建立相邻两连杆</a:t>
                </a:r>
                <a:r>
                  <a:rPr lang="en-US" altLang="zh-CN" sz="1200" kern="1200" dirty="0">
                    <a:solidFill>
                      <a:schemeClr val="tx1"/>
                    </a:solidFill>
                    <a:effectLst/>
                    <a:latin typeface="+mn-lt"/>
                    <a:ea typeface="+mn-ea"/>
                    <a:cs typeface="+mn-cs"/>
                  </a:rPr>
                  <a:t>n-1</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之间的相对关系</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绕</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轴转</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𝛼</m:t>
                        </m:r>
                      </m:e>
                      <m:sub>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角。</a:t>
                </a:r>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沿</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轴移动</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𝑎</m:t>
                        </m:r>
                      </m:e>
                      <m:sub>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绕</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轴转</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角。</a:t>
                </a:r>
              </a:p>
              <a:p>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沿</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轴移动</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这种关系可由表示连杆</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对连杆</a:t>
                </a:r>
                <a:r>
                  <a:rPr lang="en-US" altLang="zh-CN" sz="1200" kern="1200" dirty="0">
                    <a:solidFill>
                      <a:schemeClr val="tx1"/>
                    </a:solidFill>
                    <a:effectLst/>
                    <a:latin typeface="+mn-lt"/>
                    <a:ea typeface="+mn-ea"/>
                    <a:cs typeface="+mn-cs"/>
                  </a:rPr>
                  <a:t>n-1</a:t>
                </a:r>
                <a:r>
                  <a:rPr lang="zh-CN" altLang="zh-CN" sz="1200" kern="1200" dirty="0">
                    <a:solidFill>
                      <a:schemeClr val="tx1"/>
                    </a:solidFill>
                    <a:effectLst/>
                    <a:latin typeface="+mn-lt"/>
                    <a:ea typeface="+mn-ea"/>
                    <a:cs typeface="+mn-cs"/>
                  </a:rPr>
                  <a:t>相对位置齐次变换</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p>
                          <m:e>
                            <m:r>
                              <a:rPr lang="en-US" altLang="zh-CN" sz="1200" i="1" kern="1200">
                                <a:solidFill>
                                  <a:schemeClr val="tx1"/>
                                </a:solidFill>
                                <a:effectLst/>
                                <a:latin typeface="Cambria Math" panose="02040503050406030204" pitchFamily="18" charset="0"/>
                                <a:ea typeface="+mn-ea"/>
                                <a:cs typeface="+mn-cs"/>
                              </a:rPr>
                              <m:t>𝑇</m:t>
                            </m:r>
                          </m:e>
                        </m:sPre>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来表征。即：</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p>
                            <m:e>
                              <m:r>
                                <a:rPr lang="en-US" altLang="zh-CN" sz="1200" i="1" kern="1200">
                                  <a:solidFill>
                                    <a:schemeClr val="tx1"/>
                                  </a:solidFill>
                                  <a:effectLst/>
                                  <a:latin typeface="Cambria Math" panose="02040503050406030204" pitchFamily="18" charset="0"/>
                                  <a:ea typeface="+mn-ea"/>
                                  <a:cs typeface="+mn-cs"/>
                                </a:rPr>
                                <m:t>𝑇</m:t>
                              </m:r>
                            </m:e>
                          </m:sPre>
                        </m:e>
                        <m:sub>
                          <m:r>
                            <a:rPr lang="en-US" altLang="zh-CN" sz="1200" i="1" kern="1200">
                              <a:solidFill>
                                <a:schemeClr val="tx1"/>
                              </a:solidFill>
                              <a:effectLst/>
                              <a:latin typeface="Cambria Math" panose="02040503050406030204" pitchFamily="18" charset="0"/>
                              <a:ea typeface="+mn-ea"/>
                              <a:cs typeface="+mn-cs"/>
                            </a:rPr>
                            <m:t>𝑛</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𝑅𝑜𝑡</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𝛼</m:t>
                          </m:r>
                        </m:e>
                        <m:sub>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𝑇𝑟𝑎𝑛</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𝑎</m:t>
                          </m:r>
                        </m:e>
                        <m:sub>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𝑅𝑜𝑡</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𝑛</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𝑇𝑟𝑎𝑛𝑠</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𝑛</m:t>
                          </m:r>
                        </m:sub>
                      </m:sSub>
                      <m:r>
                        <a:rPr lang="en-US" altLang="zh-CN" sz="1200" i="1" kern="1200">
                          <a:solidFill>
                            <a:schemeClr val="tx1"/>
                          </a:solidFill>
                          <a:effectLst/>
                          <a:latin typeface="Cambria Math" panose="02040503050406030204" pitchFamily="18" charset="0"/>
                          <a:ea typeface="+mn-ea"/>
                          <a:cs typeface="+mn-cs"/>
                        </a:rPr>
                        <m:t>)</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展开上式得：</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3-20</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由于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p>
                          <m:e>
                            <m:r>
                              <a:rPr lang="en-US" altLang="zh-CN" sz="1200" i="1" kern="1200">
                                <a:solidFill>
                                  <a:schemeClr val="tx1"/>
                                </a:solidFill>
                                <a:effectLst/>
                                <a:latin typeface="Cambria Math" panose="02040503050406030204" pitchFamily="18" charset="0"/>
                                <a:ea typeface="+mn-ea"/>
                                <a:cs typeface="+mn-cs"/>
                              </a:rPr>
                              <m:t>𝑇</m:t>
                            </m:r>
                          </m:e>
                        </m:sPre>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描述第</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个连杆相对于第</a:t>
                </a:r>
                <a:r>
                  <a:rPr lang="en-US" altLang="zh-CN" sz="1200" kern="1200" dirty="0">
                    <a:solidFill>
                      <a:schemeClr val="tx1"/>
                    </a:solidFill>
                    <a:effectLst/>
                    <a:latin typeface="+mn-lt"/>
                    <a:ea typeface="+mn-ea"/>
                    <a:cs typeface="+mn-cs"/>
                  </a:rPr>
                  <a:t>n-1</a:t>
                </a:r>
                <a:r>
                  <a:rPr lang="zh-CN" altLang="zh-CN" sz="1200" kern="1200" dirty="0">
                    <a:solidFill>
                      <a:schemeClr val="tx1"/>
                    </a:solidFill>
                    <a:effectLst/>
                    <a:latin typeface="+mn-lt"/>
                    <a:ea typeface="+mn-ea"/>
                    <a:cs typeface="+mn-cs"/>
                  </a:rPr>
                  <a:t>连杆的位姿，对于</a:t>
                </a:r>
                <a:r>
                  <a:rPr lang="en-US" altLang="zh-CN" sz="1200" kern="1200" dirty="0">
                    <a:solidFill>
                      <a:schemeClr val="tx1"/>
                    </a:solidFill>
                    <a:effectLst/>
                    <a:latin typeface="+mn-lt"/>
                    <a:ea typeface="+mn-ea"/>
                    <a:cs typeface="+mn-cs"/>
                  </a:rPr>
                  <a:t>SCARA</a:t>
                </a:r>
                <a:r>
                  <a:rPr lang="zh-CN" altLang="zh-CN" sz="1200" kern="1200" dirty="0">
                    <a:solidFill>
                      <a:schemeClr val="tx1"/>
                    </a:solidFill>
                    <a:effectLst/>
                    <a:latin typeface="+mn-lt"/>
                    <a:ea typeface="+mn-ea"/>
                    <a:cs typeface="+mn-cs"/>
                  </a:rPr>
                  <a:t>教学机器人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四个自由度</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，机器人的末端装置即为连杆</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的坐标系，它与基座的关系为</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zh-CN" altLang="en-US" dirty="0"/>
              </a:p>
            </p:txBody>
          </p:sp>
        </mc:Choice>
        <mc:Fallback xmlns="">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SCARA</a:t>
                </a:r>
                <a:r>
                  <a:rPr lang="zh-CN" altLang="zh-CN" sz="1200" kern="1200" dirty="0" smtClean="0">
                    <a:solidFill>
                      <a:schemeClr val="tx1"/>
                    </a:solidFill>
                    <a:effectLst/>
                    <a:latin typeface="+mn-lt"/>
                    <a:ea typeface="+mn-ea"/>
                    <a:cs typeface="+mn-cs"/>
                  </a:rPr>
                  <a:t>型机器人操作臂可以看作是一个开式运动链。它是由一系列连杆通过转动或移动关节串联而成的。为了研究操作臂各连杆之间的位移关系，可在每个连杆上固接一个坐标系，然后描述这些坐标系之间的关系。</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SCARA</a:t>
                </a:r>
                <a:r>
                  <a:rPr lang="zh-CN" altLang="zh-CN" sz="1200" kern="1200" dirty="0">
                    <a:solidFill>
                      <a:schemeClr val="tx1"/>
                    </a:solidFill>
                    <a:effectLst/>
                    <a:latin typeface="+mn-lt"/>
                    <a:ea typeface="+mn-ea"/>
                    <a:cs typeface="+mn-cs"/>
                  </a:rPr>
                  <a:t>机器人坐标系建立原则根据</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坐标系建立方法，</a:t>
                </a:r>
                <a:r>
                  <a:rPr lang="en-US" altLang="zh-CN" sz="1200" kern="1200" dirty="0">
                    <a:solidFill>
                      <a:schemeClr val="tx1"/>
                    </a:solidFill>
                    <a:effectLst/>
                    <a:latin typeface="+mn-lt"/>
                    <a:ea typeface="+mn-ea"/>
                    <a:cs typeface="+mn-cs"/>
                  </a:rPr>
                  <a:t>SCARA</a:t>
                </a:r>
                <a:r>
                  <a:rPr lang="zh-CN" altLang="zh-CN" sz="1200" kern="1200" dirty="0">
                    <a:solidFill>
                      <a:schemeClr val="tx1"/>
                    </a:solidFill>
                    <a:effectLst/>
                    <a:latin typeface="+mn-lt"/>
                    <a:ea typeface="+mn-ea"/>
                    <a:cs typeface="+mn-cs"/>
                  </a:rPr>
                  <a:t>机器人的每个关节坐标系的建立可参照以下的三原则：</a:t>
                </a:r>
              </a:p>
              <a:p>
                <a:r>
                  <a:rPr lang="en-US" altLang="zh-CN" sz="1200" kern="1200" dirty="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轴沿着第</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个关节的运动轴</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基坐标系的选择为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当第一关节变量为零时，零坐标系与一坐标系重合。</a:t>
                </a:r>
              </a:p>
              <a:p>
                <a:r>
                  <a:rPr lang="en-US" altLang="zh-CN" sz="1200" kern="1200" dirty="0">
                    <a:solidFill>
                      <a:schemeClr val="tx1"/>
                    </a:solidFill>
                    <a:effectLst/>
                    <a:latin typeface="+mn-lt"/>
                    <a:ea typeface="+mn-ea"/>
                    <a:cs typeface="+mn-cs"/>
                  </a:rPr>
                  <a:t>(2)</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轴垂直于</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轴并指向离开</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轴的方向。</a:t>
                </a:r>
              </a:p>
              <a:p>
                <a:r>
                  <a:rPr lang="en-US" altLang="zh-CN" sz="1200" kern="1200" dirty="0">
                    <a:solidFill>
                      <a:schemeClr val="tx1"/>
                    </a:solidFill>
                    <a:effectLst/>
                    <a:latin typeface="+mn-lt"/>
                    <a:ea typeface="+mn-ea"/>
                    <a:cs typeface="+mn-cs"/>
                  </a:rPr>
                  <a:t>(3)</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轴的方向按右手定则确定。</a:t>
                </a:r>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）构件参数的确定根据</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表示法，构件本身的结构参数</a:t>
                </a:r>
                <a:r>
                  <a:rPr lang="en-US" altLang="zh-CN" sz="1200" i="0" kern="1200">
                    <a:solidFill>
                      <a:schemeClr val="tx1"/>
                    </a:solidFill>
                    <a:effectLst/>
                    <a:latin typeface="+mn-lt"/>
                    <a:ea typeface="+mn-ea"/>
                    <a:cs typeface="+mn-cs"/>
                  </a:rPr>
                  <a:t>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和相对位置参数</a:t>
                </a:r>
                <a:r>
                  <a:rPr lang="en-US" altLang="zh-CN" sz="1200" i="0" kern="1200">
                    <a:solidFill>
                      <a:schemeClr val="tx1"/>
                    </a:solidFill>
                    <a:effectLst/>
                    <a:latin typeface="+mn-lt"/>
                    <a:ea typeface="+mn-ea"/>
                    <a:cs typeface="+mn-cs"/>
                  </a:rPr>
                  <a:t>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可由以下的方法确定</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为绕</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轴</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按右手定则</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由</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轴到</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轴的关节角。</a:t>
                </a:r>
              </a:p>
              <a:p>
                <a:r>
                  <a:rPr lang="en-US" altLang="zh-CN" sz="1200" kern="1200" dirty="0">
                    <a:solidFill>
                      <a:schemeClr val="tx1"/>
                    </a:solidFill>
                    <a:effectLst/>
                    <a:latin typeface="+mn-lt"/>
                    <a:ea typeface="+mn-ea"/>
                    <a:cs typeface="+mn-cs"/>
                  </a:rPr>
                  <a:t>(2)</a:t>
                </a:r>
                <a:r>
                  <a:rPr lang="en-US" altLang="zh-CN" sz="1200" i="0" kern="1200">
                    <a:solidFill>
                      <a:schemeClr val="tx1"/>
                    </a:solidFill>
                    <a:effectLst/>
                    <a:latin typeface="+mn-lt"/>
                    <a:ea typeface="+mn-ea"/>
                    <a:cs typeface="+mn-cs"/>
                  </a:rPr>
                  <a:t>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为沿</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轴，将</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轴平移至</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轴的距离。</a:t>
                </a:r>
              </a:p>
              <a:p>
                <a:r>
                  <a:rPr lang="en-US" altLang="zh-CN" sz="1200" kern="1200" dirty="0">
                    <a:solidFill>
                      <a:schemeClr val="tx1"/>
                    </a:solidFill>
                    <a:effectLst/>
                    <a:latin typeface="+mn-lt"/>
                    <a:ea typeface="+mn-ea"/>
                    <a:cs typeface="+mn-cs"/>
                  </a:rPr>
                  <a:t>(3)</a:t>
                </a:r>
                <a:r>
                  <a:rPr lang="en-US" altLang="zh-CN" sz="1200" i="0" kern="1200">
                    <a:solidFill>
                      <a:schemeClr val="tx1"/>
                    </a:solidFill>
                    <a:effectLst/>
                    <a:latin typeface="+mn-lt"/>
                    <a:ea typeface="+mn-ea"/>
                    <a:cs typeface="+mn-cs"/>
                  </a:rPr>
                  <a:t>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为沿</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轴从</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量至</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轴的距离。</a:t>
                </a:r>
              </a:p>
              <a:p>
                <a:r>
                  <a:rPr lang="en-US" altLang="zh-CN" sz="1200" kern="1200" dirty="0">
                    <a:solidFill>
                      <a:schemeClr val="tx1"/>
                    </a:solidFill>
                    <a:effectLst/>
                    <a:latin typeface="+mn-lt"/>
                    <a:ea typeface="+mn-ea"/>
                    <a:cs typeface="+mn-cs"/>
                  </a:rPr>
                  <a:t>(4)</a:t>
                </a:r>
                <a:r>
                  <a:rPr lang="en-US" altLang="zh-CN" sz="1200" i="0" kern="1200">
                    <a:solidFill>
                      <a:schemeClr val="tx1"/>
                    </a:solidFill>
                    <a:effectLst/>
                    <a:latin typeface="+mn-lt"/>
                    <a:ea typeface="+mn-ea"/>
                    <a:cs typeface="+mn-cs"/>
                  </a:rPr>
                  <a:t>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为绕</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轴</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按右手定则</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由</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轴到</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轴的偏转角。</a:t>
                </a:r>
              </a:p>
              <a:p>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）变换矩阵的建立全部的连杆规定坐标系之后，就可以按照下列的顺序来建立相邻两连杆</a:t>
                </a:r>
                <a:r>
                  <a:rPr lang="en-US" altLang="zh-CN" sz="1200" kern="1200" dirty="0">
                    <a:solidFill>
                      <a:schemeClr val="tx1"/>
                    </a:solidFill>
                    <a:effectLst/>
                    <a:latin typeface="+mn-lt"/>
                    <a:ea typeface="+mn-ea"/>
                    <a:cs typeface="+mn-cs"/>
                  </a:rPr>
                  <a:t>n-1</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之间的相对关系</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绕</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轴转</a:t>
                </a:r>
                <a:r>
                  <a:rPr lang="en-US" altLang="zh-CN" sz="1200" i="0" kern="1200">
                    <a:solidFill>
                      <a:schemeClr val="tx1"/>
                    </a:solidFill>
                    <a:effectLst/>
                    <a:latin typeface="+mn-lt"/>
                    <a:ea typeface="+mn-ea"/>
                    <a:cs typeface="+mn-cs"/>
                  </a:rPr>
                  <a:t>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角。</a:t>
                </a:r>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沿</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轴移动</a:t>
                </a:r>
                <a:r>
                  <a:rPr lang="en-US" altLang="zh-CN" sz="1200" i="0" kern="1200">
                    <a:solidFill>
                      <a:schemeClr val="tx1"/>
                    </a:solidFill>
                    <a:effectLst/>
                    <a:latin typeface="+mn-lt"/>
                    <a:ea typeface="+mn-ea"/>
                    <a:cs typeface="+mn-cs"/>
                  </a:rPr>
                  <a:t>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绕</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轴转</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角。</a:t>
                </a:r>
              </a:p>
              <a:p>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沿</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轴移动</a:t>
                </a:r>
                <a:r>
                  <a:rPr lang="en-US" altLang="zh-CN" sz="1200" i="0" kern="1200">
                    <a:solidFill>
                      <a:schemeClr val="tx1"/>
                    </a:solidFill>
                    <a:effectLst/>
                    <a:latin typeface="+mn-lt"/>
                    <a:ea typeface="+mn-ea"/>
                    <a:cs typeface="+mn-cs"/>
                  </a:rPr>
                  <a:t>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这种关系可由表示连杆</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对连杆</a:t>
                </a:r>
                <a:r>
                  <a:rPr lang="en-US" altLang="zh-CN" sz="1200" kern="1200" dirty="0">
                    <a:solidFill>
                      <a:schemeClr val="tx1"/>
                    </a:solidFill>
                    <a:effectLst/>
                    <a:latin typeface="+mn-lt"/>
                    <a:ea typeface="+mn-ea"/>
                    <a:cs typeface="+mn-cs"/>
                  </a:rPr>
                  <a:t>n-1</a:t>
                </a:r>
                <a:r>
                  <a:rPr lang="zh-CN" altLang="zh-CN" sz="1200" kern="1200" dirty="0">
                    <a:solidFill>
                      <a:schemeClr val="tx1"/>
                    </a:solidFill>
                    <a:effectLst/>
                    <a:latin typeface="+mn-lt"/>
                    <a:ea typeface="+mn-ea"/>
                    <a:cs typeface="+mn-cs"/>
                  </a:rPr>
                  <a:t>相对位置齐次变换</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来表征。即：</a:t>
                </a:r>
              </a:p>
              <a:p>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𝑛=𝑅𝑜𝑡(𝑥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)∙𝑇𝑟𝑎𝑛(𝑥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)∙𝑅𝑜𝑡(𝑧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𝑛)∙𝑇𝑟𝑎𝑛𝑠(𝑧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展开上式得：</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3-20</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由于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描述第</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个连杆相对于第</a:t>
                </a:r>
                <a:r>
                  <a:rPr lang="en-US" altLang="zh-CN" sz="1200" kern="1200" dirty="0">
                    <a:solidFill>
                      <a:schemeClr val="tx1"/>
                    </a:solidFill>
                    <a:effectLst/>
                    <a:latin typeface="+mn-lt"/>
                    <a:ea typeface="+mn-ea"/>
                    <a:cs typeface="+mn-cs"/>
                  </a:rPr>
                  <a:t>n-1</a:t>
                </a:r>
                <a:r>
                  <a:rPr lang="zh-CN" altLang="zh-CN" sz="1200" kern="1200" dirty="0">
                    <a:solidFill>
                      <a:schemeClr val="tx1"/>
                    </a:solidFill>
                    <a:effectLst/>
                    <a:latin typeface="+mn-lt"/>
                    <a:ea typeface="+mn-ea"/>
                    <a:cs typeface="+mn-cs"/>
                  </a:rPr>
                  <a:t>连杆的位姿，对于</a:t>
                </a:r>
                <a:r>
                  <a:rPr lang="en-US" altLang="zh-CN" sz="1200" kern="1200" dirty="0">
                    <a:solidFill>
                      <a:schemeClr val="tx1"/>
                    </a:solidFill>
                    <a:effectLst/>
                    <a:latin typeface="+mn-lt"/>
                    <a:ea typeface="+mn-ea"/>
                    <a:cs typeface="+mn-cs"/>
                  </a:rPr>
                  <a:t>SCARA</a:t>
                </a:r>
                <a:r>
                  <a:rPr lang="zh-CN" altLang="zh-CN" sz="1200" kern="1200" dirty="0">
                    <a:solidFill>
                      <a:schemeClr val="tx1"/>
                    </a:solidFill>
                    <a:effectLst/>
                    <a:latin typeface="+mn-lt"/>
                    <a:ea typeface="+mn-ea"/>
                    <a:cs typeface="+mn-cs"/>
                  </a:rPr>
                  <a:t>教学机器人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四个自由度</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，机器人的末端装置即为连杆</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的坐标系，它与基座的关系为</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27</a:t>
            </a:fld>
            <a:endParaRPr lang="zh-CN" altLang="en-US"/>
          </a:p>
        </p:txBody>
      </p:sp>
    </p:spTree>
    <p:extLst>
      <p:ext uri="{BB962C8B-B14F-4D97-AF65-F5344CB8AC3E}">
        <p14:creationId xmlns:p14="http://schemas.microsoft.com/office/powerpoint/2010/main" val="10825129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MDH</a:t>
            </a:r>
            <a:r>
              <a:rPr lang="zh-CN" altLang="zh-CN" sz="1200" kern="1200" dirty="0" smtClean="0">
                <a:solidFill>
                  <a:schemeClr val="tx1"/>
                </a:solidFill>
                <a:effectLst/>
                <a:latin typeface="+mn-lt"/>
                <a:ea typeface="+mn-ea"/>
                <a:cs typeface="+mn-cs"/>
              </a:rPr>
              <a:t>参数表，写出相应的</a:t>
            </a:r>
            <a:r>
              <a:rPr lang="en-US" altLang="zh-CN" sz="1200" kern="1200" dirty="0" smtClean="0">
                <a:solidFill>
                  <a:schemeClr val="tx1"/>
                </a:solidFill>
                <a:effectLst/>
                <a:latin typeface="+mn-lt"/>
                <a:ea typeface="+mn-ea"/>
                <a:cs typeface="+mn-cs"/>
              </a:rPr>
              <a:t>T</a:t>
            </a:r>
            <a:r>
              <a:rPr lang="zh-CN" altLang="zh-CN" sz="1200" kern="1200" dirty="0" smtClean="0">
                <a:solidFill>
                  <a:schemeClr val="tx1"/>
                </a:solidFill>
                <a:effectLst/>
                <a:latin typeface="+mn-lt"/>
                <a:ea typeface="+mn-ea"/>
                <a:cs typeface="+mn-cs"/>
              </a:rPr>
              <a:t>矩阵</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28</a:t>
            </a:fld>
            <a:endParaRPr lang="zh-CN" altLang="en-US"/>
          </a:p>
        </p:txBody>
      </p:sp>
    </p:spTree>
    <p:extLst>
      <p:ext uri="{BB962C8B-B14F-4D97-AF65-F5344CB8AC3E}">
        <p14:creationId xmlns:p14="http://schemas.microsoft.com/office/powerpoint/2010/main" val="25107219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29</a:t>
            </a:fld>
            <a:endParaRPr lang="zh-CN" altLang="en-US"/>
          </a:p>
        </p:txBody>
      </p:sp>
    </p:spTree>
    <p:extLst>
      <p:ext uri="{BB962C8B-B14F-4D97-AF65-F5344CB8AC3E}">
        <p14:creationId xmlns:p14="http://schemas.microsoft.com/office/powerpoint/2010/main" val="39938733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lvl="0"/>
                <a:r>
                  <a:rPr lang="zh-CN" altLang="zh-CN" sz="1200" kern="1200" dirty="0" smtClean="0">
                    <a:solidFill>
                      <a:schemeClr val="tx1"/>
                    </a:solidFill>
                    <a:effectLst/>
                    <a:latin typeface="+mn-lt"/>
                    <a:ea typeface="+mn-ea"/>
                    <a:cs typeface="+mn-cs"/>
                  </a:rPr>
                  <a:t>求关节变量</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oMath>
                </a14:m>
                <a:endParaRPr lang="zh-CN" altLang="zh-CN" sz="1200" kern="1200" dirty="0">
                  <a:solidFill>
                    <a:schemeClr val="tx1"/>
                  </a:solidFill>
                  <a:effectLst/>
                  <a:latin typeface="+mn-lt"/>
                  <a:ea typeface="+mn-ea"/>
                  <a:cs typeface="+mn-cs"/>
                </a:endParaRPr>
              </a:p>
              <a:p>
                <a:pPr fontAlgn="ctr"/>
                <a:r>
                  <a:rPr lang="zh-CN" altLang="zh-CN" sz="1200" kern="1200" dirty="0">
                    <a:solidFill>
                      <a:schemeClr val="tx1"/>
                    </a:solidFill>
                    <a:effectLst/>
                    <a:latin typeface="+mn-lt"/>
                    <a:ea typeface="+mn-ea"/>
                    <a:cs typeface="+mn-cs"/>
                  </a:rPr>
                  <a:t>为了分离变量，对方程</a:t>
                </a:r>
                <a:r>
                  <a:rPr lang="en-US" altLang="zh-CN" sz="1200" kern="1200" dirty="0">
                    <a:solidFill>
                      <a:schemeClr val="tx1"/>
                    </a:solidFill>
                    <a:effectLst/>
                    <a:latin typeface="+mn-lt"/>
                    <a:ea typeface="+mn-ea"/>
                    <a:cs typeface="+mn-cs"/>
                  </a:rPr>
                  <a:t>(3-21)</a:t>
                </a:r>
                <a:r>
                  <a:rPr lang="zh-CN" altLang="zh-CN" sz="1200" kern="1200" dirty="0">
                    <a:solidFill>
                      <a:schemeClr val="tx1"/>
                    </a:solidFill>
                    <a:effectLst/>
                    <a:latin typeface="+mn-lt"/>
                    <a:ea typeface="+mn-ea"/>
                    <a:cs typeface="+mn-cs"/>
                  </a:rPr>
                  <a:t>的两边同时左乘</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得：</a:t>
                </a:r>
              </a:p>
              <a:p>
                <a:r>
                  <a:rPr lang="zh-CN" altLang="zh-CN" sz="1200" kern="1200" dirty="0">
                    <a:solidFill>
                      <a:schemeClr val="tx1"/>
                    </a:solidFill>
                    <a:effectLst/>
                    <a:latin typeface="+mn-lt"/>
                    <a:ea typeface="+mn-ea"/>
                    <a:cs typeface="+mn-cs"/>
                  </a:rPr>
                  <a:t>即：</a:t>
                </a:r>
              </a:p>
              <a:p>
                <a:r>
                  <a:rPr lang="zh-CN" altLang="zh-CN" sz="1200" kern="1200" dirty="0">
                    <a:solidFill>
                      <a:schemeClr val="tx1"/>
                    </a:solidFill>
                    <a:effectLst/>
                    <a:latin typeface="+mn-lt"/>
                    <a:ea typeface="+mn-ea"/>
                    <a:cs typeface="+mn-cs"/>
                  </a:rPr>
                  <a:t>观察左右两边矩阵第一行第四个元素</a:t>
                </a:r>
                <a:r>
                  <a:rPr lang="en-US" altLang="zh-CN" sz="1200" kern="1200" dirty="0">
                    <a:solidFill>
                      <a:schemeClr val="tx1"/>
                    </a:solidFill>
                    <a:effectLst/>
                    <a:latin typeface="+mn-lt"/>
                    <a:ea typeface="+mn-ea"/>
                    <a:cs typeface="+mn-cs"/>
                  </a:rPr>
                  <a:t>(1.4)</a:t>
                </a:r>
                <a:r>
                  <a:rPr lang="zh-CN" altLang="zh-CN" sz="1200" kern="1200" dirty="0">
                    <a:solidFill>
                      <a:schemeClr val="tx1"/>
                    </a:solidFill>
                    <a:effectLst/>
                    <a:latin typeface="+mn-lt"/>
                    <a:ea typeface="+mn-ea"/>
                    <a:cs typeface="+mn-cs"/>
                  </a:rPr>
                  <a:t>以及第二行第四个元素</a:t>
                </a:r>
                <a:r>
                  <a:rPr lang="en-US" altLang="zh-CN" sz="1200" kern="1200" dirty="0">
                    <a:solidFill>
                      <a:schemeClr val="tx1"/>
                    </a:solidFill>
                    <a:effectLst/>
                    <a:latin typeface="+mn-lt"/>
                    <a:ea typeface="+mn-ea"/>
                    <a:cs typeface="+mn-cs"/>
                  </a:rPr>
                  <a:t>(2.4)</a:t>
                </a:r>
                <a:r>
                  <a:rPr lang="zh-CN" altLang="zh-CN" sz="1200" kern="1200" dirty="0">
                    <a:solidFill>
                      <a:schemeClr val="tx1"/>
                    </a:solidFill>
                    <a:effectLst/>
                    <a:latin typeface="+mn-lt"/>
                    <a:ea typeface="+mn-ea"/>
                    <a:cs typeface="+mn-cs"/>
                  </a:rPr>
                  <a:t>，它们分别应相等。即：</a:t>
                </a:r>
              </a:p>
              <a:p>
                <a:r>
                  <a:rPr lang="en-US" altLang="zh-CN" sz="1200" kern="1200" dirty="0">
                    <a:solidFill>
                      <a:schemeClr val="tx1"/>
                    </a:solidFill>
                    <a:effectLst/>
                    <a:latin typeface="+mn-lt"/>
                    <a:ea typeface="+mn-ea"/>
                    <a:cs typeface="+mn-cs"/>
                  </a:rPr>
                  <a:t> (3-22)</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由</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m:rPr>
                            <m:sty m:val="p"/>
                          </m:rPr>
                          <a:rPr lang="en-US" altLang="zh-CN" sz="1200" kern="1200">
                            <a:solidFill>
                              <a:schemeClr val="tx1"/>
                            </a:solidFill>
                            <a:effectLst/>
                            <a:latin typeface="Cambria Math" panose="02040503050406030204" pitchFamily="18" charset="0"/>
                            <a:ea typeface="+mn-ea"/>
                            <a:cs typeface="+mn-cs"/>
                          </a:rPr>
                          <m:t>sin</m:t>
                        </m:r>
                      </m:e>
                      <m:sup>
                        <m:r>
                          <a:rPr lang="en-US" altLang="zh-CN" sz="1200" i="1" kern="1200">
                            <a:solidFill>
                              <a:schemeClr val="tx1"/>
                            </a:solidFill>
                            <a:effectLst/>
                            <a:latin typeface="Cambria Math" panose="02040503050406030204" pitchFamily="18" charset="0"/>
                            <a:ea typeface="+mn-ea"/>
                            <a:cs typeface="+mn-cs"/>
                          </a:rPr>
                          <m:t>2</m:t>
                        </m:r>
                      </m:sup>
                    </m:sSup>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m:rPr>
                            <m:sty m:val="p"/>
                          </m:rPr>
                          <a:rPr lang="en-US" altLang="zh-CN" sz="1200" kern="1200">
                            <a:solidFill>
                              <a:schemeClr val="tx1"/>
                            </a:solidFill>
                            <a:effectLst/>
                            <a:latin typeface="Cambria Math" panose="02040503050406030204" pitchFamily="18" charset="0"/>
                            <a:ea typeface="+mn-ea"/>
                            <a:cs typeface="+mn-cs"/>
                          </a:rPr>
                          <m:t>cos</m:t>
                        </m:r>
                      </m:e>
                      <m:sup>
                        <m:r>
                          <a:rPr lang="en-US" altLang="zh-CN" sz="1200" i="1" kern="1200">
                            <a:solidFill>
                              <a:schemeClr val="tx1"/>
                            </a:solidFill>
                            <a:effectLst/>
                            <a:latin typeface="Cambria Math" panose="02040503050406030204" pitchFamily="18" charset="0"/>
                            <a:ea typeface="+mn-ea"/>
                            <a:cs typeface="+mn-cs"/>
                          </a:rPr>
                          <m:t>2</m:t>
                        </m:r>
                      </m:sup>
                    </m:sSup>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=1</m:t>
                    </m:r>
                  </m:oMath>
                </a14:m>
                <a:r>
                  <a:rPr lang="zh-CN" altLang="zh-CN" sz="1200" kern="1200" dirty="0">
                    <a:solidFill>
                      <a:schemeClr val="tx1"/>
                    </a:solidFill>
                    <a:effectLst/>
                    <a:latin typeface="+mn-lt"/>
                    <a:ea typeface="+mn-ea"/>
                    <a:cs typeface="+mn-cs"/>
                  </a:rPr>
                  <a:t>，联立上面两式可得：</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𝑥</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𝑠𝑖𝑛</m:t>
                          </m:r>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𝑦</m:t>
                          </m:r>
                        </m:sub>
                      </m:sSub>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𝑙</m:t>
                                  </m:r>
                                </m:e>
                                <m:sub>
                                  <m:r>
                                    <a:rPr lang="en-US" altLang="zh-CN" sz="1200" i="1" kern="1200">
                                      <a:solidFill>
                                        <a:schemeClr val="tx1"/>
                                      </a:solidFill>
                                      <a:effectLst/>
                                      <a:latin typeface="Cambria Math" panose="02040503050406030204" pitchFamily="18" charset="0"/>
                                      <a:ea typeface="+mn-ea"/>
                                      <a:cs typeface="+mn-cs"/>
                                    </a:rPr>
                                    <m:t>1</m:t>
                                  </m:r>
                                </m:sub>
                              </m:sSub>
                            </m:e>
                            <m:sup>
                              <m:r>
                                <a:rPr lang="en-US" altLang="zh-CN" sz="1200" i="1" kern="1200">
                                  <a:solidFill>
                                    <a:schemeClr val="tx1"/>
                                  </a:solidFill>
                                  <a:effectLst/>
                                  <a:latin typeface="Cambria Math" panose="02040503050406030204" pitchFamily="18" charset="0"/>
                                  <a:ea typeface="+mn-ea"/>
                                  <a:cs typeface="+mn-cs"/>
                                </a:rPr>
                                <m:t>2</m:t>
                              </m:r>
                            </m:sup>
                          </m:sSup>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𝑙</m:t>
                                  </m:r>
                                </m:e>
                                <m:sub>
                                  <m:r>
                                    <a:rPr lang="en-US" altLang="zh-CN" sz="1200" i="1" kern="1200">
                                      <a:solidFill>
                                        <a:schemeClr val="tx1"/>
                                      </a:solidFill>
                                      <a:effectLst/>
                                      <a:latin typeface="Cambria Math" panose="02040503050406030204" pitchFamily="18" charset="0"/>
                                      <a:ea typeface="+mn-ea"/>
                                      <a:cs typeface="+mn-cs"/>
                                    </a:rPr>
                                    <m:t>2</m:t>
                                  </m:r>
                                </m:sub>
                              </m:sSub>
                            </m:e>
                            <m:sup>
                              <m:r>
                                <a:rPr lang="en-US" altLang="zh-CN" sz="1200" i="1" kern="1200">
                                  <a:solidFill>
                                    <a:schemeClr val="tx1"/>
                                  </a:solidFill>
                                  <a:effectLst/>
                                  <a:latin typeface="Cambria Math" panose="02040503050406030204" pitchFamily="18" charset="0"/>
                                  <a:ea typeface="+mn-ea"/>
                                  <a:cs typeface="+mn-cs"/>
                                </a:rPr>
                                <m:t>2</m:t>
                              </m:r>
                            </m:sup>
                          </m:sSup>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𝑥</m:t>
                                  </m:r>
                                </m:sub>
                              </m:sSub>
                            </m:e>
                            <m:sup>
                              <m:r>
                                <a:rPr lang="en-US" altLang="zh-CN" sz="1200" i="1" kern="1200">
                                  <a:solidFill>
                                    <a:schemeClr val="tx1"/>
                                  </a:solidFill>
                                  <a:effectLst/>
                                  <a:latin typeface="Cambria Math" panose="02040503050406030204" pitchFamily="18" charset="0"/>
                                  <a:ea typeface="+mn-ea"/>
                                  <a:cs typeface="+mn-cs"/>
                                </a:rPr>
                                <m:t>2</m:t>
                              </m:r>
                            </m:sup>
                          </m:sSup>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𝑦</m:t>
                                  </m:r>
                                </m:sub>
                              </m:sSub>
                            </m:e>
                            <m:sup>
                              <m:r>
                                <a:rPr lang="en-US" altLang="zh-CN" sz="1200" i="1" kern="1200">
                                  <a:solidFill>
                                    <a:schemeClr val="tx1"/>
                                  </a:solidFill>
                                  <a:effectLst/>
                                  <a:latin typeface="Cambria Math" panose="02040503050406030204" pitchFamily="18" charset="0"/>
                                  <a:ea typeface="+mn-ea"/>
                                  <a:cs typeface="+mn-cs"/>
                                </a:rPr>
                                <m:t>2</m:t>
                              </m:r>
                            </m:sup>
                          </m:sSup>
                        </m:num>
                        <m:den>
                          <m:r>
                            <a:rPr lang="en-US" altLang="zh-CN" sz="1200" i="1" kern="1200">
                              <a:solidFill>
                                <a:schemeClr val="tx1"/>
                              </a:solidFill>
                              <a:effectLst/>
                              <a:latin typeface="Cambria Math" panose="02040503050406030204" pitchFamily="18" charset="0"/>
                              <a:ea typeface="+mn-ea"/>
                              <a:cs typeface="+mn-cs"/>
                            </a:rPr>
                            <m:t>2</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𝑙</m:t>
                              </m:r>
                            </m:e>
                            <m:sub>
                              <m:r>
                                <a:rPr lang="en-US" altLang="zh-CN" sz="1200" i="1" kern="1200">
                                  <a:solidFill>
                                    <a:schemeClr val="tx1"/>
                                  </a:solidFill>
                                  <a:effectLst/>
                                  <a:latin typeface="Cambria Math" panose="02040503050406030204" pitchFamily="18" charset="0"/>
                                  <a:ea typeface="+mn-ea"/>
                                  <a:cs typeface="+mn-cs"/>
                                </a:rPr>
                                <m:t>1</m:t>
                              </m:r>
                            </m:sub>
                          </m:sSub>
                        </m:den>
                      </m:f>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求解这类方程，可将上式表达为两角和差的一般形式</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𝑚𝑐𝑜</m:t>
                    </m:r>
                    <m:r>
                      <m:rPr>
                        <m:sty m:val="p"/>
                      </m:rPr>
                      <a:rPr lang="en-US" altLang="zh-CN" sz="1200" kern="1200">
                        <a:solidFill>
                          <a:schemeClr val="tx1"/>
                        </a:solidFill>
                        <a:effectLst/>
                        <a:latin typeface="Cambria Math" panose="02040503050406030204" pitchFamily="18" charset="0"/>
                        <a:ea typeface="+mn-ea"/>
                        <a:cs typeface="+mn-cs"/>
                      </a:rPr>
                      <m:t>s</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𝑛𝑠𝑖𝑛</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𝑑</m:t>
                    </m:r>
                  </m:oMath>
                </a14:m>
                <a:r>
                  <a:rPr lang="zh-CN" altLang="zh-CN" sz="1200" kern="1200" dirty="0">
                    <a:solidFill>
                      <a:schemeClr val="tx1"/>
                    </a:solidFill>
                    <a:effectLst/>
                    <a:latin typeface="+mn-lt"/>
                    <a:ea typeface="+mn-ea"/>
                    <a:cs typeface="+mn-cs"/>
                  </a:rPr>
                  <a:t>，使用三角代换，其中：</a:t>
                </a: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𝑚</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𝑟𝑐𝑜𝑠</m:t>
                    </m:r>
                    <m:r>
                      <a:rPr lang="en-US" altLang="zh-CN" sz="1200" i="1" kern="1200">
                        <a:solidFill>
                          <a:schemeClr val="tx1"/>
                        </a:solidFill>
                        <a:effectLst/>
                        <a:latin typeface="Cambria Math" panose="02040503050406030204" pitchFamily="18" charset="0"/>
                        <a:ea typeface="+mn-ea"/>
                        <a:cs typeface="+mn-cs"/>
                      </a:rPr>
                      <m:t>𝜑</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𝑥</m:t>
                        </m:r>
                      </m:sub>
                    </m:sSub>
                  </m:oMath>
                </a14:m>
                <a:r>
                  <a:rPr lang="zh-CN"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𝑟𝑠𝑖𝑛</m:t>
                    </m:r>
                    <m:r>
                      <a:rPr lang="en-US" altLang="zh-CN" sz="1200" i="1" kern="1200">
                        <a:solidFill>
                          <a:schemeClr val="tx1"/>
                        </a:solidFill>
                        <a:effectLst/>
                        <a:latin typeface="Cambria Math" panose="02040503050406030204" pitchFamily="18" charset="0"/>
                        <a:ea typeface="+mn-ea"/>
                        <a:cs typeface="+mn-cs"/>
                      </a:rPr>
                      <m:t>𝜑</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𝑦</m:t>
                        </m:r>
                      </m:sub>
                    </m:sSub>
                  </m:oMath>
                </a14:m>
                <a:r>
                  <a:rPr lang="zh-CN"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𝜑</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𝑎𝑟𝑐𝑡𝑎𝑛</m:t>
                    </m:r>
                    <m:f>
                      <m:fPr>
                        <m:ctrlPr>
                          <a:rPr lang="zh-CN" altLang="zh-CN" sz="1200" i="1" kern="1200">
                            <a:solidFill>
                              <a:schemeClr val="tx1"/>
                            </a:solidFill>
                            <a:effectLst/>
                            <a:latin typeface="Cambria Math" panose="02040503050406030204" pitchFamily="18" charset="0"/>
                            <a:ea typeface="+mn-ea"/>
                            <a:cs typeface="+mn-cs"/>
                          </a:rPr>
                        </m:ctrlPr>
                      </m:fPr>
                      <m:num>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𝑦</m:t>
                            </m:r>
                          </m:sub>
                        </m:sSub>
                      </m:num>
                      <m:den>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𝑥</m:t>
                            </m:r>
                          </m:sub>
                        </m:sSub>
                      </m:den>
                    </m:f>
                  </m:oMath>
                </a14:m>
                <a:r>
                  <a:rPr lang="zh-CN"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𝑟</m:t>
                    </m:r>
                    <m:r>
                      <a:rPr lang="en-US" altLang="zh-CN" sz="1200" i="1" kern="1200">
                        <a:solidFill>
                          <a:schemeClr val="tx1"/>
                        </a:solidFill>
                        <a:effectLst/>
                        <a:latin typeface="Cambria Math" panose="02040503050406030204" pitchFamily="18" charset="0"/>
                        <a:ea typeface="+mn-ea"/>
                        <a:cs typeface="+mn-cs"/>
                      </a:rPr>
                      <m:t>=</m:t>
                    </m:r>
                    <m:rad>
                      <m:radPr>
                        <m:degHide m:val="on"/>
                        <m:ctrlPr>
                          <a:rPr lang="zh-CN" altLang="zh-CN" sz="1200" i="1" kern="1200">
                            <a:solidFill>
                              <a:schemeClr val="tx1"/>
                            </a:solidFill>
                            <a:effectLst/>
                            <a:latin typeface="Cambria Math" panose="02040503050406030204" pitchFamily="18" charset="0"/>
                            <a:ea typeface="+mn-ea"/>
                            <a:cs typeface="+mn-cs"/>
                          </a:rPr>
                        </m:ctrlPr>
                      </m:radPr>
                      <m:deg/>
                      <m:e>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𝑚</m:t>
                            </m:r>
                          </m:e>
                          <m:sup>
                            <m:r>
                              <a:rPr lang="en-US" altLang="zh-CN" sz="1200" i="1" kern="1200">
                                <a:solidFill>
                                  <a:schemeClr val="tx1"/>
                                </a:solidFill>
                                <a:effectLst/>
                                <a:latin typeface="Cambria Math" panose="02040503050406030204" pitchFamily="18" charset="0"/>
                                <a:ea typeface="+mn-ea"/>
                                <a:cs typeface="+mn-cs"/>
                              </a:rPr>
                              <m:t>2</m:t>
                            </m:r>
                          </m:sup>
                        </m:sSup>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𝑛</m:t>
                            </m:r>
                          </m:e>
                          <m:sup>
                            <m:r>
                              <a:rPr lang="en-US" altLang="zh-CN" sz="1200" i="1" kern="1200">
                                <a:solidFill>
                                  <a:schemeClr val="tx1"/>
                                </a:solidFill>
                                <a:effectLst/>
                                <a:latin typeface="Cambria Math" panose="02040503050406030204" pitchFamily="18" charset="0"/>
                                <a:ea typeface="+mn-ea"/>
                                <a:cs typeface="+mn-cs"/>
                              </a:rPr>
                              <m:t>2</m:t>
                            </m:r>
                          </m:sup>
                        </m:sSup>
                      </m:e>
                    </m:rad>
                    <m:r>
                      <a:rPr lang="en-US" altLang="zh-CN" sz="1200" i="1" kern="1200">
                        <a:solidFill>
                          <a:schemeClr val="tx1"/>
                        </a:solidFill>
                        <a:effectLst/>
                        <a:latin typeface="Cambria Math" panose="02040503050406030204" pitchFamily="18" charset="0"/>
                        <a:ea typeface="+mn-ea"/>
                        <a:cs typeface="+mn-cs"/>
                      </a:rPr>
                      <m:t>=</m:t>
                    </m:r>
                    <m:rad>
                      <m:radPr>
                        <m:degHide m:val="on"/>
                        <m:ctrlPr>
                          <a:rPr lang="zh-CN" altLang="zh-CN" sz="1200" i="1" kern="1200">
                            <a:solidFill>
                              <a:schemeClr val="tx1"/>
                            </a:solidFill>
                            <a:effectLst/>
                            <a:latin typeface="Cambria Math" panose="02040503050406030204" pitchFamily="18" charset="0"/>
                            <a:ea typeface="+mn-ea"/>
                            <a:cs typeface="+mn-cs"/>
                          </a:rPr>
                        </m:ctrlPr>
                      </m:radPr>
                      <m:deg/>
                      <m:e>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𝑥</m:t>
                                </m:r>
                              </m:sub>
                            </m:sSub>
                          </m:e>
                          <m:sup>
                            <m:r>
                              <a:rPr lang="en-US" altLang="zh-CN" sz="1200" i="1" kern="1200">
                                <a:solidFill>
                                  <a:schemeClr val="tx1"/>
                                </a:solidFill>
                                <a:effectLst/>
                                <a:latin typeface="Cambria Math" panose="02040503050406030204" pitchFamily="18" charset="0"/>
                                <a:ea typeface="+mn-ea"/>
                                <a:cs typeface="+mn-cs"/>
                              </a:rPr>
                              <m:t>2</m:t>
                            </m:r>
                          </m:sup>
                        </m:sSup>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𝑦</m:t>
                                </m:r>
                              </m:sub>
                            </m:sSub>
                          </m:e>
                          <m:sup>
                            <m:r>
                              <a:rPr lang="en-US" altLang="zh-CN" sz="1200" i="1" kern="1200">
                                <a:solidFill>
                                  <a:schemeClr val="tx1"/>
                                </a:solidFill>
                                <a:effectLst/>
                                <a:latin typeface="Cambria Math" panose="02040503050406030204" pitchFamily="18" charset="0"/>
                                <a:ea typeface="+mn-ea"/>
                                <a:cs typeface="+mn-cs"/>
                              </a:rPr>
                              <m:t>2</m:t>
                            </m:r>
                          </m:sup>
                        </m:sSup>
                      </m:e>
                    </m:rad>
                  </m:oMath>
                </a14:m>
                <a:r>
                  <a:rPr lang="zh-CN"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𝑑</m:t>
                    </m:r>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𝑙</m:t>
                                </m:r>
                              </m:e>
                              <m:sub>
                                <m:r>
                                  <a:rPr lang="en-US" altLang="zh-CN" sz="1200" i="1" kern="1200">
                                    <a:solidFill>
                                      <a:schemeClr val="tx1"/>
                                    </a:solidFill>
                                    <a:effectLst/>
                                    <a:latin typeface="Cambria Math" panose="02040503050406030204" pitchFamily="18" charset="0"/>
                                    <a:ea typeface="+mn-ea"/>
                                    <a:cs typeface="+mn-cs"/>
                                  </a:rPr>
                                  <m:t>1</m:t>
                                </m:r>
                              </m:sub>
                            </m:sSub>
                          </m:e>
                          <m:sup>
                            <m:r>
                              <a:rPr lang="en-US" altLang="zh-CN" sz="1200" i="1" kern="1200">
                                <a:solidFill>
                                  <a:schemeClr val="tx1"/>
                                </a:solidFill>
                                <a:effectLst/>
                                <a:latin typeface="Cambria Math" panose="02040503050406030204" pitchFamily="18" charset="0"/>
                                <a:ea typeface="+mn-ea"/>
                                <a:cs typeface="+mn-cs"/>
                              </a:rPr>
                              <m:t>2</m:t>
                            </m:r>
                          </m:sup>
                        </m:sSup>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𝑙</m:t>
                                </m:r>
                              </m:e>
                              <m:sub>
                                <m:r>
                                  <a:rPr lang="en-US" altLang="zh-CN" sz="1200" i="1" kern="1200">
                                    <a:solidFill>
                                      <a:schemeClr val="tx1"/>
                                    </a:solidFill>
                                    <a:effectLst/>
                                    <a:latin typeface="Cambria Math" panose="02040503050406030204" pitchFamily="18" charset="0"/>
                                    <a:ea typeface="+mn-ea"/>
                                    <a:cs typeface="+mn-cs"/>
                                  </a:rPr>
                                  <m:t>2</m:t>
                                </m:r>
                              </m:sub>
                            </m:sSub>
                          </m:e>
                          <m:sup>
                            <m:r>
                              <a:rPr lang="en-US" altLang="zh-CN" sz="1200" i="1" kern="1200">
                                <a:solidFill>
                                  <a:schemeClr val="tx1"/>
                                </a:solidFill>
                                <a:effectLst/>
                                <a:latin typeface="Cambria Math" panose="02040503050406030204" pitchFamily="18" charset="0"/>
                                <a:ea typeface="+mn-ea"/>
                                <a:cs typeface="+mn-cs"/>
                              </a:rPr>
                              <m:t>2</m:t>
                            </m:r>
                          </m:sup>
                        </m:sSup>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𝑥</m:t>
                                </m:r>
                              </m:sub>
                            </m:sSub>
                          </m:e>
                          <m:sup>
                            <m:r>
                              <a:rPr lang="en-US" altLang="zh-CN" sz="1200" i="1" kern="1200">
                                <a:solidFill>
                                  <a:schemeClr val="tx1"/>
                                </a:solidFill>
                                <a:effectLst/>
                                <a:latin typeface="Cambria Math" panose="02040503050406030204" pitchFamily="18" charset="0"/>
                                <a:ea typeface="+mn-ea"/>
                                <a:cs typeface="+mn-cs"/>
                              </a:rPr>
                              <m:t>2</m:t>
                            </m:r>
                          </m:sup>
                        </m:sSup>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𝑦</m:t>
                                </m:r>
                              </m:sub>
                            </m:sSub>
                          </m:e>
                          <m:sup>
                            <m:r>
                              <a:rPr lang="en-US" altLang="zh-CN" sz="1200" i="1" kern="1200">
                                <a:solidFill>
                                  <a:schemeClr val="tx1"/>
                                </a:solidFill>
                                <a:effectLst/>
                                <a:latin typeface="Cambria Math" panose="02040503050406030204" pitchFamily="18" charset="0"/>
                                <a:ea typeface="+mn-ea"/>
                                <a:cs typeface="+mn-cs"/>
                              </a:rPr>
                              <m:t>2</m:t>
                            </m:r>
                          </m:sup>
                        </m:sSup>
                      </m:num>
                      <m:den>
                        <m:r>
                          <a:rPr lang="en-US" altLang="zh-CN" sz="1200" i="1" kern="1200">
                            <a:solidFill>
                              <a:schemeClr val="tx1"/>
                            </a:solidFill>
                            <a:effectLst/>
                            <a:latin typeface="Cambria Math" panose="02040503050406030204" pitchFamily="18" charset="0"/>
                            <a:ea typeface="+mn-ea"/>
                            <a:cs typeface="+mn-cs"/>
                          </a:rPr>
                          <m:t>2</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𝑙</m:t>
                            </m:r>
                          </m:e>
                          <m:sub>
                            <m:r>
                              <a:rPr lang="en-US" altLang="zh-CN" sz="1200" i="1" kern="1200">
                                <a:solidFill>
                                  <a:schemeClr val="tx1"/>
                                </a:solidFill>
                                <a:effectLst/>
                                <a:latin typeface="Cambria Math" panose="02040503050406030204" pitchFamily="18" charset="0"/>
                                <a:ea typeface="+mn-ea"/>
                                <a:cs typeface="+mn-cs"/>
                              </a:rPr>
                              <m:t>1</m:t>
                            </m:r>
                          </m:sub>
                        </m:sSub>
                      </m:den>
                    </m:f>
                  </m:oMath>
                </a14:m>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对于反正切函数，如果采用单参数</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𝑎𝑟𝑐𝑡𝑎𝑛</m:t>
                    </m:r>
                    <m:f>
                      <m:fPr>
                        <m:ctrlPr>
                          <a:rPr lang="zh-CN" altLang="zh-CN" sz="1200" i="1" kern="1200">
                            <a:solidFill>
                              <a:schemeClr val="tx1"/>
                            </a:solidFill>
                            <a:effectLst/>
                            <a:latin typeface="Cambria Math" panose="02040503050406030204" pitchFamily="18" charset="0"/>
                            <a:ea typeface="+mn-ea"/>
                            <a:cs typeface="+mn-cs"/>
                          </a:rPr>
                        </m:ctrlPr>
                      </m:fPr>
                      <m:num>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𝑦</m:t>
                            </m:r>
                          </m:sub>
                        </m:sSub>
                      </m:num>
                      <m:den>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𝑥</m:t>
                            </m:r>
                          </m:sub>
                        </m:sSub>
                      </m:den>
                    </m:f>
                  </m:oMath>
                </a14:m>
                <a:r>
                  <a:rPr lang="zh-CN" altLang="zh-CN" sz="1200" kern="1200" dirty="0">
                    <a:solidFill>
                      <a:schemeClr val="tx1"/>
                    </a:solidFill>
                    <a:effectLst/>
                    <a:latin typeface="+mn-lt"/>
                    <a:ea typeface="+mn-ea"/>
                    <a:cs typeface="+mn-cs"/>
                  </a:rPr>
                  <a:t>求解时，无法根据</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𝑦</m:t>
                        </m:r>
                      </m:sub>
                    </m:sSub>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𝑥</m:t>
                        </m:r>
                      </m:sub>
                    </m:sSub>
                  </m:oMath>
                </a14:m>
                <a:r>
                  <a:rPr lang="zh-CN" altLang="zh-CN" sz="1200" kern="1200" dirty="0">
                    <a:solidFill>
                      <a:schemeClr val="tx1"/>
                    </a:solidFill>
                    <a:effectLst/>
                    <a:latin typeface="+mn-lt"/>
                    <a:ea typeface="+mn-ea"/>
                    <a:cs typeface="+mn-cs"/>
                  </a:rPr>
                  <a:t>的符号判别所求得角度的象限，所以后面的公式中将采用求反正切函数</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𝑎𝑡𝑎𝑛</m:t>
                    </m:r>
                    <m:r>
                      <a:rPr lang="en-US" altLang="zh-CN" sz="1200" i="1" kern="1200">
                        <a:solidFill>
                          <a:schemeClr val="tx1"/>
                        </a:solidFill>
                        <a:effectLst/>
                        <a:latin typeface="Cambria Math" panose="02040503050406030204" pitchFamily="18" charset="0"/>
                        <a:ea typeface="+mn-ea"/>
                        <a:cs typeface="+mn-cs"/>
                      </a:rPr>
                      <m:t>2</m:t>
                    </m:r>
                  </m:oMath>
                </a14:m>
                <a:r>
                  <a:rPr lang="zh-CN" altLang="zh-CN" sz="1200" kern="1200" dirty="0">
                    <a:solidFill>
                      <a:schemeClr val="tx1"/>
                    </a:solidFill>
                    <a:effectLst/>
                    <a:latin typeface="+mn-lt"/>
                    <a:ea typeface="+mn-ea"/>
                    <a:cs typeface="+mn-cs"/>
                  </a:rPr>
                  <a:t>求角度，例如：</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𝜑</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𝑎𝑡𝑎𝑛</m:t>
                    </m:r>
                    <m:r>
                      <a:rPr lang="en-US" altLang="zh-CN" sz="1200" i="1" kern="1200">
                        <a:solidFill>
                          <a:schemeClr val="tx1"/>
                        </a:solidFill>
                        <a:effectLst/>
                        <a:latin typeface="Cambria Math" panose="02040503050406030204" pitchFamily="18" charset="0"/>
                        <a:ea typeface="+mn-ea"/>
                        <a:cs typeface="+mn-cs"/>
                      </a:rPr>
                      <m:t>2(</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𝑦</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𝑥</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𝑦</m:t>
                        </m:r>
                      </m:sub>
                    </m:sSub>
                    <m:r>
                      <a:rPr lang="en-US" altLang="zh-CN" sz="1200" i="1" kern="1200">
                        <a:solidFill>
                          <a:schemeClr val="tx1"/>
                        </a:solidFill>
                        <a:effectLst/>
                        <a:latin typeface="Cambria Math" panose="02040503050406030204" pitchFamily="18" charset="0"/>
                        <a:ea typeface="+mn-ea"/>
                        <a:cs typeface="+mn-cs"/>
                      </a:rPr>
                      <m:t>=−2.0</m:t>
                    </m:r>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𝑥</m:t>
                        </m:r>
                      </m:sub>
                    </m:sSub>
                    <m:r>
                      <a:rPr lang="en-US" altLang="zh-CN" sz="1200" i="1" kern="1200">
                        <a:solidFill>
                          <a:schemeClr val="tx1"/>
                        </a:solidFill>
                        <a:effectLst/>
                        <a:latin typeface="Cambria Math" panose="02040503050406030204" pitchFamily="18" charset="0"/>
                        <a:ea typeface="+mn-ea"/>
                        <a:cs typeface="+mn-cs"/>
                      </a:rPr>
                      <m:t>=−2.0</m:t>
                    </m:r>
                  </m:oMath>
                </a14:m>
                <a:r>
                  <a:rPr lang="zh-CN" altLang="zh-CN" sz="1200" kern="1200" dirty="0">
                    <a:solidFill>
                      <a:schemeClr val="tx1"/>
                    </a:solidFill>
                    <a:effectLst/>
                    <a:latin typeface="+mn-lt"/>
                    <a:ea typeface="+mn-ea"/>
                    <a:cs typeface="+mn-cs"/>
                  </a:rPr>
                  <a:t>，那么</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𝜑</m:t>
                    </m:r>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135</m:t>
                        </m:r>
                      </m:e>
                      <m:sup>
                        <m:r>
                          <a:rPr lang="en-US" altLang="zh-CN" sz="1200" i="1" kern="1200">
                            <a:solidFill>
                              <a:schemeClr val="tx1"/>
                            </a:solidFill>
                            <a:effectLst/>
                            <a:latin typeface="Cambria Math" panose="02040503050406030204" pitchFamily="18" charset="0"/>
                            <a:ea typeface="+mn-ea"/>
                            <a:cs typeface="+mn-cs"/>
                          </a:rPr>
                          <m:t>°</m:t>
                        </m:r>
                      </m:sup>
                    </m:sSup>
                  </m:oMath>
                </a14:m>
                <a:r>
                  <a:rPr lang="zh-CN" altLang="zh-CN" sz="1200" kern="1200" dirty="0">
                    <a:solidFill>
                      <a:schemeClr val="tx1"/>
                    </a:solidFill>
                    <a:effectLst/>
                    <a:latin typeface="+mn-lt"/>
                    <a:ea typeface="+mn-ea"/>
                    <a:cs typeface="+mn-cs"/>
                  </a:rPr>
                  <a:t>，而</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𝑎𝑡𝑎𝑛</m:t>
                    </m:r>
                    <m:r>
                      <a:rPr lang="en-US" altLang="zh-CN" sz="1200" i="1" kern="1200">
                        <a:solidFill>
                          <a:schemeClr val="tx1"/>
                        </a:solidFill>
                        <a:effectLst/>
                        <a:latin typeface="Cambria Math" panose="02040503050406030204" pitchFamily="18" charset="0"/>
                        <a:ea typeface="+mn-ea"/>
                        <a:cs typeface="+mn-cs"/>
                      </a:rPr>
                      <m:t>2</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2.0,2.0</m:t>
                        </m:r>
                      </m:e>
                    </m:d>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45</m:t>
                        </m:r>
                      </m:e>
                      <m:sup>
                        <m:r>
                          <a:rPr lang="en-US" altLang="zh-CN" sz="1200" i="1" kern="1200">
                            <a:solidFill>
                              <a:schemeClr val="tx1"/>
                            </a:solidFill>
                            <a:effectLst/>
                            <a:latin typeface="Cambria Math" panose="02040503050406030204" pitchFamily="18" charset="0"/>
                            <a:ea typeface="+mn-ea"/>
                            <a:cs typeface="+mn-cs"/>
                          </a:rPr>
                          <m:t>°</m:t>
                        </m:r>
                      </m:sup>
                    </m:sSup>
                  </m:oMath>
                </a14:m>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将等式</a:t>
                </a:r>
                <a:r>
                  <a:rPr lang="en-US" altLang="zh-CN" sz="1200" kern="1200" dirty="0">
                    <a:solidFill>
                      <a:schemeClr val="tx1"/>
                    </a:solidFill>
                    <a:effectLst/>
                    <a:latin typeface="+mn-lt"/>
                    <a:ea typeface="+mn-ea"/>
                    <a:cs typeface="+mn-cs"/>
                  </a:rPr>
                  <a:t>(3-22)</a:t>
                </a:r>
                <a:r>
                  <a:rPr lang="zh-CN" altLang="zh-CN" sz="1200" kern="1200" dirty="0">
                    <a:solidFill>
                      <a:schemeClr val="tx1"/>
                    </a:solidFill>
                    <a:effectLst/>
                    <a:latin typeface="+mn-lt"/>
                    <a:ea typeface="+mn-ea"/>
                    <a:cs typeface="+mn-cs"/>
                  </a:rPr>
                  <a:t>联立之后得到的方程进一步表达为两角和差公式：</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cos</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𝜑</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sin</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𝑠𝑖𝑛</m:t>
                      </m:r>
                      <m:r>
                        <a:rPr lang="en-US" altLang="zh-CN" sz="1200" i="1" kern="1200">
                          <a:solidFill>
                            <a:schemeClr val="tx1"/>
                          </a:solidFill>
                          <a:effectLst/>
                          <a:latin typeface="Cambria Math" panose="02040503050406030204" pitchFamily="18" charset="0"/>
                          <a:ea typeface="+mn-ea"/>
                          <a:cs typeface="+mn-cs"/>
                        </a:rPr>
                        <m:t>𝜑</m:t>
                      </m:r>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𝑑</m:t>
                          </m:r>
                        </m:num>
                        <m:den>
                          <m:r>
                            <a:rPr lang="en-US" altLang="zh-CN" sz="1200" i="1" kern="1200">
                              <a:solidFill>
                                <a:schemeClr val="tx1"/>
                              </a:solidFill>
                              <a:effectLst/>
                              <a:latin typeface="Cambria Math" panose="02040503050406030204" pitchFamily="18" charset="0"/>
                              <a:ea typeface="+mn-ea"/>
                              <a:cs typeface="+mn-cs"/>
                            </a:rPr>
                            <m:t>𝑟</m:t>
                          </m:r>
                        </m:den>
                      </m:f>
                    </m:oMath>
                  </m:oMathPara>
                </a14:m>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可得：</a:t>
                </a:r>
              </a:p>
              <a:p>
                <a:pPr/>
                <a14:m>
                  <m:oMathPara xmlns:m="http://schemas.openxmlformats.org/officeDocument/2006/math">
                    <m:oMathParaPr>
                      <m:jc m:val="centerGroup"/>
                    </m:oMathParaPr>
                    <m:oMath xmlns:m="http://schemas.openxmlformats.org/officeDocument/2006/math">
                      <m:func>
                        <m:funcPr>
                          <m:ctrlPr>
                            <a:rPr lang="zh-CN" altLang="zh-CN" sz="1200" i="1" kern="1200">
                              <a:solidFill>
                                <a:schemeClr val="tx1"/>
                              </a:solidFill>
                              <a:effectLst/>
                              <a:latin typeface="Cambria Math" panose="02040503050406030204" pitchFamily="18" charset="0"/>
                              <a:ea typeface="+mn-ea"/>
                              <a:cs typeface="+mn-cs"/>
                            </a:rPr>
                          </m:ctrlPr>
                        </m:funcPr>
                        <m:fName>
                          <m:r>
                            <a:rPr lang="en-US" altLang="zh-CN" sz="1200" i="1" kern="1200">
                              <a:solidFill>
                                <a:schemeClr val="tx1"/>
                              </a:solidFill>
                              <a:effectLst/>
                              <a:latin typeface="Cambria Math" panose="02040503050406030204" pitchFamily="18" charset="0"/>
                              <a:ea typeface="+mn-ea"/>
                              <a:cs typeface="+mn-cs"/>
                            </a:rPr>
                            <m:t>𝑐𝑜𝑠</m:t>
                          </m:r>
                        </m:fName>
                        <m:e>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𝜑</m:t>
                              </m:r>
                            </m:e>
                          </m:d>
                        </m:e>
                      </m:func>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𝑑</m:t>
                          </m:r>
                        </m:num>
                        <m:den>
                          <m:r>
                            <a:rPr lang="en-US" altLang="zh-CN" sz="1200" i="1" kern="1200">
                              <a:solidFill>
                                <a:schemeClr val="tx1"/>
                              </a:solidFill>
                              <a:effectLst/>
                              <a:latin typeface="Cambria Math" panose="02040503050406030204" pitchFamily="18" charset="0"/>
                              <a:ea typeface="+mn-ea"/>
                              <a:cs typeface="+mn-cs"/>
                            </a:rPr>
                            <m:t>𝑟</m:t>
                          </m:r>
                        </m:den>
                      </m:f>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则：</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𝜑</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𝑎𝑡𝑎𝑛</m:t>
                      </m:r>
                      <m:r>
                        <a:rPr lang="en-US" altLang="zh-CN" sz="1200" i="1" kern="1200">
                          <a:solidFill>
                            <a:schemeClr val="tx1"/>
                          </a:solidFill>
                          <a:effectLst/>
                          <a:latin typeface="Cambria Math" panose="02040503050406030204" pitchFamily="18" charset="0"/>
                          <a:ea typeface="+mn-ea"/>
                          <a:cs typeface="+mn-cs"/>
                        </a:rPr>
                        <m:t>2</m:t>
                      </m:r>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𝑑</m:t>
                              </m:r>
                            </m:num>
                            <m:den>
                              <m:r>
                                <a:rPr lang="en-US" altLang="zh-CN" sz="1200" i="1" kern="1200">
                                  <a:solidFill>
                                    <a:schemeClr val="tx1"/>
                                  </a:solidFill>
                                  <a:effectLst/>
                                  <a:latin typeface="Cambria Math" panose="02040503050406030204" pitchFamily="18" charset="0"/>
                                  <a:ea typeface="+mn-ea"/>
                                  <a:cs typeface="+mn-cs"/>
                                </a:rPr>
                                <m:t>𝑟</m:t>
                              </m:r>
                            </m:den>
                          </m:f>
                          <m:r>
                            <a:rPr lang="en-US" altLang="zh-CN" sz="1200" i="1" kern="1200">
                              <a:solidFill>
                                <a:schemeClr val="tx1"/>
                              </a:solidFill>
                              <a:effectLst/>
                              <a:latin typeface="Cambria Math" panose="02040503050406030204" pitchFamily="18" charset="0"/>
                              <a:ea typeface="+mn-ea"/>
                              <a:cs typeface="+mn-cs"/>
                            </a:rPr>
                            <m:t>,±</m:t>
                          </m:r>
                          <m:rad>
                            <m:radPr>
                              <m:degHide m:val="on"/>
                              <m:ctrlPr>
                                <a:rPr lang="zh-CN" altLang="zh-CN" sz="1200" i="1" kern="1200">
                                  <a:solidFill>
                                    <a:schemeClr val="tx1"/>
                                  </a:solidFill>
                                  <a:effectLst/>
                                  <a:latin typeface="Cambria Math" panose="02040503050406030204" pitchFamily="18" charset="0"/>
                                  <a:ea typeface="+mn-ea"/>
                                  <a:cs typeface="+mn-cs"/>
                                </a:rPr>
                              </m:ctrlPr>
                            </m:radPr>
                            <m:deg/>
                            <m:e>
                              <m:r>
                                <a:rPr lang="en-US" altLang="zh-CN" sz="1200" i="1" kern="1200">
                                  <a:solidFill>
                                    <a:schemeClr val="tx1"/>
                                  </a:solidFill>
                                  <a:effectLst/>
                                  <a:latin typeface="Cambria Math" panose="02040503050406030204" pitchFamily="18" charset="0"/>
                                  <a:ea typeface="+mn-ea"/>
                                  <a:cs typeface="+mn-cs"/>
                                </a:rPr>
                                <m:t>1−</m:t>
                              </m:r>
                              <m:f>
                                <m:fPr>
                                  <m:ctrlPr>
                                    <a:rPr lang="zh-CN" altLang="zh-CN" sz="1200" i="1" kern="1200">
                                      <a:solidFill>
                                        <a:schemeClr val="tx1"/>
                                      </a:solidFill>
                                      <a:effectLst/>
                                      <a:latin typeface="Cambria Math" panose="02040503050406030204" pitchFamily="18" charset="0"/>
                                      <a:ea typeface="+mn-ea"/>
                                      <a:cs typeface="+mn-cs"/>
                                    </a:rPr>
                                  </m:ctrlPr>
                                </m:fPr>
                                <m:num>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𝑑</m:t>
                                      </m:r>
                                    </m:e>
                                    <m:sup>
                                      <m:r>
                                        <a:rPr lang="en-US" altLang="zh-CN" sz="1200" i="1" kern="1200">
                                          <a:solidFill>
                                            <a:schemeClr val="tx1"/>
                                          </a:solidFill>
                                          <a:effectLst/>
                                          <a:latin typeface="Cambria Math" panose="02040503050406030204" pitchFamily="18" charset="0"/>
                                          <a:ea typeface="+mn-ea"/>
                                          <a:cs typeface="+mn-cs"/>
                                        </a:rPr>
                                        <m:t>2</m:t>
                                      </m:r>
                                    </m:sup>
                                  </m:sSup>
                                </m:num>
                                <m:den>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𝑟</m:t>
                                      </m:r>
                                    </m:e>
                                    <m:sup>
                                      <m:r>
                                        <a:rPr lang="en-US" altLang="zh-CN" sz="1200" i="1" kern="1200">
                                          <a:solidFill>
                                            <a:schemeClr val="tx1"/>
                                          </a:solidFill>
                                          <a:effectLst/>
                                          <a:latin typeface="Cambria Math" panose="02040503050406030204" pitchFamily="18" charset="0"/>
                                          <a:ea typeface="+mn-ea"/>
                                          <a:cs typeface="+mn-cs"/>
                                        </a:rPr>
                                        <m:t>2</m:t>
                                      </m:r>
                                    </m:sup>
                                  </m:sSup>
                                </m:den>
                              </m:f>
                            </m:e>
                          </m:rad>
                        </m:e>
                      </m:d>
                    </m:oMath>
                  </m:oMathPara>
                </a14:m>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𝑎𝑡𝑎𝑛</m:t>
                    </m:r>
                    <m:r>
                      <a:rPr lang="en-US" altLang="zh-CN" sz="1200" i="1" kern="1200">
                        <a:solidFill>
                          <a:schemeClr val="tx1"/>
                        </a:solidFill>
                        <a:effectLst/>
                        <a:latin typeface="Cambria Math" panose="02040503050406030204" pitchFamily="18" charset="0"/>
                        <a:ea typeface="+mn-ea"/>
                        <a:cs typeface="+mn-cs"/>
                      </a:rPr>
                      <m:t>2</m:t>
                    </m:r>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𝑑</m:t>
                            </m:r>
                          </m:num>
                          <m:den>
                            <m:r>
                              <a:rPr lang="en-US" altLang="zh-CN" sz="1200" i="1" kern="1200">
                                <a:solidFill>
                                  <a:schemeClr val="tx1"/>
                                </a:solidFill>
                                <a:effectLst/>
                                <a:latin typeface="Cambria Math" panose="02040503050406030204" pitchFamily="18" charset="0"/>
                                <a:ea typeface="+mn-ea"/>
                                <a:cs typeface="+mn-cs"/>
                              </a:rPr>
                              <m:t>𝑟</m:t>
                            </m:r>
                          </m:den>
                        </m:f>
                        <m:r>
                          <a:rPr lang="en-US" altLang="zh-CN" sz="1200" i="1" kern="1200">
                            <a:solidFill>
                              <a:schemeClr val="tx1"/>
                            </a:solidFill>
                            <a:effectLst/>
                            <a:latin typeface="Cambria Math" panose="02040503050406030204" pitchFamily="18" charset="0"/>
                            <a:ea typeface="+mn-ea"/>
                            <a:cs typeface="+mn-cs"/>
                          </a:rPr>
                          <m:t>,±</m:t>
                        </m:r>
                        <m:rad>
                          <m:radPr>
                            <m:degHide m:val="on"/>
                            <m:ctrlPr>
                              <a:rPr lang="zh-CN" altLang="zh-CN" sz="1200" i="1" kern="1200">
                                <a:solidFill>
                                  <a:schemeClr val="tx1"/>
                                </a:solidFill>
                                <a:effectLst/>
                                <a:latin typeface="Cambria Math" panose="02040503050406030204" pitchFamily="18" charset="0"/>
                                <a:ea typeface="+mn-ea"/>
                                <a:cs typeface="+mn-cs"/>
                              </a:rPr>
                            </m:ctrlPr>
                          </m:radPr>
                          <m:deg/>
                          <m:e>
                            <m:r>
                              <a:rPr lang="en-US" altLang="zh-CN" sz="1200" i="1" kern="1200">
                                <a:solidFill>
                                  <a:schemeClr val="tx1"/>
                                </a:solidFill>
                                <a:effectLst/>
                                <a:latin typeface="Cambria Math" panose="02040503050406030204" pitchFamily="18" charset="0"/>
                                <a:ea typeface="+mn-ea"/>
                                <a:cs typeface="+mn-cs"/>
                              </a:rPr>
                              <m:t>1−</m:t>
                            </m:r>
                            <m:f>
                              <m:fPr>
                                <m:ctrlPr>
                                  <a:rPr lang="zh-CN" altLang="zh-CN" sz="1200" i="1" kern="1200">
                                    <a:solidFill>
                                      <a:schemeClr val="tx1"/>
                                    </a:solidFill>
                                    <a:effectLst/>
                                    <a:latin typeface="Cambria Math" panose="02040503050406030204" pitchFamily="18" charset="0"/>
                                    <a:ea typeface="+mn-ea"/>
                                    <a:cs typeface="+mn-cs"/>
                                  </a:rPr>
                                </m:ctrlPr>
                              </m:fPr>
                              <m:num>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𝑑</m:t>
                                    </m:r>
                                  </m:e>
                                  <m:sup>
                                    <m:r>
                                      <a:rPr lang="en-US" altLang="zh-CN" sz="1200" i="1" kern="1200">
                                        <a:solidFill>
                                          <a:schemeClr val="tx1"/>
                                        </a:solidFill>
                                        <a:effectLst/>
                                        <a:latin typeface="Cambria Math" panose="02040503050406030204" pitchFamily="18" charset="0"/>
                                        <a:ea typeface="+mn-ea"/>
                                        <a:cs typeface="+mn-cs"/>
                                      </a:rPr>
                                      <m:t>2</m:t>
                                    </m:r>
                                  </m:sup>
                                </m:sSup>
                              </m:num>
                              <m:den>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𝑟</m:t>
                                    </m:r>
                                  </m:e>
                                  <m:sup>
                                    <m:r>
                                      <a:rPr lang="en-US" altLang="zh-CN" sz="1200" i="1" kern="1200">
                                        <a:solidFill>
                                          <a:schemeClr val="tx1"/>
                                        </a:solidFill>
                                        <a:effectLst/>
                                        <a:latin typeface="Cambria Math" panose="02040503050406030204" pitchFamily="18" charset="0"/>
                                        <a:ea typeface="+mn-ea"/>
                                        <a:cs typeface="+mn-cs"/>
                                      </a:rPr>
                                      <m:t>2</m:t>
                                    </m:r>
                                  </m:sup>
                                </m:sSup>
                              </m:den>
                            </m:f>
                          </m:e>
                        </m:rad>
                      </m:e>
                    </m:d>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𝜑</m:t>
                    </m:r>
                  </m:oMath>
                </a14:m>
                <a:r>
                  <a:rPr lang="en-US" altLang="zh-CN" sz="1200" kern="1200" dirty="0">
                    <a:solidFill>
                      <a:schemeClr val="tx1"/>
                    </a:solidFill>
                    <a:effectLst/>
                    <a:latin typeface="+mn-lt"/>
                    <a:ea typeface="+mn-ea"/>
                    <a:cs typeface="+mn-cs"/>
                  </a:rPr>
                  <a:t> (3-23)</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式</a:t>
                </a:r>
                <a:r>
                  <a:rPr lang="en-US" altLang="zh-CN" sz="1200" kern="1200" dirty="0">
                    <a:solidFill>
                      <a:schemeClr val="tx1"/>
                    </a:solidFill>
                    <a:effectLst/>
                    <a:latin typeface="+mn-lt"/>
                    <a:ea typeface="+mn-ea"/>
                    <a:cs typeface="+mn-cs"/>
                  </a:rPr>
                  <a:t>(3-23)</a:t>
                </a:r>
                <a:r>
                  <a:rPr lang="zh-CN" altLang="zh-CN" sz="1200" kern="1200" dirty="0">
                    <a:solidFill>
                      <a:schemeClr val="tx1"/>
                    </a:solidFill>
                    <a:effectLst/>
                    <a:latin typeface="+mn-lt"/>
                    <a:ea typeface="+mn-ea"/>
                    <a:cs typeface="+mn-cs"/>
                  </a:rPr>
                  <a:t>中：</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𝑑</m:t>
                    </m:r>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𝑙</m:t>
                                </m:r>
                              </m:e>
                              <m:sub>
                                <m:r>
                                  <a:rPr lang="en-US" altLang="zh-CN" sz="1200" i="1" kern="1200">
                                    <a:solidFill>
                                      <a:schemeClr val="tx1"/>
                                    </a:solidFill>
                                    <a:effectLst/>
                                    <a:latin typeface="Cambria Math" panose="02040503050406030204" pitchFamily="18" charset="0"/>
                                    <a:ea typeface="+mn-ea"/>
                                    <a:cs typeface="+mn-cs"/>
                                  </a:rPr>
                                  <m:t>1</m:t>
                                </m:r>
                              </m:sub>
                            </m:sSub>
                          </m:e>
                          <m:sup>
                            <m:r>
                              <a:rPr lang="en-US" altLang="zh-CN" sz="1200" i="1" kern="1200">
                                <a:solidFill>
                                  <a:schemeClr val="tx1"/>
                                </a:solidFill>
                                <a:effectLst/>
                                <a:latin typeface="Cambria Math" panose="02040503050406030204" pitchFamily="18" charset="0"/>
                                <a:ea typeface="+mn-ea"/>
                                <a:cs typeface="+mn-cs"/>
                              </a:rPr>
                              <m:t>2</m:t>
                            </m:r>
                          </m:sup>
                        </m:sSup>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𝑙</m:t>
                                </m:r>
                              </m:e>
                              <m:sub>
                                <m:r>
                                  <a:rPr lang="en-US" altLang="zh-CN" sz="1200" i="1" kern="1200">
                                    <a:solidFill>
                                      <a:schemeClr val="tx1"/>
                                    </a:solidFill>
                                    <a:effectLst/>
                                    <a:latin typeface="Cambria Math" panose="02040503050406030204" pitchFamily="18" charset="0"/>
                                    <a:ea typeface="+mn-ea"/>
                                    <a:cs typeface="+mn-cs"/>
                                  </a:rPr>
                                  <m:t>2</m:t>
                                </m:r>
                              </m:sub>
                            </m:sSub>
                          </m:e>
                          <m:sup>
                            <m:r>
                              <a:rPr lang="en-US" altLang="zh-CN" sz="1200" i="1" kern="1200">
                                <a:solidFill>
                                  <a:schemeClr val="tx1"/>
                                </a:solidFill>
                                <a:effectLst/>
                                <a:latin typeface="Cambria Math" panose="02040503050406030204" pitchFamily="18" charset="0"/>
                                <a:ea typeface="+mn-ea"/>
                                <a:cs typeface="+mn-cs"/>
                              </a:rPr>
                              <m:t>2</m:t>
                            </m:r>
                          </m:sup>
                        </m:sSup>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𝑥</m:t>
                                </m:r>
                              </m:sub>
                            </m:sSub>
                          </m:e>
                          <m:sup>
                            <m:r>
                              <a:rPr lang="en-US" altLang="zh-CN" sz="1200" i="1" kern="1200">
                                <a:solidFill>
                                  <a:schemeClr val="tx1"/>
                                </a:solidFill>
                                <a:effectLst/>
                                <a:latin typeface="Cambria Math" panose="02040503050406030204" pitchFamily="18" charset="0"/>
                                <a:ea typeface="+mn-ea"/>
                                <a:cs typeface="+mn-cs"/>
                              </a:rPr>
                              <m:t>2</m:t>
                            </m:r>
                          </m:sup>
                        </m:sSup>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𝑦</m:t>
                                </m:r>
                              </m:sub>
                            </m:sSub>
                          </m:e>
                          <m:sup>
                            <m:r>
                              <a:rPr lang="en-US" altLang="zh-CN" sz="1200" i="1" kern="1200">
                                <a:solidFill>
                                  <a:schemeClr val="tx1"/>
                                </a:solidFill>
                                <a:effectLst/>
                                <a:latin typeface="Cambria Math" panose="02040503050406030204" pitchFamily="18" charset="0"/>
                                <a:ea typeface="+mn-ea"/>
                                <a:cs typeface="+mn-cs"/>
                              </a:rPr>
                              <m:t>2</m:t>
                            </m:r>
                          </m:sup>
                        </m:sSup>
                      </m:num>
                      <m:den>
                        <m:r>
                          <a:rPr lang="en-US" altLang="zh-CN" sz="1200" i="1" kern="1200">
                            <a:solidFill>
                              <a:schemeClr val="tx1"/>
                            </a:solidFill>
                            <a:effectLst/>
                            <a:latin typeface="Cambria Math" panose="02040503050406030204" pitchFamily="18" charset="0"/>
                            <a:ea typeface="+mn-ea"/>
                            <a:cs typeface="+mn-cs"/>
                          </a:rPr>
                          <m:t>2</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𝑙</m:t>
                            </m:r>
                          </m:e>
                          <m:sub>
                            <m:r>
                              <a:rPr lang="en-US" altLang="zh-CN" sz="1200" i="1" kern="1200">
                                <a:solidFill>
                                  <a:schemeClr val="tx1"/>
                                </a:solidFill>
                                <a:effectLst/>
                                <a:latin typeface="Cambria Math" panose="02040503050406030204" pitchFamily="18" charset="0"/>
                                <a:ea typeface="+mn-ea"/>
                                <a:cs typeface="+mn-cs"/>
                              </a:rPr>
                              <m:t>1</m:t>
                            </m:r>
                          </m:sub>
                        </m:sSub>
                      </m:den>
                    </m:f>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𝑟</m:t>
                    </m:r>
                    <m:r>
                      <a:rPr lang="en-US" altLang="zh-CN" sz="1200" i="1" kern="1200">
                        <a:solidFill>
                          <a:schemeClr val="tx1"/>
                        </a:solidFill>
                        <a:effectLst/>
                        <a:latin typeface="Cambria Math" panose="02040503050406030204" pitchFamily="18" charset="0"/>
                        <a:ea typeface="+mn-ea"/>
                        <a:cs typeface="+mn-cs"/>
                      </a:rPr>
                      <m:t>=</m:t>
                    </m:r>
                    <m:rad>
                      <m:radPr>
                        <m:degHide m:val="on"/>
                        <m:ctrlPr>
                          <a:rPr lang="zh-CN" altLang="zh-CN" sz="1200" i="1" kern="1200">
                            <a:solidFill>
                              <a:schemeClr val="tx1"/>
                            </a:solidFill>
                            <a:effectLst/>
                            <a:latin typeface="Cambria Math" panose="02040503050406030204" pitchFamily="18" charset="0"/>
                            <a:ea typeface="+mn-ea"/>
                            <a:cs typeface="+mn-cs"/>
                          </a:rPr>
                        </m:ctrlPr>
                      </m:radPr>
                      <m:deg/>
                      <m:e>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𝑥</m:t>
                                </m:r>
                              </m:sub>
                            </m:sSub>
                          </m:e>
                          <m:sup>
                            <m:r>
                              <a:rPr lang="en-US" altLang="zh-CN" sz="1200" i="1" kern="1200">
                                <a:solidFill>
                                  <a:schemeClr val="tx1"/>
                                </a:solidFill>
                                <a:effectLst/>
                                <a:latin typeface="Cambria Math" panose="02040503050406030204" pitchFamily="18" charset="0"/>
                                <a:ea typeface="+mn-ea"/>
                                <a:cs typeface="+mn-cs"/>
                              </a:rPr>
                              <m:t>2</m:t>
                            </m:r>
                          </m:sup>
                        </m:sSup>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𝑦</m:t>
                                </m:r>
                              </m:sub>
                            </m:sSub>
                          </m:e>
                          <m:sup>
                            <m:r>
                              <a:rPr lang="en-US" altLang="zh-CN" sz="1200" i="1" kern="1200">
                                <a:solidFill>
                                  <a:schemeClr val="tx1"/>
                                </a:solidFill>
                                <a:effectLst/>
                                <a:latin typeface="Cambria Math" panose="02040503050406030204" pitchFamily="18" charset="0"/>
                                <a:ea typeface="+mn-ea"/>
                                <a:cs typeface="+mn-cs"/>
                              </a:rPr>
                              <m:t>2</m:t>
                            </m:r>
                          </m:sup>
                        </m:sSup>
                      </m:e>
                    </m:rad>
                  </m:oMath>
                </a14:m>
                <a:r>
                  <a:rPr lang="zh-CN" altLang="zh-CN" sz="1200" kern="1200" dirty="0">
                    <a:solidFill>
                      <a:schemeClr val="tx1"/>
                    </a:solidFill>
                    <a:effectLst/>
                    <a:latin typeface="+mn-lt"/>
                    <a:ea typeface="+mn-ea"/>
                    <a:cs typeface="+mn-cs"/>
                  </a:rPr>
                  <a:t>， </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𝜑</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𝑎𝑡𝑎𝑛</m:t>
                    </m:r>
                    <m:r>
                      <a:rPr lang="en-US" altLang="zh-CN" sz="1200" i="1" kern="1200">
                        <a:solidFill>
                          <a:schemeClr val="tx1"/>
                        </a:solidFill>
                        <a:effectLst/>
                        <a:latin typeface="Cambria Math" panose="02040503050406030204" pitchFamily="18" charset="0"/>
                        <a:ea typeface="+mn-ea"/>
                        <a:cs typeface="+mn-cs"/>
                      </a:rPr>
                      <m:t>2(</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𝑦</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𝑥</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，且必须满足</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𝑥</m:t>
                            </m:r>
                          </m:sub>
                        </m:sSub>
                      </m:e>
                      <m:sup>
                        <m:r>
                          <a:rPr lang="en-US" altLang="zh-CN" sz="1200" i="1" kern="1200">
                            <a:solidFill>
                              <a:schemeClr val="tx1"/>
                            </a:solidFill>
                            <a:effectLst/>
                            <a:latin typeface="Cambria Math" panose="02040503050406030204" pitchFamily="18" charset="0"/>
                            <a:ea typeface="+mn-ea"/>
                            <a:cs typeface="+mn-cs"/>
                          </a:rPr>
                          <m:t>2</m:t>
                        </m:r>
                      </m:sup>
                    </m:sSup>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𝑦</m:t>
                            </m:r>
                          </m:sub>
                        </m:sSub>
                      </m:e>
                      <m:sup>
                        <m:r>
                          <a:rPr lang="en-US" altLang="zh-CN" sz="1200" i="1" kern="1200">
                            <a:solidFill>
                              <a:schemeClr val="tx1"/>
                            </a:solidFill>
                            <a:effectLst/>
                            <a:latin typeface="Cambria Math" panose="02040503050406030204" pitchFamily="18" charset="0"/>
                            <a:ea typeface="+mn-ea"/>
                            <a:cs typeface="+mn-cs"/>
                          </a:rPr>
                          <m:t>2</m:t>
                        </m:r>
                      </m:sup>
                    </m:sSup>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𝑑</m:t>
                        </m:r>
                      </m:e>
                      <m:sup>
                        <m:r>
                          <a:rPr lang="en-US" altLang="zh-CN" sz="1200" i="1" kern="1200">
                            <a:solidFill>
                              <a:schemeClr val="tx1"/>
                            </a:solidFill>
                            <a:effectLst/>
                            <a:latin typeface="Cambria Math" panose="02040503050406030204" pitchFamily="18" charset="0"/>
                            <a:ea typeface="+mn-ea"/>
                            <a:cs typeface="+mn-cs"/>
                          </a:rPr>
                          <m:t>2</m:t>
                        </m:r>
                      </m:sup>
                    </m:sSup>
                    <m:r>
                      <a:rPr lang="en-US" altLang="zh-CN" sz="1200" i="1"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求关节变量</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，为了分离</a:t>
                </a:r>
                <a:r>
                  <a:rPr lang="zh-CN" altLang="zh-CN" sz="1200" kern="1200" dirty="0" smtClean="0">
                    <a:solidFill>
                      <a:schemeClr val="tx1"/>
                    </a:solidFill>
                    <a:effectLst/>
                    <a:latin typeface="+mn-lt"/>
                    <a:ea typeface="+mn-ea"/>
                    <a:cs typeface="+mn-cs"/>
                  </a:rPr>
                  <a:t>变量，对方</a:t>
                </a:r>
                <a:r>
                  <a:rPr lang="zh-CN" altLang="zh-CN" sz="1200" kern="1200" dirty="0">
                    <a:solidFill>
                      <a:schemeClr val="tx1"/>
                    </a:solidFill>
                    <a:effectLst/>
                    <a:latin typeface="+mn-lt"/>
                    <a:ea typeface="+mn-ea"/>
                    <a:cs typeface="+mn-cs"/>
                  </a:rPr>
                  <a:t>程（</a:t>
                </a:r>
                <a:r>
                  <a:rPr lang="en-US" altLang="zh-CN" sz="1200" kern="1200" dirty="0">
                    <a:solidFill>
                      <a:schemeClr val="tx1"/>
                    </a:solidFill>
                    <a:effectLst/>
                    <a:latin typeface="+mn-lt"/>
                    <a:ea typeface="+mn-ea"/>
                    <a:cs typeface="+mn-cs"/>
                  </a:rPr>
                  <a:t>3-21</a:t>
                </a:r>
                <a:r>
                  <a:rPr lang="zh-CN" altLang="zh-CN" sz="1200" kern="1200" dirty="0">
                    <a:solidFill>
                      <a:schemeClr val="tx1"/>
                    </a:solidFill>
                    <a:effectLst/>
                    <a:latin typeface="+mn-lt"/>
                    <a:ea typeface="+mn-ea"/>
                    <a:cs typeface="+mn-cs"/>
                  </a:rPr>
                  <a:t>）的两边同时左</a:t>
                </a:r>
                <a:r>
                  <a:rPr lang="zh-CN" altLang="zh-CN" sz="1200" kern="1200" dirty="0" smtClean="0">
                    <a:solidFill>
                      <a:schemeClr val="tx1"/>
                    </a:solidFill>
                    <a:effectLst/>
                    <a:latin typeface="+mn-lt"/>
                    <a:ea typeface="+mn-ea"/>
                    <a:cs typeface="+mn-cs"/>
                  </a:rPr>
                  <a:t>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30</a:t>
            </a:fld>
            <a:endParaRPr lang="zh-CN" altLang="en-US"/>
          </a:p>
        </p:txBody>
      </p:sp>
    </p:spTree>
    <p:extLst>
      <p:ext uri="{BB962C8B-B14F-4D97-AF65-F5344CB8AC3E}">
        <p14:creationId xmlns:p14="http://schemas.microsoft.com/office/powerpoint/2010/main" val="10343420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31</a:t>
            </a:fld>
            <a:endParaRPr lang="zh-CN" altLang="en-US"/>
          </a:p>
        </p:txBody>
      </p:sp>
    </p:spTree>
    <p:extLst>
      <p:ext uri="{BB962C8B-B14F-4D97-AF65-F5344CB8AC3E}">
        <p14:creationId xmlns:p14="http://schemas.microsoft.com/office/powerpoint/2010/main" val="10890870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至此，</a:t>
                </a:r>
                <a:r>
                  <a:rPr lang="en-US" altLang="zh-CN" sz="1200" kern="1200" dirty="0">
                    <a:solidFill>
                      <a:schemeClr val="tx1"/>
                    </a:solidFill>
                    <a:effectLst/>
                    <a:latin typeface="+mn-lt"/>
                    <a:ea typeface="+mn-ea"/>
                    <a:cs typeface="+mn-cs"/>
                  </a:rPr>
                  <a:t>SCARA</a:t>
                </a:r>
                <a:r>
                  <a:rPr lang="zh-CN" altLang="zh-CN" sz="1200" kern="1200" dirty="0">
                    <a:solidFill>
                      <a:schemeClr val="tx1"/>
                    </a:solidFill>
                    <a:effectLst/>
                    <a:latin typeface="+mn-lt"/>
                    <a:ea typeface="+mn-ea"/>
                    <a:cs typeface="+mn-cs"/>
                  </a:rPr>
                  <a:t>机器人的所有运动学逆解都已求出。在</a:t>
                </a:r>
                <a:r>
                  <a:rPr lang="en-US" altLang="zh-CN" sz="1200" kern="1200" dirty="0">
                    <a:solidFill>
                      <a:schemeClr val="tx1"/>
                    </a:solidFill>
                    <a:effectLst/>
                    <a:latin typeface="+mn-lt"/>
                    <a:ea typeface="+mn-ea"/>
                    <a:cs typeface="+mn-cs"/>
                  </a:rPr>
                  <a:t>SCARA</a:t>
                </a:r>
                <a:r>
                  <a:rPr lang="zh-CN" altLang="zh-CN" sz="1200" kern="1200" dirty="0">
                    <a:solidFill>
                      <a:schemeClr val="tx1"/>
                    </a:solidFill>
                    <a:effectLst/>
                    <a:latin typeface="+mn-lt"/>
                    <a:ea typeface="+mn-ea"/>
                    <a:cs typeface="+mn-cs"/>
                  </a:rPr>
                  <a:t>机器人逆解的代数解求解过程中只进行了一次矩阵逆乘，采用三角代换、两角和差公式求解，计算相对比较简单。从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的表达式中可以看出它有两个解，所以</a:t>
                </a:r>
                <a:r>
                  <a:rPr lang="en-US" altLang="zh-CN" sz="1200" kern="1200" dirty="0">
                    <a:solidFill>
                      <a:schemeClr val="tx1"/>
                    </a:solidFill>
                    <a:effectLst/>
                    <a:latin typeface="+mn-lt"/>
                    <a:ea typeface="+mn-ea"/>
                    <a:cs typeface="+mn-cs"/>
                  </a:rPr>
                  <a:t>SCARA</a:t>
                </a:r>
                <a:r>
                  <a:rPr lang="zh-CN" altLang="zh-CN" sz="1200" kern="1200" dirty="0">
                    <a:solidFill>
                      <a:schemeClr val="tx1"/>
                    </a:solidFill>
                    <a:effectLst/>
                    <a:latin typeface="+mn-lt"/>
                    <a:ea typeface="+mn-ea"/>
                    <a:cs typeface="+mn-cs"/>
                  </a:rPr>
                  <a:t>机器人应该存在两组解。</a:t>
                </a:r>
              </a:p>
              <a:p>
                <a:r>
                  <a:rPr lang="zh-CN" altLang="zh-CN" sz="1200" kern="1200" dirty="0">
                    <a:solidFill>
                      <a:schemeClr val="tx1"/>
                    </a:solidFill>
                    <a:effectLst/>
                    <a:latin typeface="+mn-lt"/>
                    <a:ea typeface="+mn-ea"/>
                    <a:cs typeface="+mn-cs"/>
                  </a:rPr>
                  <a:t>以上四关节的</a:t>
                </a:r>
                <a:r>
                  <a:rPr lang="en-US" altLang="zh-CN" sz="1200" kern="1200" dirty="0">
                    <a:solidFill>
                      <a:schemeClr val="tx1"/>
                    </a:solidFill>
                    <a:effectLst/>
                    <a:latin typeface="+mn-lt"/>
                    <a:ea typeface="+mn-ea"/>
                    <a:cs typeface="+mn-cs"/>
                  </a:rPr>
                  <a:t>SCARA</a:t>
                </a:r>
                <a:r>
                  <a:rPr lang="zh-CN" altLang="zh-CN" sz="1200" kern="1200" dirty="0">
                    <a:solidFill>
                      <a:schemeClr val="tx1"/>
                    </a:solidFill>
                    <a:effectLst/>
                    <a:latin typeface="+mn-lt"/>
                    <a:ea typeface="+mn-ea"/>
                    <a:cs typeface="+mn-cs"/>
                  </a:rPr>
                  <a:t>机器人的逆运动学求解，其关节变量被表示成了某种解析表达式，具有任意精度下的精确解，又称为</a:t>
                </a:r>
                <a:r>
                  <a:rPr lang="zh-CN" altLang="zh-CN" sz="1200" b="1" kern="1200" dirty="0">
                    <a:solidFill>
                      <a:schemeClr val="tx1"/>
                    </a:solidFill>
                    <a:effectLst/>
                    <a:latin typeface="+mn-lt"/>
                    <a:ea typeface="+mn-ea"/>
                    <a:cs typeface="+mn-cs"/>
                  </a:rPr>
                  <a:t>解析解</a:t>
                </a:r>
                <a:r>
                  <a:rPr lang="zh-CN" altLang="zh-CN" sz="1200" kern="1200" dirty="0">
                    <a:solidFill>
                      <a:schemeClr val="tx1"/>
                    </a:solidFill>
                    <a:effectLst/>
                    <a:latin typeface="+mn-lt"/>
                    <a:ea typeface="+mn-ea"/>
                    <a:cs typeface="+mn-cs"/>
                  </a:rPr>
                  <a:t>。采用</a:t>
                </a:r>
                <a:r>
                  <a:rPr lang="en-US" altLang="zh-CN" sz="1200" kern="1200" dirty="0">
                    <a:solidFill>
                      <a:schemeClr val="tx1"/>
                    </a:solidFill>
                    <a:effectLst/>
                    <a:latin typeface="+mn-lt"/>
                    <a:ea typeface="+mn-ea"/>
                    <a:cs typeface="+mn-cs"/>
                  </a:rPr>
                  <a:t>D-H</a:t>
                </a:r>
                <a:r>
                  <a:rPr lang="zh-CN" altLang="zh-CN" sz="1200" kern="1200" dirty="0">
                    <a:solidFill>
                      <a:schemeClr val="tx1"/>
                    </a:solidFill>
                    <a:effectLst/>
                    <a:latin typeface="+mn-lt"/>
                    <a:ea typeface="+mn-ea"/>
                    <a:cs typeface="+mn-cs"/>
                  </a:rPr>
                  <a:t>表示法后，针对</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关节及以上的机械臂逆解不再使用几何法，而是用</a:t>
                </a:r>
                <a:r>
                  <a:rPr lang="zh-CN" altLang="zh-CN" sz="1200" b="1" kern="1200" dirty="0">
                    <a:solidFill>
                      <a:schemeClr val="tx1"/>
                    </a:solidFill>
                    <a:effectLst/>
                    <a:latin typeface="+mn-lt"/>
                    <a:ea typeface="+mn-ea"/>
                    <a:cs typeface="+mn-cs"/>
                  </a:rPr>
                  <a:t>解析法</a:t>
                </a:r>
                <a:r>
                  <a:rPr lang="zh-CN" altLang="zh-CN" sz="1200" kern="1200" dirty="0">
                    <a:solidFill>
                      <a:schemeClr val="tx1"/>
                    </a:solidFill>
                    <a:effectLst/>
                    <a:latin typeface="+mn-lt"/>
                    <a:ea typeface="+mn-ea"/>
                    <a:cs typeface="+mn-cs"/>
                  </a:rPr>
                  <a:t>进行求解，主要原因是关节越多，机构的空间几何关系越复杂。</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至此，机器人的所有运动学逆解都已求出。在逆解的求解过程中只进行了一次矩阵逆乘，从而使计算过程大为简化，从</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的表达式中可以看出它有两个解，所以</a:t>
                </a:r>
                <a:r>
                  <a:rPr lang="en-US" altLang="zh-CN" sz="1200" kern="1200" dirty="0">
                    <a:solidFill>
                      <a:schemeClr val="tx1"/>
                    </a:solidFill>
                    <a:effectLst/>
                    <a:latin typeface="+mn-lt"/>
                    <a:ea typeface="+mn-ea"/>
                    <a:cs typeface="+mn-cs"/>
                  </a:rPr>
                  <a:t>SCARA</a:t>
                </a:r>
                <a:r>
                  <a:rPr lang="zh-CN" altLang="zh-CN" sz="1200" kern="1200" dirty="0">
                    <a:solidFill>
                      <a:schemeClr val="tx1"/>
                    </a:solidFill>
                    <a:effectLst/>
                    <a:latin typeface="+mn-lt"/>
                    <a:ea typeface="+mn-ea"/>
                    <a:cs typeface="+mn-cs"/>
                  </a:rPr>
                  <a:t>机器人应该存在两组解。</a:t>
                </a:r>
              </a:p>
              <a:p>
                <a:r>
                  <a:rPr lang="zh-CN" altLang="zh-CN" sz="1200" kern="1200" dirty="0">
                    <a:solidFill>
                      <a:schemeClr val="tx1"/>
                    </a:solidFill>
                    <a:effectLst/>
                    <a:latin typeface="+mn-lt"/>
                    <a:ea typeface="+mn-ea"/>
                    <a:cs typeface="+mn-cs"/>
                  </a:rPr>
                  <a:t>以上三关节及四关节的</a:t>
                </a:r>
                <a:r>
                  <a:rPr lang="en-US" altLang="zh-CN" sz="1200" kern="1200" dirty="0">
                    <a:solidFill>
                      <a:schemeClr val="tx1"/>
                    </a:solidFill>
                    <a:effectLst/>
                    <a:latin typeface="+mn-lt"/>
                    <a:ea typeface="+mn-ea"/>
                    <a:cs typeface="+mn-cs"/>
                  </a:rPr>
                  <a:t>SCARA</a:t>
                </a:r>
                <a:r>
                  <a:rPr lang="zh-CN" altLang="zh-CN" sz="1200" kern="1200" dirty="0">
                    <a:solidFill>
                      <a:schemeClr val="tx1"/>
                    </a:solidFill>
                    <a:effectLst/>
                    <a:latin typeface="+mn-lt"/>
                    <a:ea typeface="+mn-ea"/>
                    <a:cs typeface="+mn-cs"/>
                  </a:rPr>
                  <a:t>机器人的逆运动学求解，其关节变量被表示成了某种解析表达式，具有任意精度下的精确解，又称为</a:t>
                </a:r>
                <a:r>
                  <a:rPr lang="zh-CN" altLang="zh-CN" sz="1200" b="1" kern="1200" dirty="0">
                    <a:solidFill>
                      <a:schemeClr val="tx1"/>
                    </a:solidFill>
                    <a:effectLst/>
                    <a:latin typeface="+mn-lt"/>
                    <a:ea typeface="+mn-ea"/>
                    <a:cs typeface="+mn-cs"/>
                  </a:rPr>
                  <a:t>解析解</a:t>
                </a:r>
                <a:r>
                  <a:rPr lang="zh-CN" altLang="zh-CN" sz="1200" kern="1200" dirty="0">
                    <a:solidFill>
                      <a:schemeClr val="tx1"/>
                    </a:solidFill>
                    <a:effectLst/>
                    <a:latin typeface="+mn-lt"/>
                    <a:ea typeface="+mn-ea"/>
                    <a:cs typeface="+mn-cs"/>
                  </a:rPr>
                  <a:t>。采用</a:t>
                </a:r>
                <a:r>
                  <a:rPr lang="en-US" altLang="zh-CN" sz="1200" kern="1200" dirty="0">
                    <a:solidFill>
                      <a:schemeClr val="tx1"/>
                    </a:solidFill>
                    <a:effectLst/>
                    <a:latin typeface="+mn-lt"/>
                    <a:ea typeface="+mn-ea"/>
                    <a:cs typeface="+mn-cs"/>
                  </a:rPr>
                  <a:t>D-H</a:t>
                </a:r>
                <a:r>
                  <a:rPr lang="zh-CN" altLang="zh-CN" sz="1200" kern="1200" dirty="0">
                    <a:solidFill>
                      <a:schemeClr val="tx1"/>
                    </a:solidFill>
                    <a:effectLst/>
                    <a:latin typeface="+mn-lt"/>
                    <a:ea typeface="+mn-ea"/>
                    <a:cs typeface="+mn-cs"/>
                  </a:rPr>
                  <a:t>表示法后，我们针对</a:t>
                </a:r>
                <a:r>
                  <a:rPr lang="en-US" altLang="zh-CN" sz="1200" kern="1200" dirty="0">
                    <a:solidFill>
                      <a:schemeClr val="tx1"/>
                    </a:solidFill>
                    <a:effectLst/>
                    <a:latin typeface="+mn-lt"/>
                    <a:ea typeface="+mn-ea"/>
                    <a:cs typeface="+mn-cs"/>
                  </a:rPr>
                  <a:t>4</a:t>
                </a:r>
                <a:r>
                  <a:rPr lang="zh-CN" altLang="zh-CN" sz="1200" kern="1200">
                    <a:solidFill>
                      <a:schemeClr val="tx1"/>
                    </a:solidFill>
                    <a:effectLst/>
                    <a:latin typeface="+mn-lt"/>
                    <a:ea typeface="+mn-ea"/>
                    <a:cs typeface="+mn-cs"/>
                  </a:rPr>
                  <a:t>关节及以上的机械臂逆解不再使用几何法，而是用</a:t>
                </a:r>
                <a:r>
                  <a:rPr lang="zh-CN" altLang="zh-CN" sz="1200" b="1" kern="1200">
                    <a:solidFill>
                      <a:schemeClr val="tx1"/>
                    </a:solidFill>
                    <a:effectLst/>
                    <a:latin typeface="+mn-lt"/>
                    <a:ea typeface="+mn-ea"/>
                    <a:cs typeface="+mn-cs"/>
                  </a:rPr>
                  <a:t>代数法</a:t>
                </a:r>
                <a:r>
                  <a:rPr lang="zh-CN" altLang="zh-CN" sz="1200" kern="1200">
                    <a:solidFill>
                      <a:schemeClr val="tx1"/>
                    </a:solidFill>
                    <a:effectLst/>
                    <a:latin typeface="+mn-lt"/>
                    <a:ea typeface="+mn-ea"/>
                    <a:cs typeface="+mn-cs"/>
                  </a:rPr>
                  <a:t>进行求解，主要是关节越多，机构的空间几何关系越复杂。</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32</a:t>
            </a:fld>
            <a:endParaRPr lang="zh-CN" altLang="en-US"/>
          </a:p>
        </p:txBody>
      </p:sp>
    </p:spTree>
    <p:extLst>
      <p:ext uri="{BB962C8B-B14F-4D97-AF65-F5344CB8AC3E}">
        <p14:creationId xmlns:p14="http://schemas.microsoft.com/office/powerpoint/2010/main" val="2950434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33</a:t>
            </a:fld>
            <a:endParaRPr lang="zh-CN" altLang="en-US"/>
          </a:p>
        </p:txBody>
      </p:sp>
    </p:spTree>
    <p:extLst>
      <p:ext uri="{BB962C8B-B14F-4D97-AF65-F5344CB8AC3E}">
        <p14:creationId xmlns:p14="http://schemas.microsoft.com/office/powerpoint/2010/main" val="8126534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单自由度手腕如图</a:t>
            </a:r>
            <a:r>
              <a:rPr lang="en-US" altLang="zh-CN" sz="1200" kern="1200" dirty="0" smtClean="0">
                <a:solidFill>
                  <a:schemeClr val="tx1"/>
                </a:solidFill>
                <a:effectLst/>
                <a:latin typeface="+mn-lt"/>
                <a:ea typeface="+mn-ea"/>
                <a:cs typeface="+mn-cs"/>
              </a:rPr>
              <a:t>3.11</a:t>
            </a:r>
            <a:r>
              <a:rPr lang="zh-CN" altLang="zh-CN" sz="1200" kern="1200" dirty="0" smtClean="0">
                <a:solidFill>
                  <a:schemeClr val="tx1"/>
                </a:solidFill>
                <a:effectLst/>
                <a:latin typeface="+mn-lt"/>
                <a:ea typeface="+mn-ea"/>
                <a:cs typeface="+mn-cs"/>
              </a:rPr>
              <a:t>所示。其中</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图</a:t>
            </a:r>
            <a:r>
              <a:rPr lang="en-US" altLang="zh-CN" sz="1200" kern="1200" dirty="0" smtClean="0">
                <a:solidFill>
                  <a:schemeClr val="tx1"/>
                </a:solidFill>
                <a:effectLst/>
                <a:latin typeface="+mn-lt"/>
                <a:ea typeface="+mn-ea"/>
                <a:cs typeface="+mn-cs"/>
              </a:rPr>
              <a:t>3.11 (a)</a:t>
            </a:r>
            <a:r>
              <a:rPr lang="zh-CN" altLang="zh-CN" sz="1200" kern="1200" dirty="0" smtClean="0">
                <a:solidFill>
                  <a:schemeClr val="tx1"/>
                </a:solidFill>
                <a:effectLst/>
                <a:latin typeface="+mn-lt"/>
                <a:ea typeface="+mn-ea"/>
                <a:cs typeface="+mn-cs"/>
              </a:rPr>
              <a:t>所示为一种回转</a:t>
            </a:r>
            <a:r>
              <a:rPr lang="en-US" altLang="zh-CN" sz="1200" kern="1200" dirty="0" smtClean="0">
                <a:solidFill>
                  <a:schemeClr val="tx1"/>
                </a:solidFill>
                <a:effectLst/>
                <a:latin typeface="+mn-lt"/>
                <a:ea typeface="+mn-ea"/>
                <a:cs typeface="+mn-cs"/>
              </a:rPr>
              <a:t>(roll)</a:t>
            </a:r>
            <a:r>
              <a:rPr lang="zh-CN" altLang="zh-CN" sz="1200" kern="1200" dirty="0" smtClean="0">
                <a:solidFill>
                  <a:schemeClr val="tx1"/>
                </a:solidFill>
                <a:effectLst/>
                <a:latin typeface="+mn-lt"/>
                <a:ea typeface="+mn-ea"/>
                <a:cs typeface="+mn-cs"/>
              </a:rPr>
              <a:t>关节</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它使手臂纵轴线和手腕关节轴线构成共轴线形式，这种</a:t>
            </a:r>
            <a:r>
              <a:rPr lang="en-US" altLang="zh-CN" sz="1200" kern="1200" dirty="0" smtClean="0">
                <a:solidFill>
                  <a:schemeClr val="tx1"/>
                </a:solidFill>
                <a:effectLst/>
                <a:latin typeface="+mn-lt"/>
                <a:ea typeface="+mn-ea"/>
                <a:cs typeface="+mn-cs"/>
              </a:rPr>
              <a:t>R </a:t>
            </a:r>
            <a:r>
              <a:rPr lang="zh-CN" altLang="zh-CN" sz="1200" kern="1200" dirty="0" smtClean="0">
                <a:solidFill>
                  <a:schemeClr val="tx1"/>
                </a:solidFill>
                <a:effectLst/>
                <a:latin typeface="+mn-lt"/>
                <a:ea typeface="+mn-ea"/>
                <a:cs typeface="+mn-cs"/>
              </a:rPr>
              <a:t>关节旋转角度大</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可达</a:t>
            </a:r>
            <a:r>
              <a:rPr lang="en-US" altLang="zh-CN" sz="1200" kern="1200" dirty="0" smtClean="0">
                <a:solidFill>
                  <a:schemeClr val="tx1"/>
                </a:solidFill>
                <a:effectLst/>
                <a:latin typeface="+mn-lt"/>
                <a:ea typeface="+mn-ea"/>
                <a:cs typeface="+mn-cs"/>
              </a:rPr>
              <a:t>360</a:t>
            </a:r>
            <a:r>
              <a:rPr lang="zh-CN" altLang="zh-CN" sz="1200" kern="1200" dirty="0" smtClean="0">
                <a:solidFill>
                  <a:schemeClr val="tx1"/>
                </a:solidFill>
                <a:effectLst/>
                <a:latin typeface="+mn-lt"/>
                <a:ea typeface="+mn-ea"/>
                <a:cs typeface="+mn-cs"/>
              </a:rPr>
              <a:t>°以上；图</a:t>
            </a:r>
            <a:r>
              <a:rPr lang="en-US" altLang="zh-CN" sz="1200" kern="1200" dirty="0" smtClean="0">
                <a:solidFill>
                  <a:schemeClr val="tx1"/>
                </a:solidFill>
                <a:effectLst/>
                <a:latin typeface="+mn-lt"/>
                <a:ea typeface="+mn-ea"/>
                <a:cs typeface="+mn-cs"/>
              </a:rPr>
              <a:t>3.11 (b)</a:t>
            </a:r>
            <a:r>
              <a:rPr lang="zh-CN" altLang="zh-CN" sz="1200" kern="1200" dirty="0" smtClean="0">
                <a:solidFill>
                  <a:schemeClr val="tx1"/>
                </a:solidFill>
                <a:effectLst/>
                <a:latin typeface="+mn-lt"/>
                <a:ea typeface="+mn-ea"/>
                <a:cs typeface="+mn-cs"/>
              </a:rPr>
              <a:t>、图</a:t>
            </a:r>
            <a:r>
              <a:rPr lang="en-US" altLang="zh-CN" sz="1200" kern="1200" dirty="0" smtClean="0">
                <a:solidFill>
                  <a:schemeClr val="tx1"/>
                </a:solidFill>
                <a:effectLst/>
                <a:latin typeface="+mn-lt"/>
                <a:ea typeface="+mn-ea"/>
                <a:cs typeface="+mn-cs"/>
              </a:rPr>
              <a:t>3.11 (c)</a:t>
            </a:r>
            <a:r>
              <a:rPr lang="zh-CN" altLang="zh-CN" sz="1200" kern="1200" dirty="0" smtClean="0">
                <a:solidFill>
                  <a:schemeClr val="tx1"/>
                </a:solidFill>
                <a:effectLst/>
                <a:latin typeface="+mn-lt"/>
                <a:ea typeface="+mn-ea"/>
                <a:cs typeface="+mn-cs"/>
              </a:rPr>
              <a:t>所示为一种弯曲</a:t>
            </a:r>
            <a:r>
              <a:rPr lang="en-US" altLang="zh-CN" sz="1200" kern="1200" dirty="0" smtClean="0">
                <a:solidFill>
                  <a:schemeClr val="tx1"/>
                </a:solidFill>
                <a:effectLst/>
                <a:latin typeface="+mn-lt"/>
                <a:ea typeface="+mn-ea"/>
                <a:cs typeface="+mn-cs"/>
              </a:rPr>
              <a:t>(bend)</a:t>
            </a:r>
            <a:r>
              <a:rPr lang="zh-CN" altLang="zh-CN" sz="1200" kern="1200" dirty="0" smtClean="0">
                <a:solidFill>
                  <a:schemeClr val="tx1"/>
                </a:solidFill>
                <a:effectLst/>
                <a:latin typeface="+mn-lt"/>
                <a:ea typeface="+mn-ea"/>
                <a:cs typeface="+mn-cs"/>
              </a:rPr>
              <a:t>关节</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也称</a:t>
            </a:r>
            <a:r>
              <a:rPr lang="en-US" altLang="zh-CN" sz="1200" kern="1200" dirty="0" smtClean="0">
                <a:solidFill>
                  <a:schemeClr val="tx1"/>
                </a:solidFill>
                <a:effectLst/>
                <a:latin typeface="+mn-lt"/>
                <a:ea typeface="+mn-ea"/>
                <a:cs typeface="+mn-cs"/>
              </a:rPr>
              <a:t>B</a:t>
            </a:r>
            <a:r>
              <a:rPr lang="zh-CN" altLang="zh-CN" sz="1200" kern="1200" dirty="0" smtClean="0">
                <a:solidFill>
                  <a:schemeClr val="tx1"/>
                </a:solidFill>
                <a:effectLst/>
                <a:latin typeface="+mn-lt"/>
                <a:ea typeface="+mn-ea"/>
                <a:cs typeface="+mn-cs"/>
              </a:rPr>
              <a:t>关节</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关节轴线与前、后两个连接件的轴线相垂直。这种</a:t>
            </a:r>
            <a:r>
              <a:rPr lang="en-US" altLang="zh-CN" sz="1200" kern="1200" dirty="0" smtClean="0">
                <a:solidFill>
                  <a:schemeClr val="tx1"/>
                </a:solidFill>
                <a:effectLst/>
                <a:latin typeface="+mn-lt"/>
                <a:ea typeface="+mn-ea"/>
                <a:cs typeface="+mn-cs"/>
              </a:rPr>
              <a:t>B</a:t>
            </a:r>
            <a:r>
              <a:rPr lang="zh-CN" altLang="zh-CN" sz="1200" kern="1200" dirty="0" smtClean="0">
                <a:solidFill>
                  <a:schemeClr val="tx1"/>
                </a:solidFill>
                <a:effectLst/>
                <a:latin typeface="+mn-lt"/>
                <a:ea typeface="+mn-ea"/>
                <a:cs typeface="+mn-cs"/>
              </a:rPr>
              <a:t>关节因为受到结构上的干涉，旋转角度小，方向角大大受限。图</a:t>
            </a:r>
            <a:r>
              <a:rPr lang="en-US" altLang="zh-CN" sz="1200" kern="1200" dirty="0" smtClean="0">
                <a:solidFill>
                  <a:schemeClr val="tx1"/>
                </a:solidFill>
                <a:effectLst/>
                <a:latin typeface="+mn-lt"/>
                <a:ea typeface="+mn-ea"/>
                <a:cs typeface="+mn-cs"/>
              </a:rPr>
              <a:t>3.11 (d)</a:t>
            </a:r>
            <a:r>
              <a:rPr lang="zh-CN" altLang="zh-CN" sz="1200" kern="1200" dirty="0" smtClean="0">
                <a:solidFill>
                  <a:schemeClr val="tx1"/>
                </a:solidFill>
                <a:effectLst/>
                <a:latin typeface="+mn-lt"/>
                <a:ea typeface="+mn-ea"/>
                <a:cs typeface="+mn-cs"/>
              </a:rPr>
              <a:t>所示为移动</a:t>
            </a:r>
            <a:r>
              <a:rPr lang="en-US" altLang="zh-CN" sz="1200" kern="1200" dirty="0" smtClean="0">
                <a:solidFill>
                  <a:schemeClr val="tx1"/>
                </a:solidFill>
                <a:effectLst/>
                <a:latin typeface="+mn-lt"/>
                <a:ea typeface="+mn-ea"/>
                <a:cs typeface="+mn-cs"/>
              </a:rPr>
              <a:t>(translate)</a:t>
            </a:r>
            <a:r>
              <a:rPr lang="zh-CN" altLang="zh-CN" sz="1200" kern="1200" dirty="0" smtClean="0">
                <a:solidFill>
                  <a:schemeClr val="tx1"/>
                </a:solidFill>
                <a:effectLst/>
                <a:latin typeface="+mn-lt"/>
                <a:ea typeface="+mn-ea"/>
                <a:cs typeface="+mn-cs"/>
              </a:rPr>
              <a:t>关节</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也称</a:t>
            </a:r>
            <a:r>
              <a:rPr lang="en-US" altLang="zh-CN" sz="1200" kern="1200" dirty="0" smtClean="0">
                <a:solidFill>
                  <a:schemeClr val="tx1"/>
                </a:solidFill>
                <a:effectLst/>
                <a:latin typeface="+mn-lt"/>
                <a:ea typeface="+mn-ea"/>
                <a:cs typeface="+mn-cs"/>
              </a:rPr>
              <a:t>T</a:t>
            </a:r>
            <a:r>
              <a:rPr lang="zh-CN" altLang="zh-CN" sz="1200" kern="1200" dirty="0" smtClean="0">
                <a:solidFill>
                  <a:schemeClr val="tx1"/>
                </a:solidFill>
                <a:effectLst/>
                <a:latin typeface="+mn-lt"/>
                <a:ea typeface="+mn-ea"/>
                <a:cs typeface="+mn-cs"/>
              </a:rPr>
              <a:t>关节。</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34</a:t>
            </a:fld>
            <a:endParaRPr lang="zh-CN" altLang="en-US"/>
          </a:p>
        </p:txBody>
      </p:sp>
    </p:spTree>
    <p:extLst>
      <p:ext uri="{BB962C8B-B14F-4D97-AF65-F5344CB8AC3E}">
        <p14:creationId xmlns:p14="http://schemas.microsoft.com/office/powerpoint/2010/main" val="16133665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自由度手腕如图</a:t>
            </a:r>
            <a:r>
              <a:rPr lang="en-US" altLang="zh-CN" sz="1200" kern="1200" dirty="0" smtClean="0">
                <a:solidFill>
                  <a:schemeClr val="tx1"/>
                </a:solidFill>
                <a:effectLst/>
                <a:latin typeface="+mn-lt"/>
                <a:ea typeface="+mn-ea"/>
                <a:cs typeface="+mn-cs"/>
              </a:rPr>
              <a:t>3.12</a:t>
            </a:r>
            <a:r>
              <a:rPr lang="zh-CN" altLang="zh-CN" sz="1200" kern="1200" dirty="0" smtClean="0">
                <a:solidFill>
                  <a:schemeClr val="tx1"/>
                </a:solidFill>
                <a:effectLst/>
                <a:latin typeface="+mn-lt"/>
                <a:ea typeface="+mn-ea"/>
                <a:cs typeface="+mn-cs"/>
              </a:rPr>
              <a:t>所示。</a:t>
            </a:r>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自由度手腕可以是由一个</a:t>
            </a:r>
            <a:r>
              <a:rPr lang="en-US" altLang="zh-CN" sz="1200" kern="1200" dirty="0" smtClean="0">
                <a:solidFill>
                  <a:schemeClr val="tx1"/>
                </a:solidFill>
                <a:effectLst/>
                <a:latin typeface="+mn-lt"/>
                <a:ea typeface="+mn-ea"/>
                <a:cs typeface="+mn-cs"/>
              </a:rPr>
              <a:t>R</a:t>
            </a:r>
            <a:r>
              <a:rPr lang="zh-CN" altLang="zh-CN" sz="1200" kern="1200" dirty="0" smtClean="0">
                <a:solidFill>
                  <a:schemeClr val="tx1"/>
                </a:solidFill>
                <a:effectLst/>
                <a:latin typeface="+mn-lt"/>
                <a:ea typeface="+mn-ea"/>
                <a:cs typeface="+mn-cs"/>
              </a:rPr>
              <a:t>关节和一个</a:t>
            </a:r>
            <a:r>
              <a:rPr lang="en-US" altLang="zh-CN" sz="1200" kern="1200" dirty="0" smtClean="0">
                <a:solidFill>
                  <a:schemeClr val="tx1"/>
                </a:solidFill>
                <a:effectLst/>
                <a:latin typeface="+mn-lt"/>
                <a:ea typeface="+mn-ea"/>
                <a:cs typeface="+mn-cs"/>
              </a:rPr>
              <a:t>B</a:t>
            </a:r>
            <a:r>
              <a:rPr lang="zh-CN" altLang="zh-CN" sz="1200" kern="1200" dirty="0" smtClean="0">
                <a:solidFill>
                  <a:schemeClr val="tx1"/>
                </a:solidFill>
                <a:effectLst/>
                <a:latin typeface="+mn-lt"/>
                <a:ea typeface="+mn-ea"/>
                <a:cs typeface="+mn-cs"/>
              </a:rPr>
              <a:t>关节组成的</a:t>
            </a:r>
            <a:r>
              <a:rPr lang="en-US" altLang="zh-CN" sz="1200" kern="1200" dirty="0" smtClean="0">
                <a:solidFill>
                  <a:schemeClr val="tx1"/>
                </a:solidFill>
                <a:effectLst/>
                <a:latin typeface="+mn-lt"/>
                <a:ea typeface="+mn-ea"/>
                <a:cs typeface="+mn-cs"/>
              </a:rPr>
              <a:t>BR</a:t>
            </a:r>
            <a:r>
              <a:rPr lang="zh-CN" altLang="zh-CN" sz="1200" kern="1200" dirty="0" smtClean="0">
                <a:solidFill>
                  <a:schemeClr val="tx1"/>
                </a:solidFill>
                <a:effectLst/>
                <a:latin typeface="+mn-lt"/>
                <a:ea typeface="+mn-ea"/>
                <a:cs typeface="+mn-cs"/>
              </a:rPr>
              <a:t>手腕</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图</a:t>
            </a:r>
            <a:r>
              <a:rPr lang="en-US" altLang="zh-CN" sz="1200" kern="1200" dirty="0" smtClean="0">
                <a:solidFill>
                  <a:schemeClr val="tx1"/>
                </a:solidFill>
                <a:effectLst/>
                <a:latin typeface="+mn-lt"/>
                <a:ea typeface="+mn-ea"/>
                <a:cs typeface="+mn-cs"/>
              </a:rPr>
              <a:t>3.12(a)],</a:t>
            </a:r>
            <a:r>
              <a:rPr lang="zh-CN" altLang="zh-CN" sz="1200" kern="1200" dirty="0" smtClean="0">
                <a:solidFill>
                  <a:schemeClr val="tx1"/>
                </a:solidFill>
                <a:effectLst/>
                <a:latin typeface="+mn-lt"/>
                <a:ea typeface="+mn-ea"/>
                <a:cs typeface="+mn-cs"/>
              </a:rPr>
              <a:t>也可以是由两个</a:t>
            </a:r>
            <a:r>
              <a:rPr lang="en-US" altLang="zh-CN" sz="1200" kern="1200" dirty="0" smtClean="0">
                <a:solidFill>
                  <a:schemeClr val="tx1"/>
                </a:solidFill>
                <a:effectLst/>
                <a:latin typeface="+mn-lt"/>
                <a:ea typeface="+mn-ea"/>
                <a:cs typeface="+mn-cs"/>
              </a:rPr>
              <a:t>B</a:t>
            </a:r>
            <a:r>
              <a:rPr lang="zh-CN" altLang="zh-CN" sz="1200" kern="1200" dirty="0" smtClean="0">
                <a:solidFill>
                  <a:schemeClr val="tx1"/>
                </a:solidFill>
                <a:effectLst/>
                <a:latin typeface="+mn-lt"/>
                <a:ea typeface="+mn-ea"/>
                <a:cs typeface="+mn-cs"/>
              </a:rPr>
              <a:t>关节组成的</a:t>
            </a:r>
            <a:r>
              <a:rPr lang="en-US" altLang="zh-CN" sz="1200" kern="1200" dirty="0" smtClean="0">
                <a:solidFill>
                  <a:schemeClr val="tx1"/>
                </a:solidFill>
                <a:effectLst/>
                <a:latin typeface="+mn-lt"/>
                <a:ea typeface="+mn-ea"/>
                <a:cs typeface="+mn-cs"/>
              </a:rPr>
              <a:t>BB</a:t>
            </a:r>
            <a:r>
              <a:rPr lang="zh-CN" altLang="zh-CN" sz="1200" kern="1200" dirty="0" smtClean="0">
                <a:solidFill>
                  <a:schemeClr val="tx1"/>
                </a:solidFill>
                <a:effectLst/>
                <a:latin typeface="+mn-lt"/>
                <a:ea typeface="+mn-ea"/>
                <a:cs typeface="+mn-cs"/>
              </a:rPr>
              <a:t>手腕</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图</a:t>
            </a:r>
            <a:r>
              <a:rPr lang="en-US" altLang="zh-CN" sz="1200" kern="1200" dirty="0" smtClean="0">
                <a:solidFill>
                  <a:schemeClr val="tx1"/>
                </a:solidFill>
                <a:effectLst/>
                <a:latin typeface="+mn-lt"/>
                <a:ea typeface="+mn-ea"/>
                <a:cs typeface="+mn-cs"/>
              </a:rPr>
              <a:t>3.12 (b)]</a:t>
            </a:r>
            <a:r>
              <a:rPr lang="zh-CN" altLang="zh-CN" sz="1200" kern="1200" dirty="0" smtClean="0">
                <a:solidFill>
                  <a:schemeClr val="tx1"/>
                </a:solidFill>
                <a:effectLst/>
                <a:latin typeface="+mn-lt"/>
                <a:ea typeface="+mn-ea"/>
                <a:cs typeface="+mn-cs"/>
              </a:rPr>
              <a:t>。但是不能由两个</a:t>
            </a:r>
            <a:r>
              <a:rPr lang="en-US" altLang="zh-CN" sz="1200" kern="1200" dirty="0" smtClean="0">
                <a:solidFill>
                  <a:schemeClr val="tx1"/>
                </a:solidFill>
                <a:effectLst/>
                <a:latin typeface="+mn-lt"/>
                <a:ea typeface="+mn-ea"/>
                <a:cs typeface="+mn-cs"/>
              </a:rPr>
              <a:t>RR</a:t>
            </a:r>
            <a:r>
              <a:rPr lang="zh-CN" altLang="zh-CN" sz="1200" kern="1200" dirty="0" smtClean="0">
                <a:solidFill>
                  <a:schemeClr val="tx1"/>
                </a:solidFill>
                <a:effectLst/>
                <a:latin typeface="+mn-lt"/>
                <a:ea typeface="+mn-ea"/>
                <a:cs typeface="+mn-cs"/>
              </a:rPr>
              <a:t>关节组成</a:t>
            </a:r>
            <a:r>
              <a:rPr lang="en-US" altLang="zh-CN" sz="1200" kern="1200" dirty="0" smtClean="0">
                <a:solidFill>
                  <a:schemeClr val="tx1"/>
                </a:solidFill>
                <a:effectLst/>
                <a:latin typeface="+mn-lt"/>
                <a:ea typeface="+mn-ea"/>
                <a:cs typeface="+mn-cs"/>
              </a:rPr>
              <a:t>RR</a:t>
            </a:r>
            <a:r>
              <a:rPr lang="zh-CN" altLang="zh-CN" sz="1200" kern="1200" dirty="0" smtClean="0">
                <a:solidFill>
                  <a:schemeClr val="tx1"/>
                </a:solidFill>
                <a:effectLst/>
                <a:latin typeface="+mn-lt"/>
                <a:ea typeface="+mn-ea"/>
                <a:cs typeface="+mn-cs"/>
              </a:rPr>
              <a:t>手腕，因为两个</a:t>
            </a:r>
            <a:r>
              <a:rPr lang="en-US" altLang="zh-CN" sz="1200" kern="1200" dirty="0" smtClean="0">
                <a:solidFill>
                  <a:schemeClr val="tx1"/>
                </a:solidFill>
                <a:effectLst/>
                <a:latin typeface="+mn-lt"/>
                <a:ea typeface="+mn-ea"/>
                <a:cs typeface="+mn-cs"/>
              </a:rPr>
              <a:t>R</a:t>
            </a:r>
            <a:r>
              <a:rPr lang="zh-CN" altLang="zh-CN" sz="1200" kern="1200" dirty="0" smtClean="0">
                <a:solidFill>
                  <a:schemeClr val="tx1"/>
                </a:solidFill>
                <a:effectLst/>
                <a:latin typeface="+mn-lt"/>
                <a:ea typeface="+mn-ea"/>
                <a:cs typeface="+mn-cs"/>
              </a:rPr>
              <a:t>关节共轴线</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所以退化了一个自由度</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实际只构成单自由度手腕</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图</a:t>
            </a:r>
            <a:r>
              <a:rPr lang="en-US" altLang="zh-CN" sz="1200" kern="1200" dirty="0" smtClean="0">
                <a:solidFill>
                  <a:schemeClr val="tx1"/>
                </a:solidFill>
                <a:effectLst/>
                <a:latin typeface="+mn-lt"/>
                <a:ea typeface="+mn-ea"/>
                <a:cs typeface="+mn-cs"/>
              </a:rPr>
              <a:t>3.12(c)]</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自由度手腕中最常用的是</a:t>
            </a:r>
            <a:r>
              <a:rPr lang="en-US" altLang="zh-CN" sz="1200" kern="1200" dirty="0" smtClean="0">
                <a:solidFill>
                  <a:schemeClr val="tx1"/>
                </a:solidFill>
                <a:effectLst/>
                <a:latin typeface="+mn-lt"/>
                <a:ea typeface="+mn-ea"/>
                <a:cs typeface="+mn-cs"/>
              </a:rPr>
              <a:t>BR</a:t>
            </a:r>
            <a:r>
              <a:rPr lang="zh-CN" altLang="zh-CN" sz="1200" kern="1200" dirty="0" smtClean="0">
                <a:solidFill>
                  <a:schemeClr val="tx1"/>
                </a:solidFill>
                <a:effectLst/>
                <a:latin typeface="+mn-lt"/>
                <a:ea typeface="+mn-ea"/>
                <a:cs typeface="+mn-cs"/>
              </a:rPr>
              <a:t>手腕。</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35</a:t>
            </a:fld>
            <a:endParaRPr lang="zh-CN" altLang="en-US"/>
          </a:p>
        </p:txBody>
      </p:sp>
    </p:spTree>
    <p:extLst>
      <p:ext uri="{BB962C8B-B14F-4D97-AF65-F5344CB8AC3E}">
        <p14:creationId xmlns:p14="http://schemas.microsoft.com/office/powerpoint/2010/main" val="2180692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3</a:t>
            </a:r>
            <a:r>
              <a:rPr lang="zh-CN" altLang="zh-CN" sz="1200" kern="1200" dirty="0" smtClean="0">
                <a:solidFill>
                  <a:schemeClr val="tx1"/>
                </a:solidFill>
                <a:effectLst/>
                <a:latin typeface="+mn-lt"/>
                <a:ea typeface="+mn-ea"/>
                <a:cs typeface="+mn-cs"/>
              </a:rPr>
              <a:t>自由度手腕可以是由</a:t>
            </a:r>
            <a:r>
              <a:rPr lang="en-US" altLang="zh-CN" sz="1200" kern="1200" dirty="0" smtClean="0">
                <a:solidFill>
                  <a:schemeClr val="tx1"/>
                </a:solidFill>
                <a:effectLst/>
                <a:latin typeface="+mn-lt"/>
                <a:ea typeface="+mn-ea"/>
                <a:cs typeface="+mn-cs"/>
              </a:rPr>
              <a:t>B</a:t>
            </a:r>
            <a:r>
              <a:rPr lang="zh-CN" altLang="zh-CN" sz="1200" kern="1200" dirty="0" smtClean="0">
                <a:solidFill>
                  <a:schemeClr val="tx1"/>
                </a:solidFill>
                <a:effectLst/>
                <a:latin typeface="+mn-lt"/>
                <a:ea typeface="+mn-ea"/>
                <a:cs typeface="+mn-cs"/>
              </a:rPr>
              <a:t>关节和</a:t>
            </a:r>
            <a:r>
              <a:rPr lang="en-US" altLang="zh-CN" sz="1200" kern="1200" dirty="0" smtClean="0">
                <a:solidFill>
                  <a:schemeClr val="tx1"/>
                </a:solidFill>
                <a:effectLst/>
                <a:latin typeface="+mn-lt"/>
                <a:ea typeface="+mn-ea"/>
                <a:cs typeface="+mn-cs"/>
              </a:rPr>
              <a:t>R </a:t>
            </a:r>
            <a:r>
              <a:rPr lang="zh-CN" altLang="zh-CN" sz="1200" kern="1200" dirty="0" smtClean="0">
                <a:solidFill>
                  <a:schemeClr val="tx1"/>
                </a:solidFill>
                <a:effectLst/>
                <a:latin typeface="+mn-lt"/>
                <a:ea typeface="+mn-ea"/>
                <a:cs typeface="+mn-cs"/>
              </a:rPr>
              <a:t>关节组成的多种形式的手腕，但在实际应用中，常用的有</a:t>
            </a:r>
            <a:r>
              <a:rPr lang="en-US" altLang="zh-CN" sz="1200" kern="1200" dirty="0" smtClean="0">
                <a:solidFill>
                  <a:schemeClr val="tx1"/>
                </a:solidFill>
                <a:effectLst/>
                <a:latin typeface="+mn-lt"/>
                <a:ea typeface="+mn-ea"/>
                <a:cs typeface="+mn-cs"/>
              </a:rPr>
              <a:t>BBR</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RRR</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BRR</a:t>
            </a:r>
            <a:r>
              <a:rPr lang="zh-CN" altLang="zh-CN" sz="1200" kern="1200" dirty="0" smtClean="0">
                <a:solidFill>
                  <a:schemeClr val="tx1"/>
                </a:solidFill>
                <a:effectLst/>
                <a:latin typeface="+mn-lt"/>
                <a:ea typeface="+mn-ea"/>
                <a:cs typeface="+mn-cs"/>
              </a:rPr>
              <a:t>和</a:t>
            </a:r>
            <a:r>
              <a:rPr lang="en-US" altLang="zh-CN" sz="1200" kern="1200" dirty="0" smtClean="0">
                <a:solidFill>
                  <a:schemeClr val="tx1"/>
                </a:solidFill>
                <a:effectLst/>
                <a:latin typeface="+mn-lt"/>
                <a:ea typeface="+mn-ea"/>
                <a:cs typeface="+mn-cs"/>
              </a:rPr>
              <a:t>BBB</a:t>
            </a:r>
            <a:r>
              <a:rPr lang="zh-CN" altLang="en-US" sz="1200" kern="1200" dirty="0" smtClean="0">
                <a:solidFill>
                  <a:schemeClr val="tx1"/>
                </a:solidFill>
                <a:effectLst/>
                <a:latin typeface="+mn-lt"/>
                <a:ea typeface="+mn-ea"/>
                <a:cs typeface="+mn-cs"/>
              </a:rPr>
              <a:t>等</a:t>
            </a:r>
            <a:r>
              <a:rPr lang="zh-CN" altLang="zh-CN" sz="1200" kern="1200" dirty="0" smtClean="0">
                <a:solidFill>
                  <a:schemeClr val="tx1"/>
                </a:solidFill>
                <a:effectLst/>
                <a:latin typeface="+mn-lt"/>
                <a:ea typeface="+mn-ea"/>
                <a:cs typeface="+mn-cs"/>
              </a:rPr>
              <a:t>四种</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如图</a:t>
            </a:r>
            <a:r>
              <a:rPr lang="en-US" altLang="zh-CN" sz="1200" kern="1200" dirty="0" smtClean="0">
                <a:solidFill>
                  <a:schemeClr val="tx1"/>
                </a:solidFill>
                <a:effectLst/>
                <a:latin typeface="+mn-lt"/>
                <a:ea typeface="+mn-ea"/>
                <a:cs typeface="+mn-cs"/>
              </a:rPr>
              <a:t>3.13</a:t>
            </a:r>
            <a:r>
              <a:rPr lang="zh-CN" altLang="zh-CN" sz="1200" kern="1200" dirty="0" smtClean="0">
                <a:solidFill>
                  <a:schemeClr val="tx1"/>
                </a:solidFill>
                <a:effectLst/>
                <a:latin typeface="+mn-lt"/>
                <a:ea typeface="+mn-ea"/>
                <a:cs typeface="+mn-cs"/>
              </a:rPr>
              <a:t>所示。</a:t>
            </a:r>
            <a:endParaRPr lang="en-US" altLang="zh-CN"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另外，在用机器人进行的精密装配作业中</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当被装配零件之间的配合精度相当高</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由于被装配零件的不一致性</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工件的定位夹具、 机器人手爪的定位精度无法满足装配要求时</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会导致装配困难</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解决这个问题有两种柔顺性装配技术。一种是从检测、 控制的角度出发</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采取各种不同的搜索方法</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实现边校正边装配</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有的手爪还配有检测元件</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如视觉传感器、力传感器等</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这就是所谓主动柔顺装配。 另一种是从结构的角度出发</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在手腕部配置一个柔顺环节</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以满足柔顺装配的需要</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这种柔顺装配技术称为被动柔顺装配。</a:t>
            </a:r>
            <a:endParaRPr lang="en-US" altLang="zh-CN" sz="1200" kern="1200" dirty="0" smtClean="0">
              <a:solidFill>
                <a:schemeClr val="tx1"/>
              </a:solidFill>
              <a:effectLst/>
              <a:latin typeface="+mn-lt"/>
              <a:ea typeface="+mn-ea"/>
              <a:cs typeface="+mn-cs"/>
            </a:endParaRPr>
          </a:p>
          <a:p>
            <a:r>
              <a:rPr lang="zh-CN" altLang="en-US" dirty="0" smtClean="0"/>
              <a:t>也有一些研究球型关节手腕，但目前还没有比较实用的产品。</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36</a:t>
            </a:fld>
            <a:endParaRPr lang="zh-CN" altLang="en-US"/>
          </a:p>
        </p:txBody>
      </p:sp>
    </p:spTree>
    <p:extLst>
      <p:ext uri="{BB962C8B-B14F-4D97-AF65-F5344CB8AC3E}">
        <p14:creationId xmlns:p14="http://schemas.microsoft.com/office/powerpoint/2010/main" val="15335309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这其中，在三自由度</a:t>
            </a:r>
            <a:r>
              <a:rPr lang="zh-CN" altLang="zh-CN" sz="1200" strike="sngStrike" kern="1200" dirty="0" smtClean="0">
                <a:solidFill>
                  <a:schemeClr val="tx1"/>
                </a:solidFill>
                <a:effectLst/>
                <a:latin typeface="+mn-lt"/>
                <a:ea typeface="+mn-ea"/>
                <a:cs typeface="+mn-cs"/>
              </a:rPr>
              <a:t>的</a:t>
            </a:r>
            <a:r>
              <a:rPr lang="en-US" altLang="zh-CN" sz="1200" strike="sngStrike" kern="1200" dirty="0" smtClean="0">
                <a:solidFill>
                  <a:schemeClr val="tx1"/>
                </a:solidFill>
                <a:effectLst/>
                <a:latin typeface="+mn-lt"/>
                <a:ea typeface="+mn-ea"/>
                <a:cs typeface="+mn-cs"/>
              </a:rPr>
              <a:t>RRR</a:t>
            </a:r>
            <a:r>
              <a:rPr lang="zh-CN" altLang="zh-CN" sz="1200" kern="1200" dirty="0" smtClean="0">
                <a:solidFill>
                  <a:schemeClr val="tx1"/>
                </a:solidFill>
                <a:effectLst/>
                <a:latin typeface="+mn-lt"/>
                <a:ea typeface="+mn-ea"/>
                <a:cs typeface="+mn-cs"/>
              </a:rPr>
              <a:t>手腕加上三自由度的链式坐标机械臂基础上，发展出了六自由度的通用型工业机械臂。通用型六轴工业机械臂（每个轴具有一个旋转自由度）一般模拟人类的手臂，设计成腰部、肩部、肘部三个大的关节，加上比较灵活的腕部三个小关节，如图</a:t>
            </a:r>
            <a:r>
              <a:rPr lang="en-US" altLang="zh-CN" sz="1200" kern="1200" dirty="0" smtClean="0">
                <a:solidFill>
                  <a:schemeClr val="tx1"/>
                </a:solidFill>
                <a:effectLst/>
                <a:latin typeface="+mn-lt"/>
                <a:ea typeface="+mn-ea"/>
                <a:cs typeface="+mn-cs"/>
              </a:rPr>
              <a:t>3.14</a:t>
            </a:r>
            <a:r>
              <a:rPr lang="zh-CN" altLang="zh-CN" sz="1200" kern="1200" dirty="0" smtClean="0">
                <a:solidFill>
                  <a:schemeClr val="tx1"/>
                </a:solidFill>
                <a:effectLst/>
                <a:latin typeface="+mn-lt"/>
                <a:ea typeface="+mn-ea"/>
                <a:cs typeface="+mn-cs"/>
              </a:rPr>
              <a:t>所示。</a:t>
            </a:r>
          </a:p>
          <a:p>
            <a:r>
              <a:rPr lang="zh-CN" altLang="zh-CN" sz="1200" kern="1200" dirty="0" smtClean="0">
                <a:solidFill>
                  <a:schemeClr val="tx1"/>
                </a:solidFill>
                <a:effectLst/>
                <a:latin typeface="+mn-lt"/>
                <a:ea typeface="+mn-ea"/>
                <a:cs typeface="+mn-cs"/>
              </a:rPr>
              <a:t>腰部、肩部、肘部三个大的关节一般均为旋转关节，对于工业机器人来说，这三个关节是负载相对较重的位置，通常采用大扭矩的旋转电机加精密减速机驱动，目前工业机械臂在这三个关节上常用的是精密摆线针轮减速机（比如日本帝人公司生产的</a:t>
            </a:r>
            <a:r>
              <a:rPr lang="en-US" altLang="zh-CN" sz="1200" kern="1200" dirty="0" smtClean="0">
                <a:solidFill>
                  <a:schemeClr val="tx1"/>
                </a:solidFill>
                <a:effectLst/>
                <a:latin typeface="+mn-lt"/>
                <a:ea typeface="+mn-ea"/>
                <a:cs typeface="+mn-cs"/>
              </a:rPr>
              <a:t>RV</a:t>
            </a:r>
            <a:r>
              <a:rPr lang="zh-CN" altLang="zh-CN" sz="1200" kern="1200" dirty="0" smtClean="0">
                <a:solidFill>
                  <a:schemeClr val="tx1"/>
                </a:solidFill>
                <a:effectLst/>
                <a:latin typeface="+mn-lt"/>
                <a:ea typeface="+mn-ea"/>
                <a:cs typeface="+mn-cs"/>
              </a:rPr>
              <a:t>减速机）。而腕部的负载相对较小，通常采用谐波齿轮减速机。一般来说我们使用前三个关节来决定机械臂的大致位置，而使用后三个关节来确定末端执行器的具体位姿。</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RV</a:t>
            </a:r>
            <a:r>
              <a:rPr lang="zh-CN" altLang="en-US" sz="1200" b="0" i="0" kern="1200" dirty="0" smtClean="0">
                <a:solidFill>
                  <a:schemeClr val="tx1"/>
                </a:solidFill>
                <a:effectLst/>
                <a:latin typeface="+mn-lt"/>
                <a:ea typeface="+mn-ea"/>
                <a:cs typeface="+mn-cs"/>
              </a:rPr>
              <a:t>减速机是行星减速机与摆线轮减速机的结合。利用行星轮轴的偏心驱动力使得摆线盘在外圈上摆动，达到减速与动力传递的目的。它既有行星减速机减速比变化范围大的特点又有摆线轮反向间隙小、传动力矩大的特点。而且体积相对较小，十分适合安装在机器人上使用。</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sz="1200" b="1" i="0" kern="1200" dirty="0" smtClean="0">
                <a:solidFill>
                  <a:schemeClr val="tx1"/>
                </a:solidFill>
                <a:effectLst/>
                <a:latin typeface="+mn-lt"/>
                <a:ea typeface="+mn-ea"/>
                <a:cs typeface="+mn-cs"/>
              </a:rPr>
              <a:t>波齿轮减速器</a:t>
            </a:r>
            <a:r>
              <a:rPr lang="zh-CN" altLang="en-US" sz="1200" b="0" i="0" kern="1200" dirty="0" smtClean="0">
                <a:solidFill>
                  <a:schemeClr val="tx1"/>
                </a:solidFill>
                <a:effectLst/>
                <a:latin typeface="+mn-lt"/>
                <a:ea typeface="+mn-ea"/>
                <a:cs typeface="+mn-cs"/>
              </a:rPr>
              <a:t>是一种减速装置，由三个基本构件所组成：固定的内齿刚轮、柔轮（即其基体与从动轴相连的弹性薄壁套杯“在柔轮开端的母线上做出齿圈”）、和使柔轮发生径向变形的波发生器。</a:t>
            </a:r>
            <a:r>
              <a:rPr lang="zh-CN" altLang="en-US" dirty="0" smtClean="0"/>
              <a:t/>
            </a:r>
            <a:br>
              <a:rPr lang="zh-CN" altLang="en-US" dirty="0" smtClean="0"/>
            </a:b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37</a:t>
            </a:fld>
            <a:endParaRPr lang="zh-CN" altLang="en-US"/>
          </a:p>
        </p:txBody>
      </p:sp>
    </p:spTree>
    <p:extLst>
      <p:ext uri="{BB962C8B-B14F-4D97-AF65-F5344CB8AC3E}">
        <p14:creationId xmlns:p14="http://schemas.microsoft.com/office/powerpoint/2010/main" val="39159408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39</a:t>
            </a:fld>
            <a:endParaRPr lang="zh-CN" altLang="en-US"/>
          </a:p>
        </p:txBody>
      </p:sp>
    </p:spTree>
    <p:extLst>
      <p:ext uri="{BB962C8B-B14F-4D97-AF65-F5344CB8AC3E}">
        <p14:creationId xmlns:p14="http://schemas.microsoft.com/office/powerpoint/2010/main" val="33348727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机器人运动学求解包括正运动学求解和逆运动学求解。运动学求解的难点一般在于如何快速求取运动学逆解。</a:t>
            </a:r>
          </a:p>
          <a:p>
            <a:r>
              <a:rPr lang="zh-CN" altLang="zh-CN" sz="1200" kern="1200" dirty="0" smtClean="0">
                <a:solidFill>
                  <a:schemeClr val="tx1"/>
                </a:solidFill>
                <a:effectLst/>
                <a:latin typeface="+mn-lt"/>
                <a:ea typeface="+mn-ea"/>
                <a:cs typeface="+mn-cs"/>
              </a:rPr>
              <a:t>机械臂的正运动学有多种建模方法，包括几何建模方法、</a:t>
            </a:r>
            <a:r>
              <a:rPr lang="en-US" altLang="zh-CN" sz="1200" kern="1200" dirty="0" smtClean="0">
                <a:solidFill>
                  <a:schemeClr val="tx1"/>
                </a:solidFill>
                <a:effectLst/>
                <a:latin typeface="+mn-lt"/>
                <a:ea typeface="+mn-ea"/>
                <a:cs typeface="+mn-cs"/>
              </a:rPr>
              <a:t>D-H</a:t>
            </a:r>
            <a:r>
              <a:rPr lang="zh-CN" altLang="zh-CN" sz="1200" kern="1200" dirty="0" smtClean="0">
                <a:solidFill>
                  <a:schemeClr val="tx1"/>
                </a:solidFill>
                <a:effectLst/>
                <a:latin typeface="+mn-lt"/>
                <a:ea typeface="+mn-ea"/>
                <a:cs typeface="+mn-cs"/>
              </a:rPr>
              <a:t>表示法（包含</a:t>
            </a:r>
            <a:r>
              <a:rPr lang="en-US" altLang="zh-CN" sz="1200" i="1" kern="1200" dirty="0" smtClean="0">
                <a:solidFill>
                  <a:schemeClr val="tx1"/>
                </a:solidFill>
                <a:effectLst/>
                <a:latin typeface="+mn-lt"/>
                <a:ea typeface="+mn-ea"/>
                <a:cs typeface="+mn-cs"/>
              </a:rPr>
              <a:t>SDH</a:t>
            </a:r>
            <a:r>
              <a:rPr lang="zh-CN" altLang="zh-CN" sz="1200" kern="1200" dirty="0" smtClean="0">
                <a:solidFill>
                  <a:schemeClr val="tx1"/>
                </a:solidFill>
                <a:effectLst/>
                <a:latin typeface="+mn-lt"/>
                <a:ea typeface="+mn-ea"/>
                <a:cs typeface="+mn-cs"/>
              </a:rPr>
              <a:t>和</a:t>
            </a:r>
            <a:r>
              <a:rPr lang="en-US" altLang="zh-CN" sz="1200" i="1" kern="1200" dirty="0" smtClean="0">
                <a:solidFill>
                  <a:schemeClr val="tx1"/>
                </a:solidFill>
                <a:effectLst/>
                <a:latin typeface="+mn-lt"/>
                <a:ea typeface="+mn-ea"/>
                <a:cs typeface="+mn-cs"/>
              </a:rPr>
              <a:t>MDH</a:t>
            </a:r>
            <a:r>
              <a:rPr lang="zh-CN" altLang="zh-CN" sz="1200" kern="1200" dirty="0" smtClean="0">
                <a:solidFill>
                  <a:schemeClr val="tx1"/>
                </a:solidFill>
                <a:effectLst/>
                <a:latin typeface="+mn-lt"/>
                <a:ea typeface="+mn-ea"/>
                <a:cs typeface="+mn-cs"/>
              </a:rPr>
              <a:t>模型）、旋量法、四元数法、罗德里格斯参数法、对偶四元数法等。工业机器人往往被用在需要重复执行的作业过程中，通过示教的形式存储各关节变量的值，然后控制机器人“再现”各关节的运动，机器人返回示教点的精度一般被称为</a:t>
            </a:r>
            <a:r>
              <a:rPr lang="zh-CN" altLang="zh-CN" sz="1200" b="1" kern="1200" dirty="0" smtClean="0">
                <a:solidFill>
                  <a:schemeClr val="tx1"/>
                </a:solidFill>
                <a:effectLst/>
                <a:latin typeface="+mn-lt"/>
                <a:ea typeface="+mn-ea"/>
                <a:cs typeface="+mn-cs"/>
              </a:rPr>
              <a:t>重复定位精度</a:t>
            </a:r>
            <a:r>
              <a:rPr lang="zh-CN" altLang="zh-CN" sz="1200" kern="1200" dirty="0" smtClean="0">
                <a:solidFill>
                  <a:schemeClr val="tx1"/>
                </a:solidFill>
                <a:effectLst/>
                <a:latin typeface="+mn-lt"/>
                <a:ea typeface="+mn-ea"/>
                <a:cs typeface="+mn-cs"/>
              </a:rPr>
              <a:t>。工业机器人的连杆刚度较大，其运动过程中的变形可以忽略不计，其重复定位精度主要的误差来源于关节传动装置之间的间隙，除此之外，还取决于机器人正运动学的控制精度，例如关节转动角度的位置控制精度。</a:t>
            </a:r>
          </a:p>
          <a:p>
            <a:r>
              <a:rPr lang="zh-CN" altLang="zh-CN" sz="1200" kern="1200" dirty="0" smtClean="0">
                <a:solidFill>
                  <a:schemeClr val="tx1"/>
                </a:solidFill>
                <a:effectLst/>
                <a:latin typeface="+mn-lt"/>
                <a:ea typeface="+mn-ea"/>
                <a:cs typeface="+mn-cs"/>
              </a:rPr>
              <a:t>机械臂运动学逆解方法可分为</a:t>
            </a:r>
            <a:r>
              <a:rPr lang="zh-CN" altLang="zh-CN" sz="1200" b="1" kern="1200" dirty="0" smtClean="0">
                <a:solidFill>
                  <a:schemeClr val="tx1"/>
                </a:solidFill>
                <a:effectLst/>
                <a:latin typeface="+mn-lt"/>
                <a:ea typeface="+mn-ea"/>
                <a:cs typeface="+mn-cs"/>
              </a:rPr>
              <a:t>封闭解法</a:t>
            </a:r>
            <a:r>
              <a:rPr lang="zh-CN" altLang="zh-CN" sz="1200" kern="1200" dirty="0" smtClean="0">
                <a:solidFill>
                  <a:schemeClr val="tx1"/>
                </a:solidFill>
                <a:effectLst/>
                <a:latin typeface="+mn-lt"/>
                <a:ea typeface="+mn-ea"/>
                <a:cs typeface="+mn-cs"/>
              </a:rPr>
              <a:t>和</a:t>
            </a:r>
            <a:r>
              <a:rPr lang="zh-CN" altLang="zh-CN" sz="1200" b="1" kern="1200" dirty="0" smtClean="0">
                <a:solidFill>
                  <a:schemeClr val="tx1"/>
                </a:solidFill>
                <a:effectLst/>
                <a:latin typeface="+mn-lt"/>
                <a:ea typeface="+mn-ea"/>
                <a:cs typeface="+mn-cs"/>
              </a:rPr>
              <a:t>数值解法</a:t>
            </a:r>
            <a:r>
              <a:rPr lang="zh-CN" altLang="zh-CN" sz="1200" kern="1200" dirty="0" smtClean="0">
                <a:solidFill>
                  <a:schemeClr val="tx1"/>
                </a:solidFill>
                <a:effectLst/>
                <a:latin typeface="+mn-lt"/>
                <a:ea typeface="+mn-ea"/>
                <a:cs typeface="+mn-cs"/>
              </a:rPr>
              <a:t>两大类。</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40</a:t>
            </a:fld>
            <a:endParaRPr lang="zh-CN" altLang="en-US"/>
          </a:p>
        </p:txBody>
      </p:sp>
    </p:spTree>
    <p:extLst>
      <p:ext uri="{BB962C8B-B14F-4D97-AF65-F5344CB8AC3E}">
        <p14:creationId xmlns:p14="http://schemas.microsoft.com/office/powerpoint/2010/main" val="216521397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目前大多数六关节串联工业机器人采用</a:t>
            </a:r>
            <a:r>
              <a:rPr lang="en-US" altLang="zh-CN" sz="1200" i="1" kern="1200" dirty="0" smtClean="0">
                <a:solidFill>
                  <a:schemeClr val="tx1"/>
                </a:solidFill>
                <a:effectLst/>
                <a:latin typeface="+mn-lt"/>
                <a:ea typeface="+mn-ea"/>
                <a:cs typeface="+mn-cs"/>
              </a:rPr>
              <a:t>Pieper</a:t>
            </a:r>
            <a:r>
              <a:rPr lang="zh-CN" altLang="zh-CN" sz="1200" kern="1200" dirty="0" smtClean="0">
                <a:solidFill>
                  <a:schemeClr val="tx1"/>
                </a:solidFill>
                <a:effectLst/>
                <a:latin typeface="+mn-lt"/>
                <a:ea typeface="+mn-ea"/>
                <a:cs typeface="+mn-cs"/>
              </a:rPr>
              <a:t>准则的第一个充分条件，即将最后三个关节设计成紧凑的腕部关节，腕部关节相交于腕点，而</a:t>
            </a:r>
            <a:r>
              <a:rPr lang="en-US" altLang="zh-CN" sz="1200" i="1" kern="1200" dirty="0" smtClean="0">
                <a:solidFill>
                  <a:schemeClr val="tx1"/>
                </a:solidFill>
                <a:effectLst/>
                <a:latin typeface="+mn-lt"/>
                <a:ea typeface="+mn-ea"/>
                <a:cs typeface="+mn-cs"/>
              </a:rPr>
              <a:t>SCARA</a:t>
            </a:r>
            <a:r>
              <a:rPr lang="zh-CN" altLang="zh-CN" sz="1200" kern="1200" dirty="0" smtClean="0">
                <a:solidFill>
                  <a:schemeClr val="tx1"/>
                </a:solidFill>
                <a:effectLst/>
                <a:latin typeface="+mn-lt"/>
                <a:ea typeface="+mn-ea"/>
                <a:cs typeface="+mn-cs"/>
              </a:rPr>
              <a:t>及其他一些机器人则采用第二个充分条件，让其相邻的旋转关节轴线平行，这样做的目的是让机器人具有封闭解。</a:t>
            </a:r>
          </a:p>
          <a:p>
            <a:r>
              <a:rPr lang="zh-CN" altLang="zh-CN" sz="1200" kern="1200" dirty="0" smtClean="0">
                <a:solidFill>
                  <a:schemeClr val="tx1"/>
                </a:solidFill>
                <a:effectLst/>
                <a:latin typeface="+mn-lt"/>
                <a:ea typeface="+mn-ea"/>
                <a:cs typeface="+mn-cs"/>
              </a:rPr>
              <a:t>采用数值解法不受机器人结构的限制，数值解法主要包括消元法、延拓法和迭代计算法三大类。消元法由机器人的非线性运动方程出发构造相关的多项式方程，通过计算该多项式方程求得其逆解；延拓法通过跟踪解的路径，从一个逆运动学解已知的初始位姿出发计算目标位姿的逆解；迭代法则从一个给定的初始值出发，迭代地计算问题的精确解。</a:t>
            </a:r>
          </a:p>
          <a:p>
            <a:r>
              <a:rPr lang="zh-CN" altLang="zh-CN" sz="1200" kern="1200" dirty="0" smtClean="0">
                <a:solidFill>
                  <a:schemeClr val="tx1"/>
                </a:solidFill>
                <a:effectLst/>
                <a:latin typeface="+mn-lt"/>
                <a:ea typeface="+mn-ea"/>
                <a:cs typeface="+mn-cs"/>
              </a:rPr>
              <a:t>基于智能控制方法的求解思想是将机器人运动方程转化为一个控制问题来求解，主要包括遗传算法、神经网络算法及各种智能计算方法的组合形式，其实质也是一种数值解。</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工业机器人的</a:t>
            </a:r>
            <a:r>
              <a:rPr lang="zh-CN" altLang="zh-CN" sz="1200" b="1" kern="1200" dirty="0" smtClean="0">
                <a:solidFill>
                  <a:schemeClr val="tx1"/>
                </a:solidFill>
                <a:effectLst/>
                <a:latin typeface="+mn-lt"/>
                <a:ea typeface="+mn-ea"/>
                <a:cs typeface="+mn-cs"/>
              </a:rPr>
              <a:t>定位精度</a:t>
            </a:r>
            <a:r>
              <a:rPr lang="zh-CN" altLang="zh-CN" sz="1200" kern="1200" dirty="0" smtClean="0">
                <a:solidFill>
                  <a:schemeClr val="tx1"/>
                </a:solidFill>
                <a:effectLst/>
                <a:latin typeface="+mn-lt"/>
                <a:ea typeface="+mn-ea"/>
                <a:cs typeface="+mn-cs"/>
              </a:rPr>
              <a:t>包含两个指标：</a:t>
            </a:r>
            <a:r>
              <a:rPr lang="zh-CN" altLang="zh-CN" sz="1200" b="1" kern="1200" dirty="0" smtClean="0">
                <a:solidFill>
                  <a:schemeClr val="tx1"/>
                </a:solidFill>
                <a:effectLst/>
                <a:latin typeface="+mn-lt"/>
                <a:ea typeface="+mn-ea"/>
                <a:cs typeface="+mn-cs"/>
              </a:rPr>
              <a:t>重复定位精度</a:t>
            </a:r>
            <a:r>
              <a:rPr lang="zh-CN" altLang="zh-CN" sz="1200" kern="1200" dirty="0" smtClean="0">
                <a:solidFill>
                  <a:schemeClr val="tx1"/>
                </a:solidFill>
                <a:effectLst/>
                <a:latin typeface="+mn-lt"/>
                <a:ea typeface="+mn-ea"/>
                <a:cs typeface="+mn-cs"/>
              </a:rPr>
              <a:t>以及</a:t>
            </a:r>
            <a:r>
              <a:rPr lang="zh-CN" altLang="zh-CN" sz="1200" b="1" kern="1200" dirty="0" smtClean="0">
                <a:solidFill>
                  <a:schemeClr val="tx1"/>
                </a:solidFill>
                <a:effectLst/>
                <a:latin typeface="+mn-lt"/>
                <a:ea typeface="+mn-ea"/>
                <a:cs typeface="+mn-cs"/>
              </a:rPr>
              <a:t>绝对定位精度</a:t>
            </a:r>
            <a:r>
              <a:rPr lang="zh-CN" altLang="zh-CN" sz="1200" kern="1200" dirty="0" smtClean="0">
                <a:solidFill>
                  <a:schemeClr val="tx1"/>
                </a:solidFill>
                <a:effectLst/>
                <a:latin typeface="+mn-lt"/>
                <a:ea typeface="+mn-ea"/>
                <a:cs typeface="+mn-cs"/>
              </a:rPr>
              <a:t>。工业机器人需要沿着计算得到的轨迹精确运动到目标点（目标点的位置和姿态），这些点的位姿不是通过示教的形式获得的，机器人到达这些计算点的精度被称为</a:t>
            </a:r>
            <a:r>
              <a:rPr lang="zh-CN" altLang="zh-CN" sz="1200" b="1" kern="1200" dirty="0" smtClean="0">
                <a:solidFill>
                  <a:schemeClr val="tx1"/>
                </a:solidFill>
                <a:effectLst/>
                <a:latin typeface="+mn-lt"/>
                <a:ea typeface="+mn-ea"/>
                <a:cs typeface="+mn-cs"/>
              </a:rPr>
              <a:t>绝对定位精度</a:t>
            </a:r>
            <a:r>
              <a:rPr lang="zh-CN" altLang="zh-CN" sz="1200" kern="1200" dirty="0" smtClean="0">
                <a:solidFill>
                  <a:schemeClr val="tx1"/>
                </a:solidFill>
                <a:effectLst/>
                <a:latin typeface="+mn-lt"/>
                <a:ea typeface="+mn-ea"/>
                <a:cs typeface="+mn-cs"/>
              </a:rPr>
              <a:t>。绝对定位精度取决于运动学的逆解精度，如果采用</a:t>
            </a:r>
            <a:r>
              <a:rPr lang="en-US" altLang="zh-CN" sz="1200" kern="1200" dirty="0" smtClean="0">
                <a:solidFill>
                  <a:schemeClr val="tx1"/>
                </a:solidFill>
                <a:effectLst/>
                <a:latin typeface="+mn-lt"/>
                <a:ea typeface="+mn-ea"/>
                <a:cs typeface="+mn-cs"/>
              </a:rPr>
              <a:t>DH</a:t>
            </a:r>
            <a:r>
              <a:rPr lang="zh-CN" altLang="zh-CN" sz="1200" kern="1200" dirty="0" smtClean="0">
                <a:solidFill>
                  <a:schemeClr val="tx1"/>
                </a:solidFill>
                <a:effectLst/>
                <a:latin typeface="+mn-lt"/>
                <a:ea typeface="+mn-ea"/>
                <a:cs typeface="+mn-cs"/>
              </a:rPr>
              <a:t>表示法对机器人建模，那么</a:t>
            </a:r>
            <a:r>
              <a:rPr lang="en-US" altLang="zh-CN" sz="1200" kern="1200" dirty="0" smtClean="0">
                <a:solidFill>
                  <a:schemeClr val="tx1"/>
                </a:solidFill>
                <a:effectLst/>
                <a:latin typeface="+mn-lt"/>
                <a:ea typeface="+mn-ea"/>
                <a:cs typeface="+mn-cs"/>
              </a:rPr>
              <a:t>DH</a:t>
            </a:r>
            <a:r>
              <a:rPr lang="zh-CN" altLang="zh-CN" sz="1200" kern="1200" dirty="0" smtClean="0">
                <a:solidFill>
                  <a:schemeClr val="tx1"/>
                </a:solidFill>
                <a:effectLst/>
                <a:latin typeface="+mn-lt"/>
                <a:ea typeface="+mn-ea"/>
                <a:cs typeface="+mn-cs"/>
              </a:rPr>
              <a:t>参数中的误差将会引起逆运动学方程中关节角的计算误差。因此，尽管绝大多数工业机器人的重复定位精度非常好，但绝对定位精度比较差，而且同一型号的操作臂之间的绝对定位精度也相差较大。一般来说，操作臂的绝对定位精度不会超过其重复定位精度，可以通过对操作臂运动学参数进行标定来提高操作臂的重复定位精度。有关工业机器人运动学参数的标定方法将在</a:t>
            </a:r>
            <a:r>
              <a:rPr lang="en-US" altLang="zh-CN" sz="1200" kern="1200" dirty="0" smtClean="0">
                <a:solidFill>
                  <a:schemeClr val="tx1"/>
                </a:solidFill>
                <a:effectLst/>
                <a:latin typeface="+mn-lt"/>
                <a:ea typeface="+mn-ea"/>
                <a:cs typeface="+mn-cs"/>
              </a:rPr>
              <a:t>6.3</a:t>
            </a:r>
            <a:r>
              <a:rPr lang="zh-CN" altLang="zh-CN" sz="1200" kern="1200" dirty="0" smtClean="0">
                <a:solidFill>
                  <a:schemeClr val="tx1"/>
                </a:solidFill>
                <a:effectLst/>
                <a:latin typeface="+mn-lt"/>
                <a:ea typeface="+mn-ea"/>
                <a:cs typeface="+mn-cs"/>
              </a:rPr>
              <a:t>节进行介绍。</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41</a:t>
            </a:fld>
            <a:endParaRPr lang="zh-CN" altLang="en-US"/>
          </a:p>
        </p:txBody>
      </p:sp>
    </p:spTree>
    <p:extLst>
      <p:ext uri="{BB962C8B-B14F-4D97-AF65-F5344CB8AC3E}">
        <p14:creationId xmlns:p14="http://schemas.microsoft.com/office/powerpoint/2010/main" val="19149887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本章以通用型</a:t>
            </a:r>
            <a:r>
              <a:rPr lang="en-US" altLang="zh-CN" sz="1200" kern="1200" dirty="0" smtClean="0">
                <a:solidFill>
                  <a:schemeClr val="tx1"/>
                </a:solidFill>
                <a:effectLst/>
                <a:latin typeface="+mn-lt"/>
                <a:ea typeface="+mn-ea"/>
                <a:cs typeface="+mn-cs"/>
              </a:rPr>
              <a:t>6R</a:t>
            </a:r>
            <a:r>
              <a:rPr lang="zh-CN" altLang="zh-CN" sz="1200" kern="1200" dirty="0" smtClean="0">
                <a:solidFill>
                  <a:schemeClr val="tx1"/>
                </a:solidFill>
                <a:effectLst/>
                <a:latin typeface="+mn-lt"/>
                <a:ea typeface="+mn-ea"/>
                <a:cs typeface="+mn-cs"/>
              </a:rPr>
              <a:t>机器人实例介绍主要的正运动学与逆运动学算法。</a:t>
            </a:r>
          </a:p>
          <a:p>
            <a:r>
              <a:rPr lang="en-US" altLang="zh-CN" sz="1200" kern="1200" dirty="0" smtClean="0">
                <a:solidFill>
                  <a:schemeClr val="tx1"/>
                </a:solidFill>
                <a:effectLst/>
                <a:latin typeface="+mn-lt"/>
                <a:ea typeface="+mn-ea"/>
                <a:cs typeface="+mn-cs"/>
              </a:rPr>
              <a:t>	</a:t>
            </a:r>
            <a:r>
              <a:rPr lang="zh-CN" altLang="zh-CN" sz="1200" kern="1200" dirty="0" smtClean="0">
                <a:solidFill>
                  <a:schemeClr val="tx1"/>
                </a:solidFill>
                <a:effectLst/>
                <a:latin typeface="+mn-lt"/>
                <a:ea typeface="+mn-ea"/>
                <a:cs typeface="+mn-cs"/>
              </a:rPr>
              <a:t>如图</a:t>
            </a:r>
            <a:r>
              <a:rPr lang="en-US" altLang="zh-CN" sz="1200" kern="1200" dirty="0" smtClean="0">
                <a:solidFill>
                  <a:schemeClr val="tx1"/>
                </a:solidFill>
                <a:effectLst/>
                <a:latin typeface="+mn-lt"/>
                <a:ea typeface="+mn-ea"/>
                <a:cs typeface="+mn-cs"/>
              </a:rPr>
              <a:t>3.15</a:t>
            </a:r>
            <a:r>
              <a:rPr lang="zh-CN" altLang="zh-CN" sz="1200" kern="1200" dirty="0" smtClean="0">
                <a:solidFill>
                  <a:schemeClr val="tx1"/>
                </a:solidFill>
                <a:effectLst/>
                <a:latin typeface="+mn-lt"/>
                <a:ea typeface="+mn-ea"/>
                <a:cs typeface="+mn-cs"/>
              </a:rPr>
              <a:t>所示，通用型机械臂</a:t>
            </a:r>
            <a:r>
              <a:rPr lang="en-US" altLang="zh-CN" sz="1200" kern="1200" dirty="0" smtClean="0">
                <a:solidFill>
                  <a:schemeClr val="tx1"/>
                </a:solidFill>
                <a:effectLst/>
                <a:latin typeface="+mn-lt"/>
                <a:ea typeface="+mn-ea"/>
                <a:cs typeface="+mn-cs"/>
              </a:rPr>
              <a:t>AUBO i5</a:t>
            </a:r>
            <a:r>
              <a:rPr lang="zh-CN" altLang="zh-CN" sz="1200" kern="1200" dirty="0" smtClean="0">
                <a:solidFill>
                  <a:schemeClr val="tx1"/>
                </a:solidFill>
                <a:effectLst/>
                <a:latin typeface="+mn-lt"/>
                <a:ea typeface="+mn-ea"/>
                <a:cs typeface="+mn-cs"/>
              </a:rPr>
              <a:t>机器人的各关节由无刷直流电机驱动，配以高精度谐波齿轮减速器，可实现搬运、码垛、焊接、喷涂、组装等操作。</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42</a:t>
            </a:fld>
            <a:endParaRPr lang="zh-CN" altLang="en-US"/>
          </a:p>
        </p:txBody>
      </p:sp>
    </p:spTree>
    <p:extLst>
      <p:ext uri="{BB962C8B-B14F-4D97-AF65-F5344CB8AC3E}">
        <p14:creationId xmlns:p14="http://schemas.microsoft.com/office/powerpoint/2010/main" val="30337687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43</a:t>
            </a:fld>
            <a:endParaRPr lang="zh-CN" altLang="en-US"/>
          </a:p>
        </p:txBody>
      </p:sp>
    </p:spTree>
    <p:extLst>
      <p:ext uri="{BB962C8B-B14F-4D97-AF65-F5344CB8AC3E}">
        <p14:creationId xmlns:p14="http://schemas.microsoft.com/office/powerpoint/2010/main" val="115239998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smtClean="0"/>
              <a:t>把连杆这样展开的目的，在于方便后面画连杆坐标系。当然也可按图</a:t>
            </a:r>
            <a:r>
              <a:rPr lang="en-US" altLang="zh-CN" dirty="0" smtClean="0"/>
              <a:t>3.15</a:t>
            </a:r>
            <a:r>
              <a:rPr lang="zh-CN" altLang="en-US" dirty="0" smtClean="0"/>
              <a:t>所示，将机械臂整个立起来，画坐标系计算</a:t>
            </a:r>
            <a:r>
              <a:rPr lang="en-US" altLang="zh-CN" dirty="0" smtClean="0"/>
              <a:t>MDH</a:t>
            </a:r>
            <a:r>
              <a:rPr lang="zh-CN" altLang="en-US" dirty="0" smtClean="0"/>
              <a:t>参数，这样机械臂的各关节零位设置就是立起来的样子，而如按图</a:t>
            </a:r>
            <a:r>
              <a:rPr lang="en-US" altLang="zh-CN" dirty="0" smtClean="0"/>
              <a:t>3.16</a:t>
            </a:r>
            <a:r>
              <a:rPr lang="zh-CN" altLang="en-US" dirty="0" smtClean="0"/>
              <a:t>这样展开，空间感更强一些，便于理解。（注意</a:t>
            </a:r>
            <a:r>
              <a:rPr lang="en-US" altLang="zh-CN" dirty="0" smtClean="0"/>
              <a:t>: </a:t>
            </a:r>
            <a:r>
              <a:rPr lang="zh-CN" altLang="en-US" dirty="0" smtClean="0"/>
              <a:t>如果这样建模的话，第</a:t>
            </a:r>
            <a:r>
              <a:rPr lang="en-US" altLang="zh-CN" dirty="0" smtClean="0"/>
              <a:t>2</a:t>
            </a:r>
            <a:r>
              <a:rPr lang="zh-CN" altLang="en-US" dirty="0" smtClean="0"/>
              <a:t>个关节和</a:t>
            </a:r>
            <a:r>
              <a:rPr lang="en-US" altLang="zh-CN" dirty="0" smtClean="0"/>
              <a:t>AUBO-i5</a:t>
            </a:r>
            <a:r>
              <a:rPr lang="zh-CN" altLang="en-US" dirty="0" smtClean="0"/>
              <a:t>的零位相差</a:t>
            </a:r>
            <a:r>
              <a:rPr lang="en-US" altLang="zh-CN" dirty="0" smtClean="0"/>
              <a:t>90</a:t>
            </a:r>
            <a:r>
              <a:rPr lang="zh-CN" altLang="en-US" dirty="0" smtClean="0"/>
              <a:t>度，第</a:t>
            </a:r>
            <a:r>
              <a:rPr lang="en-US" altLang="zh-CN" dirty="0" smtClean="0"/>
              <a:t>3</a:t>
            </a:r>
            <a:r>
              <a:rPr lang="zh-CN" altLang="en-US" dirty="0" smtClean="0"/>
              <a:t>个关节方向反向，第</a:t>
            </a:r>
            <a:r>
              <a:rPr lang="en-US" altLang="zh-CN" dirty="0" smtClean="0"/>
              <a:t>4</a:t>
            </a:r>
            <a:r>
              <a:rPr lang="zh-CN" altLang="en-US" dirty="0" smtClean="0"/>
              <a:t>个关节也相差</a:t>
            </a:r>
            <a:r>
              <a:rPr lang="en-US" altLang="zh-CN" dirty="0" smtClean="0"/>
              <a:t>90</a:t>
            </a:r>
            <a:r>
              <a:rPr lang="zh-CN" altLang="en-US" dirty="0" smtClean="0"/>
              <a:t>度，实际控制机器人需要调整这三个关节角）</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44</a:t>
            </a:fld>
            <a:endParaRPr lang="zh-CN" altLang="en-US"/>
          </a:p>
        </p:txBody>
      </p:sp>
    </p:spTree>
    <p:extLst>
      <p:ext uri="{BB962C8B-B14F-4D97-AF65-F5344CB8AC3E}">
        <p14:creationId xmlns:p14="http://schemas.microsoft.com/office/powerpoint/2010/main" val="253075777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a:t>
                </a:r>
                <a:r>
                  <a:rPr lang="zh-CN" altLang="zh-CN" sz="1200" b="1" kern="1200" dirty="0">
                    <a:solidFill>
                      <a:schemeClr val="tx1"/>
                    </a:solidFill>
                    <a:effectLst/>
                    <a:latin typeface="+mn-lt"/>
                    <a:ea typeface="+mn-ea"/>
                    <a:cs typeface="+mn-cs"/>
                  </a:rPr>
                  <a:t>将连杆坐标系的原点建立在连杆的输入端</a:t>
                </a:r>
                <a:r>
                  <a:rPr lang="en-US" altLang="zh-CN" sz="1200" b="1" kern="1200" dirty="0">
                    <a:solidFill>
                      <a:schemeClr val="tx1"/>
                    </a:solidFill>
                    <a:effectLst/>
                    <a:latin typeface="+mn-lt"/>
                    <a:ea typeface="+mn-ea"/>
                    <a:cs typeface="+mn-cs"/>
                  </a:rPr>
                  <a:t>(</a:t>
                </a:r>
                <a:r>
                  <a:rPr lang="zh-CN" altLang="zh-CN" sz="1200" b="1" kern="1200" dirty="0">
                    <a:solidFill>
                      <a:schemeClr val="tx1"/>
                    </a:solidFill>
                    <a:effectLst/>
                    <a:latin typeface="+mn-lt"/>
                    <a:ea typeface="+mn-ea"/>
                    <a:cs typeface="+mn-cs"/>
                  </a:rPr>
                  <a:t>对于旋转关节来说，</a:t>
                </a:r>
                <a:r>
                  <a:rPr lang="en-US" altLang="zh-CN" sz="1200" b="1" kern="1200" dirty="0">
                    <a:solidFill>
                      <a:schemeClr val="tx1"/>
                    </a:solidFill>
                    <a:effectLst/>
                    <a:latin typeface="+mn-lt"/>
                    <a:ea typeface="+mn-ea"/>
                    <a:cs typeface="+mn-cs"/>
                  </a:rPr>
                  <a:t>MDH</a:t>
                </a:r>
                <a:r>
                  <a:rPr lang="zh-CN" altLang="zh-CN" sz="1200" b="1" kern="1200" dirty="0">
                    <a:solidFill>
                      <a:schemeClr val="tx1"/>
                    </a:solidFill>
                    <a:effectLst/>
                    <a:latin typeface="+mn-lt"/>
                    <a:ea typeface="+mn-ea"/>
                    <a:cs typeface="+mn-cs"/>
                  </a:rPr>
                  <a:t>表示法的连杆坐标系一般建立在前一个关节处</a:t>
                </a:r>
                <a:r>
                  <a:rPr lang="en-US" altLang="zh-CN" sz="1200" b="1" kern="1200" dirty="0">
                    <a:solidFill>
                      <a:schemeClr val="tx1"/>
                    </a:solidFill>
                    <a:effectLst/>
                    <a:latin typeface="+mn-lt"/>
                    <a:ea typeface="+mn-ea"/>
                    <a:cs typeface="+mn-cs"/>
                  </a:rPr>
                  <a:t>)</a:t>
                </a:r>
                <a:r>
                  <a:rPr lang="zh-CN" altLang="zh-CN" sz="1200" b="1"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第一个构件（基座）坐标系</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一般和世界坐标系重合。</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）找出世界坐标和基座的共垂线或交点，以世界坐标和基座的交点，或共垂线与基座的交点作为坐标系</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的原点；</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）规定</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沿关节</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（编号从</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开始）的输出方向；</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）规定</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沿共垂线由关节</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指向关节</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。如果关节</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和关节</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平行，则</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垂直于关节</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和关节</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所在的平面；</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）按照右手法则确定</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𝑌</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的方向；</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）对于连杆坐标系</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 其原点和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的方向是可以任意选取的。但在选取过程中，为了后面的矩阵运算简单化，建议尽量使连杆长度参数</a:t>
                </a:r>
                <a:r>
                  <a:rPr lang="en-US" altLang="zh-CN" sz="1200"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为</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a:t>
                </a:r>
                <a:endParaRPr lang="zh-CN" altLang="en-US" dirty="0"/>
              </a:p>
            </p:txBody>
          </p:sp>
        </mc:Choice>
        <mc:Fallback xmlns="">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a:t>
                </a:r>
                <a:r>
                  <a:rPr lang="zh-CN" altLang="zh-CN" sz="1200" b="1" kern="1200" dirty="0">
                    <a:solidFill>
                      <a:schemeClr val="tx1"/>
                    </a:solidFill>
                    <a:effectLst/>
                    <a:latin typeface="+mn-lt"/>
                    <a:ea typeface="+mn-ea"/>
                    <a:cs typeface="+mn-cs"/>
                  </a:rPr>
                  <a:t>将连杆坐标系的原点建立在连杆的输入端</a:t>
                </a:r>
                <a:r>
                  <a:rPr lang="en-US" altLang="zh-CN" sz="1200" b="1" kern="1200" dirty="0">
                    <a:solidFill>
                      <a:schemeClr val="tx1"/>
                    </a:solidFill>
                    <a:effectLst/>
                    <a:latin typeface="+mn-lt"/>
                    <a:ea typeface="+mn-ea"/>
                    <a:cs typeface="+mn-cs"/>
                  </a:rPr>
                  <a:t>(</a:t>
                </a:r>
                <a:r>
                  <a:rPr lang="zh-CN" altLang="zh-CN" sz="1200" b="1" kern="1200" dirty="0">
                    <a:solidFill>
                      <a:schemeClr val="tx1"/>
                    </a:solidFill>
                    <a:effectLst/>
                    <a:latin typeface="+mn-lt"/>
                    <a:ea typeface="+mn-ea"/>
                    <a:cs typeface="+mn-cs"/>
                  </a:rPr>
                  <a:t>对于旋转关节来说，</a:t>
                </a:r>
                <a:r>
                  <a:rPr lang="en-US" altLang="zh-CN" sz="1200" b="1" kern="1200" dirty="0">
                    <a:solidFill>
                      <a:schemeClr val="tx1"/>
                    </a:solidFill>
                    <a:effectLst/>
                    <a:latin typeface="+mn-lt"/>
                    <a:ea typeface="+mn-ea"/>
                    <a:cs typeface="+mn-cs"/>
                  </a:rPr>
                  <a:t>MDH</a:t>
                </a:r>
                <a:r>
                  <a:rPr lang="zh-CN" altLang="zh-CN" sz="1200" b="1" kern="1200" dirty="0">
                    <a:solidFill>
                      <a:schemeClr val="tx1"/>
                    </a:solidFill>
                    <a:effectLst/>
                    <a:latin typeface="+mn-lt"/>
                    <a:ea typeface="+mn-ea"/>
                    <a:cs typeface="+mn-cs"/>
                  </a:rPr>
                  <a:t>表示法的连杆坐标系一般建立在前一个关节处</a:t>
                </a:r>
                <a:r>
                  <a:rPr lang="en-US" altLang="zh-CN" sz="1200" b="1" kern="1200" dirty="0">
                    <a:solidFill>
                      <a:schemeClr val="tx1"/>
                    </a:solidFill>
                    <a:effectLst/>
                    <a:latin typeface="+mn-lt"/>
                    <a:ea typeface="+mn-ea"/>
                    <a:cs typeface="+mn-cs"/>
                  </a:rPr>
                  <a:t>)</a:t>
                </a:r>
                <a:r>
                  <a:rPr lang="zh-CN" altLang="zh-CN" sz="1200" b="1"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第一个构件（基座）坐标系</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一般和世界坐标系重合。</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）找出世界坐标和基座的共垂线或交点，以世界坐标和基座的交点，或共垂线与基座的交点作为坐标系</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的原点；</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）规定</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沿关节</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（编号从</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开始）的输出方向；</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）规定</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沿共垂线由关节</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指向关节</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。如果关节</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和关节</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平行，则</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垂直于关节</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和关节</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所在的平面；</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）按照右手法则确定</a:t>
                </a:r>
                <a:r>
                  <a:rPr lang="en-US" altLang="zh-CN" sz="1200" i="0" kern="1200">
                    <a:solidFill>
                      <a:schemeClr val="tx1"/>
                    </a:solidFill>
                    <a:effectLst/>
                    <a:latin typeface="+mn-lt"/>
                    <a:ea typeface="+mn-ea"/>
                    <a:cs typeface="+mn-cs"/>
                  </a:rPr>
                  <a:t>𝑌</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的方向；</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）对于连杆坐标系</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 其原点和</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的方向是可以任意选取的。但在选取过程中，为了后面的矩阵运算简单化，建议尽量使连杆长度参数</a:t>
                </a:r>
                <a:r>
                  <a:rPr lang="en-US" altLang="zh-CN" sz="1200"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为</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45</a:t>
            </a:fld>
            <a:endParaRPr lang="zh-CN" altLang="en-US"/>
          </a:p>
        </p:txBody>
      </p:sp>
    </p:spTree>
    <p:extLst>
      <p:ext uri="{BB962C8B-B14F-4D97-AF65-F5344CB8AC3E}">
        <p14:creationId xmlns:p14="http://schemas.microsoft.com/office/powerpoint/2010/main" val="23873834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5</a:t>
            </a:r>
            <a:r>
              <a:rPr lang="zh-CN" altLang="zh-CN" sz="1200" kern="1200" dirty="0" smtClean="0">
                <a:solidFill>
                  <a:schemeClr val="tx1"/>
                </a:solidFill>
                <a:effectLst/>
                <a:latin typeface="+mn-lt"/>
                <a:ea typeface="+mn-ea"/>
                <a:cs typeface="+mn-cs"/>
              </a:rPr>
              <a:t>）对于坐标系</a:t>
            </a:r>
            <a:r>
              <a:rPr lang="en-US"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i</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 其原点和</a:t>
            </a:r>
            <a:r>
              <a:rPr lang="en-US" altLang="zh-CN" sz="1200" kern="1200" dirty="0" smtClean="0">
                <a:solidFill>
                  <a:schemeClr val="tx1"/>
                </a:solidFill>
                <a:effectLst/>
                <a:latin typeface="+mn-lt"/>
                <a:ea typeface="+mn-ea"/>
                <a:cs typeface="+mn-cs"/>
              </a:rPr>
              <a:t>Xi</a:t>
            </a:r>
            <a:r>
              <a:rPr lang="zh-CN" altLang="zh-CN" sz="1200" kern="1200" dirty="0" smtClean="0">
                <a:solidFill>
                  <a:schemeClr val="tx1"/>
                </a:solidFill>
                <a:effectLst/>
                <a:latin typeface="+mn-lt"/>
                <a:ea typeface="+mn-ea"/>
                <a:cs typeface="+mn-cs"/>
              </a:rPr>
              <a:t>的方向是可以任意选取的。但在选取过程中，为了后面的矩阵运算简单化，建议尽量使连杆长度参数</a:t>
            </a:r>
            <a:r>
              <a:rPr lang="en-US" altLang="zh-CN" sz="1200" kern="1200" dirty="0" smtClean="0">
                <a:solidFill>
                  <a:schemeClr val="tx1"/>
                </a:solidFill>
                <a:effectLst/>
                <a:latin typeface="+mn-lt"/>
                <a:ea typeface="+mn-ea"/>
                <a:cs typeface="+mn-cs"/>
              </a:rPr>
              <a:t>d</a:t>
            </a:r>
            <a:r>
              <a:rPr lang="zh-CN" altLang="zh-CN" sz="1200" kern="1200" dirty="0" smtClean="0">
                <a:solidFill>
                  <a:schemeClr val="tx1"/>
                </a:solidFill>
                <a:effectLst/>
                <a:latin typeface="+mn-lt"/>
                <a:ea typeface="+mn-ea"/>
                <a:cs typeface="+mn-cs"/>
              </a:rPr>
              <a:t>为</a:t>
            </a:r>
            <a:r>
              <a:rPr lang="en-US" altLang="zh-CN" sz="1200" kern="1200" dirty="0" smtClean="0">
                <a:solidFill>
                  <a:schemeClr val="tx1"/>
                </a:solidFill>
                <a:effectLst/>
                <a:latin typeface="+mn-lt"/>
                <a:ea typeface="+mn-ea"/>
                <a:cs typeface="+mn-cs"/>
              </a:rPr>
              <a:t>0</a:t>
            </a:r>
            <a:r>
              <a:rPr lang="zh-CN" altLang="zh-CN" sz="1200" kern="1200" dirty="0" smtClean="0">
                <a:solidFill>
                  <a:schemeClr val="tx1"/>
                </a:solidFill>
                <a:effectLst/>
                <a:latin typeface="+mn-lt"/>
                <a:ea typeface="+mn-ea"/>
                <a:cs typeface="+mn-cs"/>
              </a:rPr>
              <a:t>。</a:t>
            </a:r>
          </a:p>
          <a:p>
            <a:r>
              <a:rPr lang="zh-CN" altLang="zh-CN" sz="1200" kern="1200" dirty="0" smtClean="0">
                <a:solidFill>
                  <a:schemeClr val="tx1"/>
                </a:solidFill>
                <a:effectLst/>
                <a:latin typeface="+mn-lt"/>
                <a:ea typeface="+mn-ea"/>
                <a:cs typeface="+mn-cs"/>
              </a:rPr>
              <a:t>按此步骤，我们依次建立</a:t>
            </a:r>
            <a:r>
              <a:rPr lang="en-US" altLang="zh-CN" sz="1200" kern="1200" dirty="0" smtClean="0">
                <a:solidFill>
                  <a:schemeClr val="tx1"/>
                </a:solidFill>
                <a:effectLst/>
                <a:latin typeface="+mn-lt"/>
                <a:ea typeface="+mn-ea"/>
                <a:cs typeface="+mn-cs"/>
              </a:rPr>
              <a:t>6</a:t>
            </a:r>
            <a:r>
              <a:rPr lang="zh-CN" altLang="zh-CN" sz="1200" kern="1200" dirty="0" smtClean="0">
                <a:solidFill>
                  <a:schemeClr val="tx1"/>
                </a:solidFill>
                <a:effectLst/>
                <a:latin typeface="+mn-lt"/>
                <a:ea typeface="+mn-ea"/>
                <a:cs typeface="+mn-cs"/>
              </a:rPr>
              <a:t>个连杆坐标系，如图</a:t>
            </a:r>
            <a:r>
              <a:rPr lang="en-US" altLang="zh-CN" sz="1200" kern="1200" dirty="0" smtClean="0">
                <a:solidFill>
                  <a:schemeClr val="tx1"/>
                </a:solidFill>
                <a:effectLst/>
                <a:latin typeface="+mn-lt"/>
                <a:ea typeface="+mn-ea"/>
                <a:cs typeface="+mn-cs"/>
              </a:rPr>
              <a:t>3.18</a:t>
            </a:r>
            <a:r>
              <a:rPr lang="zh-CN" altLang="zh-CN" sz="1200" kern="1200" dirty="0" smtClean="0">
                <a:solidFill>
                  <a:schemeClr val="tx1"/>
                </a:solidFill>
                <a:effectLst/>
                <a:latin typeface="+mn-lt"/>
                <a:ea typeface="+mn-ea"/>
                <a:cs typeface="+mn-cs"/>
              </a:rPr>
              <a:t>所示。该图的特点是将</a:t>
            </a:r>
            <a:r>
              <a:rPr lang="en-US" altLang="zh-CN" sz="1200" kern="1200" dirty="0" smtClean="0">
                <a:solidFill>
                  <a:schemeClr val="tx1"/>
                </a:solidFill>
                <a:effectLst/>
                <a:latin typeface="+mn-lt"/>
                <a:ea typeface="+mn-ea"/>
                <a:cs typeface="+mn-cs"/>
              </a:rPr>
              <a:t> {1}{2}{3}</a:t>
            </a:r>
            <a:r>
              <a:rPr lang="zh-CN" altLang="zh-CN" sz="1200" kern="1200" dirty="0" smtClean="0">
                <a:solidFill>
                  <a:schemeClr val="tx1"/>
                </a:solidFill>
                <a:effectLst/>
                <a:latin typeface="+mn-lt"/>
                <a:ea typeface="+mn-ea"/>
                <a:cs typeface="+mn-cs"/>
              </a:rPr>
              <a:t>坐标系的原点设置在沿第</a:t>
            </a:r>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根轴的中心线与各轴的交点上，这样的方式计算</a:t>
            </a:r>
            <a:r>
              <a:rPr lang="en-US" altLang="zh-CN" sz="1200" kern="1200" dirty="0" smtClean="0">
                <a:solidFill>
                  <a:schemeClr val="tx1"/>
                </a:solidFill>
                <a:effectLst/>
                <a:latin typeface="+mn-lt"/>
                <a:ea typeface="+mn-ea"/>
                <a:cs typeface="+mn-cs"/>
              </a:rPr>
              <a:t>D-H</a:t>
            </a:r>
            <a:r>
              <a:rPr lang="zh-CN" altLang="zh-CN" sz="1200" kern="1200" dirty="0" smtClean="0">
                <a:solidFill>
                  <a:schemeClr val="tx1"/>
                </a:solidFill>
                <a:effectLst/>
                <a:latin typeface="+mn-lt"/>
                <a:ea typeface="+mn-ea"/>
                <a:cs typeface="+mn-cs"/>
              </a:rPr>
              <a:t>参数简单一些。坐标系</a:t>
            </a:r>
            <a:r>
              <a:rPr lang="en-US" altLang="zh-CN" sz="1200" kern="1200" dirty="0" smtClean="0">
                <a:solidFill>
                  <a:schemeClr val="tx1"/>
                </a:solidFill>
                <a:effectLst/>
                <a:latin typeface="+mn-lt"/>
                <a:ea typeface="+mn-ea"/>
                <a:cs typeface="+mn-cs"/>
              </a:rPr>
              <a:t>{4}</a:t>
            </a:r>
            <a:r>
              <a:rPr lang="zh-CN" altLang="zh-CN" sz="1200" kern="1200" dirty="0" smtClean="0">
                <a:solidFill>
                  <a:schemeClr val="tx1"/>
                </a:solidFill>
                <a:effectLst/>
                <a:latin typeface="+mn-lt"/>
                <a:ea typeface="+mn-ea"/>
                <a:cs typeface="+mn-cs"/>
              </a:rPr>
              <a:t>原点建立在轴</a:t>
            </a:r>
            <a:r>
              <a:rPr lang="en-US" altLang="zh-CN" sz="1200" kern="1200" dirty="0" smtClean="0">
                <a:solidFill>
                  <a:schemeClr val="tx1"/>
                </a:solidFill>
                <a:effectLst/>
                <a:latin typeface="+mn-lt"/>
                <a:ea typeface="+mn-ea"/>
                <a:cs typeface="+mn-cs"/>
              </a:rPr>
              <a:t>4</a:t>
            </a:r>
            <a:r>
              <a:rPr lang="zh-CN" altLang="zh-CN" sz="1200" kern="1200" dirty="0" smtClean="0">
                <a:solidFill>
                  <a:schemeClr val="tx1"/>
                </a:solidFill>
                <a:effectLst/>
                <a:latin typeface="+mn-lt"/>
                <a:ea typeface="+mn-ea"/>
                <a:cs typeface="+mn-cs"/>
              </a:rPr>
              <a:t>与轴</a:t>
            </a:r>
            <a:r>
              <a:rPr lang="en-US" altLang="zh-CN" sz="1200" kern="1200" dirty="0" smtClean="0">
                <a:solidFill>
                  <a:schemeClr val="tx1"/>
                </a:solidFill>
                <a:effectLst/>
                <a:latin typeface="+mn-lt"/>
                <a:ea typeface="+mn-ea"/>
                <a:cs typeface="+mn-cs"/>
              </a:rPr>
              <a:t>5</a:t>
            </a:r>
            <a:r>
              <a:rPr lang="zh-CN" altLang="zh-CN" sz="1200" kern="1200" dirty="0" smtClean="0">
                <a:solidFill>
                  <a:schemeClr val="tx1"/>
                </a:solidFill>
                <a:effectLst/>
                <a:latin typeface="+mn-lt"/>
                <a:ea typeface="+mn-ea"/>
                <a:cs typeface="+mn-cs"/>
              </a:rPr>
              <a:t>的交点上，坐标系</a:t>
            </a:r>
            <a:r>
              <a:rPr lang="en-US" altLang="zh-CN" sz="1200" kern="1200" dirty="0" smtClean="0">
                <a:solidFill>
                  <a:schemeClr val="tx1"/>
                </a:solidFill>
                <a:effectLst/>
                <a:latin typeface="+mn-lt"/>
                <a:ea typeface="+mn-ea"/>
                <a:cs typeface="+mn-cs"/>
              </a:rPr>
              <a:t>{5}</a:t>
            </a:r>
            <a:r>
              <a:rPr lang="zh-CN" altLang="zh-CN" sz="1200" kern="1200" dirty="0" smtClean="0">
                <a:solidFill>
                  <a:schemeClr val="tx1"/>
                </a:solidFill>
                <a:effectLst/>
                <a:latin typeface="+mn-lt"/>
                <a:ea typeface="+mn-ea"/>
                <a:cs typeface="+mn-cs"/>
              </a:rPr>
              <a:t>原点建立在轴</a:t>
            </a:r>
            <a:r>
              <a:rPr lang="en-US" altLang="zh-CN" sz="1200" kern="1200" dirty="0" smtClean="0">
                <a:solidFill>
                  <a:schemeClr val="tx1"/>
                </a:solidFill>
                <a:effectLst/>
                <a:latin typeface="+mn-lt"/>
                <a:ea typeface="+mn-ea"/>
                <a:cs typeface="+mn-cs"/>
              </a:rPr>
              <a:t>5</a:t>
            </a:r>
            <a:r>
              <a:rPr lang="zh-CN" altLang="zh-CN" sz="1200" kern="1200" dirty="0" smtClean="0">
                <a:solidFill>
                  <a:schemeClr val="tx1"/>
                </a:solidFill>
                <a:effectLst/>
                <a:latin typeface="+mn-lt"/>
                <a:ea typeface="+mn-ea"/>
                <a:cs typeface="+mn-cs"/>
              </a:rPr>
              <a:t>与轴</a:t>
            </a:r>
            <a:r>
              <a:rPr lang="en-US" altLang="zh-CN" sz="1200" kern="1200" dirty="0" smtClean="0">
                <a:solidFill>
                  <a:schemeClr val="tx1"/>
                </a:solidFill>
                <a:effectLst/>
                <a:latin typeface="+mn-lt"/>
                <a:ea typeface="+mn-ea"/>
                <a:cs typeface="+mn-cs"/>
              </a:rPr>
              <a:t>6</a:t>
            </a:r>
            <a:r>
              <a:rPr lang="zh-CN" altLang="zh-CN" sz="1200" kern="1200" dirty="0" smtClean="0">
                <a:solidFill>
                  <a:schemeClr val="tx1"/>
                </a:solidFill>
                <a:effectLst/>
                <a:latin typeface="+mn-lt"/>
                <a:ea typeface="+mn-ea"/>
                <a:cs typeface="+mn-cs"/>
              </a:rPr>
              <a:t>的交点上，坐标系</a:t>
            </a:r>
            <a:r>
              <a:rPr lang="en-US" altLang="zh-CN" sz="1200" kern="1200" dirty="0" smtClean="0">
                <a:solidFill>
                  <a:schemeClr val="tx1"/>
                </a:solidFill>
                <a:effectLst/>
                <a:latin typeface="+mn-lt"/>
                <a:ea typeface="+mn-ea"/>
                <a:cs typeface="+mn-cs"/>
              </a:rPr>
              <a:t>{6}</a:t>
            </a:r>
            <a:r>
              <a:rPr lang="zh-CN" altLang="zh-CN" sz="1200" kern="1200" dirty="0" smtClean="0">
                <a:solidFill>
                  <a:schemeClr val="tx1"/>
                </a:solidFill>
                <a:effectLst/>
                <a:latin typeface="+mn-lt"/>
                <a:ea typeface="+mn-ea"/>
                <a:cs typeface="+mn-cs"/>
              </a:rPr>
              <a:t>建立在末端工具中心点</a:t>
            </a:r>
            <a:r>
              <a:rPr lang="en-US" altLang="zh-CN" sz="1200" kern="1200" dirty="0" smtClean="0">
                <a:solidFill>
                  <a:schemeClr val="tx1"/>
                </a:solidFill>
                <a:effectLst/>
                <a:latin typeface="+mn-lt"/>
                <a:ea typeface="+mn-ea"/>
                <a:cs typeface="+mn-cs"/>
              </a:rPr>
              <a:t> TCP</a:t>
            </a:r>
            <a:r>
              <a:rPr lang="zh-CN" altLang="zh-CN" sz="1200" kern="1200" dirty="0" smtClean="0">
                <a:solidFill>
                  <a:schemeClr val="tx1"/>
                </a:solidFill>
                <a:effectLst/>
                <a:latin typeface="+mn-lt"/>
                <a:ea typeface="+mn-ea"/>
                <a:cs typeface="+mn-cs"/>
              </a:rPr>
              <a:t>上。</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46</a:t>
            </a:fld>
            <a:endParaRPr lang="zh-CN" altLang="en-US"/>
          </a:p>
        </p:txBody>
      </p:sp>
    </p:spTree>
    <p:extLst>
      <p:ext uri="{BB962C8B-B14F-4D97-AF65-F5344CB8AC3E}">
        <p14:creationId xmlns:p14="http://schemas.microsoft.com/office/powerpoint/2010/main" val="328674005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3.21</a:t>
                </a:r>
                <a:r>
                  <a:rPr lang="zh-CN" altLang="zh-CN" sz="1200" kern="1200" dirty="0">
                    <a:solidFill>
                      <a:schemeClr val="tx1"/>
                    </a:solidFill>
                    <a:effectLst/>
                    <a:latin typeface="+mn-lt"/>
                    <a:ea typeface="+mn-ea"/>
                    <a:cs typeface="+mn-cs"/>
                  </a:rPr>
                  <a:t>所示建立坐标系之后，就可以计算出四个</a:t>
                </a:r>
                <a:r>
                  <a:rPr lang="en-US" altLang="zh-CN" sz="1200" i="1"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参数，第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个连杆坐标系</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对应基座坐标系，基座坐标系</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与世界坐标系重合，从第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个连杆坐标系</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开始的计算：</a:t>
                </a:r>
              </a:p>
              <a:p>
                <a:r>
                  <a:rPr lang="en-US" altLang="zh-CN" sz="1200" b="1" kern="1200" dirty="0">
                    <a:solidFill>
                      <a:schemeClr val="tx1"/>
                    </a:solidFill>
                    <a:effectLst/>
                    <a:latin typeface="+mn-lt"/>
                    <a:ea typeface="+mn-ea"/>
                    <a:cs typeface="+mn-cs"/>
                  </a:rPr>
                  <a:t>(1) </a:t>
                </a:r>
                <a:r>
                  <a:rPr lang="zh-CN" altLang="zh-CN" sz="1200" b="1" kern="1200" dirty="0">
                    <a:solidFill>
                      <a:schemeClr val="tx1"/>
                    </a:solidFill>
                    <a:effectLst/>
                    <a:latin typeface="+mn-lt"/>
                    <a:ea typeface="+mn-ea"/>
                    <a:cs typeface="+mn-cs"/>
                  </a:rPr>
                  <a:t>计算连杆坐标系</a:t>
                </a:r>
                <a:r>
                  <a:rPr lang="en-US" altLang="zh-CN" sz="1200" b="1" kern="1200" dirty="0">
                    <a:solidFill>
                      <a:schemeClr val="tx1"/>
                    </a:solidFill>
                    <a:effectLst/>
                    <a:latin typeface="+mn-lt"/>
                    <a:ea typeface="+mn-ea"/>
                    <a:cs typeface="+mn-cs"/>
                  </a:rPr>
                  <a:t>{1}</a:t>
                </a:r>
                <a:r>
                  <a:rPr lang="zh-CN" altLang="zh-CN" sz="1200" b="1" kern="1200" dirty="0">
                    <a:solidFill>
                      <a:schemeClr val="tx1"/>
                    </a:solidFill>
                    <a:effectLst/>
                    <a:latin typeface="+mn-lt"/>
                    <a:ea typeface="+mn-ea"/>
                    <a:cs typeface="+mn-cs"/>
                  </a:rPr>
                  <a:t>的</a:t>
                </a:r>
                <a:r>
                  <a:rPr lang="en-US" altLang="zh-CN" sz="1200" b="1" kern="1200" dirty="0">
                    <a:solidFill>
                      <a:schemeClr val="tx1"/>
                    </a:solidFill>
                    <a:effectLst/>
                    <a:latin typeface="+mn-lt"/>
                    <a:ea typeface="+mn-ea"/>
                    <a:cs typeface="+mn-cs"/>
                  </a:rPr>
                  <a:t>MDH</a:t>
                </a:r>
                <a:r>
                  <a:rPr lang="zh-CN" altLang="zh-CN" sz="1200" b="1" kern="1200" dirty="0">
                    <a:solidFill>
                      <a:schemeClr val="tx1"/>
                    </a:solidFill>
                    <a:effectLst/>
                    <a:latin typeface="+mn-lt"/>
                    <a:ea typeface="+mn-ea"/>
                    <a:cs typeface="+mn-cs"/>
                  </a:rPr>
                  <a:t>参数</a:t>
                </a:r>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α</m:t>
                        </m:r>
                      </m:e>
                      <m:sub>
                        <m:r>
                          <a:rPr lang="en-US" altLang="zh-CN" sz="1200" i="1" kern="1200">
                            <a:solidFill>
                              <a:schemeClr val="tx1"/>
                            </a:solidFill>
                            <a:effectLst/>
                            <a:latin typeface="Cambria Math" panose="02040503050406030204" pitchFamily="18" charset="0"/>
                            <a:ea typeface="+mn-ea"/>
                            <a:cs typeface="+mn-cs"/>
                          </a:rPr>
                          <m:t>0</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绕</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轴，从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的旋转角度，需要向左旋转</a:t>
                </a:r>
                <a:r>
                  <a:rPr lang="en-US" altLang="zh-CN" sz="1200" kern="1200" dirty="0">
                    <a:solidFill>
                      <a:schemeClr val="tx1"/>
                    </a:solidFill>
                    <a:effectLst/>
                    <a:latin typeface="+mn-lt"/>
                    <a:ea typeface="+mn-ea"/>
                    <a:cs typeface="+mn-cs"/>
                  </a:rPr>
                  <a:t>90</a:t>
                </a:r>
                <a:r>
                  <a:rPr lang="zh-CN" altLang="zh-CN" sz="1200" kern="1200" dirty="0">
                    <a:solidFill>
                      <a:schemeClr val="tx1"/>
                    </a:solidFill>
                    <a:effectLst/>
                    <a:latin typeface="+mn-lt"/>
                    <a:ea typeface="+mn-ea"/>
                    <a:cs typeface="+mn-cs"/>
                  </a:rPr>
                  <a:t>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α</m:t>
                        </m:r>
                      </m:e>
                      <m:sub>
                        <m:r>
                          <a:rPr lang="en-US" altLang="zh-CN" sz="1200" i="1" kern="1200">
                            <a:solidFill>
                              <a:schemeClr val="tx1"/>
                            </a:solidFill>
                            <a:effectLst/>
                            <a:latin typeface="Cambria Math" panose="02040503050406030204" pitchFamily="18" charset="0"/>
                            <a:ea typeface="+mn-ea"/>
                            <a:cs typeface="+mn-cs"/>
                          </a:rPr>
                          <m:t>0</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𝑃𝐼</m:t>
                    </m:r>
                    <m:r>
                      <a:rPr lang="en-US" altLang="zh-CN" sz="1200" i="1" kern="1200">
                        <a:solidFill>
                          <a:schemeClr val="tx1"/>
                        </a:solidFill>
                        <a:effectLst/>
                        <a:latin typeface="Cambria Math" panose="02040503050406030204" pitchFamily="18" charset="0"/>
                        <a:ea typeface="+mn-ea"/>
                        <a:cs typeface="+mn-cs"/>
                      </a:rPr>
                      <m:t>/2</m:t>
                    </m:r>
                  </m:oMath>
                </a14:m>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a</m:t>
                        </m:r>
                      </m:e>
                      <m:sub>
                        <m:r>
                          <a:rPr lang="en-US" altLang="zh-CN" sz="1200" i="1" kern="1200">
                            <a:solidFill>
                              <a:schemeClr val="tx1"/>
                            </a:solidFill>
                            <a:effectLst/>
                            <a:latin typeface="Cambria Math" panose="02040503050406030204" pitchFamily="18" charset="0"/>
                            <a:ea typeface="+mn-ea"/>
                            <a:cs typeface="+mn-cs"/>
                          </a:rPr>
                          <m:t>0</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沿</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轴，从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移动到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的距离，</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a</m:t>
                        </m:r>
                      </m:e>
                      <m:sub>
                        <m:r>
                          <a:rPr lang="en-US" altLang="zh-CN" sz="1200" i="1" kern="1200">
                            <a:solidFill>
                              <a:schemeClr val="tx1"/>
                            </a:solidFill>
                            <a:effectLst/>
                            <a:latin typeface="Cambria Math" panose="02040503050406030204" pitchFamily="18" charset="0"/>
                            <a:ea typeface="+mn-ea"/>
                            <a:cs typeface="+mn-cs"/>
                          </a:rPr>
                          <m:t>0</m:t>
                        </m:r>
                      </m:sub>
                    </m:sSub>
                  </m:oMath>
                </a14:m>
                <a:r>
                  <a:rPr lang="en-US" altLang="zh-CN" sz="1200" kern="1200" dirty="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θ</m:t>
                        </m:r>
                      </m:e>
                      <m:sub>
                        <m:r>
                          <a:rPr lang="en-US" altLang="zh-CN" sz="1200" i="1" kern="1200">
                            <a:solidFill>
                              <a:schemeClr val="tx1"/>
                            </a:solidFill>
                            <a:effectLst/>
                            <a:latin typeface="Cambria Math" panose="02040503050406030204" pitchFamily="18" charset="0"/>
                            <a:ea typeface="+mn-ea"/>
                            <a:cs typeface="+mn-cs"/>
                          </a:rPr>
                          <m:t>1</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绕</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轴，将</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旋转到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的角度，初始角为</a:t>
                </a:r>
                <a:r>
                  <a:rPr lang="en-US" altLang="zh-CN" sz="1200" kern="1200" dirty="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d</m:t>
                        </m:r>
                      </m:e>
                      <m:sub>
                        <m:r>
                          <a:rPr lang="en-US" altLang="zh-CN" sz="1200" i="1" kern="1200">
                            <a:solidFill>
                              <a:schemeClr val="tx1"/>
                            </a:solidFill>
                            <a:effectLst/>
                            <a:latin typeface="Cambria Math" panose="02040503050406030204" pitchFamily="18" charset="0"/>
                            <a:ea typeface="+mn-ea"/>
                            <a:cs typeface="+mn-cs"/>
                          </a:rPr>
                          <m:t>1</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沿</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轴，从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移动到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的距离，</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d</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=0.0985</m:t>
                    </m:r>
                    <m:r>
                      <a:rPr lang="en-US" altLang="zh-CN" sz="1200" i="1" kern="1200">
                        <a:solidFill>
                          <a:schemeClr val="tx1"/>
                        </a:solidFill>
                        <a:effectLst/>
                        <a:latin typeface="Cambria Math" panose="02040503050406030204" pitchFamily="18" charset="0"/>
                        <a:ea typeface="+mn-ea"/>
                        <a:cs typeface="+mn-cs"/>
                      </a:rPr>
                      <m:t>𝑚</m:t>
                    </m:r>
                  </m:oMath>
                </a14:m>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(2) </a:t>
                </a:r>
                <a:r>
                  <a:rPr lang="zh-CN" altLang="zh-CN" sz="1200" b="1" kern="1200" dirty="0">
                    <a:solidFill>
                      <a:schemeClr val="tx1"/>
                    </a:solidFill>
                    <a:effectLst/>
                    <a:latin typeface="+mn-lt"/>
                    <a:ea typeface="+mn-ea"/>
                    <a:cs typeface="+mn-cs"/>
                  </a:rPr>
                  <a:t>计算连杆坐标系</a:t>
                </a:r>
                <a:r>
                  <a:rPr lang="en-US" altLang="zh-CN" sz="1200" b="1" kern="1200" dirty="0">
                    <a:solidFill>
                      <a:schemeClr val="tx1"/>
                    </a:solidFill>
                    <a:effectLst/>
                    <a:latin typeface="+mn-lt"/>
                    <a:ea typeface="+mn-ea"/>
                    <a:cs typeface="+mn-cs"/>
                  </a:rPr>
                  <a:t>{2}</a:t>
                </a:r>
                <a:r>
                  <a:rPr lang="zh-CN" altLang="zh-CN" sz="1200" b="1" kern="1200" dirty="0">
                    <a:solidFill>
                      <a:schemeClr val="tx1"/>
                    </a:solidFill>
                    <a:effectLst/>
                    <a:latin typeface="+mn-lt"/>
                    <a:ea typeface="+mn-ea"/>
                    <a:cs typeface="+mn-cs"/>
                  </a:rPr>
                  <a:t>的</a:t>
                </a:r>
                <a:r>
                  <a:rPr lang="en-US" altLang="zh-CN" sz="1200" b="1" kern="1200" dirty="0">
                    <a:solidFill>
                      <a:schemeClr val="tx1"/>
                    </a:solidFill>
                    <a:effectLst/>
                    <a:latin typeface="+mn-lt"/>
                    <a:ea typeface="+mn-ea"/>
                    <a:cs typeface="+mn-cs"/>
                  </a:rPr>
                  <a:t>MDH</a:t>
                </a:r>
                <a:r>
                  <a:rPr lang="zh-CN" altLang="zh-CN" sz="1200" b="1" kern="1200" dirty="0">
                    <a:solidFill>
                      <a:schemeClr val="tx1"/>
                    </a:solidFill>
                    <a:effectLst/>
                    <a:latin typeface="+mn-lt"/>
                    <a:ea typeface="+mn-ea"/>
                    <a:cs typeface="+mn-cs"/>
                  </a:rPr>
                  <a:t>参数</a:t>
                </a:r>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α</m:t>
                        </m:r>
                      </m:e>
                      <m:sub>
                        <m:r>
                          <a:rPr lang="en-US" altLang="zh-CN" sz="1200" i="1" kern="1200">
                            <a:solidFill>
                              <a:schemeClr val="tx1"/>
                            </a:solidFill>
                            <a:effectLst/>
                            <a:latin typeface="Cambria Math" panose="02040503050406030204" pitchFamily="18" charset="0"/>
                            <a:ea typeface="+mn-ea"/>
                            <a:cs typeface="+mn-cs"/>
                          </a:rPr>
                          <m:t>1</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绕</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轴，从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的旋转角度，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α</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=0</m:t>
                    </m:r>
                  </m:oMath>
                </a14:m>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a</m:t>
                        </m:r>
                      </m:e>
                      <m:sub>
                        <m:r>
                          <a:rPr lang="en-US" altLang="zh-CN" sz="1200" i="1" kern="1200">
                            <a:solidFill>
                              <a:schemeClr val="tx1"/>
                            </a:solidFill>
                            <a:effectLst/>
                            <a:latin typeface="Cambria Math" panose="02040503050406030204" pitchFamily="18" charset="0"/>
                            <a:ea typeface="+mn-ea"/>
                            <a:cs typeface="+mn-cs"/>
                          </a:rPr>
                          <m:t>1</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沿</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轴，从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移动到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的距离，</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a</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r>
                      <a:rPr lang="en-US" altLang="zh-CN" sz="1200" kern="1200">
                        <a:solidFill>
                          <a:schemeClr val="tx1"/>
                        </a:solidFill>
                        <a:effectLst/>
                        <a:latin typeface="Cambria Math" panose="02040503050406030204" pitchFamily="18" charset="0"/>
                        <a:ea typeface="+mn-ea"/>
                        <a:cs typeface="+mn-cs"/>
                      </a:rPr>
                      <m:t>0.408</m:t>
                    </m:r>
                    <m:r>
                      <m:rPr>
                        <m:sty m:val="p"/>
                      </m:rPr>
                      <a:rPr lang="en-US" altLang="zh-CN" sz="1200" kern="1200">
                        <a:solidFill>
                          <a:schemeClr val="tx1"/>
                        </a:solidFill>
                        <a:effectLst/>
                        <a:latin typeface="Cambria Math" panose="02040503050406030204" pitchFamily="18" charset="0"/>
                        <a:ea typeface="+mn-ea"/>
                        <a:cs typeface="+mn-cs"/>
                      </a:rPr>
                      <m:t>m</m:t>
                    </m:r>
                  </m:oMath>
                </a14:m>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θ</m:t>
                        </m:r>
                      </m:e>
                      <m:sub>
                        <m:r>
                          <a:rPr lang="en-US" altLang="zh-CN" sz="1200" i="1" kern="1200">
                            <a:solidFill>
                              <a:schemeClr val="tx1"/>
                            </a:solidFill>
                            <a:effectLst/>
                            <a:latin typeface="Cambria Math" panose="02040503050406030204" pitchFamily="18" charset="0"/>
                            <a:ea typeface="+mn-ea"/>
                            <a:cs typeface="+mn-cs"/>
                          </a:rPr>
                          <m:t>2</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绕</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轴，将</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旋转到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的角度，需要注意</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这里的角度比直立形态向里旋转了</a:t>
                </a:r>
                <a:r>
                  <a:rPr lang="en-US" altLang="zh-CN" sz="1200" kern="1200" dirty="0">
                    <a:solidFill>
                      <a:schemeClr val="tx1"/>
                    </a:solidFill>
                    <a:effectLst/>
                    <a:latin typeface="+mn-lt"/>
                    <a:ea typeface="+mn-ea"/>
                    <a:cs typeface="+mn-cs"/>
                  </a:rPr>
                  <a:t>90</a:t>
                </a:r>
                <a:r>
                  <a:rPr lang="zh-CN" altLang="zh-CN" sz="1200" kern="1200" dirty="0">
                    <a:solidFill>
                      <a:schemeClr val="tx1"/>
                    </a:solidFill>
                    <a:effectLst/>
                    <a:latin typeface="+mn-lt"/>
                    <a:ea typeface="+mn-ea"/>
                    <a:cs typeface="+mn-cs"/>
                  </a:rPr>
                  <a:t>度，可设初始角度为</a:t>
                </a:r>
                <a:r>
                  <a:rPr lang="en-US" altLang="zh-CN" sz="1200" kern="1200" dirty="0">
                    <a:solidFill>
                      <a:schemeClr val="tx1"/>
                    </a:solidFill>
                    <a:effectLst/>
                    <a:latin typeface="+mn-lt"/>
                    <a:ea typeface="+mn-ea"/>
                    <a:cs typeface="+mn-cs"/>
                  </a:rPr>
                  <a:t>90</a:t>
                </a:r>
                <a:r>
                  <a:rPr lang="zh-CN" altLang="zh-CN" sz="1200" kern="1200" dirty="0">
                    <a:solidFill>
                      <a:schemeClr val="tx1"/>
                    </a:solidFill>
                    <a:effectLst/>
                    <a:latin typeface="+mn-lt"/>
                    <a:ea typeface="+mn-ea"/>
                    <a:cs typeface="+mn-cs"/>
                  </a:rPr>
                  <a:t>度</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d</m:t>
                        </m:r>
                      </m:e>
                      <m:sub>
                        <m:r>
                          <a:rPr lang="en-US" altLang="zh-CN" sz="1200" i="1" kern="1200">
                            <a:solidFill>
                              <a:schemeClr val="tx1"/>
                            </a:solidFill>
                            <a:effectLst/>
                            <a:latin typeface="Cambria Math" panose="02040503050406030204" pitchFamily="18" charset="0"/>
                            <a:ea typeface="+mn-ea"/>
                            <a:cs typeface="+mn-cs"/>
                          </a:rPr>
                          <m:t>2</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沿</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轴，从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移动到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的距离，</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d</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r>
                      <a:rPr lang="en-US" altLang="zh-CN" sz="1200" kern="1200">
                        <a:solidFill>
                          <a:schemeClr val="tx1"/>
                        </a:solidFill>
                        <a:effectLst/>
                        <a:latin typeface="Cambria Math" panose="02040503050406030204" pitchFamily="18" charset="0"/>
                        <a:ea typeface="+mn-ea"/>
                        <a:cs typeface="+mn-cs"/>
                      </a:rPr>
                      <m:t>0</m:t>
                    </m:r>
                  </m:oMath>
                </a14:m>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(3) </a:t>
                </a:r>
                <a:r>
                  <a:rPr lang="zh-CN" altLang="zh-CN" sz="1200" b="1" kern="1200" dirty="0">
                    <a:solidFill>
                      <a:schemeClr val="tx1"/>
                    </a:solidFill>
                    <a:effectLst/>
                    <a:latin typeface="+mn-lt"/>
                    <a:ea typeface="+mn-ea"/>
                    <a:cs typeface="+mn-cs"/>
                  </a:rPr>
                  <a:t>计算连杆坐标系</a:t>
                </a:r>
                <a:r>
                  <a:rPr lang="en-US" altLang="zh-CN" sz="1200" b="1" kern="1200" dirty="0">
                    <a:solidFill>
                      <a:schemeClr val="tx1"/>
                    </a:solidFill>
                    <a:effectLst/>
                    <a:latin typeface="+mn-lt"/>
                    <a:ea typeface="+mn-ea"/>
                    <a:cs typeface="+mn-cs"/>
                  </a:rPr>
                  <a:t>{3}</a:t>
                </a:r>
                <a:r>
                  <a:rPr lang="zh-CN" altLang="zh-CN" sz="1200" b="1" kern="1200" dirty="0">
                    <a:solidFill>
                      <a:schemeClr val="tx1"/>
                    </a:solidFill>
                    <a:effectLst/>
                    <a:latin typeface="+mn-lt"/>
                    <a:ea typeface="+mn-ea"/>
                    <a:cs typeface="+mn-cs"/>
                  </a:rPr>
                  <a:t>的</a:t>
                </a:r>
                <a:r>
                  <a:rPr lang="en-US" altLang="zh-CN" sz="1200" b="1" kern="1200" dirty="0">
                    <a:solidFill>
                      <a:schemeClr val="tx1"/>
                    </a:solidFill>
                    <a:effectLst/>
                    <a:latin typeface="+mn-lt"/>
                    <a:ea typeface="+mn-ea"/>
                    <a:cs typeface="+mn-cs"/>
                  </a:rPr>
                  <a:t>D-H</a:t>
                </a:r>
                <a:r>
                  <a:rPr lang="zh-CN" altLang="zh-CN" sz="1200" b="1" kern="1200" dirty="0">
                    <a:solidFill>
                      <a:schemeClr val="tx1"/>
                    </a:solidFill>
                    <a:effectLst/>
                    <a:latin typeface="+mn-lt"/>
                    <a:ea typeface="+mn-ea"/>
                    <a:cs typeface="+mn-cs"/>
                  </a:rPr>
                  <a:t>参数</a:t>
                </a:r>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α</m:t>
                        </m:r>
                      </m:e>
                      <m:sub>
                        <m:r>
                          <a:rPr lang="en-US" altLang="zh-CN" sz="1200" i="1" kern="1200">
                            <a:solidFill>
                              <a:schemeClr val="tx1"/>
                            </a:solidFill>
                            <a:effectLst/>
                            <a:latin typeface="Cambria Math" panose="02040503050406030204" pitchFamily="18" charset="0"/>
                            <a:ea typeface="+mn-ea"/>
                            <a:cs typeface="+mn-cs"/>
                          </a:rPr>
                          <m:t>2</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绕</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轴，从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3</m:t>
                        </m:r>
                      </m:sub>
                    </m:sSub>
                  </m:oMath>
                </a14:m>
                <a:r>
                  <a:rPr lang="zh-CN" altLang="zh-CN" sz="1200" kern="1200" dirty="0">
                    <a:solidFill>
                      <a:schemeClr val="tx1"/>
                    </a:solidFill>
                    <a:effectLst/>
                    <a:latin typeface="+mn-lt"/>
                    <a:ea typeface="+mn-ea"/>
                    <a:cs typeface="+mn-cs"/>
                  </a:rPr>
                  <a:t>的旋转角度，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α</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=0</m:t>
                    </m:r>
                  </m:oMath>
                </a14:m>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a</m:t>
                        </m:r>
                      </m:e>
                      <m:sub>
                        <m:r>
                          <a:rPr lang="en-US" altLang="zh-CN" sz="1200" i="1" kern="1200">
                            <a:solidFill>
                              <a:schemeClr val="tx1"/>
                            </a:solidFill>
                            <a:effectLst/>
                            <a:latin typeface="Cambria Math" panose="02040503050406030204" pitchFamily="18" charset="0"/>
                            <a:ea typeface="+mn-ea"/>
                            <a:cs typeface="+mn-cs"/>
                          </a:rPr>
                          <m:t>2</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沿</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轴，从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移动到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3</m:t>
                        </m:r>
                      </m:sub>
                    </m:sSub>
                  </m:oMath>
                </a14:m>
                <a:r>
                  <a:rPr lang="zh-CN" altLang="zh-CN" sz="1200" kern="1200" dirty="0">
                    <a:solidFill>
                      <a:schemeClr val="tx1"/>
                    </a:solidFill>
                    <a:effectLst/>
                    <a:latin typeface="+mn-lt"/>
                    <a:ea typeface="+mn-ea"/>
                    <a:cs typeface="+mn-cs"/>
                  </a:rPr>
                  <a:t>的距离，</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a</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r>
                      <a:rPr lang="en-US" altLang="zh-CN" sz="1200" kern="1200">
                        <a:solidFill>
                          <a:schemeClr val="tx1"/>
                        </a:solidFill>
                        <a:effectLst/>
                        <a:latin typeface="Cambria Math" panose="02040503050406030204" pitchFamily="18" charset="0"/>
                        <a:ea typeface="+mn-ea"/>
                        <a:cs typeface="+mn-cs"/>
                      </a:rPr>
                      <m:t>0.376</m:t>
                    </m:r>
                    <m:r>
                      <m:rPr>
                        <m:sty m:val="p"/>
                      </m:rPr>
                      <a:rPr lang="en-US" altLang="zh-CN" sz="1200" kern="1200">
                        <a:solidFill>
                          <a:schemeClr val="tx1"/>
                        </a:solidFill>
                        <a:effectLst/>
                        <a:latin typeface="Cambria Math" panose="02040503050406030204" pitchFamily="18" charset="0"/>
                        <a:ea typeface="+mn-ea"/>
                        <a:cs typeface="+mn-cs"/>
                      </a:rPr>
                      <m:t>m</m:t>
                    </m:r>
                  </m:oMath>
                </a14:m>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θ</m:t>
                        </m:r>
                      </m:e>
                      <m:sub>
                        <m:r>
                          <a:rPr lang="en-US" altLang="zh-CN" sz="1200" i="1" kern="1200">
                            <a:solidFill>
                              <a:schemeClr val="tx1"/>
                            </a:solidFill>
                            <a:effectLst/>
                            <a:latin typeface="Cambria Math" panose="02040503050406030204" pitchFamily="18" charset="0"/>
                            <a:ea typeface="+mn-ea"/>
                            <a:cs typeface="+mn-cs"/>
                          </a:rPr>
                          <m:t>3</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绕</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3</m:t>
                        </m:r>
                      </m:sub>
                    </m:sSub>
                  </m:oMath>
                </a14:m>
                <a:r>
                  <a:rPr lang="zh-CN" altLang="zh-CN" sz="1200" kern="1200" dirty="0">
                    <a:solidFill>
                      <a:schemeClr val="tx1"/>
                    </a:solidFill>
                    <a:effectLst/>
                    <a:latin typeface="+mn-lt"/>
                    <a:ea typeface="+mn-ea"/>
                    <a:cs typeface="+mn-cs"/>
                  </a:rPr>
                  <a:t>轴，将</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旋转到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kern="1200">
                            <a:solidFill>
                              <a:schemeClr val="tx1"/>
                            </a:solidFill>
                            <a:effectLst/>
                            <a:latin typeface="Cambria Math" panose="02040503050406030204" pitchFamily="18" charset="0"/>
                            <a:ea typeface="+mn-ea"/>
                            <a:cs typeface="+mn-cs"/>
                          </a:rPr>
                          <m:t>3</m:t>
                        </m:r>
                      </m:sub>
                    </m:sSub>
                  </m:oMath>
                </a14:m>
                <a:r>
                  <a:rPr lang="zh-CN" altLang="zh-CN" sz="1200" kern="1200" dirty="0">
                    <a:solidFill>
                      <a:schemeClr val="tx1"/>
                    </a:solidFill>
                    <a:effectLst/>
                    <a:latin typeface="+mn-lt"/>
                    <a:ea typeface="+mn-ea"/>
                    <a:cs typeface="+mn-cs"/>
                  </a:rPr>
                  <a:t>的角度，初始角</a:t>
                </a:r>
                <a:r>
                  <a:rPr lang="en-US" altLang="zh-CN" sz="1200" kern="1200" dirty="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d</m:t>
                        </m:r>
                      </m:e>
                      <m:sub>
                        <m:r>
                          <a:rPr lang="en-US" altLang="zh-CN" sz="1200" i="1" kern="1200">
                            <a:solidFill>
                              <a:schemeClr val="tx1"/>
                            </a:solidFill>
                            <a:effectLst/>
                            <a:latin typeface="Cambria Math" panose="02040503050406030204" pitchFamily="18" charset="0"/>
                            <a:ea typeface="+mn-ea"/>
                            <a:cs typeface="+mn-cs"/>
                          </a:rPr>
                          <m:t>3</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沿</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3</m:t>
                        </m:r>
                      </m:sub>
                    </m:sSub>
                  </m:oMath>
                </a14:m>
                <a:r>
                  <a:rPr lang="zh-CN" altLang="zh-CN" sz="1200" kern="1200" dirty="0">
                    <a:solidFill>
                      <a:schemeClr val="tx1"/>
                    </a:solidFill>
                    <a:effectLst/>
                    <a:latin typeface="+mn-lt"/>
                    <a:ea typeface="+mn-ea"/>
                    <a:cs typeface="+mn-cs"/>
                  </a:rPr>
                  <a:t>轴，从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移动到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kern="1200">
                            <a:solidFill>
                              <a:schemeClr val="tx1"/>
                            </a:solidFill>
                            <a:effectLst/>
                            <a:latin typeface="Cambria Math" panose="02040503050406030204" pitchFamily="18" charset="0"/>
                            <a:ea typeface="+mn-ea"/>
                            <a:cs typeface="+mn-cs"/>
                          </a:rPr>
                          <m:t>3</m:t>
                        </m:r>
                      </m:sub>
                    </m:sSub>
                  </m:oMath>
                </a14:m>
                <a:r>
                  <a:rPr lang="zh-CN" altLang="zh-CN" sz="1200" kern="1200" dirty="0">
                    <a:solidFill>
                      <a:schemeClr val="tx1"/>
                    </a:solidFill>
                    <a:effectLst/>
                    <a:latin typeface="+mn-lt"/>
                    <a:ea typeface="+mn-ea"/>
                    <a:cs typeface="+mn-cs"/>
                  </a:rPr>
                  <a:t>的距离，</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d</m:t>
                        </m:r>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=0</m:t>
                    </m:r>
                  </m:oMath>
                </a14:m>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(4) </a:t>
                </a:r>
                <a:r>
                  <a:rPr lang="zh-CN" altLang="zh-CN" sz="1200" b="1" kern="1200" dirty="0">
                    <a:solidFill>
                      <a:schemeClr val="tx1"/>
                    </a:solidFill>
                    <a:effectLst/>
                    <a:latin typeface="+mn-lt"/>
                    <a:ea typeface="+mn-ea"/>
                    <a:cs typeface="+mn-cs"/>
                  </a:rPr>
                  <a:t>计算连杆坐标系</a:t>
                </a:r>
                <a:r>
                  <a:rPr lang="en-US" altLang="zh-CN" sz="1200" b="1" kern="1200" dirty="0">
                    <a:solidFill>
                      <a:schemeClr val="tx1"/>
                    </a:solidFill>
                    <a:effectLst/>
                    <a:latin typeface="+mn-lt"/>
                    <a:ea typeface="+mn-ea"/>
                    <a:cs typeface="+mn-cs"/>
                  </a:rPr>
                  <a:t>{4}</a:t>
                </a:r>
                <a:r>
                  <a:rPr lang="zh-CN" altLang="zh-CN" sz="1200" b="1" kern="1200" dirty="0">
                    <a:solidFill>
                      <a:schemeClr val="tx1"/>
                    </a:solidFill>
                    <a:effectLst/>
                    <a:latin typeface="+mn-lt"/>
                    <a:ea typeface="+mn-ea"/>
                    <a:cs typeface="+mn-cs"/>
                  </a:rPr>
                  <a:t>的</a:t>
                </a:r>
                <a:r>
                  <a:rPr lang="en-US" altLang="zh-CN" sz="1200" b="1" kern="1200" dirty="0">
                    <a:solidFill>
                      <a:schemeClr val="tx1"/>
                    </a:solidFill>
                    <a:effectLst/>
                    <a:latin typeface="+mn-lt"/>
                    <a:ea typeface="+mn-ea"/>
                    <a:cs typeface="+mn-cs"/>
                  </a:rPr>
                  <a:t>D-H</a:t>
                </a:r>
                <a:r>
                  <a:rPr lang="zh-CN" altLang="zh-CN" sz="1200" b="1" kern="1200" dirty="0">
                    <a:solidFill>
                      <a:schemeClr val="tx1"/>
                    </a:solidFill>
                    <a:effectLst/>
                    <a:latin typeface="+mn-lt"/>
                    <a:ea typeface="+mn-ea"/>
                    <a:cs typeface="+mn-cs"/>
                  </a:rPr>
                  <a:t>参数</a:t>
                </a:r>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α</m:t>
                        </m:r>
                      </m:e>
                      <m:sub>
                        <m:r>
                          <a:rPr lang="en-US" altLang="zh-CN" sz="1200" i="1" kern="1200">
                            <a:solidFill>
                              <a:schemeClr val="tx1"/>
                            </a:solidFill>
                            <a:effectLst/>
                            <a:latin typeface="Cambria Math" panose="02040503050406030204" pitchFamily="18" charset="0"/>
                            <a:ea typeface="+mn-ea"/>
                            <a:cs typeface="+mn-cs"/>
                          </a:rPr>
                          <m:t>3</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绕</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kern="1200">
                            <a:solidFill>
                              <a:schemeClr val="tx1"/>
                            </a:solidFill>
                            <a:effectLst/>
                            <a:latin typeface="Cambria Math" panose="02040503050406030204" pitchFamily="18" charset="0"/>
                            <a:ea typeface="+mn-ea"/>
                            <a:cs typeface="+mn-cs"/>
                          </a:rPr>
                          <m:t>3</m:t>
                        </m:r>
                      </m:sub>
                    </m:sSub>
                  </m:oMath>
                </a14:m>
                <a:r>
                  <a:rPr lang="zh-CN" altLang="zh-CN" sz="1200" kern="1200" dirty="0">
                    <a:solidFill>
                      <a:schemeClr val="tx1"/>
                    </a:solidFill>
                    <a:effectLst/>
                    <a:latin typeface="+mn-lt"/>
                    <a:ea typeface="+mn-ea"/>
                    <a:cs typeface="+mn-cs"/>
                  </a:rPr>
                  <a:t>轴，从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3</m:t>
                        </m:r>
                      </m:sub>
                    </m:sSub>
                  </m:oMath>
                </a14:m>
                <a:r>
                  <a:rPr lang="zh-CN" altLang="zh-CN" sz="1200" kern="1200" dirty="0">
                    <a:solidFill>
                      <a:schemeClr val="tx1"/>
                    </a:solidFill>
                    <a:effectLst/>
                    <a:latin typeface="+mn-lt"/>
                    <a:ea typeface="+mn-ea"/>
                    <a:cs typeface="+mn-cs"/>
                  </a:rPr>
                  <a:t>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4</m:t>
                        </m:r>
                      </m:sub>
                    </m:sSub>
                  </m:oMath>
                </a14:m>
                <a:r>
                  <a:rPr lang="zh-CN" altLang="zh-CN" sz="1200" kern="1200" dirty="0">
                    <a:solidFill>
                      <a:schemeClr val="tx1"/>
                    </a:solidFill>
                    <a:effectLst/>
                    <a:latin typeface="+mn-lt"/>
                    <a:ea typeface="+mn-ea"/>
                    <a:cs typeface="+mn-cs"/>
                  </a:rPr>
                  <a:t>的旋转角度，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α</m:t>
                        </m:r>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𝑃𝐼</m:t>
                    </m:r>
                    <m:r>
                      <a:rPr lang="en-US" altLang="zh-CN" sz="1200" i="1" kern="1200">
                        <a:solidFill>
                          <a:schemeClr val="tx1"/>
                        </a:solidFill>
                        <a:effectLst/>
                        <a:latin typeface="Cambria Math" panose="02040503050406030204" pitchFamily="18" charset="0"/>
                        <a:ea typeface="+mn-ea"/>
                        <a:cs typeface="+mn-cs"/>
                      </a:rPr>
                      <m:t>/2</m:t>
                    </m:r>
                  </m:oMath>
                </a14:m>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a</m:t>
                        </m:r>
                      </m:e>
                      <m:sub>
                        <m:r>
                          <a:rPr lang="en-US" altLang="zh-CN" sz="1200" i="1" kern="1200">
                            <a:solidFill>
                              <a:schemeClr val="tx1"/>
                            </a:solidFill>
                            <a:effectLst/>
                            <a:latin typeface="Cambria Math" panose="02040503050406030204" pitchFamily="18" charset="0"/>
                            <a:ea typeface="+mn-ea"/>
                            <a:cs typeface="+mn-cs"/>
                          </a:rPr>
                          <m:t>3</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沿</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kern="1200">
                            <a:solidFill>
                              <a:schemeClr val="tx1"/>
                            </a:solidFill>
                            <a:effectLst/>
                            <a:latin typeface="Cambria Math" panose="02040503050406030204" pitchFamily="18" charset="0"/>
                            <a:ea typeface="+mn-ea"/>
                            <a:cs typeface="+mn-cs"/>
                          </a:rPr>
                          <m:t>3</m:t>
                        </m:r>
                      </m:sub>
                    </m:sSub>
                  </m:oMath>
                </a14:m>
                <a:r>
                  <a:rPr lang="zh-CN" altLang="zh-CN" sz="1200" kern="1200" dirty="0">
                    <a:solidFill>
                      <a:schemeClr val="tx1"/>
                    </a:solidFill>
                    <a:effectLst/>
                    <a:latin typeface="+mn-lt"/>
                    <a:ea typeface="+mn-ea"/>
                    <a:cs typeface="+mn-cs"/>
                  </a:rPr>
                  <a:t>轴，从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3</m:t>
                        </m:r>
                      </m:sub>
                    </m:sSub>
                  </m:oMath>
                </a14:m>
                <a:r>
                  <a:rPr lang="zh-CN" altLang="zh-CN" sz="1200" kern="1200" dirty="0">
                    <a:solidFill>
                      <a:schemeClr val="tx1"/>
                    </a:solidFill>
                    <a:effectLst/>
                    <a:latin typeface="+mn-lt"/>
                    <a:ea typeface="+mn-ea"/>
                    <a:cs typeface="+mn-cs"/>
                  </a:rPr>
                  <a:t>移动到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4</m:t>
                        </m:r>
                      </m:sub>
                    </m:sSub>
                  </m:oMath>
                </a14:m>
                <a:r>
                  <a:rPr lang="zh-CN" altLang="zh-CN" sz="1200" kern="1200" dirty="0">
                    <a:solidFill>
                      <a:schemeClr val="tx1"/>
                    </a:solidFill>
                    <a:effectLst/>
                    <a:latin typeface="+mn-lt"/>
                    <a:ea typeface="+mn-ea"/>
                    <a:cs typeface="+mn-cs"/>
                  </a:rPr>
                  <a:t>的距离，</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a</m:t>
                        </m:r>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m:t>
                    </m:r>
                    <m:r>
                      <a:rPr lang="en-US" altLang="zh-CN" sz="1200" kern="1200">
                        <a:solidFill>
                          <a:schemeClr val="tx1"/>
                        </a:solidFill>
                        <a:effectLst/>
                        <a:latin typeface="Cambria Math" panose="02040503050406030204" pitchFamily="18" charset="0"/>
                        <a:ea typeface="+mn-ea"/>
                        <a:cs typeface="+mn-cs"/>
                      </a:rPr>
                      <m:t>0</m:t>
                    </m:r>
                    <m:r>
                      <m:rPr>
                        <m:sty m:val="p"/>
                      </m:rPr>
                      <a:rPr lang="en-US" altLang="zh-CN" sz="1200" kern="1200">
                        <a:solidFill>
                          <a:schemeClr val="tx1"/>
                        </a:solidFill>
                        <a:effectLst/>
                        <a:latin typeface="Cambria Math" panose="02040503050406030204" pitchFamily="18" charset="0"/>
                        <a:ea typeface="+mn-ea"/>
                        <a:cs typeface="+mn-cs"/>
                      </a:rPr>
                      <m:t>m</m:t>
                    </m:r>
                  </m:oMath>
                </a14:m>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θ</m:t>
                        </m:r>
                      </m:e>
                      <m:sub>
                        <m:r>
                          <a:rPr lang="en-US" altLang="zh-CN" sz="1200" i="1" kern="1200">
                            <a:solidFill>
                              <a:schemeClr val="tx1"/>
                            </a:solidFill>
                            <a:effectLst/>
                            <a:latin typeface="Cambria Math" panose="02040503050406030204" pitchFamily="18" charset="0"/>
                            <a:ea typeface="+mn-ea"/>
                            <a:cs typeface="+mn-cs"/>
                          </a:rPr>
                          <m:t>4</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关节角</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，同坐标系</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，该关节角和直立状态相比，向里转了</a:t>
                </a:r>
                <a:r>
                  <a:rPr lang="en-US" altLang="zh-CN" sz="1200" kern="1200" dirty="0">
                    <a:solidFill>
                      <a:schemeClr val="tx1"/>
                    </a:solidFill>
                    <a:effectLst/>
                    <a:latin typeface="+mn-lt"/>
                    <a:ea typeface="+mn-ea"/>
                    <a:cs typeface="+mn-cs"/>
                  </a:rPr>
                  <a:t>90</a:t>
                </a:r>
                <a:r>
                  <a:rPr lang="zh-CN" altLang="zh-CN" sz="1200" kern="1200" dirty="0">
                    <a:solidFill>
                      <a:schemeClr val="tx1"/>
                    </a:solidFill>
                    <a:effectLst/>
                    <a:latin typeface="+mn-lt"/>
                    <a:ea typeface="+mn-ea"/>
                    <a:cs typeface="+mn-cs"/>
                  </a:rPr>
                  <a:t>度，可设初始角为</a:t>
                </a:r>
                <a:r>
                  <a:rPr lang="en-US" altLang="zh-CN" sz="1200" kern="1200" dirty="0">
                    <a:solidFill>
                      <a:schemeClr val="tx1"/>
                    </a:solidFill>
                    <a:effectLst/>
                    <a:latin typeface="+mn-lt"/>
                    <a:ea typeface="+mn-ea"/>
                    <a:cs typeface="+mn-cs"/>
                  </a:rPr>
                  <a:t>90</a:t>
                </a:r>
                <a:r>
                  <a:rPr lang="zh-CN" altLang="zh-CN" sz="1200" kern="1200" dirty="0">
                    <a:solidFill>
                      <a:schemeClr val="tx1"/>
                    </a:solidFill>
                    <a:effectLst/>
                    <a:latin typeface="+mn-lt"/>
                    <a:ea typeface="+mn-ea"/>
                    <a:cs typeface="+mn-cs"/>
                  </a:rPr>
                  <a:t>度</a:t>
                </a:r>
                <a:r>
                  <a:rPr lang="en-US" altLang="zh-CN" sz="1200" kern="1200" dirty="0">
                    <a:solidFill>
                      <a:schemeClr val="tx1"/>
                    </a:solidFill>
                    <a:effectLst/>
                    <a:latin typeface="+mn-lt"/>
                    <a:ea typeface="+mn-ea"/>
                    <a:cs typeface="+mn-cs"/>
                  </a:rPr>
                  <a:t>,</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θ</m:t>
                        </m:r>
                      </m:e>
                      <m:sub>
                        <m:r>
                          <a:rPr lang="en-US" altLang="zh-CN" sz="1200" i="1" kern="1200">
                            <a:solidFill>
                              <a:schemeClr val="tx1"/>
                            </a:solidFill>
                            <a:effectLst/>
                            <a:latin typeface="Cambria Math" panose="02040503050406030204" pitchFamily="18" charset="0"/>
                            <a:ea typeface="+mn-ea"/>
                            <a:cs typeface="+mn-cs"/>
                          </a:rPr>
                          <m:t>4</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𝑃𝐼</m:t>
                    </m:r>
                    <m:r>
                      <a:rPr lang="en-US" altLang="zh-CN" sz="1200" i="1" kern="1200">
                        <a:solidFill>
                          <a:schemeClr val="tx1"/>
                        </a:solidFill>
                        <a:effectLst/>
                        <a:latin typeface="Cambria Math" panose="02040503050406030204" pitchFamily="18" charset="0"/>
                        <a:ea typeface="+mn-ea"/>
                        <a:cs typeface="+mn-cs"/>
                      </a:rPr>
                      <m:t>/2</m:t>
                    </m:r>
                  </m:oMath>
                </a14:m>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d</m:t>
                        </m:r>
                      </m:e>
                      <m:sub>
                        <m:r>
                          <a:rPr lang="en-US" altLang="zh-CN" sz="1200" i="1" kern="1200">
                            <a:solidFill>
                              <a:schemeClr val="tx1"/>
                            </a:solidFill>
                            <a:effectLst/>
                            <a:latin typeface="Cambria Math" panose="02040503050406030204" pitchFamily="18" charset="0"/>
                            <a:ea typeface="+mn-ea"/>
                            <a:cs typeface="+mn-cs"/>
                          </a:rPr>
                          <m:t>4</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沿</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4</m:t>
                        </m:r>
                      </m:sub>
                    </m:sSub>
                  </m:oMath>
                </a14:m>
                <a:r>
                  <a:rPr lang="zh-CN" altLang="zh-CN" sz="1200" kern="1200" dirty="0">
                    <a:solidFill>
                      <a:schemeClr val="tx1"/>
                    </a:solidFill>
                    <a:effectLst/>
                    <a:latin typeface="+mn-lt"/>
                    <a:ea typeface="+mn-ea"/>
                    <a:cs typeface="+mn-cs"/>
                  </a:rPr>
                  <a:t>轴，从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kern="1200">
                            <a:solidFill>
                              <a:schemeClr val="tx1"/>
                            </a:solidFill>
                            <a:effectLst/>
                            <a:latin typeface="Cambria Math" panose="02040503050406030204" pitchFamily="18" charset="0"/>
                            <a:ea typeface="+mn-ea"/>
                            <a:cs typeface="+mn-cs"/>
                          </a:rPr>
                          <m:t>3</m:t>
                        </m:r>
                      </m:sub>
                    </m:sSub>
                  </m:oMath>
                </a14:m>
                <a:r>
                  <a:rPr lang="zh-CN" altLang="zh-CN" sz="1200" kern="1200" dirty="0">
                    <a:solidFill>
                      <a:schemeClr val="tx1"/>
                    </a:solidFill>
                    <a:effectLst/>
                    <a:latin typeface="+mn-lt"/>
                    <a:ea typeface="+mn-ea"/>
                    <a:cs typeface="+mn-cs"/>
                  </a:rPr>
                  <a:t>移动到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kern="1200">
                            <a:solidFill>
                              <a:schemeClr val="tx1"/>
                            </a:solidFill>
                            <a:effectLst/>
                            <a:latin typeface="Cambria Math" panose="02040503050406030204" pitchFamily="18" charset="0"/>
                            <a:ea typeface="+mn-ea"/>
                            <a:cs typeface="+mn-cs"/>
                          </a:rPr>
                          <m:t>4</m:t>
                        </m:r>
                      </m:sub>
                    </m:sSub>
                  </m:oMath>
                </a14:m>
                <a:r>
                  <a:rPr lang="zh-CN" altLang="zh-CN" sz="1200" kern="1200" dirty="0">
                    <a:solidFill>
                      <a:schemeClr val="tx1"/>
                    </a:solidFill>
                    <a:effectLst/>
                    <a:latin typeface="+mn-lt"/>
                    <a:ea typeface="+mn-ea"/>
                    <a:cs typeface="+mn-cs"/>
                  </a:rPr>
                  <a:t>的距离，</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d</m:t>
                        </m:r>
                      </m:e>
                      <m:sub>
                        <m:r>
                          <a:rPr lang="en-US" altLang="zh-CN" sz="1200" i="1" kern="1200">
                            <a:solidFill>
                              <a:schemeClr val="tx1"/>
                            </a:solidFill>
                            <a:effectLst/>
                            <a:latin typeface="Cambria Math" panose="02040503050406030204" pitchFamily="18" charset="0"/>
                            <a:ea typeface="+mn-ea"/>
                            <a:cs typeface="+mn-cs"/>
                          </a:rPr>
                          <m:t>4</m:t>
                        </m:r>
                      </m:sub>
                    </m:sSub>
                    <m:r>
                      <a:rPr lang="en-US" altLang="zh-CN" sz="1200" i="1" kern="1200">
                        <a:solidFill>
                          <a:schemeClr val="tx1"/>
                        </a:solidFill>
                        <a:effectLst/>
                        <a:latin typeface="Cambria Math" panose="02040503050406030204" pitchFamily="18" charset="0"/>
                        <a:ea typeface="+mn-ea"/>
                        <a:cs typeface="+mn-cs"/>
                      </a:rPr>
                      <m:t>=0.1215</m:t>
                    </m:r>
                    <m:r>
                      <a:rPr lang="en-US" altLang="zh-CN" sz="1200" i="1" kern="1200">
                        <a:solidFill>
                          <a:schemeClr val="tx1"/>
                        </a:solidFill>
                        <a:effectLst/>
                        <a:latin typeface="Cambria Math" panose="02040503050406030204" pitchFamily="18" charset="0"/>
                        <a:ea typeface="+mn-ea"/>
                        <a:cs typeface="+mn-cs"/>
                      </a:rPr>
                      <m:t>𝑚</m:t>
                    </m:r>
                  </m:oMath>
                </a14:m>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计算连杆坐标系</a:t>
                </a:r>
                <a:r>
                  <a:rPr lang="en-US" altLang="zh-CN" sz="1200" b="1" kern="1200" dirty="0">
                    <a:solidFill>
                      <a:schemeClr val="tx1"/>
                    </a:solidFill>
                    <a:effectLst/>
                    <a:latin typeface="+mn-lt"/>
                    <a:ea typeface="+mn-ea"/>
                    <a:cs typeface="+mn-cs"/>
                  </a:rPr>
                  <a:t>{5}</a:t>
                </a:r>
                <a:r>
                  <a:rPr lang="zh-CN" altLang="zh-CN" sz="1200" b="1" kern="1200" dirty="0">
                    <a:solidFill>
                      <a:schemeClr val="tx1"/>
                    </a:solidFill>
                    <a:effectLst/>
                    <a:latin typeface="+mn-lt"/>
                    <a:ea typeface="+mn-ea"/>
                    <a:cs typeface="+mn-cs"/>
                  </a:rPr>
                  <a:t>的</a:t>
                </a:r>
                <a:r>
                  <a:rPr lang="en-US" altLang="zh-CN" sz="1200" b="1" kern="1200" dirty="0">
                    <a:solidFill>
                      <a:schemeClr val="tx1"/>
                    </a:solidFill>
                    <a:effectLst/>
                    <a:latin typeface="+mn-lt"/>
                    <a:ea typeface="+mn-ea"/>
                    <a:cs typeface="+mn-cs"/>
                  </a:rPr>
                  <a:t>D-H</a:t>
                </a:r>
                <a:r>
                  <a:rPr lang="zh-CN" altLang="zh-CN" sz="1200" b="1" kern="1200" dirty="0">
                    <a:solidFill>
                      <a:schemeClr val="tx1"/>
                    </a:solidFill>
                    <a:effectLst/>
                    <a:latin typeface="+mn-lt"/>
                    <a:ea typeface="+mn-ea"/>
                    <a:cs typeface="+mn-cs"/>
                  </a:rPr>
                  <a:t>参数</a:t>
                </a:r>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α</m:t>
                        </m:r>
                      </m:e>
                      <m:sub>
                        <m:r>
                          <a:rPr lang="en-US" altLang="zh-CN" sz="1200" i="1" kern="1200">
                            <a:solidFill>
                              <a:schemeClr val="tx1"/>
                            </a:solidFill>
                            <a:effectLst/>
                            <a:latin typeface="Cambria Math" panose="02040503050406030204" pitchFamily="18" charset="0"/>
                            <a:ea typeface="+mn-ea"/>
                            <a:cs typeface="+mn-cs"/>
                          </a:rPr>
                          <m:t>4</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绕</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kern="1200">
                            <a:solidFill>
                              <a:schemeClr val="tx1"/>
                            </a:solidFill>
                            <a:effectLst/>
                            <a:latin typeface="Cambria Math" panose="02040503050406030204" pitchFamily="18" charset="0"/>
                            <a:ea typeface="+mn-ea"/>
                            <a:cs typeface="+mn-cs"/>
                          </a:rPr>
                          <m:t>4</m:t>
                        </m:r>
                      </m:sub>
                    </m:sSub>
                  </m:oMath>
                </a14:m>
                <a:r>
                  <a:rPr lang="zh-CN" altLang="zh-CN" sz="1200" kern="1200" dirty="0">
                    <a:solidFill>
                      <a:schemeClr val="tx1"/>
                    </a:solidFill>
                    <a:effectLst/>
                    <a:latin typeface="+mn-lt"/>
                    <a:ea typeface="+mn-ea"/>
                    <a:cs typeface="+mn-cs"/>
                  </a:rPr>
                  <a:t>轴，从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4</m:t>
                        </m:r>
                      </m:sub>
                    </m:sSub>
                  </m:oMath>
                </a14:m>
                <a:r>
                  <a:rPr lang="zh-CN" altLang="zh-CN" sz="1200" kern="1200" dirty="0">
                    <a:solidFill>
                      <a:schemeClr val="tx1"/>
                    </a:solidFill>
                    <a:effectLst/>
                    <a:latin typeface="+mn-lt"/>
                    <a:ea typeface="+mn-ea"/>
                    <a:cs typeface="+mn-cs"/>
                  </a:rPr>
                  <a:t>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5</m:t>
                        </m:r>
                      </m:sub>
                    </m:sSub>
                  </m:oMath>
                </a14:m>
                <a:r>
                  <a:rPr lang="zh-CN" altLang="zh-CN" sz="1200" kern="1200" dirty="0">
                    <a:solidFill>
                      <a:schemeClr val="tx1"/>
                    </a:solidFill>
                    <a:effectLst/>
                    <a:latin typeface="+mn-lt"/>
                    <a:ea typeface="+mn-ea"/>
                    <a:cs typeface="+mn-cs"/>
                  </a:rPr>
                  <a:t>的旋转角度，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α</m:t>
                        </m:r>
                      </m:e>
                      <m:sub>
                        <m:r>
                          <a:rPr lang="en-US" altLang="zh-CN" sz="1200" i="1" kern="1200">
                            <a:solidFill>
                              <a:schemeClr val="tx1"/>
                            </a:solidFill>
                            <a:effectLst/>
                            <a:latin typeface="Cambria Math" panose="02040503050406030204" pitchFamily="18" charset="0"/>
                            <a:ea typeface="+mn-ea"/>
                            <a:cs typeface="+mn-cs"/>
                          </a:rPr>
                          <m:t>4</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𝑃𝐼</m:t>
                    </m:r>
                    <m:r>
                      <a:rPr lang="en-US" altLang="zh-CN" sz="1200" i="1" kern="1200">
                        <a:solidFill>
                          <a:schemeClr val="tx1"/>
                        </a:solidFill>
                        <a:effectLst/>
                        <a:latin typeface="Cambria Math" panose="02040503050406030204" pitchFamily="18" charset="0"/>
                        <a:ea typeface="+mn-ea"/>
                        <a:cs typeface="+mn-cs"/>
                      </a:rPr>
                      <m:t>/2</m:t>
                    </m:r>
                  </m:oMath>
                </a14:m>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a</m:t>
                        </m:r>
                      </m:e>
                      <m:sub>
                        <m:r>
                          <a:rPr lang="en-US" altLang="zh-CN" sz="1200" i="1" kern="1200">
                            <a:solidFill>
                              <a:schemeClr val="tx1"/>
                            </a:solidFill>
                            <a:effectLst/>
                            <a:latin typeface="Cambria Math" panose="02040503050406030204" pitchFamily="18" charset="0"/>
                            <a:ea typeface="+mn-ea"/>
                            <a:cs typeface="+mn-cs"/>
                          </a:rPr>
                          <m:t>4</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沿</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kern="1200">
                            <a:solidFill>
                              <a:schemeClr val="tx1"/>
                            </a:solidFill>
                            <a:effectLst/>
                            <a:latin typeface="Cambria Math" panose="02040503050406030204" pitchFamily="18" charset="0"/>
                            <a:ea typeface="+mn-ea"/>
                            <a:cs typeface="+mn-cs"/>
                          </a:rPr>
                          <m:t>4</m:t>
                        </m:r>
                      </m:sub>
                    </m:sSub>
                  </m:oMath>
                </a14:m>
                <a:r>
                  <a:rPr lang="zh-CN" altLang="zh-CN" sz="1200" kern="1200" dirty="0">
                    <a:solidFill>
                      <a:schemeClr val="tx1"/>
                    </a:solidFill>
                    <a:effectLst/>
                    <a:latin typeface="+mn-lt"/>
                    <a:ea typeface="+mn-ea"/>
                    <a:cs typeface="+mn-cs"/>
                  </a:rPr>
                  <a:t>轴，从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4</m:t>
                        </m:r>
                      </m:sub>
                    </m:sSub>
                  </m:oMath>
                </a14:m>
                <a:r>
                  <a:rPr lang="zh-CN" altLang="zh-CN" sz="1200" kern="1200" dirty="0">
                    <a:solidFill>
                      <a:schemeClr val="tx1"/>
                    </a:solidFill>
                    <a:effectLst/>
                    <a:latin typeface="+mn-lt"/>
                    <a:ea typeface="+mn-ea"/>
                    <a:cs typeface="+mn-cs"/>
                  </a:rPr>
                  <a:t>移动到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5</m:t>
                        </m:r>
                      </m:sub>
                    </m:sSub>
                  </m:oMath>
                </a14:m>
                <a:r>
                  <a:rPr lang="zh-CN" altLang="zh-CN" sz="1200" kern="1200" dirty="0">
                    <a:solidFill>
                      <a:schemeClr val="tx1"/>
                    </a:solidFill>
                    <a:effectLst/>
                    <a:latin typeface="+mn-lt"/>
                    <a:ea typeface="+mn-ea"/>
                    <a:cs typeface="+mn-cs"/>
                  </a:rPr>
                  <a:t>的距离，</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a</m:t>
                        </m:r>
                      </m:e>
                      <m:sub>
                        <m:r>
                          <a:rPr lang="en-US" altLang="zh-CN" sz="1200" i="1" kern="1200">
                            <a:solidFill>
                              <a:schemeClr val="tx1"/>
                            </a:solidFill>
                            <a:effectLst/>
                            <a:latin typeface="Cambria Math" panose="02040503050406030204" pitchFamily="18" charset="0"/>
                            <a:ea typeface="+mn-ea"/>
                            <a:cs typeface="+mn-cs"/>
                          </a:rPr>
                          <m:t>4</m:t>
                        </m:r>
                      </m:sub>
                    </m:sSub>
                    <m:r>
                      <a:rPr lang="en-US" altLang="zh-CN" sz="1200" i="1" kern="1200">
                        <a:solidFill>
                          <a:schemeClr val="tx1"/>
                        </a:solidFill>
                        <a:effectLst/>
                        <a:latin typeface="Cambria Math" panose="02040503050406030204" pitchFamily="18" charset="0"/>
                        <a:ea typeface="+mn-ea"/>
                        <a:cs typeface="+mn-cs"/>
                      </a:rPr>
                      <m:t>=0</m:t>
                    </m:r>
                  </m:oMath>
                </a14:m>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θ</m:t>
                        </m:r>
                      </m:e>
                      <m:sub>
                        <m:r>
                          <a:rPr lang="en-US" altLang="zh-CN" sz="1200" i="1" kern="1200">
                            <a:solidFill>
                              <a:schemeClr val="tx1"/>
                            </a:solidFill>
                            <a:effectLst/>
                            <a:latin typeface="Cambria Math" panose="02040503050406030204" pitchFamily="18" charset="0"/>
                            <a:ea typeface="+mn-ea"/>
                            <a:cs typeface="+mn-cs"/>
                          </a:rPr>
                          <m:t>5</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关节角</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，初始角</a:t>
                </a:r>
                <a:r>
                  <a:rPr lang="en-US" altLang="zh-CN" sz="1200" kern="1200" dirty="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d</m:t>
                        </m:r>
                      </m:e>
                      <m:sub>
                        <m:r>
                          <a:rPr lang="en-US" altLang="zh-CN" sz="1200" i="1" kern="1200">
                            <a:solidFill>
                              <a:schemeClr val="tx1"/>
                            </a:solidFill>
                            <a:effectLst/>
                            <a:latin typeface="Cambria Math" panose="02040503050406030204" pitchFamily="18" charset="0"/>
                            <a:ea typeface="+mn-ea"/>
                            <a:cs typeface="+mn-cs"/>
                          </a:rPr>
                          <m:t>5</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沿</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5</m:t>
                        </m:r>
                      </m:sub>
                    </m:sSub>
                  </m:oMath>
                </a14:m>
                <a:r>
                  <a:rPr lang="zh-CN" altLang="zh-CN" sz="1200" kern="1200" dirty="0">
                    <a:solidFill>
                      <a:schemeClr val="tx1"/>
                    </a:solidFill>
                    <a:effectLst/>
                    <a:latin typeface="+mn-lt"/>
                    <a:ea typeface="+mn-ea"/>
                    <a:cs typeface="+mn-cs"/>
                  </a:rPr>
                  <a:t>轴，从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kern="1200">
                            <a:solidFill>
                              <a:schemeClr val="tx1"/>
                            </a:solidFill>
                            <a:effectLst/>
                            <a:latin typeface="Cambria Math" panose="02040503050406030204" pitchFamily="18" charset="0"/>
                            <a:ea typeface="+mn-ea"/>
                            <a:cs typeface="+mn-cs"/>
                          </a:rPr>
                          <m:t>4</m:t>
                        </m:r>
                      </m:sub>
                    </m:sSub>
                  </m:oMath>
                </a14:m>
                <a:r>
                  <a:rPr lang="zh-CN" altLang="zh-CN" sz="1200" kern="1200" dirty="0">
                    <a:solidFill>
                      <a:schemeClr val="tx1"/>
                    </a:solidFill>
                    <a:effectLst/>
                    <a:latin typeface="+mn-lt"/>
                    <a:ea typeface="+mn-ea"/>
                    <a:cs typeface="+mn-cs"/>
                  </a:rPr>
                  <a:t>移动到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kern="1200">
                            <a:solidFill>
                              <a:schemeClr val="tx1"/>
                            </a:solidFill>
                            <a:effectLst/>
                            <a:latin typeface="Cambria Math" panose="02040503050406030204" pitchFamily="18" charset="0"/>
                            <a:ea typeface="+mn-ea"/>
                            <a:cs typeface="+mn-cs"/>
                          </a:rPr>
                          <m:t>5</m:t>
                        </m:r>
                      </m:sub>
                    </m:sSub>
                  </m:oMath>
                </a14:m>
                <a:r>
                  <a:rPr lang="zh-CN" altLang="zh-CN" sz="1200" kern="1200" dirty="0">
                    <a:solidFill>
                      <a:schemeClr val="tx1"/>
                    </a:solidFill>
                    <a:effectLst/>
                    <a:latin typeface="+mn-lt"/>
                    <a:ea typeface="+mn-ea"/>
                    <a:cs typeface="+mn-cs"/>
                  </a:rPr>
                  <a:t>的距离，</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d</m:t>
                        </m:r>
                      </m:e>
                      <m:sub>
                        <m:r>
                          <a:rPr lang="en-US" altLang="zh-CN" sz="1200" i="1" kern="1200">
                            <a:solidFill>
                              <a:schemeClr val="tx1"/>
                            </a:solidFill>
                            <a:effectLst/>
                            <a:latin typeface="Cambria Math" panose="02040503050406030204" pitchFamily="18" charset="0"/>
                            <a:ea typeface="+mn-ea"/>
                            <a:cs typeface="+mn-cs"/>
                          </a:rPr>
                          <m:t>5</m:t>
                        </m:r>
                      </m:sub>
                    </m:sSub>
                  </m:oMath>
                </a14:m>
                <a:r>
                  <a:rPr lang="en-US" altLang="zh-CN" sz="1200" kern="1200" dirty="0">
                    <a:solidFill>
                      <a:schemeClr val="tx1"/>
                    </a:solidFill>
                    <a:effectLst/>
                    <a:latin typeface="+mn-lt"/>
                    <a:ea typeface="+mn-ea"/>
                    <a:cs typeface="+mn-cs"/>
                  </a:rPr>
                  <a:t>=</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0.1215</m:t>
                    </m:r>
                    <m:r>
                      <m:rPr>
                        <m:sty m:val="p"/>
                      </m:rPr>
                      <a:rPr lang="en-US" altLang="zh-CN" sz="1200" kern="1200">
                        <a:solidFill>
                          <a:schemeClr val="tx1"/>
                        </a:solidFill>
                        <a:effectLst/>
                        <a:latin typeface="Cambria Math" panose="02040503050406030204" pitchFamily="18" charset="0"/>
                        <a:ea typeface="+mn-ea"/>
                        <a:cs typeface="+mn-cs"/>
                      </a:rPr>
                      <m:t>m</m:t>
                    </m:r>
                  </m:oMath>
                </a14:m>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计算工具坐标系</a:t>
                </a:r>
                <a:r>
                  <a:rPr lang="en-US" altLang="zh-CN" sz="1200" b="1" kern="1200" dirty="0">
                    <a:solidFill>
                      <a:schemeClr val="tx1"/>
                    </a:solidFill>
                    <a:effectLst/>
                    <a:latin typeface="+mn-lt"/>
                    <a:ea typeface="+mn-ea"/>
                    <a:cs typeface="+mn-cs"/>
                  </a:rPr>
                  <a:t>{6}</a:t>
                </a:r>
                <a:r>
                  <a:rPr lang="zh-CN" altLang="zh-CN" sz="1200" b="1" kern="1200" dirty="0">
                    <a:solidFill>
                      <a:schemeClr val="tx1"/>
                    </a:solidFill>
                    <a:effectLst/>
                    <a:latin typeface="+mn-lt"/>
                    <a:ea typeface="+mn-ea"/>
                    <a:cs typeface="+mn-cs"/>
                  </a:rPr>
                  <a:t>的</a:t>
                </a:r>
                <a:r>
                  <a:rPr lang="en-US" altLang="zh-CN" sz="1200" b="1" kern="1200" dirty="0">
                    <a:solidFill>
                      <a:schemeClr val="tx1"/>
                    </a:solidFill>
                    <a:effectLst/>
                    <a:latin typeface="+mn-lt"/>
                    <a:ea typeface="+mn-ea"/>
                    <a:cs typeface="+mn-cs"/>
                  </a:rPr>
                  <a:t>D-H</a:t>
                </a:r>
                <a:r>
                  <a:rPr lang="zh-CN" altLang="zh-CN" sz="1200" b="1" kern="1200" dirty="0">
                    <a:solidFill>
                      <a:schemeClr val="tx1"/>
                    </a:solidFill>
                    <a:effectLst/>
                    <a:latin typeface="+mn-lt"/>
                    <a:ea typeface="+mn-ea"/>
                    <a:cs typeface="+mn-cs"/>
                  </a:rPr>
                  <a:t>参数</a:t>
                </a:r>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α</m:t>
                        </m:r>
                      </m:e>
                      <m:sub>
                        <m:r>
                          <a:rPr lang="en-US" altLang="zh-CN" sz="1200" i="1" kern="1200">
                            <a:solidFill>
                              <a:schemeClr val="tx1"/>
                            </a:solidFill>
                            <a:effectLst/>
                            <a:latin typeface="Cambria Math" panose="02040503050406030204" pitchFamily="18" charset="0"/>
                            <a:ea typeface="+mn-ea"/>
                            <a:cs typeface="+mn-cs"/>
                          </a:rPr>
                          <m:t>5</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绕</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kern="1200">
                            <a:solidFill>
                              <a:schemeClr val="tx1"/>
                            </a:solidFill>
                            <a:effectLst/>
                            <a:latin typeface="Cambria Math" panose="02040503050406030204" pitchFamily="18" charset="0"/>
                            <a:ea typeface="+mn-ea"/>
                            <a:cs typeface="+mn-cs"/>
                          </a:rPr>
                          <m:t>5</m:t>
                        </m:r>
                      </m:sub>
                    </m:sSub>
                  </m:oMath>
                </a14:m>
                <a:r>
                  <a:rPr lang="zh-CN" altLang="zh-CN" sz="1200" kern="1200" dirty="0">
                    <a:solidFill>
                      <a:schemeClr val="tx1"/>
                    </a:solidFill>
                    <a:effectLst/>
                    <a:latin typeface="+mn-lt"/>
                    <a:ea typeface="+mn-ea"/>
                    <a:cs typeface="+mn-cs"/>
                  </a:rPr>
                  <a:t>轴，从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5</m:t>
                        </m:r>
                      </m:sub>
                    </m:sSub>
                  </m:oMath>
                </a14:m>
                <a:r>
                  <a:rPr lang="zh-CN" altLang="zh-CN" sz="1200" kern="1200" dirty="0">
                    <a:solidFill>
                      <a:schemeClr val="tx1"/>
                    </a:solidFill>
                    <a:effectLst/>
                    <a:latin typeface="+mn-lt"/>
                    <a:ea typeface="+mn-ea"/>
                    <a:cs typeface="+mn-cs"/>
                  </a:rPr>
                  <a:t>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6</m:t>
                        </m:r>
                      </m:sub>
                    </m:sSub>
                  </m:oMath>
                </a14:m>
                <a:r>
                  <a:rPr lang="zh-CN" altLang="zh-CN" sz="1200" kern="1200" dirty="0">
                    <a:solidFill>
                      <a:schemeClr val="tx1"/>
                    </a:solidFill>
                    <a:effectLst/>
                    <a:latin typeface="+mn-lt"/>
                    <a:ea typeface="+mn-ea"/>
                    <a:cs typeface="+mn-cs"/>
                  </a:rPr>
                  <a:t>的旋转角度，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α</m:t>
                        </m:r>
                      </m:e>
                      <m:sub>
                        <m:r>
                          <a:rPr lang="en-US" altLang="zh-CN" sz="1200" i="1" kern="1200">
                            <a:solidFill>
                              <a:schemeClr val="tx1"/>
                            </a:solidFill>
                            <a:effectLst/>
                            <a:latin typeface="Cambria Math" panose="02040503050406030204" pitchFamily="18" charset="0"/>
                            <a:ea typeface="+mn-ea"/>
                            <a:cs typeface="+mn-cs"/>
                          </a:rPr>
                          <m:t>5</m:t>
                        </m:r>
                      </m:sub>
                    </m:sSub>
                    <m:r>
                      <a:rPr lang="en-US" altLang="zh-CN" sz="1200" i="1" kern="1200">
                        <a:solidFill>
                          <a:schemeClr val="tx1"/>
                        </a:solidFill>
                        <a:effectLst/>
                        <a:latin typeface="Cambria Math" panose="02040503050406030204" pitchFamily="18" charset="0"/>
                        <a:ea typeface="+mn-ea"/>
                        <a:cs typeface="+mn-cs"/>
                      </a:rPr>
                      <m:t>=0</m:t>
                    </m:r>
                  </m:oMath>
                </a14:m>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a</m:t>
                        </m:r>
                      </m:e>
                      <m:sub>
                        <m:r>
                          <a:rPr lang="en-US" altLang="zh-CN" sz="1200" i="1" kern="1200">
                            <a:solidFill>
                              <a:schemeClr val="tx1"/>
                            </a:solidFill>
                            <a:effectLst/>
                            <a:latin typeface="Cambria Math" panose="02040503050406030204" pitchFamily="18" charset="0"/>
                            <a:ea typeface="+mn-ea"/>
                            <a:cs typeface="+mn-cs"/>
                          </a:rPr>
                          <m:t>5</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沿</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kern="1200">
                            <a:solidFill>
                              <a:schemeClr val="tx1"/>
                            </a:solidFill>
                            <a:effectLst/>
                            <a:latin typeface="Cambria Math" panose="02040503050406030204" pitchFamily="18" charset="0"/>
                            <a:ea typeface="+mn-ea"/>
                            <a:cs typeface="+mn-cs"/>
                          </a:rPr>
                          <m:t>5</m:t>
                        </m:r>
                      </m:sub>
                    </m:sSub>
                  </m:oMath>
                </a14:m>
                <a:r>
                  <a:rPr lang="zh-CN" altLang="zh-CN" sz="1200" kern="1200" dirty="0">
                    <a:solidFill>
                      <a:schemeClr val="tx1"/>
                    </a:solidFill>
                    <a:effectLst/>
                    <a:latin typeface="+mn-lt"/>
                    <a:ea typeface="+mn-ea"/>
                    <a:cs typeface="+mn-cs"/>
                  </a:rPr>
                  <a:t>轴，从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5</m:t>
                        </m:r>
                      </m:sub>
                    </m:sSub>
                  </m:oMath>
                </a14:m>
                <a:r>
                  <a:rPr lang="zh-CN" altLang="zh-CN" sz="1200" kern="1200" dirty="0">
                    <a:solidFill>
                      <a:schemeClr val="tx1"/>
                    </a:solidFill>
                    <a:effectLst/>
                    <a:latin typeface="+mn-lt"/>
                    <a:ea typeface="+mn-ea"/>
                    <a:cs typeface="+mn-cs"/>
                  </a:rPr>
                  <a:t>移动到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6</m:t>
                        </m:r>
                      </m:sub>
                    </m:sSub>
                  </m:oMath>
                </a14:m>
                <a:r>
                  <a:rPr lang="zh-CN" altLang="zh-CN" sz="1200" kern="1200" dirty="0">
                    <a:solidFill>
                      <a:schemeClr val="tx1"/>
                    </a:solidFill>
                    <a:effectLst/>
                    <a:latin typeface="+mn-lt"/>
                    <a:ea typeface="+mn-ea"/>
                    <a:cs typeface="+mn-cs"/>
                  </a:rPr>
                  <a:t>的距离，</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a</m:t>
                        </m:r>
                      </m:e>
                      <m:sub>
                        <m:r>
                          <a:rPr lang="en-US" altLang="zh-CN" sz="1200" i="1" kern="1200">
                            <a:solidFill>
                              <a:schemeClr val="tx1"/>
                            </a:solidFill>
                            <a:effectLst/>
                            <a:latin typeface="Cambria Math" panose="02040503050406030204" pitchFamily="18" charset="0"/>
                            <a:ea typeface="+mn-ea"/>
                            <a:cs typeface="+mn-cs"/>
                          </a:rPr>
                          <m:t>5</m:t>
                        </m:r>
                      </m:sub>
                    </m:sSub>
                    <m:r>
                      <a:rPr lang="en-US" altLang="zh-CN" sz="1200" i="1" kern="1200">
                        <a:solidFill>
                          <a:schemeClr val="tx1"/>
                        </a:solidFill>
                        <a:effectLst/>
                        <a:latin typeface="Cambria Math" panose="02040503050406030204" pitchFamily="18" charset="0"/>
                        <a:ea typeface="+mn-ea"/>
                        <a:cs typeface="+mn-cs"/>
                      </a:rPr>
                      <m:t>=0</m:t>
                    </m:r>
                  </m:oMath>
                </a14:m>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θ</m:t>
                        </m:r>
                      </m:e>
                      <m:sub>
                        <m:r>
                          <a:rPr lang="en-US" altLang="zh-CN" sz="1200" i="1" kern="1200">
                            <a:solidFill>
                              <a:schemeClr val="tx1"/>
                            </a:solidFill>
                            <a:effectLst/>
                            <a:latin typeface="Cambria Math" panose="02040503050406030204" pitchFamily="18" charset="0"/>
                            <a:ea typeface="+mn-ea"/>
                            <a:cs typeface="+mn-cs"/>
                          </a:rPr>
                          <m:t>6</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关节角</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，初始角</a:t>
                </a:r>
                <a:r>
                  <a:rPr lang="en-US" altLang="zh-CN" sz="1200" kern="1200" dirty="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d</m:t>
                        </m:r>
                      </m:e>
                      <m:sub>
                        <m:r>
                          <a:rPr lang="en-US" altLang="zh-CN" sz="1200" i="1" kern="1200">
                            <a:solidFill>
                              <a:schemeClr val="tx1"/>
                            </a:solidFill>
                            <a:effectLst/>
                            <a:latin typeface="Cambria Math" panose="02040503050406030204" pitchFamily="18" charset="0"/>
                            <a:ea typeface="+mn-ea"/>
                            <a:cs typeface="+mn-cs"/>
                          </a:rPr>
                          <m:t>6</m:t>
                        </m:r>
                      </m:sub>
                    </m:sSub>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沿</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𝑍</m:t>
                        </m:r>
                      </m:e>
                      <m:sub>
                        <m:r>
                          <a:rPr lang="en-US" altLang="zh-CN" sz="1200" i="1" kern="1200">
                            <a:solidFill>
                              <a:schemeClr val="tx1"/>
                            </a:solidFill>
                            <a:effectLst/>
                            <a:latin typeface="Cambria Math" panose="02040503050406030204" pitchFamily="18" charset="0"/>
                            <a:ea typeface="+mn-ea"/>
                            <a:cs typeface="+mn-cs"/>
                          </a:rPr>
                          <m:t>6</m:t>
                        </m:r>
                      </m:sub>
                    </m:sSub>
                  </m:oMath>
                </a14:m>
                <a:r>
                  <a:rPr lang="zh-CN" altLang="zh-CN" sz="1200" kern="1200" dirty="0">
                    <a:solidFill>
                      <a:schemeClr val="tx1"/>
                    </a:solidFill>
                    <a:effectLst/>
                    <a:latin typeface="+mn-lt"/>
                    <a:ea typeface="+mn-ea"/>
                    <a:cs typeface="+mn-cs"/>
                  </a:rPr>
                  <a:t>轴，从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kern="1200">
                            <a:solidFill>
                              <a:schemeClr val="tx1"/>
                            </a:solidFill>
                            <a:effectLst/>
                            <a:latin typeface="Cambria Math" panose="02040503050406030204" pitchFamily="18" charset="0"/>
                            <a:ea typeface="+mn-ea"/>
                            <a:cs typeface="+mn-cs"/>
                          </a:rPr>
                          <m:t>5</m:t>
                        </m:r>
                      </m:sub>
                    </m:sSub>
                  </m:oMath>
                </a14:m>
                <a:r>
                  <a:rPr lang="zh-CN" altLang="zh-CN" sz="1200" kern="1200" dirty="0">
                    <a:solidFill>
                      <a:schemeClr val="tx1"/>
                    </a:solidFill>
                    <a:effectLst/>
                    <a:latin typeface="+mn-lt"/>
                    <a:ea typeface="+mn-ea"/>
                    <a:cs typeface="+mn-cs"/>
                  </a:rPr>
                  <a:t>移动到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kern="1200">
                            <a:solidFill>
                              <a:schemeClr val="tx1"/>
                            </a:solidFill>
                            <a:effectLst/>
                            <a:latin typeface="Cambria Math" panose="02040503050406030204" pitchFamily="18" charset="0"/>
                            <a:ea typeface="+mn-ea"/>
                            <a:cs typeface="+mn-cs"/>
                          </a:rPr>
                          <m:t>6</m:t>
                        </m:r>
                      </m:sub>
                    </m:sSub>
                  </m:oMath>
                </a14:m>
                <a:r>
                  <a:rPr lang="zh-CN" altLang="zh-CN" sz="1200" kern="1200" dirty="0">
                    <a:solidFill>
                      <a:schemeClr val="tx1"/>
                    </a:solidFill>
                    <a:effectLst/>
                    <a:latin typeface="+mn-lt"/>
                    <a:ea typeface="+mn-ea"/>
                    <a:cs typeface="+mn-cs"/>
                  </a:rPr>
                  <a:t>的距离，</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d</m:t>
                        </m:r>
                      </m:e>
                      <m:sub>
                        <m:r>
                          <a:rPr lang="en-US" altLang="zh-CN" sz="1200" i="1" kern="1200">
                            <a:solidFill>
                              <a:schemeClr val="tx1"/>
                            </a:solidFill>
                            <a:effectLst/>
                            <a:latin typeface="Cambria Math" panose="02040503050406030204" pitchFamily="18" charset="0"/>
                            <a:ea typeface="+mn-ea"/>
                            <a:cs typeface="+mn-cs"/>
                          </a:rPr>
                          <m:t>6</m:t>
                        </m:r>
                      </m:sub>
                    </m:sSub>
                  </m:oMath>
                </a14:m>
                <a:r>
                  <a:rPr lang="en-US" altLang="zh-CN" sz="1200" kern="1200" dirty="0">
                    <a:solidFill>
                      <a:schemeClr val="tx1"/>
                    </a:solidFill>
                    <a:effectLst/>
                    <a:latin typeface="+mn-lt"/>
                    <a:ea typeface="+mn-ea"/>
                    <a:cs typeface="+mn-cs"/>
                  </a:rPr>
                  <a:t>=0.094m;</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按以上步骤求完之后，即可得到</a:t>
                </a:r>
                <a:r>
                  <a:rPr lang="en-US" altLang="zh-CN" sz="1200" kern="1200" dirty="0">
                    <a:solidFill>
                      <a:schemeClr val="tx1"/>
                    </a:solidFill>
                    <a:effectLst/>
                    <a:latin typeface="+mn-lt"/>
                    <a:ea typeface="+mn-ea"/>
                    <a:cs typeface="+mn-cs"/>
                  </a:rPr>
                  <a:t>AUBO-i5</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参数，如表</a:t>
                </a:r>
                <a:r>
                  <a:rPr lang="en-US" altLang="zh-CN" sz="1200" kern="1200" dirty="0">
                    <a:solidFill>
                      <a:schemeClr val="tx1"/>
                    </a:solidFill>
                    <a:effectLst/>
                    <a:latin typeface="+mn-lt"/>
                    <a:ea typeface="+mn-ea"/>
                    <a:cs typeface="+mn-cs"/>
                  </a:rPr>
                  <a:t>3.4</a:t>
                </a:r>
                <a:r>
                  <a:rPr lang="zh-CN" altLang="zh-CN" sz="1200" kern="1200" dirty="0">
                    <a:solidFill>
                      <a:schemeClr val="tx1"/>
                    </a:solidFill>
                    <a:effectLst/>
                    <a:latin typeface="+mn-lt"/>
                    <a:ea typeface="+mn-ea"/>
                    <a:cs typeface="+mn-cs"/>
                  </a:rPr>
                  <a:t>。</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3.21</a:t>
                </a:r>
                <a:r>
                  <a:rPr lang="zh-CN" altLang="zh-CN" sz="1200" kern="1200" dirty="0">
                    <a:solidFill>
                      <a:schemeClr val="tx1"/>
                    </a:solidFill>
                    <a:effectLst/>
                    <a:latin typeface="+mn-lt"/>
                    <a:ea typeface="+mn-ea"/>
                    <a:cs typeface="+mn-cs"/>
                  </a:rPr>
                  <a:t>所示建立坐标系之后，就可以计算出四个</a:t>
                </a:r>
                <a:r>
                  <a:rPr lang="en-US" altLang="zh-CN" sz="1200" i="1"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参数，第</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个连杆坐标系</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对应基座坐标系，基座坐标系</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与世界坐标系重合，从第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个连杆坐标系</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开始的计算：</a:t>
                </a:r>
              </a:p>
              <a:p>
                <a:r>
                  <a:rPr lang="en-US" altLang="zh-CN" sz="1200" b="1" kern="1200" dirty="0">
                    <a:solidFill>
                      <a:schemeClr val="tx1"/>
                    </a:solidFill>
                    <a:effectLst/>
                    <a:latin typeface="+mn-lt"/>
                    <a:ea typeface="+mn-ea"/>
                    <a:cs typeface="+mn-cs"/>
                  </a:rPr>
                  <a:t>(1) </a:t>
                </a:r>
                <a:r>
                  <a:rPr lang="zh-CN" altLang="zh-CN" sz="1200" b="1" kern="1200" dirty="0">
                    <a:solidFill>
                      <a:schemeClr val="tx1"/>
                    </a:solidFill>
                    <a:effectLst/>
                    <a:latin typeface="+mn-lt"/>
                    <a:ea typeface="+mn-ea"/>
                    <a:cs typeface="+mn-cs"/>
                  </a:rPr>
                  <a:t>计算连杆坐标系</a:t>
                </a:r>
                <a:r>
                  <a:rPr lang="en-US" altLang="zh-CN" sz="1200" b="1" kern="1200" dirty="0">
                    <a:solidFill>
                      <a:schemeClr val="tx1"/>
                    </a:solidFill>
                    <a:effectLst/>
                    <a:latin typeface="+mn-lt"/>
                    <a:ea typeface="+mn-ea"/>
                    <a:cs typeface="+mn-cs"/>
                  </a:rPr>
                  <a:t>{1}</a:t>
                </a:r>
                <a:r>
                  <a:rPr lang="zh-CN" altLang="zh-CN" sz="1200" b="1" kern="1200" dirty="0">
                    <a:solidFill>
                      <a:schemeClr val="tx1"/>
                    </a:solidFill>
                    <a:effectLst/>
                    <a:latin typeface="+mn-lt"/>
                    <a:ea typeface="+mn-ea"/>
                    <a:cs typeface="+mn-cs"/>
                  </a:rPr>
                  <a:t>的</a:t>
                </a:r>
                <a:r>
                  <a:rPr lang="en-US" altLang="zh-CN" sz="1200" b="1" kern="1200" dirty="0">
                    <a:solidFill>
                      <a:schemeClr val="tx1"/>
                    </a:solidFill>
                    <a:effectLst/>
                    <a:latin typeface="+mn-lt"/>
                    <a:ea typeface="+mn-ea"/>
                    <a:cs typeface="+mn-cs"/>
                  </a:rPr>
                  <a:t>MDH</a:t>
                </a:r>
                <a:r>
                  <a:rPr lang="zh-CN" altLang="zh-CN" sz="1200" b="1" kern="1200" dirty="0">
                    <a:solidFill>
                      <a:schemeClr val="tx1"/>
                    </a:solidFill>
                    <a:effectLst/>
                    <a:latin typeface="+mn-lt"/>
                    <a:ea typeface="+mn-ea"/>
                    <a:cs typeface="+mn-cs"/>
                  </a:rPr>
                  <a:t>参数</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α</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绕</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轴，从</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到</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的旋转角度，需要向左旋转</a:t>
                </a:r>
                <a:r>
                  <a:rPr lang="en-US" altLang="zh-CN" sz="1200" kern="1200" dirty="0">
                    <a:solidFill>
                      <a:schemeClr val="tx1"/>
                    </a:solidFill>
                    <a:effectLst/>
                    <a:latin typeface="+mn-lt"/>
                    <a:ea typeface="+mn-ea"/>
                    <a:cs typeface="+mn-cs"/>
                  </a:rPr>
                  <a:t>90</a:t>
                </a:r>
                <a:r>
                  <a:rPr lang="zh-CN" altLang="zh-CN" sz="1200" kern="1200" dirty="0">
                    <a:solidFill>
                      <a:schemeClr val="tx1"/>
                    </a:solidFill>
                    <a:effectLst/>
                    <a:latin typeface="+mn-lt"/>
                    <a:ea typeface="+mn-ea"/>
                    <a:cs typeface="+mn-cs"/>
                  </a:rPr>
                  <a:t>度，</a:t>
                </a:r>
                <a:r>
                  <a:rPr lang="en-US" altLang="zh-CN" sz="1200" i="0" kern="1200">
                    <a:solidFill>
                      <a:schemeClr val="tx1"/>
                    </a:solidFill>
                    <a:effectLst/>
                    <a:latin typeface="+mn-lt"/>
                    <a:ea typeface="+mn-ea"/>
                    <a:cs typeface="+mn-cs"/>
                  </a:rPr>
                  <a:t>α</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0=𝑃𝐼/2</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a</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沿</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轴，从</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移动到</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的距离，</a:t>
                </a:r>
                <a:r>
                  <a:rPr lang="en-US" altLang="zh-CN" sz="1200" i="0" kern="1200">
                    <a:solidFill>
                      <a:schemeClr val="tx1"/>
                    </a:solidFill>
                    <a:effectLst/>
                    <a:latin typeface="+mn-lt"/>
                    <a:ea typeface="+mn-ea"/>
                    <a:cs typeface="+mn-cs"/>
                  </a:rPr>
                  <a:t>a</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en-US" altLang="zh-CN" sz="1200" kern="1200" dirty="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θ</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绕</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轴，将</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旋转到</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的角度，初始角为</a:t>
                </a:r>
                <a:r>
                  <a:rPr lang="en-US" altLang="zh-CN" sz="1200" kern="1200" dirty="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d</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沿</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轴，从</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移动到</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的距离，</a:t>
                </a:r>
                <a:r>
                  <a:rPr lang="en-US" altLang="zh-CN" sz="1200" i="0" kern="1200">
                    <a:solidFill>
                      <a:schemeClr val="tx1"/>
                    </a:solidFill>
                    <a:effectLst/>
                    <a:latin typeface="+mn-lt"/>
                    <a:ea typeface="+mn-ea"/>
                    <a:cs typeface="+mn-cs"/>
                  </a:rPr>
                  <a:t>d</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1=0.0985𝑚</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(2) </a:t>
                </a:r>
                <a:r>
                  <a:rPr lang="zh-CN" altLang="zh-CN" sz="1200" b="1" kern="1200" dirty="0">
                    <a:solidFill>
                      <a:schemeClr val="tx1"/>
                    </a:solidFill>
                    <a:effectLst/>
                    <a:latin typeface="+mn-lt"/>
                    <a:ea typeface="+mn-ea"/>
                    <a:cs typeface="+mn-cs"/>
                  </a:rPr>
                  <a:t>计算连杆坐标系</a:t>
                </a:r>
                <a:r>
                  <a:rPr lang="en-US" altLang="zh-CN" sz="1200" b="1" kern="1200" dirty="0">
                    <a:solidFill>
                      <a:schemeClr val="tx1"/>
                    </a:solidFill>
                    <a:effectLst/>
                    <a:latin typeface="+mn-lt"/>
                    <a:ea typeface="+mn-ea"/>
                    <a:cs typeface="+mn-cs"/>
                  </a:rPr>
                  <a:t>{2}</a:t>
                </a:r>
                <a:r>
                  <a:rPr lang="zh-CN" altLang="zh-CN" sz="1200" b="1" kern="1200" dirty="0">
                    <a:solidFill>
                      <a:schemeClr val="tx1"/>
                    </a:solidFill>
                    <a:effectLst/>
                    <a:latin typeface="+mn-lt"/>
                    <a:ea typeface="+mn-ea"/>
                    <a:cs typeface="+mn-cs"/>
                  </a:rPr>
                  <a:t>的</a:t>
                </a:r>
                <a:r>
                  <a:rPr lang="en-US" altLang="zh-CN" sz="1200" b="1" kern="1200" dirty="0">
                    <a:solidFill>
                      <a:schemeClr val="tx1"/>
                    </a:solidFill>
                    <a:effectLst/>
                    <a:latin typeface="+mn-lt"/>
                    <a:ea typeface="+mn-ea"/>
                    <a:cs typeface="+mn-cs"/>
                  </a:rPr>
                  <a:t>MDH</a:t>
                </a:r>
                <a:r>
                  <a:rPr lang="zh-CN" altLang="zh-CN" sz="1200" b="1" kern="1200" dirty="0">
                    <a:solidFill>
                      <a:schemeClr val="tx1"/>
                    </a:solidFill>
                    <a:effectLst/>
                    <a:latin typeface="+mn-lt"/>
                    <a:ea typeface="+mn-ea"/>
                    <a:cs typeface="+mn-cs"/>
                  </a:rPr>
                  <a:t>参数</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α</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绕</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轴，从</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到</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的旋转角度，</a:t>
                </a:r>
                <a:r>
                  <a:rPr lang="en-US" altLang="zh-CN" sz="1200" i="0" kern="1200">
                    <a:solidFill>
                      <a:schemeClr val="tx1"/>
                    </a:solidFill>
                    <a:effectLst/>
                    <a:latin typeface="+mn-lt"/>
                    <a:ea typeface="+mn-ea"/>
                    <a:cs typeface="+mn-cs"/>
                  </a:rPr>
                  <a:t>α</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1=0</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a</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沿</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轴，从</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移动到</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的距离，</a:t>
                </a:r>
                <a:r>
                  <a:rPr lang="en-US" altLang="zh-CN" sz="1200" i="0" kern="1200">
                    <a:solidFill>
                      <a:schemeClr val="tx1"/>
                    </a:solidFill>
                    <a:effectLst/>
                    <a:latin typeface="+mn-lt"/>
                    <a:ea typeface="+mn-ea"/>
                    <a:cs typeface="+mn-cs"/>
                  </a:rPr>
                  <a:t>a</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1=−0.408m</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θ</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绕</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轴，将</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旋转到</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的角度，需要注意</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这里的角度比直立形态向里旋转了</a:t>
                </a:r>
                <a:r>
                  <a:rPr lang="en-US" altLang="zh-CN" sz="1200" kern="1200" dirty="0">
                    <a:solidFill>
                      <a:schemeClr val="tx1"/>
                    </a:solidFill>
                    <a:effectLst/>
                    <a:latin typeface="+mn-lt"/>
                    <a:ea typeface="+mn-ea"/>
                    <a:cs typeface="+mn-cs"/>
                  </a:rPr>
                  <a:t>90</a:t>
                </a:r>
                <a:r>
                  <a:rPr lang="zh-CN" altLang="zh-CN" sz="1200" kern="1200" dirty="0">
                    <a:solidFill>
                      <a:schemeClr val="tx1"/>
                    </a:solidFill>
                    <a:effectLst/>
                    <a:latin typeface="+mn-lt"/>
                    <a:ea typeface="+mn-ea"/>
                    <a:cs typeface="+mn-cs"/>
                  </a:rPr>
                  <a:t>度，可设初始角度为</a:t>
                </a:r>
                <a:r>
                  <a:rPr lang="en-US" altLang="zh-CN" sz="1200" kern="1200" dirty="0">
                    <a:solidFill>
                      <a:schemeClr val="tx1"/>
                    </a:solidFill>
                    <a:effectLst/>
                    <a:latin typeface="+mn-lt"/>
                    <a:ea typeface="+mn-ea"/>
                    <a:cs typeface="+mn-cs"/>
                  </a:rPr>
                  <a:t>90</a:t>
                </a:r>
                <a:r>
                  <a:rPr lang="zh-CN" altLang="zh-CN" sz="1200" kern="1200" dirty="0">
                    <a:solidFill>
                      <a:schemeClr val="tx1"/>
                    </a:solidFill>
                    <a:effectLst/>
                    <a:latin typeface="+mn-lt"/>
                    <a:ea typeface="+mn-ea"/>
                    <a:cs typeface="+mn-cs"/>
                  </a:rPr>
                  <a:t>度</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d</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沿</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轴，从</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移动到</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的距离，</a:t>
                </a:r>
                <a:r>
                  <a:rPr lang="en-US" altLang="zh-CN" sz="1200" i="0" kern="1200">
                    <a:solidFill>
                      <a:schemeClr val="tx1"/>
                    </a:solidFill>
                    <a:effectLst/>
                    <a:latin typeface="+mn-lt"/>
                    <a:ea typeface="+mn-ea"/>
                    <a:cs typeface="+mn-cs"/>
                  </a:rPr>
                  <a:t>d</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2=0</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(3) </a:t>
                </a:r>
                <a:r>
                  <a:rPr lang="zh-CN" altLang="zh-CN" sz="1200" b="1" kern="1200" dirty="0">
                    <a:solidFill>
                      <a:schemeClr val="tx1"/>
                    </a:solidFill>
                    <a:effectLst/>
                    <a:latin typeface="+mn-lt"/>
                    <a:ea typeface="+mn-ea"/>
                    <a:cs typeface="+mn-cs"/>
                  </a:rPr>
                  <a:t>计算连杆坐标系</a:t>
                </a:r>
                <a:r>
                  <a:rPr lang="en-US" altLang="zh-CN" sz="1200" b="1" kern="1200" dirty="0">
                    <a:solidFill>
                      <a:schemeClr val="tx1"/>
                    </a:solidFill>
                    <a:effectLst/>
                    <a:latin typeface="+mn-lt"/>
                    <a:ea typeface="+mn-ea"/>
                    <a:cs typeface="+mn-cs"/>
                  </a:rPr>
                  <a:t>{3}</a:t>
                </a:r>
                <a:r>
                  <a:rPr lang="zh-CN" altLang="zh-CN" sz="1200" b="1" kern="1200" dirty="0">
                    <a:solidFill>
                      <a:schemeClr val="tx1"/>
                    </a:solidFill>
                    <a:effectLst/>
                    <a:latin typeface="+mn-lt"/>
                    <a:ea typeface="+mn-ea"/>
                    <a:cs typeface="+mn-cs"/>
                  </a:rPr>
                  <a:t>的</a:t>
                </a:r>
                <a:r>
                  <a:rPr lang="en-US" altLang="zh-CN" sz="1200" b="1" kern="1200" dirty="0">
                    <a:solidFill>
                      <a:schemeClr val="tx1"/>
                    </a:solidFill>
                    <a:effectLst/>
                    <a:latin typeface="+mn-lt"/>
                    <a:ea typeface="+mn-ea"/>
                    <a:cs typeface="+mn-cs"/>
                  </a:rPr>
                  <a:t>D-H</a:t>
                </a:r>
                <a:r>
                  <a:rPr lang="zh-CN" altLang="zh-CN" sz="1200" b="1" kern="1200" dirty="0">
                    <a:solidFill>
                      <a:schemeClr val="tx1"/>
                    </a:solidFill>
                    <a:effectLst/>
                    <a:latin typeface="+mn-lt"/>
                    <a:ea typeface="+mn-ea"/>
                    <a:cs typeface="+mn-cs"/>
                  </a:rPr>
                  <a:t>参数</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α</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绕</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轴，从</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到</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的旋转角度，</a:t>
                </a:r>
                <a:r>
                  <a:rPr lang="en-US" altLang="zh-CN" sz="1200" i="0" kern="1200">
                    <a:solidFill>
                      <a:schemeClr val="tx1"/>
                    </a:solidFill>
                    <a:effectLst/>
                    <a:latin typeface="+mn-lt"/>
                    <a:ea typeface="+mn-ea"/>
                    <a:cs typeface="+mn-cs"/>
                  </a:rPr>
                  <a:t>α</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2=0</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a</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沿</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轴，从</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移动到</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的距离，</a:t>
                </a:r>
                <a:r>
                  <a:rPr lang="en-US" altLang="zh-CN" sz="1200" i="0" kern="1200">
                    <a:solidFill>
                      <a:schemeClr val="tx1"/>
                    </a:solidFill>
                    <a:effectLst/>
                    <a:latin typeface="+mn-lt"/>
                    <a:ea typeface="+mn-ea"/>
                    <a:cs typeface="+mn-cs"/>
                  </a:rPr>
                  <a:t>a</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2=−0.376m</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θ</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绕</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轴，将</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旋转到</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的角度，初始角</a:t>
                </a:r>
                <a:r>
                  <a:rPr lang="en-US" altLang="zh-CN" sz="1200" kern="1200" dirty="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d</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沿</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轴，从</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移动到</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的距离，</a:t>
                </a:r>
                <a:r>
                  <a:rPr lang="en-US" altLang="zh-CN" sz="1200" i="0" kern="1200">
                    <a:solidFill>
                      <a:schemeClr val="tx1"/>
                    </a:solidFill>
                    <a:effectLst/>
                    <a:latin typeface="+mn-lt"/>
                    <a:ea typeface="+mn-ea"/>
                    <a:cs typeface="+mn-cs"/>
                  </a:rPr>
                  <a:t>d</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3=0</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(4) </a:t>
                </a:r>
                <a:r>
                  <a:rPr lang="zh-CN" altLang="zh-CN" sz="1200" b="1" kern="1200" dirty="0">
                    <a:solidFill>
                      <a:schemeClr val="tx1"/>
                    </a:solidFill>
                    <a:effectLst/>
                    <a:latin typeface="+mn-lt"/>
                    <a:ea typeface="+mn-ea"/>
                    <a:cs typeface="+mn-cs"/>
                  </a:rPr>
                  <a:t>计算连杆坐标系</a:t>
                </a:r>
                <a:r>
                  <a:rPr lang="en-US" altLang="zh-CN" sz="1200" b="1" kern="1200" dirty="0">
                    <a:solidFill>
                      <a:schemeClr val="tx1"/>
                    </a:solidFill>
                    <a:effectLst/>
                    <a:latin typeface="+mn-lt"/>
                    <a:ea typeface="+mn-ea"/>
                    <a:cs typeface="+mn-cs"/>
                  </a:rPr>
                  <a:t>{4}</a:t>
                </a:r>
                <a:r>
                  <a:rPr lang="zh-CN" altLang="zh-CN" sz="1200" b="1" kern="1200" dirty="0">
                    <a:solidFill>
                      <a:schemeClr val="tx1"/>
                    </a:solidFill>
                    <a:effectLst/>
                    <a:latin typeface="+mn-lt"/>
                    <a:ea typeface="+mn-ea"/>
                    <a:cs typeface="+mn-cs"/>
                  </a:rPr>
                  <a:t>的</a:t>
                </a:r>
                <a:r>
                  <a:rPr lang="en-US" altLang="zh-CN" sz="1200" b="1" kern="1200" dirty="0">
                    <a:solidFill>
                      <a:schemeClr val="tx1"/>
                    </a:solidFill>
                    <a:effectLst/>
                    <a:latin typeface="+mn-lt"/>
                    <a:ea typeface="+mn-ea"/>
                    <a:cs typeface="+mn-cs"/>
                  </a:rPr>
                  <a:t>D-H</a:t>
                </a:r>
                <a:r>
                  <a:rPr lang="zh-CN" altLang="zh-CN" sz="1200" b="1" kern="1200" dirty="0">
                    <a:solidFill>
                      <a:schemeClr val="tx1"/>
                    </a:solidFill>
                    <a:effectLst/>
                    <a:latin typeface="+mn-lt"/>
                    <a:ea typeface="+mn-ea"/>
                    <a:cs typeface="+mn-cs"/>
                  </a:rPr>
                  <a:t>参数</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α</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绕</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轴，从</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到</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的旋转角度，</a:t>
                </a:r>
                <a:r>
                  <a:rPr lang="en-US" altLang="zh-CN" sz="1200" i="0" kern="1200">
                    <a:solidFill>
                      <a:schemeClr val="tx1"/>
                    </a:solidFill>
                    <a:effectLst/>
                    <a:latin typeface="+mn-lt"/>
                    <a:ea typeface="+mn-ea"/>
                    <a:cs typeface="+mn-cs"/>
                  </a:rPr>
                  <a:t>α</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3=𝑃𝐼/2</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a</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沿</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轴，从</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移动到</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的距离，</a:t>
                </a:r>
                <a:r>
                  <a:rPr lang="en-US" altLang="zh-CN" sz="1200" i="0" kern="1200">
                    <a:solidFill>
                      <a:schemeClr val="tx1"/>
                    </a:solidFill>
                    <a:effectLst/>
                    <a:latin typeface="+mn-lt"/>
                    <a:ea typeface="+mn-ea"/>
                    <a:cs typeface="+mn-cs"/>
                  </a:rPr>
                  <a:t>a</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3=0m</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θ</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关节角</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，同坐标系</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，该关节角和直立状态相比，向里转了</a:t>
                </a:r>
                <a:r>
                  <a:rPr lang="en-US" altLang="zh-CN" sz="1200" kern="1200" dirty="0">
                    <a:solidFill>
                      <a:schemeClr val="tx1"/>
                    </a:solidFill>
                    <a:effectLst/>
                    <a:latin typeface="+mn-lt"/>
                    <a:ea typeface="+mn-ea"/>
                    <a:cs typeface="+mn-cs"/>
                  </a:rPr>
                  <a:t>90</a:t>
                </a:r>
                <a:r>
                  <a:rPr lang="zh-CN" altLang="zh-CN" sz="1200" kern="1200" dirty="0">
                    <a:solidFill>
                      <a:schemeClr val="tx1"/>
                    </a:solidFill>
                    <a:effectLst/>
                    <a:latin typeface="+mn-lt"/>
                    <a:ea typeface="+mn-ea"/>
                    <a:cs typeface="+mn-cs"/>
                  </a:rPr>
                  <a:t>度，可设初始角为</a:t>
                </a:r>
                <a:r>
                  <a:rPr lang="en-US" altLang="zh-CN" sz="1200" kern="1200" dirty="0">
                    <a:solidFill>
                      <a:schemeClr val="tx1"/>
                    </a:solidFill>
                    <a:effectLst/>
                    <a:latin typeface="+mn-lt"/>
                    <a:ea typeface="+mn-ea"/>
                    <a:cs typeface="+mn-cs"/>
                  </a:rPr>
                  <a:t>90</a:t>
                </a:r>
                <a:r>
                  <a:rPr lang="zh-CN" altLang="zh-CN" sz="1200" kern="1200" dirty="0">
                    <a:solidFill>
                      <a:schemeClr val="tx1"/>
                    </a:solidFill>
                    <a:effectLst/>
                    <a:latin typeface="+mn-lt"/>
                    <a:ea typeface="+mn-ea"/>
                    <a:cs typeface="+mn-cs"/>
                  </a:rPr>
                  <a:t>度</a:t>
                </a:r>
                <a:r>
                  <a:rPr lang="en-US"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θ</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4=𝑃𝐼/2</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d</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沿</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轴，从</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移动到</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的距离，</a:t>
                </a:r>
                <a:r>
                  <a:rPr lang="en-US" altLang="zh-CN" sz="1200" i="0" kern="1200">
                    <a:solidFill>
                      <a:schemeClr val="tx1"/>
                    </a:solidFill>
                    <a:effectLst/>
                    <a:latin typeface="+mn-lt"/>
                    <a:ea typeface="+mn-ea"/>
                    <a:cs typeface="+mn-cs"/>
                  </a:rPr>
                  <a:t>d</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4=0.1215𝑚</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计算连杆坐标系</a:t>
                </a:r>
                <a:r>
                  <a:rPr lang="en-US" altLang="zh-CN" sz="1200" b="1" kern="1200" dirty="0">
                    <a:solidFill>
                      <a:schemeClr val="tx1"/>
                    </a:solidFill>
                    <a:effectLst/>
                    <a:latin typeface="+mn-lt"/>
                    <a:ea typeface="+mn-ea"/>
                    <a:cs typeface="+mn-cs"/>
                  </a:rPr>
                  <a:t>{5}</a:t>
                </a:r>
                <a:r>
                  <a:rPr lang="zh-CN" altLang="zh-CN" sz="1200" b="1" kern="1200" dirty="0">
                    <a:solidFill>
                      <a:schemeClr val="tx1"/>
                    </a:solidFill>
                    <a:effectLst/>
                    <a:latin typeface="+mn-lt"/>
                    <a:ea typeface="+mn-ea"/>
                    <a:cs typeface="+mn-cs"/>
                  </a:rPr>
                  <a:t>的</a:t>
                </a:r>
                <a:r>
                  <a:rPr lang="en-US" altLang="zh-CN" sz="1200" b="1" kern="1200" dirty="0">
                    <a:solidFill>
                      <a:schemeClr val="tx1"/>
                    </a:solidFill>
                    <a:effectLst/>
                    <a:latin typeface="+mn-lt"/>
                    <a:ea typeface="+mn-ea"/>
                    <a:cs typeface="+mn-cs"/>
                  </a:rPr>
                  <a:t>D-H</a:t>
                </a:r>
                <a:r>
                  <a:rPr lang="zh-CN" altLang="zh-CN" sz="1200" b="1" kern="1200" dirty="0">
                    <a:solidFill>
                      <a:schemeClr val="tx1"/>
                    </a:solidFill>
                    <a:effectLst/>
                    <a:latin typeface="+mn-lt"/>
                    <a:ea typeface="+mn-ea"/>
                    <a:cs typeface="+mn-cs"/>
                  </a:rPr>
                  <a:t>参数</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α</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绕</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轴，从</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到</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的旋转角度，</a:t>
                </a:r>
                <a:r>
                  <a:rPr lang="en-US" altLang="zh-CN" sz="1200" i="0" kern="1200">
                    <a:solidFill>
                      <a:schemeClr val="tx1"/>
                    </a:solidFill>
                    <a:effectLst/>
                    <a:latin typeface="+mn-lt"/>
                    <a:ea typeface="+mn-ea"/>
                    <a:cs typeface="+mn-cs"/>
                  </a:rPr>
                  <a:t>α</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4=−𝑃𝐼/2</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a</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沿</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轴，从</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移动到</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的距离，</a:t>
                </a:r>
                <a:r>
                  <a:rPr lang="en-US" altLang="zh-CN" sz="1200" i="0" kern="1200">
                    <a:solidFill>
                      <a:schemeClr val="tx1"/>
                    </a:solidFill>
                    <a:effectLst/>
                    <a:latin typeface="+mn-lt"/>
                    <a:ea typeface="+mn-ea"/>
                    <a:cs typeface="+mn-cs"/>
                  </a:rPr>
                  <a:t>a</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4=0</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θ</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关节角</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，初始角</a:t>
                </a:r>
                <a:r>
                  <a:rPr lang="en-US" altLang="zh-CN" sz="1200" kern="1200" dirty="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d</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沿</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轴，从</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移动到</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的距离，</a:t>
                </a:r>
                <a:r>
                  <a:rPr lang="en-US" altLang="zh-CN" sz="1200" i="0" kern="1200">
                    <a:solidFill>
                      <a:schemeClr val="tx1"/>
                    </a:solidFill>
                    <a:effectLst/>
                    <a:latin typeface="+mn-lt"/>
                    <a:ea typeface="+mn-ea"/>
                    <a:cs typeface="+mn-cs"/>
                  </a:rPr>
                  <a:t>d</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a:t>
                </a:r>
                <a:r>
                  <a:rPr lang="en-US"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0.1215m</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计算工具坐标系</a:t>
                </a:r>
                <a:r>
                  <a:rPr lang="en-US" altLang="zh-CN" sz="1200" b="1" kern="1200" dirty="0">
                    <a:solidFill>
                      <a:schemeClr val="tx1"/>
                    </a:solidFill>
                    <a:effectLst/>
                    <a:latin typeface="+mn-lt"/>
                    <a:ea typeface="+mn-ea"/>
                    <a:cs typeface="+mn-cs"/>
                  </a:rPr>
                  <a:t>{6}</a:t>
                </a:r>
                <a:r>
                  <a:rPr lang="zh-CN" altLang="zh-CN" sz="1200" b="1" kern="1200" dirty="0">
                    <a:solidFill>
                      <a:schemeClr val="tx1"/>
                    </a:solidFill>
                    <a:effectLst/>
                    <a:latin typeface="+mn-lt"/>
                    <a:ea typeface="+mn-ea"/>
                    <a:cs typeface="+mn-cs"/>
                  </a:rPr>
                  <a:t>的</a:t>
                </a:r>
                <a:r>
                  <a:rPr lang="en-US" altLang="zh-CN" sz="1200" b="1" kern="1200" dirty="0">
                    <a:solidFill>
                      <a:schemeClr val="tx1"/>
                    </a:solidFill>
                    <a:effectLst/>
                    <a:latin typeface="+mn-lt"/>
                    <a:ea typeface="+mn-ea"/>
                    <a:cs typeface="+mn-cs"/>
                  </a:rPr>
                  <a:t>D-H</a:t>
                </a:r>
                <a:r>
                  <a:rPr lang="zh-CN" altLang="zh-CN" sz="1200" b="1" kern="1200" dirty="0">
                    <a:solidFill>
                      <a:schemeClr val="tx1"/>
                    </a:solidFill>
                    <a:effectLst/>
                    <a:latin typeface="+mn-lt"/>
                    <a:ea typeface="+mn-ea"/>
                    <a:cs typeface="+mn-cs"/>
                  </a:rPr>
                  <a:t>参数</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α</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绕</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轴，从</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到</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的旋转角度，</a:t>
                </a:r>
                <a:r>
                  <a:rPr lang="en-US" altLang="zh-CN" sz="1200" i="0" kern="1200">
                    <a:solidFill>
                      <a:schemeClr val="tx1"/>
                    </a:solidFill>
                    <a:effectLst/>
                    <a:latin typeface="+mn-lt"/>
                    <a:ea typeface="+mn-ea"/>
                    <a:cs typeface="+mn-cs"/>
                  </a:rPr>
                  <a:t>α</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5=0</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a</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沿</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轴，从</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移动到</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的距离，</a:t>
                </a:r>
                <a:r>
                  <a:rPr lang="en-US" altLang="zh-CN" sz="1200" i="0" kern="1200">
                    <a:solidFill>
                      <a:schemeClr val="tx1"/>
                    </a:solidFill>
                    <a:effectLst/>
                    <a:latin typeface="+mn-lt"/>
                    <a:ea typeface="+mn-ea"/>
                    <a:cs typeface="+mn-cs"/>
                  </a:rPr>
                  <a:t>a</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5=0</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θ</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关节角</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，初始角</a:t>
                </a:r>
                <a:r>
                  <a:rPr lang="en-US" altLang="zh-CN" sz="1200" kern="1200" dirty="0">
                    <a:solidFill>
                      <a:schemeClr val="tx1"/>
                    </a:solidFill>
                    <a:effectLst/>
                    <a:latin typeface="+mn-lt"/>
                    <a:ea typeface="+mn-ea"/>
                    <a:cs typeface="+mn-cs"/>
                  </a:rPr>
                  <a:t>0;</a:t>
                </a:r>
                <a:endParaRPr lang="zh-CN" altLang="zh-CN" sz="1200" kern="1200" dirty="0">
                  <a:solidFill>
                    <a:schemeClr val="tx1"/>
                  </a:solidFill>
                  <a:effectLst/>
                  <a:latin typeface="+mn-lt"/>
                  <a:ea typeface="+mn-ea"/>
                  <a:cs typeface="+mn-cs"/>
                </a:endParaRPr>
              </a:p>
              <a:p>
                <a:r>
                  <a:rPr lang="en-US" altLang="zh-CN" sz="1200" i="0" kern="1200">
                    <a:solidFill>
                      <a:schemeClr val="tx1"/>
                    </a:solidFill>
                    <a:effectLst/>
                    <a:latin typeface="+mn-lt"/>
                    <a:ea typeface="+mn-ea"/>
                    <a:cs typeface="+mn-cs"/>
                  </a:rPr>
                  <a:t>d</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沿</a:t>
                </a:r>
                <a:r>
                  <a:rPr lang="en-US" altLang="zh-CN" sz="1200" i="0" kern="1200">
                    <a:solidFill>
                      <a:schemeClr val="tx1"/>
                    </a:solidFill>
                    <a:effectLst/>
                    <a:latin typeface="+mn-lt"/>
                    <a:ea typeface="+mn-ea"/>
                    <a:cs typeface="+mn-cs"/>
                  </a:rPr>
                  <a:t>𝑍</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轴，从</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移动到</a:t>
                </a:r>
                <a:r>
                  <a:rPr lang="en-US" altLang="zh-CN" sz="1200" i="0" kern="1200">
                    <a:solidFill>
                      <a:schemeClr val="tx1"/>
                    </a:solidFill>
                    <a:effectLst/>
                    <a:latin typeface="+mn-lt"/>
                    <a:ea typeface="+mn-ea"/>
                    <a:cs typeface="+mn-cs"/>
                  </a:rPr>
                  <a:t>𝑋</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的距离，</a:t>
                </a:r>
                <a:r>
                  <a:rPr lang="en-US" altLang="zh-CN" sz="1200" i="0" kern="1200">
                    <a:solidFill>
                      <a:schemeClr val="tx1"/>
                    </a:solidFill>
                    <a:effectLst/>
                    <a:latin typeface="+mn-lt"/>
                    <a:ea typeface="+mn-ea"/>
                    <a:cs typeface="+mn-cs"/>
                  </a:rPr>
                  <a:t>d</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a:t>
                </a:r>
                <a:r>
                  <a:rPr lang="en-US" altLang="zh-CN" sz="1200" kern="1200" dirty="0">
                    <a:solidFill>
                      <a:schemeClr val="tx1"/>
                    </a:solidFill>
                    <a:effectLst/>
                    <a:latin typeface="+mn-lt"/>
                    <a:ea typeface="+mn-ea"/>
                    <a:cs typeface="+mn-cs"/>
                  </a:rPr>
                  <a:t>=0.094m;</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按以上步骤求完之后，即可得到</a:t>
                </a:r>
                <a:r>
                  <a:rPr lang="en-US" altLang="zh-CN" sz="1200" kern="1200" dirty="0">
                    <a:solidFill>
                      <a:schemeClr val="tx1"/>
                    </a:solidFill>
                    <a:effectLst/>
                    <a:latin typeface="+mn-lt"/>
                    <a:ea typeface="+mn-ea"/>
                    <a:cs typeface="+mn-cs"/>
                  </a:rPr>
                  <a:t>AUBO-i5</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参数，如表</a:t>
                </a:r>
                <a:r>
                  <a:rPr lang="en-US" altLang="zh-CN" sz="1200" kern="1200" dirty="0">
                    <a:solidFill>
                      <a:schemeClr val="tx1"/>
                    </a:solidFill>
                    <a:effectLst/>
                    <a:latin typeface="+mn-lt"/>
                    <a:ea typeface="+mn-ea"/>
                    <a:cs typeface="+mn-cs"/>
                  </a:rPr>
                  <a:t>3.4</a:t>
                </a:r>
                <a:r>
                  <a:rPr lang="zh-CN" altLang="zh-CN" sz="1200" kern="1200" dirty="0">
                    <a:solidFill>
                      <a:schemeClr val="tx1"/>
                    </a:solidFill>
                    <a:effectLst/>
                    <a:latin typeface="+mn-lt"/>
                    <a:ea typeface="+mn-ea"/>
                    <a:cs typeface="+mn-cs"/>
                  </a:rPr>
                  <a:t>。</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47</a:t>
            </a:fld>
            <a:endParaRPr lang="zh-CN" altLang="en-US"/>
          </a:p>
        </p:txBody>
      </p:sp>
    </p:spTree>
    <p:extLst>
      <p:ext uri="{BB962C8B-B14F-4D97-AF65-F5344CB8AC3E}">
        <p14:creationId xmlns:p14="http://schemas.microsoft.com/office/powerpoint/2010/main" val="202377682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表示法，相连连杆之间的变换矩阵可以通过式</a:t>
                </a:r>
                <a:r>
                  <a:rPr lang="en-US" altLang="zh-CN" sz="1200" kern="1200" dirty="0">
                    <a:solidFill>
                      <a:schemeClr val="tx1"/>
                    </a:solidFill>
                    <a:effectLst/>
                    <a:latin typeface="+mn-lt"/>
                    <a:ea typeface="+mn-ea"/>
                    <a:cs typeface="+mn-cs"/>
                  </a:rPr>
                  <a:t>(3-27)</a:t>
                </a:r>
                <a:r>
                  <a:rPr lang="zh-CN" altLang="zh-CN" sz="1200" kern="1200" dirty="0">
                    <a:solidFill>
                      <a:schemeClr val="tx1"/>
                    </a:solidFill>
                    <a:effectLst/>
                    <a:latin typeface="+mn-lt"/>
                    <a:ea typeface="+mn-ea"/>
                    <a:cs typeface="+mn-cs"/>
                  </a:rPr>
                  <a:t>的变换顺序进行四个齐次变换，得到一个</a:t>
                </a:r>
                <a:r>
                  <a:rPr lang="en-US" altLang="zh-CN" sz="1200"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矩阵，其通用表达形式见式</a:t>
                </a:r>
                <a:r>
                  <a:rPr lang="en-US" altLang="zh-CN" sz="1200" kern="1200" dirty="0">
                    <a:solidFill>
                      <a:schemeClr val="tx1"/>
                    </a:solidFill>
                    <a:effectLst/>
                    <a:latin typeface="+mn-lt"/>
                    <a:ea typeface="+mn-ea"/>
                    <a:cs typeface="+mn-cs"/>
                  </a:rPr>
                  <a:t>(3-28)</a:t>
                </a:r>
                <a:r>
                  <a:rPr lang="zh-CN" altLang="zh-CN" sz="1200" kern="1200" dirty="0">
                    <a:solidFill>
                      <a:schemeClr val="tx1"/>
                    </a:solidFill>
                    <a:effectLst/>
                    <a:latin typeface="+mn-lt"/>
                    <a:ea typeface="+mn-ea"/>
                    <a:cs typeface="+mn-cs"/>
                  </a:rPr>
                  <a:t>。</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p>
                          <m:e>
                            <m:r>
                              <a:rPr lang="en-US" altLang="zh-CN" sz="1200" i="1" kern="1200">
                                <a:solidFill>
                                  <a:schemeClr val="tx1"/>
                                </a:solidFill>
                                <a:effectLst/>
                                <a:latin typeface="Cambria Math" panose="02040503050406030204" pitchFamily="18" charset="0"/>
                                <a:ea typeface="+mn-ea"/>
                                <a:cs typeface="+mn-cs"/>
                              </a:rPr>
                              <m:t>𝑇</m:t>
                            </m:r>
                          </m:e>
                        </m:sPre>
                      </m:e>
                      <m:sub>
                        <m:r>
                          <a:rPr lang="en-US" altLang="zh-CN" sz="1200" i="1" kern="1200">
                            <a:solidFill>
                              <a:schemeClr val="tx1"/>
                            </a:solidFill>
                            <a:effectLst/>
                            <a:latin typeface="Cambria Math" panose="02040503050406030204" pitchFamily="18" charset="0"/>
                            <a:ea typeface="+mn-ea"/>
                            <a:cs typeface="+mn-cs"/>
                          </a:rPr>
                          <m:t>𝑛</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𝑅𝑜𝑡</m:t>
                        </m:r>
                      </m:e>
                      <m: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𝛼</m:t>
                        </m:r>
                      </m:e>
                      <m:sub>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𝑇𝑟𝑎𝑛𝑠</m:t>
                        </m:r>
                      </m:e>
                      <m: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𝑋</m:t>
                            </m:r>
                          </m:e>
                          <m:sub>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b>
                        </m:sSub>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𝑎</m:t>
                        </m:r>
                      </m:e>
                      <m:sub>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𝑅𝑜𝑡</m:t>
                        </m:r>
                      </m:e>
                      <m: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sub>
                        </m:sSub>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𝑛</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𝑇𝑟𝑎𝑛𝑠</m:t>
                        </m:r>
                      </m:e>
                      <m: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𝑛</m:t>
                            </m:r>
                          </m:sub>
                        </m:sSub>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𝑛</m:t>
                        </m:r>
                      </m:sub>
                    </m:sSub>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 (3-27)</a:t>
                </a:r>
                <a:endParaRPr lang="zh-CN" altLang="zh-CN" sz="1200" kern="1200" dirty="0">
                  <a:solidFill>
                    <a:schemeClr val="tx1"/>
                  </a:solidFill>
                  <a:effectLst/>
                  <a:latin typeface="+mn-lt"/>
                  <a:ea typeface="+mn-ea"/>
                  <a:cs typeface="+mn-cs"/>
                </a:endParaRPr>
              </a:p>
              <a:p>
                <a14:m>
                  <m:oMath xmlns:m="http://schemas.openxmlformats.org/officeDocument/2006/math">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𝑇</m:t>
                            </m:r>
                          </m:e>
                          <m:sub>
                            <m:r>
                              <a:rPr lang="en-US" altLang="zh-CN" sz="1200" i="1" kern="1200">
                                <a:solidFill>
                                  <a:schemeClr val="tx1"/>
                                </a:solidFill>
                                <a:effectLst/>
                                <a:latin typeface="Cambria Math" panose="02040503050406030204" pitchFamily="18" charset="0"/>
                                <a:ea typeface="+mn-ea"/>
                                <a:cs typeface="+mn-cs"/>
                              </a:rPr>
                              <m:t>𝑖</m:t>
                            </m:r>
                          </m:sub>
                        </m:sSub>
                      </m:e>
                    </m:sPre>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e>
                                    </m:func>
                                  </m:e>
                                  <m:e>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e>
                                    </m:func>
                                  </m:e>
                                </m:mr>
                                <m:mr>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e>
                                    </m:func>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𝛼</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e>
                                    </m:func>
                                  </m:e>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e>
                                    </m:func>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𝛼</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e>
                                    </m:func>
                                  </m:e>
                                </m:mr>
                              </m:m>
                            </m:e>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0</m:t>
                                    </m:r>
                                  </m:e>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𝑎</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e>
                                </m:mr>
                                <m:mr>
                                  <m:e>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𝛼</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e>
                                    </m:func>
                                  </m:e>
                                  <m:e>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𝛼</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e>
                                    </m:func>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𝑖</m:t>
                                        </m:r>
                                      </m:sub>
                                    </m:sSub>
                                  </m:e>
                                </m:mr>
                              </m:m>
                            </m:e>
                          </m:mr>
                          <m:m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e>
                                    </m:func>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𝛼</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e>
                                    </m:func>
                                  </m:e>
                                  <m:e>
                                    <m:func>
                                      <m:funcPr>
                                        <m:ctrlPr>
                                          <a:rPr lang="zh-CN" altLang="zh-CN" sz="1200" i="1" kern="1200">
                                            <a:solidFill>
                                              <a:schemeClr val="tx1"/>
                                            </a:solidFill>
                                            <a:effectLst/>
                                            <a:latin typeface="Cambria Math" panose="02040503050406030204" pitchFamily="18" charset="0"/>
                                            <a:ea typeface="+mn-ea"/>
                                            <a:cs typeface="+mn-cs"/>
                                          </a:rPr>
                                        </m:ctrlPr>
                                      </m:funcPr>
                                      <m:fNa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e>
                                        </m:func>
                                        <m:r>
                                          <m:rPr>
                                            <m:sty m:val="p"/>
                                          </m:rPr>
                                          <a:rPr lang="en-US" altLang="zh-CN" sz="1200" kern="1200">
                                            <a:solidFill>
                                              <a:schemeClr val="tx1"/>
                                            </a:solidFill>
                                            <a:effectLst/>
                                            <a:latin typeface="Cambria Math" panose="02040503050406030204" pitchFamily="18" charset="0"/>
                                            <a:ea typeface="+mn-ea"/>
                                            <a:cs typeface="+mn-cs"/>
                                          </a:rPr>
                                          <m:t>sin</m:t>
                                        </m:r>
                                      </m:fName>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𝛼</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e>
                                    </m:func>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
                            </m:e>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𝛼</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e>
                                    </m:func>
                                  </m:e>
                                  <m:e>
                                    <m:sSub>
                                      <m:sSubPr>
                                        <m:ctrlPr>
                                          <a:rPr lang="zh-CN" altLang="zh-CN" sz="1200" i="1" kern="1200">
                                            <a:solidFill>
                                              <a:schemeClr val="tx1"/>
                                            </a:solidFill>
                                            <a:effectLst/>
                                            <a:latin typeface="Cambria Math" panose="02040503050406030204" pitchFamily="18" charset="0"/>
                                            <a:ea typeface="+mn-ea"/>
                                            <a:cs typeface="+mn-cs"/>
                                          </a:rPr>
                                        </m:ctrlPr>
                                      </m:sSubPr>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𝛼</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e>
                                        </m:func>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𝑖</m:t>
                                        </m:r>
                                      </m:sub>
                                    </m:sSub>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
                            </m:e>
                          </m:mr>
                        </m:m>
                      </m:e>
                    </m:d>
                  </m:oMath>
                </a14:m>
                <a:r>
                  <a:rPr lang="en-US" altLang="zh-CN" sz="1200" kern="1200" dirty="0">
                    <a:solidFill>
                      <a:schemeClr val="tx1"/>
                    </a:solidFill>
                    <a:effectLst/>
                    <a:latin typeface="+mn-lt"/>
                    <a:ea typeface="+mn-ea"/>
                    <a:cs typeface="+mn-cs"/>
                  </a:rPr>
                  <a:t>  (3-28)</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机器人的基座对应连杆坐标系</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，可以从第一个连杆坐标系开始变换到第二个连杆坐标系，然后到第三个连杆坐标系</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，最终到末端</a:t>
                </a:r>
                <a:r>
                  <a:rPr lang="en-US" altLang="zh-CN" sz="1200" i="1"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（工具中心点</a:t>
                </a:r>
                <a:r>
                  <a:rPr lang="en-US" altLang="zh-CN" sz="1200" kern="1200" dirty="0">
                    <a:solidFill>
                      <a:schemeClr val="tx1"/>
                    </a:solidFill>
                    <a:effectLst/>
                    <a:latin typeface="+mn-lt"/>
                    <a:ea typeface="+mn-ea"/>
                    <a:cs typeface="+mn-cs"/>
                  </a:rPr>
                  <a:t>, </a:t>
                </a:r>
                <a:r>
                  <a:rPr lang="en-US" altLang="zh-CN" sz="1200" i="1" kern="1200" dirty="0">
                    <a:solidFill>
                      <a:schemeClr val="tx1"/>
                    </a:solidFill>
                    <a:effectLst/>
                    <a:latin typeface="+mn-lt"/>
                    <a:ea typeface="+mn-ea"/>
                    <a:cs typeface="+mn-cs"/>
                  </a:rPr>
                  <a:t>Tool Central Point</a:t>
                </a:r>
                <a:r>
                  <a:rPr lang="zh-CN" altLang="zh-CN" sz="1200" kern="1200" dirty="0">
                    <a:solidFill>
                      <a:schemeClr val="tx1"/>
                    </a:solidFill>
                    <a:effectLst/>
                    <a:latin typeface="+mn-lt"/>
                    <a:ea typeface="+mn-ea"/>
                    <a:cs typeface="+mn-cs"/>
                  </a:rPr>
                  <a:t>）坐标系</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。若把每个变换定义为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𝑖</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p>
                          <m:e>
                            <m:r>
                              <a:rPr lang="en-US" altLang="zh-CN" sz="1200" i="1" kern="1200">
                                <a:solidFill>
                                  <a:schemeClr val="tx1"/>
                                </a:solidFill>
                                <a:effectLst/>
                                <a:latin typeface="Cambria Math" panose="02040503050406030204" pitchFamily="18" charset="0"/>
                                <a:ea typeface="+mn-ea"/>
                                <a:cs typeface="+mn-cs"/>
                              </a:rPr>
                              <m:t>𝑇</m:t>
                            </m:r>
                          </m:e>
                        </m:sPre>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，则可以得到许多表示变换的矩阵。在机器人的基座与末端之间的总变换则为：</a:t>
                </a:r>
              </a:p>
              <a:p>
                <a:r>
                  <a:rPr lang="en-US" altLang="zh-CN" sz="1200" kern="1200" dirty="0">
                    <a:solidFill>
                      <a:schemeClr val="tx1"/>
                    </a:solidFill>
                    <a:effectLst/>
                    <a:latin typeface="+mn-lt"/>
                    <a:ea typeface="+mn-ea"/>
                    <a:cs typeface="+mn-cs"/>
                  </a:rPr>
                  <a:t>             </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0</m:t>
                            </m:r>
                          </m:sup>
                          <m:e>
                            <m:r>
                              <a:rPr lang="en-US" altLang="zh-CN" sz="1200" i="1" kern="1200">
                                <a:solidFill>
                                  <a:schemeClr val="tx1"/>
                                </a:solidFill>
                                <a:effectLst/>
                                <a:latin typeface="Cambria Math" panose="02040503050406030204" pitchFamily="18" charset="0"/>
                                <a:ea typeface="+mn-ea"/>
                                <a:cs typeface="+mn-cs"/>
                              </a:rPr>
                              <m:t>𝑇</m:t>
                            </m:r>
                          </m:e>
                        </m:sPre>
                      </m:e>
                      <m:sub>
                        <m:r>
                          <a:rPr lang="en-US" altLang="zh-CN" sz="1200" i="1" kern="1200">
                            <a:solidFill>
                              <a:schemeClr val="tx1"/>
                            </a:solidFill>
                            <a:effectLst/>
                            <a:latin typeface="Cambria Math" panose="02040503050406030204" pitchFamily="18" charset="0"/>
                            <a:ea typeface="+mn-ea"/>
                            <a:cs typeface="+mn-cs"/>
                          </a:rPr>
                          <m:t>6</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0</m:t>
                            </m:r>
                          </m:sup>
                          <m:e>
                            <m:r>
                              <a:rPr lang="en-US" altLang="zh-CN" sz="1200" i="1" kern="1200">
                                <a:solidFill>
                                  <a:schemeClr val="tx1"/>
                                </a:solidFill>
                                <a:effectLst/>
                                <a:latin typeface="Cambria Math" panose="02040503050406030204" pitchFamily="18" charset="0"/>
                                <a:ea typeface="+mn-ea"/>
                                <a:cs typeface="+mn-cs"/>
                              </a:rPr>
                              <m:t>𝑇</m:t>
                            </m:r>
                          </m:e>
                        </m:sPre>
                      </m:e>
                      <m:sub>
                        <m:r>
                          <a:rPr lang="en-US" altLang="zh-CN" sz="1200" i="1" kern="1200">
                            <a:solidFill>
                              <a:schemeClr val="tx1"/>
                            </a:solidFill>
                            <a:effectLst/>
                            <a:latin typeface="Cambria Math" panose="02040503050406030204" pitchFamily="18" charset="0"/>
                            <a:ea typeface="+mn-ea"/>
                            <a:cs typeface="+mn-cs"/>
                          </a:rPr>
                          <m:t>1</m:t>
                        </m:r>
                      </m:sub>
                    </m:sSub>
                    <m:sSub>
                      <m:sSubPr>
                        <m:ctrlPr>
                          <a:rPr lang="zh-CN" altLang="zh-CN" sz="1200" i="1" kern="1200">
                            <a:solidFill>
                              <a:schemeClr val="tx1"/>
                            </a:solidFill>
                            <a:effectLst/>
                            <a:latin typeface="Cambria Math" panose="02040503050406030204" pitchFamily="18" charset="0"/>
                            <a:ea typeface="+mn-ea"/>
                            <a:cs typeface="+mn-cs"/>
                          </a:rPr>
                        </m:ctrlPr>
                      </m:sSub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1</m:t>
                            </m:r>
                          </m:sup>
                          <m:e>
                            <m:r>
                              <a:rPr lang="en-US" altLang="zh-CN" sz="1200" i="1" kern="1200">
                                <a:solidFill>
                                  <a:schemeClr val="tx1"/>
                                </a:solidFill>
                                <a:effectLst/>
                                <a:latin typeface="Cambria Math" panose="02040503050406030204" pitchFamily="18" charset="0"/>
                                <a:ea typeface="+mn-ea"/>
                                <a:cs typeface="+mn-cs"/>
                              </a:rPr>
                              <m:t>𝑇</m:t>
                            </m:r>
                          </m:e>
                        </m:sPre>
                      </m:e>
                      <m:sub>
                        <m:r>
                          <a:rPr lang="en-US" altLang="zh-CN" sz="1200" i="1" kern="1200">
                            <a:solidFill>
                              <a:schemeClr val="tx1"/>
                            </a:solidFill>
                            <a:effectLst/>
                            <a:latin typeface="Cambria Math" panose="02040503050406030204" pitchFamily="18" charset="0"/>
                            <a:ea typeface="+mn-ea"/>
                            <a:cs typeface="+mn-cs"/>
                          </a:rPr>
                          <m:t>2</m:t>
                        </m:r>
                      </m:sub>
                    </m:sSub>
                    <m:sSub>
                      <m:sSubPr>
                        <m:ctrlPr>
                          <a:rPr lang="zh-CN" altLang="zh-CN" sz="1200" i="1" kern="1200">
                            <a:solidFill>
                              <a:schemeClr val="tx1"/>
                            </a:solidFill>
                            <a:effectLst/>
                            <a:latin typeface="Cambria Math" panose="02040503050406030204" pitchFamily="18" charset="0"/>
                            <a:ea typeface="+mn-ea"/>
                            <a:cs typeface="+mn-cs"/>
                          </a:rPr>
                        </m:ctrlPr>
                      </m:sSub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2</m:t>
                            </m:r>
                          </m:sup>
                          <m:e>
                            <m:r>
                              <a:rPr lang="en-US" altLang="zh-CN" sz="1200" i="1" kern="1200">
                                <a:solidFill>
                                  <a:schemeClr val="tx1"/>
                                </a:solidFill>
                                <a:effectLst/>
                                <a:latin typeface="Cambria Math" panose="02040503050406030204" pitchFamily="18" charset="0"/>
                                <a:ea typeface="+mn-ea"/>
                                <a:cs typeface="+mn-cs"/>
                              </a:rPr>
                              <m:t>𝑇</m:t>
                            </m:r>
                          </m:e>
                        </m:sPre>
                      </m:e>
                      <m:sub>
                        <m:r>
                          <a:rPr lang="en-US" altLang="zh-CN" sz="1200" i="1" kern="1200">
                            <a:solidFill>
                              <a:schemeClr val="tx1"/>
                            </a:solidFill>
                            <a:effectLst/>
                            <a:latin typeface="Cambria Math" panose="02040503050406030204" pitchFamily="18" charset="0"/>
                            <a:ea typeface="+mn-ea"/>
                            <a:cs typeface="+mn-cs"/>
                          </a:rPr>
                          <m:t>3</m:t>
                        </m:r>
                      </m:sub>
                    </m:sSub>
                    <m:sSub>
                      <m:sSubPr>
                        <m:ctrlPr>
                          <a:rPr lang="zh-CN" altLang="zh-CN" sz="1200" i="1" kern="1200">
                            <a:solidFill>
                              <a:schemeClr val="tx1"/>
                            </a:solidFill>
                            <a:effectLst/>
                            <a:latin typeface="Cambria Math" panose="02040503050406030204" pitchFamily="18" charset="0"/>
                            <a:ea typeface="+mn-ea"/>
                            <a:cs typeface="+mn-cs"/>
                          </a:rPr>
                        </m:ctrlPr>
                      </m:sSub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3</m:t>
                            </m:r>
                          </m:sup>
                          <m:e>
                            <m:r>
                              <a:rPr lang="en-US" altLang="zh-CN" sz="1200" i="1" kern="1200">
                                <a:solidFill>
                                  <a:schemeClr val="tx1"/>
                                </a:solidFill>
                                <a:effectLst/>
                                <a:latin typeface="Cambria Math" panose="02040503050406030204" pitchFamily="18" charset="0"/>
                                <a:ea typeface="+mn-ea"/>
                                <a:cs typeface="+mn-cs"/>
                              </a:rPr>
                              <m:t>𝑇</m:t>
                            </m:r>
                          </m:e>
                        </m:sPre>
                      </m:e>
                      <m:sub>
                        <m:r>
                          <a:rPr lang="en-US" altLang="zh-CN" sz="1200" i="1" kern="1200">
                            <a:solidFill>
                              <a:schemeClr val="tx1"/>
                            </a:solidFill>
                            <a:effectLst/>
                            <a:latin typeface="Cambria Math" panose="02040503050406030204" pitchFamily="18" charset="0"/>
                            <a:ea typeface="+mn-ea"/>
                            <a:cs typeface="+mn-cs"/>
                          </a:rPr>
                          <m:t>4</m:t>
                        </m:r>
                      </m:sub>
                    </m:sSub>
                    <m:sSub>
                      <m:sSubPr>
                        <m:ctrlPr>
                          <a:rPr lang="zh-CN" altLang="zh-CN" sz="1200" i="1" kern="1200">
                            <a:solidFill>
                              <a:schemeClr val="tx1"/>
                            </a:solidFill>
                            <a:effectLst/>
                            <a:latin typeface="Cambria Math" panose="02040503050406030204" pitchFamily="18" charset="0"/>
                            <a:ea typeface="+mn-ea"/>
                            <a:cs typeface="+mn-cs"/>
                          </a:rPr>
                        </m:ctrlPr>
                      </m:sSub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4</m:t>
                            </m:r>
                          </m:sup>
                          <m:e>
                            <m:r>
                              <a:rPr lang="en-US" altLang="zh-CN" sz="1200" i="1" kern="1200">
                                <a:solidFill>
                                  <a:schemeClr val="tx1"/>
                                </a:solidFill>
                                <a:effectLst/>
                                <a:latin typeface="Cambria Math" panose="02040503050406030204" pitchFamily="18" charset="0"/>
                                <a:ea typeface="+mn-ea"/>
                                <a:cs typeface="+mn-cs"/>
                              </a:rPr>
                              <m:t>𝑇</m:t>
                            </m:r>
                          </m:e>
                        </m:sPre>
                      </m:e>
                      <m:sub>
                        <m:r>
                          <a:rPr lang="en-US" altLang="zh-CN" sz="1200" i="1" kern="1200">
                            <a:solidFill>
                              <a:schemeClr val="tx1"/>
                            </a:solidFill>
                            <a:effectLst/>
                            <a:latin typeface="Cambria Math" panose="02040503050406030204" pitchFamily="18" charset="0"/>
                            <a:ea typeface="+mn-ea"/>
                            <a:cs typeface="+mn-cs"/>
                          </a:rPr>
                          <m:t>5</m:t>
                        </m:r>
                      </m:sub>
                    </m:sSub>
                    <m:sSub>
                      <m:sSubPr>
                        <m:ctrlPr>
                          <a:rPr lang="zh-CN" altLang="zh-CN" sz="1200" i="1" kern="1200">
                            <a:solidFill>
                              <a:schemeClr val="tx1"/>
                            </a:solidFill>
                            <a:effectLst/>
                            <a:latin typeface="Cambria Math" panose="02040503050406030204" pitchFamily="18" charset="0"/>
                            <a:ea typeface="+mn-ea"/>
                            <a:cs typeface="+mn-cs"/>
                          </a:rPr>
                        </m:ctrlPr>
                      </m:sSub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5</m:t>
                            </m:r>
                          </m:sup>
                          <m:e>
                            <m:r>
                              <a:rPr lang="en-US" altLang="zh-CN" sz="1200" i="1" kern="1200">
                                <a:solidFill>
                                  <a:schemeClr val="tx1"/>
                                </a:solidFill>
                                <a:effectLst/>
                                <a:latin typeface="Cambria Math" panose="02040503050406030204" pitchFamily="18" charset="0"/>
                                <a:ea typeface="+mn-ea"/>
                                <a:cs typeface="+mn-cs"/>
                              </a:rPr>
                              <m:t>𝑇</m:t>
                            </m:r>
                          </m:e>
                        </m:sPre>
                      </m:e>
                      <m:sub>
                        <m:r>
                          <a:rPr lang="en-US" altLang="zh-CN" sz="1200" i="1" kern="1200">
                            <a:solidFill>
                              <a:schemeClr val="tx1"/>
                            </a:solidFill>
                            <a:effectLst/>
                            <a:latin typeface="Cambria Math" panose="02040503050406030204" pitchFamily="18" charset="0"/>
                            <a:ea typeface="+mn-ea"/>
                            <a:cs typeface="+mn-cs"/>
                          </a:rPr>
                          <m:t>6</m:t>
                        </m:r>
                      </m:sub>
                    </m:sSub>
                  </m:oMath>
                </a14:m>
                <a:r>
                  <a:rPr lang="en-US" altLang="zh-CN" sz="1200" kern="1200" dirty="0">
                    <a:solidFill>
                      <a:schemeClr val="tx1"/>
                    </a:solidFill>
                    <a:effectLst/>
                    <a:latin typeface="+mn-lt"/>
                    <a:ea typeface="+mn-ea"/>
                    <a:cs typeface="+mn-cs"/>
                  </a:rPr>
                  <a:t>     (3-29)</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式</a:t>
                </a:r>
                <a:r>
                  <a:rPr lang="en-US" altLang="zh-CN" sz="1200" kern="1200" dirty="0">
                    <a:solidFill>
                      <a:schemeClr val="tx1"/>
                    </a:solidFill>
                    <a:effectLst/>
                    <a:latin typeface="+mn-lt"/>
                    <a:ea typeface="+mn-ea"/>
                    <a:cs typeface="+mn-cs"/>
                  </a:rPr>
                  <a:t>(3-29)</a:t>
                </a:r>
                <a:r>
                  <a:rPr lang="zh-CN" altLang="zh-CN" sz="1200" kern="1200" dirty="0">
                    <a:solidFill>
                      <a:schemeClr val="tx1"/>
                    </a:solidFill>
                    <a:effectLst/>
                    <a:latin typeface="+mn-lt"/>
                    <a:ea typeface="+mn-ea"/>
                    <a:cs typeface="+mn-cs"/>
                  </a:rPr>
                  <a:t>表示了</a:t>
                </a:r>
                <a:r>
                  <a:rPr lang="en-US" altLang="zh-CN" sz="1200" kern="1200" dirty="0">
                    <a:solidFill>
                      <a:schemeClr val="tx1"/>
                    </a:solidFill>
                    <a:effectLst/>
                    <a:latin typeface="+mn-lt"/>
                    <a:ea typeface="+mn-ea"/>
                    <a:cs typeface="+mn-cs"/>
                  </a:rPr>
                  <a:t>AUBO-i5</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变换矩阵</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0</m:t>
                            </m:r>
                          </m:sup>
                          <m:e>
                            <m:r>
                              <a:rPr lang="en-US" altLang="zh-CN" sz="1200" i="1" kern="1200">
                                <a:solidFill>
                                  <a:schemeClr val="tx1"/>
                                </a:solidFill>
                                <a:effectLst/>
                                <a:latin typeface="Cambria Math" panose="02040503050406030204" pitchFamily="18" charset="0"/>
                                <a:ea typeface="+mn-ea"/>
                                <a:cs typeface="+mn-cs"/>
                              </a:rPr>
                              <m:t>𝑇</m:t>
                            </m:r>
                          </m:e>
                        </m:sPre>
                      </m:e>
                      <m:sub>
                        <m:r>
                          <a:rPr lang="en-US" altLang="zh-CN" sz="1200" i="1" kern="1200">
                            <a:solidFill>
                              <a:schemeClr val="tx1"/>
                            </a:solidFill>
                            <a:effectLst/>
                            <a:latin typeface="Cambria Math" panose="02040503050406030204" pitchFamily="18" charset="0"/>
                            <a:ea typeface="+mn-ea"/>
                            <a:cs typeface="+mn-cs"/>
                          </a:rPr>
                          <m:t>6</m:t>
                        </m:r>
                      </m:sub>
                    </m:sSub>
                  </m:oMath>
                </a14:m>
                <a:r>
                  <a:rPr lang="zh-CN" altLang="zh-CN" sz="1200" kern="1200" dirty="0">
                    <a:solidFill>
                      <a:schemeClr val="tx1"/>
                    </a:solidFill>
                    <a:effectLst/>
                    <a:latin typeface="+mn-lt"/>
                    <a:ea typeface="+mn-ea"/>
                    <a:cs typeface="+mn-cs"/>
                  </a:rPr>
                  <a:t>，它描述了末端</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坐标系</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相对基坐标系</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的位姿。由于</a:t>
                </a:r>
                <a:r>
                  <a:rPr lang="en-US" altLang="zh-CN" sz="1200" kern="1200" dirty="0">
                    <a:solidFill>
                      <a:schemeClr val="tx1"/>
                    </a:solidFill>
                    <a:effectLst/>
                    <a:latin typeface="+mn-lt"/>
                    <a:ea typeface="+mn-ea"/>
                    <a:cs typeface="+mn-cs"/>
                  </a:rPr>
                  <a:t>AUBO-i5</a:t>
                </a:r>
                <a:r>
                  <a:rPr lang="zh-CN" altLang="zh-CN" sz="1200" kern="1200" dirty="0">
                    <a:solidFill>
                      <a:schemeClr val="tx1"/>
                    </a:solidFill>
                    <a:effectLst/>
                    <a:latin typeface="+mn-lt"/>
                    <a:ea typeface="+mn-ea"/>
                    <a:cs typeface="+mn-cs"/>
                  </a:rPr>
                  <a:t>六个关节全是旋转关节，其关节变量只有</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，即每个关节的旋转角度，将各关节的旋转角度代入式</a:t>
                </a:r>
                <a:r>
                  <a:rPr lang="en-US" altLang="zh-CN" sz="1200" kern="1200" dirty="0">
                    <a:solidFill>
                      <a:schemeClr val="tx1"/>
                    </a:solidFill>
                    <a:effectLst/>
                    <a:latin typeface="+mn-lt"/>
                    <a:ea typeface="+mn-ea"/>
                    <a:cs typeface="+mn-cs"/>
                  </a:rPr>
                  <a:t>(3-28)</a:t>
                </a:r>
                <a:r>
                  <a:rPr lang="zh-CN" altLang="zh-CN" sz="1200" kern="1200" dirty="0">
                    <a:solidFill>
                      <a:schemeClr val="tx1"/>
                    </a:solidFill>
                    <a:effectLst/>
                    <a:latin typeface="+mn-lt"/>
                    <a:ea typeface="+mn-ea"/>
                    <a:cs typeface="+mn-cs"/>
                  </a:rPr>
                  <a:t>，根据公式</a:t>
                </a:r>
                <a:r>
                  <a:rPr lang="en-US" altLang="zh-CN" sz="1200" kern="1200" dirty="0">
                    <a:solidFill>
                      <a:schemeClr val="tx1"/>
                    </a:solidFill>
                    <a:effectLst/>
                    <a:latin typeface="+mn-lt"/>
                    <a:ea typeface="+mn-ea"/>
                    <a:cs typeface="+mn-cs"/>
                  </a:rPr>
                  <a:t>(3-29)</a:t>
                </a:r>
                <a:r>
                  <a:rPr lang="zh-CN" altLang="zh-CN" sz="1200" kern="1200" dirty="0">
                    <a:solidFill>
                      <a:schemeClr val="tx1"/>
                    </a:solidFill>
                    <a:effectLst/>
                    <a:latin typeface="+mn-lt"/>
                    <a:ea typeface="+mn-ea"/>
                    <a:cs typeface="+mn-cs"/>
                  </a:rPr>
                  <a:t>依次右乘各连杆对应的</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𝑇</m:t>
                    </m:r>
                  </m:oMath>
                </a14:m>
                <a:r>
                  <a:rPr lang="zh-CN" altLang="zh-CN" sz="1200" kern="1200" dirty="0">
                    <a:solidFill>
                      <a:schemeClr val="tx1"/>
                    </a:solidFill>
                    <a:effectLst/>
                    <a:latin typeface="+mn-lt"/>
                    <a:ea typeface="+mn-ea"/>
                    <a:cs typeface="+mn-cs"/>
                  </a:rPr>
                  <a:t>矩阵。如果已知末端</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的初始位形为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𝑀</m:t>
                    </m:r>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可得到</a:t>
                </a:r>
                <a:r>
                  <a:rPr lang="en-US" altLang="zh-CN" sz="1200" i="1"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相对坐标系</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4x4</a:t>
                </a:r>
                <a:r>
                  <a:rPr lang="zh-CN" altLang="zh-CN" sz="1200" kern="1200" dirty="0">
                    <a:solidFill>
                      <a:schemeClr val="tx1"/>
                    </a:solidFill>
                    <a:effectLst/>
                    <a:latin typeface="+mn-lt"/>
                    <a:ea typeface="+mn-ea"/>
                    <a:cs typeface="+mn-cs"/>
                  </a:rPr>
                  <a:t>的位姿矩阵</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𝑇</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a:t>
                </a: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𝑇</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0</m:t>
                              </m:r>
                            </m:sup>
                            <m:e>
                              <m:r>
                                <a:rPr lang="en-US" altLang="zh-CN" sz="1200" i="1" kern="1200">
                                  <a:solidFill>
                                    <a:schemeClr val="tx1"/>
                                  </a:solidFill>
                                  <a:effectLst/>
                                  <a:latin typeface="Cambria Math" panose="02040503050406030204" pitchFamily="18" charset="0"/>
                                  <a:ea typeface="+mn-ea"/>
                                  <a:cs typeface="+mn-cs"/>
                                </a:rPr>
                                <m:t>𝑇</m:t>
                              </m:r>
                            </m:e>
                          </m:sPre>
                        </m:e>
                        <m:sub>
                          <m:r>
                            <a:rPr lang="en-US" altLang="zh-CN" sz="1200" i="1" kern="1200">
                              <a:solidFill>
                                <a:schemeClr val="tx1"/>
                              </a:solidFill>
                              <a:effectLst/>
                              <a:latin typeface="Cambria Math" panose="02040503050406030204" pitchFamily="18" charset="0"/>
                              <a:ea typeface="+mn-ea"/>
                              <a:cs typeface="+mn-cs"/>
                            </a:rPr>
                            <m:t>6</m:t>
                          </m:r>
                        </m:sub>
                      </m:sSub>
                      <m:r>
                        <a:rPr lang="en-US" altLang="zh-CN" sz="1200" i="1" kern="1200">
                          <a:solidFill>
                            <a:schemeClr val="tx1"/>
                          </a:solidFill>
                          <a:effectLst/>
                          <a:latin typeface="Cambria Math" panose="02040503050406030204" pitchFamily="18" charset="0"/>
                          <a:ea typeface="+mn-ea"/>
                          <a:cs typeface="+mn-cs"/>
                        </a:rPr>
                        <m:t>𝑀</m:t>
                      </m:r>
                    </m:oMath>
                  </m:oMathPara>
                </a14:m>
                <a:endParaRPr lang="zh-CN" altLang="en-US" dirty="0"/>
              </a:p>
            </p:txBody>
          </p:sp>
        </mc:Choice>
        <mc:Fallback xmlns="">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表示法，相连连杆之间的变换矩阵可以通过式</a:t>
                </a:r>
                <a:r>
                  <a:rPr lang="en-US" altLang="zh-CN" sz="1200" kern="1200" dirty="0">
                    <a:solidFill>
                      <a:schemeClr val="tx1"/>
                    </a:solidFill>
                    <a:effectLst/>
                    <a:latin typeface="+mn-lt"/>
                    <a:ea typeface="+mn-ea"/>
                    <a:cs typeface="+mn-cs"/>
                  </a:rPr>
                  <a:t>(3-19)</a:t>
                </a:r>
                <a:r>
                  <a:rPr lang="zh-CN" altLang="zh-CN" sz="1200" kern="1200" dirty="0">
                    <a:solidFill>
                      <a:schemeClr val="tx1"/>
                    </a:solidFill>
                    <a:effectLst/>
                    <a:latin typeface="+mn-lt"/>
                    <a:ea typeface="+mn-ea"/>
                    <a:cs typeface="+mn-cs"/>
                  </a:rPr>
                  <a:t>的变换顺序进行四个齐次变换，得到一个</a:t>
                </a:r>
                <a:r>
                  <a:rPr lang="en-US" altLang="zh-CN" sz="1200"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矩阵，其通用表达形式见式</a:t>
                </a:r>
                <a:r>
                  <a:rPr lang="en-US" altLang="zh-CN" sz="1200" kern="1200" dirty="0">
                    <a:solidFill>
                      <a:schemeClr val="tx1"/>
                    </a:solidFill>
                    <a:effectLst/>
                    <a:latin typeface="+mn-lt"/>
                    <a:ea typeface="+mn-ea"/>
                    <a:cs typeface="+mn-cs"/>
                  </a:rPr>
                  <a:t>(3-27)</a:t>
                </a:r>
                <a:r>
                  <a:rPr lang="zh-CN" altLang="zh-CN" sz="1200" kern="1200" dirty="0">
                    <a:solidFill>
                      <a:schemeClr val="tx1"/>
                    </a:solidFill>
                    <a:effectLst/>
                    <a:latin typeface="+mn-lt"/>
                    <a:ea typeface="+mn-ea"/>
                    <a:cs typeface="+mn-cs"/>
                  </a:rPr>
                  <a:t>。</a:t>
                </a:r>
              </a:p>
              <a:p>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(■8(■8(</a:t>
                </a:r>
                <a:r>
                  <a:rPr lang="en-US" altLang="zh-CN" sz="1200" i="0" kern="1200">
                    <a:solidFill>
                      <a:schemeClr val="tx1"/>
                    </a:solidFill>
                    <a:effectLst/>
                    <a:latin typeface="+mn-lt"/>
                    <a:ea typeface="+mn-ea"/>
                    <a:cs typeface="+mn-cs"/>
                  </a:rPr>
                  <a:t>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&amp;−sin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&amp;cos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)&amp;</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0&amp;𝑎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&amp;−sin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&amp;</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@0&amp;0)&amp;</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&amp;</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𝑖@0&amp;1)))</a:t>
                </a:r>
                <a:r>
                  <a:rPr lang="en-US" altLang="zh-CN" sz="1200" kern="1200" dirty="0">
                    <a:solidFill>
                      <a:schemeClr val="tx1"/>
                    </a:solidFill>
                    <a:effectLst/>
                    <a:latin typeface="+mn-lt"/>
                    <a:ea typeface="+mn-ea"/>
                    <a:cs typeface="+mn-cs"/>
                  </a:rPr>
                  <a:t>  (3-27)</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注意公式</a:t>
                </a:r>
                <a:r>
                  <a:rPr lang="en-US" altLang="zh-CN" sz="1200" kern="1200" dirty="0">
                    <a:solidFill>
                      <a:schemeClr val="tx1"/>
                    </a:solidFill>
                    <a:effectLst/>
                    <a:latin typeface="+mn-lt"/>
                    <a:ea typeface="+mn-ea"/>
                    <a:cs typeface="+mn-cs"/>
                  </a:rPr>
                  <a:t>(3-27)</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3-20</a:t>
                </a:r>
                <a:r>
                  <a:rPr lang="zh-CN" altLang="zh-CN" sz="1200" kern="1200" dirty="0">
                    <a:solidFill>
                      <a:schemeClr val="tx1"/>
                    </a:solidFill>
                    <a:effectLst/>
                    <a:latin typeface="+mn-lt"/>
                    <a:ea typeface="+mn-ea"/>
                    <a:cs typeface="+mn-cs"/>
                  </a:rPr>
                  <a:t>）的区别，这里由于我们为了消除表</a:t>
                </a:r>
                <a:r>
                  <a:rPr lang="en-US" altLang="zh-CN" sz="1200" kern="1200" dirty="0">
                    <a:solidFill>
                      <a:schemeClr val="tx1"/>
                    </a:solidFill>
                    <a:effectLst/>
                    <a:latin typeface="+mn-lt"/>
                    <a:ea typeface="+mn-ea"/>
                    <a:cs typeface="+mn-cs"/>
                  </a:rPr>
                  <a:t>3.3</a:t>
                </a:r>
                <a:r>
                  <a:rPr lang="zh-CN" altLang="zh-CN" sz="1200" kern="1200" dirty="0">
                    <a:solidFill>
                      <a:schemeClr val="tx1"/>
                    </a:solidFill>
                    <a:effectLst/>
                    <a:latin typeface="+mn-lt"/>
                    <a:ea typeface="+mn-ea"/>
                    <a:cs typeface="+mn-cs"/>
                  </a:rPr>
                  <a:t>以杆件作为参数表序号引起的</a:t>
                </a:r>
                <a:r>
                  <a:rPr lang="en-US" altLang="zh-CN" sz="1200" kern="1200" dirty="0">
                    <a:solidFill>
                      <a:schemeClr val="tx1"/>
                    </a:solidFill>
                    <a:effectLst/>
                    <a:latin typeface="+mn-lt"/>
                    <a:ea typeface="+mn-ea"/>
                    <a:cs typeface="+mn-cs"/>
                  </a:rPr>
                  <a:t>DH</a:t>
                </a:r>
                <a:r>
                  <a:rPr lang="zh-CN" altLang="zh-CN" sz="1200" kern="1200" dirty="0">
                    <a:solidFill>
                      <a:schemeClr val="tx1"/>
                    </a:solidFill>
                    <a:effectLst/>
                    <a:latin typeface="+mn-lt"/>
                    <a:ea typeface="+mn-ea"/>
                    <a:cs typeface="+mn-cs"/>
                  </a:rPr>
                  <a:t>参数下标不一致的问题，我们在表</a:t>
                </a:r>
                <a:r>
                  <a:rPr lang="en-US" altLang="zh-CN" sz="1200" kern="1200" dirty="0">
                    <a:solidFill>
                      <a:schemeClr val="tx1"/>
                    </a:solidFill>
                    <a:effectLst/>
                    <a:latin typeface="+mn-lt"/>
                    <a:ea typeface="+mn-ea"/>
                    <a:cs typeface="+mn-cs"/>
                  </a:rPr>
                  <a:t>3.4</a:t>
                </a:r>
                <a:r>
                  <a:rPr lang="zh-CN" altLang="zh-CN" sz="1200" kern="1200" dirty="0">
                    <a:solidFill>
                      <a:schemeClr val="tx1"/>
                    </a:solidFill>
                    <a:effectLst/>
                    <a:latin typeface="+mn-lt"/>
                    <a:ea typeface="+mn-ea"/>
                    <a:cs typeface="+mn-cs"/>
                  </a:rPr>
                  <a:t>中采用了坐标系作为参数表的序号进行了排列，这样按表</a:t>
                </a:r>
                <a:r>
                  <a:rPr lang="en-US" altLang="zh-CN" sz="1200" kern="1200" dirty="0">
                    <a:solidFill>
                      <a:schemeClr val="tx1"/>
                    </a:solidFill>
                    <a:effectLst/>
                    <a:latin typeface="+mn-lt"/>
                    <a:ea typeface="+mn-ea"/>
                    <a:cs typeface="+mn-cs"/>
                  </a:rPr>
                  <a:t>3.4</a:t>
                </a:r>
                <a:r>
                  <a:rPr lang="zh-CN" altLang="zh-CN" sz="1200" kern="1200" dirty="0">
                    <a:solidFill>
                      <a:schemeClr val="tx1"/>
                    </a:solidFill>
                    <a:effectLst/>
                    <a:latin typeface="+mn-lt"/>
                    <a:ea typeface="+mn-ea"/>
                    <a:cs typeface="+mn-cs"/>
                  </a:rPr>
                  <a:t>计算时，公式（</a:t>
                </a:r>
                <a:r>
                  <a:rPr lang="en-US" altLang="zh-CN" sz="1200" kern="1200" dirty="0">
                    <a:solidFill>
                      <a:schemeClr val="tx1"/>
                    </a:solidFill>
                    <a:effectLst/>
                    <a:latin typeface="+mn-lt"/>
                    <a:ea typeface="+mn-ea"/>
                    <a:cs typeface="+mn-cs"/>
                  </a:rPr>
                  <a:t>3-19</a:t>
                </a:r>
                <a:r>
                  <a:rPr lang="zh-CN" altLang="zh-CN" sz="1200" kern="1200" dirty="0">
                    <a:solidFill>
                      <a:schemeClr val="tx1"/>
                    </a:solidFill>
                    <a:effectLst/>
                    <a:latin typeface="+mn-lt"/>
                    <a:ea typeface="+mn-ea"/>
                    <a:cs typeface="+mn-cs"/>
                  </a:rPr>
                  <a:t>）可以改写为式（</a:t>
                </a:r>
                <a:r>
                  <a:rPr lang="en-US" altLang="zh-CN" sz="1200" kern="1200" dirty="0">
                    <a:solidFill>
                      <a:schemeClr val="tx1"/>
                    </a:solidFill>
                    <a:effectLst/>
                    <a:latin typeface="+mn-lt"/>
                    <a:ea typeface="+mn-ea"/>
                    <a:cs typeface="+mn-cs"/>
                  </a:rPr>
                  <a:t>3-28</a:t>
                </a:r>
                <a:r>
                  <a:rPr lang="zh-CN" altLang="zh-CN" sz="1200" kern="1200" dirty="0">
                    <a:solidFill>
                      <a:schemeClr val="tx1"/>
                    </a:solidFill>
                    <a:effectLst/>
                    <a:latin typeface="+mn-lt"/>
                    <a:ea typeface="+mn-ea"/>
                    <a:cs typeface="+mn-cs"/>
                  </a:rPr>
                  <a:t>）。</a:t>
                </a:r>
              </a:p>
              <a:p>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𝑅𝑜𝑡</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𝑥𝑛 (𝛼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𝑇𝑟𝑎𝑛𝑠</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𝑥𝑛 (𝛼</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𝑅𝑜𝑡</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𝑧𝑛 (𝜃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𝑇𝑟𝑎𝑛𝑠</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𝑧𝑛 (𝑑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3-28</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机器人的基座对应坐标系</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，可以从第一个关节开始变换到第二个关节，然后到第三个关节</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，最终到末端</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工具中心点</a:t>
                </a:r>
                <a:r>
                  <a:rPr lang="en-US" altLang="zh-CN" sz="1200" kern="1200" dirty="0">
                    <a:solidFill>
                      <a:schemeClr val="tx1"/>
                    </a:solidFill>
                    <a:effectLst/>
                    <a:latin typeface="+mn-lt"/>
                    <a:ea typeface="+mn-ea"/>
                    <a:cs typeface="+mn-cs"/>
                  </a:rPr>
                  <a:t>, Tool Central Point)</a:t>
                </a:r>
                <a:r>
                  <a:rPr lang="zh-CN" altLang="zh-CN" sz="1200" kern="1200" dirty="0">
                    <a:solidFill>
                      <a:schemeClr val="tx1"/>
                    </a:solidFill>
                    <a:effectLst/>
                    <a:latin typeface="+mn-lt"/>
                    <a:ea typeface="+mn-ea"/>
                    <a:cs typeface="+mn-cs"/>
                  </a:rPr>
                  <a:t>坐标系</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。若把每个变换定义为</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𝑖</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，则可以得到许多表示变换的矩阵。在机器人的基座与末端之间的总变换则为</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3-29</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式</a:t>
                </a:r>
                <a:r>
                  <a:rPr lang="en-US" altLang="zh-CN" sz="1200" kern="1200" dirty="0">
                    <a:solidFill>
                      <a:schemeClr val="tx1"/>
                    </a:solidFill>
                    <a:effectLst/>
                    <a:latin typeface="+mn-lt"/>
                    <a:ea typeface="+mn-ea"/>
                    <a:cs typeface="+mn-cs"/>
                  </a:rPr>
                  <a:t>(3-29)</a:t>
                </a:r>
                <a:r>
                  <a:rPr lang="zh-CN" altLang="zh-CN" sz="1200" kern="1200" dirty="0">
                    <a:solidFill>
                      <a:schemeClr val="tx1"/>
                    </a:solidFill>
                    <a:effectLst/>
                    <a:latin typeface="+mn-lt"/>
                    <a:ea typeface="+mn-ea"/>
                    <a:cs typeface="+mn-cs"/>
                  </a:rPr>
                  <a:t>表示了</a:t>
                </a:r>
                <a:r>
                  <a:rPr lang="en-US" altLang="zh-CN" sz="1200" kern="1200" dirty="0">
                    <a:solidFill>
                      <a:schemeClr val="tx1"/>
                    </a:solidFill>
                    <a:effectLst/>
                    <a:latin typeface="+mn-lt"/>
                    <a:ea typeface="+mn-ea"/>
                    <a:cs typeface="+mn-cs"/>
                  </a:rPr>
                  <a:t>AUBO-i5</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变换矩阵</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，它描述了末端</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坐标系</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相对基坐标系</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的位姿。由于</a:t>
                </a:r>
                <a:r>
                  <a:rPr lang="en-US" altLang="zh-CN" sz="1200" kern="1200" dirty="0">
                    <a:solidFill>
                      <a:schemeClr val="tx1"/>
                    </a:solidFill>
                    <a:effectLst/>
                    <a:latin typeface="+mn-lt"/>
                    <a:ea typeface="+mn-ea"/>
                    <a:cs typeface="+mn-cs"/>
                  </a:rPr>
                  <a:t>AUBO-i5</a:t>
                </a:r>
                <a:r>
                  <a:rPr lang="zh-CN" altLang="zh-CN" sz="1200" kern="1200" dirty="0">
                    <a:solidFill>
                      <a:schemeClr val="tx1"/>
                    </a:solidFill>
                    <a:effectLst/>
                    <a:latin typeface="+mn-lt"/>
                    <a:ea typeface="+mn-ea"/>
                    <a:cs typeface="+mn-cs"/>
                  </a:rPr>
                  <a:t>六个关节全是旋转关节，其关节变量只有</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，即每个关节的旋转角度，我们将各关节的旋转角度代入式</a:t>
                </a:r>
                <a:r>
                  <a:rPr lang="en-US" altLang="zh-CN" sz="1200" kern="1200" dirty="0">
                    <a:solidFill>
                      <a:schemeClr val="tx1"/>
                    </a:solidFill>
                    <a:effectLst/>
                    <a:latin typeface="+mn-lt"/>
                    <a:ea typeface="+mn-ea"/>
                    <a:cs typeface="+mn-cs"/>
                  </a:rPr>
                  <a:t>(3-27)</a:t>
                </a:r>
                <a:r>
                  <a:rPr lang="zh-CN" altLang="zh-CN" sz="1200" kern="1200" dirty="0">
                    <a:solidFill>
                      <a:schemeClr val="tx1"/>
                    </a:solidFill>
                    <a:effectLst/>
                    <a:latin typeface="+mn-lt"/>
                    <a:ea typeface="+mn-ea"/>
                    <a:cs typeface="+mn-cs"/>
                  </a:rPr>
                  <a:t>，根据公式（</a:t>
                </a:r>
                <a:r>
                  <a:rPr lang="en-US" altLang="zh-CN" sz="1200" kern="1200" dirty="0">
                    <a:solidFill>
                      <a:schemeClr val="tx1"/>
                    </a:solidFill>
                    <a:effectLst/>
                    <a:latin typeface="+mn-lt"/>
                    <a:ea typeface="+mn-ea"/>
                    <a:cs typeface="+mn-cs"/>
                  </a:rPr>
                  <a:t>3-29</a:t>
                </a:r>
                <a:r>
                  <a:rPr lang="zh-CN" altLang="zh-CN" sz="1200" kern="1200" dirty="0">
                    <a:solidFill>
                      <a:schemeClr val="tx1"/>
                    </a:solidFill>
                    <a:effectLst/>
                    <a:latin typeface="+mn-lt"/>
                    <a:ea typeface="+mn-ea"/>
                    <a:cs typeface="+mn-cs"/>
                  </a:rPr>
                  <a:t>）依次左乘各连杆对应的</a:t>
                </a:r>
                <a:r>
                  <a:rPr lang="en-US" altLang="zh-CN" sz="1200"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矩阵，即可得到</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相对坐标系</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4x4</a:t>
                </a:r>
                <a:r>
                  <a:rPr lang="zh-CN" altLang="zh-CN" sz="1200" kern="1200" dirty="0">
                    <a:solidFill>
                      <a:schemeClr val="tx1"/>
                    </a:solidFill>
                    <a:effectLst/>
                    <a:latin typeface="+mn-lt"/>
                    <a:ea typeface="+mn-ea"/>
                    <a:cs typeface="+mn-cs"/>
                  </a:rPr>
                  <a:t>的位姿矩阵。</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48</a:t>
            </a:fld>
            <a:endParaRPr lang="zh-CN" altLang="en-US"/>
          </a:p>
        </p:txBody>
      </p:sp>
    </p:spTree>
    <p:extLst>
      <p:ext uri="{BB962C8B-B14F-4D97-AF65-F5344CB8AC3E}">
        <p14:creationId xmlns:p14="http://schemas.microsoft.com/office/powerpoint/2010/main" val="93140879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在第二章中我们曾经介绍过螺旋轴及罗德里格斯参数表示的姿态矩阵。</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给定参考坐标系，螺旋轴</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𝑆</m:t>
                    </m:r>
                  </m:oMath>
                </a14:m>
                <a:r>
                  <a:rPr lang="zh-CN" altLang="zh-CN" sz="1200" kern="1200" dirty="0">
                    <a:solidFill>
                      <a:schemeClr val="tx1"/>
                    </a:solidFill>
                    <a:effectLst/>
                    <a:latin typeface="+mn-lt"/>
                    <a:ea typeface="+mn-ea"/>
                    <a:cs typeface="+mn-cs"/>
                  </a:rPr>
                  <a:t>可写成一个六维向量，又称运动旋量</a:t>
                </a:r>
                <a:r>
                  <a:rPr lang="en-US" altLang="zh-CN" sz="1200" kern="1200" dirty="0">
                    <a:solidFill>
                      <a:schemeClr val="tx1"/>
                    </a:solidFill>
                    <a:effectLst/>
                    <a:latin typeface="+mn-lt"/>
                    <a:ea typeface="+mn-ea"/>
                    <a:cs typeface="+mn-cs"/>
                  </a:rPr>
                  <a:t>(twist)</a:t>
                </a:r>
                <a:r>
                  <a:rPr lang="zh-CN" altLang="zh-CN" sz="1200" kern="1200" dirty="0">
                    <a:solidFill>
                      <a:schemeClr val="tx1"/>
                    </a:solidFill>
                    <a:effectLst/>
                    <a:latin typeface="+mn-lt"/>
                    <a:ea typeface="+mn-ea"/>
                    <a:cs typeface="+mn-cs"/>
                  </a:rPr>
                  <a:t>。</a:t>
                </a: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𝑆</m:t>
                    </m:r>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𝜐</m:t>
                              </m:r>
                            </m:e>
                          </m:mr>
                          <m:mr>
                            <m:e>
                              <m:r>
                                <a:rPr lang="en-US" altLang="zh-CN" sz="1200" i="1" kern="1200">
                                  <a:solidFill>
                                    <a:schemeClr val="tx1"/>
                                  </a:solidFill>
                                  <a:effectLst/>
                                  <a:latin typeface="Cambria Math" panose="02040503050406030204" pitchFamily="18" charset="0"/>
                                  <a:ea typeface="+mn-ea"/>
                                  <a:cs typeface="+mn-cs"/>
                                </a:rPr>
                                <m:t>𝜔</m:t>
                              </m:r>
                            </m:e>
                          </m:mr>
                        </m:m>
                      </m:e>
                    </m:d>
                    <m:r>
                      <a:rPr lang="en-US" altLang="zh-CN" sz="1200" i="1" kern="1200">
                        <a:solidFill>
                          <a:schemeClr val="tx1"/>
                        </a:solidFill>
                        <a:effectLst/>
                        <a:latin typeface="Cambria Math" panose="02040503050406030204" pitchFamily="18" charset="0"/>
                        <a:ea typeface="+mn-ea"/>
                        <a:cs typeface="+mn-cs"/>
                      </a:rPr>
                      <m:t> </m:t>
                    </m:r>
                    <m:r>
                      <a:rPr lang="zh-CN"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m:rPr>
                            <m:sty m:val="p"/>
                          </m:rPr>
                          <a:rPr lang="en-US" altLang="zh-CN" sz="1200" kern="1200">
                            <a:solidFill>
                              <a:schemeClr val="tx1"/>
                            </a:solidFill>
                            <a:effectLst/>
                            <a:latin typeface="Cambria Math" panose="02040503050406030204" pitchFamily="18" charset="0"/>
                            <a:ea typeface="+mn-ea"/>
                            <a:cs typeface="+mn-cs"/>
                          </a:rPr>
                          <m:t>R</m:t>
                        </m:r>
                      </m:e>
                      <m:sup>
                        <m:r>
                          <a:rPr lang="en-US" altLang="zh-CN" sz="1200" i="1" kern="1200">
                            <a:solidFill>
                              <a:schemeClr val="tx1"/>
                            </a:solidFill>
                            <a:effectLst/>
                            <a:latin typeface="Cambria Math" panose="02040503050406030204" pitchFamily="18" charset="0"/>
                            <a:ea typeface="+mn-ea"/>
                            <a:cs typeface="+mn-cs"/>
                          </a:rPr>
                          <m:t>6</m:t>
                        </m:r>
                        <m:r>
                          <a:rPr lang="en-US" altLang="zh-CN" sz="1200" i="1" kern="1200">
                            <a:solidFill>
                              <a:schemeClr val="tx1"/>
                            </a:solidFill>
                            <a:effectLst/>
                            <a:latin typeface="Cambria Math" panose="02040503050406030204" pitchFamily="18" charset="0"/>
                            <a:ea typeface="+mn-ea"/>
                            <a:cs typeface="+mn-cs"/>
                          </a:rPr>
                          <m:t>𝑥</m:t>
                        </m:r>
                        <m:r>
                          <a:rPr lang="en-US" altLang="zh-CN" sz="1200" i="1" kern="1200">
                            <a:solidFill>
                              <a:schemeClr val="tx1"/>
                            </a:solidFill>
                            <a:effectLst/>
                            <a:latin typeface="Cambria Math" panose="02040503050406030204" pitchFamily="18" charset="0"/>
                            <a:ea typeface="+mn-ea"/>
                            <a:cs typeface="+mn-cs"/>
                          </a:rPr>
                          <m:t>1</m:t>
                        </m:r>
                      </m:sup>
                    </m:sSup>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3-30</a:t>
                </a:r>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式</a:t>
                </a:r>
                <a:r>
                  <a:rPr lang="en-US" altLang="zh-CN" sz="1200" kern="1200" dirty="0">
                    <a:solidFill>
                      <a:schemeClr val="tx1"/>
                    </a:solidFill>
                    <a:effectLst/>
                    <a:latin typeface="+mn-lt"/>
                    <a:ea typeface="+mn-ea"/>
                    <a:cs typeface="+mn-cs"/>
                  </a:rPr>
                  <a:t>(3-30)</a:t>
                </a:r>
                <a:r>
                  <a:rPr lang="zh-CN" altLang="zh-CN" sz="1200" kern="1200" dirty="0">
                    <a:solidFill>
                      <a:schemeClr val="tx1"/>
                    </a:solidFill>
                    <a:effectLst/>
                    <a:latin typeface="+mn-lt"/>
                    <a:ea typeface="+mn-ea"/>
                    <a:cs typeface="+mn-cs"/>
                  </a:rPr>
                  <a:t>中，对于旋转关节，</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ω</m:t>
                    </m:r>
                  </m:oMath>
                </a14:m>
                <a:r>
                  <a:rPr lang="zh-CN" altLang="zh-CN" sz="1200" kern="1200" dirty="0">
                    <a:solidFill>
                      <a:schemeClr val="tx1"/>
                    </a:solidFill>
                    <a:effectLst/>
                    <a:latin typeface="+mn-lt"/>
                    <a:ea typeface="+mn-ea"/>
                    <a:cs typeface="+mn-cs"/>
                  </a:rPr>
                  <a:t>为沿关节轴正方向的单位向量，</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𝜐</m:t>
                    </m:r>
                  </m:oMath>
                </a14:m>
                <a:r>
                  <a:rPr lang="zh-CN" altLang="zh-CN" sz="1200" kern="1200" dirty="0">
                    <a:solidFill>
                      <a:schemeClr val="tx1"/>
                    </a:solidFill>
                    <a:effectLst/>
                    <a:latin typeface="+mn-lt"/>
                    <a:ea typeface="+mn-ea"/>
                    <a:cs typeface="+mn-cs"/>
                  </a:rPr>
                  <a:t>为线速度，</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𝜐</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m:t>
                    </m:r>
                    <m:r>
                      <m:rPr>
                        <m:sty m:val="p"/>
                      </m:rPr>
                      <a:rPr lang="en-US" altLang="zh-CN" sz="1200" kern="1200">
                        <a:solidFill>
                          <a:schemeClr val="tx1"/>
                        </a:solidFill>
                        <a:effectLst/>
                        <a:latin typeface="Cambria Math" panose="02040503050406030204" pitchFamily="18" charset="0"/>
                        <a:ea typeface="+mn-ea"/>
                        <a:cs typeface="+mn-cs"/>
                      </a:rPr>
                      <m:t>ωx</m:t>
                    </m:r>
                    <m:r>
                      <a:rPr lang="en-US" altLang="zh-CN" sz="1200" i="1" kern="1200">
                        <a:solidFill>
                          <a:schemeClr val="tx1"/>
                        </a:solidFill>
                        <a:effectLst/>
                        <a:latin typeface="Cambria Math" panose="02040503050406030204" pitchFamily="18" charset="0"/>
                        <a:ea typeface="+mn-ea"/>
                        <a:cs typeface="+mn-cs"/>
                      </a:rPr>
                      <m:t>𝑞</m:t>
                    </m:r>
                  </m:oMath>
                </a14:m>
                <a:r>
                  <a:rPr lang="zh-CN"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𝑞</m:t>
                    </m:r>
                  </m:oMath>
                </a14:m>
                <a:r>
                  <a:rPr lang="zh-CN" altLang="zh-CN" sz="1200" kern="1200" dirty="0">
                    <a:solidFill>
                      <a:schemeClr val="tx1"/>
                    </a:solidFill>
                    <a:effectLst/>
                    <a:latin typeface="+mn-lt"/>
                    <a:ea typeface="+mn-ea"/>
                    <a:cs typeface="+mn-cs"/>
                  </a:rPr>
                  <a:t>为关节轴上任一点，其坐标值在基坐标系中进行度量，一般为了计算方便，可将重合坐标轴上的值取</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。若关节为平移关节，则</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ω</m:t>
                    </m:r>
                    <m:r>
                      <a:rPr lang="en-US" altLang="zh-CN" sz="1200"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𝜐</m:t>
                    </m:r>
                  </m:oMath>
                </a14:m>
                <a:r>
                  <a:rPr lang="zh-CN" altLang="zh-CN" sz="1200" kern="1200" dirty="0">
                    <a:solidFill>
                      <a:schemeClr val="tx1"/>
                    </a:solidFill>
                    <a:effectLst/>
                    <a:latin typeface="+mn-lt"/>
                    <a:ea typeface="+mn-ea"/>
                    <a:cs typeface="+mn-cs"/>
                  </a:rPr>
                  <a:t>为沿关节轴正方向的单位向量，</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oMath>
                </a14:m>
                <a:r>
                  <a:rPr lang="zh-CN" altLang="zh-CN" sz="1200" kern="1200" dirty="0">
                    <a:solidFill>
                      <a:schemeClr val="tx1"/>
                    </a:solidFill>
                    <a:effectLst/>
                    <a:latin typeface="+mn-lt"/>
                    <a:ea typeface="+mn-ea"/>
                    <a:cs typeface="+mn-cs"/>
                  </a:rPr>
                  <a:t>表示移动的距离。</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针对串联机器人，我们在第二章中描述过的指数积</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PoE</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公式，可以将其理解为每个关节产生的螺旋运动施加给了后面的连杆。假设机器人由</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oMath>
                </a14:m>
                <a:r>
                  <a:rPr lang="zh-CN" altLang="zh-CN" sz="1200" kern="1200" dirty="0">
                    <a:solidFill>
                      <a:schemeClr val="tx1"/>
                    </a:solidFill>
                    <a:effectLst/>
                    <a:latin typeface="+mn-lt"/>
                    <a:ea typeface="+mn-ea"/>
                    <a:cs typeface="+mn-cs"/>
                  </a:rPr>
                  <a:t>个单自由度关节串联而成，我们首先选择基坐标系</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以及末端坐标</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，将机器人置于初始位置（或零位，即所有关节变量初始值为</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），已知末端坐标系的初始位形为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𝑀</m:t>
                    </m:r>
                  </m:oMath>
                </a14:m>
                <a:r>
                  <a:rPr lang="zh-CN" altLang="zh-CN" sz="1200" kern="1200" dirty="0">
                    <a:solidFill>
                      <a:schemeClr val="tx1"/>
                    </a:solidFill>
                    <a:effectLst/>
                    <a:latin typeface="+mn-lt"/>
                    <a:ea typeface="+mn-ea"/>
                    <a:cs typeface="+mn-cs"/>
                  </a:rPr>
                  <a:t>，当得到所有关节变量</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𝑛</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时，则该</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oMath>
                </a14:m>
                <a:r>
                  <a:rPr lang="zh-CN" altLang="zh-CN" sz="1200" kern="1200" dirty="0">
                    <a:solidFill>
                      <a:schemeClr val="tx1"/>
                    </a:solidFill>
                    <a:effectLst/>
                    <a:latin typeface="+mn-lt"/>
                    <a:ea typeface="+mn-ea"/>
                    <a:cs typeface="+mn-cs"/>
                  </a:rPr>
                  <a:t>个关节串联机器人末端的新位形可以指数积公式（</a:t>
                </a:r>
                <a:r>
                  <a:rPr lang="en-US" altLang="zh-CN" sz="1200" kern="1200" dirty="0">
                    <a:solidFill>
                      <a:schemeClr val="tx1"/>
                    </a:solidFill>
                    <a:effectLst/>
                    <a:latin typeface="+mn-lt"/>
                    <a:ea typeface="+mn-ea"/>
                    <a:cs typeface="+mn-cs"/>
                  </a:rPr>
                  <a:t>3-31</a:t>
                </a:r>
                <a:r>
                  <a:rPr lang="zh-CN" altLang="zh-CN" sz="1200" kern="1200" dirty="0">
                    <a:solidFill>
                      <a:schemeClr val="tx1"/>
                    </a:solidFill>
                    <a:effectLst/>
                    <a:latin typeface="+mn-lt"/>
                    <a:ea typeface="+mn-ea"/>
                    <a:cs typeface="+mn-cs"/>
                  </a:rPr>
                  <a:t>）进行表示。</a:t>
                </a: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𝑇</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𝑒</m:t>
                        </m:r>
                      </m:e>
                      <m:sup>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S</m:t>
                                </m:r>
                              </m:e>
                              <m:sub>
                                <m:r>
                                  <a:rPr lang="en-US" altLang="zh-CN" sz="1200" i="1" kern="1200">
                                    <a:solidFill>
                                      <a:schemeClr val="tx1"/>
                                    </a:solidFill>
                                    <a:effectLst/>
                                    <a:latin typeface="Cambria Math" panose="02040503050406030204" pitchFamily="18" charset="0"/>
                                    <a:ea typeface="+mn-ea"/>
                                    <a:cs typeface="+mn-cs"/>
                                  </a:rPr>
                                  <m:t>1</m:t>
                                </m:r>
                              </m:sub>
                            </m:sSub>
                          </m:e>
                        </m:d>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θ</m:t>
                            </m:r>
                          </m:e>
                          <m:sub>
                            <m:r>
                              <a:rPr lang="en-US" altLang="zh-CN" sz="1200" i="1" kern="1200">
                                <a:solidFill>
                                  <a:schemeClr val="tx1"/>
                                </a:solidFill>
                                <a:effectLst/>
                                <a:latin typeface="Cambria Math" panose="02040503050406030204" pitchFamily="18" charset="0"/>
                                <a:ea typeface="+mn-ea"/>
                                <a:cs typeface="+mn-cs"/>
                              </a:rPr>
                              <m:t>1</m:t>
                            </m:r>
                          </m:sub>
                        </m:sSub>
                      </m:sup>
                    </m:sSup>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𝑒</m:t>
                        </m:r>
                      </m:e>
                      <m:sup>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S</m:t>
                                </m:r>
                              </m:e>
                              <m:sub>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b>
                            </m:sSub>
                          </m:e>
                        </m:d>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θ</m:t>
                            </m:r>
                          </m:e>
                          <m:sub>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−1</m:t>
                            </m:r>
                          </m:sub>
                        </m:sSub>
                      </m:sup>
                    </m:sSup>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𝑒</m:t>
                        </m:r>
                      </m:e>
                      <m:sup>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S</m:t>
                                </m:r>
                              </m:e>
                              <m:sub>
                                <m:r>
                                  <a:rPr lang="en-US" altLang="zh-CN" sz="1200" i="1" kern="1200">
                                    <a:solidFill>
                                      <a:schemeClr val="tx1"/>
                                    </a:solidFill>
                                    <a:effectLst/>
                                    <a:latin typeface="Cambria Math" panose="02040503050406030204" pitchFamily="18" charset="0"/>
                                    <a:ea typeface="+mn-ea"/>
                                    <a:cs typeface="+mn-cs"/>
                                  </a:rPr>
                                  <m:t>𝑛</m:t>
                                </m:r>
                              </m:sub>
                            </m:sSub>
                          </m:e>
                        </m:d>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θ</m:t>
                            </m:r>
                          </m:e>
                          <m:sub>
                            <m:r>
                              <a:rPr lang="en-US" altLang="zh-CN" sz="1200" i="1" kern="1200">
                                <a:solidFill>
                                  <a:schemeClr val="tx1"/>
                                </a:solidFill>
                                <a:effectLst/>
                                <a:latin typeface="Cambria Math" panose="02040503050406030204" pitchFamily="18" charset="0"/>
                                <a:ea typeface="+mn-ea"/>
                                <a:cs typeface="+mn-cs"/>
                              </a:rPr>
                              <m:t>𝑛</m:t>
                            </m:r>
                          </m:sub>
                        </m:sSub>
                      </m:sup>
                    </m:sSup>
                    <m:r>
                      <a:rPr lang="en-US" altLang="zh-CN" sz="1200" i="1" kern="1200">
                        <a:solidFill>
                          <a:schemeClr val="tx1"/>
                        </a:solidFill>
                        <a:effectLst/>
                        <a:latin typeface="Cambria Math" panose="02040503050406030204" pitchFamily="18" charset="0"/>
                        <a:ea typeface="+mn-ea"/>
                        <a:cs typeface="+mn-cs"/>
                      </a:rPr>
                      <m:t>𝑀</m:t>
                    </m:r>
                  </m:oMath>
                </a14:m>
                <a:r>
                  <a:rPr lang="en-US" altLang="zh-CN" sz="1200" kern="1200" dirty="0">
                    <a:solidFill>
                      <a:schemeClr val="tx1"/>
                    </a:solidFill>
                    <a:effectLst/>
                    <a:latin typeface="+mn-lt"/>
                    <a:ea typeface="+mn-ea"/>
                    <a:cs typeface="+mn-cs"/>
                  </a:rPr>
                  <a:t> (3-31)</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在第二章中我们曾经介绍过螺旋轴及罗德里格斯参数表示的姿态矩阵。</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给定参考坐标系，螺旋轴</a:t>
                </a:r>
                <a:r>
                  <a:rPr lang="en-US" altLang="zh-CN" sz="1200" i="0" kern="1200">
                    <a:solidFill>
                      <a:schemeClr val="tx1"/>
                    </a:solidFill>
                    <a:effectLst/>
                    <a:latin typeface="+mn-lt"/>
                    <a:ea typeface="+mn-ea"/>
                    <a:cs typeface="+mn-cs"/>
                  </a:rPr>
                  <a:t>𝑆</a:t>
                </a:r>
                <a:r>
                  <a:rPr lang="zh-CN" altLang="zh-CN" sz="1200" kern="1200" dirty="0">
                    <a:solidFill>
                      <a:schemeClr val="tx1"/>
                    </a:solidFill>
                    <a:effectLst/>
                    <a:latin typeface="+mn-lt"/>
                    <a:ea typeface="+mn-ea"/>
                    <a:cs typeface="+mn-cs"/>
                  </a:rPr>
                  <a:t>可写成一个六维向量，又称运动旋量</a:t>
                </a:r>
                <a:r>
                  <a:rPr lang="en-US" altLang="zh-CN" sz="1200" kern="1200" dirty="0">
                    <a:solidFill>
                      <a:schemeClr val="tx1"/>
                    </a:solidFill>
                    <a:effectLst/>
                    <a:latin typeface="+mn-lt"/>
                    <a:ea typeface="+mn-ea"/>
                    <a:cs typeface="+mn-cs"/>
                  </a:rPr>
                  <a:t>(twist)</a:t>
                </a:r>
                <a:r>
                  <a:rPr lang="zh-CN" altLang="zh-CN" sz="1200" kern="1200" dirty="0">
                    <a:solidFill>
                      <a:schemeClr val="tx1"/>
                    </a:solidFill>
                    <a:effectLst/>
                    <a:latin typeface="+mn-lt"/>
                    <a:ea typeface="+mn-ea"/>
                    <a:cs typeface="+mn-cs"/>
                  </a:rPr>
                  <a:t>。</a:t>
                </a:r>
              </a:p>
              <a:p>
                <a:r>
                  <a:rPr lang="en-US" altLang="zh-CN" sz="1200" i="0" kern="1200">
                    <a:solidFill>
                      <a:schemeClr val="tx1"/>
                    </a:solidFill>
                    <a:effectLst/>
                    <a:latin typeface="+mn-lt"/>
                    <a:ea typeface="+mn-ea"/>
                    <a:cs typeface="+mn-cs"/>
                  </a:rPr>
                  <a:t>𝑆=</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𝜐@𝜔)]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R</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6𝑥1</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3-30</a:t>
                </a:r>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式</a:t>
                </a:r>
                <a:r>
                  <a:rPr lang="en-US" altLang="zh-CN" sz="1200" kern="1200" dirty="0">
                    <a:solidFill>
                      <a:schemeClr val="tx1"/>
                    </a:solidFill>
                    <a:effectLst/>
                    <a:latin typeface="+mn-lt"/>
                    <a:ea typeface="+mn-ea"/>
                    <a:cs typeface="+mn-cs"/>
                  </a:rPr>
                  <a:t>(3-30)</a:t>
                </a:r>
                <a:r>
                  <a:rPr lang="zh-CN" altLang="zh-CN" sz="1200" kern="1200" dirty="0">
                    <a:solidFill>
                      <a:schemeClr val="tx1"/>
                    </a:solidFill>
                    <a:effectLst/>
                    <a:latin typeface="+mn-lt"/>
                    <a:ea typeface="+mn-ea"/>
                    <a:cs typeface="+mn-cs"/>
                  </a:rPr>
                  <a:t>中，对于旋转关节，</a:t>
                </a:r>
                <a:r>
                  <a:rPr lang="en-US" altLang="zh-CN" sz="1200" i="0" kern="1200">
                    <a:solidFill>
                      <a:schemeClr val="tx1"/>
                    </a:solidFill>
                    <a:effectLst/>
                    <a:latin typeface="+mn-lt"/>
                    <a:ea typeface="+mn-ea"/>
                    <a:cs typeface="+mn-cs"/>
                  </a:rPr>
                  <a:t>ω</a:t>
                </a:r>
                <a:r>
                  <a:rPr lang="zh-CN" altLang="zh-CN" sz="1200" kern="1200" dirty="0">
                    <a:solidFill>
                      <a:schemeClr val="tx1"/>
                    </a:solidFill>
                    <a:effectLst/>
                    <a:latin typeface="+mn-lt"/>
                    <a:ea typeface="+mn-ea"/>
                    <a:cs typeface="+mn-cs"/>
                  </a:rPr>
                  <a:t>为沿关节轴正方向的单位向量，</a:t>
                </a:r>
                <a:r>
                  <a:rPr lang="en-US" altLang="zh-CN" sz="1200" i="0" kern="1200">
                    <a:solidFill>
                      <a:schemeClr val="tx1"/>
                    </a:solidFill>
                    <a:effectLst/>
                    <a:latin typeface="+mn-lt"/>
                    <a:ea typeface="+mn-ea"/>
                    <a:cs typeface="+mn-cs"/>
                  </a:rPr>
                  <a:t>𝜐</a:t>
                </a:r>
                <a:r>
                  <a:rPr lang="zh-CN" altLang="zh-CN" sz="1200" kern="1200" dirty="0">
                    <a:solidFill>
                      <a:schemeClr val="tx1"/>
                    </a:solidFill>
                    <a:effectLst/>
                    <a:latin typeface="+mn-lt"/>
                    <a:ea typeface="+mn-ea"/>
                    <a:cs typeface="+mn-cs"/>
                  </a:rPr>
                  <a:t>为线速度，</a:t>
                </a:r>
                <a:r>
                  <a:rPr lang="en-US" altLang="zh-CN" sz="1200" i="0" kern="1200">
                    <a:solidFill>
                      <a:schemeClr val="tx1"/>
                    </a:solidFill>
                    <a:effectLst/>
                    <a:latin typeface="+mn-lt"/>
                    <a:ea typeface="+mn-ea"/>
                    <a:cs typeface="+mn-cs"/>
                  </a:rPr>
                  <a:t>𝜐=−ωx𝑞</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kern="1200" dirty="0">
                    <a:solidFill>
                      <a:schemeClr val="tx1"/>
                    </a:solidFill>
                    <a:effectLst/>
                    <a:latin typeface="+mn-lt"/>
                    <a:ea typeface="+mn-ea"/>
                    <a:cs typeface="+mn-cs"/>
                  </a:rPr>
                  <a:t>为关节轴上任一点，其坐标值在基坐标系中进行度量，一般为了计算方便，可将重合坐标轴上的值取</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。若关节为平移关节，则</a:t>
                </a:r>
                <a:r>
                  <a:rPr lang="en-US" altLang="zh-CN" sz="1200" i="0" kern="1200">
                    <a:solidFill>
                      <a:schemeClr val="tx1"/>
                    </a:solidFill>
                    <a:effectLst/>
                    <a:latin typeface="+mn-lt"/>
                    <a:ea typeface="+mn-ea"/>
                    <a:cs typeface="+mn-cs"/>
                  </a:rPr>
                  <a:t>ω=0</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𝜐</a:t>
                </a:r>
                <a:r>
                  <a:rPr lang="zh-CN" altLang="zh-CN" sz="1200" kern="1200" dirty="0">
                    <a:solidFill>
                      <a:schemeClr val="tx1"/>
                    </a:solidFill>
                    <a:effectLst/>
                    <a:latin typeface="+mn-lt"/>
                    <a:ea typeface="+mn-ea"/>
                    <a:cs typeface="+mn-cs"/>
                  </a:rPr>
                  <a:t>为沿关节轴正方向的单位向量，</a:t>
                </a:r>
                <a:r>
                  <a:rPr lang="en-US" altLang="zh-CN" sz="1200" i="0" kern="1200">
                    <a:solidFill>
                      <a:schemeClr val="tx1"/>
                    </a:solidFill>
                    <a:effectLst/>
                    <a:latin typeface="+mn-lt"/>
                    <a:ea typeface="+mn-ea"/>
                    <a:cs typeface="+mn-cs"/>
                  </a:rPr>
                  <a:t>𝜃</a:t>
                </a:r>
                <a:r>
                  <a:rPr lang="zh-CN" altLang="zh-CN" sz="1200" kern="1200" dirty="0">
                    <a:solidFill>
                      <a:schemeClr val="tx1"/>
                    </a:solidFill>
                    <a:effectLst/>
                    <a:latin typeface="+mn-lt"/>
                    <a:ea typeface="+mn-ea"/>
                    <a:cs typeface="+mn-cs"/>
                  </a:rPr>
                  <a:t>表示移动的距离。</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针对串联机器人，我们在第二章中描述过的指数积</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PoE</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公式，可以将其理解为每个关节产生的螺旋运动施加给了后面的连杆。假设机器人由</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个单自由度关节串联而成，我们首先选择基坐标系</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以及末端坐标</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，将机器人置于初始位置（或零位，即所有关节变量初始值为</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），已知末端坐标系的初始位形为</a:t>
                </a:r>
                <a:r>
                  <a:rPr lang="en-US" altLang="zh-CN" sz="1200" i="0" kern="1200">
                    <a:solidFill>
                      <a:schemeClr val="tx1"/>
                    </a:solidFill>
                    <a:effectLst/>
                    <a:latin typeface="+mn-lt"/>
                    <a:ea typeface="+mn-ea"/>
                    <a:cs typeface="+mn-cs"/>
                  </a:rPr>
                  <a:t>𝑀</a:t>
                </a:r>
                <a:r>
                  <a:rPr lang="zh-CN" altLang="zh-CN" sz="1200" kern="1200" dirty="0">
                    <a:solidFill>
                      <a:schemeClr val="tx1"/>
                    </a:solidFill>
                    <a:effectLst/>
                    <a:latin typeface="+mn-lt"/>
                    <a:ea typeface="+mn-ea"/>
                    <a:cs typeface="+mn-cs"/>
                  </a:rPr>
                  <a:t>，当得到所有关节变量</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时，则该</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个关节串联机器人末端的新位形可以指数积公式（</a:t>
                </a:r>
                <a:r>
                  <a:rPr lang="en-US" altLang="zh-CN" sz="1200" kern="1200" dirty="0">
                    <a:solidFill>
                      <a:schemeClr val="tx1"/>
                    </a:solidFill>
                    <a:effectLst/>
                    <a:latin typeface="+mn-lt"/>
                    <a:ea typeface="+mn-ea"/>
                    <a:cs typeface="+mn-cs"/>
                  </a:rPr>
                  <a:t>3-31</a:t>
                </a:r>
                <a:r>
                  <a:rPr lang="zh-CN" altLang="zh-CN" sz="1200" kern="1200" dirty="0">
                    <a:solidFill>
                      <a:schemeClr val="tx1"/>
                    </a:solidFill>
                    <a:effectLst/>
                    <a:latin typeface="+mn-lt"/>
                    <a:ea typeface="+mn-ea"/>
                    <a:cs typeface="+mn-cs"/>
                  </a:rPr>
                  <a:t>）进行表示。</a:t>
                </a:r>
              </a:p>
              <a:p>
                <a:r>
                  <a:rPr lang="en-US" altLang="zh-CN" sz="1200" i="0" kern="1200">
                    <a:solidFill>
                      <a:schemeClr val="tx1"/>
                    </a:solidFill>
                    <a:effectLst/>
                    <a:latin typeface="+mn-lt"/>
                    <a:ea typeface="+mn-ea"/>
                    <a:cs typeface="+mn-cs"/>
                  </a:rPr>
                  <a:t>𝑇(𝜃)=𝑒</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S</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θ</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⋯𝑒</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S</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θ</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𝑒</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S</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θ</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𝑀</a:t>
                </a:r>
                <a:r>
                  <a:rPr lang="en-US" altLang="zh-CN" sz="1200" kern="1200" dirty="0">
                    <a:solidFill>
                      <a:schemeClr val="tx1"/>
                    </a:solidFill>
                    <a:effectLst/>
                    <a:latin typeface="+mn-lt"/>
                    <a:ea typeface="+mn-ea"/>
                    <a:cs typeface="+mn-cs"/>
                  </a:rPr>
                  <a:t> (3-31)</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49</a:t>
            </a:fld>
            <a:endParaRPr lang="zh-CN" altLang="en-US"/>
          </a:p>
        </p:txBody>
      </p:sp>
    </p:spTree>
    <p:extLst>
      <p:ext uri="{BB962C8B-B14F-4D97-AF65-F5344CB8AC3E}">
        <p14:creationId xmlns:p14="http://schemas.microsoft.com/office/powerpoint/2010/main" val="195614640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50</a:t>
            </a:fld>
            <a:endParaRPr lang="zh-CN" altLang="en-US"/>
          </a:p>
        </p:txBody>
      </p:sp>
    </p:spTree>
    <p:extLst>
      <p:ext uri="{BB962C8B-B14F-4D97-AF65-F5344CB8AC3E}">
        <p14:creationId xmlns:p14="http://schemas.microsoft.com/office/powerpoint/2010/main" val="370174042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51</a:t>
            </a:fld>
            <a:endParaRPr lang="zh-CN" altLang="en-US"/>
          </a:p>
        </p:txBody>
      </p:sp>
    </p:spTree>
    <p:extLst>
      <p:ext uri="{BB962C8B-B14F-4D97-AF65-F5344CB8AC3E}">
        <p14:creationId xmlns:p14="http://schemas.microsoft.com/office/powerpoint/2010/main" val="28592476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52</a:t>
            </a:fld>
            <a:endParaRPr lang="zh-CN" altLang="en-US"/>
          </a:p>
        </p:txBody>
      </p:sp>
    </p:spTree>
    <p:extLst>
      <p:ext uri="{BB962C8B-B14F-4D97-AF65-F5344CB8AC3E}">
        <p14:creationId xmlns:p14="http://schemas.microsoft.com/office/powerpoint/2010/main" val="192883062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3.19</a:t>
                </a:r>
                <a:r>
                  <a:rPr lang="zh-CN" altLang="zh-CN" sz="1200" kern="1200" dirty="0">
                    <a:solidFill>
                      <a:schemeClr val="tx1"/>
                    </a:solidFill>
                    <a:effectLst/>
                    <a:latin typeface="+mn-lt"/>
                    <a:ea typeface="+mn-ea"/>
                    <a:cs typeface="+mn-cs"/>
                  </a:rPr>
                  <a:t>所示，我们可以对图</a:t>
                </a:r>
                <a:r>
                  <a:rPr lang="en-US" altLang="zh-CN" sz="1200" kern="1200" dirty="0">
                    <a:solidFill>
                      <a:schemeClr val="tx1"/>
                    </a:solidFill>
                    <a:effectLst/>
                    <a:latin typeface="+mn-lt"/>
                    <a:ea typeface="+mn-ea"/>
                    <a:cs typeface="+mn-cs"/>
                  </a:rPr>
                  <a:t>3.15</a:t>
                </a:r>
                <a:r>
                  <a:rPr lang="zh-CN" altLang="zh-CN" sz="1200" kern="1200" dirty="0">
                    <a:solidFill>
                      <a:schemeClr val="tx1"/>
                    </a:solidFill>
                    <a:effectLst/>
                    <a:latin typeface="+mn-lt"/>
                    <a:ea typeface="+mn-ea"/>
                    <a:cs typeface="+mn-cs"/>
                  </a:rPr>
                  <a:t>所示的机器人建立</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个螺旋轴</a:t>
                </a:r>
                <a:r>
                  <a:rPr lang="en-US" altLang="zh-CN" sz="1200" kern="1200" dirty="0">
                    <a:solidFill>
                      <a:schemeClr val="tx1"/>
                    </a:solidFill>
                    <a:effectLst/>
                    <a:latin typeface="+mn-lt"/>
                    <a:ea typeface="+mn-ea"/>
                    <a:cs typeface="+mn-cs"/>
                  </a:rPr>
                  <a:t>(screw axis)</a:t>
                </a:r>
                <a:r>
                  <a:rPr lang="zh-CN" altLang="zh-CN" sz="1200" kern="1200" dirty="0">
                    <a:solidFill>
                      <a:schemeClr val="tx1"/>
                    </a:solidFill>
                    <a:effectLst/>
                    <a:latin typeface="+mn-lt"/>
                    <a:ea typeface="+mn-ea"/>
                    <a:cs typeface="+mn-cs"/>
                  </a:rPr>
                  <a:t>（</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r>
                      <m:rPr>
                        <m:sty m:val="p"/>
                      </m:rPr>
                      <a:rPr lang="en-US" altLang="zh-CN" sz="1200" kern="1200">
                        <a:solidFill>
                          <a:schemeClr val="tx1"/>
                        </a:solidFill>
                        <a:effectLst/>
                        <a:latin typeface="Cambria Math" panose="02040503050406030204" pitchFamily="18" charset="0"/>
                        <a:ea typeface="+mn-ea"/>
                        <a:cs typeface="+mn-cs"/>
                      </a:rPr>
                      <m:t>S</m:t>
                    </m:r>
                    <m:r>
                      <a:rPr lang="en-US" altLang="zh-CN" sz="1200" kern="1200">
                        <a:solidFill>
                          <a:schemeClr val="tx1"/>
                        </a:solidFill>
                        <a:effectLst/>
                        <a:latin typeface="Cambria Math" panose="02040503050406030204" pitchFamily="18" charset="0"/>
                        <a:ea typeface="+mn-ea"/>
                        <a:cs typeface="+mn-cs"/>
                      </a:rPr>
                      <m:t>1,</m:t>
                    </m:r>
                    <m:r>
                      <m:rPr>
                        <m:sty m:val="p"/>
                      </m:rPr>
                      <a:rPr lang="en-US" altLang="zh-CN" sz="1200" kern="1200">
                        <a:solidFill>
                          <a:schemeClr val="tx1"/>
                        </a:solidFill>
                        <a:effectLst/>
                        <a:latin typeface="Cambria Math" panose="02040503050406030204" pitchFamily="18" charset="0"/>
                        <a:ea typeface="+mn-ea"/>
                        <a:cs typeface="+mn-cs"/>
                      </a:rPr>
                      <m:t>S</m:t>
                    </m:r>
                    <m:r>
                      <a:rPr lang="en-US" altLang="zh-CN" sz="1200" kern="1200">
                        <a:solidFill>
                          <a:schemeClr val="tx1"/>
                        </a:solidFill>
                        <a:effectLst/>
                        <a:latin typeface="Cambria Math" panose="02040503050406030204" pitchFamily="18" charset="0"/>
                        <a:ea typeface="+mn-ea"/>
                        <a:cs typeface="+mn-cs"/>
                      </a:rPr>
                      <m:t>2,</m:t>
                    </m:r>
                    <m:r>
                      <m:rPr>
                        <m:sty m:val="p"/>
                      </m:rPr>
                      <a:rPr lang="en-US" altLang="zh-CN" sz="1200" kern="1200">
                        <a:solidFill>
                          <a:schemeClr val="tx1"/>
                        </a:solidFill>
                        <a:effectLst/>
                        <a:latin typeface="Cambria Math" panose="02040503050406030204" pitchFamily="18" charset="0"/>
                        <a:ea typeface="+mn-ea"/>
                        <a:cs typeface="+mn-cs"/>
                      </a:rPr>
                      <m:t>S</m:t>
                    </m:r>
                    <m:r>
                      <a:rPr lang="en-US" altLang="zh-CN" sz="1200" kern="1200">
                        <a:solidFill>
                          <a:schemeClr val="tx1"/>
                        </a:solidFill>
                        <a:effectLst/>
                        <a:latin typeface="Cambria Math" panose="02040503050406030204" pitchFamily="18" charset="0"/>
                        <a:ea typeface="+mn-ea"/>
                        <a:cs typeface="+mn-cs"/>
                      </a:rPr>
                      <m:t>3,</m:t>
                    </m:r>
                    <m:r>
                      <m:rPr>
                        <m:sty m:val="p"/>
                      </m:rPr>
                      <a:rPr lang="en-US" altLang="zh-CN" sz="1200" kern="1200">
                        <a:solidFill>
                          <a:schemeClr val="tx1"/>
                        </a:solidFill>
                        <a:effectLst/>
                        <a:latin typeface="Cambria Math" panose="02040503050406030204" pitchFamily="18" charset="0"/>
                        <a:ea typeface="+mn-ea"/>
                        <a:cs typeface="+mn-cs"/>
                      </a:rPr>
                      <m:t>S</m:t>
                    </m:r>
                    <m:r>
                      <a:rPr lang="en-US" altLang="zh-CN" sz="1200" kern="1200">
                        <a:solidFill>
                          <a:schemeClr val="tx1"/>
                        </a:solidFill>
                        <a:effectLst/>
                        <a:latin typeface="Cambria Math" panose="02040503050406030204" pitchFamily="18" charset="0"/>
                        <a:ea typeface="+mn-ea"/>
                        <a:cs typeface="+mn-cs"/>
                      </a:rPr>
                      <m:t>4,</m:t>
                    </m:r>
                    <m:r>
                      <m:rPr>
                        <m:sty m:val="p"/>
                      </m:rPr>
                      <a:rPr lang="en-US" altLang="zh-CN" sz="1200" kern="1200">
                        <a:solidFill>
                          <a:schemeClr val="tx1"/>
                        </a:solidFill>
                        <a:effectLst/>
                        <a:latin typeface="Cambria Math" panose="02040503050406030204" pitchFamily="18" charset="0"/>
                        <a:ea typeface="+mn-ea"/>
                        <a:cs typeface="+mn-cs"/>
                      </a:rPr>
                      <m:t>S</m:t>
                    </m:r>
                    <m:r>
                      <a:rPr lang="en-US" altLang="zh-CN" sz="1200" kern="1200">
                        <a:solidFill>
                          <a:schemeClr val="tx1"/>
                        </a:solidFill>
                        <a:effectLst/>
                        <a:latin typeface="Cambria Math" panose="02040503050406030204" pitchFamily="18" charset="0"/>
                        <a:ea typeface="+mn-ea"/>
                        <a:cs typeface="+mn-cs"/>
                      </a:rPr>
                      <m:t>5,</m:t>
                    </m:r>
                    <m:r>
                      <m:rPr>
                        <m:sty m:val="p"/>
                      </m:rPr>
                      <a:rPr lang="en-US" altLang="zh-CN" sz="1200" kern="1200">
                        <a:solidFill>
                          <a:schemeClr val="tx1"/>
                        </a:solidFill>
                        <a:effectLst/>
                        <a:latin typeface="Cambria Math" panose="02040503050406030204" pitchFamily="18" charset="0"/>
                        <a:ea typeface="+mn-ea"/>
                        <a:cs typeface="+mn-cs"/>
                      </a:rPr>
                      <m:t>S</m:t>
                    </m:r>
                    <m:r>
                      <a:rPr lang="en-US" altLang="zh-CN" sz="1200" kern="1200">
                        <a:solidFill>
                          <a:schemeClr val="tx1"/>
                        </a:solidFill>
                        <a:effectLst/>
                        <a:latin typeface="Cambria Math" panose="02040503050406030204" pitchFamily="18" charset="0"/>
                        <a:ea typeface="+mn-ea"/>
                        <a:cs typeface="+mn-cs"/>
                      </a:rPr>
                      <m:t>6}</m:t>
                    </m:r>
                  </m:oMath>
                </a14:m>
                <a:r>
                  <a:rPr lang="zh-CN" altLang="zh-CN" sz="1200" kern="1200" dirty="0">
                    <a:solidFill>
                      <a:schemeClr val="tx1"/>
                    </a:solidFill>
                    <a:effectLst/>
                    <a:latin typeface="+mn-lt"/>
                    <a:ea typeface="+mn-ea"/>
                    <a:cs typeface="+mn-cs"/>
                  </a:rPr>
                  <a:t>），假设图</a:t>
                </a:r>
                <a:r>
                  <a:rPr lang="en-US" altLang="zh-CN" sz="1200" kern="1200" dirty="0">
                    <a:solidFill>
                      <a:schemeClr val="tx1"/>
                    </a:solidFill>
                    <a:effectLst/>
                    <a:latin typeface="+mn-lt"/>
                    <a:ea typeface="+mn-ea"/>
                    <a:cs typeface="+mn-cs"/>
                  </a:rPr>
                  <a:t>3.19</a:t>
                </a:r>
                <a:r>
                  <a:rPr lang="zh-CN" altLang="zh-CN" sz="1200" kern="1200" dirty="0">
                    <a:solidFill>
                      <a:schemeClr val="tx1"/>
                    </a:solidFill>
                    <a:effectLst/>
                    <a:latin typeface="+mn-lt"/>
                    <a:ea typeface="+mn-ea"/>
                    <a:cs typeface="+mn-cs"/>
                  </a:rPr>
                  <a:t>为每个螺旋轴的零位位置，那么终端工具坐标系</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在零位状态下的初始位姿矩阵见式（</a:t>
                </a:r>
                <a:r>
                  <a:rPr lang="en-US" altLang="zh-CN" sz="1200" kern="1200" dirty="0">
                    <a:solidFill>
                      <a:schemeClr val="tx1"/>
                    </a:solidFill>
                    <a:effectLst/>
                    <a:latin typeface="+mn-lt"/>
                    <a:ea typeface="+mn-ea"/>
                    <a:cs typeface="+mn-cs"/>
                  </a:rPr>
                  <a:t>3-38</a:t>
                </a:r>
                <a:r>
                  <a:rPr lang="zh-CN" altLang="zh-CN" sz="1200" kern="1200" dirty="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其中，末端</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姿态矩阵可以认为是终端坐标系</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相对基坐标系</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绕</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轴旋转</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𝜑</m:t>
                    </m:r>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90</a:t>
                </a:r>
                <a:r>
                  <a:rPr lang="zh-CN" altLang="zh-CN" sz="1200" kern="1200" dirty="0">
                    <a:solidFill>
                      <a:schemeClr val="tx1"/>
                    </a:solidFill>
                    <a:effectLst/>
                    <a:latin typeface="+mn-lt"/>
                    <a:ea typeface="+mn-ea"/>
                    <a:cs typeface="+mn-cs"/>
                  </a:rPr>
                  <a:t>度，其</a:t>
                </a:r>
                <a:r>
                  <a:rPr lang="en-US" altLang="zh-CN" sz="1200" kern="1200" dirty="0">
                    <a:solidFill>
                      <a:schemeClr val="tx1"/>
                    </a:solidFill>
                    <a:effectLst/>
                    <a:latin typeface="+mn-lt"/>
                    <a:ea typeface="+mn-ea"/>
                    <a:cs typeface="+mn-cs"/>
                  </a:rPr>
                  <a:t>3x3</a:t>
                </a:r>
                <a:r>
                  <a:rPr lang="zh-CN" altLang="zh-CN" sz="1200" kern="1200" dirty="0">
                    <a:solidFill>
                      <a:schemeClr val="tx1"/>
                    </a:solidFill>
                    <a:effectLst/>
                    <a:latin typeface="+mn-lt"/>
                    <a:ea typeface="+mn-ea"/>
                    <a:cs typeface="+mn-cs"/>
                  </a:rPr>
                  <a:t>的姿态矩阵为：</a:t>
                </a: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𝑅</m:t>
                    </m:r>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r>
                                    <a:rPr lang="en-US" altLang="zh-CN" sz="1200" i="1" kern="1200">
                                      <a:solidFill>
                                        <a:schemeClr val="tx1"/>
                                      </a:solidFill>
                                      <a:effectLst/>
                                      <a:latin typeface="Cambria Math" panose="02040503050406030204" pitchFamily="18" charset="0"/>
                                      <a:ea typeface="+mn-ea"/>
                                      <a:cs typeface="+mn-cs"/>
                                    </a:rPr>
                                    <m:t>𝜑</m:t>
                                  </m:r>
                                </m:e>
                              </m:func>
                            </m:e>
                            <m:e>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r>
                                    <a:rPr lang="en-US" altLang="zh-CN" sz="1200" i="1" kern="1200">
                                      <a:solidFill>
                                        <a:schemeClr val="tx1"/>
                                      </a:solidFill>
                                      <a:effectLst/>
                                      <a:latin typeface="Cambria Math" panose="02040503050406030204" pitchFamily="18" charset="0"/>
                                      <a:ea typeface="+mn-ea"/>
                                      <a:cs typeface="+mn-cs"/>
                                    </a:rPr>
                                    <m:t>𝜑</m:t>
                                  </m:r>
                                </m:e>
                              </m:func>
                            </m:e>
                          </m:mr>
                          <m:mr>
                            <m:e>
                              <m:r>
                                <a:rPr lang="en-US" altLang="zh-CN" sz="1200" i="1" kern="1200">
                                  <a:solidFill>
                                    <a:schemeClr val="tx1"/>
                                  </a:solidFill>
                                  <a:effectLst/>
                                  <a:latin typeface="Cambria Math" panose="02040503050406030204" pitchFamily="18" charset="0"/>
                                  <a:ea typeface="+mn-ea"/>
                                  <a:cs typeface="+mn-cs"/>
                                </a:rPr>
                                <m:t>0</m:t>
                              </m:r>
                            </m:e>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r>
                                    <a:rPr lang="en-US" altLang="zh-CN" sz="1200" i="1" kern="1200">
                                      <a:solidFill>
                                        <a:schemeClr val="tx1"/>
                                      </a:solidFill>
                                      <a:effectLst/>
                                      <a:latin typeface="Cambria Math" panose="02040503050406030204" pitchFamily="18" charset="0"/>
                                      <a:ea typeface="+mn-ea"/>
                                      <a:cs typeface="+mn-cs"/>
                                    </a:rPr>
                                    <m:t>𝜑</m:t>
                                  </m:r>
                                </m:e>
                              </m:func>
                            </m:e>
                            <m:e>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r>
                                    <a:rPr lang="en-US" altLang="zh-CN" sz="1200" i="1" kern="1200">
                                      <a:solidFill>
                                        <a:schemeClr val="tx1"/>
                                      </a:solidFill>
                                      <a:effectLst/>
                                      <a:latin typeface="Cambria Math" panose="02040503050406030204" pitchFamily="18" charset="0"/>
                                      <a:ea typeface="+mn-ea"/>
                                      <a:cs typeface="+mn-cs"/>
                                    </a:rPr>
                                    <m:t>𝜑</m:t>
                                  </m:r>
                                </m:e>
                              </m:func>
                            </m:e>
                          </m:mr>
                        </m:m>
                      </m:e>
                    </m:d>
                  </m:oMath>
                </a14:m>
                <a:r>
                  <a:rPr lang="en-US" altLang="zh-CN" sz="1200" kern="1200" dirty="0">
                    <a:solidFill>
                      <a:schemeClr val="tx1"/>
                    </a:solidFill>
                    <a:effectLst/>
                    <a:latin typeface="+mn-lt"/>
                    <a:ea typeface="+mn-ea"/>
                    <a:cs typeface="+mn-cs"/>
                  </a:rPr>
                  <a:t>=</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
                      </m:e>
                    </m:d>
                  </m:oMath>
                </a14:m>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AUBO-i5</a:t>
                </a:r>
                <a:r>
                  <a:rPr lang="zh-CN" altLang="zh-CN" sz="1200" kern="1200" dirty="0">
                    <a:solidFill>
                      <a:schemeClr val="tx1"/>
                    </a:solidFill>
                    <a:effectLst/>
                    <a:latin typeface="+mn-lt"/>
                    <a:ea typeface="+mn-ea"/>
                    <a:cs typeface="+mn-cs"/>
                  </a:rPr>
                  <a:t>每个轴</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都是旋转轴，其运动旋量</a:t>
                </a:r>
                <a:r>
                  <a:rPr lang="en-US" altLang="zh-CN" sz="1200" kern="1200" dirty="0">
                    <a:solidFill>
                      <a:schemeClr val="tx1"/>
                    </a:solidFill>
                    <a:effectLst/>
                    <a:latin typeface="+mn-lt"/>
                    <a:ea typeface="+mn-ea"/>
                    <a:cs typeface="+mn-cs"/>
                  </a:rPr>
                  <a:t>(twist)</a:t>
                </a:r>
                <a:r>
                  <a:rPr lang="zh-CN" altLang="zh-CN" sz="1200" kern="1200" dirty="0">
                    <a:solidFill>
                      <a:schemeClr val="tx1"/>
                    </a:solidFill>
                    <a:effectLst/>
                    <a:latin typeface="+mn-lt"/>
                    <a:ea typeface="+mn-ea"/>
                    <a:cs typeface="+mn-cs"/>
                  </a:rPr>
                  <a:t>可表示为式（</a:t>
                </a:r>
                <a:r>
                  <a:rPr lang="en-US" altLang="zh-CN" sz="1200" kern="1200" dirty="0">
                    <a:solidFill>
                      <a:schemeClr val="tx1"/>
                    </a:solidFill>
                    <a:effectLst/>
                    <a:latin typeface="+mn-lt"/>
                    <a:ea typeface="+mn-ea"/>
                    <a:cs typeface="+mn-cs"/>
                  </a:rPr>
                  <a:t>3-39</a:t>
                </a:r>
                <a:r>
                  <a:rPr lang="zh-CN" altLang="zh-CN" sz="1200" kern="1200" dirty="0">
                    <a:solidFill>
                      <a:schemeClr val="tx1"/>
                    </a:solidFill>
                    <a:effectLst/>
                    <a:latin typeface="+mn-lt"/>
                    <a:ea typeface="+mn-ea"/>
                    <a:cs typeface="+mn-cs"/>
                  </a:rPr>
                  <a:t>）。</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𝜐</m:t>
                                  </m:r>
                                </m:e>
                                <m:sub>
                                  <m:r>
                                    <a:rPr lang="en-US" altLang="zh-CN" sz="1200" i="1" kern="1200">
                                      <a:solidFill>
                                        <a:schemeClr val="tx1"/>
                                      </a:solidFill>
                                      <a:effectLst/>
                                      <a:latin typeface="Cambria Math" panose="02040503050406030204" pitchFamily="18" charset="0"/>
                                      <a:ea typeface="+mn-ea"/>
                                      <a:cs typeface="+mn-cs"/>
                                    </a:rPr>
                                    <m:t>𝑖</m:t>
                                  </m:r>
                                </m:sub>
                              </m:sSub>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𝑖</m:t>
                                  </m:r>
                                </m:sub>
                              </m:sSub>
                            </m:e>
                          </m:mr>
                        </m:m>
                      </m:e>
                    </m:d>
                    <m:r>
                      <a:rPr lang="en-US" altLang="zh-CN" sz="1200" i="1" kern="1200">
                        <a:solidFill>
                          <a:schemeClr val="tx1"/>
                        </a:solidFill>
                        <a:effectLst/>
                        <a:latin typeface="Cambria Math" panose="02040503050406030204" pitchFamily="18" charset="0"/>
                        <a:ea typeface="+mn-ea"/>
                        <a:cs typeface="+mn-cs"/>
                      </a:rPr>
                      <m:t> </m:t>
                    </m:r>
                    <m:r>
                      <a:rPr lang="zh-CN"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𝑅</m:t>
                    </m:r>
                    <m:r>
                      <a:rPr lang="en-US" altLang="zh-CN" sz="1200" i="1" kern="1200">
                        <a:solidFill>
                          <a:schemeClr val="tx1"/>
                        </a:solidFill>
                        <a:effectLst/>
                        <a:latin typeface="Cambria Math" panose="02040503050406030204" pitchFamily="18" charset="0"/>
                        <a:ea typeface="+mn-ea"/>
                        <a:cs typeface="+mn-cs"/>
                      </a:rPr>
                      <m:t>^6×1</m:t>
                    </m:r>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3-39</a:t>
                </a:r>
                <a:r>
                  <a:rPr lang="zh-CN" altLang="zh-CN" sz="1200" kern="1200" dirty="0">
                    <a:solidFill>
                      <a:schemeClr val="tx1"/>
                    </a:solidFill>
                    <a:effectLst/>
                    <a:latin typeface="+mn-lt"/>
                    <a:ea typeface="+mn-ea"/>
                    <a:cs typeface="+mn-cs"/>
                  </a:rPr>
                  <a:t>）</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3.19</a:t>
                </a:r>
                <a:r>
                  <a:rPr lang="zh-CN" altLang="zh-CN" sz="1200" kern="1200" dirty="0">
                    <a:solidFill>
                      <a:schemeClr val="tx1"/>
                    </a:solidFill>
                    <a:effectLst/>
                    <a:latin typeface="+mn-lt"/>
                    <a:ea typeface="+mn-ea"/>
                    <a:cs typeface="+mn-cs"/>
                  </a:rPr>
                  <a:t>所示，我们可以对图</a:t>
                </a:r>
                <a:r>
                  <a:rPr lang="en-US" altLang="zh-CN" sz="1200" kern="1200" dirty="0">
                    <a:solidFill>
                      <a:schemeClr val="tx1"/>
                    </a:solidFill>
                    <a:effectLst/>
                    <a:latin typeface="+mn-lt"/>
                    <a:ea typeface="+mn-ea"/>
                    <a:cs typeface="+mn-cs"/>
                  </a:rPr>
                  <a:t>3.15</a:t>
                </a:r>
                <a:r>
                  <a:rPr lang="zh-CN" altLang="zh-CN" sz="1200" kern="1200" dirty="0">
                    <a:solidFill>
                      <a:schemeClr val="tx1"/>
                    </a:solidFill>
                    <a:effectLst/>
                    <a:latin typeface="+mn-lt"/>
                    <a:ea typeface="+mn-ea"/>
                    <a:cs typeface="+mn-cs"/>
                  </a:rPr>
                  <a:t>所示的机器人建立</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个螺旋轴</a:t>
                </a:r>
                <a:r>
                  <a:rPr lang="en-US" altLang="zh-CN" sz="1200" kern="1200" dirty="0">
                    <a:solidFill>
                      <a:schemeClr val="tx1"/>
                    </a:solidFill>
                    <a:effectLst/>
                    <a:latin typeface="+mn-lt"/>
                    <a:ea typeface="+mn-ea"/>
                    <a:cs typeface="+mn-cs"/>
                  </a:rPr>
                  <a:t>(screw axis)</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{S1,S2,S3,S4,S5,S6}</a:t>
                </a:r>
                <a:r>
                  <a:rPr lang="zh-CN" altLang="zh-CN" sz="1200" kern="1200" dirty="0">
                    <a:solidFill>
                      <a:schemeClr val="tx1"/>
                    </a:solidFill>
                    <a:effectLst/>
                    <a:latin typeface="+mn-lt"/>
                    <a:ea typeface="+mn-ea"/>
                    <a:cs typeface="+mn-cs"/>
                  </a:rPr>
                  <a:t>），假设图</a:t>
                </a:r>
                <a:r>
                  <a:rPr lang="en-US" altLang="zh-CN" sz="1200" kern="1200" dirty="0">
                    <a:solidFill>
                      <a:schemeClr val="tx1"/>
                    </a:solidFill>
                    <a:effectLst/>
                    <a:latin typeface="+mn-lt"/>
                    <a:ea typeface="+mn-ea"/>
                    <a:cs typeface="+mn-cs"/>
                  </a:rPr>
                  <a:t>3.19</a:t>
                </a:r>
                <a:r>
                  <a:rPr lang="zh-CN" altLang="zh-CN" sz="1200" kern="1200" dirty="0">
                    <a:solidFill>
                      <a:schemeClr val="tx1"/>
                    </a:solidFill>
                    <a:effectLst/>
                    <a:latin typeface="+mn-lt"/>
                    <a:ea typeface="+mn-ea"/>
                    <a:cs typeface="+mn-cs"/>
                  </a:rPr>
                  <a:t>为每个螺旋轴的零位位置，那么终端工具坐标系</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在零位状态下的初始位姿矩阵见式（</a:t>
                </a:r>
                <a:r>
                  <a:rPr lang="en-US" altLang="zh-CN" sz="1200" kern="1200" dirty="0">
                    <a:solidFill>
                      <a:schemeClr val="tx1"/>
                    </a:solidFill>
                    <a:effectLst/>
                    <a:latin typeface="+mn-lt"/>
                    <a:ea typeface="+mn-ea"/>
                    <a:cs typeface="+mn-cs"/>
                  </a:rPr>
                  <a:t>3-38</a:t>
                </a:r>
                <a:r>
                  <a:rPr lang="zh-CN" altLang="zh-CN" sz="1200" kern="1200" dirty="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其中，末端</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姿态矩阵可以认为是终端坐标系</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相对基坐标系</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绕</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轴旋转</a:t>
                </a:r>
                <a:r>
                  <a:rPr lang="en-US" altLang="zh-CN" sz="1200" i="0" kern="1200">
                    <a:solidFill>
                      <a:schemeClr val="tx1"/>
                    </a:solidFill>
                    <a:effectLst/>
                    <a:latin typeface="+mn-lt"/>
                    <a:ea typeface="+mn-ea"/>
                    <a:cs typeface="+mn-cs"/>
                  </a:rPr>
                  <a:t>𝜑=</a:t>
                </a:r>
                <a:r>
                  <a:rPr lang="en-US" altLang="zh-CN" sz="1200" kern="1200" dirty="0">
                    <a:solidFill>
                      <a:schemeClr val="tx1"/>
                    </a:solidFill>
                    <a:effectLst/>
                    <a:latin typeface="+mn-lt"/>
                    <a:ea typeface="+mn-ea"/>
                    <a:cs typeface="+mn-cs"/>
                  </a:rPr>
                  <a:t>90</a:t>
                </a:r>
                <a:r>
                  <a:rPr lang="zh-CN" altLang="zh-CN" sz="1200" kern="1200" dirty="0">
                    <a:solidFill>
                      <a:schemeClr val="tx1"/>
                    </a:solidFill>
                    <a:effectLst/>
                    <a:latin typeface="+mn-lt"/>
                    <a:ea typeface="+mn-ea"/>
                    <a:cs typeface="+mn-cs"/>
                  </a:rPr>
                  <a:t>度，其</a:t>
                </a:r>
                <a:r>
                  <a:rPr lang="en-US" altLang="zh-CN" sz="1200" kern="1200" dirty="0">
                    <a:solidFill>
                      <a:schemeClr val="tx1"/>
                    </a:solidFill>
                    <a:effectLst/>
                    <a:latin typeface="+mn-lt"/>
                    <a:ea typeface="+mn-ea"/>
                    <a:cs typeface="+mn-cs"/>
                  </a:rPr>
                  <a:t>3x3</a:t>
                </a:r>
                <a:r>
                  <a:rPr lang="zh-CN" altLang="zh-CN" sz="1200" kern="1200" dirty="0">
                    <a:solidFill>
                      <a:schemeClr val="tx1"/>
                    </a:solidFill>
                    <a:effectLst/>
                    <a:latin typeface="+mn-lt"/>
                    <a:ea typeface="+mn-ea"/>
                    <a:cs typeface="+mn-cs"/>
                  </a:rPr>
                  <a:t>的姿态矩阵为：</a:t>
                </a:r>
              </a:p>
              <a:p>
                <a:r>
                  <a:rPr lang="en-US" altLang="zh-CN" sz="1200" i="0" kern="1200">
                    <a:solidFill>
                      <a:schemeClr val="tx1"/>
                    </a:solidFill>
                    <a:effectLst/>
                    <a:latin typeface="+mn-lt"/>
                    <a:ea typeface="+mn-ea"/>
                    <a:cs typeface="+mn-cs"/>
                  </a:rPr>
                  <a:t>𝑅=</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1&amp;0&amp;0@0&amp;cos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𝜑&amp;−sin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𝜑@0&amp;sin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𝜑&amp;cos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𝜑 )]</a:t>
                </a:r>
                <a:r>
                  <a:rPr lang="en-US" altLang="zh-CN" sz="1200" kern="1200" dirty="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1&amp;0&amp;0@0&amp;0&amp;−1@0&amp;1&amp;0)]</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AUBO-i5</a:t>
                </a:r>
                <a:r>
                  <a:rPr lang="zh-CN" altLang="zh-CN" sz="1200" kern="1200" dirty="0">
                    <a:solidFill>
                      <a:schemeClr val="tx1"/>
                    </a:solidFill>
                    <a:effectLst/>
                    <a:latin typeface="+mn-lt"/>
                    <a:ea typeface="+mn-ea"/>
                    <a:cs typeface="+mn-cs"/>
                  </a:rPr>
                  <a:t>每个轴</a:t>
                </a:r>
                <a:r>
                  <a:rPr lang="en-US" altLang="zh-CN" sz="1200" i="0" kern="1200">
                    <a:solidFill>
                      <a:schemeClr val="tx1"/>
                    </a:solidFill>
                    <a:effectLst/>
                    <a:latin typeface="+mn-lt"/>
                    <a:ea typeface="+mn-ea"/>
                    <a:cs typeface="+mn-cs"/>
                  </a:rPr>
                  <a:t>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都是旋转轴，其运动旋量</a:t>
                </a:r>
                <a:r>
                  <a:rPr lang="en-US" altLang="zh-CN" sz="1200" kern="1200" dirty="0">
                    <a:solidFill>
                      <a:schemeClr val="tx1"/>
                    </a:solidFill>
                    <a:effectLst/>
                    <a:latin typeface="+mn-lt"/>
                    <a:ea typeface="+mn-ea"/>
                    <a:cs typeface="+mn-cs"/>
                  </a:rPr>
                  <a:t>(twist)</a:t>
                </a:r>
                <a:r>
                  <a:rPr lang="zh-CN" altLang="zh-CN" sz="1200" kern="1200" dirty="0">
                    <a:solidFill>
                      <a:schemeClr val="tx1"/>
                    </a:solidFill>
                    <a:effectLst/>
                    <a:latin typeface="+mn-lt"/>
                    <a:ea typeface="+mn-ea"/>
                    <a:cs typeface="+mn-cs"/>
                  </a:rPr>
                  <a:t>可表示为式（</a:t>
                </a:r>
                <a:r>
                  <a:rPr lang="en-US" altLang="zh-CN" sz="1200" kern="1200" dirty="0">
                    <a:solidFill>
                      <a:schemeClr val="tx1"/>
                    </a:solidFill>
                    <a:effectLst/>
                    <a:latin typeface="+mn-lt"/>
                    <a:ea typeface="+mn-ea"/>
                    <a:cs typeface="+mn-cs"/>
                  </a:rPr>
                  <a:t>3-39</a:t>
                </a:r>
                <a:r>
                  <a:rPr lang="zh-CN" altLang="zh-CN" sz="1200" kern="1200" dirty="0">
                    <a:solidFill>
                      <a:schemeClr val="tx1"/>
                    </a:solidFill>
                    <a:effectLst/>
                    <a:latin typeface="+mn-lt"/>
                    <a:ea typeface="+mn-ea"/>
                    <a:cs typeface="+mn-cs"/>
                  </a:rPr>
                  <a:t>）。</a:t>
                </a:r>
              </a:p>
              <a:p>
                <a:r>
                  <a:rPr lang="en-US" altLang="zh-CN" sz="1200" i="0" kern="1200">
                    <a:solidFill>
                      <a:schemeClr val="tx1"/>
                    </a:solidFill>
                    <a:effectLst/>
                    <a:latin typeface="+mn-lt"/>
                    <a:ea typeface="+mn-ea"/>
                    <a:cs typeface="+mn-cs"/>
                  </a:rPr>
                  <a:t>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𝜐</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𝑅^6×1</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3-39</a:t>
                </a:r>
                <a:r>
                  <a:rPr lang="zh-CN" altLang="zh-CN" sz="1200" kern="1200" dirty="0">
                    <a:solidFill>
                      <a:schemeClr val="tx1"/>
                    </a:solidFill>
                    <a:effectLst/>
                    <a:latin typeface="+mn-lt"/>
                    <a:ea typeface="+mn-ea"/>
                    <a:cs typeface="+mn-cs"/>
                  </a:rPr>
                  <a:t>）</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53</a:t>
            </a:fld>
            <a:endParaRPr lang="zh-CN" altLang="en-US"/>
          </a:p>
        </p:txBody>
      </p:sp>
    </p:spTree>
    <p:extLst>
      <p:ext uri="{BB962C8B-B14F-4D97-AF65-F5344CB8AC3E}">
        <p14:creationId xmlns:p14="http://schemas.microsoft.com/office/powerpoint/2010/main" val="40659669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3.19</a:t>
                </a:r>
                <a:r>
                  <a:rPr lang="zh-CN" altLang="zh-CN" sz="1200" kern="1200" dirty="0">
                    <a:solidFill>
                      <a:schemeClr val="tx1"/>
                    </a:solidFill>
                    <a:effectLst/>
                    <a:latin typeface="+mn-lt"/>
                    <a:ea typeface="+mn-ea"/>
                    <a:cs typeface="+mn-cs"/>
                  </a:rPr>
                  <a:t>中，</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的方向和基坐标系</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轴重合，所以其瞬时角速度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𝑥</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𝑦</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𝑧</m:t>
                            </m:r>
                          </m:sub>
                        </m:sSub>
                      </m:e>
                    </m:d>
                    <m:r>
                      <a:rPr lang="en-US" altLang="zh-CN" sz="1200" i="1" kern="1200">
                        <a:solidFill>
                          <a:schemeClr val="tx1"/>
                        </a:solidFill>
                        <a:effectLst/>
                        <a:latin typeface="Cambria Math" panose="02040503050406030204" pitchFamily="18" charset="0"/>
                        <a:ea typeface="+mn-ea"/>
                        <a:cs typeface="+mn-cs"/>
                      </a:rPr>
                      <m:t>=(0,0,1)</m:t>
                    </m:r>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线速度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𝑣</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𝑣</m:t>
                        </m:r>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𝑣</m:t>
                        </m:r>
                        <m:r>
                          <a:rPr lang="en-US" altLang="zh-CN" sz="1200" i="1" kern="1200">
                            <a:solidFill>
                              <a:schemeClr val="tx1"/>
                            </a:solidFill>
                            <a:effectLst/>
                            <a:latin typeface="Cambria Math" panose="02040503050406030204" pitchFamily="18" charset="0"/>
                            <a:ea typeface="+mn-ea"/>
                            <a:cs typeface="+mn-cs"/>
                          </a:rPr>
                          <m:t>3</m:t>
                        </m:r>
                      </m:e>
                    </m:d>
                    <m:r>
                      <a:rPr lang="en-US" altLang="zh-CN" sz="1200" i="1" kern="1200">
                        <a:solidFill>
                          <a:schemeClr val="tx1"/>
                        </a:solidFill>
                        <a:effectLst/>
                        <a:latin typeface="Cambria Math" panose="02040503050406030204" pitchFamily="18" charset="0"/>
                        <a:ea typeface="+mn-ea"/>
                        <a:cs typeface="+mn-cs"/>
                      </a:rPr>
                      <m:t>=(0,0,0)</m:t>
                    </m:r>
                  </m:oMath>
                </a14:m>
                <a:r>
                  <a:rPr lang="zh-CN" altLang="zh-CN" sz="1200" kern="1200" dirty="0">
                    <a:solidFill>
                      <a:schemeClr val="tx1"/>
                    </a:solidFill>
                    <a:effectLst/>
                    <a:latin typeface="+mn-lt"/>
                    <a:ea typeface="+mn-ea"/>
                    <a:cs typeface="+mn-cs"/>
                  </a:rPr>
                  <a:t>（为计算简便，将关节</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上的点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选在基坐标系</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的原点）；</a:t>
                </a:r>
              </a:p>
              <a:p>
                <a:r>
                  <a:rPr lang="en-US" altLang="zh-CN" sz="1200" kern="1200" dirty="0">
                    <a:solidFill>
                      <a:schemeClr val="tx1"/>
                    </a:solidFill>
                    <a:effectLst/>
                    <a:latin typeface="+mn-lt"/>
                    <a:ea typeface="+mn-ea"/>
                    <a:cs typeface="+mn-cs"/>
                  </a:rPr>
                  <a:t>	</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的方向和基坐标系</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轴重合</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方向相反，所以其瞬时角速度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𝑥</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𝑦</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𝑧</m:t>
                            </m:r>
                          </m:sub>
                        </m:sSub>
                      </m:e>
                    </m:d>
                    <m:r>
                      <a:rPr lang="en-US" altLang="zh-CN" sz="1200" i="1" kern="1200">
                        <a:solidFill>
                          <a:schemeClr val="tx1"/>
                        </a:solidFill>
                        <a:effectLst/>
                        <a:latin typeface="Cambria Math" panose="02040503050406030204" pitchFamily="18" charset="0"/>
                        <a:ea typeface="+mn-ea"/>
                        <a:cs typeface="+mn-cs"/>
                      </a:rPr>
                      <m:t>=(0,−1,0)</m:t>
                    </m:r>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选择螺旋轴</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的基点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=(0,0,</m:t>
                    </m:r>
                    <m:r>
                      <a:rPr lang="en-US" altLang="zh-CN" sz="1200" i="1" kern="1200">
                        <a:solidFill>
                          <a:schemeClr val="tx1"/>
                        </a:solidFill>
                        <a:effectLst/>
                        <a:latin typeface="Cambria Math" panose="02040503050406030204" pitchFamily="18" charset="0"/>
                        <a:ea typeface="+mn-ea"/>
                        <a:cs typeface="+mn-cs"/>
                      </a:rPr>
                      <m:t>𝐻</m:t>
                    </m:r>
                    <m:r>
                      <a:rPr lang="en-US" altLang="zh-CN" sz="1200" i="1" kern="1200">
                        <a:solidFill>
                          <a:schemeClr val="tx1"/>
                        </a:solidFill>
                        <a:effectLst/>
                        <a:latin typeface="Cambria Math" panose="02040503050406030204" pitchFamily="18" charset="0"/>
                        <a:ea typeface="+mn-ea"/>
                        <a:cs typeface="+mn-cs"/>
                      </a:rPr>
                      <m:t>1)</m:t>
                    </m:r>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线速度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𝐻</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,0,0)</m:t>
                    </m:r>
                  </m:oMath>
                </a14:m>
                <a:r>
                  <a:rPr lang="zh-CN" altLang="zh-CN" sz="1200" kern="1200" dirty="0">
                    <a:solidFill>
                      <a:schemeClr val="tx1"/>
                    </a:solidFill>
                    <a:effectLst/>
                    <a:latin typeface="+mn-lt"/>
                    <a:ea typeface="+mn-ea"/>
                    <a:cs typeface="+mn-cs"/>
                  </a:rPr>
                  <a:t>；</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3</m:t>
                        </m:r>
                      </m:sub>
                    </m:sSub>
                  </m:oMath>
                </a14:m>
                <a:r>
                  <a:rPr lang="zh-CN" altLang="zh-CN" sz="1200" kern="1200" dirty="0">
                    <a:solidFill>
                      <a:schemeClr val="tx1"/>
                    </a:solidFill>
                    <a:effectLst/>
                    <a:latin typeface="+mn-lt"/>
                    <a:ea typeface="+mn-ea"/>
                    <a:cs typeface="+mn-cs"/>
                  </a:rPr>
                  <a:t>的方向和基坐标系</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轴重合</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方向相反，所以其瞬时角速度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3</m:t>
                            </m:r>
                            <m:r>
                              <a:rPr lang="en-US" altLang="zh-CN" sz="1200" i="1" kern="1200">
                                <a:solidFill>
                                  <a:schemeClr val="tx1"/>
                                </a:solidFill>
                                <a:effectLst/>
                                <a:latin typeface="Cambria Math" panose="02040503050406030204" pitchFamily="18" charset="0"/>
                                <a:ea typeface="+mn-ea"/>
                                <a:cs typeface="+mn-cs"/>
                              </a:rPr>
                              <m:t>𝑥</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3</m:t>
                            </m:r>
                            <m:r>
                              <a:rPr lang="en-US" altLang="zh-CN" sz="1200" i="1" kern="1200">
                                <a:solidFill>
                                  <a:schemeClr val="tx1"/>
                                </a:solidFill>
                                <a:effectLst/>
                                <a:latin typeface="Cambria Math" panose="02040503050406030204" pitchFamily="18" charset="0"/>
                                <a:ea typeface="+mn-ea"/>
                                <a:cs typeface="+mn-cs"/>
                              </a:rPr>
                              <m:t>𝑦</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3</m:t>
                            </m:r>
                            <m:r>
                              <a:rPr lang="en-US" altLang="zh-CN" sz="1200" i="1" kern="1200">
                                <a:solidFill>
                                  <a:schemeClr val="tx1"/>
                                </a:solidFill>
                                <a:effectLst/>
                                <a:latin typeface="Cambria Math" panose="02040503050406030204" pitchFamily="18" charset="0"/>
                                <a:ea typeface="+mn-ea"/>
                                <a:cs typeface="+mn-cs"/>
                              </a:rPr>
                              <m:t>𝑧</m:t>
                            </m:r>
                          </m:sub>
                        </m:sSub>
                      </m:e>
                    </m:d>
                    <m:r>
                      <a:rPr lang="en-US" altLang="zh-CN" sz="1200" i="1" kern="1200">
                        <a:solidFill>
                          <a:schemeClr val="tx1"/>
                        </a:solidFill>
                        <a:effectLst/>
                        <a:latin typeface="Cambria Math" panose="02040503050406030204" pitchFamily="18" charset="0"/>
                        <a:ea typeface="+mn-ea"/>
                        <a:cs typeface="+mn-cs"/>
                      </a:rPr>
                      <m:t>=(0,−1,0)</m:t>
                    </m:r>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选择螺旋轴</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3</m:t>
                        </m:r>
                      </m:sub>
                    </m:sSub>
                  </m:oMath>
                </a14:m>
                <a:r>
                  <a:rPr lang="zh-CN" altLang="zh-CN" sz="1200" kern="1200" dirty="0">
                    <a:solidFill>
                      <a:schemeClr val="tx1"/>
                    </a:solidFill>
                    <a:effectLst/>
                    <a:latin typeface="+mn-lt"/>
                    <a:ea typeface="+mn-ea"/>
                    <a:cs typeface="+mn-cs"/>
                  </a:rPr>
                  <a:t>的基点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𝐿</m:t>
                    </m:r>
                    <m:r>
                      <a:rPr lang="en-US" altLang="zh-CN" sz="1200" i="1" kern="1200">
                        <a:solidFill>
                          <a:schemeClr val="tx1"/>
                        </a:solidFill>
                        <a:effectLst/>
                        <a:latin typeface="Cambria Math" panose="02040503050406030204" pitchFamily="18" charset="0"/>
                        <a:ea typeface="+mn-ea"/>
                        <a:cs typeface="+mn-cs"/>
                      </a:rPr>
                      <m:t>1,0,</m:t>
                    </m:r>
                    <m:r>
                      <a:rPr lang="en-US" altLang="zh-CN" sz="1200" i="1" kern="1200">
                        <a:solidFill>
                          <a:schemeClr val="tx1"/>
                        </a:solidFill>
                        <a:effectLst/>
                        <a:latin typeface="Cambria Math" panose="02040503050406030204" pitchFamily="18" charset="0"/>
                        <a:ea typeface="+mn-ea"/>
                        <a:cs typeface="+mn-cs"/>
                      </a:rPr>
                      <m:t>𝐻</m:t>
                    </m:r>
                    <m:r>
                      <a:rPr lang="en-US" altLang="zh-CN" sz="1200" i="1" kern="1200">
                        <a:solidFill>
                          <a:schemeClr val="tx1"/>
                        </a:solidFill>
                        <a:effectLst/>
                        <a:latin typeface="Cambria Math" panose="02040503050406030204" pitchFamily="18" charset="0"/>
                        <a:ea typeface="+mn-ea"/>
                        <a:cs typeface="+mn-cs"/>
                      </a:rPr>
                      <m:t>1)</m:t>
                    </m:r>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线速度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𝐻</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𝐿</m:t>
                    </m:r>
                    <m:r>
                      <a:rPr lang="en-US" altLang="zh-CN" sz="1200" i="1" kern="1200">
                        <a:solidFill>
                          <a:schemeClr val="tx1"/>
                        </a:solidFill>
                        <a:effectLst/>
                        <a:latin typeface="Cambria Math" panose="02040503050406030204" pitchFamily="18" charset="0"/>
                        <a:ea typeface="+mn-ea"/>
                        <a:cs typeface="+mn-cs"/>
                      </a:rPr>
                      <m:t>1)</m:t>
                    </m:r>
                  </m:oMath>
                </a14:m>
                <a:r>
                  <a:rPr lang="zh-CN" altLang="zh-CN" sz="1200" kern="1200" dirty="0">
                    <a:solidFill>
                      <a:schemeClr val="tx1"/>
                    </a:solidFill>
                    <a:effectLst/>
                    <a:latin typeface="+mn-lt"/>
                    <a:ea typeface="+mn-ea"/>
                    <a:cs typeface="+mn-cs"/>
                  </a:rPr>
                  <a:t>；</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4</m:t>
                        </m:r>
                      </m:sub>
                    </m:sSub>
                  </m:oMath>
                </a14:m>
                <a:r>
                  <a:rPr lang="zh-CN" altLang="zh-CN" sz="1200" kern="1200" dirty="0">
                    <a:solidFill>
                      <a:schemeClr val="tx1"/>
                    </a:solidFill>
                    <a:effectLst/>
                    <a:latin typeface="+mn-lt"/>
                    <a:ea typeface="+mn-ea"/>
                    <a:cs typeface="+mn-cs"/>
                  </a:rPr>
                  <a:t>的方向和基坐标系</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轴重合</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方向相反，所以其瞬时角速度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4</m:t>
                        </m:r>
                      </m:sub>
                    </m:sSub>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4</m:t>
                            </m:r>
                            <m:r>
                              <a:rPr lang="en-US" altLang="zh-CN" sz="1200" i="1" kern="1200">
                                <a:solidFill>
                                  <a:schemeClr val="tx1"/>
                                </a:solidFill>
                                <a:effectLst/>
                                <a:latin typeface="Cambria Math" panose="02040503050406030204" pitchFamily="18" charset="0"/>
                                <a:ea typeface="+mn-ea"/>
                                <a:cs typeface="+mn-cs"/>
                              </a:rPr>
                              <m:t>𝑥</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4</m:t>
                            </m:r>
                            <m:r>
                              <a:rPr lang="en-US" altLang="zh-CN" sz="1200" i="1" kern="1200">
                                <a:solidFill>
                                  <a:schemeClr val="tx1"/>
                                </a:solidFill>
                                <a:effectLst/>
                                <a:latin typeface="Cambria Math" panose="02040503050406030204" pitchFamily="18" charset="0"/>
                                <a:ea typeface="+mn-ea"/>
                                <a:cs typeface="+mn-cs"/>
                              </a:rPr>
                              <m:t>𝑦</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4</m:t>
                            </m:r>
                            <m:r>
                              <a:rPr lang="en-US" altLang="zh-CN" sz="1200" i="1" kern="1200">
                                <a:solidFill>
                                  <a:schemeClr val="tx1"/>
                                </a:solidFill>
                                <a:effectLst/>
                                <a:latin typeface="Cambria Math" panose="02040503050406030204" pitchFamily="18" charset="0"/>
                                <a:ea typeface="+mn-ea"/>
                                <a:cs typeface="+mn-cs"/>
                              </a:rPr>
                              <m:t>𝑧</m:t>
                            </m:r>
                          </m:sub>
                        </m:sSub>
                      </m:e>
                    </m:d>
                    <m:r>
                      <a:rPr lang="en-US" altLang="zh-CN" sz="1200" i="1" kern="1200">
                        <a:solidFill>
                          <a:schemeClr val="tx1"/>
                        </a:solidFill>
                        <a:effectLst/>
                        <a:latin typeface="Cambria Math" panose="02040503050406030204" pitchFamily="18" charset="0"/>
                        <a:ea typeface="+mn-ea"/>
                        <a:cs typeface="+mn-cs"/>
                      </a:rPr>
                      <m:t>=(0,−1,0)</m:t>
                    </m:r>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选择螺旋轴</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4</m:t>
                        </m:r>
                      </m:sub>
                    </m:sSub>
                  </m:oMath>
                </a14:m>
                <a:r>
                  <a:rPr lang="zh-CN" altLang="zh-CN" sz="1200" kern="1200" dirty="0">
                    <a:solidFill>
                      <a:schemeClr val="tx1"/>
                    </a:solidFill>
                    <a:effectLst/>
                    <a:latin typeface="+mn-lt"/>
                    <a:ea typeface="+mn-ea"/>
                    <a:cs typeface="+mn-cs"/>
                  </a:rPr>
                  <a:t>的基点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4</m:t>
                        </m:r>
                      </m:sub>
                    </m:sSub>
                    <m:r>
                      <a:rPr lang="en-US" altLang="zh-CN" sz="1200" i="1" kern="1200">
                        <a:solidFill>
                          <a:schemeClr val="tx1"/>
                        </a:solidFill>
                        <a:effectLst/>
                        <a:latin typeface="Cambria Math" panose="02040503050406030204" pitchFamily="18" charset="0"/>
                        <a:ea typeface="+mn-ea"/>
                        <a:cs typeface="+mn-cs"/>
                      </a:rPr>
                      <m:t>=(</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𝐿</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𝐿</m:t>
                    </m:r>
                    <m:r>
                      <a:rPr lang="en-US" altLang="zh-CN" sz="1200" i="1" kern="1200">
                        <a:solidFill>
                          <a:schemeClr val="tx1"/>
                        </a:solidFill>
                        <a:effectLst/>
                        <a:latin typeface="Cambria Math" panose="02040503050406030204" pitchFamily="18" charset="0"/>
                        <a:ea typeface="+mn-ea"/>
                        <a:cs typeface="+mn-cs"/>
                      </a:rPr>
                      <m:t>2,0,</m:t>
                    </m:r>
                    <m:r>
                      <a:rPr lang="en-US" altLang="zh-CN" sz="1200" i="1" kern="1200">
                        <a:solidFill>
                          <a:schemeClr val="tx1"/>
                        </a:solidFill>
                        <a:effectLst/>
                        <a:latin typeface="Cambria Math" panose="02040503050406030204" pitchFamily="18" charset="0"/>
                        <a:ea typeface="+mn-ea"/>
                        <a:cs typeface="+mn-cs"/>
                      </a:rPr>
                      <m:t>𝐻</m:t>
                    </m:r>
                    <m:r>
                      <a:rPr lang="en-US" altLang="zh-CN" sz="1200" i="1" kern="1200">
                        <a:solidFill>
                          <a:schemeClr val="tx1"/>
                        </a:solidFill>
                        <a:effectLst/>
                        <a:latin typeface="Cambria Math" panose="02040503050406030204" pitchFamily="18" charset="0"/>
                        <a:ea typeface="+mn-ea"/>
                        <a:cs typeface="+mn-cs"/>
                      </a:rPr>
                      <m:t>1)</m:t>
                    </m:r>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线速度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4</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4</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4</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𝐻</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𝐿</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𝐿</m:t>
                    </m:r>
                    <m:r>
                      <a:rPr lang="en-US" altLang="zh-CN" sz="1200" i="1" kern="1200">
                        <a:solidFill>
                          <a:schemeClr val="tx1"/>
                        </a:solidFill>
                        <a:effectLst/>
                        <a:latin typeface="Cambria Math" panose="02040503050406030204" pitchFamily="18" charset="0"/>
                        <a:ea typeface="+mn-ea"/>
                        <a:cs typeface="+mn-cs"/>
                      </a:rPr>
                      <m:t>2)</m:t>
                    </m:r>
                  </m:oMath>
                </a14:m>
                <a:r>
                  <a:rPr lang="zh-CN" altLang="zh-CN" sz="1200" kern="1200" dirty="0">
                    <a:solidFill>
                      <a:schemeClr val="tx1"/>
                    </a:solidFill>
                    <a:effectLst/>
                    <a:latin typeface="+mn-lt"/>
                    <a:ea typeface="+mn-ea"/>
                    <a:cs typeface="+mn-cs"/>
                  </a:rPr>
                  <a:t>；</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5</m:t>
                        </m:r>
                      </m:sub>
                    </m:sSub>
                  </m:oMath>
                </a14:m>
                <a:r>
                  <a:rPr lang="zh-CN" altLang="zh-CN" sz="1200" kern="1200" dirty="0">
                    <a:solidFill>
                      <a:schemeClr val="tx1"/>
                    </a:solidFill>
                    <a:effectLst/>
                    <a:latin typeface="+mn-lt"/>
                    <a:ea typeface="+mn-ea"/>
                    <a:cs typeface="+mn-cs"/>
                  </a:rPr>
                  <a:t>的方向和基坐标系</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轴重合</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方向相反，所以其瞬时角速度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5</m:t>
                        </m:r>
                      </m:sub>
                    </m:sSub>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5</m:t>
                            </m:r>
                            <m:r>
                              <a:rPr lang="en-US" altLang="zh-CN" sz="1200" i="1" kern="1200">
                                <a:solidFill>
                                  <a:schemeClr val="tx1"/>
                                </a:solidFill>
                                <a:effectLst/>
                                <a:latin typeface="Cambria Math" panose="02040503050406030204" pitchFamily="18" charset="0"/>
                                <a:ea typeface="+mn-ea"/>
                                <a:cs typeface="+mn-cs"/>
                              </a:rPr>
                              <m:t>𝑥</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5</m:t>
                            </m:r>
                            <m:r>
                              <a:rPr lang="en-US" altLang="zh-CN" sz="1200" i="1" kern="1200">
                                <a:solidFill>
                                  <a:schemeClr val="tx1"/>
                                </a:solidFill>
                                <a:effectLst/>
                                <a:latin typeface="Cambria Math" panose="02040503050406030204" pitchFamily="18" charset="0"/>
                                <a:ea typeface="+mn-ea"/>
                                <a:cs typeface="+mn-cs"/>
                              </a:rPr>
                              <m:t>𝑦</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5</m:t>
                            </m:r>
                            <m:r>
                              <a:rPr lang="en-US" altLang="zh-CN" sz="1200" i="1" kern="1200">
                                <a:solidFill>
                                  <a:schemeClr val="tx1"/>
                                </a:solidFill>
                                <a:effectLst/>
                                <a:latin typeface="Cambria Math" panose="02040503050406030204" pitchFamily="18" charset="0"/>
                                <a:ea typeface="+mn-ea"/>
                                <a:cs typeface="+mn-cs"/>
                              </a:rPr>
                              <m:t>𝑧</m:t>
                            </m:r>
                          </m:sub>
                        </m:sSub>
                      </m:e>
                    </m:d>
                    <m:r>
                      <a:rPr lang="en-US" altLang="zh-CN" sz="1200" i="1" kern="1200">
                        <a:solidFill>
                          <a:schemeClr val="tx1"/>
                        </a:solidFill>
                        <a:effectLst/>
                        <a:latin typeface="Cambria Math" panose="02040503050406030204" pitchFamily="18" charset="0"/>
                        <a:ea typeface="+mn-ea"/>
                        <a:cs typeface="+mn-cs"/>
                      </a:rPr>
                      <m:t>=(0,0,</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选择螺旋轴</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5</m:t>
                        </m:r>
                      </m:sub>
                    </m:sSub>
                  </m:oMath>
                </a14:m>
                <a:r>
                  <a:rPr lang="zh-CN" altLang="zh-CN" sz="1200" kern="1200" dirty="0">
                    <a:solidFill>
                      <a:schemeClr val="tx1"/>
                    </a:solidFill>
                    <a:effectLst/>
                    <a:latin typeface="+mn-lt"/>
                    <a:ea typeface="+mn-ea"/>
                    <a:cs typeface="+mn-cs"/>
                  </a:rPr>
                  <a:t>的基点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5</m:t>
                        </m:r>
                      </m:sub>
                    </m:sSub>
                    <m:r>
                      <a:rPr lang="en-US" altLang="zh-CN" sz="1200" i="1" kern="1200">
                        <a:solidFill>
                          <a:schemeClr val="tx1"/>
                        </a:solidFill>
                        <a:effectLst/>
                        <a:latin typeface="Cambria Math" panose="02040503050406030204" pitchFamily="18" charset="0"/>
                        <a:ea typeface="+mn-ea"/>
                        <a:cs typeface="+mn-cs"/>
                      </a:rPr>
                      <m:t>=(</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𝐿</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𝐿</m:t>
                    </m:r>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𝑊</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𝐻</m:t>
                    </m:r>
                    <m:r>
                      <a:rPr lang="en-US" altLang="zh-CN" sz="1200" i="1" kern="1200">
                        <a:solidFill>
                          <a:schemeClr val="tx1"/>
                        </a:solidFill>
                        <a:effectLst/>
                        <a:latin typeface="Cambria Math" panose="02040503050406030204" pitchFamily="18" charset="0"/>
                        <a:ea typeface="+mn-ea"/>
                        <a:cs typeface="+mn-cs"/>
                      </a:rPr>
                      <m:t>1)</m:t>
                    </m:r>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线速度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5</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5</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5</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𝑊</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𝐿</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𝐿</m:t>
                    </m:r>
                    <m:r>
                      <a:rPr lang="en-US" altLang="zh-CN" sz="1200" i="1" kern="1200">
                        <a:solidFill>
                          <a:schemeClr val="tx1"/>
                        </a:solidFill>
                        <a:effectLst/>
                        <a:latin typeface="Cambria Math" panose="02040503050406030204" pitchFamily="18" charset="0"/>
                        <a:ea typeface="+mn-ea"/>
                        <a:cs typeface="+mn-cs"/>
                      </a:rPr>
                      <m:t>2,0)</m:t>
                    </m:r>
                  </m:oMath>
                </a14:m>
                <a:r>
                  <a:rPr lang="zh-CN" altLang="zh-CN" sz="1200" kern="1200" dirty="0">
                    <a:solidFill>
                      <a:schemeClr val="tx1"/>
                    </a:solidFill>
                    <a:effectLst/>
                    <a:latin typeface="+mn-lt"/>
                    <a:ea typeface="+mn-ea"/>
                    <a:cs typeface="+mn-cs"/>
                  </a:rPr>
                  <a:t>；</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6</m:t>
                        </m:r>
                      </m:sub>
                    </m:sSub>
                  </m:oMath>
                </a14:m>
                <a:r>
                  <a:rPr lang="zh-CN" altLang="zh-CN" sz="1200" kern="1200" dirty="0">
                    <a:solidFill>
                      <a:schemeClr val="tx1"/>
                    </a:solidFill>
                    <a:effectLst/>
                    <a:latin typeface="+mn-lt"/>
                    <a:ea typeface="+mn-ea"/>
                    <a:cs typeface="+mn-cs"/>
                  </a:rPr>
                  <a:t>的方向和基坐标系</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轴重合</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方向相反，所以其瞬时角速度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6</m:t>
                        </m:r>
                      </m:sub>
                    </m:sSub>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6</m:t>
                            </m:r>
                            <m:r>
                              <a:rPr lang="en-US" altLang="zh-CN" sz="1200" i="1" kern="1200">
                                <a:solidFill>
                                  <a:schemeClr val="tx1"/>
                                </a:solidFill>
                                <a:effectLst/>
                                <a:latin typeface="Cambria Math" panose="02040503050406030204" pitchFamily="18" charset="0"/>
                                <a:ea typeface="+mn-ea"/>
                                <a:cs typeface="+mn-cs"/>
                              </a:rPr>
                              <m:t>𝑥</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6</m:t>
                            </m:r>
                            <m:r>
                              <a:rPr lang="en-US" altLang="zh-CN" sz="1200" i="1" kern="1200">
                                <a:solidFill>
                                  <a:schemeClr val="tx1"/>
                                </a:solidFill>
                                <a:effectLst/>
                                <a:latin typeface="Cambria Math" panose="02040503050406030204" pitchFamily="18" charset="0"/>
                                <a:ea typeface="+mn-ea"/>
                                <a:cs typeface="+mn-cs"/>
                              </a:rPr>
                              <m:t>𝑦</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6</m:t>
                            </m:r>
                            <m:r>
                              <a:rPr lang="en-US" altLang="zh-CN" sz="1200" i="1" kern="1200">
                                <a:solidFill>
                                  <a:schemeClr val="tx1"/>
                                </a:solidFill>
                                <a:effectLst/>
                                <a:latin typeface="Cambria Math" panose="02040503050406030204" pitchFamily="18" charset="0"/>
                                <a:ea typeface="+mn-ea"/>
                                <a:cs typeface="+mn-cs"/>
                              </a:rPr>
                              <m:t>𝑧</m:t>
                            </m:r>
                          </m:sub>
                        </m:sSub>
                      </m:e>
                    </m:d>
                    <m:r>
                      <a:rPr lang="en-US" altLang="zh-CN" sz="1200" i="1" kern="1200">
                        <a:solidFill>
                          <a:schemeClr val="tx1"/>
                        </a:solidFill>
                        <a:effectLst/>
                        <a:latin typeface="Cambria Math" panose="02040503050406030204" pitchFamily="18" charset="0"/>
                        <a:ea typeface="+mn-ea"/>
                        <a:cs typeface="+mn-cs"/>
                      </a:rPr>
                      <m:t>=(0,−1,0)</m:t>
                    </m:r>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选择螺旋轴</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6</m:t>
                        </m:r>
                      </m:sub>
                    </m:sSub>
                  </m:oMath>
                </a14:m>
                <a:r>
                  <a:rPr lang="zh-CN" altLang="zh-CN" sz="1200" kern="1200" dirty="0">
                    <a:solidFill>
                      <a:schemeClr val="tx1"/>
                    </a:solidFill>
                    <a:effectLst/>
                    <a:latin typeface="+mn-lt"/>
                    <a:ea typeface="+mn-ea"/>
                    <a:cs typeface="+mn-cs"/>
                  </a:rPr>
                  <a:t>的基点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6</m:t>
                        </m:r>
                      </m:sub>
                    </m:sSub>
                    <m:r>
                      <a:rPr lang="en-US" altLang="zh-CN" sz="1200" i="1" kern="1200">
                        <a:solidFill>
                          <a:schemeClr val="tx1"/>
                        </a:solidFill>
                        <a:effectLst/>
                        <a:latin typeface="Cambria Math" panose="02040503050406030204" pitchFamily="18" charset="0"/>
                        <a:ea typeface="+mn-ea"/>
                        <a:cs typeface="+mn-cs"/>
                      </a:rPr>
                      <m:t>=(</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𝐿</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𝐿</m:t>
                    </m:r>
                    <m:r>
                      <a:rPr lang="en-US" altLang="zh-CN" sz="1200" i="1" kern="1200">
                        <a:solidFill>
                          <a:schemeClr val="tx1"/>
                        </a:solidFill>
                        <a:effectLst/>
                        <a:latin typeface="Cambria Math" panose="02040503050406030204" pitchFamily="18" charset="0"/>
                        <a:ea typeface="+mn-ea"/>
                        <a:cs typeface="+mn-cs"/>
                      </a:rPr>
                      <m:t>2,0,</m:t>
                    </m:r>
                    <m:r>
                      <a:rPr lang="en-US" altLang="zh-CN" sz="1200" i="1" kern="1200">
                        <a:solidFill>
                          <a:schemeClr val="tx1"/>
                        </a:solidFill>
                        <a:effectLst/>
                        <a:latin typeface="Cambria Math" panose="02040503050406030204" pitchFamily="18" charset="0"/>
                        <a:ea typeface="+mn-ea"/>
                        <a:cs typeface="+mn-cs"/>
                      </a:rPr>
                      <m:t>𝐻</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𝐻</m:t>
                    </m:r>
                    <m:r>
                      <a:rPr lang="en-US" altLang="zh-CN" sz="1200" i="1" kern="1200">
                        <a:solidFill>
                          <a:schemeClr val="tx1"/>
                        </a:solidFill>
                        <a:effectLst/>
                        <a:latin typeface="Cambria Math" panose="02040503050406030204" pitchFamily="18" charset="0"/>
                        <a:ea typeface="+mn-ea"/>
                        <a:cs typeface="+mn-cs"/>
                      </a:rPr>
                      <m:t>2)</m:t>
                    </m:r>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线速度</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𝑣</m:t>
                        </m:r>
                      </m:e>
                      <m:sub>
                        <m:r>
                          <a:rPr lang="en-US" altLang="zh-CN" sz="1200" i="1" kern="1200">
                            <a:solidFill>
                              <a:schemeClr val="tx1"/>
                            </a:solidFill>
                            <a:effectLst/>
                            <a:latin typeface="Cambria Math" panose="02040503050406030204" pitchFamily="18" charset="0"/>
                            <a:ea typeface="+mn-ea"/>
                            <a:cs typeface="+mn-cs"/>
                          </a:rPr>
                          <m:t>6</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6</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6</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𝐻</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𝐻</m:t>
                    </m:r>
                    <m:r>
                      <a:rPr lang="en-US" altLang="zh-CN" sz="1200" i="1" kern="1200">
                        <a:solidFill>
                          <a:schemeClr val="tx1"/>
                        </a:solidFill>
                        <a:effectLst/>
                        <a:latin typeface="Cambria Math" panose="02040503050406030204" pitchFamily="18" charset="0"/>
                        <a:ea typeface="+mn-ea"/>
                        <a:cs typeface="+mn-cs"/>
                      </a:rPr>
                      <m:t>2,0,</m:t>
                    </m:r>
                    <m:r>
                      <a:rPr lang="en-US" altLang="zh-CN" sz="1200" i="1" kern="1200">
                        <a:solidFill>
                          <a:schemeClr val="tx1"/>
                        </a:solidFill>
                        <a:effectLst/>
                        <a:latin typeface="Cambria Math" panose="02040503050406030204" pitchFamily="18" charset="0"/>
                        <a:ea typeface="+mn-ea"/>
                        <a:cs typeface="+mn-cs"/>
                      </a:rPr>
                      <m:t>𝐿</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𝐿</m:t>
                    </m:r>
                    <m:r>
                      <a:rPr lang="en-US" altLang="zh-CN" sz="1200" i="1" kern="1200">
                        <a:solidFill>
                          <a:schemeClr val="tx1"/>
                        </a:solidFill>
                        <a:effectLst/>
                        <a:latin typeface="Cambria Math" panose="02040503050406030204" pitchFamily="18" charset="0"/>
                        <a:ea typeface="+mn-ea"/>
                        <a:cs typeface="+mn-cs"/>
                      </a:rPr>
                      <m:t>2)</m:t>
                    </m:r>
                  </m:oMath>
                </a14:m>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由此，螺旋轴的</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m:rPr>
                            <m:sty m:val="p"/>
                          </m:rPr>
                          <a:rPr lang="en-US" altLang="zh-CN" sz="1200" kern="1200">
                            <a:solidFill>
                              <a:schemeClr val="tx1"/>
                            </a:solidFill>
                            <a:effectLst/>
                            <a:latin typeface="Cambria Math" panose="02040503050406030204" pitchFamily="18" charset="0"/>
                            <a:ea typeface="+mn-ea"/>
                            <a:cs typeface="+mn-cs"/>
                          </a:rPr>
                          <m:t>ω</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𝜈</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如表</a:t>
                </a:r>
                <a:r>
                  <a:rPr lang="en-US" altLang="zh-CN" sz="1200" kern="1200" dirty="0">
                    <a:solidFill>
                      <a:schemeClr val="tx1"/>
                    </a:solidFill>
                    <a:effectLst/>
                    <a:latin typeface="+mn-lt"/>
                    <a:ea typeface="+mn-ea"/>
                    <a:cs typeface="+mn-cs"/>
                  </a:rPr>
                  <a:t>3.5</a:t>
                </a:r>
                <a:r>
                  <a:rPr lang="zh-CN" altLang="zh-CN" sz="1200" kern="1200" dirty="0">
                    <a:solidFill>
                      <a:schemeClr val="tx1"/>
                    </a:solidFill>
                    <a:effectLst/>
                    <a:latin typeface="+mn-lt"/>
                    <a:ea typeface="+mn-ea"/>
                    <a:cs typeface="+mn-cs"/>
                  </a:rPr>
                  <a:t>所示。</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3.19</a:t>
                </a:r>
                <a:r>
                  <a:rPr lang="zh-CN" altLang="zh-CN" sz="1200" kern="1200" dirty="0">
                    <a:solidFill>
                      <a:schemeClr val="tx1"/>
                    </a:solidFill>
                    <a:effectLst/>
                    <a:latin typeface="+mn-lt"/>
                    <a:ea typeface="+mn-ea"/>
                    <a:cs typeface="+mn-cs"/>
                  </a:rPr>
                  <a:t>中，</a:t>
                </a:r>
                <a:r>
                  <a:rPr lang="en-US" altLang="zh-CN" sz="1200" i="0" kern="1200">
                    <a:solidFill>
                      <a:schemeClr val="tx1"/>
                    </a:solidFill>
                    <a:effectLst/>
                    <a:latin typeface="+mn-lt"/>
                    <a:ea typeface="+mn-ea"/>
                    <a:cs typeface="+mn-cs"/>
                  </a:rPr>
                  <a:t>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的方向和基坐标系</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轴重合，所以其瞬时角速度</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1𝑥,𝜔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1𝑦,𝜔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1𝑧 )=(0,0,1)</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线速度</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𝑣1,𝑣2,𝑣3)=(0,0,0)</a:t>
                </a:r>
                <a:r>
                  <a:rPr lang="zh-CN" altLang="zh-CN" sz="1200" kern="1200" dirty="0">
                    <a:solidFill>
                      <a:schemeClr val="tx1"/>
                    </a:solidFill>
                    <a:effectLst/>
                    <a:latin typeface="+mn-lt"/>
                    <a:ea typeface="+mn-ea"/>
                    <a:cs typeface="+mn-cs"/>
                  </a:rPr>
                  <a:t>（为计算简便，将关节</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上的点</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选在基坐标系</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的原点）；</a:t>
                </a:r>
              </a:p>
              <a:p>
                <a:r>
                  <a:rPr lang="en-US" altLang="zh-CN" sz="1200" kern="1200" dirty="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的方向和基坐标系</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轴重合</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方向相反，所以其瞬时角速度</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2𝑥,𝜔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2𝑦,𝜔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2𝑧 )=(0,−1,0)</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选择螺旋轴</a:t>
                </a:r>
                <a:r>
                  <a:rPr lang="en-US" altLang="zh-CN" sz="1200" i="0" kern="1200">
                    <a:solidFill>
                      <a:schemeClr val="tx1"/>
                    </a:solidFill>
                    <a:effectLst/>
                    <a:latin typeface="+mn-lt"/>
                    <a:ea typeface="+mn-ea"/>
                    <a:cs typeface="+mn-cs"/>
                  </a:rPr>
                  <a:t>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的基点</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2=(0,0,𝐻1)</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线速度</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2=(𝐻</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1,0,0)</a:t>
                </a:r>
                <a:r>
                  <a:rPr lang="zh-CN" altLang="zh-CN" sz="1200" kern="1200" dirty="0">
                    <a:solidFill>
                      <a:schemeClr val="tx1"/>
                    </a:solidFill>
                    <a:effectLst/>
                    <a:latin typeface="+mn-lt"/>
                    <a:ea typeface="+mn-ea"/>
                    <a:cs typeface="+mn-cs"/>
                  </a:rPr>
                  <a:t>；</a:t>
                </a:r>
              </a:p>
              <a:p>
                <a:r>
                  <a:rPr lang="en-US" altLang="zh-CN" sz="1200" i="0" kern="1200">
                    <a:solidFill>
                      <a:schemeClr val="tx1"/>
                    </a:solidFill>
                    <a:effectLst/>
                    <a:latin typeface="+mn-lt"/>
                    <a:ea typeface="+mn-ea"/>
                    <a:cs typeface="+mn-cs"/>
                  </a:rPr>
                  <a:t>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的方向和基坐标系</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轴重合</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方向相反，所以其瞬时角速度</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3𝑥,𝜔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3𝑦,𝜔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3𝑧 )=(0,−1,0)</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选择螺旋轴</a:t>
                </a:r>
                <a:r>
                  <a:rPr lang="en-US" altLang="zh-CN" sz="1200" i="0" kern="1200">
                    <a:solidFill>
                      <a:schemeClr val="tx1"/>
                    </a:solidFill>
                    <a:effectLst/>
                    <a:latin typeface="+mn-lt"/>
                    <a:ea typeface="+mn-ea"/>
                    <a:cs typeface="+mn-cs"/>
                  </a:rPr>
                  <a:t>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的基点</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𝐿1,0,𝐻1)</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线速度</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3=(𝐻</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1,0,𝐿1)</a:t>
                </a:r>
                <a:r>
                  <a:rPr lang="zh-CN" altLang="zh-CN" sz="1200" kern="1200" dirty="0">
                    <a:solidFill>
                      <a:schemeClr val="tx1"/>
                    </a:solidFill>
                    <a:effectLst/>
                    <a:latin typeface="+mn-lt"/>
                    <a:ea typeface="+mn-ea"/>
                    <a:cs typeface="+mn-cs"/>
                  </a:rPr>
                  <a:t>；</a:t>
                </a:r>
              </a:p>
              <a:p>
                <a:r>
                  <a:rPr lang="en-US" altLang="zh-CN" sz="1200" i="0" kern="1200">
                    <a:solidFill>
                      <a:schemeClr val="tx1"/>
                    </a:solidFill>
                    <a:effectLst/>
                    <a:latin typeface="+mn-lt"/>
                    <a:ea typeface="+mn-ea"/>
                    <a:cs typeface="+mn-cs"/>
                  </a:rPr>
                  <a:t>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的方向和基坐标系</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轴重合</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方向相反，所以其瞬时角速度</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4𝑥,𝜔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4𝑦,𝜔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4𝑧 )=(0,−1,0)</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选择螺旋轴</a:t>
                </a:r>
                <a:r>
                  <a:rPr lang="en-US" altLang="zh-CN" sz="1200" i="0" kern="1200">
                    <a:solidFill>
                      <a:schemeClr val="tx1"/>
                    </a:solidFill>
                    <a:effectLst/>
                    <a:latin typeface="+mn-lt"/>
                    <a:ea typeface="+mn-ea"/>
                    <a:cs typeface="+mn-cs"/>
                  </a:rPr>
                  <a:t>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的基点</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𝐿1</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𝐿2,0,𝐻1)</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线速度</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4=(𝐻</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1,0,𝐿1+𝐿2)</a:t>
                </a:r>
                <a:r>
                  <a:rPr lang="zh-CN" altLang="zh-CN" sz="1200" kern="1200" dirty="0">
                    <a:solidFill>
                      <a:schemeClr val="tx1"/>
                    </a:solidFill>
                    <a:effectLst/>
                    <a:latin typeface="+mn-lt"/>
                    <a:ea typeface="+mn-ea"/>
                    <a:cs typeface="+mn-cs"/>
                  </a:rPr>
                  <a:t>；</a:t>
                </a:r>
              </a:p>
              <a:p>
                <a:r>
                  <a:rPr lang="en-US" altLang="zh-CN" sz="1200" i="0" kern="1200">
                    <a:solidFill>
                      <a:schemeClr val="tx1"/>
                    </a:solidFill>
                    <a:effectLst/>
                    <a:latin typeface="+mn-lt"/>
                    <a:ea typeface="+mn-ea"/>
                    <a:cs typeface="+mn-cs"/>
                  </a:rPr>
                  <a:t>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的方向和基坐标系</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轴重合</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方向相反，所以其瞬时角速度</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5𝑥,𝜔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5𝑦,𝜔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5𝑧 )=(0,0,</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选择螺旋轴</a:t>
                </a:r>
                <a:r>
                  <a:rPr lang="en-US" altLang="zh-CN" sz="1200" i="0" kern="1200">
                    <a:solidFill>
                      <a:schemeClr val="tx1"/>
                    </a:solidFill>
                    <a:effectLst/>
                    <a:latin typeface="+mn-lt"/>
                    <a:ea typeface="+mn-ea"/>
                    <a:cs typeface="+mn-cs"/>
                  </a:rPr>
                  <a:t>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的基点</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𝐿1</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𝐿2,</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𝑊1,𝐻1)</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线速度</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5=(𝑊</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1,−𝐿1−𝐿2,0)</a:t>
                </a:r>
                <a:r>
                  <a:rPr lang="zh-CN" altLang="zh-CN" sz="1200" kern="1200" dirty="0">
                    <a:solidFill>
                      <a:schemeClr val="tx1"/>
                    </a:solidFill>
                    <a:effectLst/>
                    <a:latin typeface="+mn-lt"/>
                    <a:ea typeface="+mn-ea"/>
                    <a:cs typeface="+mn-cs"/>
                  </a:rPr>
                  <a:t>；</a:t>
                </a:r>
              </a:p>
              <a:p>
                <a:r>
                  <a:rPr lang="en-US" altLang="zh-CN" sz="1200" i="0" kern="1200">
                    <a:solidFill>
                      <a:schemeClr val="tx1"/>
                    </a:solidFill>
                    <a:effectLst/>
                    <a:latin typeface="+mn-lt"/>
                    <a:ea typeface="+mn-ea"/>
                    <a:cs typeface="+mn-cs"/>
                  </a:rPr>
                  <a:t>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的方向和基坐标系</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轴重合</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方向相反，所以其瞬时角速度</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6𝑥,𝜔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6𝑦,𝜔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6𝑧 )=(0,−1,0)</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选择螺旋轴</a:t>
                </a:r>
                <a:r>
                  <a:rPr lang="en-US" altLang="zh-CN" sz="1200" i="0" kern="1200">
                    <a:solidFill>
                      <a:schemeClr val="tx1"/>
                    </a:solidFill>
                    <a:effectLst/>
                    <a:latin typeface="+mn-lt"/>
                    <a:ea typeface="+mn-ea"/>
                    <a:cs typeface="+mn-cs"/>
                  </a:rPr>
                  <a:t>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的基点</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𝐿1−𝐿2,0,𝐻1−𝐻2)</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线速度</a:t>
                </a:r>
                <a:r>
                  <a:rPr lang="en-US" altLang="zh-CN" sz="1200" i="0" kern="1200">
                    <a:solidFill>
                      <a:schemeClr val="tx1"/>
                    </a:solidFill>
                    <a:effectLst/>
                    <a:latin typeface="+mn-lt"/>
                    <a:ea typeface="+mn-ea"/>
                    <a:cs typeface="+mn-cs"/>
                  </a:rPr>
                  <a:t>𝑣</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6=(𝐻1−𝐻2,0,𝐿1+𝐿2)</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由此，螺旋轴的</a:t>
                </a:r>
                <a:r>
                  <a:rPr lang="en-US" altLang="zh-CN" sz="1200" i="0" kern="1200">
                    <a:solidFill>
                      <a:schemeClr val="tx1"/>
                    </a:solidFill>
                    <a:effectLst/>
                    <a:latin typeface="+mn-lt"/>
                    <a:ea typeface="+mn-ea"/>
                    <a:cs typeface="+mn-cs"/>
                  </a:rPr>
                  <a:t>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𝑖=(ω</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𝑖,𝜈</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如表</a:t>
                </a:r>
                <a:r>
                  <a:rPr lang="en-US" altLang="zh-CN" sz="1200" kern="1200" dirty="0">
                    <a:solidFill>
                      <a:schemeClr val="tx1"/>
                    </a:solidFill>
                    <a:effectLst/>
                    <a:latin typeface="+mn-lt"/>
                    <a:ea typeface="+mn-ea"/>
                    <a:cs typeface="+mn-cs"/>
                  </a:rPr>
                  <a:t>3.5</a:t>
                </a:r>
                <a:r>
                  <a:rPr lang="zh-CN" altLang="zh-CN" sz="1200" kern="1200" dirty="0">
                    <a:solidFill>
                      <a:schemeClr val="tx1"/>
                    </a:solidFill>
                    <a:effectLst/>
                    <a:latin typeface="+mn-lt"/>
                    <a:ea typeface="+mn-ea"/>
                    <a:cs typeface="+mn-cs"/>
                  </a:rPr>
                  <a:t>所示。</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54</a:t>
            </a:fld>
            <a:endParaRPr lang="zh-CN" altLang="en-US"/>
          </a:p>
        </p:txBody>
      </p:sp>
    </p:spTree>
    <p:extLst>
      <p:ext uri="{BB962C8B-B14F-4D97-AF65-F5344CB8AC3E}">
        <p14:creationId xmlns:p14="http://schemas.microsoft.com/office/powerpoint/2010/main" val="19234743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AUBO-i5</a:t>
                </a:r>
                <a:r>
                  <a:rPr lang="zh-CN" altLang="zh-CN" sz="1200" kern="1200" dirty="0">
                    <a:solidFill>
                      <a:schemeClr val="tx1"/>
                    </a:solidFill>
                    <a:effectLst/>
                    <a:latin typeface="+mn-lt"/>
                    <a:ea typeface="+mn-ea"/>
                    <a:cs typeface="+mn-cs"/>
                  </a:rPr>
                  <a:t>有六个旋转轴，假设六个关节的旋转角为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4</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5</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6</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，则末端工具坐标系的位姿矩阵</a:t>
                </a:r>
                <a:r>
                  <a:rPr lang="en-US" altLang="zh-CN" sz="1200" i="1"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可以由</a:t>
                </a:r>
                <a:r>
                  <a:rPr lang="en-US" altLang="zh-CN" sz="1200" kern="1200" dirty="0" err="1">
                    <a:solidFill>
                      <a:schemeClr val="tx1"/>
                    </a:solidFill>
                    <a:effectLst/>
                    <a:latin typeface="+mn-lt"/>
                    <a:ea typeface="+mn-ea"/>
                    <a:cs typeface="+mn-cs"/>
                  </a:rPr>
                  <a:t>PoE</a:t>
                </a:r>
                <a:r>
                  <a:rPr lang="zh-CN" altLang="zh-CN" sz="1200" kern="1200" dirty="0">
                    <a:solidFill>
                      <a:schemeClr val="tx1"/>
                    </a:solidFill>
                    <a:effectLst/>
                    <a:latin typeface="+mn-lt"/>
                    <a:ea typeface="+mn-ea"/>
                    <a:cs typeface="+mn-cs"/>
                  </a:rPr>
                  <a:t>指数积公式</a:t>
                </a:r>
                <a:r>
                  <a:rPr lang="en-US" altLang="zh-CN" sz="1200" kern="1200" dirty="0">
                    <a:solidFill>
                      <a:schemeClr val="tx1"/>
                    </a:solidFill>
                    <a:effectLst/>
                    <a:latin typeface="+mn-lt"/>
                    <a:ea typeface="+mn-ea"/>
                    <a:cs typeface="+mn-cs"/>
                  </a:rPr>
                  <a:t>(3-40)</a:t>
                </a:r>
                <a:r>
                  <a:rPr lang="zh-CN" altLang="zh-CN" sz="1200" kern="1200" dirty="0">
                    <a:solidFill>
                      <a:schemeClr val="tx1"/>
                    </a:solidFill>
                    <a:effectLst/>
                    <a:latin typeface="+mn-lt"/>
                    <a:ea typeface="+mn-ea"/>
                    <a:cs typeface="+mn-cs"/>
                  </a:rPr>
                  <a:t>表达。</a:t>
                </a: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𝑇</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𝑒</m:t>
                        </m:r>
                      </m:e>
                      <m:sup>
                        <m:d>
                          <m:dPr>
                            <m:begChr m:val="["/>
                            <m:endChr m:val="]"/>
                            <m:ctrlPr>
                              <a:rPr lang="zh-CN" altLang="zh-CN" sz="1200" i="1" kern="1200">
                                <a:solidFill>
                                  <a:schemeClr val="tx1"/>
                                </a:solidFill>
                                <a:effectLst/>
                                <a:latin typeface="Cambria Math" panose="02040503050406030204" pitchFamily="18" charset="0"/>
                                <a:ea typeface="+mn-ea"/>
                                <a:cs typeface="+mn-cs"/>
                              </a:rPr>
                            </m:ctrlPr>
                          </m:dPr>
                          <m:e>
                            <m:r>
                              <m:rPr>
                                <m:sty m:val="p"/>
                              </m:rPr>
                              <a:rPr lang="en-US" altLang="zh-CN" sz="1200" kern="1200">
                                <a:solidFill>
                                  <a:schemeClr val="tx1"/>
                                </a:solidFill>
                                <a:effectLst/>
                                <a:latin typeface="Cambria Math" panose="02040503050406030204" pitchFamily="18" charset="0"/>
                                <a:ea typeface="+mn-ea"/>
                                <a:cs typeface="+mn-cs"/>
                              </a:rPr>
                              <m:t>S</m:t>
                            </m:r>
                            <m:r>
                              <a:rPr lang="en-US" altLang="zh-CN" sz="1200" kern="1200">
                                <a:solidFill>
                                  <a:schemeClr val="tx1"/>
                                </a:solidFill>
                                <a:effectLst/>
                                <a:latin typeface="Cambria Math" panose="02040503050406030204" pitchFamily="18" charset="0"/>
                                <a:ea typeface="+mn-ea"/>
                                <a:cs typeface="+mn-cs"/>
                              </a:rPr>
                              <m:t>1</m:t>
                            </m:r>
                          </m:e>
                        </m:d>
                        <m:r>
                          <m:rPr>
                            <m:sty m:val="p"/>
                          </m:rPr>
                          <a:rPr lang="zh-CN" altLang="zh-CN" sz="1200" kern="1200">
                            <a:solidFill>
                              <a:schemeClr val="tx1"/>
                            </a:solidFill>
                            <a:effectLst/>
                            <a:latin typeface="Cambria Math" panose="02040503050406030204" pitchFamily="18" charset="0"/>
                            <a:ea typeface="+mn-ea"/>
                            <a:cs typeface="+mn-cs"/>
                          </a:rPr>
                          <m:t>θ</m:t>
                        </m:r>
                        <m:r>
                          <a:rPr lang="en-US" altLang="zh-CN" sz="1200" kern="1200">
                            <a:solidFill>
                              <a:schemeClr val="tx1"/>
                            </a:solidFill>
                            <a:effectLst/>
                            <a:latin typeface="Cambria Math" panose="02040503050406030204" pitchFamily="18" charset="0"/>
                            <a:ea typeface="+mn-ea"/>
                            <a:cs typeface="+mn-cs"/>
                          </a:rPr>
                          <m:t>1</m:t>
                        </m:r>
                      </m:sup>
                    </m:sSup>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𝑒</m:t>
                        </m:r>
                      </m:e>
                      <m:sup>
                        <m:d>
                          <m:dPr>
                            <m:begChr m:val="["/>
                            <m:endChr m:val="]"/>
                            <m:ctrlPr>
                              <a:rPr lang="zh-CN" altLang="zh-CN" sz="1200" i="1" kern="1200">
                                <a:solidFill>
                                  <a:schemeClr val="tx1"/>
                                </a:solidFill>
                                <a:effectLst/>
                                <a:latin typeface="Cambria Math" panose="02040503050406030204" pitchFamily="18" charset="0"/>
                                <a:ea typeface="+mn-ea"/>
                                <a:cs typeface="+mn-cs"/>
                              </a:rPr>
                            </m:ctrlPr>
                          </m:dPr>
                          <m:e>
                            <m:r>
                              <m:rPr>
                                <m:sty m:val="p"/>
                              </m:rPr>
                              <a:rPr lang="en-US" altLang="zh-CN" sz="1200" kern="1200">
                                <a:solidFill>
                                  <a:schemeClr val="tx1"/>
                                </a:solidFill>
                                <a:effectLst/>
                                <a:latin typeface="Cambria Math" panose="02040503050406030204" pitchFamily="18" charset="0"/>
                                <a:ea typeface="+mn-ea"/>
                                <a:cs typeface="+mn-cs"/>
                              </a:rPr>
                              <m:t>S</m:t>
                            </m:r>
                            <m:r>
                              <a:rPr lang="en-US" altLang="zh-CN" sz="1200" kern="1200">
                                <a:solidFill>
                                  <a:schemeClr val="tx1"/>
                                </a:solidFill>
                                <a:effectLst/>
                                <a:latin typeface="Cambria Math" panose="02040503050406030204" pitchFamily="18" charset="0"/>
                                <a:ea typeface="+mn-ea"/>
                                <a:cs typeface="+mn-cs"/>
                              </a:rPr>
                              <m:t>2</m:t>
                            </m:r>
                          </m:e>
                        </m:d>
                        <m:r>
                          <m:rPr>
                            <m:sty m:val="p"/>
                          </m:rPr>
                          <a:rPr lang="zh-CN" altLang="zh-CN" sz="1200" kern="1200">
                            <a:solidFill>
                              <a:schemeClr val="tx1"/>
                            </a:solidFill>
                            <a:effectLst/>
                            <a:latin typeface="Cambria Math" panose="02040503050406030204" pitchFamily="18" charset="0"/>
                            <a:ea typeface="+mn-ea"/>
                            <a:cs typeface="+mn-cs"/>
                          </a:rPr>
                          <m:t>θ</m:t>
                        </m:r>
                        <m:r>
                          <a:rPr lang="en-US" altLang="zh-CN" sz="1200" kern="1200">
                            <a:solidFill>
                              <a:schemeClr val="tx1"/>
                            </a:solidFill>
                            <a:effectLst/>
                            <a:latin typeface="Cambria Math" panose="02040503050406030204" pitchFamily="18" charset="0"/>
                            <a:ea typeface="+mn-ea"/>
                            <a:cs typeface="+mn-cs"/>
                          </a:rPr>
                          <m:t>2</m:t>
                        </m:r>
                      </m:sup>
                    </m:sSup>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𝑒</m:t>
                        </m:r>
                      </m:e>
                      <m:sup>
                        <m:d>
                          <m:dPr>
                            <m:begChr m:val="["/>
                            <m:endChr m:val="]"/>
                            <m:ctrlPr>
                              <a:rPr lang="zh-CN" altLang="zh-CN" sz="1200" i="1" kern="1200">
                                <a:solidFill>
                                  <a:schemeClr val="tx1"/>
                                </a:solidFill>
                                <a:effectLst/>
                                <a:latin typeface="Cambria Math" panose="02040503050406030204" pitchFamily="18" charset="0"/>
                                <a:ea typeface="+mn-ea"/>
                                <a:cs typeface="+mn-cs"/>
                              </a:rPr>
                            </m:ctrlPr>
                          </m:dPr>
                          <m:e>
                            <m:r>
                              <m:rPr>
                                <m:sty m:val="p"/>
                              </m:rPr>
                              <a:rPr lang="en-US" altLang="zh-CN" sz="1200" kern="1200">
                                <a:solidFill>
                                  <a:schemeClr val="tx1"/>
                                </a:solidFill>
                                <a:effectLst/>
                                <a:latin typeface="Cambria Math" panose="02040503050406030204" pitchFamily="18" charset="0"/>
                                <a:ea typeface="+mn-ea"/>
                                <a:cs typeface="+mn-cs"/>
                              </a:rPr>
                              <m:t>S</m:t>
                            </m:r>
                            <m:r>
                              <a:rPr lang="en-US" altLang="zh-CN" sz="1200" kern="1200">
                                <a:solidFill>
                                  <a:schemeClr val="tx1"/>
                                </a:solidFill>
                                <a:effectLst/>
                                <a:latin typeface="Cambria Math" panose="02040503050406030204" pitchFamily="18" charset="0"/>
                                <a:ea typeface="+mn-ea"/>
                                <a:cs typeface="+mn-cs"/>
                              </a:rPr>
                              <m:t>3</m:t>
                            </m:r>
                          </m:e>
                        </m:d>
                        <m:r>
                          <m:rPr>
                            <m:sty m:val="p"/>
                          </m:rPr>
                          <a:rPr lang="zh-CN" altLang="zh-CN" sz="1200" kern="1200">
                            <a:solidFill>
                              <a:schemeClr val="tx1"/>
                            </a:solidFill>
                            <a:effectLst/>
                            <a:latin typeface="Cambria Math" panose="02040503050406030204" pitchFamily="18" charset="0"/>
                            <a:ea typeface="+mn-ea"/>
                            <a:cs typeface="+mn-cs"/>
                          </a:rPr>
                          <m:t>θ</m:t>
                        </m:r>
                        <m:r>
                          <a:rPr lang="en-US" altLang="zh-CN" sz="1200" kern="1200">
                            <a:solidFill>
                              <a:schemeClr val="tx1"/>
                            </a:solidFill>
                            <a:effectLst/>
                            <a:latin typeface="Cambria Math" panose="02040503050406030204" pitchFamily="18" charset="0"/>
                            <a:ea typeface="+mn-ea"/>
                            <a:cs typeface="+mn-cs"/>
                          </a:rPr>
                          <m:t>3</m:t>
                        </m:r>
                      </m:sup>
                    </m:sSup>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𝑒</m:t>
                        </m:r>
                      </m:e>
                      <m:sup>
                        <m:d>
                          <m:dPr>
                            <m:begChr m:val="["/>
                            <m:endChr m:val="]"/>
                            <m:ctrlPr>
                              <a:rPr lang="zh-CN" altLang="zh-CN" sz="1200" i="1" kern="1200">
                                <a:solidFill>
                                  <a:schemeClr val="tx1"/>
                                </a:solidFill>
                                <a:effectLst/>
                                <a:latin typeface="Cambria Math" panose="02040503050406030204" pitchFamily="18" charset="0"/>
                                <a:ea typeface="+mn-ea"/>
                                <a:cs typeface="+mn-cs"/>
                              </a:rPr>
                            </m:ctrlPr>
                          </m:dPr>
                          <m:e>
                            <m:r>
                              <m:rPr>
                                <m:sty m:val="p"/>
                              </m:rPr>
                              <a:rPr lang="en-US" altLang="zh-CN" sz="1200" kern="1200">
                                <a:solidFill>
                                  <a:schemeClr val="tx1"/>
                                </a:solidFill>
                                <a:effectLst/>
                                <a:latin typeface="Cambria Math" panose="02040503050406030204" pitchFamily="18" charset="0"/>
                                <a:ea typeface="+mn-ea"/>
                                <a:cs typeface="+mn-cs"/>
                              </a:rPr>
                              <m:t>S</m:t>
                            </m:r>
                            <m:r>
                              <a:rPr lang="en-US" altLang="zh-CN" sz="1200" kern="1200">
                                <a:solidFill>
                                  <a:schemeClr val="tx1"/>
                                </a:solidFill>
                                <a:effectLst/>
                                <a:latin typeface="Cambria Math" panose="02040503050406030204" pitchFamily="18" charset="0"/>
                                <a:ea typeface="+mn-ea"/>
                                <a:cs typeface="+mn-cs"/>
                              </a:rPr>
                              <m:t>4</m:t>
                            </m:r>
                          </m:e>
                        </m:d>
                        <m:r>
                          <m:rPr>
                            <m:sty m:val="p"/>
                          </m:rPr>
                          <a:rPr lang="zh-CN" altLang="zh-CN" sz="1200" kern="1200">
                            <a:solidFill>
                              <a:schemeClr val="tx1"/>
                            </a:solidFill>
                            <a:effectLst/>
                            <a:latin typeface="Cambria Math" panose="02040503050406030204" pitchFamily="18" charset="0"/>
                            <a:ea typeface="+mn-ea"/>
                            <a:cs typeface="+mn-cs"/>
                          </a:rPr>
                          <m:t>θ</m:t>
                        </m:r>
                        <m:r>
                          <a:rPr lang="en-US" altLang="zh-CN" sz="1200" kern="1200">
                            <a:solidFill>
                              <a:schemeClr val="tx1"/>
                            </a:solidFill>
                            <a:effectLst/>
                            <a:latin typeface="Cambria Math" panose="02040503050406030204" pitchFamily="18" charset="0"/>
                            <a:ea typeface="+mn-ea"/>
                            <a:cs typeface="+mn-cs"/>
                          </a:rPr>
                          <m:t>4</m:t>
                        </m:r>
                      </m:sup>
                    </m:sSup>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𝑒</m:t>
                        </m:r>
                      </m:e>
                      <m:sup>
                        <m:d>
                          <m:dPr>
                            <m:begChr m:val="["/>
                            <m:endChr m:val="]"/>
                            <m:ctrlPr>
                              <a:rPr lang="zh-CN" altLang="zh-CN" sz="1200" i="1" kern="1200">
                                <a:solidFill>
                                  <a:schemeClr val="tx1"/>
                                </a:solidFill>
                                <a:effectLst/>
                                <a:latin typeface="Cambria Math" panose="02040503050406030204" pitchFamily="18" charset="0"/>
                                <a:ea typeface="+mn-ea"/>
                                <a:cs typeface="+mn-cs"/>
                              </a:rPr>
                            </m:ctrlPr>
                          </m:dPr>
                          <m:e>
                            <m:r>
                              <m:rPr>
                                <m:sty m:val="p"/>
                              </m:rPr>
                              <a:rPr lang="en-US" altLang="zh-CN" sz="1200" kern="1200">
                                <a:solidFill>
                                  <a:schemeClr val="tx1"/>
                                </a:solidFill>
                                <a:effectLst/>
                                <a:latin typeface="Cambria Math" panose="02040503050406030204" pitchFamily="18" charset="0"/>
                                <a:ea typeface="+mn-ea"/>
                                <a:cs typeface="+mn-cs"/>
                              </a:rPr>
                              <m:t>S</m:t>
                            </m:r>
                            <m:r>
                              <a:rPr lang="en-US" altLang="zh-CN" sz="1200" kern="1200">
                                <a:solidFill>
                                  <a:schemeClr val="tx1"/>
                                </a:solidFill>
                                <a:effectLst/>
                                <a:latin typeface="Cambria Math" panose="02040503050406030204" pitchFamily="18" charset="0"/>
                                <a:ea typeface="+mn-ea"/>
                                <a:cs typeface="+mn-cs"/>
                              </a:rPr>
                              <m:t>5</m:t>
                            </m:r>
                          </m:e>
                        </m:d>
                        <m:r>
                          <m:rPr>
                            <m:sty m:val="p"/>
                          </m:rPr>
                          <a:rPr lang="zh-CN" altLang="zh-CN" sz="1200" kern="1200">
                            <a:solidFill>
                              <a:schemeClr val="tx1"/>
                            </a:solidFill>
                            <a:effectLst/>
                            <a:latin typeface="Cambria Math" panose="02040503050406030204" pitchFamily="18" charset="0"/>
                            <a:ea typeface="+mn-ea"/>
                            <a:cs typeface="+mn-cs"/>
                          </a:rPr>
                          <m:t>θ</m:t>
                        </m:r>
                        <m:r>
                          <a:rPr lang="en-US" altLang="zh-CN" sz="1200" kern="1200">
                            <a:solidFill>
                              <a:schemeClr val="tx1"/>
                            </a:solidFill>
                            <a:effectLst/>
                            <a:latin typeface="Cambria Math" panose="02040503050406030204" pitchFamily="18" charset="0"/>
                            <a:ea typeface="+mn-ea"/>
                            <a:cs typeface="+mn-cs"/>
                          </a:rPr>
                          <m:t>5</m:t>
                        </m:r>
                      </m:sup>
                    </m:sSup>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𝑒</m:t>
                        </m:r>
                      </m:e>
                      <m:sup>
                        <m:d>
                          <m:dPr>
                            <m:begChr m:val="["/>
                            <m:endChr m:val="]"/>
                            <m:ctrlPr>
                              <a:rPr lang="zh-CN" altLang="zh-CN" sz="1200" i="1" kern="1200">
                                <a:solidFill>
                                  <a:schemeClr val="tx1"/>
                                </a:solidFill>
                                <a:effectLst/>
                                <a:latin typeface="Cambria Math" panose="02040503050406030204" pitchFamily="18" charset="0"/>
                                <a:ea typeface="+mn-ea"/>
                                <a:cs typeface="+mn-cs"/>
                              </a:rPr>
                            </m:ctrlPr>
                          </m:dPr>
                          <m:e>
                            <m:r>
                              <m:rPr>
                                <m:sty m:val="p"/>
                              </m:rPr>
                              <a:rPr lang="en-US" altLang="zh-CN" sz="1200" kern="1200">
                                <a:solidFill>
                                  <a:schemeClr val="tx1"/>
                                </a:solidFill>
                                <a:effectLst/>
                                <a:latin typeface="Cambria Math" panose="02040503050406030204" pitchFamily="18" charset="0"/>
                                <a:ea typeface="+mn-ea"/>
                                <a:cs typeface="+mn-cs"/>
                              </a:rPr>
                              <m:t>S</m:t>
                            </m:r>
                            <m:r>
                              <a:rPr lang="en-US" altLang="zh-CN" sz="1200" kern="1200">
                                <a:solidFill>
                                  <a:schemeClr val="tx1"/>
                                </a:solidFill>
                                <a:effectLst/>
                                <a:latin typeface="Cambria Math" panose="02040503050406030204" pitchFamily="18" charset="0"/>
                                <a:ea typeface="+mn-ea"/>
                                <a:cs typeface="+mn-cs"/>
                              </a:rPr>
                              <m:t>6</m:t>
                            </m:r>
                          </m:e>
                        </m:d>
                        <m:r>
                          <m:rPr>
                            <m:sty m:val="p"/>
                          </m:rPr>
                          <a:rPr lang="zh-CN" altLang="zh-CN" sz="1200" kern="1200">
                            <a:solidFill>
                              <a:schemeClr val="tx1"/>
                            </a:solidFill>
                            <a:effectLst/>
                            <a:latin typeface="Cambria Math" panose="02040503050406030204" pitchFamily="18" charset="0"/>
                            <a:ea typeface="+mn-ea"/>
                            <a:cs typeface="+mn-cs"/>
                          </a:rPr>
                          <m:t>θ</m:t>
                        </m:r>
                        <m:r>
                          <a:rPr lang="en-US" altLang="zh-CN" sz="1200" kern="1200">
                            <a:solidFill>
                              <a:schemeClr val="tx1"/>
                            </a:solidFill>
                            <a:effectLst/>
                            <a:latin typeface="Cambria Math" panose="02040503050406030204" pitchFamily="18" charset="0"/>
                            <a:ea typeface="+mn-ea"/>
                            <a:cs typeface="+mn-cs"/>
                          </a:rPr>
                          <m:t>6</m:t>
                        </m:r>
                      </m:sup>
                    </m:sSup>
                    <m:r>
                      <a:rPr lang="en-US" altLang="zh-CN" sz="1200" i="1" kern="1200">
                        <a:solidFill>
                          <a:schemeClr val="tx1"/>
                        </a:solidFill>
                        <a:effectLst/>
                        <a:latin typeface="Cambria Math" panose="02040503050406030204" pitchFamily="18" charset="0"/>
                        <a:ea typeface="+mn-ea"/>
                        <a:cs typeface="+mn-cs"/>
                      </a:rPr>
                      <m:t>𝑀</m:t>
                    </m:r>
                  </m:oMath>
                </a14:m>
                <a:r>
                  <a:rPr lang="en-US" altLang="zh-CN" sz="1200" kern="1200" dirty="0">
                    <a:solidFill>
                      <a:schemeClr val="tx1"/>
                    </a:solidFill>
                    <a:effectLst/>
                    <a:latin typeface="+mn-lt"/>
                    <a:ea typeface="+mn-ea"/>
                    <a:cs typeface="+mn-cs"/>
                  </a:rPr>
                  <a:t>  (3-40)</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其中指数积</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𝑒</m:t>
                        </m:r>
                      </m:e>
                      <m:sup>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𝑠</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sup>
                    </m:sSup>
                  </m:oMath>
                </a14:m>
                <a:r>
                  <a:rPr lang="zh-CN" altLang="zh-CN" sz="1200" kern="1200" dirty="0">
                    <a:solidFill>
                      <a:schemeClr val="tx1"/>
                    </a:solidFill>
                    <a:effectLst/>
                    <a:latin typeface="+mn-lt"/>
                    <a:ea typeface="+mn-ea"/>
                    <a:cs typeface="+mn-cs"/>
                  </a:rPr>
                  <a:t>可采用公式（</a:t>
                </a:r>
                <a:r>
                  <a:rPr lang="en-US" altLang="zh-CN" sz="1200" kern="1200" dirty="0">
                    <a:solidFill>
                      <a:schemeClr val="tx1"/>
                    </a:solidFill>
                    <a:effectLst/>
                    <a:latin typeface="+mn-lt"/>
                    <a:ea typeface="+mn-ea"/>
                    <a:cs typeface="+mn-cs"/>
                  </a:rPr>
                  <a:t>3-34</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3-37</a:t>
                </a:r>
                <a:r>
                  <a:rPr lang="zh-CN" altLang="zh-CN" sz="1200" kern="1200" dirty="0">
                    <a:solidFill>
                      <a:schemeClr val="tx1"/>
                    </a:solidFill>
                    <a:effectLst/>
                    <a:latin typeface="+mn-lt"/>
                    <a:ea typeface="+mn-ea"/>
                    <a:cs typeface="+mn-cs"/>
                  </a:rPr>
                  <a:t>）进行计算。</a:t>
                </a:r>
              </a:p>
              <a:p>
                <a:r>
                  <a:rPr lang="zh-CN" altLang="zh-CN" sz="1200" kern="1200" dirty="0">
                    <a:solidFill>
                      <a:schemeClr val="tx1"/>
                    </a:solidFill>
                    <a:effectLst/>
                    <a:latin typeface="+mn-lt"/>
                    <a:ea typeface="+mn-ea"/>
                    <a:cs typeface="+mn-cs"/>
                  </a:rPr>
                  <a:t>公式（</a:t>
                </a:r>
                <a:r>
                  <a:rPr lang="en-US" altLang="zh-CN" sz="1200" kern="1200" dirty="0">
                    <a:solidFill>
                      <a:schemeClr val="tx1"/>
                    </a:solidFill>
                    <a:effectLst/>
                    <a:latin typeface="+mn-lt"/>
                    <a:ea typeface="+mn-ea"/>
                    <a:cs typeface="+mn-cs"/>
                  </a:rPr>
                  <a:t>3-40</a:t>
                </a:r>
                <a:r>
                  <a:rPr lang="zh-CN" altLang="zh-CN" sz="1200" kern="1200" dirty="0">
                    <a:solidFill>
                      <a:schemeClr val="tx1"/>
                    </a:solidFill>
                    <a:effectLst/>
                    <a:latin typeface="+mn-lt"/>
                    <a:ea typeface="+mn-ea"/>
                    <a:cs typeface="+mn-cs"/>
                  </a:rPr>
                  <a:t>）就是正运动学求解方程，将每个关节的旋转角度代入该</a:t>
                </a:r>
                <a:r>
                  <a:rPr lang="en-US" altLang="zh-CN" sz="1200" kern="1200" dirty="0" err="1">
                    <a:solidFill>
                      <a:schemeClr val="tx1"/>
                    </a:solidFill>
                    <a:effectLst/>
                    <a:latin typeface="+mn-lt"/>
                    <a:ea typeface="+mn-ea"/>
                    <a:cs typeface="+mn-cs"/>
                  </a:rPr>
                  <a:t>PoE</a:t>
                </a:r>
                <a:r>
                  <a:rPr lang="zh-CN" altLang="zh-CN" sz="1200" kern="1200" dirty="0">
                    <a:solidFill>
                      <a:schemeClr val="tx1"/>
                    </a:solidFill>
                    <a:effectLst/>
                    <a:latin typeface="+mn-lt"/>
                    <a:ea typeface="+mn-ea"/>
                    <a:cs typeface="+mn-cs"/>
                  </a:rPr>
                  <a:t>公式，即可得到末端</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经过各关节旋转运动后的位姿矩阵。</a:t>
                </a:r>
              </a:p>
              <a:p>
                <a:r>
                  <a:rPr lang="zh-CN" altLang="zh-CN" sz="1200" kern="1200" dirty="0">
                    <a:solidFill>
                      <a:schemeClr val="tx1"/>
                    </a:solidFill>
                    <a:effectLst/>
                    <a:latin typeface="+mn-lt"/>
                    <a:ea typeface="+mn-ea"/>
                    <a:cs typeface="+mn-cs"/>
                  </a:rPr>
                  <a:t>旋量法采用轴</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角</a:t>
                </a:r>
                <a:r>
                  <a:rPr lang="en-US" altLang="zh-CN" sz="1200" kern="1200" dirty="0">
                    <a:solidFill>
                      <a:schemeClr val="tx1"/>
                    </a:solidFill>
                    <a:effectLst/>
                    <a:latin typeface="+mn-lt"/>
                    <a:ea typeface="+mn-ea"/>
                    <a:cs typeface="+mn-cs"/>
                  </a:rPr>
                  <a:t>(axis-angle)</a:t>
                </a:r>
                <a:r>
                  <a:rPr lang="zh-CN" altLang="zh-CN" sz="1200" kern="1200" dirty="0">
                    <a:solidFill>
                      <a:schemeClr val="tx1"/>
                    </a:solidFill>
                    <a:effectLst/>
                    <a:latin typeface="+mn-lt"/>
                    <a:ea typeface="+mn-ea"/>
                    <a:cs typeface="+mn-cs"/>
                  </a:rPr>
                  <a:t>表示法来表征刚体的螺旋运动</a:t>
                </a:r>
                <a:r>
                  <a:rPr lang="en-US" altLang="zh-CN" sz="1200" kern="1200" dirty="0">
                    <a:solidFill>
                      <a:schemeClr val="tx1"/>
                    </a:solidFill>
                    <a:effectLst/>
                    <a:latin typeface="+mn-lt"/>
                    <a:ea typeface="+mn-ea"/>
                    <a:cs typeface="+mn-cs"/>
                  </a:rPr>
                  <a:t>(screw motion)</a:t>
                </a:r>
                <a:r>
                  <a:rPr lang="zh-CN" altLang="zh-CN" sz="1200" kern="1200" dirty="0">
                    <a:solidFill>
                      <a:schemeClr val="tx1"/>
                    </a:solidFill>
                    <a:effectLst/>
                    <a:latin typeface="+mn-lt"/>
                    <a:ea typeface="+mn-ea"/>
                    <a:cs typeface="+mn-cs"/>
                  </a:rPr>
                  <a:t>，其将角速度与线速度的组合定义成了一个新的物理量：运动旋量</a:t>
                </a:r>
                <a:r>
                  <a:rPr lang="en-US" altLang="zh-CN" sz="1200" kern="1200" dirty="0">
                    <a:solidFill>
                      <a:schemeClr val="tx1"/>
                    </a:solidFill>
                    <a:effectLst/>
                    <a:latin typeface="+mn-lt"/>
                    <a:ea typeface="+mn-ea"/>
                    <a:cs typeface="+mn-cs"/>
                  </a:rPr>
                  <a:t>(twist)</a:t>
                </a:r>
                <a:r>
                  <a:rPr lang="zh-CN" altLang="zh-CN" sz="1200" kern="1200" dirty="0">
                    <a:solidFill>
                      <a:schemeClr val="tx1"/>
                    </a:solidFill>
                    <a:effectLst/>
                    <a:latin typeface="+mn-lt"/>
                    <a:ea typeface="+mn-ea"/>
                    <a:cs typeface="+mn-cs"/>
                  </a:rPr>
                  <a:t>，采用指数积</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PoE</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公式进行表达，其物理含义可以将其理解为每个关节产生的螺旋运动施加给了后面的连杆，最终导致了机器人整体的运动变换。</a:t>
                </a:r>
                <a:endParaRPr lang="zh-CN" altLang="en-US" dirty="0"/>
              </a:p>
            </p:txBody>
          </p:sp>
        </mc:Choice>
        <mc:Fallback xmlns="">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AUBO-i5</a:t>
                </a:r>
                <a:r>
                  <a:rPr lang="zh-CN" altLang="zh-CN" sz="1200" kern="1200" dirty="0">
                    <a:solidFill>
                      <a:schemeClr val="tx1"/>
                    </a:solidFill>
                    <a:effectLst/>
                    <a:latin typeface="+mn-lt"/>
                    <a:ea typeface="+mn-ea"/>
                    <a:cs typeface="+mn-cs"/>
                  </a:rPr>
                  <a:t>有六个旋转轴，假设六个关节的旋转角为</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，则末端工具坐标系的位姿矩阵</a:t>
                </a:r>
                <a:r>
                  <a:rPr lang="en-US" altLang="zh-CN" sz="1200" i="1"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可以由</a:t>
                </a:r>
                <a:r>
                  <a:rPr lang="en-US" altLang="zh-CN" sz="1200" kern="1200" dirty="0" err="1">
                    <a:solidFill>
                      <a:schemeClr val="tx1"/>
                    </a:solidFill>
                    <a:effectLst/>
                    <a:latin typeface="+mn-lt"/>
                    <a:ea typeface="+mn-ea"/>
                    <a:cs typeface="+mn-cs"/>
                  </a:rPr>
                  <a:t>PoE</a:t>
                </a:r>
                <a:r>
                  <a:rPr lang="zh-CN" altLang="zh-CN" sz="1200" kern="1200" dirty="0">
                    <a:solidFill>
                      <a:schemeClr val="tx1"/>
                    </a:solidFill>
                    <a:effectLst/>
                    <a:latin typeface="+mn-lt"/>
                    <a:ea typeface="+mn-ea"/>
                    <a:cs typeface="+mn-cs"/>
                  </a:rPr>
                  <a:t>指数积公式</a:t>
                </a:r>
                <a:r>
                  <a:rPr lang="en-US" altLang="zh-CN" sz="1200" kern="1200" dirty="0">
                    <a:solidFill>
                      <a:schemeClr val="tx1"/>
                    </a:solidFill>
                    <a:effectLst/>
                    <a:latin typeface="+mn-lt"/>
                    <a:ea typeface="+mn-ea"/>
                    <a:cs typeface="+mn-cs"/>
                  </a:rPr>
                  <a:t>(3-40)</a:t>
                </a:r>
                <a:r>
                  <a:rPr lang="zh-CN" altLang="zh-CN" sz="1200" kern="1200" dirty="0">
                    <a:solidFill>
                      <a:schemeClr val="tx1"/>
                    </a:solidFill>
                    <a:effectLst/>
                    <a:latin typeface="+mn-lt"/>
                    <a:ea typeface="+mn-ea"/>
                    <a:cs typeface="+mn-cs"/>
                  </a:rPr>
                  <a:t>表达。</a:t>
                </a:r>
              </a:p>
              <a:p>
                <a:r>
                  <a:rPr lang="en-US" altLang="zh-CN" sz="1200" i="0" kern="1200">
                    <a:solidFill>
                      <a:schemeClr val="tx1"/>
                    </a:solidFill>
                    <a:effectLst/>
                    <a:latin typeface="+mn-lt"/>
                    <a:ea typeface="+mn-ea"/>
                    <a:cs typeface="+mn-cs"/>
                  </a:rPr>
                  <a:t>𝑇(𝜃)=𝑒</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S1]</a:t>
                </a:r>
                <a:r>
                  <a:rPr lang="zh-CN" altLang="zh-CN" sz="1200" i="0" kern="1200">
                    <a:solidFill>
                      <a:schemeClr val="tx1"/>
                    </a:solidFill>
                    <a:effectLst/>
                    <a:latin typeface="+mn-lt"/>
                    <a:ea typeface="+mn-ea"/>
                    <a:cs typeface="+mn-cs"/>
                  </a:rPr>
                  <a:t>θ</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𝑒</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S2]</a:t>
                </a:r>
                <a:r>
                  <a:rPr lang="zh-CN" altLang="zh-CN" sz="1200" i="0" kern="1200">
                    <a:solidFill>
                      <a:schemeClr val="tx1"/>
                    </a:solidFill>
                    <a:effectLst/>
                    <a:latin typeface="+mn-lt"/>
                    <a:ea typeface="+mn-ea"/>
                    <a:cs typeface="+mn-cs"/>
                  </a:rPr>
                  <a:t>θ</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𝑒</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S3]</a:t>
                </a:r>
                <a:r>
                  <a:rPr lang="zh-CN" altLang="zh-CN" sz="1200" i="0" kern="1200">
                    <a:solidFill>
                      <a:schemeClr val="tx1"/>
                    </a:solidFill>
                    <a:effectLst/>
                    <a:latin typeface="+mn-lt"/>
                    <a:ea typeface="+mn-ea"/>
                    <a:cs typeface="+mn-cs"/>
                  </a:rPr>
                  <a:t>θ</a:t>
                </a:r>
                <a:r>
                  <a:rPr lang="en-US" altLang="zh-CN" sz="1200" i="0" kern="1200">
                    <a:solidFill>
                      <a:schemeClr val="tx1"/>
                    </a:solidFill>
                    <a:effectLst/>
                    <a:latin typeface="+mn-lt"/>
                    <a:ea typeface="+mn-ea"/>
                    <a:cs typeface="+mn-cs"/>
                  </a:rPr>
                  <a:t>3</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𝑒</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S4]</a:t>
                </a:r>
                <a:r>
                  <a:rPr lang="zh-CN" altLang="zh-CN" sz="1200" i="0" kern="1200">
                    <a:solidFill>
                      <a:schemeClr val="tx1"/>
                    </a:solidFill>
                    <a:effectLst/>
                    <a:latin typeface="+mn-lt"/>
                    <a:ea typeface="+mn-ea"/>
                    <a:cs typeface="+mn-cs"/>
                  </a:rPr>
                  <a:t>θ</a:t>
                </a:r>
                <a:r>
                  <a:rPr lang="en-US" altLang="zh-CN" sz="1200" i="0" kern="1200">
                    <a:solidFill>
                      <a:schemeClr val="tx1"/>
                    </a:solidFill>
                    <a:effectLst/>
                    <a:latin typeface="+mn-lt"/>
                    <a:ea typeface="+mn-ea"/>
                    <a:cs typeface="+mn-cs"/>
                  </a:rPr>
                  <a:t>4</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𝑒</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S5]</a:t>
                </a:r>
                <a:r>
                  <a:rPr lang="zh-CN" altLang="zh-CN" sz="1200" i="0" kern="1200">
                    <a:solidFill>
                      <a:schemeClr val="tx1"/>
                    </a:solidFill>
                    <a:effectLst/>
                    <a:latin typeface="+mn-lt"/>
                    <a:ea typeface="+mn-ea"/>
                    <a:cs typeface="+mn-cs"/>
                  </a:rPr>
                  <a:t>θ</a:t>
                </a:r>
                <a:r>
                  <a:rPr lang="en-US" altLang="zh-CN" sz="1200" i="0" kern="1200">
                    <a:solidFill>
                      <a:schemeClr val="tx1"/>
                    </a:solidFill>
                    <a:effectLst/>
                    <a:latin typeface="+mn-lt"/>
                    <a:ea typeface="+mn-ea"/>
                    <a:cs typeface="+mn-cs"/>
                  </a:rPr>
                  <a:t>5</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𝑒</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S6]</a:t>
                </a:r>
                <a:r>
                  <a:rPr lang="zh-CN" altLang="zh-CN" sz="1200" i="0" kern="1200">
                    <a:solidFill>
                      <a:schemeClr val="tx1"/>
                    </a:solidFill>
                    <a:effectLst/>
                    <a:latin typeface="+mn-lt"/>
                    <a:ea typeface="+mn-ea"/>
                    <a:cs typeface="+mn-cs"/>
                  </a:rPr>
                  <a:t>θ</a:t>
                </a:r>
                <a:r>
                  <a:rPr lang="en-US" altLang="zh-CN" sz="1200" i="0" kern="1200">
                    <a:solidFill>
                      <a:schemeClr val="tx1"/>
                    </a:solidFill>
                    <a:effectLst/>
                    <a:latin typeface="+mn-lt"/>
                    <a:ea typeface="+mn-ea"/>
                    <a:cs typeface="+mn-cs"/>
                  </a:rPr>
                  <a:t>6 𝑀</a:t>
                </a:r>
                <a:r>
                  <a:rPr lang="en-US" altLang="zh-CN" sz="1200" kern="1200" dirty="0">
                    <a:solidFill>
                      <a:schemeClr val="tx1"/>
                    </a:solidFill>
                    <a:effectLst/>
                    <a:latin typeface="+mn-lt"/>
                    <a:ea typeface="+mn-ea"/>
                    <a:cs typeface="+mn-cs"/>
                  </a:rPr>
                  <a:t>  (3-40)</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其中指数积</a:t>
                </a:r>
                <a:r>
                  <a:rPr lang="en-US" altLang="zh-CN" sz="1200" i="0" kern="1200">
                    <a:solidFill>
                      <a:schemeClr val="tx1"/>
                    </a:solidFill>
                    <a:effectLst/>
                    <a:latin typeface="+mn-lt"/>
                    <a:ea typeface="+mn-ea"/>
                    <a:cs typeface="+mn-cs"/>
                  </a:rPr>
                  <a:t>𝑒</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[𝑠]𝜃</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可采用公式（</a:t>
                </a:r>
                <a:r>
                  <a:rPr lang="en-US" altLang="zh-CN" sz="1200" kern="1200" dirty="0">
                    <a:solidFill>
                      <a:schemeClr val="tx1"/>
                    </a:solidFill>
                    <a:effectLst/>
                    <a:latin typeface="+mn-lt"/>
                    <a:ea typeface="+mn-ea"/>
                    <a:cs typeface="+mn-cs"/>
                  </a:rPr>
                  <a:t>3-34</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3-37</a:t>
                </a:r>
                <a:r>
                  <a:rPr lang="zh-CN" altLang="zh-CN" sz="1200" kern="1200" dirty="0">
                    <a:solidFill>
                      <a:schemeClr val="tx1"/>
                    </a:solidFill>
                    <a:effectLst/>
                    <a:latin typeface="+mn-lt"/>
                    <a:ea typeface="+mn-ea"/>
                    <a:cs typeface="+mn-cs"/>
                  </a:rPr>
                  <a:t>）进行计算。</a:t>
                </a:r>
              </a:p>
              <a:p>
                <a:r>
                  <a:rPr lang="zh-CN" altLang="zh-CN" sz="1200" kern="1200" dirty="0">
                    <a:solidFill>
                      <a:schemeClr val="tx1"/>
                    </a:solidFill>
                    <a:effectLst/>
                    <a:latin typeface="+mn-lt"/>
                    <a:ea typeface="+mn-ea"/>
                    <a:cs typeface="+mn-cs"/>
                  </a:rPr>
                  <a:t>公式（</a:t>
                </a:r>
                <a:r>
                  <a:rPr lang="en-US" altLang="zh-CN" sz="1200" kern="1200" dirty="0">
                    <a:solidFill>
                      <a:schemeClr val="tx1"/>
                    </a:solidFill>
                    <a:effectLst/>
                    <a:latin typeface="+mn-lt"/>
                    <a:ea typeface="+mn-ea"/>
                    <a:cs typeface="+mn-cs"/>
                  </a:rPr>
                  <a:t>3-40</a:t>
                </a:r>
                <a:r>
                  <a:rPr lang="zh-CN" altLang="zh-CN" sz="1200" kern="1200" dirty="0">
                    <a:solidFill>
                      <a:schemeClr val="tx1"/>
                    </a:solidFill>
                    <a:effectLst/>
                    <a:latin typeface="+mn-lt"/>
                    <a:ea typeface="+mn-ea"/>
                    <a:cs typeface="+mn-cs"/>
                  </a:rPr>
                  <a:t>）就是正运动学求解方程，将每个关节的旋转角度代入该</a:t>
                </a:r>
                <a:r>
                  <a:rPr lang="en-US" altLang="zh-CN" sz="1200" kern="1200" dirty="0" err="1">
                    <a:solidFill>
                      <a:schemeClr val="tx1"/>
                    </a:solidFill>
                    <a:effectLst/>
                    <a:latin typeface="+mn-lt"/>
                    <a:ea typeface="+mn-ea"/>
                    <a:cs typeface="+mn-cs"/>
                  </a:rPr>
                  <a:t>PoE</a:t>
                </a:r>
                <a:r>
                  <a:rPr lang="zh-CN" altLang="zh-CN" sz="1200" kern="1200" dirty="0">
                    <a:solidFill>
                      <a:schemeClr val="tx1"/>
                    </a:solidFill>
                    <a:effectLst/>
                    <a:latin typeface="+mn-lt"/>
                    <a:ea typeface="+mn-ea"/>
                    <a:cs typeface="+mn-cs"/>
                  </a:rPr>
                  <a:t>公式，即可得到末端</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经过各关节旋转运动后的位姿矩阵。</a:t>
                </a:r>
              </a:p>
              <a:p>
                <a:r>
                  <a:rPr lang="zh-CN" altLang="zh-CN" sz="1200" kern="1200" dirty="0">
                    <a:solidFill>
                      <a:schemeClr val="tx1"/>
                    </a:solidFill>
                    <a:effectLst/>
                    <a:latin typeface="+mn-lt"/>
                    <a:ea typeface="+mn-ea"/>
                    <a:cs typeface="+mn-cs"/>
                  </a:rPr>
                  <a:t>旋量法采用轴</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角</a:t>
                </a:r>
                <a:r>
                  <a:rPr lang="en-US" altLang="zh-CN" sz="1200" kern="1200" dirty="0">
                    <a:solidFill>
                      <a:schemeClr val="tx1"/>
                    </a:solidFill>
                    <a:effectLst/>
                    <a:latin typeface="+mn-lt"/>
                    <a:ea typeface="+mn-ea"/>
                    <a:cs typeface="+mn-cs"/>
                  </a:rPr>
                  <a:t>(axis-angle)</a:t>
                </a:r>
                <a:r>
                  <a:rPr lang="zh-CN" altLang="zh-CN" sz="1200" kern="1200" dirty="0">
                    <a:solidFill>
                      <a:schemeClr val="tx1"/>
                    </a:solidFill>
                    <a:effectLst/>
                    <a:latin typeface="+mn-lt"/>
                    <a:ea typeface="+mn-ea"/>
                    <a:cs typeface="+mn-cs"/>
                  </a:rPr>
                  <a:t>表示法来表征刚体的螺旋运动</a:t>
                </a:r>
                <a:r>
                  <a:rPr lang="en-US" altLang="zh-CN" sz="1200" kern="1200" dirty="0">
                    <a:solidFill>
                      <a:schemeClr val="tx1"/>
                    </a:solidFill>
                    <a:effectLst/>
                    <a:latin typeface="+mn-lt"/>
                    <a:ea typeface="+mn-ea"/>
                    <a:cs typeface="+mn-cs"/>
                  </a:rPr>
                  <a:t>(screw motion)</a:t>
                </a:r>
                <a:r>
                  <a:rPr lang="zh-CN" altLang="zh-CN" sz="1200" kern="1200" dirty="0">
                    <a:solidFill>
                      <a:schemeClr val="tx1"/>
                    </a:solidFill>
                    <a:effectLst/>
                    <a:latin typeface="+mn-lt"/>
                    <a:ea typeface="+mn-ea"/>
                    <a:cs typeface="+mn-cs"/>
                  </a:rPr>
                  <a:t>，其将角速度与线速度的组合定义成了一个新的物理量：运动旋量</a:t>
                </a:r>
                <a:r>
                  <a:rPr lang="en-US" altLang="zh-CN" sz="1200" kern="1200" dirty="0">
                    <a:solidFill>
                      <a:schemeClr val="tx1"/>
                    </a:solidFill>
                    <a:effectLst/>
                    <a:latin typeface="+mn-lt"/>
                    <a:ea typeface="+mn-ea"/>
                    <a:cs typeface="+mn-cs"/>
                  </a:rPr>
                  <a:t>(twist)</a:t>
                </a:r>
                <a:r>
                  <a:rPr lang="zh-CN" altLang="zh-CN" sz="1200" kern="1200" dirty="0">
                    <a:solidFill>
                      <a:schemeClr val="tx1"/>
                    </a:solidFill>
                    <a:effectLst/>
                    <a:latin typeface="+mn-lt"/>
                    <a:ea typeface="+mn-ea"/>
                    <a:cs typeface="+mn-cs"/>
                  </a:rPr>
                  <a:t>，采用指数积</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PoE</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公式进行表达，其物理含义可以将其理解为每个关节产生的螺旋运动施加给了后面的连杆，最终导致了机器人整体的运动变换。</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55</a:t>
            </a:fld>
            <a:endParaRPr lang="zh-CN" altLang="en-US"/>
          </a:p>
        </p:txBody>
      </p:sp>
    </p:spTree>
    <p:extLst>
      <p:ext uri="{BB962C8B-B14F-4D97-AF65-F5344CB8AC3E}">
        <p14:creationId xmlns:p14="http://schemas.microsoft.com/office/powerpoint/2010/main" val="74677151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56</a:t>
            </a:fld>
            <a:endParaRPr lang="zh-CN" altLang="en-US"/>
          </a:p>
        </p:txBody>
      </p:sp>
    </p:spTree>
    <p:extLst>
      <p:ext uri="{BB962C8B-B14F-4D97-AF65-F5344CB8AC3E}">
        <p14:creationId xmlns:p14="http://schemas.microsoft.com/office/powerpoint/2010/main" val="364239188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四元数最重要的优点在于其减少了刚体运动学的数学运算量，但由于其难以在三维空间中进行解释，四元数在机器人运动学和动力学领域中并不那么流行，但其求解计算量更小、精度更高。</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回顾一下前面介绍过的四元数，将三维空间坐标系中的一个向量</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𝜔</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𝑥</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𝑦</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𝑧</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，在复平面内旋转</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r>
                      <a:rPr lang="zh-CN" altLang="zh-CN" sz="1200" i="1" kern="1200">
                        <a:solidFill>
                          <a:schemeClr val="tx1"/>
                        </a:solidFill>
                        <a:effectLst/>
                        <a:latin typeface="Cambria Math" panose="02040503050406030204" pitchFamily="18" charset="0"/>
                        <a:ea typeface="+mn-ea"/>
                        <a:cs typeface="+mn-cs"/>
                      </a:rPr>
                      <m:t>角</m:t>
                    </m:r>
                  </m:oMath>
                </a14:m>
                <a:r>
                  <a:rPr lang="zh-CN" altLang="zh-CN" sz="1200" kern="1200" dirty="0">
                    <a:solidFill>
                      <a:schemeClr val="tx1"/>
                    </a:solidFill>
                    <a:effectLst/>
                    <a:latin typeface="+mn-lt"/>
                    <a:ea typeface="+mn-ea"/>
                    <a:cs typeface="+mn-cs"/>
                  </a:rPr>
                  <a:t>，这个旋转向量我们使用四元数来进行表示：</a:t>
                </a: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𝜃</m:t>
                                </m:r>
                              </m:num>
                              <m:den>
                                <m:r>
                                  <a:rPr lang="en-US" altLang="zh-CN" sz="1200" i="1" kern="1200">
                                    <a:solidFill>
                                      <a:schemeClr val="tx1"/>
                                    </a:solidFill>
                                    <a:effectLst/>
                                    <a:latin typeface="Cambria Math" panose="02040503050406030204" pitchFamily="18" charset="0"/>
                                    <a:ea typeface="+mn-ea"/>
                                    <a:cs typeface="+mn-cs"/>
                                  </a:rPr>
                                  <m:t>2</m:t>
                                </m:r>
                              </m:den>
                            </m:f>
                          </m:e>
                        </m:d>
                      </m:e>
                    </m:func>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𝜃</m:t>
                                </m:r>
                              </m:num>
                              <m:den>
                                <m:r>
                                  <a:rPr lang="en-US" altLang="zh-CN" sz="1200" i="1" kern="1200">
                                    <a:solidFill>
                                      <a:schemeClr val="tx1"/>
                                    </a:solidFill>
                                    <a:effectLst/>
                                    <a:latin typeface="Cambria Math" panose="02040503050406030204" pitchFamily="18" charset="0"/>
                                    <a:ea typeface="+mn-ea"/>
                                    <a:cs typeface="+mn-cs"/>
                                  </a:rPr>
                                  <m:t>2</m:t>
                                </m:r>
                              </m:den>
                            </m:f>
                          </m:e>
                        </m:d>
                      </m:e>
                    </m:func>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𝑥</m:t>
                        </m:r>
                      </m:sub>
                    </m:sSub>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𝜃</m:t>
                                </m:r>
                              </m:num>
                              <m:den>
                                <m:r>
                                  <a:rPr lang="en-US" altLang="zh-CN" sz="1200" i="1" kern="1200">
                                    <a:solidFill>
                                      <a:schemeClr val="tx1"/>
                                    </a:solidFill>
                                    <a:effectLst/>
                                    <a:latin typeface="Cambria Math" panose="02040503050406030204" pitchFamily="18" charset="0"/>
                                    <a:ea typeface="+mn-ea"/>
                                    <a:cs typeface="+mn-cs"/>
                                  </a:rPr>
                                  <m:t>2</m:t>
                                </m:r>
                              </m:den>
                            </m:f>
                          </m:e>
                        </m:d>
                      </m:e>
                    </m:func>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𝑦</m:t>
                        </m:r>
                      </m:sub>
                    </m:sSub>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𝜃</m:t>
                                </m:r>
                              </m:num>
                              <m:den>
                                <m:r>
                                  <a:rPr lang="en-US" altLang="zh-CN" sz="1200" i="1" kern="1200">
                                    <a:solidFill>
                                      <a:schemeClr val="tx1"/>
                                    </a:solidFill>
                                    <a:effectLst/>
                                    <a:latin typeface="Cambria Math" panose="02040503050406030204" pitchFamily="18" charset="0"/>
                                    <a:ea typeface="+mn-ea"/>
                                    <a:cs typeface="+mn-cs"/>
                                  </a:rPr>
                                  <m:t>2</m:t>
                                </m:r>
                              </m:den>
                            </m:f>
                          </m:e>
                        </m:d>
                      </m:e>
                    </m:func>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𝑧</m:t>
                        </m:r>
                      </m:sub>
                    </m:sSub>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 (3-41)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四元数表示的是复平面的旋转，其旋转向量并无对应确切的物理含义。但我们可以将三维空间中的点</a:t>
                </a:r>
                <a:r>
                  <a:rPr lang="en-US" altLang="zh-CN" sz="1200" kern="1200" dirty="0">
                    <a:solidFill>
                      <a:schemeClr val="tx1"/>
                    </a:solidFill>
                    <a:effectLst/>
                    <a:latin typeface="+mn-lt"/>
                    <a:ea typeface="+mn-ea"/>
                    <a:cs typeface="+mn-cs"/>
                  </a:rPr>
                  <a:t>P</a:t>
                </a:r>
                <a:r>
                  <a:rPr lang="zh-CN" altLang="zh-CN" sz="1200" kern="1200" dirty="0">
                    <a:solidFill>
                      <a:schemeClr val="tx1"/>
                    </a:solidFill>
                    <a:effectLst/>
                    <a:latin typeface="+mn-lt"/>
                    <a:ea typeface="+mn-ea"/>
                    <a:cs typeface="+mn-cs"/>
                  </a:rPr>
                  <a:t>用虚四元数来表示：</a:t>
                </a: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𝑃</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𝑥</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𝑦</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𝑧</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𝑆</m:t>
                      </m:r>
                      <m:r>
                        <a:rPr lang="en-US" altLang="zh-CN" sz="1200" i="1" kern="1200">
                          <a:solidFill>
                            <a:schemeClr val="tx1"/>
                          </a:solidFill>
                          <a:effectLst/>
                          <a:latin typeface="Cambria Math" panose="02040503050406030204" pitchFamily="18" charset="0"/>
                          <a:ea typeface="+mn-ea"/>
                          <a:cs typeface="+mn-cs"/>
                        </a:rPr>
                        <m:t>)</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其中，</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为旋转轴。</a:t>
                </a:r>
              </a:p>
              <a:p>
                <a:r>
                  <a:rPr lang="zh-CN" altLang="zh-CN" sz="1200" kern="1200" dirty="0">
                    <a:solidFill>
                      <a:schemeClr val="tx1"/>
                    </a:solidFill>
                    <a:effectLst/>
                    <a:latin typeface="+mn-lt"/>
                    <a:ea typeface="+mn-ea"/>
                    <a:cs typeface="+mn-cs"/>
                  </a:rPr>
                  <a:t>如果该点绕</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轴旋转</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r>
                      <a:rPr lang="zh-CN" altLang="zh-CN" sz="1200" i="1" kern="1200">
                        <a:solidFill>
                          <a:schemeClr val="tx1"/>
                        </a:solidFill>
                        <a:effectLst/>
                        <a:latin typeface="Cambria Math" panose="02040503050406030204" pitchFamily="18" charset="0"/>
                        <a:ea typeface="+mn-ea"/>
                        <a:cs typeface="+mn-cs"/>
                      </a:rPr>
                      <m:t>角</m:t>
                    </m:r>
                  </m:oMath>
                </a14:m>
                <a:r>
                  <a:rPr lang="zh-CN" altLang="zh-CN" sz="1200" kern="1200" dirty="0">
                    <a:solidFill>
                      <a:schemeClr val="tx1"/>
                    </a:solidFill>
                    <a:effectLst/>
                    <a:latin typeface="+mn-lt"/>
                    <a:ea typeface="+mn-ea"/>
                    <a:cs typeface="+mn-cs"/>
                  </a:rPr>
                  <a:t>，则该点新的旋转向量计算公式：</a:t>
                </a:r>
              </a:p>
              <a:p>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𝑃</m:t>
                        </m:r>
                      </m:e>
                      <m:sup>
                        <m:r>
                          <a:rPr lang="en-US" altLang="zh-CN" sz="1200" i="1" kern="1200">
                            <a:solidFill>
                              <a:schemeClr val="tx1"/>
                            </a:solidFill>
                            <a:effectLst/>
                            <a:latin typeface="Cambria Math" panose="02040503050406030204" pitchFamily="18" charset="0"/>
                            <a:ea typeface="+mn-ea"/>
                            <a:cs typeface="+mn-cs"/>
                          </a:rPr>
                          <m:t>′</m:t>
                        </m:r>
                      </m:sup>
                    </m:sSup>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𝑞𝑃</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𝑞</m:t>
                        </m:r>
                      </m:e>
                      <m:sup>
                        <m:r>
                          <a:rPr lang="en-US" altLang="zh-CN" sz="1200" i="1" kern="1200">
                            <a:solidFill>
                              <a:schemeClr val="tx1"/>
                            </a:solidFill>
                            <a:effectLst/>
                            <a:latin typeface="Cambria Math" panose="02040503050406030204" pitchFamily="18" charset="0"/>
                            <a:ea typeface="+mn-ea"/>
                            <a:cs typeface="+mn-cs"/>
                          </a:rPr>
                          <m:t>−1</m:t>
                        </m:r>
                      </m:sup>
                    </m:sSup>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3-42</a:t>
                </a:r>
                <a:r>
                  <a:rPr lang="zh-CN" altLang="zh-CN" sz="1200" kern="1200" dirty="0">
                    <a:solidFill>
                      <a:schemeClr val="tx1"/>
                    </a:solidFill>
                    <a:effectLst/>
                    <a:latin typeface="+mn-lt"/>
                    <a:ea typeface="+mn-ea"/>
                    <a:cs typeface="+mn-cs"/>
                  </a:rPr>
                  <a:t>）</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四元数最重要的优点在于其减少了刚体运动学的数学运算量，但由于其难以在三维空间中进行解释，四元数在机器人运动学和动力学领域中并不那么流行，但其求解计算量更小、精度更高。</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回顾一下前面介绍过的四元数，将三维空间坐标系中的一个向量</a:t>
                </a:r>
                <a:r>
                  <a:rPr lang="en-US" altLang="zh-CN" sz="1200" i="0" kern="1200">
                    <a:solidFill>
                      <a:schemeClr val="tx1"/>
                    </a:solidFill>
                    <a:effectLst/>
                    <a:latin typeface="+mn-lt"/>
                    <a:ea typeface="+mn-ea"/>
                    <a:cs typeface="+mn-cs"/>
                  </a:rPr>
                  <a:t>𝜔(𝑛</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𝑥,𝑛</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𝑦,𝑛</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𝑧)</a:t>
                </a:r>
                <a:r>
                  <a:rPr lang="zh-CN" altLang="zh-CN" sz="1200" kern="1200" dirty="0">
                    <a:solidFill>
                      <a:schemeClr val="tx1"/>
                    </a:solidFill>
                    <a:effectLst/>
                    <a:latin typeface="+mn-lt"/>
                    <a:ea typeface="+mn-ea"/>
                    <a:cs typeface="+mn-cs"/>
                  </a:rPr>
                  <a:t>，在复平面内旋转</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角</a:t>
                </a:r>
                <a:r>
                  <a:rPr lang="zh-CN" altLang="zh-CN" sz="1200" kern="1200" dirty="0">
                    <a:solidFill>
                      <a:schemeClr val="tx1"/>
                    </a:solidFill>
                    <a:effectLst/>
                    <a:latin typeface="+mn-lt"/>
                    <a:ea typeface="+mn-ea"/>
                    <a:cs typeface="+mn-cs"/>
                  </a:rPr>
                  <a:t>，这个旋转向量我们使用四元数来进行表示：</a:t>
                </a:r>
              </a:p>
              <a:p>
                <a:r>
                  <a:rPr lang="en-US" altLang="zh-CN" sz="1200" i="0" kern="1200">
                    <a:solidFill>
                      <a:schemeClr val="tx1"/>
                    </a:solidFill>
                    <a:effectLst/>
                    <a:latin typeface="+mn-lt"/>
                    <a:ea typeface="+mn-ea"/>
                    <a:cs typeface="+mn-cs"/>
                  </a:rPr>
                  <a:t>𝑞=(cos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𝑛</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𝑥,sin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𝑛</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𝑦,sin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𝑛</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𝑧)</a:t>
                </a:r>
                <a:r>
                  <a:rPr lang="en-US" altLang="zh-CN" sz="1200" kern="1200" dirty="0">
                    <a:solidFill>
                      <a:schemeClr val="tx1"/>
                    </a:solidFill>
                    <a:effectLst/>
                    <a:latin typeface="+mn-lt"/>
                    <a:ea typeface="+mn-ea"/>
                    <a:cs typeface="+mn-cs"/>
                  </a:rPr>
                  <a:t> (3-41)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四元数表示的是复平面的旋转，其旋转向量并无对应确切的物理含义。但我们可以将三维空间中的点</a:t>
                </a:r>
                <a:r>
                  <a:rPr lang="en-US" altLang="zh-CN" sz="1200" kern="1200" dirty="0">
                    <a:solidFill>
                      <a:schemeClr val="tx1"/>
                    </a:solidFill>
                    <a:effectLst/>
                    <a:latin typeface="+mn-lt"/>
                    <a:ea typeface="+mn-ea"/>
                    <a:cs typeface="+mn-cs"/>
                  </a:rPr>
                  <a:t>P</a:t>
                </a:r>
                <a:r>
                  <a:rPr lang="zh-CN" altLang="zh-CN" sz="1200" kern="1200" dirty="0">
                    <a:solidFill>
                      <a:schemeClr val="tx1"/>
                    </a:solidFill>
                    <a:effectLst/>
                    <a:latin typeface="+mn-lt"/>
                    <a:ea typeface="+mn-ea"/>
                    <a:cs typeface="+mn-cs"/>
                  </a:rPr>
                  <a:t>用虚四元数来表示：</a:t>
                </a:r>
              </a:p>
              <a:p>
                <a:r>
                  <a:rPr lang="en-US" altLang="zh-CN" sz="1200" i="0" kern="1200">
                    <a:solidFill>
                      <a:schemeClr val="tx1"/>
                    </a:solidFill>
                    <a:effectLst/>
                    <a:latin typeface="+mn-lt"/>
                    <a:ea typeface="+mn-ea"/>
                    <a:cs typeface="+mn-cs"/>
                  </a:rPr>
                  <a:t>𝑃=(0,𝑥,𝑦,𝑧)=(0,𝑆)</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其中，</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为旋转轴。</a:t>
                </a:r>
              </a:p>
              <a:p>
                <a:r>
                  <a:rPr lang="zh-CN" altLang="zh-CN" sz="1200" kern="1200" dirty="0">
                    <a:solidFill>
                      <a:schemeClr val="tx1"/>
                    </a:solidFill>
                    <a:effectLst/>
                    <a:latin typeface="+mn-lt"/>
                    <a:ea typeface="+mn-ea"/>
                    <a:cs typeface="+mn-cs"/>
                  </a:rPr>
                  <a:t>如果该点绕</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轴旋转</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角</a:t>
                </a:r>
                <a:r>
                  <a:rPr lang="zh-CN" altLang="zh-CN" sz="1200" kern="1200" dirty="0">
                    <a:solidFill>
                      <a:schemeClr val="tx1"/>
                    </a:solidFill>
                    <a:effectLst/>
                    <a:latin typeface="+mn-lt"/>
                    <a:ea typeface="+mn-ea"/>
                    <a:cs typeface="+mn-cs"/>
                  </a:rPr>
                  <a:t>，则该点新的旋转向量计算公式：</a:t>
                </a:r>
              </a:p>
              <a:p>
                <a:r>
                  <a:rPr lang="en-US" altLang="zh-CN" sz="1200" i="0" kern="1200">
                    <a:solidFill>
                      <a:schemeClr val="tx1"/>
                    </a:solidFill>
                    <a:effectLst/>
                    <a:latin typeface="+mn-lt"/>
                    <a:ea typeface="+mn-ea"/>
                    <a:cs typeface="+mn-cs"/>
                  </a:rPr>
                  <a:t>𝑃</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′=𝑞𝑃𝑞</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3-42</a:t>
                </a:r>
                <a:r>
                  <a:rPr lang="zh-CN" altLang="zh-CN" sz="1200" kern="1200" dirty="0">
                    <a:solidFill>
                      <a:schemeClr val="tx1"/>
                    </a:solidFill>
                    <a:effectLst/>
                    <a:latin typeface="+mn-lt"/>
                    <a:ea typeface="+mn-ea"/>
                    <a:cs typeface="+mn-cs"/>
                  </a:rPr>
                  <a:t>）</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57</a:t>
            </a:fld>
            <a:endParaRPr lang="zh-CN" altLang="en-US"/>
          </a:p>
        </p:txBody>
      </p:sp>
    </p:spTree>
    <p:extLst>
      <p:ext uri="{BB962C8B-B14F-4D97-AF65-F5344CB8AC3E}">
        <p14:creationId xmlns:p14="http://schemas.microsoft.com/office/powerpoint/2010/main" val="85858053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将公式</a:t>
                </a:r>
                <a:r>
                  <a:rPr lang="en-US" altLang="zh-CN" sz="1200" kern="1200" dirty="0">
                    <a:solidFill>
                      <a:schemeClr val="tx1"/>
                    </a:solidFill>
                    <a:effectLst/>
                    <a:latin typeface="+mn-lt"/>
                    <a:ea typeface="+mn-ea"/>
                    <a:cs typeface="+mn-cs"/>
                  </a:rPr>
                  <a:t>(3-42)</a:t>
                </a:r>
                <a:r>
                  <a:rPr lang="zh-CN" altLang="zh-CN" sz="1200" kern="1200" dirty="0">
                    <a:solidFill>
                      <a:schemeClr val="tx1"/>
                    </a:solidFill>
                    <a:effectLst/>
                    <a:latin typeface="+mn-lt"/>
                    <a:ea typeface="+mn-ea"/>
                    <a:cs typeface="+mn-cs"/>
                  </a:rPr>
                  <a:t>进行推广，对于</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个旋转轴的机械臂来说，假设末端</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在全局坐标系的初始位置为</a:t>
                </a:r>
                <a:r>
                  <a:rPr lang="en-US" altLang="zh-CN" sz="1200" kern="1200" dirty="0">
                    <a:solidFill>
                      <a:schemeClr val="tx1"/>
                    </a:solidFill>
                    <a:effectLst/>
                    <a:latin typeface="+mn-lt"/>
                    <a:ea typeface="+mn-ea"/>
                    <a:cs typeface="+mn-cs"/>
                  </a:rPr>
                  <a:t>p(</a:t>
                </a:r>
                <a:r>
                  <a:rPr lang="en-US" altLang="zh-CN" sz="1200" kern="1200" dirty="0" err="1">
                    <a:solidFill>
                      <a:schemeClr val="tx1"/>
                    </a:solidFill>
                    <a:effectLst/>
                    <a:latin typeface="+mn-lt"/>
                    <a:ea typeface="+mn-ea"/>
                    <a:cs typeface="+mn-cs"/>
                  </a:rPr>
                  <a:t>x,y,z</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，则该初始位置对应下面的虚四元数：</a:t>
                </a: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𝑃</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𝑥</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𝑦</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𝑧</m:t>
                      </m:r>
                      <m:r>
                        <a:rPr lang="en-US" altLang="zh-CN" sz="1200" i="1" kern="1200">
                          <a:solidFill>
                            <a:schemeClr val="tx1"/>
                          </a:solidFill>
                          <a:effectLst/>
                          <a:latin typeface="Cambria Math" panose="02040503050406030204" pitchFamily="18" charset="0"/>
                          <a:ea typeface="+mn-ea"/>
                          <a:cs typeface="+mn-cs"/>
                        </a:rPr>
                        <m:t>)</m:t>
                      </m:r>
                    </m:oMath>
                  </m:oMathPara>
                </a14:m>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该串联机械臂有</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个旋转轴</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𝑖</m:t>
                        </m:r>
                      </m:sub>
                    </m:sSub>
                  </m:oMath>
                </a14:m>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=0,1,2,…n)</a:t>
                </a:r>
                <a:r>
                  <a:rPr lang="zh-CN" altLang="zh-CN" sz="1200" kern="1200" dirty="0">
                    <a:solidFill>
                      <a:schemeClr val="tx1"/>
                    </a:solidFill>
                    <a:effectLst/>
                    <a:latin typeface="+mn-lt"/>
                    <a:ea typeface="+mn-ea"/>
                    <a:cs typeface="+mn-cs"/>
                  </a:rPr>
                  <a:t>，每个旋转轴</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𝑖𝑥</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𝑖𝑦</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𝑖𝑧</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对应的旋转角为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，可以得到各旋转轴对应的各四元数为：</a:t>
                </a:r>
              </a:p>
              <a:p>
                <a:r>
                  <a:rPr lang="zh-CN" altLang="zh-CN" sz="1200" b="1" kern="1200" dirty="0">
                    <a:solidFill>
                      <a:schemeClr val="tx1"/>
                    </a:solidFill>
                    <a:effectLst/>
                    <a:latin typeface="+mn-lt"/>
                    <a:ea typeface="+mn-ea"/>
                    <a:cs typeface="+mn-cs"/>
                  </a:rPr>
                  <a:t>旋转变换</a:t>
                </a:r>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0</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3</m:t>
                            </m:r>
                          </m:sub>
                        </m:sSub>
                      </m:e>
                    </m:d>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num>
                              <m:den>
                                <m:r>
                                  <a:rPr lang="en-US" altLang="zh-CN" sz="1200" i="1" kern="1200">
                                    <a:solidFill>
                                      <a:schemeClr val="tx1"/>
                                    </a:solidFill>
                                    <a:effectLst/>
                                    <a:latin typeface="Cambria Math" panose="02040503050406030204" pitchFamily="18" charset="0"/>
                                    <a:ea typeface="+mn-ea"/>
                                    <a:cs typeface="+mn-cs"/>
                                  </a:rPr>
                                  <m:t>2</m:t>
                                </m:r>
                              </m:den>
                            </m:f>
                          </m:e>
                        </m:d>
                      </m:e>
                    </m:func>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num>
                              <m:den>
                                <m:r>
                                  <a:rPr lang="en-US" altLang="zh-CN" sz="1200" i="1" kern="1200">
                                    <a:solidFill>
                                      <a:schemeClr val="tx1"/>
                                    </a:solidFill>
                                    <a:effectLst/>
                                    <a:latin typeface="Cambria Math" panose="02040503050406030204" pitchFamily="18" charset="0"/>
                                    <a:ea typeface="+mn-ea"/>
                                    <a:cs typeface="+mn-cs"/>
                                  </a:rPr>
                                  <m:t>2</m:t>
                                </m:r>
                              </m:den>
                            </m:f>
                          </m:e>
                        </m:d>
                      </m:e>
                    </m:func>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𝑖𝑥</m:t>
                        </m:r>
                      </m:sub>
                    </m:sSub>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num>
                              <m:den>
                                <m:r>
                                  <a:rPr lang="en-US" altLang="zh-CN" sz="1200" i="1" kern="1200">
                                    <a:solidFill>
                                      <a:schemeClr val="tx1"/>
                                    </a:solidFill>
                                    <a:effectLst/>
                                    <a:latin typeface="Cambria Math" panose="02040503050406030204" pitchFamily="18" charset="0"/>
                                    <a:ea typeface="+mn-ea"/>
                                    <a:cs typeface="+mn-cs"/>
                                  </a:rPr>
                                  <m:t>2</m:t>
                                </m:r>
                              </m:den>
                            </m:f>
                          </m:e>
                        </m:d>
                      </m:e>
                    </m:func>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𝑖𝑦</m:t>
                        </m:r>
                      </m:sub>
                    </m:sSub>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num>
                              <m:den>
                                <m:r>
                                  <a:rPr lang="en-US" altLang="zh-CN" sz="1200" i="1" kern="1200">
                                    <a:solidFill>
                                      <a:schemeClr val="tx1"/>
                                    </a:solidFill>
                                    <a:effectLst/>
                                    <a:latin typeface="Cambria Math" panose="02040503050406030204" pitchFamily="18" charset="0"/>
                                    <a:ea typeface="+mn-ea"/>
                                    <a:cs typeface="+mn-cs"/>
                                  </a:rPr>
                                  <m:t>2</m:t>
                                </m:r>
                              </m:den>
                            </m:f>
                          </m:e>
                        </m:d>
                      </m:e>
                    </m:func>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𝑖𝑧</m:t>
                        </m:r>
                      </m:sub>
                    </m:sSub>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      (3-43)</a:t>
                </a:r>
                <a:endParaRPr lang="zh-CN" altLang="zh-CN" sz="120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位置变换</a:t>
                </a:r>
                <a:r>
                  <a:rPr lang="zh-CN" altLang="zh-CN" sz="1200" kern="1200" dirty="0">
                    <a:solidFill>
                      <a:schemeClr val="tx1"/>
                    </a:solidFill>
                    <a:effectLst/>
                    <a:latin typeface="+mn-lt"/>
                    <a:ea typeface="+mn-ea"/>
                    <a:cs typeface="+mn-cs"/>
                  </a:rPr>
                  <a:t>：</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e>
                      <m:sup>
                        <m:r>
                          <a:rPr lang="en-US" altLang="zh-CN" sz="1200" i="1" kern="1200">
                            <a:solidFill>
                              <a:schemeClr val="tx1"/>
                            </a:solidFill>
                            <a:effectLst/>
                            <a:latin typeface="Cambria Math" panose="02040503050406030204" pitchFamily="18" charset="0"/>
                            <a:ea typeface="+mn-ea"/>
                            <a:cs typeface="+mn-cs"/>
                          </a:rPr>
                          <m:t>𝑜</m:t>
                        </m:r>
                      </m:sup>
                    </m:sSup>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e>
                      <m:sup>
                        <m:r>
                          <a:rPr lang="en-US" altLang="zh-CN" sz="1200" i="1" kern="1200">
                            <a:solidFill>
                              <a:schemeClr val="tx1"/>
                            </a:solidFill>
                            <a:effectLst/>
                            <a:latin typeface="Cambria Math" panose="02040503050406030204" pitchFamily="18" charset="0"/>
                            <a:ea typeface="+mn-ea"/>
                            <a:cs typeface="+mn-cs"/>
                          </a:rPr>
                          <m:t>−1</m:t>
                        </m:r>
                      </m:sup>
                    </m:sSup>
                  </m:oMath>
                </a14:m>
                <a:r>
                  <a:rPr lang="en-US" altLang="zh-CN" sz="1200" kern="1200" dirty="0">
                    <a:solidFill>
                      <a:schemeClr val="tx1"/>
                    </a:solidFill>
                    <a:effectLst/>
                    <a:latin typeface="+mn-lt"/>
                    <a:ea typeface="+mn-ea"/>
                    <a:cs typeface="+mn-cs"/>
                  </a:rPr>
                  <a:t>           (3-44)</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其中：</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为第</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个旋转轴上的任意点（</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=1,2,…n</a:t>
                </a:r>
                <a:r>
                  <a:rPr lang="zh-CN" altLang="zh-CN" sz="1200" kern="1200" dirty="0">
                    <a:solidFill>
                      <a:schemeClr val="tx1"/>
                    </a:solidFill>
                    <a:effectLst/>
                    <a:latin typeface="+mn-lt"/>
                    <a:ea typeface="+mn-ea"/>
                    <a:cs typeface="+mn-cs"/>
                  </a:rPr>
                  <a:t>），其坐标值在基坐标系中进行度量，一般为了计算方便，可将重合坐标轴上的值取</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通过一系列旋转轴的运动之后，</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在全局坐标系中的最新位置对应的总变换可以如下公式进行计算：</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oMath>
                </a14:m>
                <a:r>
                  <a:rPr lang="en-US" altLang="zh-CN" sz="1200" kern="1200" dirty="0">
                    <a:solidFill>
                      <a:schemeClr val="tx1"/>
                    </a:solidFill>
                    <a:effectLst/>
                    <a:latin typeface="+mn-lt"/>
                    <a:ea typeface="+mn-ea"/>
                    <a:cs typeface="+mn-cs"/>
                  </a:rPr>
                  <a:t>   (3-45)</a:t>
                </a:r>
                <a:endParaRPr lang="zh-CN" altLang="zh-CN" sz="1200" kern="1200" dirty="0">
                  <a:solidFill>
                    <a:schemeClr val="tx1"/>
                  </a:solidFill>
                  <a:effectLst/>
                  <a:latin typeface="+mn-lt"/>
                  <a:ea typeface="+mn-ea"/>
                  <a:cs typeface="+mn-cs"/>
                </a:endParaRPr>
              </a:p>
              <a:p>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𝑖</m:t>
                            </m:r>
                          </m:sub>
                        </m:sSub>
                      </m:e>
                      <m:sup>
                        <m:r>
                          <a:rPr lang="en-US" altLang="zh-CN" sz="1200" i="1" kern="1200">
                            <a:solidFill>
                              <a:schemeClr val="tx1"/>
                            </a:solidFill>
                            <a:effectLst/>
                            <a:latin typeface="Cambria Math" panose="02040503050406030204" pitchFamily="18" charset="0"/>
                            <a:ea typeface="+mn-ea"/>
                            <a:cs typeface="+mn-cs"/>
                          </a:rPr>
                          <m:t>𝑜</m:t>
                        </m:r>
                      </m:sup>
                    </m:sSup>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e>
                      <m:sup>
                        <m:r>
                          <a:rPr lang="en-US" altLang="zh-CN" sz="1200" i="1" kern="1200">
                            <a:solidFill>
                              <a:schemeClr val="tx1"/>
                            </a:solidFill>
                            <a:effectLst/>
                            <a:latin typeface="Cambria Math" panose="02040503050406030204" pitchFamily="18" charset="0"/>
                            <a:ea typeface="+mn-ea"/>
                            <a:cs typeface="+mn-cs"/>
                          </a:rPr>
                          <m:t>−1</m:t>
                        </m:r>
                      </m:sup>
                    </m:sSup>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𝑖</m:t>
                            </m:r>
                          </m:sub>
                        </m:sSub>
                      </m:e>
                      <m:sup>
                        <m:r>
                          <a:rPr lang="en-US" altLang="zh-CN" sz="1200" i="1" kern="1200">
                            <a:solidFill>
                              <a:schemeClr val="tx1"/>
                            </a:solidFill>
                            <a:effectLst/>
                            <a:latin typeface="Cambria Math" panose="02040503050406030204" pitchFamily="18" charset="0"/>
                            <a:ea typeface="+mn-ea"/>
                            <a:cs typeface="+mn-cs"/>
                          </a:rPr>
                          <m:t>−1</m:t>
                        </m:r>
                      </m:sup>
                    </m:sSup>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e>
                      <m:sup>
                        <m:r>
                          <a:rPr lang="en-US" altLang="zh-CN" sz="1200" i="1" kern="1200">
                            <a:solidFill>
                              <a:schemeClr val="tx1"/>
                            </a:solidFill>
                            <a:effectLst/>
                            <a:latin typeface="Cambria Math" panose="02040503050406030204" pitchFamily="18" charset="0"/>
                            <a:ea typeface="+mn-ea"/>
                            <a:cs typeface="+mn-cs"/>
                          </a:rPr>
                          <m:t>𝑜</m:t>
                        </m:r>
                      </m:sup>
                    </m:sSup>
                  </m:oMath>
                </a14:m>
                <a:r>
                  <a:rPr lang="en-US" altLang="zh-CN" sz="1200" kern="1200" dirty="0">
                    <a:solidFill>
                      <a:schemeClr val="tx1"/>
                    </a:solidFill>
                    <a:effectLst/>
                    <a:latin typeface="+mn-lt"/>
                    <a:ea typeface="+mn-ea"/>
                    <a:cs typeface="+mn-cs"/>
                  </a:rPr>
                  <a:t>  (3-46)</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其中</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和</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𝑖</m:t>
                            </m:r>
                          </m:sub>
                        </m:sSub>
                      </m:e>
                      <m:sup>
                        <m:r>
                          <a:rPr lang="en-US" altLang="zh-CN" sz="1200" i="1" kern="1200">
                            <a:solidFill>
                              <a:schemeClr val="tx1"/>
                            </a:solidFill>
                            <a:effectLst/>
                            <a:latin typeface="Cambria Math" panose="02040503050406030204" pitchFamily="18" charset="0"/>
                            <a:ea typeface="+mn-ea"/>
                            <a:cs typeface="+mn-cs"/>
                          </a:rPr>
                          <m:t>0</m:t>
                        </m:r>
                      </m:sup>
                    </m:sSup>
                  </m:oMath>
                </a14:m>
                <a:r>
                  <a:rPr lang="zh-CN" altLang="zh-CN" sz="1200" kern="1200" dirty="0">
                    <a:solidFill>
                      <a:schemeClr val="tx1"/>
                    </a:solidFill>
                    <a:effectLst/>
                    <a:latin typeface="+mn-lt"/>
                    <a:ea typeface="+mn-ea"/>
                    <a:cs typeface="+mn-cs"/>
                  </a:rPr>
                  <a:t>代表相应旋转和平移变换（</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=1,2,…n</a:t>
                </a:r>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Sub>
                    <m:r>
                      <a:rPr lang="zh-CN"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11</m:t>
                            </m:r>
                          </m:sub>
                        </m:sSub>
                      </m:e>
                      <m:sup>
                        <m:r>
                          <a:rPr lang="en-US" altLang="zh-CN" sz="1200" i="1" kern="1200">
                            <a:solidFill>
                              <a:schemeClr val="tx1"/>
                            </a:solidFill>
                            <a:effectLst/>
                            <a:latin typeface="Cambria Math" panose="02040503050406030204" pitchFamily="18" charset="0"/>
                            <a:ea typeface="+mn-ea"/>
                            <a:cs typeface="+mn-cs"/>
                          </a:rPr>
                          <m:t>𝑜</m:t>
                        </m:r>
                      </m:sup>
                    </m:sSup>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Sub>
                      </m:e>
                      <m:sup>
                        <m:r>
                          <a:rPr lang="en-US" altLang="zh-CN" sz="1200" i="1" kern="1200">
                            <a:solidFill>
                              <a:schemeClr val="tx1"/>
                            </a:solidFill>
                            <a:effectLst/>
                            <a:latin typeface="Cambria Math" panose="02040503050406030204" pitchFamily="18" charset="0"/>
                            <a:ea typeface="+mn-ea"/>
                            <a:cs typeface="+mn-cs"/>
                          </a:rPr>
                          <m:t>𝑜</m:t>
                        </m:r>
                      </m:sup>
                    </m:sSup>
                  </m:oMath>
                </a14:m>
                <a:r>
                  <a:rPr lang="zh-CN" altLang="zh-CN" sz="1200" kern="1200" dirty="0">
                    <a:solidFill>
                      <a:schemeClr val="tx1"/>
                    </a:solidFill>
                    <a:effectLst/>
                    <a:latin typeface="+mn-lt"/>
                    <a:ea typeface="+mn-ea"/>
                    <a:cs typeface="+mn-cs"/>
                  </a:rPr>
                  <a:t>，据此，机械臂终端执行器</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的位姿可以表示为：</a:t>
                </a:r>
              </a:p>
              <a:p>
                <a:r>
                  <a:rPr lang="zh-CN" altLang="zh-CN" sz="1200" kern="1200" dirty="0">
                    <a:solidFill>
                      <a:schemeClr val="tx1"/>
                    </a:solidFill>
                    <a:effectLst/>
                    <a:latin typeface="+mn-lt"/>
                    <a:ea typeface="+mn-ea"/>
                    <a:cs typeface="+mn-cs"/>
                  </a:rPr>
                  <a:t>姿态：</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𝑙</m:t>
                        </m:r>
                      </m:e>
                      <m:sub>
                        <m:r>
                          <a:rPr lang="en-US" altLang="zh-CN" sz="1200" i="1" kern="1200">
                            <a:solidFill>
                              <a:schemeClr val="tx1"/>
                            </a:solidFill>
                            <a:effectLst/>
                            <a:latin typeface="Cambria Math" panose="02040503050406030204" pitchFamily="18" charset="0"/>
                            <a:ea typeface="+mn-ea"/>
                            <a:cs typeface="+mn-cs"/>
                          </a:rPr>
                          <m:t>𝑜</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𝑛</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𝑙</m:t>
                        </m:r>
                      </m:e>
                      <m:sub>
                        <m:r>
                          <a:rPr lang="en-US" altLang="zh-CN" sz="1200" i="1" kern="1200">
                            <a:solidFill>
                              <a:schemeClr val="tx1"/>
                            </a:solidFill>
                            <a:effectLst/>
                            <a:latin typeface="Cambria Math" panose="02040503050406030204" pitchFamily="18" charset="0"/>
                            <a:ea typeface="+mn-ea"/>
                            <a:cs typeface="+mn-cs"/>
                          </a:rPr>
                          <m:t>𝑜</m:t>
                        </m:r>
                      </m:sub>
                    </m:sSub>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𝑛</m:t>
                            </m:r>
                          </m:sub>
                        </m:sSub>
                      </m:e>
                      <m:sup>
                        <m:r>
                          <a:rPr lang="en-US" altLang="zh-CN" sz="1200" i="1" kern="1200">
                            <a:solidFill>
                              <a:schemeClr val="tx1"/>
                            </a:solidFill>
                            <a:effectLst/>
                            <a:latin typeface="Cambria Math" panose="02040503050406030204" pitchFamily="18" charset="0"/>
                            <a:ea typeface="+mn-ea"/>
                            <a:cs typeface="+mn-cs"/>
                          </a:rPr>
                          <m:t>∗</m:t>
                        </m:r>
                      </m:sup>
                    </m:sSup>
                  </m:oMath>
                </a14:m>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位置：</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𝑒𝑝</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𝑛</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𝑒𝑝</m:t>
                        </m:r>
                      </m:sub>
                    </m:sSub>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𝑛</m:t>
                            </m:r>
                          </m:sub>
                        </m:sSub>
                      </m:e>
                      <m:sup>
                        <m:r>
                          <a:rPr lang="en-US" altLang="zh-CN" sz="1200" i="1" kern="1200">
                            <a:solidFill>
                              <a:schemeClr val="tx1"/>
                            </a:solidFill>
                            <a:effectLst/>
                            <a:latin typeface="Cambria Math" panose="02040503050406030204" pitchFamily="18" charset="0"/>
                            <a:ea typeface="+mn-ea"/>
                            <a:cs typeface="+mn-cs"/>
                          </a:rPr>
                          <m:t>−1</m:t>
                        </m:r>
                      </m:sup>
                    </m:sSup>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𝑛</m:t>
                            </m:r>
                          </m:sub>
                        </m:sSub>
                      </m:e>
                      <m:sup>
                        <m:r>
                          <a:rPr lang="en-US" altLang="zh-CN" sz="1200" i="1" kern="1200">
                            <a:solidFill>
                              <a:schemeClr val="tx1"/>
                            </a:solidFill>
                            <a:effectLst/>
                            <a:latin typeface="Cambria Math" panose="02040503050406030204" pitchFamily="18" charset="0"/>
                            <a:ea typeface="+mn-ea"/>
                            <a:cs typeface="+mn-cs"/>
                          </a:rPr>
                          <m:t>𝑜</m:t>
                        </m:r>
                      </m:sup>
                    </m:sSup>
                  </m:oMath>
                </a14:m>
                <a:r>
                  <a:rPr lang="en-US" altLang="zh-CN" sz="1200" kern="1200" dirty="0">
                    <a:solidFill>
                      <a:schemeClr val="tx1"/>
                    </a:solidFill>
                    <a:effectLst/>
                    <a:latin typeface="+mn-lt"/>
                    <a:ea typeface="+mn-ea"/>
                    <a:cs typeface="+mn-cs"/>
                  </a:rPr>
                  <a:t>     (3-47)</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其中</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𝑙</m:t>
                        </m:r>
                      </m:e>
                      <m:sub>
                        <m:r>
                          <a:rPr lang="en-US" altLang="zh-CN" sz="1200" i="1" kern="1200">
                            <a:solidFill>
                              <a:schemeClr val="tx1"/>
                            </a:solidFill>
                            <a:effectLst/>
                            <a:latin typeface="Cambria Math" panose="02040503050406030204" pitchFamily="18" charset="0"/>
                            <a:ea typeface="+mn-ea"/>
                            <a:cs typeface="+mn-cs"/>
                          </a:rPr>
                          <m:t>𝑜</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𝑒𝑝</m:t>
                        </m:r>
                      </m:sub>
                    </m:sSub>
                  </m:oMath>
                </a14:m>
                <a:r>
                  <a:rPr lang="zh-CN" altLang="zh-CN" sz="1200" kern="1200" dirty="0">
                    <a:solidFill>
                      <a:schemeClr val="tx1"/>
                    </a:solidFill>
                    <a:effectLst/>
                    <a:latin typeface="+mn-lt"/>
                    <a:ea typeface="+mn-ea"/>
                    <a:cs typeface="+mn-cs"/>
                  </a:rPr>
                  <a:t>表示变换前终端执行器</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的姿态和位置四元数，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𝑙</m:t>
                        </m:r>
                      </m:e>
                      <m:sub>
                        <m:r>
                          <a:rPr lang="en-US" altLang="zh-CN" sz="1200" i="1" kern="1200">
                            <a:solidFill>
                              <a:schemeClr val="tx1"/>
                            </a:solidFill>
                            <a:effectLst/>
                            <a:latin typeface="Cambria Math" panose="02040503050406030204" pitchFamily="18" charset="0"/>
                            <a:ea typeface="+mn-ea"/>
                            <a:cs typeface="+mn-cs"/>
                          </a:rPr>
                          <m:t>𝑜</m:t>
                        </m:r>
                        <m:r>
                          <a:rPr lang="en-US" altLang="zh-CN" sz="1200" i="1" kern="1200">
                            <a:solidFill>
                              <a:schemeClr val="tx1"/>
                            </a:solidFill>
                            <a:effectLst/>
                            <a:latin typeface="Cambria Math" panose="02040503050406030204" pitchFamily="18" charset="0"/>
                            <a:ea typeface="+mn-ea"/>
                            <a:cs typeface="+mn-cs"/>
                          </a:rPr>
                          <m:t>+1</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𝑒𝑝</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表示变换后的姿态和位置。</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注意，其中四元数的乘法符号为</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，可以采用如下矩阵形式进行计算：</a:t>
                </a:r>
              </a:p>
              <a:p>
                <a:r>
                  <a:rPr lang="zh-CN" altLang="zh-CN" sz="1200" kern="1200" dirty="0">
                    <a:solidFill>
                      <a:schemeClr val="tx1"/>
                    </a:solidFill>
                    <a:effectLst/>
                    <a:latin typeface="+mn-lt"/>
                    <a:ea typeface="+mn-ea"/>
                    <a:cs typeface="+mn-cs"/>
                  </a:rPr>
                  <a:t>假设有两个四元数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𝑄</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(0),</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(1),</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(2),</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(3))</m:t>
                    </m:r>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𝑄</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(0),</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(1),</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(2),</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(3))</m:t>
                    </m:r>
                  </m:oMath>
                </a14:m>
                <a:r>
                  <a:rPr lang="zh-CN" altLang="zh-CN" sz="1200" kern="1200" dirty="0">
                    <a:solidFill>
                      <a:schemeClr val="tx1"/>
                    </a:solidFill>
                    <a:effectLst/>
                    <a:latin typeface="+mn-lt"/>
                    <a:ea typeface="+mn-ea"/>
                    <a:cs typeface="+mn-cs"/>
                  </a:rPr>
                  <a:t>，则：</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𝑄</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𝑄</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(1)</m:t>
                                    </m:r>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(1)</m:t>
                                    </m:r>
                                  </m:e>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(0)</m:t>
                                    </m:r>
                                  </m:e>
                                </m:mr>
                              </m:m>
                            </m:e>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(2)</m:t>
                                    </m:r>
                                  </m:e>
                                  <m:e>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(3)</m:t>
                                    </m:r>
                                  </m:e>
                                </m:mr>
                                <m:mr>
                                  <m:e>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(3)</m:t>
                                    </m:r>
                                  </m:e>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(2)</m:t>
                                    </m:r>
                                  </m:e>
                                </m:mr>
                              </m:m>
                            </m:e>
                          </m:mr>
                          <m:m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(2)</m:t>
                                    </m:r>
                                  </m:e>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(3)</m:t>
                                    </m:r>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(3)</m:t>
                                    </m:r>
                                  </m:e>
                                  <m:e>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(2)</m:t>
                                    </m:r>
                                  </m:e>
                                </m:mr>
                              </m:m>
                            </m:e>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(1)</m:t>
                                    </m:r>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(1)</m:t>
                                    </m:r>
                                  </m:e>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(0)</m:t>
                                    </m:r>
                                  </m:e>
                                </m:mr>
                              </m:m>
                            </m:e>
                          </m:mr>
                        </m:m>
                      </m:e>
                    </m:d>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(0)</m:t>
                                    </m:r>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(1)</m:t>
                                    </m:r>
                                  </m:e>
                                </m:mr>
                              </m:m>
                            </m:e>
                          </m:mr>
                          <m:m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(2)</m:t>
                                    </m:r>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(3)</m:t>
                                    </m:r>
                                  </m:e>
                                </m:mr>
                              </m:m>
                            </m:e>
                          </m:mr>
                        </m:m>
                      </m:e>
                    </m:d>
                  </m:oMath>
                </a14:m>
                <a:r>
                  <a:rPr lang="en-US" altLang="zh-CN" sz="1200" kern="1200" dirty="0">
                    <a:solidFill>
                      <a:schemeClr val="tx1"/>
                    </a:solidFill>
                    <a:effectLst/>
                    <a:latin typeface="+mn-lt"/>
                    <a:ea typeface="+mn-ea"/>
                    <a:cs typeface="+mn-cs"/>
                  </a:rPr>
                  <a:t> (3-48)</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同理，</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𝑄</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e>
                      <m:sup>
                        <m:r>
                          <a:rPr lang="en-US" altLang="zh-CN" sz="1200" i="1" kern="1200">
                            <a:solidFill>
                              <a:schemeClr val="tx1"/>
                            </a:solidFill>
                            <a:effectLst/>
                            <a:latin typeface="Cambria Math" panose="02040503050406030204" pitchFamily="18" charset="0"/>
                            <a:ea typeface="+mn-ea"/>
                            <a:cs typeface="+mn-cs"/>
                          </a:rPr>
                          <m:t>−1</m:t>
                        </m:r>
                      </m:sup>
                    </m:sSup>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𝑄</m:t>
                            </m:r>
                          </m:e>
                          <m:sub>
                            <m:r>
                              <a:rPr lang="en-US" altLang="zh-CN" sz="1200" i="1" kern="1200">
                                <a:solidFill>
                                  <a:schemeClr val="tx1"/>
                                </a:solidFill>
                                <a:effectLst/>
                                <a:latin typeface="Cambria Math" panose="02040503050406030204" pitchFamily="18" charset="0"/>
                                <a:ea typeface="+mn-ea"/>
                                <a:cs typeface="+mn-cs"/>
                              </a:rPr>
                              <m:t>𝑖</m:t>
                            </m:r>
                          </m:sub>
                        </m:sSub>
                      </m:e>
                      <m:sup>
                        <m:r>
                          <a:rPr lang="en-US" altLang="zh-CN" sz="1200" i="1" kern="1200">
                            <a:solidFill>
                              <a:schemeClr val="tx1"/>
                            </a:solidFill>
                            <a:effectLst/>
                            <a:latin typeface="Cambria Math" panose="02040503050406030204" pitchFamily="18" charset="0"/>
                            <a:ea typeface="+mn-ea"/>
                            <a:cs typeface="+mn-cs"/>
                          </a:rPr>
                          <m:t>−1</m:t>
                        </m:r>
                      </m:sup>
                    </m:sSup>
                  </m:oMath>
                </a14:m>
                <a:r>
                  <a:rPr lang="zh-CN" altLang="zh-CN" sz="1200" kern="1200" dirty="0">
                    <a:solidFill>
                      <a:schemeClr val="tx1"/>
                    </a:solidFill>
                    <a:effectLst/>
                    <a:latin typeface="+mn-lt"/>
                    <a:ea typeface="+mn-ea"/>
                    <a:cs typeface="+mn-cs"/>
                  </a:rPr>
                  <a:t>也可通过式（</a:t>
                </a:r>
                <a:r>
                  <a:rPr lang="en-US" altLang="zh-CN" sz="1200" kern="1200" dirty="0">
                    <a:solidFill>
                      <a:schemeClr val="tx1"/>
                    </a:solidFill>
                    <a:effectLst/>
                    <a:latin typeface="+mn-lt"/>
                    <a:ea typeface="+mn-ea"/>
                    <a:cs typeface="+mn-cs"/>
                  </a:rPr>
                  <a:t>3-44</a:t>
                </a:r>
                <a:r>
                  <a:rPr lang="zh-CN" altLang="zh-CN" sz="1200" kern="1200" dirty="0">
                    <a:solidFill>
                      <a:schemeClr val="tx1"/>
                    </a:solidFill>
                    <a:effectLst/>
                    <a:latin typeface="+mn-lt"/>
                    <a:ea typeface="+mn-ea"/>
                    <a:cs typeface="+mn-cs"/>
                  </a:rPr>
                  <a:t>）进行计算。</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如果已知初始位姿态矩阵为</a:t>
                </a:r>
                <a:r>
                  <a:rPr lang="en-US" altLang="zh-CN" sz="1200" kern="1200" dirty="0">
                    <a:solidFill>
                      <a:schemeClr val="tx1"/>
                    </a:solidFill>
                    <a:effectLst/>
                    <a:latin typeface="+mn-lt"/>
                    <a:ea typeface="+mn-ea"/>
                    <a:cs typeface="+mn-cs"/>
                  </a:rPr>
                  <a:t>R</a:t>
                </a:r>
                <a:r>
                  <a:rPr lang="zh-CN" altLang="zh-CN" sz="1200" kern="1200" dirty="0">
                    <a:solidFill>
                      <a:schemeClr val="tx1"/>
                    </a:solidFill>
                    <a:effectLst/>
                    <a:latin typeface="+mn-lt"/>
                    <a:ea typeface="+mn-ea"/>
                    <a:cs typeface="+mn-cs"/>
                  </a:rPr>
                  <a:t>，则最终的姿态角也可以用公式（</a:t>
                </a:r>
                <a:r>
                  <a:rPr lang="en-US" altLang="zh-CN" sz="1200" kern="1200" dirty="0">
                    <a:solidFill>
                      <a:schemeClr val="tx1"/>
                    </a:solidFill>
                    <a:effectLst/>
                    <a:latin typeface="+mn-lt"/>
                    <a:ea typeface="+mn-ea"/>
                    <a:cs typeface="+mn-cs"/>
                  </a:rPr>
                  <a:t>3-49</a:t>
                </a:r>
                <a:r>
                  <a:rPr lang="zh-CN" altLang="zh-CN" sz="1200" kern="1200" dirty="0">
                    <a:solidFill>
                      <a:schemeClr val="tx1"/>
                    </a:solidFill>
                    <a:effectLst/>
                    <a:latin typeface="+mn-lt"/>
                    <a:ea typeface="+mn-ea"/>
                    <a:cs typeface="+mn-cs"/>
                  </a:rPr>
                  <a:t>）计算。</a:t>
                </a:r>
              </a:p>
              <a:p>
                <a:r>
                  <a:rPr lang="en-US" altLang="zh-CN" sz="1200" kern="1200" dirty="0">
                    <a:solidFill>
                      <a:schemeClr val="tx1"/>
                    </a:solidFill>
                    <a:effectLst/>
                    <a:latin typeface="+mn-lt"/>
                    <a:ea typeface="+mn-ea"/>
                    <a:cs typeface="+mn-cs"/>
                  </a:rPr>
                  <a:t>	</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𝑅</m:t>
                        </m:r>
                      </m:e>
                      <m:sup>
                        <m:r>
                          <a:rPr lang="en-US" altLang="zh-CN" sz="1200" i="1" kern="1200">
                            <a:solidFill>
                              <a:schemeClr val="tx1"/>
                            </a:solidFill>
                            <a:effectLst/>
                            <a:latin typeface="Cambria Math" panose="02040503050406030204" pitchFamily="18" charset="0"/>
                            <a:ea typeface="+mn-ea"/>
                            <a:cs typeface="+mn-cs"/>
                          </a:rPr>
                          <m:t>′</m:t>
                        </m:r>
                      </m:sup>
                    </m:sSup>
                    <m:r>
                      <a:rPr lang="en-US" altLang="zh-CN" sz="1200" i="1"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𝑄𝑢𝑎𝑡</m:t>
                    </m:r>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1</m:t>
                            </m:r>
                          </m:sub>
                        </m:sSub>
                      </m:e>
                    </m:acc>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𝑄𝑢𝑎𝑡</m:t>
                    </m:r>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2</m:t>
                            </m:r>
                          </m:sub>
                        </m:sSub>
                      </m:e>
                    </m:acc>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𝑄𝑢𝑎𝑡</m:t>
                    </m:r>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𝑛</m:t>
                            </m:r>
                          </m:sub>
                        </m:sSub>
                      </m:e>
                    </m:acc>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𝑛</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𝑅</m:t>
                    </m:r>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3-49</a:t>
                </a:r>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其中，</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𝑄𝑢𝑎𝑡</m:t>
                    </m:r>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𝑖</m:t>
                            </m:r>
                          </m:sub>
                        </m:sSub>
                      </m:e>
                    </m:acc>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为各旋转轴对应的旋转矩阵，</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为其对应四元数。</a:t>
                </a: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𝑄𝑢𝑎𝑡</m:t>
                      </m:r>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𝜔</m:t>
                              </m:r>
                            </m:e>
                            <m:sub>
                              <m:r>
                                <a:rPr lang="en-US" altLang="zh-CN" sz="1200" i="1" kern="1200">
                                  <a:solidFill>
                                    <a:schemeClr val="tx1"/>
                                  </a:solidFill>
                                  <a:effectLst/>
                                  <a:latin typeface="Cambria Math" panose="02040503050406030204" pitchFamily="18" charset="0"/>
                                  <a:ea typeface="+mn-ea"/>
                                  <a:cs typeface="+mn-cs"/>
                                </a:rPr>
                                <m:t>𝑖</m:t>
                              </m:r>
                            </m:sub>
                          </m:sSub>
                        </m:e>
                      </m:acc>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0</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up>
                                          <m:r>
                                            <a:rPr lang="en-US" altLang="zh-CN" sz="1200" i="1" kern="1200">
                                              <a:solidFill>
                                                <a:schemeClr val="tx1"/>
                                              </a:solidFill>
                                              <a:effectLst/>
                                              <a:latin typeface="Cambria Math" panose="02040503050406030204" pitchFamily="18" charset="0"/>
                                              <a:ea typeface="+mn-ea"/>
                                              <a:cs typeface="+mn-cs"/>
                                            </a:rPr>
                                            <m:t>2</m:t>
                                          </m:r>
                                        </m:sup>
                                      </m:sSubSup>
                                      <m:r>
                                        <a:rPr lang="zh-CN" altLang="en-US"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2</m:t>
                                          </m:r>
                                        </m:sub>
                                        <m:sup>
                                          <m:r>
                                            <a:rPr lang="en-US" altLang="zh-CN" sz="1200" i="1" kern="1200">
                                              <a:solidFill>
                                                <a:schemeClr val="tx1"/>
                                              </a:solidFill>
                                              <a:effectLst/>
                                              <a:latin typeface="Cambria Math" panose="02040503050406030204" pitchFamily="18" charset="0"/>
                                              <a:ea typeface="+mn-ea"/>
                                              <a:cs typeface="+mn-cs"/>
                                            </a:rPr>
                                            <m:t>2</m:t>
                                          </m:r>
                                        </m:sup>
                                      </m:sSubSup>
                                      <m:r>
                                        <a:rPr lang="zh-CN" altLang="en-US"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3</m:t>
                                          </m:r>
                                        </m:sub>
                                        <m:sup>
                                          <m:r>
                                            <a:rPr lang="en-US" altLang="zh-CN" sz="1200" i="1" kern="1200">
                                              <a:solidFill>
                                                <a:schemeClr val="tx1"/>
                                              </a:solidFill>
                                              <a:effectLst/>
                                              <a:latin typeface="Cambria Math" panose="02040503050406030204" pitchFamily="18" charset="0"/>
                                              <a:ea typeface="+mn-ea"/>
                                              <a:cs typeface="+mn-cs"/>
                                            </a:rPr>
                                            <m:t>2</m:t>
                                          </m:r>
                                        </m:sup>
                                      </m:sSubSup>
                                    </m:e>
                                    <m:e>
                                      <m:r>
                                        <a:rPr lang="en-US" altLang="zh-CN" sz="1200" i="1" kern="1200">
                                          <a:solidFill>
                                            <a:schemeClr val="tx1"/>
                                          </a:solidFill>
                                          <a:effectLst/>
                                          <a:latin typeface="Cambria Math" panose="02040503050406030204" pitchFamily="18" charset="0"/>
                                          <a:ea typeface="+mn-ea"/>
                                          <a:cs typeface="+mn-cs"/>
                                        </a:rPr>
                                        <m:t>2(</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0</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m:t>
                                      </m:r>
                                    </m:e>
                                    <m:e>
                                      <m:r>
                                        <a:rPr lang="en-US" altLang="zh-CN" sz="1200" i="1" kern="1200">
                                          <a:solidFill>
                                            <a:schemeClr val="tx1"/>
                                          </a:solidFill>
                                          <a:effectLst/>
                                          <a:latin typeface="Cambria Math" panose="02040503050406030204" pitchFamily="18" charset="0"/>
                                          <a:ea typeface="+mn-ea"/>
                                          <a:cs typeface="+mn-cs"/>
                                        </a:rPr>
                                        <m:t>2(</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0</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e>
                                  </m:mr>
                                  <m:mr>
                                    <m:e>
                                      <m:r>
                                        <a:rPr lang="en-US" altLang="zh-CN" sz="1200" i="1" kern="1200">
                                          <a:solidFill>
                                            <a:schemeClr val="tx1"/>
                                          </a:solidFill>
                                          <a:effectLst/>
                                          <a:latin typeface="Cambria Math" panose="02040503050406030204" pitchFamily="18" charset="0"/>
                                          <a:ea typeface="+mn-ea"/>
                                          <a:cs typeface="+mn-cs"/>
                                        </a:rPr>
                                        <m:t>2(</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0</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m:t>
                                      </m:r>
                                    </m:e>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0</m:t>
                                          </m:r>
                                        </m:sub>
                                        <m:sup>
                                          <m:r>
                                            <a:rPr lang="en-US" altLang="zh-CN" sz="1200" i="1" kern="1200">
                                              <a:solidFill>
                                                <a:schemeClr val="tx1"/>
                                              </a:solidFill>
                                              <a:effectLst/>
                                              <a:latin typeface="Cambria Math" panose="02040503050406030204" pitchFamily="18" charset="0"/>
                                              <a:ea typeface="+mn-ea"/>
                                              <a:cs typeface="+mn-cs"/>
                                            </a:rPr>
                                            <m:t>2</m:t>
                                          </m:r>
                                        </m:sup>
                                      </m:sSubSup>
                                      <m:r>
                                        <a:rPr lang="zh-CN" altLang="en-US"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2</m:t>
                                          </m:r>
                                        </m:sub>
                                        <m:sup>
                                          <m:r>
                                            <a:rPr lang="en-US" altLang="zh-CN" sz="1200" i="1" kern="1200">
                                              <a:solidFill>
                                                <a:schemeClr val="tx1"/>
                                              </a:solidFill>
                                              <a:effectLst/>
                                              <a:latin typeface="Cambria Math" panose="02040503050406030204" pitchFamily="18" charset="0"/>
                                              <a:ea typeface="+mn-ea"/>
                                              <a:cs typeface="+mn-cs"/>
                                            </a:rPr>
                                            <m:t>2</m:t>
                                          </m:r>
                                        </m:sup>
                                      </m:sSubSup>
                                      <m:r>
                                        <a:rPr lang="zh-CN" altLang="en-US"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3</m:t>
                                          </m:r>
                                        </m:sub>
                                        <m:sup>
                                          <m:r>
                                            <a:rPr lang="en-US" altLang="zh-CN" sz="1200" i="1" kern="1200">
                                              <a:solidFill>
                                                <a:schemeClr val="tx1"/>
                                              </a:solidFill>
                                              <a:effectLst/>
                                              <a:latin typeface="Cambria Math" panose="02040503050406030204" pitchFamily="18" charset="0"/>
                                              <a:ea typeface="+mn-ea"/>
                                              <a:cs typeface="+mn-cs"/>
                                            </a:rPr>
                                            <m:t>2</m:t>
                                          </m:r>
                                        </m:sup>
                                      </m:sSubSup>
                                    </m:e>
                                    <m:e>
                                      <m:r>
                                        <a:rPr lang="en-US" altLang="zh-CN" sz="1200" i="1" kern="1200">
                                          <a:solidFill>
                                            <a:schemeClr val="tx1"/>
                                          </a:solidFill>
                                          <a:effectLst/>
                                          <a:latin typeface="Cambria Math" panose="02040503050406030204" pitchFamily="18" charset="0"/>
                                          <a:ea typeface="+mn-ea"/>
                                          <a:cs typeface="+mn-cs"/>
                                        </a:rPr>
                                        <m:t>2(</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2</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0</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e>
                                  </m:mr>
                                  <m:mr>
                                    <m:e>
                                      <m:r>
                                        <a:rPr lang="en-US" altLang="zh-CN" sz="1200" i="1" kern="1200">
                                          <a:solidFill>
                                            <a:schemeClr val="tx1"/>
                                          </a:solidFill>
                                          <a:effectLst/>
                                          <a:latin typeface="Cambria Math" panose="02040503050406030204" pitchFamily="18" charset="0"/>
                                          <a:ea typeface="+mn-ea"/>
                                          <a:cs typeface="+mn-cs"/>
                                        </a:rPr>
                                        <m:t>2(</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0</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e>
                                    <m:e>
                                      <m:r>
                                        <a:rPr lang="en-US" altLang="zh-CN" sz="1200" i="1" kern="1200">
                                          <a:solidFill>
                                            <a:schemeClr val="tx1"/>
                                          </a:solidFill>
                                          <a:effectLst/>
                                          <a:latin typeface="Cambria Math" panose="02040503050406030204" pitchFamily="18" charset="0"/>
                                          <a:ea typeface="+mn-ea"/>
                                          <a:cs typeface="+mn-cs"/>
                                        </a:rPr>
                                        <m:t>2(</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2</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0</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e>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0</m:t>
                                          </m:r>
                                        </m:sub>
                                        <m:sup>
                                          <m:r>
                                            <a:rPr lang="en-US" altLang="zh-CN" sz="1200" i="1" kern="1200">
                                              <a:solidFill>
                                                <a:schemeClr val="tx1"/>
                                              </a:solidFill>
                                              <a:effectLst/>
                                              <a:latin typeface="Cambria Math" panose="02040503050406030204" pitchFamily="18" charset="0"/>
                                              <a:ea typeface="+mn-ea"/>
                                              <a:cs typeface="+mn-cs"/>
                                            </a:rPr>
                                            <m:t>2</m:t>
                                          </m:r>
                                        </m:sup>
                                      </m:sSubSup>
                                      <m:r>
                                        <a:rPr lang="zh-CN" altLang="en-US"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up>
                                          <m:r>
                                            <a:rPr lang="en-US" altLang="zh-CN" sz="1200" i="1" kern="1200">
                                              <a:solidFill>
                                                <a:schemeClr val="tx1"/>
                                              </a:solidFill>
                                              <a:effectLst/>
                                              <a:latin typeface="Cambria Math" panose="02040503050406030204" pitchFamily="18" charset="0"/>
                                              <a:ea typeface="+mn-ea"/>
                                              <a:cs typeface="+mn-cs"/>
                                            </a:rPr>
                                            <m:t>2</m:t>
                                          </m:r>
                                        </m:sup>
                                      </m:sSubSup>
                                      <m:r>
                                        <a:rPr lang="zh-CN" altLang="en-US"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2</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3</m:t>
                                          </m:r>
                                        </m:sub>
                                        <m:sup>
                                          <m:r>
                                            <a:rPr lang="en-US" altLang="zh-CN" sz="1200" i="1" kern="1200">
                                              <a:solidFill>
                                                <a:schemeClr val="tx1"/>
                                              </a:solidFill>
                                              <a:effectLst/>
                                              <a:latin typeface="Cambria Math" panose="02040503050406030204" pitchFamily="18" charset="0"/>
                                              <a:ea typeface="+mn-ea"/>
                                              <a:cs typeface="+mn-cs"/>
                                            </a:rPr>
                                            <m:t>2</m:t>
                                          </m:r>
                                        </m:sup>
                                      </m:sSubSup>
                                    </m:e>
                                  </m:mr>
                                </m:m>
                              </m:e>
                            </m:mr>
                          </m:m>
                        </m:e>
                      </m:d>
                    </m:oMath>
                  </m:oMathPara>
                </a14:m>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将公式</a:t>
                </a:r>
                <a:r>
                  <a:rPr lang="en-US" altLang="zh-CN" sz="1200" kern="1200" dirty="0">
                    <a:solidFill>
                      <a:schemeClr val="tx1"/>
                    </a:solidFill>
                    <a:effectLst/>
                    <a:latin typeface="+mn-lt"/>
                    <a:ea typeface="+mn-ea"/>
                    <a:cs typeface="+mn-cs"/>
                  </a:rPr>
                  <a:t>(3-42)</a:t>
                </a:r>
                <a:r>
                  <a:rPr lang="zh-CN" altLang="zh-CN" sz="1200" kern="1200" dirty="0">
                    <a:solidFill>
                      <a:schemeClr val="tx1"/>
                    </a:solidFill>
                    <a:effectLst/>
                    <a:latin typeface="+mn-lt"/>
                    <a:ea typeface="+mn-ea"/>
                    <a:cs typeface="+mn-cs"/>
                  </a:rPr>
                  <a:t>进行推广，对于</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个旋转轴的机械臂来说，假设末端</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在全局坐标系的初始位置为</a:t>
                </a:r>
                <a:r>
                  <a:rPr lang="en-US" altLang="zh-CN" sz="1200" kern="1200" dirty="0">
                    <a:solidFill>
                      <a:schemeClr val="tx1"/>
                    </a:solidFill>
                    <a:effectLst/>
                    <a:latin typeface="+mn-lt"/>
                    <a:ea typeface="+mn-ea"/>
                    <a:cs typeface="+mn-cs"/>
                  </a:rPr>
                  <a:t>p(</a:t>
                </a:r>
                <a:r>
                  <a:rPr lang="en-US" altLang="zh-CN" sz="1200" kern="1200" dirty="0" err="1">
                    <a:solidFill>
                      <a:schemeClr val="tx1"/>
                    </a:solidFill>
                    <a:effectLst/>
                    <a:latin typeface="+mn-lt"/>
                    <a:ea typeface="+mn-ea"/>
                    <a:cs typeface="+mn-cs"/>
                  </a:rPr>
                  <a:t>x,y,z</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，则该初始位置对应下面的虚四元数：</a:t>
                </a:r>
              </a:p>
              <a:p>
                <a:r>
                  <a:rPr lang="en-US" altLang="zh-CN" sz="1200" i="0" kern="1200">
                    <a:solidFill>
                      <a:schemeClr val="tx1"/>
                    </a:solidFill>
                    <a:effectLst/>
                    <a:latin typeface="+mn-lt"/>
                    <a:ea typeface="+mn-ea"/>
                    <a:cs typeface="+mn-cs"/>
                  </a:rPr>
                  <a:t>𝑃=(0,𝑥,𝑦,𝑧)</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该串联机械臂有</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个旋转轴</a:t>
                </a:r>
                <a:r>
                  <a:rPr lang="en-US" altLang="zh-CN" sz="1200" i="0" kern="1200">
                    <a:solidFill>
                      <a:schemeClr val="tx1"/>
                    </a:solidFill>
                    <a:effectLst/>
                    <a:latin typeface="+mn-lt"/>
                    <a:ea typeface="+mn-ea"/>
                    <a:cs typeface="+mn-cs"/>
                  </a:rPr>
                  <a:t>𝑆</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=0,1,2,…n)</a:t>
                </a:r>
                <a:r>
                  <a:rPr lang="zh-CN" altLang="zh-CN" sz="1200" kern="1200" dirty="0">
                    <a:solidFill>
                      <a:schemeClr val="tx1"/>
                    </a:solidFill>
                    <a:effectLst/>
                    <a:latin typeface="+mn-lt"/>
                    <a:ea typeface="+mn-ea"/>
                    <a:cs typeface="+mn-cs"/>
                  </a:rPr>
                  <a:t>，每个旋转轴</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(𝑛</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𝑖𝑥,𝑛</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𝑖𝑦,𝑛</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𝑖𝑧)</a:t>
                </a:r>
                <a:r>
                  <a:rPr lang="zh-CN" altLang="zh-CN" sz="1200" kern="1200" dirty="0">
                    <a:solidFill>
                      <a:schemeClr val="tx1"/>
                    </a:solidFill>
                    <a:effectLst/>
                    <a:latin typeface="+mn-lt"/>
                    <a:ea typeface="+mn-ea"/>
                    <a:cs typeface="+mn-cs"/>
                  </a:rPr>
                  <a:t>对应的旋转角为</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，可以得到各旋转轴对应的各四元数为：</a:t>
                </a:r>
              </a:p>
              <a:p>
                <a:r>
                  <a:rPr lang="zh-CN" altLang="zh-CN" sz="1200" b="1" kern="1200" dirty="0">
                    <a:solidFill>
                      <a:schemeClr val="tx1"/>
                    </a:solidFill>
                    <a:effectLst/>
                    <a:latin typeface="+mn-lt"/>
                    <a:ea typeface="+mn-ea"/>
                    <a:cs typeface="+mn-cs"/>
                  </a:rPr>
                  <a:t>旋转变换</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𝑖0,𝑞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𝑖2,𝑞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𝑖3 )=(cos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𝑛</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𝑖𝑥,sin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𝑛</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𝑖𝑦,sin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𝑛</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𝑖𝑧)</a:t>
                </a:r>
                <a:r>
                  <a:rPr lang="en-US" altLang="zh-CN" sz="1200" kern="1200" dirty="0">
                    <a:solidFill>
                      <a:schemeClr val="tx1"/>
                    </a:solidFill>
                    <a:effectLst/>
                    <a:latin typeface="+mn-lt"/>
                    <a:ea typeface="+mn-ea"/>
                    <a:cs typeface="+mn-cs"/>
                  </a:rPr>
                  <a:t>      (3-43)</a:t>
                </a:r>
                <a:endParaRPr lang="zh-CN" altLang="zh-CN" sz="120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位置变换</a:t>
                </a:r>
                <a:r>
                  <a:rPr lang="zh-CN" altLang="zh-CN" sz="1200" kern="1200" dirty="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(3-44)</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为第</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个旋转轴上的任意点（</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=1,2,…n</a:t>
                </a:r>
                <a:r>
                  <a:rPr lang="zh-CN" altLang="zh-CN" sz="1200" kern="1200" dirty="0">
                    <a:solidFill>
                      <a:schemeClr val="tx1"/>
                    </a:solidFill>
                    <a:effectLst/>
                    <a:latin typeface="+mn-lt"/>
                    <a:ea typeface="+mn-ea"/>
                    <a:cs typeface="+mn-cs"/>
                  </a:rPr>
                  <a:t>），其坐标值在基坐标系中进行度量，一般为了计算方便，可将重合坐标轴上的值取</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通过一系列旋转轴的运动之后，</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在全局坐标系中的最新位置对应的总变换可以如下公式进行计算：</a:t>
                </a:r>
              </a:p>
              <a:p>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1𝑖=𝑞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en-US" altLang="zh-CN" sz="1200" kern="1200" dirty="0">
                    <a:solidFill>
                      <a:schemeClr val="tx1"/>
                    </a:solidFill>
                    <a:effectLst/>
                    <a:latin typeface="+mn-lt"/>
                    <a:ea typeface="+mn-ea"/>
                    <a:cs typeface="+mn-cs"/>
                  </a:rPr>
                  <a:t>   (3-45)</a:t>
                </a:r>
                <a:endParaRPr lang="zh-CN" altLang="zh-CN" sz="1200" kern="1200" dirty="0">
                  <a:solidFill>
                    <a:schemeClr val="tx1"/>
                  </a:solidFill>
                  <a:effectLst/>
                  <a:latin typeface="+mn-lt"/>
                  <a:ea typeface="+mn-ea"/>
                  <a:cs typeface="+mn-cs"/>
                </a:endParaRPr>
              </a:p>
              <a:p>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1𝑖⨂𝑝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a:t>
                </a:r>
                <a:r>
                  <a:rPr lang="en-US" altLang="zh-CN" sz="1200" kern="1200" dirty="0">
                    <a:solidFill>
                      <a:schemeClr val="tx1"/>
                    </a:solidFill>
                    <a:effectLst/>
                    <a:latin typeface="+mn-lt"/>
                    <a:ea typeface="+mn-ea"/>
                    <a:cs typeface="+mn-cs"/>
                  </a:rPr>
                  <a:t>  (3-46)</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1𝑖</a:t>
                </a:r>
                <a:r>
                  <a:rPr lang="zh-CN" altLang="zh-CN" sz="1200" kern="1200" dirty="0">
                    <a:solidFill>
                      <a:schemeClr val="tx1"/>
                    </a:solidFill>
                    <a:effectLst/>
                    <a:latin typeface="+mn-lt"/>
                    <a:ea typeface="+mn-ea"/>
                    <a:cs typeface="+mn-cs"/>
                  </a:rPr>
                  <a:t>和</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代表相应旋转和平移变换（</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=1,2,…n</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1𝑖=𝑞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a:t>
                </a:r>
                <a:r>
                  <a:rPr lang="zh-CN" altLang="zh-CN" sz="1200" kern="1200" dirty="0">
                    <a:solidFill>
                      <a:schemeClr val="tx1"/>
                    </a:solidFill>
                    <a:effectLst/>
                    <a:latin typeface="+mn-lt"/>
                    <a:ea typeface="+mn-ea"/>
                    <a:cs typeface="+mn-cs"/>
                  </a:rPr>
                  <a:t>，据此，机械臂终端执行器</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的位姿可以表示为：</a:t>
                </a:r>
              </a:p>
              <a:p>
                <a:r>
                  <a:rPr lang="zh-CN" altLang="zh-CN" sz="1200" kern="1200" dirty="0">
                    <a:solidFill>
                      <a:schemeClr val="tx1"/>
                    </a:solidFill>
                    <a:effectLst/>
                    <a:latin typeface="+mn-lt"/>
                    <a:ea typeface="+mn-ea"/>
                    <a:cs typeface="+mn-cs"/>
                  </a:rPr>
                  <a:t>姿态：</a:t>
                </a:r>
                <a:r>
                  <a:rPr lang="en-US" altLang="zh-CN" sz="1200" i="0" kern="1200">
                    <a:solidFill>
                      <a:schemeClr val="tx1"/>
                    </a:solidFill>
                    <a:effectLst/>
                    <a:latin typeface="+mn-lt"/>
                    <a:ea typeface="+mn-ea"/>
                    <a:cs typeface="+mn-cs"/>
                  </a:rPr>
                  <a:t>𝑙</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𝑜+1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1𝑛⨂𝑙</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𝑜⨂</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1𝑛</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位置：</a:t>
                </a:r>
                <a:r>
                  <a:rPr lang="en-US" altLang="zh-CN" sz="1200" i="0" kern="1200">
                    <a:solidFill>
                      <a:schemeClr val="tx1"/>
                    </a:solidFill>
                    <a:effectLst/>
                    <a:latin typeface="+mn-lt"/>
                    <a:ea typeface="+mn-ea"/>
                    <a:cs typeface="+mn-cs"/>
                  </a:rPr>
                  <a:t>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𝑒𝑝+1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1𝑛⨂𝑝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𝑒𝑝⨂</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1𝑛</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1𝑛</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a:t>
                </a:r>
                <a:r>
                  <a:rPr lang="en-US" altLang="zh-CN" sz="1200" kern="1200" dirty="0">
                    <a:solidFill>
                      <a:schemeClr val="tx1"/>
                    </a:solidFill>
                    <a:effectLst/>
                    <a:latin typeface="+mn-lt"/>
                    <a:ea typeface="+mn-ea"/>
                    <a:cs typeface="+mn-cs"/>
                  </a:rPr>
                  <a:t>     (3-47)</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𝑙</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𝑜,𝑝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𝑒𝑝</a:t>
                </a:r>
                <a:r>
                  <a:rPr lang="zh-CN" altLang="zh-CN" sz="1200" kern="1200" dirty="0">
                    <a:solidFill>
                      <a:schemeClr val="tx1"/>
                    </a:solidFill>
                    <a:effectLst/>
                    <a:latin typeface="+mn-lt"/>
                    <a:ea typeface="+mn-ea"/>
                    <a:cs typeface="+mn-cs"/>
                  </a:rPr>
                  <a:t>表示变换前终端执行器</a:t>
                </a:r>
                <a:r>
                  <a:rPr lang="en-US" altLang="zh-CN" sz="1200" kern="1200" dirty="0">
                    <a:solidFill>
                      <a:schemeClr val="tx1"/>
                    </a:solidFill>
                    <a:effectLst/>
                    <a:latin typeface="+mn-lt"/>
                    <a:ea typeface="+mn-ea"/>
                    <a:cs typeface="+mn-cs"/>
                  </a:rPr>
                  <a:t>TCP</a:t>
                </a:r>
                <a:r>
                  <a:rPr lang="zh-CN" altLang="zh-CN" sz="1200" kern="1200" dirty="0">
                    <a:solidFill>
                      <a:schemeClr val="tx1"/>
                    </a:solidFill>
                    <a:effectLst/>
                    <a:latin typeface="+mn-lt"/>
                    <a:ea typeface="+mn-ea"/>
                    <a:cs typeface="+mn-cs"/>
                  </a:rPr>
                  <a:t>的姿态和位置四元数，</a:t>
                </a:r>
                <a:r>
                  <a:rPr lang="en-US" altLang="zh-CN" sz="1200" i="0" kern="1200">
                    <a:solidFill>
                      <a:schemeClr val="tx1"/>
                    </a:solidFill>
                    <a:effectLst/>
                    <a:latin typeface="+mn-lt"/>
                    <a:ea typeface="+mn-ea"/>
                    <a:cs typeface="+mn-cs"/>
                  </a:rPr>
                  <a:t>𝑙</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𝑜+1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𝑒𝑝+1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表示变换后的姿态和位置。</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注意，其中四元数的乘法符号为</a:t>
                </a:r>
                <a:r>
                  <a:rPr lang="en-US"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，可以采用如下矩阵形式进行计算：</a:t>
                </a:r>
              </a:p>
              <a:p>
                <a:r>
                  <a:rPr lang="zh-CN" altLang="zh-CN" sz="1200" kern="1200" dirty="0">
                    <a:solidFill>
                      <a:schemeClr val="tx1"/>
                    </a:solidFill>
                    <a:effectLst/>
                    <a:latin typeface="+mn-lt"/>
                    <a:ea typeface="+mn-ea"/>
                    <a:cs typeface="+mn-cs"/>
                  </a:rPr>
                  <a:t>假设有两个四元数</a:t>
                </a:r>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(0),𝑞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(1),𝑞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(2),𝑞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(3))</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(0),𝑞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(1),𝑞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(2),𝑞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(3))</a:t>
                </a:r>
                <a:r>
                  <a:rPr lang="zh-CN" altLang="zh-CN" sz="1200" kern="1200" dirty="0">
                    <a:solidFill>
                      <a:schemeClr val="tx1"/>
                    </a:solidFill>
                    <a:effectLst/>
                    <a:latin typeface="+mn-lt"/>
                    <a:ea typeface="+mn-ea"/>
                    <a:cs typeface="+mn-cs"/>
                  </a:rPr>
                  <a:t>，则：</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[■8(■8(</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(0)&amp;−𝑞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(1)@𝑞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(1)&amp;𝑞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(0))&amp;</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(2)&amp;−𝑞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(3)@−𝑞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(3)&amp;𝑞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(2))@</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(2)&amp;𝑞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(3)@𝑞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(3)&amp;−𝑞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(2))&amp;</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(0)&amp;−𝑞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(1)@𝑞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(1)&amp;𝑞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(0)))]</a:t>
                </a:r>
                <a:r>
                  <a:rPr lang="zh-CN" altLang="zh-CN" sz="1200" i="0" kern="1200">
                    <a:solidFill>
                      <a:schemeClr val="tx1"/>
                    </a:solidFill>
                    <a:effectLst/>
                    <a:latin typeface="+mn-lt"/>
                    <a:ea typeface="+mn-ea"/>
                    <a:cs typeface="+mn-cs"/>
                  </a:rPr>
                  <a:t>[■8(■8(</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(0)@𝑞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(1))@</a:t>
                </a:r>
                <a:r>
                  <a:rPr lang="zh-CN" altLang="zh-CN" sz="1200" i="0" kern="1200">
                    <a:solidFill>
                      <a:schemeClr val="tx1"/>
                    </a:solidFill>
                    <a:effectLst/>
                    <a:latin typeface="+mn-lt"/>
                    <a:ea typeface="+mn-ea"/>
                    <a:cs typeface="+mn-cs"/>
                  </a:rPr>
                  <a:t>■8(</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(2)@𝑞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(3)))]</a:t>
                </a:r>
                <a:r>
                  <a:rPr lang="en-US" altLang="zh-CN" sz="1200" kern="1200" dirty="0">
                    <a:solidFill>
                      <a:schemeClr val="tx1"/>
                    </a:solidFill>
                    <a:effectLst/>
                    <a:latin typeface="+mn-lt"/>
                    <a:ea typeface="+mn-ea"/>
                    <a:cs typeface="+mn-cs"/>
                  </a:rPr>
                  <a:t> (3-48)</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同理，</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也可通过式（</a:t>
                </a:r>
                <a:r>
                  <a:rPr lang="en-US" altLang="zh-CN" sz="1200" kern="1200" dirty="0">
                    <a:solidFill>
                      <a:schemeClr val="tx1"/>
                    </a:solidFill>
                    <a:effectLst/>
                    <a:latin typeface="+mn-lt"/>
                    <a:ea typeface="+mn-ea"/>
                    <a:cs typeface="+mn-cs"/>
                  </a:rPr>
                  <a:t>3-44</a:t>
                </a:r>
                <a:r>
                  <a:rPr lang="zh-CN" altLang="zh-CN" sz="1200" kern="1200" dirty="0">
                    <a:solidFill>
                      <a:schemeClr val="tx1"/>
                    </a:solidFill>
                    <a:effectLst/>
                    <a:latin typeface="+mn-lt"/>
                    <a:ea typeface="+mn-ea"/>
                    <a:cs typeface="+mn-cs"/>
                  </a:rPr>
                  <a:t>）进行计算。</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如果已知初始位姿态矩阵为</a:t>
                </a:r>
                <a:r>
                  <a:rPr lang="en-US" altLang="zh-CN" sz="1200" kern="1200" dirty="0">
                    <a:solidFill>
                      <a:schemeClr val="tx1"/>
                    </a:solidFill>
                    <a:effectLst/>
                    <a:latin typeface="+mn-lt"/>
                    <a:ea typeface="+mn-ea"/>
                    <a:cs typeface="+mn-cs"/>
                  </a:rPr>
                  <a:t>R</a:t>
                </a:r>
                <a:r>
                  <a:rPr lang="zh-CN" altLang="zh-CN" sz="1200" kern="1200" dirty="0">
                    <a:solidFill>
                      <a:schemeClr val="tx1"/>
                    </a:solidFill>
                    <a:effectLst/>
                    <a:latin typeface="+mn-lt"/>
                    <a:ea typeface="+mn-ea"/>
                    <a:cs typeface="+mn-cs"/>
                  </a:rPr>
                  <a:t>，则最终的姿态角也可以用公式（</a:t>
                </a:r>
                <a:r>
                  <a:rPr lang="en-US" altLang="zh-CN" sz="1200" kern="1200" dirty="0">
                    <a:solidFill>
                      <a:schemeClr val="tx1"/>
                    </a:solidFill>
                    <a:effectLst/>
                    <a:latin typeface="+mn-lt"/>
                    <a:ea typeface="+mn-ea"/>
                    <a:cs typeface="+mn-cs"/>
                  </a:rPr>
                  <a:t>3-49</a:t>
                </a:r>
                <a:r>
                  <a:rPr lang="zh-CN" altLang="zh-CN" sz="1200" kern="1200" dirty="0">
                    <a:solidFill>
                      <a:schemeClr val="tx1"/>
                    </a:solidFill>
                    <a:effectLst/>
                    <a:latin typeface="+mn-lt"/>
                    <a:ea typeface="+mn-ea"/>
                    <a:cs typeface="+mn-cs"/>
                  </a:rPr>
                  <a:t>）计算。</a:t>
                </a:r>
              </a:p>
              <a:p>
                <a:r>
                  <a:rPr lang="en-US" altLang="zh-CN" sz="1200" kern="1200" dirty="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𝑅</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𝑄𝑢𝑎𝑡(</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1)∗𝑄𝑢𝑎𝑡(</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2)∗⋯∗𝑄𝑢𝑎𝑡(</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𝑛)∗𝑅</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3-49</a:t>
                </a:r>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𝑄𝑢𝑎𝑡(</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为各旋转轴对应的旋转矩阵，</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为其对应四元数。</a:t>
                </a:r>
              </a:p>
              <a:p>
                <a:r>
                  <a:rPr lang="en-US" altLang="zh-CN" sz="1200" i="0" kern="1200">
                    <a:solidFill>
                      <a:schemeClr val="tx1"/>
                    </a:solidFill>
                    <a:effectLst/>
                    <a:latin typeface="+mn-lt"/>
                    <a:ea typeface="+mn-ea"/>
                    <a:cs typeface="+mn-cs"/>
                  </a:rPr>
                  <a:t>𝑄𝑢𝑎𝑡(</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𝜔</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 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[■8(■8(</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𝑖0^2+𝑞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𝑖1^2</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𝑖2^2</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𝑖3^2&amp;2(𝑞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𝑖2−𝑞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𝑖0</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𝑖3)&amp;2(𝑞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𝑖3+𝑞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𝑖0</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𝑖2)@2(𝑞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𝑖2+𝑞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𝑖0</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𝑖3)&amp;𝑞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𝑖0^2</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𝑖1^2+𝑞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𝑖2^2</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𝑖3^2&amp;2(𝑞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𝑖3−𝑞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𝑖0</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𝑖1)@2(𝑞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𝑖3−𝑞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𝑖0</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𝑖2)&amp;2(𝑞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𝑖3+𝑞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𝑖0</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𝑖1)&amp;𝑞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𝑖0^2</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𝑖1^2</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𝑖2^2+𝑞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𝑖3^2 ))]</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58</a:t>
            </a:fld>
            <a:endParaRPr lang="zh-CN" altLang="en-US"/>
          </a:p>
        </p:txBody>
      </p:sp>
    </p:spTree>
    <p:extLst>
      <p:ext uri="{BB962C8B-B14F-4D97-AF65-F5344CB8AC3E}">
        <p14:creationId xmlns:p14="http://schemas.microsoft.com/office/powerpoint/2010/main" val="313361580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59</a:t>
            </a:fld>
            <a:endParaRPr lang="zh-CN" altLang="en-US"/>
          </a:p>
        </p:txBody>
      </p:sp>
    </p:spTree>
    <p:extLst>
      <p:ext uri="{BB962C8B-B14F-4D97-AF65-F5344CB8AC3E}">
        <p14:creationId xmlns:p14="http://schemas.microsoft.com/office/powerpoint/2010/main" val="392868987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60</a:t>
            </a:fld>
            <a:endParaRPr lang="zh-CN" altLang="en-US"/>
          </a:p>
        </p:txBody>
      </p:sp>
    </p:spTree>
    <p:extLst>
      <p:ext uri="{BB962C8B-B14F-4D97-AF65-F5344CB8AC3E}">
        <p14:creationId xmlns:p14="http://schemas.microsoft.com/office/powerpoint/2010/main" val="5654626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从上可知，四元数求正解的方法也是基于旋量理论的一种算法，所不同的是四元数法没有采用指数积公式进行求解，而是定义了四元数的运算规则，直接进行变换求解。四元数的求解方法计算量小、精度更高，且四元数定义的姿态角可以防止“万向节死锁（</a:t>
            </a:r>
            <a:r>
              <a:rPr lang="en-US" altLang="zh-CN" sz="1200" kern="1200" dirty="0" smtClean="0">
                <a:solidFill>
                  <a:schemeClr val="tx1"/>
                </a:solidFill>
                <a:effectLst/>
                <a:latin typeface="+mn-lt"/>
                <a:ea typeface="+mn-ea"/>
                <a:cs typeface="+mn-cs"/>
              </a:rPr>
              <a:t>Gimbal Lock</a:t>
            </a:r>
            <a:r>
              <a:rPr lang="zh-CN" altLang="zh-CN" sz="1200" kern="1200" dirty="0" smtClean="0">
                <a:solidFill>
                  <a:schemeClr val="tx1"/>
                </a:solidFill>
                <a:effectLst/>
                <a:latin typeface="+mn-lt"/>
                <a:ea typeface="+mn-ea"/>
                <a:cs typeface="+mn-cs"/>
              </a:rPr>
              <a:t>）”，避免奇异现象的产生。四元数法相比旋量法，其物理表征难以对应到三维空间的运动，但其基础还是旋量理论。</a:t>
            </a:r>
          </a:p>
          <a:p>
            <a:r>
              <a:rPr lang="en-US" altLang="zh-CN" sz="1200" kern="1200" dirty="0" smtClean="0">
                <a:solidFill>
                  <a:schemeClr val="tx1"/>
                </a:solidFill>
                <a:effectLst/>
                <a:latin typeface="+mn-lt"/>
                <a:ea typeface="+mn-ea"/>
                <a:cs typeface="+mn-cs"/>
              </a:rPr>
              <a:t>	</a:t>
            </a:r>
            <a:r>
              <a:rPr lang="zh-CN" altLang="zh-CN" sz="1200" kern="1200" dirty="0" smtClean="0">
                <a:solidFill>
                  <a:schemeClr val="tx1"/>
                </a:solidFill>
                <a:effectLst/>
                <a:latin typeface="+mn-lt"/>
                <a:ea typeface="+mn-ea"/>
                <a:cs typeface="+mn-cs"/>
              </a:rPr>
              <a:t>在第</a:t>
            </a:r>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章中，我们介绍过表示姿态角的罗德里格斯参数法，实际为简化的四元数法，有兴趣的读者也可以根据四元数法推导出罗德里格斯参数法求正解的方法。</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61</a:t>
            </a:fld>
            <a:endParaRPr lang="zh-CN" altLang="en-US"/>
          </a:p>
        </p:txBody>
      </p:sp>
    </p:spTree>
    <p:extLst>
      <p:ext uri="{BB962C8B-B14F-4D97-AF65-F5344CB8AC3E}">
        <p14:creationId xmlns:p14="http://schemas.microsoft.com/office/powerpoint/2010/main" val="137577937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对偶四元数</a:t>
            </a:r>
            <a:r>
              <a:rPr lang="en-US" altLang="zh-CN" sz="1200" kern="1200" dirty="0" smtClean="0">
                <a:solidFill>
                  <a:schemeClr val="tx1"/>
                </a:solidFill>
                <a:effectLst/>
                <a:latin typeface="+mn-lt"/>
                <a:ea typeface="+mn-ea"/>
                <a:cs typeface="+mn-cs"/>
              </a:rPr>
              <a:t>(DQ</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dual-quaternions)</a:t>
            </a:r>
            <a:r>
              <a:rPr lang="zh-CN" altLang="zh-CN" sz="1200" kern="1200" dirty="0" smtClean="0">
                <a:solidFill>
                  <a:schemeClr val="tx1"/>
                </a:solidFill>
                <a:effectLst/>
                <a:latin typeface="+mn-lt"/>
                <a:ea typeface="+mn-ea"/>
                <a:cs typeface="+mn-cs"/>
              </a:rPr>
              <a:t>由</a:t>
            </a:r>
            <a:r>
              <a:rPr lang="en-US" altLang="zh-CN" sz="1200" kern="1200" dirty="0" smtClean="0">
                <a:solidFill>
                  <a:schemeClr val="tx1"/>
                </a:solidFill>
                <a:effectLst/>
                <a:latin typeface="+mn-lt"/>
                <a:ea typeface="+mn-ea"/>
                <a:cs typeface="+mn-cs"/>
              </a:rPr>
              <a:t>William Kingdom Clifford</a:t>
            </a:r>
            <a:r>
              <a:rPr lang="zh-CN" altLang="zh-CN" sz="1200" kern="1200" dirty="0" smtClean="0">
                <a:solidFill>
                  <a:schemeClr val="tx1"/>
                </a:solidFill>
                <a:effectLst/>
                <a:latin typeface="+mn-lt"/>
                <a:ea typeface="+mn-ea"/>
                <a:cs typeface="+mn-cs"/>
              </a:rPr>
              <a:t>于</a:t>
            </a:r>
            <a:r>
              <a:rPr lang="en-US" altLang="zh-CN" sz="1200" kern="1200" dirty="0" smtClean="0">
                <a:solidFill>
                  <a:schemeClr val="tx1"/>
                </a:solidFill>
                <a:effectLst/>
                <a:latin typeface="+mn-lt"/>
                <a:ea typeface="+mn-ea"/>
                <a:cs typeface="+mn-cs"/>
              </a:rPr>
              <a:t>1873</a:t>
            </a:r>
            <a:r>
              <a:rPr lang="zh-CN" altLang="zh-CN" sz="1200" kern="1200" dirty="0" smtClean="0">
                <a:solidFill>
                  <a:schemeClr val="tx1"/>
                </a:solidFill>
                <a:effectLst/>
                <a:latin typeface="+mn-lt"/>
                <a:ea typeface="+mn-ea"/>
                <a:cs typeface="+mn-cs"/>
              </a:rPr>
              <a:t>年提出。由于它们代表刚体的空间旋转和平移，可以认为是四元数的扩展。</a:t>
            </a:r>
          </a:p>
          <a:p>
            <a:r>
              <a:rPr lang="zh-CN" altLang="zh-CN" sz="1200" kern="1200" dirty="0" smtClean="0">
                <a:solidFill>
                  <a:schemeClr val="tx1"/>
                </a:solidFill>
                <a:effectLst/>
                <a:latin typeface="+mn-lt"/>
                <a:ea typeface="+mn-ea"/>
                <a:cs typeface="+mn-cs"/>
              </a:rPr>
              <a:t>完整的三维刚性变换由平移和旋转分量组成，虽然可以证明四元数是一般旋转运动的最佳解决方案，但它们仅代表刚性变换的一半。近年来，对偶四元数由于其兼具对偶数和四元数的综合优点，在机器人的运动学、动力学领域也得到广泛的重视和应用。</a:t>
            </a:r>
          </a:p>
          <a:p>
            <a:r>
              <a:rPr lang="en-US" altLang="zh-CN" sz="1200" kern="1200" dirty="0" smtClean="0">
                <a:solidFill>
                  <a:schemeClr val="tx1"/>
                </a:solidFill>
                <a:effectLst/>
                <a:latin typeface="+mn-lt"/>
                <a:ea typeface="+mn-ea"/>
                <a:cs typeface="+mn-cs"/>
              </a:rPr>
              <a:t>	</a:t>
            </a:r>
            <a:r>
              <a:rPr lang="zh-CN" altLang="zh-CN" sz="1200" kern="1200" dirty="0" smtClean="0">
                <a:solidFill>
                  <a:schemeClr val="tx1"/>
                </a:solidFill>
                <a:effectLst/>
                <a:latin typeface="+mn-lt"/>
                <a:ea typeface="+mn-ea"/>
                <a:cs typeface="+mn-cs"/>
              </a:rPr>
              <a:t>对偶四元数法将旋转和平移组合成一个统一的状态变量，形成具有</a:t>
            </a:r>
            <a:r>
              <a:rPr lang="en-US" altLang="zh-CN" sz="1200" kern="1200" dirty="0" smtClean="0">
                <a:solidFill>
                  <a:schemeClr val="tx1"/>
                </a:solidFill>
                <a:effectLst/>
                <a:latin typeface="+mn-lt"/>
                <a:ea typeface="+mn-ea"/>
                <a:cs typeface="+mn-cs"/>
              </a:rPr>
              <a:t>8</a:t>
            </a:r>
            <a:r>
              <a:rPr lang="zh-CN" altLang="zh-CN" sz="1200" kern="1200" dirty="0" smtClean="0">
                <a:solidFill>
                  <a:schemeClr val="tx1"/>
                </a:solidFill>
                <a:effectLst/>
                <a:latin typeface="+mn-lt"/>
                <a:ea typeface="+mn-ea"/>
                <a:cs typeface="+mn-cs"/>
              </a:rPr>
              <a:t>个标量的紧凑表示形式。它采用一个不变的坐标系来表示刚性变换，可以很容易地插值而不会产生歧义或万向节锁定，生成变换之间的恒定平滑插值，计算效率更高。</a:t>
            </a:r>
            <a:endParaRPr lang="en-US"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62</a:t>
            </a:fld>
            <a:endParaRPr lang="zh-CN" altLang="en-US"/>
          </a:p>
        </p:txBody>
      </p:sp>
    </p:spTree>
    <p:extLst>
      <p:ext uri="{BB962C8B-B14F-4D97-AF65-F5344CB8AC3E}">
        <p14:creationId xmlns:p14="http://schemas.microsoft.com/office/powerpoint/2010/main" val="283059327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63</a:t>
            </a:fld>
            <a:endParaRPr lang="zh-CN" altLang="en-US"/>
          </a:p>
        </p:txBody>
      </p:sp>
    </p:spTree>
    <p:extLst>
      <p:ext uri="{BB962C8B-B14F-4D97-AF65-F5344CB8AC3E}">
        <p14:creationId xmlns:p14="http://schemas.microsoft.com/office/powerpoint/2010/main" val="43853670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64</a:t>
            </a:fld>
            <a:endParaRPr lang="zh-CN" altLang="en-US"/>
          </a:p>
        </p:txBody>
      </p:sp>
    </p:spTree>
    <p:extLst>
      <p:ext uri="{BB962C8B-B14F-4D97-AF65-F5344CB8AC3E}">
        <p14:creationId xmlns:p14="http://schemas.microsoft.com/office/powerpoint/2010/main" val="127232900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针对</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个轴的串联式机器人，我们首先如同旋量法一样建立各轴的旋转轴向量及瞬时方向向量。旋转轴向量和旋量法中相同，瞬时方向向量采用对偶四元数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𝐿</m:t>
                        </m:r>
                      </m:e>
                      <m:sub>
                        <m:r>
                          <a:rPr lang="en-US" altLang="zh-CN" sz="1200" i="1" kern="1200">
                            <a:solidFill>
                              <a:schemeClr val="tx1"/>
                            </a:solidFill>
                            <a:effectLst/>
                            <a:latin typeface="Cambria Math" panose="02040503050406030204" pitchFamily="18" charset="0"/>
                            <a:ea typeface="+mn-ea"/>
                            <a:cs typeface="+mn-cs"/>
                          </a:rPr>
                          <m:t>𝑝𝑖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进行表示，其中</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=1,2,…,n, </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𝑖</m:t>
                        </m:r>
                      </m:sub>
                    </m:sSub>
                  </m:oMath>
                </a14:m>
                <a:r>
                  <a:rPr lang="en-US"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表示第</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轴直线上任意一点，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表示直线的方向向量</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𝑖𝑥</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𝑖𝑦</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𝑖𝑧</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各轴对应的变换操作采用对偶四元数进行表达：</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𝜀</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e>
                      <m:sup>
                        <m:r>
                          <a:rPr lang="en-US" altLang="zh-CN" sz="1200" i="1" kern="1200">
                            <a:solidFill>
                              <a:schemeClr val="tx1"/>
                            </a:solidFill>
                            <a:effectLst/>
                            <a:latin typeface="Cambria Math" panose="02040503050406030204" pitchFamily="18" charset="0"/>
                            <a:ea typeface="+mn-ea"/>
                            <a:cs typeface="+mn-cs"/>
                          </a:rPr>
                          <m:t>𝑜</m:t>
                        </m:r>
                      </m:sup>
                    </m:sSup>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或 </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  (3-51)</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公式</a:t>
                </a:r>
                <a:r>
                  <a:rPr lang="en-US" altLang="zh-CN" sz="1200" kern="1200" dirty="0">
                    <a:solidFill>
                      <a:schemeClr val="tx1"/>
                    </a:solidFill>
                    <a:effectLst/>
                    <a:latin typeface="+mn-lt"/>
                    <a:ea typeface="+mn-ea"/>
                    <a:cs typeface="+mn-cs"/>
                  </a:rPr>
                  <a:t>(3-51)</a:t>
                </a:r>
                <a:r>
                  <a:rPr lang="zh-CN" altLang="zh-CN" sz="1200" kern="1200" dirty="0">
                    <a:solidFill>
                      <a:schemeClr val="tx1"/>
                    </a:solidFill>
                    <a:effectLst/>
                    <a:latin typeface="+mn-lt"/>
                    <a:ea typeface="+mn-ea"/>
                    <a:cs typeface="+mn-cs"/>
                  </a:rPr>
                  <a:t>中</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num>
                              <m:den>
                                <m:r>
                                  <a:rPr lang="en-US" altLang="zh-CN" sz="1200" i="1" kern="1200">
                                    <a:solidFill>
                                      <a:schemeClr val="tx1"/>
                                    </a:solidFill>
                                    <a:effectLst/>
                                    <a:latin typeface="Cambria Math" panose="02040503050406030204" pitchFamily="18" charset="0"/>
                                    <a:ea typeface="+mn-ea"/>
                                    <a:cs typeface="+mn-cs"/>
                                  </a:rPr>
                                  <m:t>2</m:t>
                                </m:r>
                              </m:den>
                            </m:f>
                          </m:e>
                        </m:d>
                      </m:e>
                    </m:func>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num>
                              <m:den>
                                <m:r>
                                  <a:rPr lang="en-US" altLang="zh-CN" sz="1200" i="1" kern="1200">
                                    <a:solidFill>
                                      <a:schemeClr val="tx1"/>
                                    </a:solidFill>
                                    <a:effectLst/>
                                    <a:latin typeface="Cambria Math" panose="02040503050406030204" pitchFamily="18" charset="0"/>
                                    <a:ea typeface="+mn-ea"/>
                                    <a:cs typeface="+mn-cs"/>
                                  </a:rPr>
                                  <m:t>2</m:t>
                                </m:r>
                              </m:den>
                            </m:f>
                          </m:e>
                        </m:d>
                      </m:e>
                    </m:func>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𝑖𝑥</m:t>
                        </m:r>
                      </m:sub>
                    </m:sSub>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num>
                              <m:den>
                                <m:r>
                                  <a:rPr lang="en-US" altLang="zh-CN" sz="1200" i="1" kern="1200">
                                    <a:solidFill>
                                      <a:schemeClr val="tx1"/>
                                    </a:solidFill>
                                    <a:effectLst/>
                                    <a:latin typeface="Cambria Math" panose="02040503050406030204" pitchFamily="18" charset="0"/>
                                    <a:ea typeface="+mn-ea"/>
                                    <a:cs typeface="+mn-cs"/>
                                  </a:rPr>
                                  <m:t>2</m:t>
                                </m:r>
                              </m:den>
                            </m:f>
                          </m:e>
                        </m:d>
                      </m:e>
                    </m:func>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𝑖𝑦</m:t>
                        </m:r>
                      </m:sub>
                    </m:sSub>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num>
                              <m:den>
                                <m:r>
                                  <a:rPr lang="en-US" altLang="zh-CN" sz="1200" i="1" kern="1200">
                                    <a:solidFill>
                                      <a:schemeClr val="tx1"/>
                                    </a:solidFill>
                                    <a:effectLst/>
                                    <a:latin typeface="Cambria Math" panose="02040503050406030204" pitchFamily="18" charset="0"/>
                                    <a:ea typeface="+mn-ea"/>
                                    <a:cs typeface="+mn-cs"/>
                                  </a:rPr>
                                  <m:t>2</m:t>
                                </m:r>
                              </m:den>
                            </m:f>
                          </m:e>
                        </m:d>
                      </m:e>
                    </m:func>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𝑖𝑧</m:t>
                        </m:r>
                      </m:sub>
                    </m:sSub>
                    <m:r>
                      <a:rPr lang="en-US" altLang="zh-CN" sz="1200" i="1" kern="1200">
                        <a:solidFill>
                          <a:schemeClr val="tx1"/>
                        </a:solidFill>
                        <a:effectLst/>
                        <a:latin typeface="Cambria Math" panose="02040503050406030204" pitchFamily="18" charset="0"/>
                        <a:ea typeface="+mn-ea"/>
                        <a:cs typeface="+mn-cs"/>
                      </a:rPr>
                      <m:t>)</m:t>
                    </m:r>
                  </m:oMath>
                </a14:m>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e>
                      <m:sup>
                        <m:r>
                          <a:rPr lang="en-US" altLang="zh-CN" sz="1200" i="1" kern="1200">
                            <a:solidFill>
                              <a:schemeClr val="tx1"/>
                            </a:solidFill>
                            <a:effectLst/>
                            <a:latin typeface="Cambria Math" panose="02040503050406030204" pitchFamily="18" charset="0"/>
                            <a:ea typeface="+mn-ea"/>
                            <a:cs typeface="+mn-cs"/>
                          </a:rPr>
                          <m:t>𝑜</m:t>
                        </m:r>
                      </m:sup>
                    </m:sSup>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1</m:t>
                        </m:r>
                      </m:num>
                      <m:den>
                        <m:r>
                          <a:rPr lang="en-US" altLang="zh-CN" sz="1200" i="1" kern="1200">
                            <a:solidFill>
                              <a:schemeClr val="tx1"/>
                            </a:solidFill>
                            <a:effectLst/>
                            <a:latin typeface="Cambria Math" panose="02040503050406030204" pitchFamily="18" charset="0"/>
                            <a:ea typeface="+mn-ea"/>
                            <a:cs typeface="+mn-cs"/>
                          </a:rPr>
                          <m:t>2</m:t>
                        </m:r>
                      </m:den>
                    </m:f>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e>
                      <m:sup>
                        <m:r>
                          <a:rPr lang="en-US" altLang="zh-CN" sz="1200" i="1" kern="1200">
                            <a:solidFill>
                              <a:schemeClr val="tx1"/>
                            </a:solidFill>
                            <a:effectLst/>
                            <a:latin typeface="Cambria Math" panose="02040503050406030204" pitchFamily="18" charset="0"/>
                            <a:ea typeface="+mn-ea"/>
                            <a:cs typeface="+mn-cs"/>
                          </a:rPr>
                          <m:t>∗</m:t>
                        </m:r>
                      </m:sup>
                    </m:sSup>
                    <m:r>
                      <a:rPr lang="en-US" altLang="zh-CN" sz="1200" i="1" kern="1200">
                        <a:solidFill>
                          <a:schemeClr val="tx1"/>
                        </a:solidFill>
                        <a:effectLst/>
                        <a:latin typeface="Cambria Math" panose="02040503050406030204" pitchFamily="18" charset="0"/>
                        <a:ea typeface="+mn-ea"/>
                        <a:cs typeface="+mn-cs"/>
                      </a:rPr>
                      <m:t>)</m:t>
                    </m:r>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oMath>
                </a14:m>
                <a:r>
                  <a:rPr lang="en-US" altLang="zh-CN" sz="1200" kern="1200" dirty="0">
                    <a:solidFill>
                      <a:schemeClr val="tx1"/>
                    </a:solidFill>
                    <a:effectLst/>
                    <a:latin typeface="+mn-lt"/>
                    <a:ea typeface="+mn-ea"/>
                    <a:cs typeface="+mn-cs"/>
                  </a:rPr>
                  <a:t>  (3-52)</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或者用</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表示，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和前面的表达相同，代表旋转运动部分，</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则表示平移运动部分</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为第</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𝑖</m:t>
                    </m:r>
                  </m:oMath>
                </a14:m>
                <a:r>
                  <a:rPr lang="zh-CN" altLang="zh-CN" sz="1200" kern="1200" dirty="0">
                    <a:solidFill>
                      <a:schemeClr val="tx1"/>
                    </a:solidFill>
                    <a:effectLst/>
                    <a:latin typeface="+mn-lt"/>
                    <a:ea typeface="+mn-ea"/>
                    <a:cs typeface="+mn-cs"/>
                  </a:rPr>
                  <a:t>轴旋转</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后，导致第</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轴产生的平移位移值（参考坐标系为基坐标系）。如果该关节为平移关节，则</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=(1,0,0,0)</m:t>
                    </m:r>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=(0,</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𝑥</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𝑦</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𝑧</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，一般来说应该只有一个自由度的平移，也就是</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𝑥</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𝑦</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𝑧</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中只有一个方向的位移值。</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对于串联机械臂来说，其总变换使用对偶四元数的表达如下：</a:t>
                </a:r>
              </a:p>
              <a:p>
                <a:r>
                  <a:rPr lang="en-US" altLang="zh-CN" sz="1200" kern="1200" dirty="0">
                    <a:solidFill>
                      <a:schemeClr val="tx1"/>
                    </a:solidFill>
                    <a:effectLst/>
                    <a:latin typeface="+mn-lt"/>
                    <a:ea typeface="+mn-ea"/>
                    <a:cs typeface="+mn-cs"/>
                  </a:rPr>
                  <a:t>	</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𝑛</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1</m:t>
                        </m:r>
                      </m:sub>
                    </m:sSub>
                    <m:r>
                      <m:rPr>
                        <m:sty m:val="p"/>
                      </m:rPr>
                      <a:rPr lang="en-US" altLang="zh-CN" sz="1200" kern="1200">
                        <a:solidFill>
                          <a:schemeClr val="tx1"/>
                        </a:solidFill>
                        <a:effectLst/>
                        <a:latin typeface="Cambria Math" panose="02040503050406030204" pitchFamily="18" charset="0"/>
                        <a:ea typeface="+mn-ea"/>
                        <a:cs typeface="+mn-cs"/>
                      </a:rPr>
                      <m:t>Θ</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2</m:t>
                        </m:r>
                      </m:sub>
                    </m:sSub>
                    <m:r>
                      <m:rPr>
                        <m:sty m:val="p"/>
                      </m:rPr>
                      <a:rPr lang="en-US" altLang="zh-CN" sz="1200" kern="1200">
                        <a:solidFill>
                          <a:schemeClr val="tx1"/>
                        </a:solidFill>
                        <a:effectLst/>
                        <a:latin typeface="Cambria Math" panose="02040503050406030204" pitchFamily="18" charset="0"/>
                        <a:ea typeface="+mn-ea"/>
                        <a:cs typeface="+mn-cs"/>
                      </a:rPr>
                      <m:t>Θ</m:t>
                    </m:r>
                    <m:r>
                      <a:rPr lang="en-US" altLang="zh-CN" sz="1200" kern="1200">
                        <a:solidFill>
                          <a:schemeClr val="tx1"/>
                        </a:solidFill>
                        <a:effectLst/>
                        <a:latin typeface="Cambria Math" panose="02040503050406030204" pitchFamily="18" charset="0"/>
                        <a:ea typeface="+mn-ea"/>
                        <a:cs typeface="+mn-cs"/>
                      </a:rPr>
                      <m:t>⋯</m:t>
                    </m:r>
                    <m:r>
                      <m:rPr>
                        <m:sty m:val="p"/>
                      </m:rPr>
                      <a:rPr lang="en-US" altLang="zh-CN" sz="1200" kern="1200">
                        <a:solidFill>
                          <a:schemeClr val="tx1"/>
                        </a:solidFill>
                        <a:effectLst/>
                        <a:latin typeface="Cambria Math" panose="02040503050406030204" pitchFamily="18" charset="0"/>
                        <a:ea typeface="+mn-ea"/>
                        <a:cs typeface="+mn-cs"/>
                      </a:rPr>
                      <m:t>Θ</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𝑛</m:t>
                        </m:r>
                      </m:sub>
                    </m:sSub>
                  </m:oMath>
                </a14:m>
                <a:r>
                  <a:rPr lang="en-US" altLang="zh-CN" sz="1200" kern="1200" dirty="0">
                    <a:solidFill>
                      <a:schemeClr val="tx1"/>
                    </a:solidFill>
                    <a:effectLst/>
                    <a:latin typeface="+mn-lt"/>
                    <a:ea typeface="+mn-ea"/>
                    <a:cs typeface="+mn-cs"/>
                  </a:rPr>
                  <a:t>  (3-53)</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注意，其中对偶四元数的乘法符号为</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Θ</m:t>
                    </m:r>
                  </m:oMath>
                </a14:m>
                <a:r>
                  <a:rPr lang="zh-CN" altLang="zh-CN" sz="1200" kern="1200" dirty="0">
                    <a:solidFill>
                      <a:schemeClr val="tx1"/>
                    </a:solidFill>
                    <a:effectLst/>
                    <a:latin typeface="+mn-lt"/>
                    <a:ea typeface="+mn-ea"/>
                    <a:cs typeface="+mn-cs"/>
                  </a:rPr>
                  <a:t>，四元数乘法符号为</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，对偶四元数的乘法可以采用如下形式进行计算：</a:t>
                </a:r>
              </a:p>
              <a:p>
                <a:r>
                  <a:rPr lang="en-US" altLang="zh-CN" sz="1200" kern="1200" dirty="0">
                    <a:solidFill>
                      <a:schemeClr val="tx1"/>
                    </a:solidFill>
                    <a:effectLst/>
                    <a:latin typeface="+mn-lt"/>
                    <a:ea typeface="+mn-ea"/>
                    <a:cs typeface="+mn-cs"/>
                  </a:rPr>
                  <a:t>	</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12</m:t>
                            </m:r>
                          </m:sub>
                        </m:sSub>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1</m:t>
                        </m:r>
                      </m:sub>
                    </m:sSub>
                    <m:r>
                      <m:rPr>
                        <m:sty m:val="p"/>
                      </m:rPr>
                      <a:rPr lang="en-US" altLang="zh-CN" sz="1200" kern="1200">
                        <a:solidFill>
                          <a:schemeClr val="tx1"/>
                        </a:solidFill>
                        <a:effectLst/>
                        <a:latin typeface="Cambria Math" panose="02040503050406030204" pitchFamily="18" charset="0"/>
                        <a:ea typeface="+mn-ea"/>
                        <a:cs typeface="+mn-cs"/>
                      </a:rPr>
                      <m:t>Θ</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Sub>
                      </m:e>
                    </m:d>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𝜀</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Sub>
                      </m:e>
                      <m:sup>
                        <m:r>
                          <a:rPr lang="en-US" altLang="zh-CN" sz="1200" i="1" kern="1200">
                            <a:solidFill>
                              <a:schemeClr val="tx1"/>
                            </a:solidFill>
                            <a:effectLst/>
                            <a:latin typeface="Cambria Math" panose="02040503050406030204" pitchFamily="18" charset="0"/>
                            <a:ea typeface="+mn-ea"/>
                            <a:cs typeface="+mn-cs"/>
                          </a:rPr>
                          <m:t>𝑜</m:t>
                        </m:r>
                      </m:sup>
                    </m:sSup>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Sub>
                      </m:e>
                      <m:sup>
                        <m:r>
                          <a:rPr lang="en-US" altLang="zh-CN" sz="1200" i="1" kern="1200">
                            <a:solidFill>
                              <a:schemeClr val="tx1"/>
                            </a:solidFill>
                            <a:effectLst/>
                            <a:latin typeface="Cambria Math" panose="02040503050406030204" pitchFamily="18" charset="0"/>
                            <a:ea typeface="+mn-ea"/>
                            <a:cs typeface="+mn-cs"/>
                          </a:rPr>
                          <m:t>𝑜</m:t>
                        </m:r>
                      </m:sup>
                    </m:sSup>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或者，</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12</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r>
                      <m:rPr>
                        <m:sty m:val="p"/>
                      </m:rPr>
                      <a:rPr lang="en-US" altLang="zh-CN" sz="1200" kern="1200">
                        <a:solidFill>
                          <a:schemeClr val="tx1"/>
                        </a:solidFill>
                        <a:effectLst/>
                        <a:latin typeface="Cambria Math" panose="02040503050406030204" pitchFamily="18" charset="0"/>
                        <a:ea typeface="+mn-ea"/>
                        <a:cs typeface="+mn-cs"/>
                      </a:rPr>
                      <m:t>Θ</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Sub>
                      </m:e>
                    </m:d>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2</m:t>
                        </m:r>
                      </m:sub>
                    </m:sSub>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Sub>
                      </m:e>
                      <m:sup>
                        <m:r>
                          <a:rPr lang="en-US" altLang="zh-CN" sz="1200" i="1" kern="1200">
                            <a:solidFill>
                              <a:schemeClr val="tx1"/>
                            </a:solidFill>
                            <a:effectLst/>
                            <a:latin typeface="Cambria Math" panose="02040503050406030204" pitchFamily="18" charset="0"/>
                            <a:ea typeface="+mn-ea"/>
                            <a:cs typeface="+mn-cs"/>
                          </a:rPr>
                          <m:t>−1</m:t>
                        </m:r>
                      </m:sup>
                    </m:sSup>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 (3-54)</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将上式写成如下形式：</a:t>
                </a:r>
              </a:p>
              <a:p>
                <a:r>
                  <a:rPr lang="en-US" altLang="zh-CN" sz="1200" kern="1200" dirty="0">
                    <a:solidFill>
                      <a:schemeClr val="tx1"/>
                    </a:solidFill>
                    <a:effectLst/>
                    <a:latin typeface="+mn-lt"/>
                    <a:ea typeface="+mn-ea"/>
                    <a:cs typeface="+mn-cs"/>
                  </a:rPr>
                  <a:t>	</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12</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12</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𝜀</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12</m:t>
                            </m:r>
                          </m:sub>
                        </m:sSub>
                      </m:e>
                      <m:sup>
                        <m:r>
                          <a:rPr lang="en-US" altLang="zh-CN" sz="1200" i="1" kern="1200">
                            <a:solidFill>
                              <a:schemeClr val="tx1"/>
                            </a:solidFill>
                            <a:effectLst/>
                            <a:latin typeface="Cambria Math" panose="02040503050406030204" pitchFamily="18" charset="0"/>
                            <a:ea typeface="+mn-ea"/>
                            <a:cs typeface="+mn-cs"/>
                          </a:rPr>
                          <m:t>𝑜</m:t>
                        </m:r>
                      </m:sup>
                    </m:sSup>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12</m:t>
                            </m:r>
                            <m:r>
                              <a:rPr lang="en-US" altLang="zh-CN" sz="1200" i="1" kern="1200">
                                <a:solidFill>
                                  <a:schemeClr val="tx1"/>
                                </a:solidFill>
                                <a:effectLst/>
                                <a:latin typeface="Cambria Math" panose="02040503050406030204" pitchFamily="18" charset="0"/>
                                <a:ea typeface="+mn-ea"/>
                                <a:cs typeface="+mn-cs"/>
                              </a:rPr>
                              <m:t>𝑆</m:t>
                            </m:r>
                          </m:sub>
                        </m:sSub>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12</m:t>
                            </m:r>
                            <m:r>
                              <a:rPr lang="en-US" altLang="zh-CN" sz="1200" i="1" kern="1200">
                                <a:solidFill>
                                  <a:schemeClr val="tx1"/>
                                </a:solidFill>
                                <a:effectLst/>
                                <a:latin typeface="Cambria Math" panose="02040503050406030204" pitchFamily="18" charset="0"/>
                                <a:ea typeface="+mn-ea"/>
                                <a:cs typeface="+mn-cs"/>
                              </a:rPr>
                              <m:t>𝑉</m:t>
                            </m:r>
                          </m:sub>
                        </m:sSub>
                      </m:e>
                    </m:d>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𝜀</m:t>
                    </m:r>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12</m:t>
                            </m:r>
                            <m:r>
                              <a:rPr lang="en-US" altLang="zh-CN" sz="1200" i="1" kern="1200">
                                <a:solidFill>
                                  <a:schemeClr val="tx1"/>
                                </a:solidFill>
                                <a:effectLst/>
                                <a:latin typeface="Cambria Math" panose="02040503050406030204" pitchFamily="18" charset="0"/>
                                <a:ea typeface="+mn-ea"/>
                                <a:cs typeface="+mn-cs"/>
                              </a:rPr>
                              <m:t>𝑆</m:t>
                            </m:r>
                          </m:sub>
                        </m:sSub>
                      </m:e>
                      <m:sup>
                        <m:r>
                          <a:rPr lang="en-US" altLang="zh-CN" sz="1200" i="1" kern="1200">
                            <a:solidFill>
                              <a:schemeClr val="tx1"/>
                            </a:solidFill>
                            <a:effectLst/>
                            <a:latin typeface="Cambria Math" panose="02040503050406030204" pitchFamily="18" charset="0"/>
                            <a:ea typeface="+mn-ea"/>
                            <a:cs typeface="+mn-cs"/>
                          </a:rPr>
                          <m:t>𝑜</m:t>
                        </m:r>
                      </m:sup>
                    </m:sSup>
                    <m:r>
                      <a:rPr lang="en-US" altLang="zh-CN" sz="1200" i="1" kern="1200">
                        <a:solidFill>
                          <a:schemeClr val="tx1"/>
                        </a:solidFill>
                        <a:effectLst/>
                        <a:latin typeface="Cambria Math" panose="02040503050406030204" pitchFamily="18" charset="0"/>
                        <a:ea typeface="+mn-ea"/>
                        <a:cs typeface="+mn-cs"/>
                      </a:rPr>
                      <m:t>, </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12</m:t>
                            </m:r>
                            <m:r>
                              <a:rPr lang="en-US" altLang="zh-CN" sz="1200" i="1" kern="1200">
                                <a:solidFill>
                                  <a:schemeClr val="tx1"/>
                                </a:solidFill>
                                <a:effectLst/>
                                <a:latin typeface="Cambria Math" panose="02040503050406030204" pitchFamily="18" charset="0"/>
                                <a:ea typeface="+mn-ea"/>
                                <a:cs typeface="+mn-cs"/>
                              </a:rPr>
                              <m:t>𝑉</m:t>
                            </m:r>
                          </m:sub>
                        </m:sSub>
                      </m:e>
                      <m:sup>
                        <m:r>
                          <a:rPr lang="en-US" altLang="zh-CN" sz="1200" i="1" kern="1200">
                            <a:solidFill>
                              <a:schemeClr val="tx1"/>
                            </a:solidFill>
                            <a:effectLst/>
                            <a:latin typeface="Cambria Math" panose="02040503050406030204" pitchFamily="18" charset="0"/>
                            <a:ea typeface="+mn-ea"/>
                            <a:cs typeface="+mn-cs"/>
                          </a:rPr>
                          <m:t>𝑜</m:t>
                        </m:r>
                      </m:sup>
                    </m:sSup>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 (3-55)</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在式（</a:t>
                </a:r>
                <a:r>
                  <a:rPr lang="en-US" altLang="zh-CN" sz="1200" kern="1200" dirty="0">
                    <a:solidFill>
                      <a:schemeClr val="tx1"/>
                    </a:solidFill>
                    <a:effectLst/>
                    <a:latin typeface="+mn-lt"/>
                    <a:ea typeface="+mn-ea"/>
                    <a:cs typeface="+mn-cs"/>
                  </a:rPr>
                  <a:t>3-55</a:t>
                </a:r>
                <a:r>
                  <a:rPr lang="zh-CN" altLang="zh-CN" sz="1200" kern="1200" dirty="0">
                    <a:solidFill>
                      <a:schemeClr val="tx1"/>
                    </a:solidFill>
                    <a:effectLst/>
                    <a:latin typeface="+mn-lt"/>
                    <a:ea typeface="+mn-ea"/>
                    <a:cs typeface="+mn-cs"/>
                  </a:rPr>
                  <a:t>）中：</a:t>
                </a:r>
              </a:p>
              <a:p>
                <a:r>
                  <a:rPr lang="en-US" altLang="zh-CN" sz="1200" kern="1200" dirty="0">
                    <a:solidFill>
                      <a:schemeClr val="tx1"/>
                    </a:solidFill>
                    <a:effectLst/>
                    <a:latin typeface="+mn-lt"/>
                    <a:ea typeface="+mn-ea"/>
                    <a:cs typeface="+mn-cs"/>
                  </a:rPr>
                  <a:t>	</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12</m:t>
                        </m:r>
                        <m:r>
                          <a:rPr lang="en-US" altLang="zh-CN" sz="1200" i="1" kern="1200">
                            <a:solidFill>
                              <a:schemeClr val="tx1"/>
                            </a:solidFill>
                            <a:effectLst/>
                            <a:latin typeface="Cambria Math" panose="02040503050406030204" pitchFamily="18" charset="0"/>
                            <a:ea typeface="+mn-ea"/>
                            <a:cs typeface="+mn-cs"/>
                          </a:rPr>
                          <m:t>𝑆</m:t>
                        </m:r>
                      </m:sub>
                    </m:sSub>
                  </m:oMath>
                </a14:m>
                <a:r>
                  <a:rPr lang="zh-CN" altLang="zh-CN" sz="1200" kern="1200" dirty="0">
                    <a:solidFill>
                      <a:schemeClr val="tx1"/>
                    </a:solidFill>
                    <a:effectLst/>
                    <a:latin typeface="+mn-lt"/>
                    <a:ea typeface="+mn-ea"/>
                    <a:cs typeface="+mn-cs"/>
                  </a:rPr>
                  <a:t>表示两个对偶四元数乘积的实部的标量部分，</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12</m:t>
                            </m:r>
                            <m:r>
                              <a:rPr lang="en-US" altLang="zh-CN" sz="1200" i="1" kern="1200">
                                <a:solidFill>
                                  <a:schemeClr val="tx1"/>
                                </a:solidFill>
                                <a:effectLst/>
                                <a:latin typeface="Cambria Math" panose="02040503050406030204" pitchFamily="18" charset="0"/>
                                <a:ea typeface="+mn-ea"/>
                                <a:cs typeface="+mn-cs"/>
                              </a:rPr>
                              <m:t>𝑆</m:t>
                            </m:r>
                          </m:sub>
                        </m:sSub>
                      </m:e>
                      <m:sup>
                        <m:r>
                          <a:rPr lang="en-US" altLang="zh-CN" sz="1200" i="1" kern="1200">
                            <a:solidFill>
                              <a:schemeClr val="tx1"/>
                            </a:solidFill>
                            <a:effectLst/>
                            <a:latin typeface="Cambria Math" panose="02040503050406030204" pitchFamily="18" charset="0"/>
                            <a:ea typeface="+mn-ea"/>
                            <a:cs typeface="+mn-cs"/>
                          </a:rPr>
                          <m:t>𝑜</m:t>
                        </m:r>
                      </m:sup>
                    </m:sSup>
                  </m:oMath>
                </a14:m>
                <a:r>
                  <a:rPr lang="zh-CN" altLang="zh-CN" sz="1200" kern="1200" dirty="0">
                    <a:solidFill>
                      <a:schemeClr val="tx1"/>
                    </a:solidFill>
                    <a:effectLst/>
                    <a:latin typeface="+mn-lt"/>
                    <a:ea typeface="+mn-ea"/>
                    <a:cs typeface="+mn-cs"/>
                  </a:rPr>
                  <a:t>表示两个对偶四元数乘积的对偶部的标量部分，</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12</m:t>
                        </m:r>
                        <m:r>
                          <a:rPr lang="en-US" altLang="zh-CN" sz="1200" i="1" kern="1200">
                            <a:solidFill>
                              <a:schemeClr val="tx1"/>
                            </a:solidFill>
                            <a:effectLst/>
                            <a:latin typeface="Cambria Math" panose="02040503050406030204" pitchFamily="18" charset="0"/>
                            <a:ea typeface="+mn-ea"/>
                            <a:cs typeface="+mn-cs"/>
                          </a:rPr>
                          <m:t>𝑉</m:t>
                        </m:r>
                      </m:sub>
                    </m:sSub>
                  </m:oMath>
                </a14:m>
                <a:r>
                  <a:rPr lang="zh-CN" altLang="zh-CN" sz="1200" kern="1200" dirty="0">
                    <a:solidFill>
                      <a:schemeClr val="tx1"/>
                    </a:solidFill>
                    <a:effectLst/>
                    <a:latin typeface="+mn-lt"/>
                    <a:ea typeface="+mn-ea"/>
                    <a:cs typeface="+mn-cs"/>
                  </a:rPr>
                  <a:t>表示两个对偶四元数乘积的实部的向量部分，</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12</m:t>
                            </m:r>
                            <m:r>
                              <a:rPr lang="en-US" altLang="zh-CN" sz="1200" i="1" kern="1200">
                                <a:solidFill>
                                  <a:schemeClr val="tx1"/>
                                </a:solidFill>
                                <a:effectLst/>
                                <a:latin typeface="Cambria Math" panose="02040503050406030204" pitchFamily="18" charset="0"/>
                                <a:ea typeface="+mn-ea"/>
                                <a:cs typeface="+mn-cs"/>
                              </a:rPr>
                              <m:t>𝑉</m:t>
                            </m:r>
                          </m:sub>
                        </m:sSub>
                      </m:e>
                      <m:sup>
                        <m:r>
                          <a:rPr lang="en-US" altLang="zh-CN" sz="1200" i="1" kern="1200">
                            <a:solidFill>
                              <a:schemeClr val="tx1"/>
                            </a:solidFill>
                            <a:effectLst/>
                            <a:latin typeface="Cambria Math" panose="02040503050406030204" pitchFamily="18" charset="0"/>
                            <a:ea typeface="+mn-ea"/>
                            <a:cs typeface="+mn-cs"/>
                          </a:rPr>
                          <m:t>𝑜</m:t>
                        </m:r>
                      </m:sup>
                    </m:sSup>
                  </m:oMath>
                </a14:m>
                <a:r>
                  <a:rPr lang="zh-CN" altLang="zh-CN" sz="1200" kern="1200" dirty="0">
                    <a:solidFill>
                      <a:schemeClr val="tx1"/>
                    </a:solidFill>
                    <a:effectLst/>
                    <a:latin typeface="+mn-lt"/>
                    <a:ea typeface="+mn-ea"/>
                    <a:cs typeface="+mn-cs"/>
                  </a:rPr>
                  <a:t>表示两个对偶四元数乘积的对偶部的向量部分。</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机械臂末端执行器的姿态和位置计算公式如下：</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姿态为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𝑙</m:t>
                            </m:r>
                          </m:e>
                        </m:acc>
                      </m:e>
                      <m:sub>
                        <m:r>
                          <a:rPr lang="en-US" altLang="zh-CN" sz="1200" i="1" kern="1200">
                            <a:solidFill>
                              <a:schemeClr val="tx1"/>
                            </a:solidFill>
                            <a:effectLst/>
                            <a:latin typeface="Cambria Math" panose="02040503050406030204" pitchFamily="18" charset="0"/>
                            <a:ea typeface="+mn-ea"/>
                            <a:cs typeface="+mn-cs"/>
                          </a:rPr>
                          <m:t>𝑜</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的实部：</a:t>
                </a:r>
              </a:p>
              <a:p>
                <a:r>
                  <a:rPr lang="en-US" altLang="zh-CN" sz="1200" kern="1200" dirty="0">
                    <a:solidFill>
                      <a:schemeClr val="tx1"/>
                    </a:solidFill>
                    <a:effectLst/>
                    <a:latin typeface="+mn-lt"/>
                    <a:ea typeface="+mn-ea"/>
                    <a:cs typeface="+mn-cs"/>
                  </a:rPr>
                  <a:t>	</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𝑙</m:t>
                            </m:r>
                          </m:e>
                        </m:acc>
                      </m:e>
                      <m:sub>
                        <m:r>
                          <a:rPr lang="en-US" altLang="zh-CN" sz="1200" i="1" kern="1200">
                            <a:solidFill>
                              <a:schemeClr val="tx1"/>
                            </a:solidFill>
                            <a:effectLst/>
                            <a:latin typeface="Cambria Math" panose="02040503050406030204" pitchFamily="18" charset="0"/>
                            <a:ea typeface="+mn-ea"/>
                            <a:cs typeface="+mn-cs"/>
                          </a:rPr>
                          <m:t>𝑜</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𝑛</m:t>
                        </m:r>
                      </m:sub>
                    </m:sSub>
                    <m:r>
                      <m:rPr>
                        <m:sty m:val="p"/>
                      </m:rPr>
                      <a:rPr lang="en-US" altLang="zh-CN" sz="1200" kern="1200">
                        <a:solidFill>
                          <a:schemeClr val="tx1"/>
                        </a:solidFill>
                        <a:effectLst/>
                        <a:latin typeface="Cambria Math" panose="02040503050406030204" pitchFamily="18" charset="0"/>
                        <a:ea typeface="+mn-ea"/>
                        <a:cs typeface="+mn-cs"/>
                      </a:rPr>
                      <m:t>Θ</m:t>
                    </m:r>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𝑙</m:t>
                            </m:r>
                          </m:e>
                          <m:sub>
                            <m:r>
                              <a:rPr lang="en-US" altLang="zh-CN" sz="1200" i="1" kern="1200">
                                <a:solidFill>
                                  <a:schemeClr val="tx1"/>
                                </a:solidFill>
                                <a:effectLst/>
                                <a:latin typeface="Cambria Math" panose="02040503050406030204" pitchFamily="18" charset="0"/>
                                <a:ea typeface="+mn-ea"/>
                                <a:cs typeface="+mn-cs"/>
                              </a:rPr>
                              <m:t>𝑜</m:t>
                            </m:r>
                          </m:sub>
                        </m:sSub>
                      </m:e>
                    </m:acc>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𝑛</m:t>
                            </m:r>
                          </m:sub>
                        </m:sSub>
                      </m:e>
                      <m:sup>
                        <m:r>
                          <a:rPr lang="en-US" altLang="zh-CN" sz="1200" i="1" kern="1200">
                            <a:solidFill>
                              <a:schemeClr val="tx1"/>
                            </a:solidFill>
                            <a:effectLst/>
                            <a:latin typeface="Cambria Math" panose="02040503050406030204" pitchFamily="18" charset="0"/>
                            <a:ea typeface="+mn-ea"/>
                            <a:cs typeface="+mn-cs"/>
                          </a:rPr>
                          <m:t>∗</m:t>
                        </m:r>
                      </m:sup>
                    </m:sSup>
                  </m:oMath>
                </a14:m>
                <a:r>
                  <a:rPr lang="en-US" altLang="zh-CN" sz="1200" kern="1200" dirty="0">
                    <a:solidFill>
                      <a:schemeClr val="tx1"/>
                    </a:solidFill>
                    <a:effectLst/>
                    <a:latin typeface="+mn-lt"/>
                    <a:ea typeface="+mn-ea"/>
                    <a:cs typeface="+mn-cs"/>
                  </a:rPr>
                  <a:t> (3-56)</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位置为根据式（</a:t>
                </a:r>
                <a:r>
                  <a:rPr lang="en-US" altLang="zh-CN" sz="1200" kern="1200" dirty="0">
                    <a:solidFill>
                      <a:schemeClr val="tx1"/>
                    </a:solidFill>
                    <a:effectLst/>
                    <a:latin typeface="+mn-lt"/>
                    <a:ea typeface="+mn-ea"/>
                    <a:cs typeface="+mn-cs"/>
                  </a:rPr>
                  <a:t>3-53</a:t>
                </a:r>
                <a:r>
                  <a:rPr lang="zh-CN" altLang="zh-CN" sz="1200" kern="1200" dirty="0">
                    <a:solidFill>
                      <a:schemeClr val="tx1"/>
                    </a:solidFill>
                    <a:effectLst/>
                    <a:latin typeface="+mn-lt"/>
                    <a:ea typeface="+mn-ea"/>
                    <a:cs typeface="+mn-cs"/>
                  </a:rPr>
                  <a:t>）计算出来的对偶四元数乘积的对偶部的向量部分：</a:t>
                </a:r>
              </a:p>
              <a:p>
                <a:r>
                  <a:rPr lang="en-US" altLang="zh-CN" sz="1200" kern="1200" dirty="0">
                    <a:solidFill>
                      <a:schemeClr val="tx1"/>
                    </a:solidFill>
                    <a:effectLst/>
                    <a:latin typeface="+mn-lt"/>
                    <a:ea typeface="+mn-ea"/>
                    <a:cs typeface="+mn-cs"/>
                  </a:rPr>
                  <a:t>	</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𝑃</m:t>
                        </m:r>
                      </m:e>
                      <m:sub>
                        <m:r>
                          <a:rPr lang="en-US" altLang="zh-CN" sz="1200" i="1" kern="1200">
                            <a:solidFill>
                              <a:schemeClr val="tx1"/>
                            </a:solidFill>
                            <a:effectLst/>
                            <a:latin typeface="Cambria Math" panose="02040503050406030204" pitchFamily="18" charset="0"/>
                            <a:ea typeface="+mn-ea"/>
                            <a:cs typeface="+mn-cs"/>
                          </a:rPr>
                          <m:t>𝑒𝑝</m:t>
                        </m:r>
                      </m:sub>
                    </m:sSub>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𝑛𝑉</m:t>
                            </m:r>
                          </m:sub>
                        </m:sSub>
                      </m:e>
                      <m:sup>
                        <m:r>
                          <a:rPr lang="en-US" altLang="zh-CN" sz="1200" i="1" kern="1200">
                            <a:solidFill>
                              <a:schemeClr val="tx1"/>
                            </a:solidFill>
                            <a:effectLst/>
                            <a:latin typeface="Cambria Math" panose="02040503050406030204" pitchFamily="18" charset="0"/>
                            <a:ea typeface="+mn-ea"/>
                            <a:cs typeface="+mn-cs"/>
                          </a:rPr>
                          <m:t>𝑜</m:t>
                        </m:r>
                      </m:sup>
                    </m:sSup>
                  </m:oMath>
                </a14:m>
                <a:r>
                  <a:rPr lang="en-US" altLang="zh-CN" sz="1200" kern="1200" dirty="0">
                    <a:solidFill>
                      <a:schemeClr val="tx1"/>
                    </a:solidFill>
                    <a:effectLst/>
                    <a:latin typeface="+mn-lt"/>
                    <a:ea typeface="+mn-ea"/>
                    <a:cs typeface="+mn-cs"/>
                  </a:rPr>
                  <a:t> (3-57)</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针对</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个轴的串联式机器人，我们首先如同旋量法一样建立各轴的旋转轴向量及瞬时方向向量。旋转轴向量和旋量法中相同，瞬时方向向量采用对偶四元数</a:t>
                </a:r>
                <a:r>
                  <a:rPr lang="en-US" altLang="zh-CN" sz="1200" i="0" kern="1200">
                    <a:solidFill>
                      <a:schemeClr val="tx1"/>
                    </a:solidFill>
                    <a:effectLst/>
                    <a:latin typeface="+mn-lt"/>
                    <a:ea typeface="+mn-ea"/>
                    <a:cs typeface="+mn-cs"/>
                  </a:rPr>
                  <a:t>𝐿</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𝑝𝑖 (𝑚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进行表示，其中</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=1,2,…,n, </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en-US"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表示第</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轴直线上任意一点，</a:t>
                </a:r>
                <a:r>
                  <a:rPr lang="en-US" altLang="zh-CN" sz="1200" i="0" kern="1200">
                    <a:solidFill>
                      <a:schemeClr val="tx1"/>
                    </a:solidFill>
                    <a:effectLst/>
                    <a:latin typeface="+mn-lt"/>
                    <a:ea typeface="+mn-ea"/>
                    <a:cs typeface="+mn-cs"/>
                  </a:rPr>
                  <a:t>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表示直线的方向向量</a:t>
                </a:r>
                <a:r>
                  <a:rPr lang="en-US" altLang="zh-CN" sz="1200" i="0" kern="1200">
                    <a:solidFill>
                      <a:schemeClr val="tx1"/>
                    </a:solidFill>
                    <a:effectLst/>
                    <a:latin typeface="+mn-lt"/>
                    <a:ea typeface="+mn-ea"/>
                    <a:cs typeface="+mn-cs"/>
                  </a:rPr>
                  <a:t>(𝑑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𝑖𝑥,𝑑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𝑖𝑦,𝑑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𝑖𝑧)</a:t>
                </a:r>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各轴对应的变换操作采用对偶四元数进行表达：</a:t>
                </a:r>
              </a:p>
              <a:p>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𝑖=𝑞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𝑖+𝜀</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或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𝑖=(𝑞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en-US" altLang="zh-CN" sz="1200" kern="1200" dirty="0">
                    <a:solidFill>
                      <a:schemeClr val="tx1"/>
                    </a:solidFill>
                    <a:effectLst/>
                    <a:latin typeface="+mn-lt"/>
                    <a:ea typeface="+mn-ea"/>
                    <a:cs typeface="+mn-cs"/>
                  </a:rPr>
                  <a:t>  (3-51)</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公式</a:t>
                </a:r>
                <a:r>
                  <a:rPr lang="en-US" altLang="zh-CN" sz="1200" kern="1200" dirty="0">
                    <a:solidFill>
                      <a:schemeClr val="tx1"/>
                    </a:solidFill>
                    <a:effectLst/>
                    <a:latin typeface="+mn-lt"/>
                    <a:ea typeface="+mn-ea"/>
                    <a:cs typeface="+mn-cs"/>
                  </a:rPr>
                  <a:t>(3-51)</a:t>
                </a:r>
                <a:r>
                  <a:rPr lang="zh-CN" altLang="zh-CN" sz="1200" kern="1200" dirty="0">
                    <a:solidFill>
                      <a:schemeClr val="tx1"/>
                    </a:solidFill>
                    <a:effectLst/>
                    <a:latin typeface="+mn-lt"/>
                    <a:ea typeface="+mn-ea"/>
                    <a:cs typeface="+mn-cs"/>
                  </a:rPr>
                  <a:t>中</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𝑖𝑥,sin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𝑖𝑦,sin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𝑖𝑧)</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en-US" altLang="zh-CN" sz="1200" kern="1200" dirty="0">
                    <a:solidFill>
                      <a:schemeClr val="tx1"/>
                    </a:solidFill>
                    <a:effectLst/>
                    <a:latin typeface="+mn-lt"/>
                    <a:ea typeface="+mn-ea"/>
                    <a:cs typeface="+mn-cs"/>
                  </a:rPr>
                  <a:t>  (3-52)</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或者用</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𝑖=(𝑞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表示，</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和前面的表达相同，代表旋转运动部分，</a:t>
                </a:r>
                <a:r>
                  <a:rPr lang="en-US" altLang="zh-CN" sz="1200" i="0" kern="1200">
                    <a:solidFill>
                      <a:schemeClr val="tx1"/>
                    </a:solidFill>
                    <a:effectLst/>
                    <a:latin typeface="+mn-lt"/>
                    <a:ea typeface="+mn-ea"/>
                    <a:cs typeface="+mn-cs"/>
                  </a:rPr>
                  <a:t>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则表示平移运动部分</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为第</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轴旋转</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后，导致第</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轴产生的平移位移值（参考坐标系为基坐标系）。如果该关节为平移关节，则</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𝑖=(1,0,0,0)</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𝑖=(0,𝑝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𝑥,𝑝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𝑦,𝑝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𝑧)</a:t>
                </a:r>
                <a:r>
                  <a:rPr lang="zh-CN" altLang="zh-CN" sz="1200" kern="1200" dirty="0">
                    <a:solidFill>
                      <a:schemeClr val="tx1"/>
                    </a:solidFill>
                    <a:effectLst/>
                    <a:latin typeface="+mn-lt"/>
                    <a:ea typeface="+mn-ea"/>
                    <a:cs typeface="+mn-cs"/>
                  </a:rPr>
                  <a:t>，一般来说应该只有一个自由度的平移，也就是</a:t>
                </a:r>
                <a:r>
                  <a:rPr lang="en-US" altLang="zh-CN" sz="1200" i="0" kern="1200">
                    <a:solidFill>
                      <a:schemeClr val="tx1"/>
                    </a:solidFill>
                    <a:effectLst/>
                    <a:latin typeface="+mn-lt"/>
                    <a:ea typeface="+mn-ea"/>
                    <a:cs typeface="+mn-cs"/>
                  </a:rPr>
                  <a:t>(𝑝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𝑥,𝑝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𝑦,𝑝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𝑧)</a:t>
                </a:r>
                <a:r>
                  <a:rPr lang="zh-CN" altLang="zh-CN" sz="1200" kern="1200" dirty="0">
                    <a:solidFill>
                      <a:schemeClr val="tx1"/>
                    </a:solidFill>
                    <a:effectLst/>
                    <a:latin typeface="+mn-lt"/>
                    <a:ea typeface="+mn-ea"/>
                    <a:cs typeface="+mn-cs"/>
                  </a:rPr>
                  <a:t>中只有一个方向的位移值。</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对于串联机械臂来说，其总变换使用对偶四元数的表达如下：</a:t>
                </a:r>
              </a:p>
              <a:p>
                <a:r>
                  <a:rPr lang="en-US" altLang="zh-CN" sz="1200" kern="1200" dirty="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1𝑛=𝑞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 Θ𝑞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 Θ⋯Θ𝑞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𝑛</a:t>
                </a:r>
                <a:r>
                  <a:rPr lang="en-US" altLang="zh-CN" sz="1200" kern="1200" dirty="0">
                    <a:solidFill>
                      <a:schemeClr val="tx1"/>
                    </a:solidFill>
                    <a:effectLst/>
                    <a:latin typeface="+mn-lt"/>
                    <a:ea typeface="+mn-ea"/>
                    <a:cs typeface="+mn-cs"/>
                  </a:rPr>
                  <a:t>  (3-53)</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注意，其中对偶四元数的乘法符号为</a:t>
                </a:r>
                <a:r>
                  <a:rPr lang="en-US" altLang="zh-CN" sz="1200" i="0" kern="1200">
                    <a:solidFill>
                      <a:schemeClr val="tx1"/>
                    </a:solidFill>
                    <a:effectLst/>
                    <a:latin typeface="+mn-lt"/>
                    <a:ea typeface="+mn-ea"/>
                    <a:cs typeface="+mn-cs"/>
                  </a:rPr>
                  <a:t>Θ</a:t>
                </a:r>
                <a:r>
                  <a:rPr lang="zh-CN" altLang="zh-CN" sz="1200" kern="1200" dirty="0">
                    <a:solidFill>
                      <a:schemeClr val="tx1"/>
                    </a:solidFill>
                    <a:effectLst/>
                    <a:latin typeface="+mn-lt"/>
                    <a:ea typeface="+mn-ea"/>
                    <a:cs typeface="+mn-cs"/>
                  </a:rPr>
                  <a:t>，四元数乘法符号为</a:t>
                </a:r>
                <a:r>
                  <a:rPr lang="en-US"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，对偶四元数的乘法可以采用如下形式进行计算：</a:t>
                </a:r>
              </a:p>
              <a:p>
                <a:r>
                  <a:rPr lang="en-US" altLang="zh-CN" sz="1200" kern="1200" dirty="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12=𝑞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 Θ𝑞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2 )+𝜀(𝑞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或者，</a:t>
                </a:r>
              </a:p>
              <a:p>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12=(𝑞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1)Θ(𝑞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2 ],𝑞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en-US" altLang="zh-CN" sz="1200" kern="1200" dirty="0">
                    <a:solidFill>
                      <a:schemeClr val="tx1"/>
                    </a:solidFill>
                    <a:effectLst/>
                    <a:latin typeface="+mn-lt"/>
                    <a:ea typeface="+mn-ea"/>
                    <a:cs typeface="+mn-cs"/>
                  </a:rPr>
                  <a:t> (3-54)</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将上式写成如下形式：</a:t>
                </a:r>
              </a:p>
              <a:p>
                <a:r>
                  <a:rPr lang="en-US" altLang="zh-CN" sz="1200" kern="1200" dirty="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12=𝑞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12+𝜀</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12𝑆, 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12𝑉 )+𝜀(</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12𝑆</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12𝑉</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a:t>
                </a:r>
                <a:r>
                  <a:rPr lang="en-US" altLang="zh-CN" sz="1200" kern="1200" dirty="0">
                    <a:solidFill>
                      <a:schemeClr val="tx1"/>
                    </a:solidFill>
                    <a:effectLst/>
                    <a:latin typeface="+mn-lt"/>
                    <a:ea typeface="+mn-ea"/>
                    <a:cs typeface="+mn-cs"/>
                  </a:rPr>
                  <a:t> (3-55)</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在式（</a:t>
                </a:r>
                <a:r>
                  <a:rPr lang="en-US" altLang="zh-CN" sz="1200" kern="1200" dirty="0">
                    <a:solidFill>
                      <a:schemeClr val="tx1"/>
                    </a:solidFill>
                    <a:effectLst/>
                    <a:latin typeface="+mn-lt"/>
                    <a:ea typeface="+mn-ea"/>
                    <a:cs typeface="+mn-cs"/>
                  </a:rPr>
                  <a:t>3-55</a:t>
                </a:r>
                <a:r>
                  <a:rPr lang="zh-CN" altLang="zh-CN" sz="1200" kern="1200" dirty="0">
                    <a:solidFill>
                      <a:schemeClr val="tx1"/>
                    </a:solidFill>
                    <a:effectLst/>
                    <a:latin typeface="+mn-lt"/>
                    <a:ea typeface="+mn-ea"/>
                    <a:cs typeface="+mn-cs"/>
                  </a:rPr>
                  <a:t>）中：</a:t>
                </a:r>
              </a:p>
              <a:p>
                <a:r>
                  <a:rPr lang="en-US" altLang="zh-CN" sz="1200" kern="1200" dirty="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12𝑆</a:t>
                </a:r>
                <a:r>
                  <a:rPr lang="zh-CN" altLang="zh-CN" sz="1200" kern="1200" dirty="0">
                    <a:solidFill>
                      <a:schemeClr val="tx1"/>
                    </a:solidFill>
                    <a:effectLst/>
                    <a:latin typeface="+mn-lt"/>
                    <a:ea typeface="+mn-ea"/>
                    <a:cs typeface="+mn-cs"/>
                  </a:rPr>
                  <a:t>表示两个对偶四元数乘积的实部的标量部分，</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12𝑆</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a:t>
                </a:r>
                <a:r>
                  <a:rPr lang="zh-CN" altLang="zh-CN" sz="1200" kern="1200" dirty="0">
                    <a:solidFill>
                      <a:schemeClr val="tx1"/>
                    </a:solidFill>
                    <a:effectLst/>
                    <a:latin typeface="+mn-lt"/>
                    <a:ea typeface="+mn-ea"/>
                    <a:cs typeface="+mn-cs"/>
                  </a:rPr>
                  <a:t>表示两个对偶四元数乘积的对偶部的标量部分，</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12𝑉</a:t>
                </a:r>
                <a:r>
                  <a:rPr lang="zh-CN" altLang="zh-CN" sz="1200" kern="1200" dirty="0">
                    <a:solidFill>
                      <a:schemeClr val="tx1"/>
                    </a:solidFill>
                    <a:effectLst/>
                    <a:latin typeface="+mn-lt"/>
                    <a:ea typeface="+mn-ea"/>
                    <a:cs typeface="+mn-cs"/>
                  </a:rPr>
                  <a:t>表示两个对偶四元数乘积的实部的向量部分，</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12𝑉</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a:t>
                </a:r>
                <a:r>
                  <a:rPr lang="zh-CN" altLang="zh-CN" sz="1200" kern="1200" dirty="0">
                    <a:solidFill>
                      <a:schemeClr val="tx1"/>
                    </a:solidFill>
                    <a:effectLst/>
                    <a:latin typeface="+mn-lt"/>
                    <a:ea typeface="+mn-ea"/>
                    <a:cs typeface="+mn-cs"/>
                  </a:rPr>
                  <a:t>表示两个对偶四元数乘积的对偶部的向量部分。</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机械臂末端执行器的姿态和位置计算公式如下：</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姿态为</a:t>
                </a:r>
                <a:r>
                  <a:rPr lang="en-US" altLang="zh-CN" sz="1200" i="0" kern="1200">
                    <a:solidFill>
                      <a:schemeClr val="tx1"/>
                    </a:solidFill>
                    <a:effectLst/>
                    <a:latin typeface="+mn-lt"/>
                    <a:ea typeface="+mn-ea"/>
                    <a:cs typeface="+mn-cs"/>
                  </a:rPr>
                  <a:t>𝑙</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𝑜+1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的实部：</a:t>
                </a:r>
              </a:p>
              <a:p>
                <a:r>
                  <a:rPr lang="en-US" altLang="zh-CN" sz="1200" kern="1200" dirty="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𝑙</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𝑜+1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1𝑛 Θ</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𝑙</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𝑜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1𝑛</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(3-56)</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位置为根据式（</a:t>
                </a:r>
                <a:r>
                  <a:rPr lang="en-US" altLang="zh-CN" sz="1200" kern="1200" dirty="0">
                    <a:solidFill>
                      <a:schemeClr val="tx1"/>
                    </a:solidFill>
                    <a:effectLst/>
                    <a:latin typeface="+mn-lt"/>
                    <a:ea typeface="+mn-ea"/>
                    <a:cs typeface="+mn-cs"/>
                  </a:rPr>
                  <a:t>3-53</a:t>
                </a:r>
                <a:r>
                  <a:rPr lang="zh-CN" altLang="zh-CN" sz="1200" kern="1200" dirty="0">
                    <a:solidFill>
                      <a:schemeClr val="tx1"/>
                    </a:solidFill>
                    <a:effectLst/>
                    <a:latin typeface="+mn-lt"/>
                    <a:ea typeface="+mn-ea"/>
                    <a:cs typeface="+mn-cs"/>
                  </a:rPr>
                  <a:t>）计算出来的对偶四元数乘积的对偶部的向量部分：</a:t>
                </a:r>
              </a:p>
              <a:p>
                <a:r>
                  <a:rPr lang="en-US" altLang="zh-CN" sz="1200" kern="1200" dirty="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𝑒𝑝=</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1𝑛𝑉</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a:t>
                </a:r>
                <a:r>
                  <a:rPr lang="en-US" altLang="zh-CN" sz="1200" kern="1200" dirty="0">
                    <a:solidFill>
                      <a:schemeClr val="tx1"/>
                    </a:solidFill>
                    <a:effectLst/>
                    <a:latin typeface="+mn-lt"/>
                    <a:ea typeface="+mn-ea"/>
                    <a:cs typeface="+mn-cs"/>
                  </a:rPr>
                  <a:t> (3-57)</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65</a:t>
            </a:fld>
            <a:endParaRPr lang="zh-CN" altLang="en-US"/>
          </a:p>
        </p:txBody>
      </p:sp>
    </p:spTree>
    <p:extLst>
      <p:ext uri="{BB962C8B-B14F-4D97-AF65-F5344CB8AC3E}">
        <p14:creationId xmlns:p14="http://schemas.microsoft.com/office/powerpoint/2010/main" val="24168690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针对</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个轴的串联式机器人，我们首先如同旋量法一样建立各轴的旋转轴向量及瞬时方向向量。旋转轴向量和旋量法中相同，瞬时方向向量采用对偶四元数</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𝐿</m:t>
                        </m:r>
                      </m:e>
                      <m:sub>
                        <m:r>
                          <a:rPr lang="en-US" altLang="zh-CN" sz="1200" i="1" kern="1200">
                            <a:solidFill>
                              <a:schemeClr val="tx1"/>
                            </a:solidFill>
                            <a:effectLst/>
                            <a:latin typeface="Cambria Math" panose="02040503050406030204" pitchFamily="18" charset="0"/>
                            <a:ea typeface="+mn-ea"/>
                            <a:cs typeface="+mn-cs"/>
                          </a:rPr>
                          <m:t>𝑝𝑖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进行表示，其中</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=1,2,…,n, </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𝑚</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𝑖</m:t>
                        </m:r>
                      </m:sub>
                    </m:sSub>
                  </m:oMath>
                </a14:m>
                <a:r>
                  <a:rPr lang="en-US"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表示第</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轴直线上任意一点，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表示直线的方向向量</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𝑖𝑥</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𝑖𝑦</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𝑖𝑧</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各轴对应的变换操作采用对偶四元数进行表达：</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𝜀</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e>
                      <m:sup>
                        <m:r>
                          <a:rPr lang="en-US" altLang="zh-CN" sz="1200" i="1" kern="1200">
                            <a:solidFill>
                              <a:schemeClr val="tx1"/>
                            </a:solidFill>
                            <a:effectLst/>
                            <a:latin typeface="Cambria Math" panose="02040503050406030204" pitchFamily="18" charset="0"/>
                            <a:ea typeface="+mn-ea"/>
                            <a:cs typeface="+mn-cs"/>
                          </a:rPr>
                          <m:t>𝑜</m:t>
                        </m:r>
                      </m:sup>
                    </m:sSup>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或 </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  (3-51)</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公式</a:t>
                </a:r>
                <a:r>
                  <a:rPr lang="en-US" altLang="zh-CN" sz="1200" kern="1200" dirty="0">
                    <a:solidFill>
                      <a:schemeClr val="tx1"/>
                    </a:solidFill>
                    <a:effectLst/>
                    <a:latin typeface="+mn-lt"/>
                    <a:ea typeface="+mn-ea"/>
                    <a:cs typeface="+mn-cs"/>
                  </a:rPr>
                  <a:t>(3-51)</a:t>
                </a:r>
                <a:r>
                  <a:rPr lang="zh-CN" altLang="zh-CN" sz="1200" kern="1200" dirty="0">
                    <a:solidFill>
                      <a:schemeClr val="tx1"/>
                    </a:solidFill>
                    <a:effectLst/>
                    <a:latin typeface="+mn-lt"/>
                    <a:ea typeface="+mn-ea"/>
                    <a:cs typeface="+mn-cs"/>
                  </a:rPr>
                  <a:t>中</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num>
                              <m:den>
                                <m:r>
                                  <a:rPr lang="en-US" altLang="zh-CN" sz="1200" i="1" kern="1200">
                                    <a:solidFill>
                                      <a:schemeClr val="tx1"/>
                                    </a:solidFill>
                                    <a:effectLst/>
                                    <a:latin typeface="Cambria Math" panose="02040503050406030204" pitchFamily="18" charset="0"/>
                                    <a:ea typeface="+mn-ea"/>
                                    <a:cs typeface="+mn-cs"/>
                                  </a:rPr>
                                  <m:t>2</m:t>
                                </m:r>
                              </m:den>
                            </m:f>
                          </m:e>
                        </m:d>
                      </m:e>
                    </m:func>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num>
                              <m:den>
                                <m:r>
                                  <a:rPr lang="en-US" altLang="zh-CN" sz="1200" i="1" kern="1200">
                                    <a:solidFill>
                                      <a:schemeClr val="tx1"/>
                                    </a:solidFill>
                                    <a:effectLst/>
                                    <a:latin typeface="Cambria Math" panose="02040503050406030204" pitchFamily="18" charset="0"/>
                                    <a:ea typeface="+mn-ea"/>
                                    <a:cs typeface="+mn-cs"/>
                                  </a:rPr>
                                  <m:t>2</m:t>
                                </m:r>
                              </m:den>
                            </m:f>
                          </m:e>
                        </m:d>
                      </m:e>
                    </m:func>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𝑖𝑥</m:t>
                        </m:r>
                      </m:sub>
                    </m:sSub>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num>
                              <m:den>
                                <m:r>
                                  <a:rPr lang="en-US" altLang="zh-CN" sz="1200" i="1" kern="1200">
                                    <a:solidFill>
                                      <a:schemeClr val="tx1"/>
                                    </a:solidFill>
                                    <a:effectLst/>
                                    <a:latin typeface="Cambria Math" panose="02040503050406030204" pitchFamily="18" charset="0"/>
                                    <a:ea typeface="+mn-ea"/>
                                    <a:cs typeface="+mn-cs"/>
                                  </a:rPr>
                                  <m:t>2</m:t>
                                </m:r>
                              </m:den>
                            </m:f>
                          </m:e>
                        </m:d>
                      </m:e>
                    </m:func>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𝑖𝑦</m:t>
                        </m:r>
                      </m:sub>
                    </m:sSub>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num>
                              <m:den>
                                <m:r>
                                  <a:rPr lang="en-US" altLang="zh-CN" sz="1200" i="1" kern="1200">
                                    <a:solidFill>
                                      <a:schemeClr val="tx1"/>
                                    </a:solidFill>
                                    <a:effectLst/>
                                    <a:latin typeface="Cambria Math" panose="02040503050406030204" pitchFamily="18" charset="0"/>
                                    <a:ea typeface="+mn-ea"/>
                                    <a:cs typeface="+mn-cs"/>
                                  </a:rPr>
                                  <m:t>2</m:t>
                                </m:r>
                              </m:den>
                            </m:f>
                          </m:e>
                        </m:d>
                      </m:e>
                    </m:func>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𝑖𝑧</m:t>
                        </m:r>
                      </m:sub>
                    </m:sSub>
                    <m:r>
                      <a:rPr lang="en-US" altLang="zh-CN" sz="1200" i="1" kern="1200">
                        <a:solidFill>
                          <a:schemeClr val="tx1"/>
                        </a:solidFill>
                        <a:effectLst/>
                        <a:latin typeface="Cambria Math" panose="02040503050406030204" pitchFamily="18" charset="0"/>
                        <a:ea typeface="+mn-ea"/>
                        <a:cs typeface="+mn-cs"/>
                      </a:rPr>
                      <m:t>)</m:t>
                    </m:r>
                  </m:oMath>
                </a14:m>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e>
                      <m:sup>
                        <m:r>
                          <a:rPr lang="en-US" altLang="zh-CN" sz="1200" i="1" kern="1200">
                            <a:solidFill>
                              <a:schemeClr val="tx1"/>
                            </a:solidFill>
                            <a:effectLst/>
                            <a:latin typeface="Cambria Math" panose="02040503050406030204" pitchFamily="18" charset="0"/>
                            <a:ea typeface="+mn-ea"/>
                            <a:cs typeface="+mn-cs"/>
                          </a:rPr>
                          <m:t>𝑜</m:t>
                        </m:r>
                      </m:sup>
                    </m:sSup>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1</m:t>
                        </m:r>
                      </m:num>
                      <m:den>
                        <m:r>
                          <a:rPr lang="en-US" altLang="zh-CN" sz="1200" i="1" kern="1200">
                            <a:solidFill>
                              <a:schemeClr val="tx1"/>
                            </a:solidFill>
                            <a:effectLst/>
                            <a:latin typeface="Cambria Math" panose="02040503050406030204" pitchFamily="18" charset="0"/>
                            <a:ea typeface="+mn-ea"/>
                            <a:cs typeface="+mn-cs"/>
                          </a:rPr>
                          <m:t>2</m:t>
                        </m:r>
                      </m:den>
                    </m:f>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e>
                      <m:sup>
                        <m:r>
                          <a:rPr lang="en-US" altLang="zh-CN" sz="1200" i="1" kern="1200">
                            <a:solidFill>
                              <a:schemeClr val="tx1"/>
                            </a:solidFill>
                            <a:effectLst/>
                            <a:latin typeface="Cambria Math" panose="02040503050406030204" pitchFamily="18" charset="0"/>
                            <a:ea typeface="+mn-ea"/>
                            <a:cs typeface="+mn-cs"/>
                          </a:rPr>
                          <m:t>∗</m:t>
                        </m:r>
                      </m:sup>
                    </m:sSup>
                    <m:r>
                      <a:rPr lang="en-US" altLang="zh-CN" sz="1200" i="1" kern="1200">
                        <a:solidFill>
                          <a:schemeClr val="tx1"/>
                        </a:solidFill>
                        <a:effectLst/>
                        <a:latin typeface="Cambria Math" panose="02040503050406030204" pitchFamily="18" charset="0"/>
                        <a:ea typeface="+mn-ea"/>
                        <a:cs typeface="+mn-cs"/>
                      </a:rPr>
                      <m:t>)</m:t>
                    </m:r>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oMath>
                </a14:m>
                <a:r>
                  <a:rPr lang="en-US" altLang="zh-CN" sz="1200" kern="1200" dirty="0">
                    <a:solidFill>
                      <a:schemeClr val="tx1"/>
                    </a:solidFill>
                    <a:effectLst/>
                    <a:latin typeface="+mn-lt"/>
                    <a:ea typeface="+mn-ea"/>
                    <a:cs typeface="+mn-cs"/>
                  </a:rPr>
                  <a:t>  (3-52)</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或者用</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表示，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和前面的表达相同，代表旋转运动部分，</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则表示平移运动部分</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为第</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𝑖</m:t>
                    </m:r>
                  </m:oMath>
                </a14:m>
                <a:r>
                  <a:rPr lang="zh-CN" altLang="zh-CN" sz="1200" kern="1200" dirty="0">
                    <a:solidFill>
                      <a:schemeClr val="tx1"/>
                    </a:solidFill>
                    <a:effectLst/>
                    <a:latin typeface="+mn-lt"/>
                    <a:ea typeface="+mn-ea"/>
                    <a:cs typeface="+mn-cs"/>
                  </a:rPr>
                  <a:t>轴旋转</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后，导致第</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轴产生的平移位移值（参考坐标系为基坐标系）。如果该关节为平移关节，则</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=(1,0,0,0)</m:t>
                    </m:r>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𝑖</m:t>
                        </m:r>
                      </m:sub>
                    </m:sSub>
                    <m:r>
                      <a:rPr lang="en-US" altLang="zh-CN" sz="1200" i="1" kern="1200">
                        <a:solidFill>
                          <a:schemeClr val="tx1"/>
                        </a:solidFill>
                        <a:effectLst/>
                        <a:latin typeface="Cambria Math" panose="02040503050406030204" pitchFamily="18" charset="0"/>
                        <a:ea typeface="+mn-ea"/>
                        <a:cs typeface="+mn-cs"/>
                      </a:rPr>
                      <m:t>=(0,</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𝑥</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𝑦</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𝑧</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，一般来说应该只有一个自由度的平移，也就是</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𝑥</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𝑦</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𝑧</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中只有一个方向的位移值。</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对于串联机械臂来说，其总变换使用对偶四元数的表达如下：</a:t>
                </a:r>
              </a:p>
              <a:p>
                <a:r>
                  <a:rPr lang="en-US" altLang="zh-CN" sz="1200" kern="1200" dirty="0">
                    <a:solidFill>
                      <a:schemeClr val="tx1"/>
                    </a:solidFill>
                    <a:effectLst/>
                    <a:latin typeface="+mn-lt"/>
                    <a:ea typeface="+mn-ea"/>
                    <a:cs typeface="+mn-cs"/>
                  </a:rPr>
                  <a:t>	</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𝑛</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1</m:t>
                        </m:r>
                      </m:sub>
                    </m:sSub>
                    <m:r>
                      <m:rPr>
                        <m:sty m:val="p"/>
                      </m:rPr>
                      <a:rPr lang="en-US" altLang="zh-CN" sz="1200" kern="1200">
                        <a:solidFill>
                          <a:schemeClr val="tx1"/>
                        </a:solidFill>
                        <a:effectLst/>
                        <a:latin typeface="Cambria Math" panose="02040503050406030204" pitchFamily="18" charset="0"/>
                        <a:ea typeface="+mn-ea"/>
                        <a:cs typeface="+mn-cs"/>
                      </a:rPr>
                      <m:t>Θ</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2</m:t>
                        </m:r>
                      </m:sub>
                    </m:sSub>
                    <m:r>
                      <m:rPr>
                        <m:sty m:val="p"/>
                      </m:rPr>
                      <a:rPr lang="en-US" altLang="zh-CN" sz="1200" kern="1200">
                        <a:solidFill>
                          <a:schemeClr val="tx1"/>
                        </a:solidFill>
                        <a:effectLst/>
                        <a:latin typeface="Cambria Math" panose="02040503050406030204" pitchFamily="18" charset="0"/>
                        <a:ea typeface="+mn-ea"/>
                        <a:cs typeface="+mn-cs"/>
                      </a:rPr>
                      <m:t>Θ</m:t>
                    </m:r>
                    <m:r>
                      <a:rPr lang="en-US" altLang="zh-CN" sz="1200" kern="1200">
                        <a:solidFill>
                          <a:schemeClr val="tx1"/>
                        </a:solidFill>
                        <a:effectLst/>
                        <a:latin typeface="Cambria Math" panose="02040503050406030204" pitchFamily="18" charset="0"/>
                        <a:ea typeface="+mn-ea"/>
                        <a:cs typeface="+mn-cs"/>
                      </a:rPr>
                      <m:t>⋯</m:t>
                    </m:r>
                    <m:r>
                      <m:rPr>
                        <m:sty m:val="p"/>
                      </m:rPr>
                      <a:rPr lang="en-US" altLang="zh-CN" sz="1200" kern="1200">
                        <a:solidFill>
                          <a:schemeClr val="tx1"/>
                        </a:solidFill>
                        <a:effectLst/>
                        <a:latin typeface="Cambria Math" panose="02040503050406030204" pitchFamily="18" charset="0"/>
                        <a:ea typeface="+mn-ea"/>
                        <a:cs typeface="+mn-cs"/>
                      </a:rPr>
                      <m:t>Θ</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𝑛</m:t>
                        </m:r>
                      </m:sub>
                    </m:sSub>
                  </m:oMath>
                </a14:m>
                <a:r>
                  <a:rPr lang="en-US" altLang="zh-CN" sz="1200" kern="1200" dirty="0">
                    <a:solidFill>
                      <a:schemeClr val="tx1"/>
                    </a:solidFill>
                    <a:effectLst/>
                    <a:latin typeface="+mn-lt"/>
                    <a:ea typeface="+mn-ea"/>
                    <a:cs typeface="+mn-cs"/>
                  </a:rPr>
                  <a:t>  (3-53)</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注意，其中对偶四元数的乘法符号为</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Θ</m:t>
                    </m:r>
                  </m:oMath>
                </a14:m>
                <a:r>
                  <a:rPr lang="zh-CN" altLang="zh-CN" sz="1200" kern="1200" dirty="0">
                    <a:solidFill>
                      <a:schemeClr val="tx1"/>
                    </a:solidFill>
                    <a:effectLst/>
                    <a:latin typeface="+mn-lt"/>
                    <a:ea typeface="+mn-ea"/>
                    <a:cs typeface="+mn-cs"/>
                  </a:rPr>
                  <a:t>，四元数乘法符号为</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，对偶四元数的乘法可以采用如下形式进行计算：</a:t>
                </a:r>
              </a:p>
              <a:p>
                <a:r>
                  <a:rPr lang="en-US" altLang="zh-CN" sz="1200" kern="1200" dirty="0">
                    <a:solidFill>
                      <a:schemeClr val="tx1"/>
                    </a:solidFill>
                    <a:effectLst/>
                    <a:latin typeface="+mn-lt"/>
                    <a:ea typeface="+mn-ea"/>
                    <a:cs typeface="+mn-cs"/>
                  </a:rPr>
                  <a:t>	</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12</m:t>
                            </m:r>
                          </m:sub>
                        </m:sSub>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1</m:t>
                        </m:r>
                      </m:sub>
                    </m:sSub>
                    <m:r>
                      <m:rPr>
                        <m:sty m:val="p"/>
                      </m:rPr>
                      <a:rPr lang="en-US" altLang="zh-CN" sz="1200" kern="1200">
                        <a:solidFill>
                          <a:schemeClr val="tx1"/>
                        </a:solidFill>
                        <a:effectLst/>
                        <a:latin typeface="Cambria Math" panose="02040503050406030204" pitchFamily="18" charset="0"/>
                        <a:ea typeface="+mn-ea"/>
                        <a:cs typeface="+mn-cs"/>
                      </a:rPr>
                      <m:t>Θ</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Sub>
                      </m:e>
                    </m:d>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𝜀</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Sub>
                      </m:e>
                      <m:sup>
                        <m:r>
                          <a:rPr lang="en-US" altLang="zh-CN" sz="1200" i="1" kern="1200">
                            <a:solidFill>
                              <a:schemeClr val="tx1"/>
                            </a:solidFill>
                            <a:effectLst/>
                            <a:latin typeface="Cambria Math" panose="02040503050406030204" pitchFamily="18" charset="0"/>
                            <a:ea typeface="+mn-ea"/>
                            <a:cs typeface="+mn-cs"/>
                          </a:rPr>
                          <m:t>𝑜</m:t>
                        </m:r>
                      </m:sup>
                    </m:sSup>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Sub>
                      </m:e>
                      <m:sup>
                        <m:r>
                          <a:rPr lang="en-US" altLang="zh-CN" sz="1200" i="1" kern="1200">
                            <a:solidFill>
                              <a:schemeClr val="tx1"/>
                            </a:solidFill>
                            <a:effectLst/>
                            <a:latin typeface="Cambria Math" panose="02040503050406030204" pitchFamily="18" charset="0"/>
                            <a:ea typeface="+mn-ea"/>
                            <a:cs typeface="+mn-cs"/>
                          </a:rPr>
                          <m:t>𝑜</m:t>
                        </m:r>
                      </m:sup>
                    </m:sSup>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或者，</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12</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r>
                      <m:rPr>
                        <m:sty m:val="p"/>
                      </m:rPr>
                      <a:rPr lang="en-US" altLang="zh-CN" sz="1200" kern="1200">
                        <a:solidFill>
                          <a:schemeClr val="tx1"/>
                        </a:solidFill>
                        <a:effectLst/>
                        <a:latin typeface="Cambria Math" panose="02040503050406030204" pitchFamily="18" charset="0"/>
                        <a:ea typeface="+mn-ea"/>
                        <a:cs typeface="+mn-cs"/>
                      </a:rPr>
                      <m:t>Θ</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Sub>
                      </m:e>
                    </m:d>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2</m:t>
                        </m:r>
                      </m:sub>
                    </m:sSub>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Sub>
                      </m:e>
                      <m:sup>
                        <m:r>
                          <a:rPr lang="en-US" altLang="zh-CN" sz="1200" i="1" kern="1200">
                            <a:solidFill>
                              <a:schemeClr val="tx1"/>
                            </a:solidFill>
                            <a:effectLst/>
                            <a:latin typeface="Cambria Math" panose="02040503050406030204" pitchFamily="18" charset="0"/>
                            <a:ea typeface="+mn-ea"/>
                            <a:cs typeface="+mn-cs"/>
                          </a:rPr>
                          <m:t>−1</m:t>
                        </m:r>
                      </m:sup>
                    </m:sSup>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𝑝</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 (3-54)</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将上式写成如下形式：</a:t>
                </a:r>
              </a:p>
              <a:p>
                <a:r>
                  <a:rPr lang="en-US" altLang="zh-CN" sz="1200" kern="1200" dirty="0">
                    <a:solidFill>
                      <a:schemeClr val="tx1"/>
                    </a:solidFill>
                    <a:effectLst/>
                    <a:latin typeface="+mn-lt"/>
                    <a:ea typeface="+mn-ea"/>
                    <a:cs typeface="+mn-cs"/>
                  </a:rPr>
                  <a:t>	</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12</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12</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𝜀</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12</m:t>
                            </m:r>
                          </m:sub>
                        </m:sSub>
                      </m:e>
                      <m:sup>
                        <m:r>
                          <a:rPr lang="en-US" altLang="zh-CN" sz="1200" i="1" kern="1200">
                            <a:solidFill>
                              <a:schemeClr val="tx1"/>
                            </a:solidFill>
                            <a:effectLst/>
                            <a:latin typeface="Cambria Math" panose="02040503050406030204" pitchFamily="18" charset="0"/>
                            <a:ea typeface="+mn-ea"/>
                            <a:cs typeface="+mn-cs"/>
                          </a:rPr>
                          <m:t>𝑜</m:t>
                        </m:r>
                      </m:sup>
                    </m:sSup>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12</m:t>
                            </m:r>
                            <m:r>
                              <a:rPr lang="en-US" altLang="zh-CN" sz="1200" i="1" kern="1200">
                                <a:solidFill>
                                  <a:schemeClr val="tx1"/>
                                </a:solidFill>
                                <a:effectLst/>
                                <a:latin typeface="Cambria Math" panose="02040503050406030204" pitchFamily="18" charset="0"/>
                                <a:ea typeface="+mn-ea"/>
                                <a:cs typeface="+mn-cs"/>
                              </a:rPr>
                              <m:t>𝑆</m:t>
                            </m:r>
                          </m:sub>
                        </m:sSub>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12</m:t>
                            </m:r>
                            <m:r>
                              <a:rPr lang="en-US" altLang="zh-CN" sz="1200" i="1" kern="1200">
                                <a:solidFill>
                                  <a:schemeClr val="tx1"/>
                                </a:solidFill>
                                <a:effectLst/>
                                <a:latin typeface="Cambria Math" panose="02040503050406030204" pitchFamily="18" charset="0"/>
                                <a:ea typeface="+mn-ea"/>
                                <a:cs typeface="+mn-cs"/>
                              </a:rPr>
                              <m:t>𝑉</m:t>
                            </m:r>
                          </m:sub>
                        </m:sSub>
                      </m:e>
                    </m:d>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𝜀</m:t>
                    </m:r>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12</m:t>
                            </m:r>
                            <m:r>
                              <a:rPr lang="en-US" altLang="zh-CN" sz="1200" i="1" kern="1200">
                                <a:solidFill>
                                  <a:schemeClr val="tx1"/>
                                </a:solidFill>
                                <a:effectLst/>
                                <a:latin typeface="Cambria Math" panose="02040503050406030204" pitchFamily="18" charset="0"/>
                                <a:ea typeface="+mn-ea"/>
                                <a:cs typeface="+mn-cs"/>
                              </a:rPr>
                              <m:t>𝑆</m:t>
                            </m:r>
                          </m:sub>
                        </m:sSub>
                      </m:e>
                      <m:sup>
                        <m:r>
                          <a:rPr lang="en-US" altLang="zh-CN" sz="1200" i="1" kern="1200">
                            <a:solidFill>
                              <a:schemeClr val="tx1"/>
                            </a:solidFill>
                            <a:effectLst/>
                            <a:latin typeface="Cambria Math" panose="02040503050406030204" pitchFamily="18" charset="0"/>
                            <a:ea typeface="+mn-ea"/>
                            <a:cs typeface="+mn-cs"/>
                          </a:rPr>
                          <m:t>𝑜</m:t>
                        </m:r>
                      </m:sup>
                    </m:sSup>
                    <m:r>
                      <a:rPr lang="en-US" altLang="zh-CN" sz="1200" i="1" kern="1200">
                        <a:solidFill>
                          <a:schemeClr val="tx1"/>
                        </a:solidFill>
                        <a:effectLst/>
                        <a:latin typeface="Cambria Math" panose="02040503050406030204" pitchFamily="18" charset="0"/>
                        <a:ea typeface="+mn-ea"/>
                        <a:cs typeface="+mn-cs"/>
                      </a:rPr>
                      <m:t>, </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12</m:t>
                            </m:r>
                            <m:r>
                              <a:rPr lang="en-US" altLang="zh-CN" sz="1200" i="1" kern="1200">
                                <a:solidFill>
                                  <a:schemeClr val="tx1"/>
                                </a:solidFill>
                                <a:effectLst/>
                                <a:latin typeface="Cambria Math" panose="02040503050406030204" pitchFamily="18" charset="0"/>
                                <a:ea typeface="+mn-ea"/>
                                <a:cs typeface="+mn-cs"/>
                              </a:rPr>
                              <m:t>𝑉</m:t>
                            </m:r>
                          </m:sub>
                        </m:sSub>
                      </m:e>
                      <m:sup>
                        <m:r>
                          <a:rPr lang="en-US" altLang="zh-CN" sz="1200" i="1" kern="1200">
                            <a:solidFill>
                              <a:schemeClr val="tx1"/>
                            </a:solidFill>
                            <a:effectLst/>
                            <a:latin typeface="Cambria Math" panose="02040503050406030204" pitchFamily="18" charset="0"/>
                            <a:ea typeface="+mn-ea"/>
                            <a:cs typeface="+mn-cs"/>
                          </a:rPr>
                          <m:t>𝑜</m:t>
                        </m:r>
                      </m:sup>
                    </m:sSup>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 (3-55)</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在式（</a:t>
                </a:r>
                <a:r>
                  <a:rPr lang="en-US" altLang="zh-CN" sz="1200" kern="1200" dirty="0">
                    <a:solidFill>
                      <a:schemeClr val="tx1"/>
                    </a:solidFill>
                    <a:effectLst/>
                    <a:latin typeface="+mn-lt"/>
                    <a:ea typeface="+mn-ea"/>
                    <a:cs typeface="+mn-cs"/>
                  </a:rPr>
                  <a:t>3-55</a:t>
                </a:r>
                <a:r>
                  <a:rPr lang="zh-CN" altLang="zh-CN" sz="1200" kern="1200" dirty="0">
                    <a:solidFill>
                      <a:schemeClr val="tx1"/>
                    </a:solidFill>
                    <a:effectLst/>
                    <a:latin typeface="+mn-lt"/>
                    <a:ea typeface="+mn-ea"/>
                    <a:cs typeface="+mn-cs"/>
                  </a:rPr>
                  <a:t>）中：</a:t>
                </a:r>
              </a:p>
              <a:p>
                <a:r>
                  <a:rPr lang="en-US" altLang="zh-CN" sz="1200" kern="1200" dirty="0">
                    <a:solidFill>
                      <a:schemeClr val="tx1"/>
                    </a:solidFill>
                    <a:effectLst/>
                    <a:latin typeface="+mn-lt"/>
                    <a:ea typeface="+mn-ea"/>
                    <a:cs typeface="+mn-cs"/>
                  </a:rPr>
                  <a:t>	</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12</m:t>
                        </m:r>
                        <m:r>
                          <a:rPr lang="en-US" altLang="zh-CN" sz="1200" i="1" kern="1200">
                            <a:solidFill>
                              <a:schemeClr val="tx1"/>
                            </a:solidFill>
                            <a:effectLst/>
                            <a:latin typeface="Cambria Math" panose="02040503050406030204" pitchFamily="18" charset="0"/>
                            <a:ea typeface="+mn-ea"/>
                            <a:cs typeface="+mn-cs"/>
                          </a:rPr>
                          <m:t>𝑆</m:t>
                        </m:r>
                      </m:sub>
                    </m:sSub>
                  </m:oMath>
                </a14:m>
                <a:r>
                  <a:rPr lang="zh-CN" altLang="zh-CN" sz="1200" kern="1200" dirty="0">
                    <a:solidFill>
                      <a:schemeClr val="tx1"/>
                    </a:solidFill>
                    <a:effectLst/>
                    <a:latin typeface="+mn-lt"/>
                    <a:ea typeface="+mn-ea"/>
                    <a:cs typeface="+mn-cs"/>
                  </a:rPr>
                  <a:t>表示两个对偶四元数乘积的实部的标量部分，</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12</m:t>
                            </m:r>
                            <m:r>
                              <a:rPr lang="en-US" altLang="zh-CN" sz="1200" i="1" kern="1200">
                                <a:solidFill>
                                  <a:schemeClr val="tx1"/>
                                </a:solidFill>
                                <a:effectLst/>
                                <a:latin typeface="Cambria Math" panose="02040503050406030204" pitchFamily="18" charset="0"/>
                                <a:ea typeface="+mn-ea"/>
                                <a:cs typeface="+mn-cs"/>
                              </a:rPr>
                              <m:t>𝑆</m:t>
                            </m:r>
                          </m:sub>
                        </m:sSub>
                      </m:e>
                      <m:sup>
                        <m:r>
                          <a:rPr lang="en-US" altLang="zh-CN" sz="1200" i="1" kern="1200">
                            <a:solidFill>
                              <a:schemeClr val="tx1"/>
                            </a:solidFill>
                            <a:effectLst/>
                            <a:latin typeface="Cambria Math" panose="02040503050406030204" pitchFamily="18" charset="0"/>
                            <a:ea typeface="+mn-ea"/>
                            <a:cs typeface="+mn-cs"/>
                          </a:rPr>
                          <m:t>𝑜</m:t>
                        </m:r>
                      </m:sup>
                    </m:sSup>
                  </m:oMath>
                </a14:m>
                <a:r>
                  <a:rPr lang="zh-CN" altLang="zh-CN" sz="1200" kern="1200" dirty="0">
                    <a:solidFill>
                      <a:schemeClr val="tx1"/>
                    </a:solidFill>
                    <a:effectLst/>
                    <a:latin typeface="+mn-lt"/>
                    <a:ea typeface="+mn-ea"/>
                    <a:cs typeface="+mn-cs"/>
                  </a:rPr>
                  <a:t>表示两个对偶四元数乘积的对偶部的标量部分，</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12</m:t>
                        </m:r>
                        <m:r>
                          <a:rPr lang="en-US" altLang="zh-CN" sz="1200" i="1" kern="1200">
                            <a:solidFill>
                              <a:schemeClr val="tx1"/>
                            </a:solidFill>
                            <a:effectLst/>
                            <a:latin typeface="Cambria Math" panose="02040503050406030204" pitchFamily="18" charset="0"/>
                            <a:ea typeface="+mn-ea"/>
                            <a:cs typeface="+mn-cs"/>
                          </a:rPr>
                          <m:t>𝑉</m:t>
                        </m:r>
                      </m:sub>
                    </m:sSub>
                  </m:oMath>
                </a14:m>
                <a:r>
                  <a:rPr lang="zh-CN" altLang="zh-CN" sz="1200" kern="1200" dirty="0">
                    <a:solidFill>
                      <a:schemeClr val="tx1"/>
                    </a:solidFill>
                    <a:effectLst/>
                    <a:latin typeface="+mn-lt"/>
                    <a:ea typeface="+mn-ea"/>
                    <a:cs typeface="+mn-cs"/>
                  </a:rPr>
                  <a:t>表示两个对偶四元数乘积的实部的向量部分，</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12</m:t>
                            </m:r>
                            <m:r>
                              <a:rPr lang="en-US" altLang="zh-CN" sz="1200" i="1" kern="1200">
                                <a:solidFill>
                                  <a:schemeClr val="tx1"/>
                                </a:solidFill>
                                <a:effectLst/>
                                <a:latin typeface="Cambria Math" panose="02040503050406030204" pitchFamily="18" charset="0"/>
                                <a:ea typeface="+mn-ea"/>
                                <a:cs typeface="+mn-cs"/>
                              </a:rPr>
                              <m:t>𝑉</m:t>
                            </m:r>
                          </m:sub>
                        </m:sSub>
                      </m:e>
                      <m:sup>
                        <m:r>
                          <a:rPr lang="en-US" altLang="zh-CN" sz="1200" i="1" kern="1200">
                            <a:solidFill>
                              <a:schemeClr val="tx1"/>
                            </a:solidFill>
                            <a:effectLst/>
                            <a:latin typeface="Cambria Math" panose="02040503050406030204" pitchFamily="18" charset="0"/>
                            <a:ea typeface="+mn-ea"/>
                            <a:cs typeface="+mn-cs"/>
                          </a:rPr>
                          <m:t>𝑜</m:t>
                        </m:r>
                      </m:sup>
                    </m:sSup>
                  </m:oMath>
                </a14:m>
                <a:r>
                  <a:rPr lang="zh-CN" altLang="zh-CN" sz="1200" kern="1200" dirty="0">
                    <a:solidFill>
                      <a:schemeClr val="tx1"/>
                    </a:solidFill>
                    <a:effectLst/>
                    <a:latin typeface="+mn-lt"/>
                    <a:ea typeface="+mn-ea"/>
                    <a:cs typeface="+mn-cs"/>
                  </a:rPr>
                  <a:t>表示两个对偶四元数乘积的对偶部的向量部分。</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机械臂末端执行器的姿态和位置计算公式如下：</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姿态为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𝑙</m:t>
                            </m:r>
                          </m:e>
                        </m:acc>
                      </m:e>
                      <m:sub>
                        <m:r>
                          <a:rPr lang="en-US" altLang="zh-CN" sz="1200" i="1" kern="1200">
                            <a:solidFill>
                              <a:schemeClr val="tx1"/>
                            </a:solidFill>
                            <a:effectLst/>
                            <a:latin typeface="Cambria Math" panose="02040503050406030204" pitchFamily="18" charset="0"/>
                            <a:ea typeface="+mn-ea"/>
                            <a:cs typeface="+mn-cs"/>
                          </a:rPr>
                          <m:t>𝑜</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的实部：</a:t>
                </a:r>
              </a:p>
              <a:p>
                <a:r>
                  <a:rPr lang="en-US" altLang="zh-CN" sz="1200" kern="1200" dirty="0">
                    <a:solidFill>
                      <a:schemeClr val="tx1"/>
                    </a:solidFill>
                    <a:effectLst/>
                    <a:latin typeface="+mn-lt"/>
                    <a:ea typeface="+mn-ea"/>
                    <a:cs typeface="+mn-cs"/>
                  </a:rPr>
                  <a:t>	</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𝑙</m:t>
                            </m:r>
                          </m:e>
                        </m:acc>
                      </m:e>
                      <m:sub>
                        <m:r>
                          <a:rPr lang="en-US" altLang="zh-CN" sz="1200" i="1" kern="1200">
                            <a:solidFill>
                              <a:schemeClr val="tx1"/>
                            </a:solidFill>
                            <a:effectLst/>
                            <a:latin typeface="Cambria Math" panose="02040503050406030204" pitchFamily="18" charset="0"/>
                            <a:ea typeface="+mn-ea"/>
                            <a:cs typeface="+mn-cs"/>
                          </a:rPr>
                          <m:t>𝑜</m:t>
                        </m:r>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𝑛</m:t>
                        </m:r>
                      </m:sub>
                    </m:sSub>
                    <m:r>
                      <m:rPr>
                        <m:sty m:val="p"/>
                      </m:rPr>
                      <a:rPr lang="en-US" altLang="zh-CN" sz="1200" kern="1200">
                        <a:solidFill>
                          <a:schemeClr val="tx1"/>
                        </a:solidFill>
                        <a:effectLst/>
                        <a:latin typeface="Cambria Math" panose="02040503050406030204" pitchFamily="18" charset="0"/>
                        <a:ea typeface="+mn-ea"/>
                        <a:cs typeface="+mn-cs"/>
                      </a:rPr>
                      <m:t>Θ</m:t>
                    </m:r>
                    <m:acc>
                      <m:accPr>
                        <m:chr m:val="̂"/>
                        <m:ctrlPr>
                          <a:rPr lang="zh-CN" altLang="zh-CN" sz="1200" i="1" kern="1200">
                            <a:solidFill>
                              <a:schemeClr val="tx1"/>
                            </a:solidFill>
                            <a:effectLst/>
                            <a:latin typeface="Cambria Math" panose="02040503050406030204" pitchFamily="18" charset="0"/>
                            <a:ea typeface="+mn-ea"/>
                            <a:cs typeface="+mn-cs"/>
                          </a:rPr>
                        </m:ctrlPr>
                      </m:acc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𝑙</m:t>
                            </m:r>
                          </m:e>
                          <m:sub>
                            <m:r>
                              <a:rPr lang="en-US" altLang="zh-CN" sz="1200" i="1" kern="1200">
                                <a:solidFill>
                                  <a:schemeClr val="tx1"/>
                                </a:solidFill>
                                <a:effectLst/>
                                <a:latin typeface="Cambria Math" panose="02040503050406030204" pitchFamily="18" charset="0"/>
                                <a:ea typeface="+mn-ea"/>
                                <a:cs typeface="+mn-cs"/>
                              </a:rPr>
                              <m:t>𝑜</m:t>
                            </m:r>
                          </m:sub>
                        </m:sSub>
                      </m:e>
                    </m:acc>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𝑞</m:t>
                                </m:r>
                              </m:e>
                            </m:acc>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𝑛</m:t>
                            </m:r>
                          </m:sub>
                        </m:sSub>
                      </m:e>
                      <m:sup>
                        <m:r>
                          <a:rPr lang="en-US" altLang="zh-CN" sz="1200" i="1" kern="1200">
                            <a:solidFill>
                              <a:schemeClr val="tx1"/>
                            </a:solidFill>
                            <a:effectLst/>
                            <a:latin typeface="Cambria Math" panose="02040503050406030204" pitchFamily="18" charset="0"/>
                            <a:ea typeface="+mn-ea"/>
                            <a:cs typeface="+mn-cs"/>
                          </a:rPr>
                          <m:t>∗</m:t>
                        </m:r>
                      </m:sup>
                    </m:sSup>
                  </m:oMath>
                </a14:m>
                <a:r>
                  <a:rPr lang="en-US" altLang="zh-CN" sz="1200" kern="1200" dirty="0">
                    <a:solidFill>
                      <a:schemeClr val="tx1"/>
                    </a:solidFill>
                    <a:effectLst/>
                    <a:latin typeface="+mn-lt"/>
                    <a:ea typeface="+mn-ea"/>
                    <a:cs typeface="+mn-cs"/>
                  </a:rPr>
                  <a:t> (3-56)</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位置为根据式（</a:t>
                </a:r>
                <a:r>
                  <a:rPr lang="en-US" altLang="zh-CN" sz="1200" kern="1200" dirty="0">
                    <a:solidFill>
                      <a:schemeClr val="tx1"/>
                    </a:solidFill>
                    <a:effectLst/>
                    <a:latin typeface="+mn-lt"/>
                    <a:ea typeface="+mn-ea"/>
                    <a:cs typeface="+mn-cs"/>
                  </a:rPr>
                  <a:t>3-53</a:t>
                </a:r>
                <a:r>
                  <a:rPr lang="zh-CN" altLang="zh-CN" sz="1200" kern="1200" dirty="0">
                    <a:solidFill>
                      <a:schemeClr val="tx1"/>
                    </a:solidFill>
                    <a:effectLst/>
                    <a:latin typeface="+mn-lt"/>
                    <a:ea typeface="+mn-ea"/>
                    <a:cs typeface="+mn-cs"/>
                  </a:rPr>
                  <a:t>）计算出来的对偶四元数乘积的对偶部的向量部分：</a:t>
                </a:r>
              </a:p>
              <a:p>
                <a:r>
                  <a:rPr lang="en-US" altLang="zh-CN" sz="1200" kern="1200" dirty="0">
                    <a:solidFill>
                      <a:schemeClr val="tx1"/>
                    </a:solidFill>
                    <a:effectLst/>
                    <a:latin typeface="+mn-lt"/>
                    <a:ea typeface="+mn-ea"/>
                    <a:cs typeface="+mn-cs"/>
                  </a:rPr>
                  <a:t>	</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𝑃</m:t>
                        </m:r>
                      </m:e>
                      <m:sub>
                        <m:r>
                          <a:rPr lang="en-US" altLang="zh-CN" sz="1200" i="1" kern="1200">
                            <a:solidFill>
                              <a:schemeClr val="tx1"/>
                            </a:solidFill>
                            <a:effectLst/>
                            <a:latin typeface="Cambria Math" panose="02040503050406030204" pitchFamily="18" charset="0"/>
                            <a:ea typeface="+mn-ea"/>
                            <a:cs typeface="+mn-cs"/>
                          </a:rPr>
                          <m:t>𝑒𝑝</m:t>
                        </m:r>
                      </m:sub>
                    </m:sSub>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𝑛𝑉</m:t>
                            </m:r>
                          </m:sub>
                        </m:sSub>
                      </m:e>
                      <m:sup>
                        <m:r>
                          <a:rPr lang="en-US" altLang="zh-CN" sz="1200" i="1" kern="1200">
                            <a:solidFill>
                              <a:schemeClr val="tx1"/>
                            </a:solidFill>
                            <a:effectLst/>
                            <a:latin typeface="Cambria Math" panose="02040503050406030204" pitchFamily="18" charset="0"/>
                            <a:ea typeface="+mn-ea"/>
                            <a:cs typeface="+mn-cs"/>
                          </a:rPr>
                          <m:t>𝑜</m:t>
                        </m:r>
                      </m:sup>
                    </m:sSup>
                  </m:oMath>
                </a14:m>
                <a:r>
                  <a:rPr lang="en-US" altLang="zh-CN" sz="1200" kern="1200" dirty="0">
                    <a:solidFill>
                      <a:schemeClr val="tx1"/>
                    </a:solidFill>
                    <a:effectLst/>
                    <a:latin typeface="+mn-lt"/>
                    <a:ea typeface="+mn-ea"/>
                    <a:cs typeface="+mn-cs"/>
                  </a:rPr>
                  <a:t> (3-57)</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针对</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个轴的串联式机器人，我们首先如同旋量法一样建立各轴的旋转轴向量及瞬时方向向量。旋转轴向量和旋量法中相同，瞬时方向向量采用对偶四元数</a:t>
                </a:r>
                <a:r>
                  <a:rPr lang="en-US" altLang="zh-CN" sz="1200" i="0" kern="1200">
                    <a:solidFill>
                      <a:schemeClr val="tx1"/>
                    </a:solidFill>
                    <a:effectLst/>
                    <a:latin typeface="+mn-lt"/>
                    <a:ea typeface="+mn-ea"/>
                    <a:cs typeface="+mn-cs"/>
                  </a:rPr>
                  <a:t>𝐿</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𝑝𝑖 (𝑚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进行表示，其中</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=1,2,…,n, </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en-US"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表示第</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轴直线上任意一点，</a:t>
                </a:r>
                <a:r>
                  <a:rPr lang="en-US" altLang="zh-CN" sz="1200" i="0" kern="1200">
                    <a:solidFill>
                      <a:schemeClr val="tx1"/>
                    </a:solidFill>
                    <a:effectLst/>
                    <a:latin typeface="+mn-lt"/>
                    <a:ea typeface="+mn-ea"/>
                    <a:cs typeface="+mn-cs"/>
                  </a:rPr>
                  <a:t>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表示直线的方向向量</a:t>
                </a:r>
                <a:r>
                  <a:rPr lang="en-US" altLang="zh-CN" sz="1200" i="0" kern="1200">
                    <a:solidFill>
                      <a:schemeClr val="tx1"/>
                    </a:solidFill>
                    <a:effectLst/>
                    <a:latin typeface="+mn-lt"/>
                    <a:ea typeface="+mn-ea"/>
                    <a:cs typeface="+mn-cs"/>
                  </a:rPr>
                  <a:t>(𝑑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𝑖𝑥,𝑑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𝑖𝑦,𝑑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𝑖𝑧)</a:t>
                </a:r>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各轴对应的变换操作采用对偶四元数进行表达：</a:t>
                </a:r>
              </a:p>
              <a:p>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𝑖=𝑞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𝑖+𝜀</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或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𝑖=(𝑞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en-US" altLang="zh-CN" sz="1200" kern="1200" dirty="0">
                    <a:solidFill>
                      <a:schemeClr val="tx1"/>
                    </a:solidFill>
                    <a:effectLst/>
                    <a:latin typeface="+mn-lt"/>
                    <a:ea typeface="+mn-ea"/>
                    <a:cs typeface="+mn-cs"/>
                  </a:rPr>
                  <a:t>  (3-51)</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公式</a:t>
                </a:r>
                <a:r>
                  <a:rPr lang="en-US" altLang="zh-CN" sz="1200" kern="1200" dirty="0">
                    <a:solidFill>
                      <a:schemeClr val="tx1"/>
                    </a:solidFill>
                    <a:effectLst/>
                    <a:latin typeface="+mn-lt"/>
                    <a:ea typeface="+mn-ea"/>
                    <a:cs typeface="+mn-cs"/>
                  </a:rPr>
                  <a:t>(3-51)</a:t>
                </a:r>
                <a:r>
                  <a:rPr lang="zh-CN" altLang="zh-CN" sz="1200" kern="1200" dirty="0">
                    <a:solidFill>
                      <a:schemeClr val="tx1"/>
                    </a:solidFill>
                    <a:effectLst/>
                    <a:latin typeface="+mn-lt"/>
                    <a:ea typeface="+mn-ea"/>
                    <a:cs typeface="+mn-cs"/>
                  </a:rPr>
                  <a:t>中</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𝑖𝑥,sin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𝑖𝑦,sin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𝑖𝑧)</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en-US" altLang="zh-CN" sz="1200" kern="1200" dirty="0">
                    <a:solidFill>
                      <a:schemeClr val="tx1"/>
                    </a:solidFill>
                    <a:effectLst/>
                    <a:latin typeface="+mn-lt"/>
                    <a:ea typeface="+mn-ea"/>
                    <a:cs typeface="+mn-cs"/>
                  </a:rPr>
                  <a:t>  (3-52)</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或者用</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𝑖=(𝑞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表示，</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和前面的表达相同，代表旋转运动部分，</a:t>
                </a:r>
                <a:r>
                  <a:rPr lang="en-US" altLang="zh-CN" sz="1200" i="0" kern="1200">
                    <a:solidFill>
                      <a:schemeClr val="tx1"/>
                    </a:solidFill>
                    <a:effectLst/>
                    <a:latin typeface="+mn-lt"/>
                    <a:ea typeface="+mn-ea"/>
                    <a:cs typeface="+mn-cs"/>
                  </a:rPr>
                  <a:t>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则表示平移运动部分</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为第</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轴旋转</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后，导致第</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轴产生的平移位移值（参考坐标系为基坐标系）。如果该关节为平移关节，则</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𝑖=(1,0,0,0)</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𝑖=(0,𝑝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𝑥,𝑝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𝑦,𝑝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𝑧)</a:t>
                </a:r>
                <a:r>
                  <a:rPr lang="zh-CN" altLang="zh-CN" sz="1200" kern="1200" dirty="0">
                    <a:solidFill>
                      <a:schemeClr val="tx1"/>
                    </a:solidFill>
                    <a:effectLst/>
                    <a:latin typeface="+mn-lt"/>
                    <a:ea typeface="+mn-ea"/>
                    <a:cs typeface="+mn-cs"/>
                  </a:rPr>
                  <a:t>，一般来说应该只有一个自由度的平移，也就是</a:t>
                </a:r>
                <a:r>
                  <a:rPr lang="en-US" altLang="zh-CN" sz="1200" i="0" kern="1200">
                    <a:solidFill>
                      <a:schemeClr val="tx1"/>
                    </a:solidFill>
                    <a:effectLst/>
                    <a:latin typeface="+mn-lt"/>
                    <a:ea typeface="+mn-ea"/>
                    <a:cs typeface="+mn-cs"/>
                  </a:rPr>
                  <a:t>(𝑝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𝑥,𝑝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𝑦,𝑝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𝑧)</a:t>
                </a:r>
                <a:r>
                  <a:rPr lang="zh-CN" altLang="zh-CN" sz="1200" kern="1200" dirty="0">
                    <a:solidFill>
                      <a:schemeClr val="tx1"/>
                    </a:solidFill>
                    <a:effectLst/>
                    <a:latin typeface="+mn-lt"/>
                    <a:ea typeface="+mn-ea"/>
                    <a:cs typeface="+mn-cs"/>
                  </a:rPr>
                  <a:t>中只有一个方向的位移值。</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对于串联机械臂来说，其总变换使用对偶四元数的表达如下：</a:t>
                </a:r>
              </a:p>
              <a:p>
                <a:r>
                  <a:rPr lang="en-US" altLang="zh-CN" sz="1200" kern="1200" dirty="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1𝑛=𝑞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 Θ𝑞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 Θ⋯Θ𝑞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𝑛</a:t>
                </a:r>
                <a:r>
                  <a:rPr lang="en-US" altLang="zh-CN" sz="1200" kern="1200" dirty="0">
                    <a:solidFill>
                      <a:schemeClr val="tx1"/>
                    </a:solidFill>
                    <a:effectLst/>
                    <a:latin typeface="+mn-lt"/>
                    <a:ea typeface="+mn-ea"/>
                    <a:cs typeface="+mn-cs"/>
                  </a:rPr>
                  <a:t>  (3-53)</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注意，其中对偶四元数的乘法符号为</a:t>
                </a:r>
                <a:r>
                  <a:rPr lang="en-US" altLang="zh-CN" sz="1200" i="0" kern="1200">
                    <a:solidFill>
                      <a:schemeClr val="tx1"/>
                    </a:solidFill>
                    <a:effectLst/>
                    <a:latin typeface="+mn-lt"/>
                    <a:ea typeface="+mn-ea"/>
                    <a:cs typeface="+mn-cs"/>
                  </a:rPr>
                  <a:t>Θ</a:t>
                </a:r>
                <a:r>
                  <a:rPr lang="zh-CN" altLang="zh-CN" sz="1200" kern="1200" dirty="0">
                    <a:solidFill>
                      <a:schemeClr val="tx1"/>
                    </a:solidFill>
                    <a:effectLst/>
                    <a:latin typeface="+mn-lt"/>
                    <a:ea typeface="+mn-ea"/>
                    <a:cs typeface="+mn-cs"/>
                  </a:rPr>
                  <a:t>，四元数乘法符号为</a:t>
                </a:r>
                <a:r>
                  <a:rPr lang="en-US"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，对偶四元数的乘法可以采用如下形式进行计算：</a:t>
                </a:r>
              </a:p>
              <a:p>
                <a:r>
                  <a:rPr lang="en-US" altLang="zh-CN" sz="1200" kern="1200" dirty="0">
                    <a:solidFill>
                      <a:schemeClr val="tx1"/>
                    </a:solidFill>
                    <a:effectLst/>
                    <a:latin typeface="+mn-lt"/>
                    <a:ea typeface="+mn-ea"/>
                    <a:cs typeface="+mn-cs"/>
                  </a:rPr>
                  <a:t>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12=𝑞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 Θ𝑞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2 )+𝜀(𝑞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或者，</a:t>
                </a:r>
              </a:p>
              <a:p>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12=(𝑞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1)Θ(𝑞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2 ],𝑞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+𝑝</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en-US" altLang="zh-CN" sz="1200" kern="1200" dirty="0">
                    <a:solidFill>
                      <a:schemeClr val="tx1"/>
                    </a:solidFill>
                    <a:effectLst/>
                    <a:latin typeface="+mn-lt"/>
                    <a:ea typeface="+mn-ea"/>
                    <a:cs typeface="+mn-cs"/>
                  </a:rPr>
                  <a:t> (3-54)</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将上式写成如下形式：</a:t>
                </a:r>
              </a:p>
              <a:p>
                <a:r>
                  <a:rPr lang="en-US" altLang="zh-CN" sz="1200" kern="1200" dirty="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12=𝑞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12+𝜀</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12𝑆, 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12𝑉 )+𝜀(</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12𝑆</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12𝑉</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a:t>
                </a:r>
                <a:r>
                  <a:rPr lang="en-US" altLang="zh-CN" sz="1200" kern="1200" dirty="0">
                    <a:solidFill>
                      <a:schemeClr val="tx1"/>
                    </a:solidFill>
                    <a:effectLst/>
                    <a:latin typeface="+mn-lt"/>
                    <a:ea typeface="+mn-ea"/>
                    <a:cs typeface="+mn-cs"/>
                  </a:rPr>
                  <a:t> (3-55)</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在式（</a:t>
                </a:r>
                <a:r>
                  <a:rPr lang="en-US" altLang="zh-CN" sz="1200" kern="1200" dirty="0">
                    <a:solidFill>
                      <a:schemeClr val="tx1"/>
                    </a:solidFill>
                    <a:effectLst/>
                    <a:latin typeface="+mn-lt"/>
                    <a:ea typeface="+mn-ea"/>
                    <a:cs typeface="+mn-cs"/>
                  </a:rPr>
                  <a:t>3-55</a:t>
                </a:r>
                <a:r>
                  <a:rPr lang="zh-CN" altLang="zh-CN" sz="1200" kern="1200" dirty="0">
                    <a:solidFill>
                      <a:schemeClr val="tx1"/>
                    </a:solidFill>
                    <a:effectLst/>
                    <a:latin typeface="+mn-lt"/>
                    <a:ea typeface="+mn-ea"/>
                    <a:cs typeface="+mn-cs"/>
                  </a:rPr>
                  <a:t>）中：</a:t>
                </a:r>
              </a:p>
              <a:p>
                <a:r>
                  <a:rPr lang="en-US" altLang="zh-CN" sz="1200" kern="1200" dirty="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12𝑆</a:t>
                </a:r>
                <a:r>
                  <a:rPr lang="zh-CN" altLang="zh-CN" sz="1200" kern="1200" dirty="0">
                    <a:solidFill>
                      <a:schemeClr val="tx1"/>
                    </a:solidFill>
                    <a:effectLst/>
                    <a:latin typeface="+mn-lt"/>
                    <a:ea typeface="+mn-ea"/>
                    <a:cs typeface="+mn-cs"/>
                  </a:rPr>
                  <a:t>表示两个对偶四元数乘积的实部的标量部分，</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12𝑆</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a:t>
                </a:r>
                <a:r>
                  <a:rPr lang="zh-CN" altLang="zh-CN" sz="1200" kern="1200" dirty="0">
                    <a:solidFill>
                      <a:schemeClr val="tx1"/>
                    </a:solidFill>
                    <a:effectLst/>
                    <a:latin typeface="+mn-lt"/>
                    <a:ea typeface="+mn-ea"/>
                    <a:cs typeface="+mn-cs"/>
                  </a:rPr>
                  <a:t>表示两个对偶四元数乘积的对偶部的标量部分，</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12𝑉</a:t>
                </a:r>
                <a:r>
                  <a:rPr lang="zh-CN" altLang="zh-CN" sz="1200" kern="1200" dirty="0">
                    <a:solidFill>
                      <a:schemeClr val="tx1"/>
                    </a:solidFill>
                    <a:effectLst/>
                    <a:latin typeface="+mn-lt"/>
                    <a:ea typeface="+mn-ea"/>
                    <a:cs typeface="+mn-cs"/>
                  </a:rPr>
                  <a:t>表示两个对偶四元数乘积的实部的向量部分，</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12𝑉</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a:t>
                </a:r>
                <a:r>
                  <a:rPr lang="zh-CN" altLang="zh-CN" sz="1200" kern="1200" dirty="0">
                    <a:solidFill>
                      <a:schemeClr val="tx1"/>
                    </a:solidFill>
                    <a:effectLst/>
                    <a:latin typeface="+mn-lt"/>
                    <a:ea typeface="+mn-ea"/>
                    <a:cs typeface="+mn-cs"/>
                  </a:rPr>
                  <a:t>表示两个对偶四元数乘积的对偶部的向量部分。</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机械臂末端执行器的姿态和位置计算公式如下：</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姿态为</a:t>
                </a:r>
                <a:r>
                  <a:rPr lang="en-US" altLang="zh-CN" sz="1200" i="0" kern="1200">
                    <a:solidFill>
                      <a:schemeClr val="tx1"/>
                    </a:solidFill>
                    <a:effectLst/>
                    <a:latin typeface="+mn-lt"/>
                    <a:ea typeface="+mn-ea"/>
                    <a:cs typeface="+mn-cs"/>
                  </a:rPr>
                  <a:t>𝑙</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𝑜+1</a:t>
                </a:r>
                <a:r>
                  <a:rPr lang="zh-CN" altLang="zh-CN" sz="1200" i="0" kern="120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的实部：</a:t>
                </a:r>
              </a:p>
              <a:p>
                <a:r>
                  <a:rPr lang="en-US" altLang="zh-CN" sz="1200" kern="1200" dirty="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𝑙</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𝑜+1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1𝑛 Θ</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𝑙</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𝑜 </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 ̂_</a:t>
                </a:r>
                <a:r>
                  <a:rPr lang="en-US" altLang="zh-CN" sz="1200" i="0" kern="1200">
                    <a:solidFill>
                      <a:schemeClr val="tx1"/>
                    </a:solidFill>
                    <a:effectLst/>
                    <a:latin typeface="+mn-lt"/>
                    <a:ea typeface="+mn-ea"/>
                    <a:cs typeface="+mn-cs"/>
                  </a:rPr>
                  <a:t>1𝑛</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(3-56)</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位置为根据式（</a:t>
                </a:r>
                <a:r>
                  <a:rPr lang="en-US" altLang="zh-CN" sz="1200" kern="1200" dirty="0">
                    <a:solidFill>
                      <a:schemeClr val="tx1"/>
                    </a:solidFill>
                    <a:effectLst/>
                    <a:latin typeface="+mn-lt"/>
                    <a:ea typeface="+mn-ea"/>
                    <a:cs typeface="+mn-cs"/>
                  </a:rPr>
                  <a:t>3-53</a:t>
                </a:r>
                <a:r>
                  <a:rPr lang="zh-CN" altLang="zh-CN" sz="1200" kern="1200" dirty="0">
                    <a:solidFill>
                      <a:schemeClr val="tx1"/>
                    </a:solidFill>
                    <a:effectLst/>
                    <a:latin typeface="+mn-lt"/>
                    <a:ea typeface="+mn-ea"/>
                    <a:cs typeface="+mn-cs"/>
                  </a:rPr>
                  <a:t>）计算出来的对偶四元数乘积的对偶部的向量部分：</a:t>
                </a:r>
              </a:p>
              <a:p>
                <a:r>
                  <a:rPr lang="en-US" altLang="zh-CN" sz="1200" kern="1200" dirty="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𝑒𝑝=</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𝑞</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1𝑛𝑉</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𝑜</a:t>
                </a:r>
                <a:r>
                  <a:rPr lang="en-US" altLang="zh-CN" sz="1200" kern="1200" dirty="0">
                    <a:solidFill>
                      <a:schemeClr val="tx1"/>
                    </a:solidFill>
                    <a:effectLst/>
                    <a:latin typeface="+mn-lt"/>
                    <a:ea typeface="+mn-ea"/>
                    <a:cs typeface="+mn-cs"/>
                  </a:rPr>
                  <a:t> (3-57)</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66</a:t>
            </a:fld>
            <a:endParaRPr lang="zh-CN" altLang="en-US"/>
          </a:p>
        </p:txBody>
      </p:sp>
    </p:spTree>
    <p:extLst>
      <p:ext uri="{BB962C8B-B14F-4D97-AF65-F5344CB8AC3E}">
        <p14:creationId xmlns:p14="http://schemas.microsoft.com/office/powerpoint/2010/main" val="254876879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结合图</a:t>
                </a:r>
                <a:r>
                  <a:rPr lang="en-US" altLang="zh-CN" sz="1200" kern="1200" dirty="0" smtClean="0">
                    <a:solidFill>
                      <a:schemeClr val="tx1"/>
                    </a:solidFill>
                    <a:effectLst/>
                    <a:latin typeface="+mn-lt"/>
                    <a:ea typeface="+mn-ea"/>
                    <a:cs typeface="+mn-cs"/>
                  </a:rPr>
                  <a:t>3.19</a:t>
                </a:r>
                <a:r>
                  <a:rPr lang="zh-CN" altLang="zh-CN" sz="1200" kern="1200" dirty="0" smtClean="0">
                    <a:solidFill>
                      <a:schemeClr val="tx1"/>
                    </a:solidFill>
                    <a:effectLst/>
                    <a:latin typeface="+mn-lt"/>
                    <a:ea typeface="+mn-ea"/>
                    <a:cs typeface="+mn-cs"/>
                  </a:rPr>
                  <a:t>建立的旋转轴，以及图</a:t>
                </a:r>
                <a:r>
                  <a:rPr lang="en-US" altLang="zh-CN" sz="1200" kern="1200" dirty="0" smtClean="0">
                    <a:solidFill>
                      <a:schemeClr val="tx1"/>
                    </a:solidFill>
                    <a:effectLst/>
                    <a:latin typeface="+mn-lt"/>
                    <a:ea typeface="+mn-ea"/>
                    <a:cs typeface="+mn-cs"/>
                  </a:rPr>
                  <a:t>3.18</a:t>
                </a:r>
                <a:r>
                  <a:rPr lang="zh-CN" altLang="zh-CN" sz="1200" kern="1200" dirty="0" smtClean="0">
                    <a:solidFill>
                      <a:schemeClr val="tx1"/>
                    </a:solidFill>
                    <a:effectLst/>
                    <a:latin typeface="+mn-lt"/>
                    <a:ea typeface="+mn-ea"/>
                    <a:cs typeface="+mn-cs"/>
                  </a:rPr>
                  <a:t>所建立的</a:t>
                </a:r>
                <a:r>
                  <a:rPr lang="en-US" altLang="zh-CN" sz="1200" kern="1200" dirty="0" smtClean="0">
                    <a:solidFill>
                      <a:schemeClr val="tx1"/>
                    </a:solidFill>
                    <a:effectLst/>
                    <a:latin typeface="+mn-lt"/>
                    <a:ea typeface="+mn-ea"/>
                    <a:cs typeface="+mn-cs"/>
                  </a:rPr>
                  <a:t>MDH</a:t>
                </a:r>
                <a:r>
                  <a:rPr lang="zh-CN" altLang="zh-CN" sz="1200" kern="1200" dirty="0" smtClean="0">
                    <a:solidFill>
                      <a:schemeClr val="tx1"/>
                    </a:solidFill>
                    <a:effectLst/>
                    <a:latin typeface="+mn-lt"/>
                    <a:ea typeface="+mn-ea"/>
                    <a:cs typeface="+mn-cs"/>
                  </a:rPr>
                  <a:t>表示法，我们建立对偶四元数法坐标系图，见图</a:t>
                </a:r>
                <a:r>
                  <a:rPr lang="en-US" altLang="zh-CN" sz="1200" kern="1200" dirty="0" smtClean="0">
                    <a:solidFill>
                      <a:schemeClr val="tx1"/>
                    </a:solidFill>
                    <a:effectLst/>
                    <a:latin typeface="+mn-lt"/>
                    <a:ea typeface="+mn-ea"/>
                    <a:cs typeface="+mn-cs"/>
                  </a:rPr>
                  <a:t>3.21</a:t>
                </a:r>
                <a:r>
                  <a:rPr lang="zh-CN" altLang="zh-CN" sz="1200" kern="1200" dirty="0" smtClean="0">
                    <a:solidFill>
                      <a:schemeClr val="tx1"/>
                    </a:solidFill>
                    <a:effectLst/>
                    <a:latin typeface="+mn-lt"/>
                    <a:ea typeface="+mn-ea"/>
                    <a:cs typeface="+mn-cs"/>
                  </a:rPr>
                  <a:t>。我们将对偶四元数的旋转轴建立在</a:t>
                </a:r>
                <a:r>
                  <a:rPr lang="en-US" altLang="zh-CN" sz="1200" kern="1200" dirty="0" smtClean="0">
                    <a:solidFill>
                      <a:schemeClr val="tx1"/>
                    </a:solidFill>
                    <a:effectLst/>
                    <a:latin typeface="+mn-lt"/>
                    <a:ea typeface="+mn-ea"/>
                    <a:cs typeface="+mn-cs"/>
                  </a:rPr>
                  <a:t>MDH</a:t>
                </a:r>
                <a:r>
                  <a:rPr lang="zh-CN" altLang="zh-CN" sz="1200" kern="1200" dirty="0" smtClean="0">
                    <a:solidFill>
                      <a:schemeClr val="tx1"/>
                    </a:solidFill>
                    <a:effectLst/>
                    <a:latin typeface="+mn-lt"/>
                    <a:ea typeface="+mn-ea"/>
                    <a:cs typeface="+mn-cs"/>
                  </a:rPr>
                  <a:t>建模法的连杆末端，在</a:t>
                </a:r>
                <a:r>
                  <a:rPr lang="zh-CN" altLang="zh-CN" sz="1200" b="1" kern="1200" dirty="0" smtClean="0">
                    <a:solidFill>
                      <a:schemeClr val="tx1"/>
                    </a:solidFill>
                    <a:effectLst/>
                    <a:latin typeface="+mn-lt"/>
                    <a:ea typeface="+mn-ea"/>
                    <a:cs typeface="+mn-cs"/>
                  </a:rPr>
                  <a:t>普吕克坐标系下，</a:t>
                </a:r>
                <a:r>
                  <a:rPr lang="zh-CN" altLang="zh-CN" sz="1200" kern="1200" dirty="0" smtClean="0">
                    <a:solidFill>
                      <a:schemeClr val="tx1"/>
                    </a:solidFill>
                    <a:effectLst/>
                    <a:latin typeface="+mn-lt"/>
                    <a:ea typeface="+mn-ea"/>
                    <a:cs typeface="+mn-cs"/>
                  </a:rPr>
                  <a:t>我们可以求得每根连杆所对应的对偶四元数。</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对于第一个轴来说，我们知道其对偶四元数的旋转部分变量为转角</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，旋转轴</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和基坐标系</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一致。而对于平移部分，其平移量为沿</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轴的位移</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，那么，第一个轴的对偶四元数可以表示为：</a:t>
                </a:r>
              </a:p>
              <a:p>
                <a:r>
                  <a:rPr lang="en-US" altLang="zh-CN" sz="1200" kern="1200" dirty="0">
                    <a:solidFill>
                      <a:schemeClr val="tx1"/>
                    </a:solidFill>
                    <a:effectLst/>
                    <a:latin typeface="+mn-lt"/>
                    <a:ea typeface="+mn-ea"/>
                    <a:cs typeface="+mn-cs"/>
                  </a:rPr>
                  <a:t>	</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𝑄</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r>
                          <a:rPr lang="en-US" altLang="zh-CN" sz="1200" kern="1200">
                            <a:solidFill>
                              <a:schemeClr val="tx1"/>
                            </a:solidFill>
                            <a:effectLst/>
                            <a:latin typeface="Cambria Math" panose="02040503050406030204" pitchFamily="18" charset="0"/>
                            <a:ea typeface="+mn-ea"/>
                            <a:cs typeface="+mn-cs"/>
                          </a:rPr>
                          <m:t>⁡(</m:t>
                        </m:r>
                      </m:fName>
                      <m:e>
                        <m:f>
                          <m:fPr>
                            <m:ctrlPr>
                              <a:rPr lang="zh-CN" altLang="zh-CN" sz="1200" i="1" kern="1200">
                                <a:solidFill>
                                  <a:schemeClr val="tx1"/>
                                </a:solidFill>
                                <a:effectLst/>
                                <a:latin typeface="Cambria Math" panose="02040503050406030204" pitchFamily="18" charset="0"/>
                                <a:ea typeface="+mn-ea"/>
                                <a:cs typeface="+mn-cs"/>
                              </a:rPr>
                            </m:ctrlPr>
                          </m:fPr>
                          <m:num>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num>
                          <m:den>
                            <m:r>
                              <a:rPr lang="en-US" altLang="zh-CN" sz="1200" i="1" kern="1200">
                                <a:solidFill>
                                  <a:schemeClr val="tx1"/>
                                </a:solidFill>
                                <a:effectLst/>
                                <a:latin typeface="Cambria Math" panose="02040503050406030204" pitchFamily="18" charset="0"/>
                                <a:ea typeface="+mn-ea"/>
                                <a:cs typeface="+mn-cs"/>
                              </a:rPr>
                              <m:t>2</m:t>
                            </m:r>
                          </m:den>
                        </m:f>
                        <m:r>
                          <a:rPr lang="en-US" altLang="zh-CN" sz="1200" i="1" kern="1200">
                            <a:solidFill>
                              <a:schemeClr val="tx1"/>
                            </a:solidFill>
                            <a:effectLst/>
                            <a:latin typeface="Cambria Math" panose="02040503050406030204" pitchFamily="18" charset="0"/>
                            <a:ea typeface="+mn-ea"/>
                            <a:cs typeface="+mn-cs"/>
                          </a:rPr>
                          <m:t>)</m:t>
                        </m:r>
                      </m:e>
                    </m:func>
                    <m:r>
                      <a:rPr lang="en-US" altLang="zh-CN" sz="1200" i="1" kern="1200">
                        <a:solidFill>
                          <a:schemeClr val="tx1"/>
                        </a:solidFill>
                        <a:effectLst/>
                        <a:latin typeface="Cambria Math" panose="02040503050406030204" pitchFamily="18" charset="0"/>
                        <a:ea typeface="+mn-ea"/>
                        <a:cs typeface="+mn-cs"/>
                      </a:rPr>
                      <m:t>, </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num>
                              <m:den>
                                <m:r>
                                  <a:rPr lang="en-US" altLang="zh-CN" sz="1200" i="1" kern="1200">
                                    <a:solidFill>
                                      <a:schemeClr val="tx1"/>
                                    </a:solidFill>
                                    <a:effectLst/>
                                    <a:latin typeface="Cambria Math" panose="02040503050406030204" pitchFamily="18" charset="0"/>
                                    <a:ea typeface="+mn-ea"/>
                                    <a:cs typeface="+mn-cs"/>
                                  </a:rPr>
                                  <m:t>2</m:t>
                                </m:r>
                              </m:den>
                            </m:f>
                          </m:e>
                        </m:d>
                      </m:e>
                    </m:func>
                    <m:r>
                      <a:rPr lang="en-US" altLang="zh-CN" sz="1200" kern="1200">
                        <a:solidFill>
                          <a:schemeClr val="tx1"/>
                        </a:solidFill>
                        <a:effectLst/>
                        <a:latin typeface="Cambria Math" panose="02040503050406030204" pitchFamily="18" charset="0"/>
                        <a:ea typeface="+mn-ea"/>
                        <a:cs typeface="+mn-cs"/>
                      </a:rPr>
                      <m:t>&lt;0,0,1&gt;],[0,&lt;0, 0,</m:t>
                    </m:r>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&gt;])</m:t>
                    </m:r>
                  </m:oMath>
                </a14:m>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对于第二个轴来说，我们知道其对偶四元数的旋转部分变量为转角</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，旋转轴</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平行于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𝑦</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轴。而对于平移部分，旋转第二轴导致了相对于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轴和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的位移可由</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𝑎</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的三角函数求取，那么，第二个轴的对偶四元数可以表示为：</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𝑄</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r>
                            <a:rPr lang="en-US" altLang="zh-CN" sz="1200" kern="1200">
                              <a:solidFill>
                                <a:schemeClr val="tx1"/>
                              </a:solidFill>
                              <a:effectLst/>
                              <a:latin typeface="Cambria Math" panose="02040503050406030204" pitchFamily="18" charset="0"/>
                              <a:ea typeface="+mn-ea"/>
                              <a:cs typeface="+mn-cs"/>
                            </a:rPr>
                            <m:t>⁡(</m:t>
                          </m:r>
                        </m:fName>
                        <m:e>
                          <m:f>
                            <m:fPr>
                              <m:ctrlPr>
                                <a:rPr lang="zh-CN" altLang="zh-CN" sz="1200" i="1" kern="1200">
                                  <a:solidFill>
                                    <a:schemeClr val="tx1"/>
                                  </a:solidFill>
                                  <a:effectLst/>
                                  <a:latin typeface="Cambria Math" panose="02040503050406030204" pitchFamily="18" charset="0"/>
                                  <a:ea typeface="+mn-ea"/>
                                  <a:cs typeface="+mn-cs"/>
                                </a:rPr>
                              </m:ctrlPr>
                            </m:fPr>
                            <m:num>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2</m:t>
                                  </m:r>
                                </m:sub>
                              </m:sSub>
                            </m:num>
                            <m:den>
                              <m:r>
                                <a:rPr lang="en-US" altLang="zh-CN" sz="1200" i="1" kern="1200">
                                  <a:solidFill>
                                    <a:schemeClr val="tx1"/>
                                  </a:solidFill>
                                  <a:effectLst/>
                                  <a:latin typeface="Cambria Math" panose="02040503050406030204" pitchFamily="18" charset="0"/>
                                  <a:ea typeface="+mn-ea"/>
                                  <a:cs typeface="+mn-cs"/>
                                </a:rPr>
                                <m:t>2</m:t>
                              </m:r>
                            </m:den>
                          </m:f>
                          <m:r>
                            <a:rPr lang="en-US" altLang="zh-CN" sz="1200" i="1" kern="1200">
                              <a:solidFill>
                                <a:schemeClr val="tx1"/>
                              </a:solidFill>
                              <a:effectLst/>
                              <a:latin typeface="Cambria Math" panose="02040503050406030204" pitchFamily="18" charset="0"/>
                              <a:ea typeface="+mn-ea"/>
                              <a:cs typeface="+mn-cs"/>
                            </a:rPr>
                            <m:t>)</m:t>
                          </m:r>
                        </m:e>
                      </m:func>
                      <m:r>
                        <a:rPr lang="en-US" altLang="zh-CN" sz="1200" i="1" kern="1200">
                          <a:solidFill>
                            <a:schemeClr val="tx1"/>
                          </a:solidFill>
                          <a:effectLst/>
                          <a:latin typeface="Cambria Math" panose="02040503050406030204" pitchFamily="18" charset="0"/>
                          <a:ea typeface="+mn-ea"/>
                          <a:cs typeface="+mn-cs"/>
                        </a:rPr>
                        <m:t>, </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2</m:t>
                                      </m:r>
                                    </m:sub>
                                  </m:sSub>
                                </m:num>
                                <m:den>
                                  <m:r>
                                    <a:rPr lang="en-US" altLang="zh-CN" sz="1200" i="1" kern="1200">
                                      <a:solidFill>
                                        <a:schemeClr val="tx1"/>
                                      </a:solidFill>
                                      <a:effectLst/>
                                      <a:latin typeface="Cambria Math" panose="02040503050406030204" pitchFamily="18" charset="0"/>
                                      <a:ea typeface="+mn-ea"/>
                                      <a:cs typeface="+mn-cs"/>
                                    </a:rPr>
                                    <m:t>2</m:t>
                                  </m:r>
                                </m:den>
                              </m:f>
                            </m:e>
                          </m:d>
                        </m:e>
                      </m:func>
                      <m:r>
                        <a:rPr lang="en-US" altLang="zh-CN" sz="1200" kern="1200">
                          <a:solidFill>
                            <a:schemeClr val="tx1"/>
                          </a:solidFill>
                          <a:effectLst/>
                          <a:latin typeface="Cambria Math" panose="02040503050406030204" pitchFamily="18" charset="0"/>
                          <a:ea typeface="+mn-ea"/>
                          <a:cs typeface="+mn-cs"/>
                        </a:rPr>
                        <m:t>&lt;0,</m:t>
                      </m:r>
                      <m:r>
                        <a:rPr lang="zh-CN" altLang="en-US" sz="1200" i="1" kern="1200">
                          <a:solidFill>
                            <a:schemeClr val="tx1"/>
                          </a:solidFill>
                          <a:effectLst/>
                          <a:latin typeface="Cambria Math" panose="02040503050406030204" pitchFamily="18" charset="0"/>
                          <a:ea typeface="+mn-ea"/>
                          <a:cs typeface="+mn-cs"/>
                        </a:rPr>
                        <m:t>−</m:t>
                      </m:r>
                      <m:r>
                        <a:rPr lang="en-US" altLang="zh-CN" sz="1200" kern="1200">
                          <a:solidFill>
                            <a:schemeClr val="tx1"/>
                          </a:solidFill>
                          <a:effectLst/>
                          <a:latin typeface="Cambria Math" panose="02040503050406030204" pitchFamily="18" charset="0"/>
                          <a:ea typeface="+mn-ea"/>
                          <a:cs typeface="+mn-cs"/>
                        </a:rPr>
                        <m:t>1,0&gt;],[0,&lt;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𝑎</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𝑐𝑜𝑠</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kern="1200">
                          <a:solidFill>
                            <a:schemeClr val="tx1"/>
                          </a:solidFill>
                          <a:effectLst/>
                          <a:latin typeface="Cambria Math" panose="02040503050406030204" pitchFamily="18" charset="0"/>
                          <a:ea typeface="+mn-ea"/>
                          <a:cs typeface="+mn-cs"/>
                        </a:rPr>
                        <m:t>, 0,</m:t>
                      </m:r>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𝑎</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𝑠𝑖𝑛</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&gt;])</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对于第三个轴来说，我们知道其对偶四元数的旋转部分变量为转角</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3</m:t>
                        </m:r>
                      </m:sub>
                    </m:sSub>
                  </m:oMath>
                </a14:m>
                <a:r>
                  <a:rPr lang="zh-CN" altLang="zh-CN" sz="1200" kern="1200" dirty="0">
                    <a:solidFill>
                      <a:schemeClr val="tx1"/>
                    </a:solidFill>
                    <a:effectLst/>
                    <a:latin typeface="+mn-lt"/>
                    <a:ea typeface="+mn-ea"/>
                    <a:cs typeface="+mn-cs"/>
                  </a:rPr>
                  <a:t>，旋转轴</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3</m:t>
                        </m:r>
                      </m:sub>
                    </m:sSub>
                  </m:oMath>
                </a14:m>
                <a:r>
                  <a:rPr lang="zh-CN" altLang="zh-CN" sz="1200" kern="1200" dirty="0">
                    <a:solidFill>
                      <a:schemeClr val="tx1"/>
                    </a:solidFill>
                    <a:effectLst/>
                    <a:latin typeface="+mn-lt"/>
                    <a:ea typeface="+mn-ea"/>
                    <a:cs typeface="+mn-cs"/>
                  </a:rPr>
                  <a:t>平行于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𝑦</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轴。而对于平移部分，旋转第三轴导致了相对于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轴和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的位移可由</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𝑎</m:t>
                        </m:r>
                      </m:e>
                      <m:sub>
                        <m:r>
                          <a:rPr lang="en-US" altLang="zh-CN" sz="1200" i="1" kern="1200">
                            <a:solidFill>
                              <a:schemeClr val="tx1"/>
                            </a:solidFill>
                            <a:effectLst/>
                            <a:latin typeface="Cambria Math" panose="02040503050406030204" pitchFamily="18" charset="0"/>
                            <a:ea typeface="+mn-ea"/>
                            <a:cs typeface="+mn-cs"/>
                          </a:rPr>
                          <m:t>3</m:t>
                        </m:r>
                      </m:sub>
                    </m:sSub>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3</m:t>
                        </m:r>
                      </m:sub>
                    </m:sSub>
                  </m:oMath>
                </a14:m>
                <a:r>
                  <a:rPr lang="zh-CN" altLang="zh-CN" sz="1200" kern="1200" dirty="0">
                    <a:solidFill>
                      <a:schemeClr val="tx1"/>
                    </a:solidFill>
                    <a:effectLst/>
                    <a:latin typeface="+mn-lt"/>
                    <a:ea typeface="+mn-ea"/>
                    <a:cs typeface="+mn-cs"/>
                  </a:rPr>
                  <a:t>的三角函数求取，除此之外，相对第四轴，其在</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𝑦</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轴位移为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4</m:t>
                        </m:r>
                      </m:sub>
                    </m:sSub>
                  </m:oMath>
                </a14:m>
                <a:r>
                  <a:rPr lang="zh-CN" altLang="zh-CN" sz="1200" kern="1200" dirty="0">
                    <a:solidFill>
                      <a:schemeClr val="tx1"/>
                    </a:solidFill>
                    <a:effectLst/>
                    <a:latin typeface="+mn-lt"/>
                    <a:ea typeface="+mn-ea"/>
                    <a:cs typeface="+mn-cs"/>
                  </a:rPr>
                  <a:t>，那么，第三个轴的对偶四元数可以表示为：</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𝑄</m:t>
                          </m:r>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r>
                            <a:rPr lang="en-US" altLang="zh-CN" sz="1200" kern="1200">
                              <a:solidFill>
                                <a:schemeClr val="tx1"/>
                              </a:solidFill>
                              <a:effectLst/>
                              <a:latin typeface="Cambria Math" panose="02040503050406030204" pitchFamily="18" charset="0"/>
                              <a:ea typeface="+mn-ea"/>
                              <a:cs typeface="+mn-cs"/>
                            </a:rPr>
                            <m:t>⁡(</m:t>
                          </m:r>
                        </m:fName>
                        <m:e>
                          <m:f>
                            <m:fPr>
                              <m:ctrlPr>
                                <a:rPr lang="zh-CN" altLang="zh-CN" sz="1200" i="1" kern="1200">
                                  <a:solidFill>
                                    <a:schemeClr val="tx1"/>
                                  </a:solidFill>
                                  <a:effectLst/>
                                  <a:latin typeface="Cambria Math" panose="02040503050406030204" pitchFamily="18" charset="0"/>
                                  <a:ea typeface="+mn-ea"/>
                                  <a:cs typeface="+mn-cs"/>
                                </a:rPr>
                              </m:ctrlPr>
                            </m:fPr>
                            <m:num>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3</m:t>
                                  </m:r>
                                </m:sub>
                              </m:sSub>
                            </m:num>
                            <m:den>
                              <m:r>
                                <a:rPr lang="en-US" altLang="zh-CN" sz="1200" i="1" kern="1200">
                                  <a:solidFill>
                                    <a:schemeClr val="tx1"/>
                                  </a:solidFill>
                                  <a:effectLst/>
                                  <a:latin typeface="Cambria Math" panose="02040503050406030204" pitchFamily="18" charset="0"/>
                                  <a:ea typeface="+mn-ea"/>
                                  <a:cs typeface="+mn-cs"/>
                                </a:rPr>
                                <m:t>2</m:t>
                              </m:r>
                            </m:den>
                          </m:f>
                          <m:r>
                            <a:rPr lang="en-US" altLang="zh-CN" sz="1200" i="1" kern="1200">
                              <a:solidFill>
                                <a:schemeClr val="tx1"/>
                              </a:solidFill>
                              <a:effectLst/>
                              <a:latin typeface="Cambria Math" panose="02040503050406030204" pitchFamily="18" charset="0"/>
                              <a:ea typeface="+mn-ea"/>
                              <a:cs typeface="+mn-cs"/>
                            </a:rPr>
                            <m:t>)</m:t>
                          </m:r>
                        </m:e>
                      </m:func>
                      <m:r>
                        <a:rPr lang="en-US" altLang="zh-CN" sz="1200" i="1" kern="1200">
                          <a:solidFill>
                            <a:schemeClr val="tx1"/>
                          </a:solidFill>
                          <a:effectLst/>
                          <a:latin typeface="Cambria Math" panose="02040503050406030204" pitchFamily="18" charset="0"/>
                          <a:ea typeface="+mn-ea"/>
                          <a:cs typeface="+mn-cs"/>
                        </a:rPr>
                        <m:t>, </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3</m:t>
                                      </m:r>
                                    </m:sub>
                                  </m:sSub>
                                </m:num>
                                <m:den>
                                  <m:r>
                                    <a:rPr lang="en-US" altLang="zh-CN" sz="1200" i="1" kern="1200">
                                      <a:solidFill>
                                        <a:schemeClr val="tx1"/>
                                      </a:solidFill>
                                      <a:effectLst/>
                                      <a:latin typeface="Cambria Math" panose="02040503050406030204" pitchFamily="18" charset="0"/>
                                      <a:ea typeface="+mn-ea"/>
                                      <a:cs typeface="+mn-cs"/>
                                    </a:rPr>
                                    <m:t>2</m:t>
                                  </m:r>
                                </m:den>
                              </m:f>
                            </m:e>
                          </m:d>
                        </m:e>
                      </m:func>
                      <m:r>
                        <a:rPr lang="en-US" altLang="zh-CN" sz="1200" kern="1200">
                          <a:solidFill>
                            <a:schemeClr val="tx1"/>
                          </a:solidFill>
                          <a:effectLst/>
                          <a:latin typeface="Cambria Math" panose="02040503050406030204" pitchFamily="18" charset="0"/>
                          <a:ea typeface="+mn-ea"/>
                          <a:cs typeface="+mn-cs"/>
                        </a:rPr>
                        <m:t>&lt;0,</m:t>
                      </m:r>
                      <m:r>
                        <a:rPr lang="zh-CN" altLang="en-US" sz="1200" i="1" kern="1200">
                          <a:solidFill>
                            <a:schemeClr val="tx1"/>
                          </a:solidFill>
                          <a:effectLst/>
                          <a:latin typeface="Cambria Math" panose="02040503050406030204" pitchFamily="18" charset="0"/>
                          <a:ea typeface="+mn-ea"/>
                          <a:cs typeface="+mn-cs"/>
                        </a:rPr>
                        <m:t>−</m:t>
                      </m:r>
                      <m:r>
                        <a:rPr lang="en-US" altLang="zh-CN" sz="1200" kern="1200">
                          <a:solidFill>
                            <a:schemeClr val="tx1"/>
                          </a:solidFill>
                          <a:effectLst/>
                          <a:latin typeface="Cambria Math" panose="02040503050406030204" pitchFamily="18" charset="0"/>
                          <a:ea typeface="+mn-ea"/>
                          <a:cs typeface="+mn-cs"/>
                        </a:rPr>
                        <m:t>1,0&gt;],[0,&lt;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𝑎</m:t>
                          </m:r>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𝑐𝑜𝑠</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4</m:t>
                          </m:r>
                        </m:sub>
                      </m:sSub>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𝑎</m:t>
                          </m:r>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𝑠𝑖𝑛</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&gt;])</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对于第四个轴来说，我们知道其对偶四元数的旋转部分变量为转角</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4</m:t>
                        </m:r>
                      </m:sub>
                    </m:sSub>
                  </m:oMath>
                </a14:m>
                <a:r>
                  <a:rPr lang="zh-CN" altLang="zh-CN" sz="1200" kern="1200" dirty="0">
                    <a:solidFill>
                      <a:schemeClr val="tx1"/>
                    </a:solidFill>
                    <a:effectLst/>
                    <a:latin typeface="+mn-lt"/>
                    <a:ea typeface="+mn-ea"/>
                    <a:cs typeface="+mn-cs"/>
                  </a:rPr>
                  <a:t>，旋转轴</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4</m:t>
                        </m:r>
                      </m:sub>
                    </m:sSub>
                  </m:oMath>
                </a14:m>
                <a:r>
                  <a:rPr lang="zh-CN" altLang="zh-CN" sz="1200" kern="1200" dirty="0">
                    <a:solidFill>
                      <a:schemeClr val="tx1"/>
                    </a:solidFill>
                    <a:effectLst/>
                    <a:latin typeface="+mn-lt"/>
                    <a:ea typeface="+mn-ea"/>
                    <a:cs typeface="+mn-cs"/>
                  </a:rPr>
                  <a:t>平行于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𝑦</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轴。而对于平移部分，旋转第四轴导致了相对于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轴和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的位移可由</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5</m:t>
                        </m:r>
                      </m:sub>
                    </m:sSub>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4</m:t>
                        </m:r>
                      </m:sub>
                    </m:sSub>
                  </m:oMath>
                </a14:m>
                <a:r>
                  <a:rPr lang="zh-CN" altLang="zh-CN" sz="1200" kern="1200" dirty="0">
                    <a:solidFill>
                      <a:schemeClr val="tx1"/>
                    </a:solidFill>
                    <a:effectLst/>
                    <a:latin typeface="+mn-lt"/>
                    <a:ea typeface="+mn-ea"/>
                    <a:cs typeface="+mn-cs"/>
                  </a:rPr>
                  <a:t>的三角函数求取</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那么，第四个轴的对偶四元数可以表示为：</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𝑄</m:t>
                          </m:r>
                        </m:e>
                        <m:sub>
                          <m:r>
                            <a:rPr lang="en-US" altLang="zh-CN" sz="1200" i="1" kern="1200">
                              <a:solidFill>
                                <a:schemeClr val="tx1"/>
                              </a:solidFill>
                              <a:effectLst/>
                              <a:latin typeface="Cambria Math" panose="02040503050406030204" pitchFamily="18" charset="0"/>
                              <a:ea typeface="+mn-ea"/>
                              <a:cs typeface="+mn-cs"/>
                            </a:rPr>
                            <m:t>4</m:t>
                          </m:r>
                        </m:sub>
                      </m:sSub>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r>
                            <a:rPr lang="en-US" altLang="zh-CN" sz="1200" kern="1200">
                              <a:solidFill>
                                <a:schemeClr val="tx1"/>
                              </a:solidFill>
                              <a:effectLst/>
                              <a:latin typeface="Cambria Math" panose="02040503050406030204" pitchFamily="18" charset="0"/>
                              <a:ea typeface="+mn-ea"/>
                              <a:cs typeface="+mn-cs"/>
                            </a:rPr>
                            <m:t>⁡(</m:t>
                          </m:r>
                        </m:fName>
                        <m:e>
                          <m:f>
                            <m:fPr>
                              <m:ctrlPr>
                                <a:rPr lang="zh-CN" altLang="zh-CN" sz="1200" i="1" kern="1200">
                                  <a:solidFill>
                                    <a:schemeClr val="tx1"/>
                                  </a:solidFill>
                                  <a:effectLst/>
                                  <a:latin typeface="Cambria Math" panose="02040503050406030204" pitchFamily="18" charset="0"/>
                                  <a:ea typeface="+mn-ea"/>
                                  <a:cs typeface="+mn-cs"/>
                                </a:rPr>
                              </m:ctrlPr>
                            </m:fPr>
                            <m:num>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4</m:t>
                                  </m:r>
                                </m:sub>
                              </m:sSub>
                            </m:num>
                            <m:den>
                              <m:r>
                                <a:rPr lang="en-US" altLang="zh-CN" sz="1200" i="1" kern="1200">
                                  <a:solidFill>
                                    <a:schemeClr val="tx1"/>
                                  </a:solidFill>
                                  <a:effectLst/>
                                  <a:latin typeface="Cambria Math" panose="02040503050406030204" pitchFamily="18" charset="0"/>
                                  <a:ea typeface="+mn-ea"/>
                                  <a:cs typeface="+mn-cs"/>
                                </a:rPr>
                                <m:t>2</m:t>
                              </m:r>
                            </m:den>
                          </m:f>
                          <m:r>
                            <a:rPr lang="en-US" altLang="zh-CN" sz="1200" i="1" kern="1200">
                              <a:solidFill>
                                <a:schemeClr val="tx1"/>
                              </a:solidFill>
                              <a:effectLst/>
                              <a:latin typeface="Cambria Math" panose="02040503050406030204" pitchFamily="18" charset="0"/>
                              <a:ea typeface="+mn-ea"/>
                              <a:cs typeface="+mn-cs"/>
                            </a:rPr>
                            <m:t>)</m:t>
                          </m:r>
                        </m:e>
                      </m:func>
                      <m:r>
                        <a:rPr lang="en-US" altLang="zh-CN" sz="1200" i="1" kern="1200">
                          <a:solidFill>
                            <a:schemeClr val="tx1"/>
                          </a:solidFill>
                          <a:effectLst/>
                          <a:latin typeface="Cambria Math" panose="02040503050406030204" pitchFamily="18" charset="0"/>
                          <a:ea typeface="+mn-ea"/>
                          <a:cs typeface="+mn-cs"/>
                        </a:rPr>
                        <m:t>, </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4</m:t>
                                      </m:r>
                                    </m:sub>
                                  </m:sSub>
                                </m:num>
                                <m:den>
                                  <m:r>
                                    <a:rPr lang="en-US" altLang="zh-CN" sz="1200" i="1" kern="1200">
                                      <a:solidFill>
                                        <a:schemeClr val="tx1"/>
                                      </a:solidFill>
                                      <a:effectLst/>
                                      <a:latin typeface="Cambria Math" panose="02040503050406030204" pitchFamily="18" charset="0"/>
                                      <a:ea typeface="+mn-ea"/>
                                      <a:cs typeface="+mn-cs"/>
                                    </a:rPr>
                                    <m:t>2</m:t>
                                  </m:r>
                                </m:den>
                              </m:f>
                            </m:e>
                          </m:d>
                        </m:e>
                      </m:func>
                      <m:r>
                        <a:rPr lang="en-US" altLang="zh-CN" sz="1200" kern="1200">
                          <a:solidFill>
                            <a:schemeClr val="tx1"/>
                          </a:solidFill>
                          <a:effectLst/>
                          <a:latin typeface="Cambria Math" panose="02040503050406030204" pitchFamily="18" charset="0"/>
                          <a:ea typeface="+mn-ea"/>
                          <a:cs typeface="+mn-cs"/>
                        </a:rPr>
                        <m:t>&lt;0,</m:t>
                      </m:r>
                      <m:r>
                        <a:rPr lang="zh-CN" altLang="en-US" sz="1200" i="1" kern="1200">
                          <a:solidFill>
                            <a:schemeClr val="tx1"/>
                          </a:solidFill>
                          <a:effectLst/>
                          <a:latin typeface="Cambria Math" panose="02040503050406030204" pitchFamily="18" charset="0"/>
                          <a:ea typeface="+mn-ea"/>
                          <a:cs typeface="+mn-cs"/>
                        </a:rPr>
                        <m:t>−</m:t>
                      </m:r>
                      <m:r>
                        <a:rPr lang="en-US" altLang="zh-CN" sz="1200" kern="1200">
                          <a:solidFill>
                            <a:schemeClr val="tx1"/>
                          </a:solidFill>
                          <a:effectLst/>
                          <a:latin typeface="Cambria Math" panose="02040503050406030204" pitchFamily="18" charset="0"/>
                          <a:ea typeface="+mn-ea"/>
                          <a:cs typeface="+mn-cs"/>
                        </a:rPr>
                        <m:t>1,0&gt;],[0,&lt;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5</m:t>
                          </m:r>
                        </m:sub>
                      </m:sSub>
                      <m:r>
                        <a:rPr lang="en-US" altLang="zh-CN" sz="1200" i="1" kern="1200">
                          <a:solidFill>
                            <a:schemeClr val="tx1"/>
                          </a:solidFill>
                          <a:effectLst/>
                          <a:latin typeface="Cambria Math" panose="02040503050406030204" pitchFamily="18" charset="0"/>
                          <a:ea typeface="+mn-ea"/>
                          <a:cs typeface="+mn-cs"/>
                        </a:rPr>
                        <m:t>𝑠𝑖𝑛</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4</m:t>
                          </m:r>
                        </m:sub>
                      </m:sSub>
                      <m:r>
                        <a:rPr lang="en-US" altLang="zh-CN" sz="1200" kern="1200">
                          <a:solidFill>
                            <a:schemeClr val="tx1"/>
                          </a:solidFill>
                          <a:effectLst/>
                          <a:latin typeface="Cambria Math" panose="02040503050406030204" pitchFamily="18" charset="0"/>
                          <a:ea typeface="+mn-ea"/>
                          <a:cs typeface="+mn-cs"/>
                        </a:rPr>
                        <m:t>, 0,</m:t>
                      </m:r>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5</m:t>
                          </m:r>
                        </m:sub>
                      </m:sSub>
                      <m:r>
                        <a:rPr lang="en-US" altLang="zh-CN" sz="1200" i="1" kern="1200">
                          <a:solidFill>
                            <a:schemeClr val="tx1"/>
                          </a:solidFill>
                          <a:effectLst/>
                          <a:latin typeface="Cambria Math" panose="02040503050406030204" pitchFamily="18" charset="0"/>
                          <a:ea typeface="+mn-ea"/>
                          <a:cs typeface="+mn-cs"/>
                        </a:rPr>
                        <m:t>𝑐𝑜𝑠</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4</m:t>
                          </m:r>
                        </m:sub>
                      </m:sSub>
                      <m:r>
                        <a:rPr lang="en-US" altLang="zh-CN" sz="1200" i="1" kern="1200">
                          <a:solidFill>
                            <a:schemeClr val="tx1"/>
                          </a:solidFill>
                          <a:effectLst/>
                          <a:latin typeface="Cambria Math" panose="02040503050406030204" pitchFamily="18" charset="0"/>
                          <a:ea typeface="+mn-ea"/>
                          <a:cs typeface="+mn-cs"/>
                        </a:rPr>
                        <m:t>&gt;])</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对于第五个轴来说，我们知道其对偶四元数的旋转部分变量为转角</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5</m:t>
                        </m:r>
                      </m:sub>
                    </m:sSub>
                  </m:oMath>
                </a14:m>
                <a:r>
                  <a:rPr lang="zh-CN" altLang="zh-CN" sz="1200" kern="1200" dirty="0">
                    <a:solidFill>
                      <a:schemeClr val="tx1"/>
                    </a:solidFill>
                    <a:effectLst/>
                    <a:latin typeface="+mn-lt"/>
                    <a:ea typeface="+mn-ea"/>
                    <a:cs typeface="+mn-cs"/>
                  </a:rPr>
                  <a:t>，旋转轴</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5</m:t>
                        </m:r>
                      </m:sub>
                    </m:sSub>
                  </m:oMath>
                </a14:m>
                <a:r>
                  <a:rPr lang="zh-CN" altLang="zh-CN" sz="1200" kern="1200" dirty="0">
                    <a:solidFill>
                      <a:schemeClr val="tx1"/>
                    </a:solidFill>
                    <a:effectLst/>
                    <a:latin typeface="+mn-lt"/>
                    <a:ea typeface="+mn-ea"/>
                    <a:cs typeface="+mn-cs"/>
                  </a:rPr>
                  <a:t>平行于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轴。而对于平移部分，旋转第五轴导致了相对于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𝑥</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𝑦</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轴的位移可由</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6</m:t>
                        </m:r>
                      </m:sub>
                    </m:sSub>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5</m:t>
                        </m:r>
                      </m:sub>
                    </m:sSub>
                  </m:oMath>
                </a14:m>
                <a:r>
                  <a:rPr lang="zh-CN" altLang="zh-CN" sz="1200" kern="1200" dirty="0">
                    <a:solidFill>
                      <a:schemeClr val="tx1"/>
                    </a:solidFill>
                    <a:effectLst/>
                    <a:latin typeface="+mn-lt"/>
                    <a:ea typeface="+mn-ea"/>
                    <a:cs typeface="+mn-cs"/>
                  </a:rPr>
                  <a:t>的三角函数求取</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那么，第五个轴的对偶四元数可以表示为：</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𝑄</m:t>
                          </m:r>
                        </m:e>
                        <m:sub>
                          <m:r>
                            <a:rPr lang="en-US" altLang="zh-CN" sz="1200" i="1" kern="1200">
                              <a:solidFill>
                                <a:schemeClr val="tx1"/>
                              </a:solidFill>
                              <a:effectLst/>
                              <a:latin typeface="Cambria Math" panose="02040503050406030204" pitchFamily="18" charset="0"/>
                              <a:ea typeface="+mn-ea"/>
                              <a:cs typeface="+mn-cs"/>
                            </a:rPr>
                            <m:t>5</m:t>
                          </m:r>
                        </m:sub>
                      </m:sSub>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r>
                            <a:rPr lang="en-US" altLang="zh-CN" sz="1200" kern="1200">
                              <a:solidFill>
                                <a:schemeClr val="tx1"/>
                              </a:solidFill>
                              <a:effectLst/>
                              <a:latin typeface="Cambria Math" panose="02040503050406030204" pitchFamily="18" charset="0"/>
                              <a:ea typeface="+mn-ea"/>
                              <a:cs typeface="+mn-cs"/>
                            </a:rPr>
                            <m:t>⁡(</m:t>
                          </m:r>
                        </m:fName>
                        <m:e>
                          <m:f>
                            <m:fPr>
                              <m:ctrlPr>
                                <a:rPr lang="zh-CN" altLang="zh-CN" sz="1200" i="1" kern="1200">
                                  <a:solidFill>
                                    <a:schemeClr val="tx1"/>
                                  </a:solidFill>
                                  <a:effectLst/>
                                  <a:latin typeface="Cambria Math" panose="02040503050406030204" pitchFamily="18" charset="0"/>
                                  <a:ea typeface="+mn-ea"/>
                                  <a:cs typeface="+mn-cs"/>
                                </a:rPr>
                              </m:ctrlPr>
                            </m:fPr>
                            <m:num>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5</m:t>
                                  </m:r>
                                </m:sub>
                              </m:sSub>
                            </m:num>
                            <m:den>
                              <m:r>
                                <a:rPr lang="en-US" altLang="zh-CN" sz="1200" i="1" kern="1200">
                                  <a:solidFill>
                                    <a:schemeClr val="tx1"/>
                                  </a:solidFill>
                                  <a:effectLst/>
                                  <a:latin typeface="Cambria Math" panose="02040503050406030204" pitchFamily="18" charset="0"/>
                                  <a:ea typeface="+mn-ea"/>
                                  <a:cs typeface="+mn-cs"/>
                                </a:rPr>
                                <m:t>2</m:t>
                              </m:r>
                            </m:den>
                          </m:f>
                          <m:r>
                            <a:rPr lang="en-US" altLang="zh-CN" sz="1200" i="1" kern="1200">
                              <a:solidFill>
                                <a:schemeClr val="tx1"/>
                              </a:solidFill>
                              <a:effectLst/>
                              <a:latin typeface="Cambria Math" panose="02040503050406030204" pitchFamily="18" charset="0"/>
                              <a:ea typeface="+mn-ea"/>
                              <a:cs typeface="+mn-cs"/>
                            </a:rPr>
                            <m:t>)</m:t>
                          </m:r>
                        </m:e>
                      </m:func>
                      <m:r>
                        <a:rPr lang="en-US" altLang="zh-CN" sz="1200" i="1" kern="1200">
                          <a:solidFill>
                            <a:schemeClr val="tx1"/>
                          </a:solidFill>
                          <a:effectLst/>
                          <a:latin typeface="Cambria Math" panose="02040503050406030204" pitchFamily="18" charset="0"/>
                          <a:ea typeface="+mn-ea"/>
                          <a:cs typeface="+mn-cs"/>
                        </a:rPr>
                        <m:t>, </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5</m:t>
                                      </m:r>
                                    </m:sub>
                                  </m:sSub>
                                </m:num>
                                <m:den>
                                  <m:r>
                                    <a:rPr lang="en-US" altLang="zh-CN" sz="1200" i="1" kern="1200">
                                      <a:solidFill>
                                        <a:schemeClr val="tx1"/>
                                      </a:solidFill>
                                      <a:effectLst/>
                                      <a:latin typeface="Cambria Math" panose="02040503050406030204" pitchFamily="18" charset="0"/>
                                      <a:ea typeface="+mn-ea"/>
                                      <a:cs typeface="+mn-cs"/>
                                    </a:rPr>
                                    <m:t>2</m:t>
                                  </m:r>
                                </m:den>
                              </m:f>
                            </m:e>
                          </m:d>
                        </m:e>
                      </m:func>
                      <m:r>
                        <a:rPr lang="en-US" altLang="zh-CN" sz="1200" kern="1200">
                          <a:solidFill>
                            <a:schemeClr val="tx1"/>
                          </a:solidFill>
                          <a:effectLst/>
                          <a:latin typeface="Cambria Math" panose="02040503050406030204" pitchFamily="18" charset="0"/>
                          <a:ea typeface="+mn-ea"/>
                          <a:cs typeface="+mn-cs"/>
                        </a:rPr>
                        <m:t>&lt;0,0,</m:t>
                      </m:r>
                      <m:r>
                        <a:rPr lang="zh-CN" altLang="en-US" sz="1200" i="1" kern="1200">
                          <a:solidFill>
                            <a:schemeClr val="tx1"/>
                          </a:solidFill>
                          <a:effectLst/>
                          <a:latin typeface="Cambria Math" panose="02040503050406030204" pitchFamily="18" charset="0"/>
                          <a:ea typeface="+mn-ea"/>
                          <a:cs typeface="+mn-cs"/>
                        </a:rPr>
                        <m:t>−</m:t>
                      </m:r>
                      <m:r>
                        <a:rPr lang="en-US" altLang="zh-CN" sz="1200" kern="1200">
                          <a:solidFill>
                            <a:schemeClr val="tx1"/>
                          </a:solidFill>
                          <a:effectLst/>
                          <a:latin typeface="Cambria Math" panose="02040503050406030204" pitchFamily="18" charset="0"/>
                          <a:ea typeface="+mn-ea"/>
                          <a:cs typeface="+mn-cs"/>
                        </a:rPr>
                        <m:t>1&gt;],[0,&lt;</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6</m:t>
                          </m:r>
                        </m:sub>
                      </m:sSub>
                      <m:r>
                        <a:rPr lang="en-US" altLang="zh-CN" sz="1200" i="1" kern="1200">
                          <a:solidFill>
                            <a:schemeClr val="tx1"/>
                          </a:solidFill>
                          <a:effectLst/>
                          <a:latin typeface="Cambria Math" panose="02040503050406030204" pitchFamily="18" charset="0"/>
                          <a:ea typeface="+mn-ea"/>
                          <a:cs typeface="+mn-cs"/>
                        </a:rPr>
                        <m:t>𝑠𝑖𝑛</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5</m:t>
                          </m:r>
                        </m:sub>
                      </m:sSub>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6</m:t>
                          </m:r>
                        </m:sub>
                      </m:sSub>
                      <m:r>
                        <a:rPr lang="en-US" altLang="zh-CN" sz="1200" i="1" kern="1200">
                          <a:solidFill>
                            <a:schemeClr val="tx1"/>
                          </a:solidFill>
                          <a:effectLst/>
                          <a:latin typeface="Cambria Math" panose="02040503050406030204" pitchFamily="18" charset="0"/>
                          <a:ea typeface="+mn-ea"/>
                          <a:cs typeface="+mn-cs"/>
                        </a:rPr>
                        <m:t>𝑐𝑜𝑠</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5</m:t>
                          </m:r>
                        </m:sub>
                      </m:sSub>
                      <m:r>
                        <a:rPr lang="en-US" altLang="zh-CN" sz="1200" i="1" kern="1200">
                          <a:solidFill>
                            <a:schemeClr val="tx1"/>
                          </a:solidFill>
                          <a:effectLst/>
                          <a:latin typeface="Cambria Math" panose="02040503050406030204" pitchFamily="18" charset="0"/>
                          <a:ea typeface="+mn-ea"/>
                          <a:cs typeface="+mn-cs"/>
                        </a:rPr>
                        <m:t>, 0&gt;])</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对于第六个轴来说，我们知道其对偶四元数的旋转部分变量为转角</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6</m:t>
                        </m:r>
                      </m:sub>
                    </m:sSub>
                  </m:oMath>
                </a14:m>
                <a:r>
                  <a:rPr lang="zh-CN" altLang="zh-CN" sz="1200" kern="1200" dirty="0">
                    <a:solidFill>
                      <a:schemeClr val="tx1"/>
                    </a:solidFill>
                    <a:effectLst/>
                    <a:latin typeface="+mn-lt"/>
                    <a:ea typeface="+mn-ea"/>
                    <a:cs typeface="+mn-cs"/>
                  </a:rPr>
                  <a:t>，旋转轴</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𝑧</m:t>
                        </m:r>
                      </m:e>
                      <m:sub>
                        <m:r>
                          <a:rPr lang="en-US" altLang="zh-CN" sz="1200" i="1" kern="1200">
                            <a:solidFill>
                              <a:schemeClr val="tx1"/>
                            </a:solidFill>
                            <a:effectLst/>
                            <a:latin typeface="Cambria Math" panose="02040503050406030204" pitchFamily="18" charset="0"/>
                            <a:ea typeface="+mn-ea"/>
                            <a:cs typeface="+mn-cs"/>
                          </a:rPr>
                          <m:t>6</m:t>
                        </m:r>
                      </m:sub>
                    </m:sSub>
                  </m:oMath>
                </a14:m>
                <a:r>
                  <a:rPr lang="zh-CN" altLang="zh-CN" sz="1200" kern="1200" dirty="0">
                    <a:solidFill>
                      <a:schemeClr val="tx1"/>
                    </a:solidFill>
                    <a:effectLst/>
                    <a:latin typeface="+mn-lt"/>
                    <a:ea typeface="+mn-ea"/>
                    <a:cs typeface="+mn-cs"/>
                  </a:rPr>
                  <a:t>平行于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𝑦</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轴。而对于平移部分，由于其是最后一个坐标轴，所以无位移</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那么，第六个轴的对偶四元数可以表示为：</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𝑄</m:t>
                          </m:r>
                        </m:e>
                        <m:sub>
                          <m:r>
                            <a:rPr lang="en-US" altLang="zh-CN" sz="1200" i="1" kern="1200">
                              <a:solidFill>
                                <a:schemeClr val="tx1"/>
                              </a:solidFill>
                              <a:effectLst/>
                              <a:latin typeface="Cambria Math" panose="02040503050406030204" pitchFamily="18" charset="0"/>
                              <a:ea typeface="+mn-ea"/>
                              <a:cs typeface="+mn-cs"/>
                            </a:rPr>
                            <m:t>6</m:t>
                          </m:r>
                        </m:sub>
                      </m:sSub>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r>
                            <a:rPr lang="en-US" altLang="zh-CN" sz="1200" kern="1200">
                              <a:solidFill>
                                <a:schemeClr val="tx1"/>
                              </a:solidFill>
                              <a:effectLst/>
                              <a:latin typeface="Cambria Math" panose="02040503050406030204" pitchFamily="18" charset="0"/>
                              <a:ea typeface="+mn-ea"/>
                              <a:cs typeface="+mn-cs"/>
                            </a:rPr>
                            <m:t>⁡(</m:t>
                          </m:r>
                        </m:fName>
                        <m:e>
                          <m:f>
                            <m:fPr>
                              <m:ctrlPr>
                                <a:rPr lang="zh-CN" altLang="zh-CN" sz="1200" i="1" kern="1200">
                                  <a:solidFill>
                                    <a:schemeClr val="tx1"/>
                                  </a:solidFill>
                                  <a:effectLst/>
                                  <a:latin typeface="Cambria Math" panose="02040503050406030204" pitchFamily="18" charset="0"/>
                                  <a:ea typeface="+mn-ea"/>
                                  <a:cs typeface="+mn-cs"/>
                                </a:rPr>
                              </m:ctrlPr>
                            </m:fPr>
                            <m:num>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6</m:t>
                                  </m:r>
                                </m:sub>
                              </m:sSub>
                            </m:num>
                            <m:den>
                              <m:r>
                                <a:rPr lang="en-US" altLang="zh-CN" sz="1200" i="1" kern="1200">
                                  <a:solidFill>
                                    <a:schemeClr val="tx1"/>
                                  </a:solidFill>
                                  <a:effectLst/>
                                  <a:latin typeface="Cambria Math" panose="02040503050406030204" pitchFamily="18" charset="0"/>
                                  <a:ea typeface="+mn-ea"/>
                                  <a:cs typeface="+mn-cs"/>
                                </a:rPr>
                                <m:t>2</m:t>
                              </m:r>
                            </m:den>
                          </m:f>
                          <m:r>
                            <a:rPr lang="en-US" altLang="zh-CN" sz="1200" i="1" kern="1200">
                              <a:solidFill>
                                <a:schemeClr val="tx1"/>
                              </a:solidFill>
                              <a:effectLst/>
                              <a:latin typeface="Cambria Math" panose="02040503050406030204" pitchFamily="18" charset="0"/>
                              <a:ea typeface="+mn-ea"/>
                              <a:cs typeface="+mn-cs"/>
                            </a:rPr>
                            <m:t>)</m:t>
                          </m:r>
                        </m:e>
                      </m:func>
                      <m:r>
                        <a:rPr lang="en-US" altLang="zh-CN" sz="1200" i="1" kern="1200">
                          <a:solidFill>
                            <a:schemeClr val="tx1"/>
                          </a:solidFill>
                          <a:effectLst/>
                          <a:latin typeface="Cambria Math" panose="02040503050406030204" pitchFamily="18" charset="0"/>
                          <a:ea typeface="+mn-ea"/>
                          <a:cs typeface="+mn-cs"/>
                        </a:rPr>
                        <m:t>, </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6</m:t>
                                      </m:r>
                                    </m:sub>
                                  </m:sSub>
                                </m:num>
                                <m:den>
                                  <m:r>
                                    <a:rPr lang="en-US" altLang="zh-CN" sz="1200" i="1" kern="1200">
                                      <a:solidFill>
                                        <a:schemeClr val="tx1"/>
                                      </a:solidFill>
                                      <a:effectLst/>
                                      <a:latin typeface="Cambria Math" panose="02040503050406030204" pitchFamily="18" charset="0"/>
                                      <a:ea typeface="+mn-ea"/>
                                      <a:cs typeface="+mn-cs"/>
                                    </a:rPr>
                                    <m:t>2</m:t>
                                  </m:r>
                                </m:den>
                              </m:f>
                            </m:e>
                          </m:d>
                        </m:e>
                      </m:func>
                      <m:r>
                        <a:rPr lang="en-US" altLang="zh-CN" sz="1200" kern="1200">
                          <a:solidFill>
                            <a:schemeClr val="tx1"/>
                          </a:solidFill>
                          <a:effectLst/>
                          <a:latin typeface="Cambria Math" panose="02040503050406030204" pitchFamily="18" charset="0"/>
                          <a:ea typeface="+mn-ea"/>
                          <a:cs typeface="+mn-cs"/>
                        </a:rPr>
                        <m:t>&lt;0,</m:t>
                      </m:r>
                      <m:r>
                        <a:rPr lang="zh-CN" altLang="en-US" sz="1200" i="1" kern="1200">
                          <a:solidFill>
                            <a:schemeClr val="tx1"/>
                          </a:solidFill>
                          <a:effectLst/>
                          <a:latin typeface="Cambria Math" panose="02040503050406030204" pitchFamily="18" charset="0"/>
                          <a:ea typeface="+mn-ea"/>
                          <a:cs typeface="+mn-cs"/>
                        </a:rPr>
                        <m:t>−</m:t>
                      </m:r>
                      <m:r>
                        <a:rPr lang="en-US" altLang="zh-CN" sz="1200" kern="1200">
                          <a:solidFill>
                            <a:schemeClr val="tx1"/>
                          </a:solidFill>
                          <a:effectLst/>
                          <a:latin typeface="Cambria Math" panose="02040503050406030204" pitchFamily="18" charset="0"/>
                          <a:ea typeface="+mn-ea"/>
                          <a:cs typeface="+mn-cs"/>
                        </a:rPr>
                        <m:t>1,0&gt;],[0,&lt;0,</m:t>
                      </m:r>
                      <m:r>
                        <a:rPr lang="en-US" altLang="zh-CN" sz="1200" i="1" kern="1200">
                          <a:solidFill>
                            <a:schemeClr val="tx1"/>
                          </a:solidFill>
                          <a:effectLst/>
                          <a:latin typeface="Cambria Math" panose="02040503050406030204" pitchFamily="18" charset="0"/>
                          <a:ea typeface="+mn-ea"/>
                          <a:cs typeface="+mn-cs"/>
                        </a:rPr>
                        <m:t> 0, 0&gt;])</m:t>
                      </m:r>
                    </m:oMath>
                  </m:oMathPara>
                </a14:m>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结合图</a:t>
                </a:r>
                <a:r>
                  <a:rPr lang="en-US" altLang="zh-CN" sz="1200" kern="1200" dirty="0" smtClean="0">
                    <a:solidFill>
                      <a:schemeClr val="tx1"/>
                    </a:solidFill>
                    <a:effectLst/>
                    <a:latin typeface="+mn-lt"/>
                    <a:ea typeface="+mn-ea"/>
                    <a:cs typeface="+mn-cs"/>
                  </a:rPr>
                  <a:t>3.19</a:t>
                </a:r>
                <a:r>
                  <a:rPr lang="zh-CN" altLang="zh-CN" sz="1200" kern="1200" dirty="0" smtClean="0">
                    <a:solidFill>
                      <a:schemeClr val="tx1"/>
                    </a:solidFill>
                    <a:effectLst/>
                    <a:latin typeface="+mn-lt"/>
                    <a:ea typeface="+mn-ea"/>
                    <a:cs typeface="+mn-cs"/>
                  </a:rPr>
                  <a:t>建立的旋转轴，以及图</a:t>
                </a:r>
                <a:r>
                  <a:rPr lang="en-US" altLang="zh-CN" sz="1200" kern="1200" dirty="0" smtClean="0">
                    <a:solidFill>
                      <a:schemeClr val="tx1"/>
                    </a:solidFill>
                    <a:effectLst/>
                    <a:latin typeface="+mn-lt"/>
                    <a:ea typeface="+mn-ea"/>
                    <a:cs typeface="+mn-cs"/>
                  </a:rPr>
                  <a:t>3.18</a:t>
                </a:r>
                <a:r>
                  <a:rPr lang="zh-CN" altLang="zh-CN" sz="1200" kern="1200" dirty="0" smtClean="0">
                    <a:solidFill>
                      <a:schemeClr val="tx1"/>
                    </a:solidFill>
                    <a:effectLst/>
                    <a:latin typeface="+mn-lt"/>
                    <a:ea typeface="+mn-ea"/>
                    <a:cs typeface="+mn-cs"/>
                  </a:rPr>
                  <a:t>所建立的</a:t>
                </a:r>
                <a:r>
                  <a:rPr lang="en-US" altLang="zh-CN" sz="1200" kern="1200" dirty="0" smtClean="0">
                    <a:solidFill>
                      <a:schemeClr val="tx1"/>
                    </a:solidFill>
                    <a:effectLst/>
                    <a:latin typeface="+mn-lt"/>
                    <a:ea typeface="+mn-ea"/>
                    <a:cs typeface="+mn-cs"/>
                  </a:rPr>
                  <a:t>MDH</a:t>
                </a:r>
                <a:r>
                  <a:rPr lang="zh-CN" altLang="zh-CN" sz="1200" kern="1200" dirty="0" smtClean="0">
                    <a:solidFill>
                      <a:schemeClr val="tx1"/>
                    </a:solidFill>
                    <a:effectLst/>
                    <a:latin typeface="+mn-lt"/>
                    <a:ea typeface="+mn-ea"/>
                    <a:cs typeface="+mn-cs"/>
                  </a:rPr>
                  <a:t>表示法，我们建立对偶四元数法坐标系图，见图</a:t>
                </a:r>
                <a:r>
                  <a:rPr lang="en-US" altLang="zh-CN" sz="1200" kern="1200" dirty="0" smtClean="0">
                    <a:solidFill>
                      <a:schemeClr val="tx1"/>
                    </a:solidFill>
                    <a:effectLst/>
                    <a:latin typeface="+mn-lt"/>
                    <a:ea typeface="+mn-ea"/>
                    <a:cs typeface="+mn-cs"/>
                  </a:rPr>
                  <a:t>3.21</a:t>
                </a:r>
                <a:r>
                  <a:rPr lang="zh-CN" altLang="zh-CN" sz="1200" kern="1200" dirty="0" smtClean="0">
                    <a:solidFill>
                      <a:schemeClr val="tx1"/>
                    </a:solidFill>
                    <a:effectLst/>
                    <a:latin typeface="+mn-lt"/>
                    <a:ea typeface="+mn-ea"/>
                    <a:cs typeface="+mn-cs"/>
                  </a:rPr>
                  <a:t>。我们将对偶四元数的旋转轴建立在</a:t>
                </a:r>
                <a:r>
                  <a:rPr lang="en-US" altLang="zh-CN" sz="1200" kern="1200" dirty="0" smtClean="0">
                    <a:solidFill>
                      <a:schemeClr val="tx1"/>
                    </a:solidFill>
                    <a:effectLst/>
                    <a:latin typeface="+mn-lt"/>
                    <a:ea typeface="+mn-ea"/>
                    <a:cs typeface="+mn-cs"/>
                  </a:rPr>
                  <a:t>MDH</a:t>
                </a:r>
                <a:r>
                  <a:rPr lang="zh-CN" altLang="zh-CN" sz="1200" kern="1200" dirty="0" smtClean="0">
                    <a:solidFill>
                      <a:schemeClr val="tx1"/>
                    </a:solidFill>
                    <a:effectLst/>
                    <a:latin typeface="+mn-lt"/>
                    <a:ea typeface="+mn-ea"/>
                    <a:cs typeface="+mn-cs"/>
                  </a:rPr>
                  <a:t>建模法的连杆末端，在</a:t>
                </a:r>
                <a:r>
                  <a:rPr lang="zh-CN" altLang="zh-CN" sz="1200" b="1" kern="1200" dirty="0" smtClean="0">
                    <a:solidFill>
                      <a:schemeClr val="tx1"/>
                    </a:solidFill>
                    <a:effectLst/>
                    <a:latin typeface="+mn-lt"/>
                    <a:ea typeface="+mn-ea"/>
                    <a:cs typeface="+mn-cs"/>
                  </a:rPr>
                  <a:t>普吕克坐标系下，</a:t>
                </a:r>
                <a:r>
                  <a:rPr lang="zh-CN" altLang="zh-CN" sz="1200" kern="1200" dirty="0" smtClean="0">
                    <a:solidFill>
                      <a:schemeClr val="tx1"/>
                    </a:solidFill>
                    <a:effectLst/>
                    <a:latin typeface="+mn-lt"/>
                    <a:ea typeface="+mn-ea"/>
                    <a:cs typeface="+mn-cs"/>
                  </a:rPr>
                  <a:t>我们可以求得每根连杆所对应的对偶四元数。</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对于第一个轴来说，我们知道其对偶四元数的旋转部分变量为转角</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，旋转轴</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和基坐标系</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一致。而对于平移部分，其平移量为沿</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轴的位移</a:t>
                </a:r>
                <a:r>
                  <a:rPr lang="en-US" altLang="zh-CN" sz="1200" i="0" kern="1200">
                    <a:solidFill>
                      <a:schemeClr val="tx1"/>
                    </a:solidFill>
                    <a:effectLst/>
                    <a:latin typeface="+mn-lt"/>
                    <a:ea typeface="+mn-ea"/>
                    <a:cs typeface="+mn-cs"/>
                  </a:rPr>
                  <a:t>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，那么，第一个轴的对偶四元数可以表示为：</a:t>
                </a:r>
              </a:p>
              <a:p>
                <a:r>
                  <a:rPr lang="en-US" altLang="zh-CN" sz="1200" kern="1200" dirty="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2)&lt;0,0,1&gt;],[0,&lt;0, 0,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对于第二个轴来说，我们知道其对偶四元数的旋转部分变量为转角</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，旋转轴</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平行于</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轴。而对于平移部分，旋转第二轴导致了相对于</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轴和</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的位移可由</a:t>
                </a:r>
                <a:r>
                  <a:rPr lang="en-US" altLang="zh-CN" sz="1200" i="0" kern="1200">
                    <a:solidFill>
                      <a:schemeClr val="tx1"/>
                    </a:solidFill>
                    <a:effectLst/>
                    <a:latin typeface="+mn-lt"/>
                    <a:ea typeface="+mn-ea"/>
                    <a:cs typeface="+mn-cs"/>
                  </a:rPr>
                  <a:t>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的三角函数求取，那么，第二个轴的对偶四元数可以表示为：</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2)&lt;0,</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1,0&gt;],[0,&lt;𝑎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 𝑐𝑜𝑠𝜃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 0, 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 𝑠𝑖𝑛𝜃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对于第三个轴来说，我们知道其对偶四元数的旋转部分变量为转角</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，旋转轴</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平行于</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轴。而对于平移部分，旋转第三轴导致了相对于</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轴和</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的位移可由</a:t>
                </a:r>
                <a:r>
                  <a:rPr lang="en-US" altLang="zh-CN" sz="1200" i="0" kern="1200">
                    <a:solidFill>
                      <a:schemeClr val="tx1"/>
                    </a:solidFill>
                    <a:effectLst/>
                    <a:latin typeface="+mn-lt"/>
                    <a:ea typeface="+mn-ea"/>
                    <a:cs typeface="+mn-cs"/>
                  </a:rPr>
                  <a:t>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的三角函数求取，除此之外，相对第四轴，其在</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轴位移为</a:t>
                </a:r>
                <a:r>
                  <a:rPr lang="en-US" altLang="zh-CN" sz="1200" i="0" kern="1200">
                    <a:solidFill>
                      <a:schemeClr val="tx1"/>
                    </a:solidFill>
                    <a:effectLst/>
                    <a:latin typeface="+mn-lt"/>
                    <a:ea typeface="+mn-ea"/>
                    <a:cs typeface="+mn-cs"/>
                  </a:rPr>
                  <a:t>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，那么，第三个轴的对偶四元数可以表示为：</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2)&lt;0,</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1,0&gt;],[0,&lt;𝑎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 𝑐𝑜𝑠𝜃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 −𝑑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 𝑎</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 𝑠𝑖𝑛𝜃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对于第四个轴来说，我们知道其对偶四元数的旋转部分变量为转角</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，旋转轴</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平行于</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轴。而对于平移部分，旋转第四轴导致了相对于</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轴和</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的位移可由</a:t>
                </a:r>
                <a:r>
                  <a:rPr lang="en-US" altLang="zh-CN" sz="1200" i="0" kern="1200">
                    <a:solidFill>
                      <a:schemeClr val="tx1"/>
                    </a:solidFill>
                    <a:effectLst/>
                    <a:latin typeface="+mn-lt"/>
                    <a:ea typeface="+mn-ea"/>
                    <a:cs typeface="+mn-cs"/>
                  </a:rPr>
                  <a:t>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的三角函数求取</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那么，第四个轴的对偶四元数可以表示为：</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2)&lt;0,</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1,0&gt;],[0,&lt;𝑑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 𝑠𝑖𝑛𝜃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4, 0,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 𝑐𝑜𝑠𝜃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4&gt;])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对于第五个轴来说，我们知道其对偶四元数的旋转部分变量为转角</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，旋转轴</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平行于</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轴。而对于平移部分，旋转第五轴导致了相对于</a:t>
                </a:r>
                <a:r>
                  <a:rPr lang="en-US" altLang="zh-CN" sz="1200" i="0" kern="1200">
                    <a:solidFill>
                      <a:schemeClr val="tx1"/>
                    </a:solidFill>
                    <a:effectLst/>
                    <a:latin typeface="+mn-lt"/>
                    <a:ea typeface="+mn-ea"/>
                    <a:cs typeface="+mn-cs"/>
                  </a:rPr>
                  <a:t>𝑥</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轴的位移可由</a:t>
                </a:r>
                <a:r>
                  <a:rPr lang="en-US" altLang="zh-CN" sz="1200" i="0" kern="1200">
                    <a:solidFill>
                      <a:schemeClr val="tx1"/>
                    </a:solidFill>
                    <a:effectLst/>
                    <a:latin typeface="+mn-lt"/>
                    <a:ea typeface="+mn-ea"/>
                    <a:cs typeface="+mn-cs"/>
                  </a:rPr>
                  <a:t>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的三角函数求取</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那么，第五个轴的对偶四元数可以表示为：</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2)&lt;0,0,</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1&gt;],[0,&lt;−𝑑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 𝑠𝑖𝑛𝜃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−𝑑</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 𝑐𝑜𝑠𝜃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5,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对于第六个轴来说，我们知道其对偶四元数的旋转部分变量为转角</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，旋转轴</a:t>
                </a:r>
                <a:r>
                  <a:rPr lang="en-US" altLang="zh-CN" sz="1200" i="0" kern="1200">
                    <a:solidFill>
                      <a:schemeClr val="tx1"/>
                    </a:solidFill>
                    <a:effectLst/>
                    <a:latin typeface="+mn-lt"/>
                    <a:ea typeface="+mn-ea"/>
                    <a:cs typeface="+mn-cs"/>
                  </a:rPr>
                  <a:t>𝑧</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平行于</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轴。而对于平移部分，由于其是最后一个坐标轴，所以无位移</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那么，第六个轴的对偶四元数可以表示为：</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cos⁡(</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sin</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2)&lt;0,</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1,0&gt;],[0,&lt;0, 0, 0&gt;])</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67</a:t>
            </a:fld>
            <a:endParaRPr lang="zh-CN" altLang="en-US"/>
          </a:p>
        </p:txBody>
      </p:sp>
    </p:spTree>
    <p:extLst>
      <p:ext uri="{BB962C8B-B14F-4D97-AF65-F5344CB8AC3E}">
        <p14:creationId xmlns:p14="http://schemas.microsoft.com/office/powerpoint/2010/main" val="117844554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[1, 0,0,0</m:t>
                    </m:r>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，位移部分为其位移变量。例如如果上例中的第六轴如果为平移关节，其沿</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𝑦</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轴的平伸量为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𝑙𝑔</m:t>
                    </m:r>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𝑄</m:t>
                          </m:r>
                        </m:e>
                        <m:sub>
                          <m:r>
                            <a:rPr lang="en-US" altLang="zh-CN" sz="1200" i="1" kern="1200">
                              <a:solidFill>
                                <a:schemeClr val="tx1"/>
                              </a:solidFill>
                              <a:effectLst/>
                              <a:latin typeface="Cambria Math" panose="02040503050406030204" pitchFamily="18" charset="0"/>
                              <a:ea typeface="+mn-ea"/>
                              <a:cs typeface="+mn-cs"/>
                            </a:rPr>
                            <m:t>6</m:t>
                          </m:r>
                        </m:sub>
                      </m:sSub>
                      <m:r>
                        <a:rPr lang="en-US" altLang="zh-CN" sz="1200" i="1" kern="1200">
                          <a:solidFill>
                            <a:schemeClr val="tx1"/>
                          </a:solidFill>
                          <a:effectLst/>
                          <a:latin typeface="Cambria Math" panose="02040503050406030204" pitchFamily="18" charset="0"/>
                          <a:ea typeface="+mn-ea"/>
                          <a:cs typeface="+mn-cs"/>
                        </a:rPr>
                        <m:t>=([1, 0,0,0</m:t>
                      </m:r>
                      <m:r>
                        <a:rPr lang="en-US" altLang="zh-CN" sz="1200" kern="1200">
                          <a:solidFill>
                            <a:schemeClr val="tx1"/>
                          </a:solidFill>
                          <a:effectLst/>
                          <a:latin typeface="Cambria Math" panose="02040503050406030204" pitchFamily="18" charset="0"/>
                          <a:ea typeface="+mn-ea"/>
                          <a:cs typeface="+mn-cs"/>
                        </a:rPr>
                        <m:t>],[0,&lt;0,</m:t>
                      </m:r>
                      <m:r>
                        <a:rPr lang="en-US" altLang="zh-CN" sz="1200" i="1"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𝑙𝑔</m:t>
                      </m:r>
                      <m:r>
                        <a:rPr lang="en-US" altLang="zh-CN" sz="1200" i="1" kern="1200">
                          <a:solidFill>
                            <a:schemeClr val="tx1"/>
                          </a:solidFill>
                          <a:effectLst/>
                          <a:latin typeface="Cambria Math" panose="02040503050406030204" pitchFamily="18" charset="0"/>
                          <a:ea typeface="+mn-ea"/>
                          <a:cs typeface="+mn-cs"/>
                        </a:rPr>
                        <m:t>, 0&gt;])</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68</a:t>
            </a:fld>
            <a:endParaRPr lang="zh-CN" altLang="en-US"/>
          </a:p>
        </p:txBody>
      </p:sp>
    </p:spTree>
    <p:extLst>
      <p:ext uri="{BB962C8B-B14F-4D97-AF65-F5344CB8AC3E}">
        <p14:creationId xmlns:p14="http://schemas.microsoft.com/office/powerpoint/2010/main" val="92713976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71</a:t>
            </a:fld>
            <a:endParaRPr lang="zh-CN" altLang="en-US"/>
          </a:p>
        </p:txBody>
      </p:sp>
    </p:spTree>
    <p:extLst>
      <p:ext uri="{BB962C8B-B14F-4D97-AF65-F5344CB8AC3E}">
        <p14:creationId xmlns:p14="http://schemas.microsoft.com/office/powerpoint/2010/main" val="312240518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72</a:t>
            </a:fld>
            <a:endParaRPr lang="zh-CN" altLang="en-US"/>
          </a:p>
        </p:txBody>
      </p:sp>
    </p:spTree>
    <p:extLst>
      <p:ext uri="{BB962C8B-B14F-4D97-AF65-F5344CB8AC3E}">
        <p14:creationId xmlns:p14="http://schemas.microsoft.com/office/powerpoint/2010/main" val="145115988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将上式中右边的齐次变换矩阵写成</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𝐻</m:t>
                    </m:r>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由该等式可推导出包含</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oMath>
                </a14:m>
                <a:r>
                  <a:rPr lang="zh-CN" altLang="zh-CN" sz="1200" kern="1200" dirty="0">
                    <a:solidFill>
                      <a:schemeClr val="tx1"/>
                    </a:solidFill>
                    <a:effectLst/>
                    <a:latin typeface="+mn-lt"/>
                    <a:ea typeface="+mn-ea"/>
                    <a:cs typeface="+mn-cs"/>
                  </a:rPr>
                  <a:t>个未知变量的</a:t>
                </a:r>
                <a:r>
                  <a:rPr lang="en-US" altLang="zh-CN" sz="1200" kern="1200" dirty="0">
                    <a:solidFill>
                      <a:schemeClr val="tx1"/>
                    </a:solidFill>
                    <a:effectLst/>
                    <a:latin typeface="+mn-lt"/>
                    <a:ea typeface="+mn-ea"/>
                    <a:cs typeface="+mn-cs"/>
                  </a:rPr>
                  <a:t>12</a:t>
                </a:r>
                <a:r>
                  <a:rPr lang="zh-CN" altLang="zh-CN" sz="1200" kern="1200" dirty="0">
                    <a:solidFill>
                      <a:schemeClr val="tx1"/>
                    </a:solidFill>
                    <a:effectLst/>
                    <a:latin typeface="+mn-lt"/>
                    <a:ea typeface="+mn-ea"/>
                    <a:cs typeface="+mn-cs"/>
                  </a:rPr>
                  <a:t>个非线性方程，将它们用式（</a:t>
                </a:r>
                <a:r>
                  <a:rPr lang="en-US" altLang="zh-CN" sz="1200" kern="1200" dirty="0">
                    <a:solidFill>
                      <a:schemeClr val="tx1"/>
                    </a:solidFill>
                    <a:effectLst/>
                    <a:latin typeface="+mn-lt"/>
                    <a:ea typeface="+mn-ea"/>
                    <a:cs typeface="+mn-cs"/>
                  </a:rPr>
                  <a:t>3-59</a:t>
                </a:r>
                <a:r>
                  <a:rPr lang="zh-CN" altLang="zh-CN" sz="1200" kern="1200" dirty="0">
                    <a:solidFill>
                      <a:schemeClr val="tx1"/>
                    </a:solidFill>
                    <a:effectLst/>
                    <a:latin typeface="+mn-lt"/>
                    <a:ea typeface="+mn-ea"/>
                    <a:cs typeface="+mn-cs"/>
                  </a:rPr>
                  <a:t>）进行表达。</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𝑇</m:t>
                        </m:r>
                      </m:e>
                      <m:sub>
                        <m:r>
                          <a:rPr lang="en-US" altLang="zh-CN" sz="1200" i="1" kern="1200">
                            <a:solidFill>
                              <a:schemeClr val="tx1"/>
                            </a:solidFill>
                            <a:effectLst/>
                            <a:latin typeface="Cambria Math" panose="02040503050406030204" pitchFamily="18" charset="0"/>
                            <a:ea typeface="+mn-ea"/>
                            <a:cs typeface="+mn-cs"/>
                          </a:rPr>
                          <m:t>𝑖𝑗</m:t>
                        </m:r>
                      </m:sub>
                    </m:sSub>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𝑛</m:t>
                            </m:r>
                          </m:sub>
                        </m:sSub>
                      </m:e>
                    </m:d>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h</m:t>
                        </m:r>
                      </m:e>
                      <m:sub>
                        <m:r>
                          <a:rPr lang="en-US" altLang="zh-CN" sz="1200" i="1" kern="1200">
                            <a:solidFill>
                              <a:schemeClr val="tx1"/>
                            </a:solidFill>
                            <a:effectLst/>
                            <a:latin typeface="Cambria Math" panose="02040503050406030204" pitchFamily="18" charset="0"/>
                            <a:ea typeface="+mn-ea"/>
                            <a:cs typeface="+mn-cs"/>
                          </a:rPr>
                          <m:t>𝑖𝑗</m:t>
                        </m:r>
                        <m:r>
                          <a:rPr lang="en-US" altLang="zh-CN" sz="1200" i="1" kern="1200">
                            <a:solidFill>
                              <a:schemeClr val="tx1"/>
                            </a:solidFill>
                            <a:effectLst/>
                            <a:latin typeface="Cambria Math" panose="02040503050406030204" pitchFamily="18" charset="0"/>
                            <a:ea typeface="+mn-ea"/>
                            <a:cs typeface="+mn-cs"/>
                          </a:rPr>
                          <m:t> </m:t>
                        </m:r>
                      </m:sub>
                    </m:sSub>
                    <m:r>
                      <a:rPr lang="en-US" altLang="zh-CN" sz="1200" i="1"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=1,2,3,   </m:t>
                    </m:r>
                    <m:r>
                      <a:rPr lang="en-US" altLang="zh-CN" sz="1200" i="1" kern="1200">
                        <a:solidFill>
                          <a:schemeClr val="tx1"/>
                        </a:solidFill>
                        <a:effectLst/>
                        <a:latin typeface="Cambria Math" panose="02040503050406030204" pitchFamily="18" charset="0"/>
                        <a:ea typeface="+mn-ea"/>
                        <a:cs typeface="+mn-cs"/>
                      </a:rPr>
                      <m:t>𝑗</m:t>
                    </m:r>
                    <m:r>
                      <a:rPr lang="en-US" altLang="zh-CN" sz="1200" i="1" kern="1200">
                        <a:solidFill>
                          <a:schemeClr val="tx1"/>
                        </a:solidFill>
                        <a:effectLst/>
                        <a:latin typeface="Cambria Math" panose="02040503050406030204" pitchFamily="18" charset="0"/>
                        <a:ea typeface="+mn-ea"/>
                        <a:cs typeface="+mn-cs"/>
                      </a:rPr>
                      <m:t>=1,2,3,4</m:t>
                    </m:r>
                  </m:oMath>
                </a14:m>
                <a:r>
                  <a:rPr lang="en-US" altLang="zh-CN" sz="1200" kern="1200" dirty="0">
                    <a:solidFill>
                      <a:schemeClr val="tx1"/>
                    </a:solidFill>
                    <a:effectLst/>
                    <a:latin typeface="+mn-lt"/>
                    <a:ea typeface="+mn-ea"/>
                    <a:cs typeface="+mn-cs"/>
                  </a:rPr>
                  <a:t>  (3-59)</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其中，</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𝑇</m:t>
                        </m:r>
                      </m:e>
                      <m:sub>
                        <m:r>
                          <a:rPr lang="en-US" altLang="zh-CN" sz="1200" i="1" kern="1200">
                            <a:solidFill>
                              <a:schemeClr val="tx1"/>
                            </a:solidFill>
                            <a:effectLst/>
                            <a:latin typeface="Cambria Math" panose="02040503050406030204" pitchFamily="18" charset="0"/>
                            <a:ea typeface="+mn-ea"/>
                            <a:cs typeface="+mn-cs"/>
                          </a:rPr>
                          <m:t>𝑖𝑗</m:t>
                        </m:r>
                      </m:sub>
                    </m:sSub>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h</m:t>
                        </m:r>
                      </m:e>
                      <m:sub>
                        <m:r>
                          <a:rPr lang="en-US" altLang="zh-CN" sz="1200" i="1" kern="1200">
                            <a:solidFill>
                              <a:schemeClr val="tx1"/>
                            </a:solidFill>
                            <a:effectLst/>
                            <a:latin typeface="Cambria Math" panose="02040503050406030204" pitchFamily="18" charset="0"/>
                            <a:ea typeface="+mn-ea"/>
                            <a:cs typeface="+mn-cs"/>
                          </a:rPr>
                          <m:t>𝑖𝑗</m:t>
                        </m:r>
                        <m:r>
                          <a:rPr lang="en-US" altLang="zh-CN" sz="1200" i="1" kern="1200">
                            <a:solidFill>
                              <a:schemeClr val="tx1"/>
                            </a:solidFill>
                            <a:effectLst/>
                            <a:latin typeface="Cambria Math" panose="02040503050406030204" pitchFamily="18" charset="0"/>
                            <a:ea typeface="+mn-ea"/>
                            <a:cs typeface="+mn-cs"/>
                          </a:rPr>
                          <m:t> </m:t>
                        </m:r>
                      </m:sub>
                    </m:sSub>
                  </m:oMath>
                </a14:m>
                <a:r>
                  <a:rPr lang="zh-CN" altLang="zh-CN" sz="1200" kern="1200" dirty="0">
                    <a:solidFill>
                      <a:schemeClr val="tx1"/>
                    </a:solidFill>
                    <a:effectLst/>
                    <a:latin typeface="+mn-lt"/>
                    <a:ea typeface="+mn-ea"/>
                    <a:cs typeface="+mn-cs"/>
                  </a:rPr>
                  <a:t>分别表示式（</a:t>
                </a:r>
                <a:r>
                  <a:rPr lang="en-US" altLang="zh-CN" sz="1200" kern="1200" dirty="0">
                    <a:solidFill>
                      <a:schemeClr val="tx1"/>
                    </a:solidFill>
                    <a:effectLst/>
                    <a:latin typeface="+mn-lt"/>
                    <a:ea typeface="+mn-ea"/>
                    <a:cs typeface="+mn-cs"/>
                  </a:rPr>
                  <a:t>3-58</a:t>
                </a:r>
                <a:r>
                  <a:rPr lang="zh-CN" altLang="zh-CN" sz="1200" kern="1200" dirty="0">
                    <a:solidFill>
                      <a:schemeClr val="tx1"/>
                    </a:solidFill>
                    <a:effectLst/>
                    <a:latin typeface="+mn-lt"/>
                    <a:ea typeface="+mn-ea"/>
                    <a:cs typeface="+mn-cs"/>
                  </a:rPr>
                  <a:t>）中</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0</m:t>
                            </m:r>
                          </m:sup>
                          <m:e>
                            <m:r>
                              <a:rPr lang="en-US" altLang="zh-CN" sz="1200" i="1" kern="1200">
                                <a:solidFill>
                                  <a:schemeClr val="tx1"/>
                                </a:solidFill>
                                <a:effectLst/>
                                <a:latin typeface="Cambria Math" panose="02040503050406030204" pitchFamily="18" charset="0"/>
                                <a:ea typeface="+mn-ea"/>
                                <a:cs typeface="+mn-cs"/>
                              </a:rPr>
                              <m:t>𝑇</m:t>
                            </m:r>
                          </m:e>
                        </m:sPre>
                      </m:e>
                      <m:sub>
                        <m:r>
                          <a:rPr lang="en-US" altLang="zh-CN" sz="1200" i="1" kern="1200">
                            <a:solidFill>
                              <a:schemeClr val="tx1"/>
                            </a:solidFill>
                            <a:effectLst/>
                            <a:latin typeface="Cambria Math" panose="02040503050406030204" pitchFamily="18" charset="0"/>
                            <a:ea typeface="+mn-ea"/>
                            <a:cs typeface="+mn-cs"/>
                          </a:rPr>
                          <m:t>𝑛</m:t>
                        </m:r>
                      </m:sub>
                    </m:sSub>
                  </m:oMath>
                </a14:m>
                <a:r>
                  <a:rPr lang="zh-CN" altLang="zh-CN" sz="1200" kern="1200" dirty="0">
                    <a:solidFill>
                      <a:schemeClr val="tx1"/>
                    </a:solidFill>
                    <a:effectLst/>
                    <a:latin typeface="+mn-lt"/>
                    <a:ea typeface="+mn-ea"/>
                    <a:cs typeface="+mn-cs"/>
                  </a:rPr>
                  <a:t>和</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𝐻</m:t>
                    </m:r>
                  </m:oMath>
                </a14:m>
                <a:r>
                  <a:rPr lang="zh-CN" altLang="zh-CN" sz="1200" kern="1200" dirty="0">
                    <a:solidFill>
                      <a:schemeClr val="tx1"/>
                    </a:solidFill>
                    <a:effectLst/>
                    <a:latin typeface="+mn-lt"/>
                    <a:ea typeface="+mn-ea"/>
                    <a:cs typeface="+mn-cs"/>
                  </a:rPr>
                  <a:t>中的</a:t>
                </a:r>
                <a:r>
                  <a:rPr lang="en-US" altLang="zh-CN" sz="1200" kern="1200" dirty="0">
                    <a:solidFill>
                      <a:schemeClr val="tx1"/>
                    </a:solidFill>
                    <a:effectLst/>
                    <a:latin typeface="+mn-lt"/>
                    <a:ea typeface="+mn-ea"/>
                    <a:cs typeface="+mn-cs"/>
                  </a:rPr>
                  <a:t>12</a:t>
                </a:r>
                <a:r>
                  <a:rPr lang="zh-CN" altLang="zh-CN" sz="1200" kern="1200" dirty="0">
                    <a:solidFill>
                      <a:schemeClr val="tx1"/>
                    </a:solidFill>
                    <a:effectLst/>
                    <a:latin typeface="+mn-lt"/>
                    <a:ea typeface="+mn-ea"/>
                    <a:cs typeface="+mn-cs"/>
                  </a:rPr>
                  <a:t>个非平凡元素。由于它们都是</a:t>
                </a:r>
                <a:r>
                  <a:rPr lang="en-US" altLang="zh-CN" sz="1200" kern="1200" dirty="0">
                    <a:solidFill>
                      <a:schemeClr val="tx1"/>
                    </a:solidFill>
                    <a:effectLst/>
                    <a:latin typeface="+mn-lt"/>
                    <a:ea typeface="+mn-ea"/>
                    <a:cs typeface="+mn-cs"/>
                  </a:rPr>
                  <a:t>4x4</a:t>
                </a:r>
                <a:r>
                  <a:rPr lang="zh-CN" altLang="zh-CN" sz="1200" kern="1200" dirty="0">
                    <a:solidFill>
                      <a:schemeClr val="tx1"/>
                    </a:solidFill>
                    <a:effectLst/>
                    <a:latin typeface="+mn-lt"/>
                    <a:ea typeface="+mn-ea"/>
                    <a:cs typeface="+mn-cs"/>
                  </a:rPr>
                  <a:t>的齐次变换矩阵，最后一行为（</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），所以式（</a:t>
                </a:r>
                <a:r>
                  <a:rPr lang="en-US" altLang="zh-CN" sz="1200" kern="1200" dirty="0">
                    <a:solidFill>
                      <a:schemeClr val="tx1"/>
                    </a:solidFill>
                    <a:effectLst/>
                    <a:latin typeface="+mn-lt"/>
                    <a:ea typeface="+mn-ea"/>
                    <a:cs typeface="+mn-cs"/>
                  </a:rPr>
                  <a:t>3-58</a:t>
                </a:r>
                <a:r>
                  <a:rPr lang="zh-CN" altLang="zh-CN" sz="1200" kern="1200" dirty="0">
                    <a:solidFill>
                      <a:schemeClr val="tx1"/>
                    </a:solidFill>
                    <a:effectLst/>
                    <a:latin typeface="+mn-lt"/>
                    <a:ea typeface="+mn-ea"/>
                    <a:cs typeface="+mn-cs"/>
                  </a:rPr>
                  <a:t>）能表示的</a:t>
                </a:r>
                <a:r>
                  <a:rPr lang="en-US" altLang="zh-CN" sz="1200" kern="1200" dirty="0">
                    <a:solidFill>
                      <a:schemeClr val="tx1"/>
                    </a:solidFill>
                    <a:effectLst/>
                    <a:latin typeface="+mn-lt"/>
                    <a:ea typeface="+mn-ea"/>
                    <a:cs typeface="+mn-cs"/>
                  </a:rPr>
                  <a:t>16</a:t>
                </a:r>
                <a:r>
                  <a:rPr lang="zh-CN" altLang="zh-CN" sz="1200" kern="1200" dirty="0">
                    <a:solidFill>
                      <a:schemeClr val="tx1"/>
                    </a:solidFill>
                    <a:effectLst/>
                    <a:latin typeface="+mn-lt"/>
                    <a:ea typeface="+mn-ea"/>
                    <a:cs typeface="+mn-cs"/>
                  </a:rPr>
                  <a:t>个方程有四个可以忽略，变成包含</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oMath>
                </a14:m>
                <a:r>
                  <a:rPr lang="zh-CN" altLang="zh-CN" sz="1200" kern="1200" dirty="0">
                    <a:solidFill>
                      <a:schemeClr val="tx1"/>
                    </a:solidFill>
                    <a:effectLst/>
                    <a:latin typeface="+mn-lt"/>
                    <a:ea typeface="+mn-ea"/>
                    <a:cs typeface="+mn-cs"/>
                  </a:rPr>
                  <a:t>个未知变量的</a:t>
                </a:r>
                <a:r>
                  <a:rPr lang="en-US" altLang="zh-CN" sz="1200" kern="1200" dirty="0">
                    <a:solidFill>
                      <a:schemeClr val="tx1"/>
                    </a:solidFill>
                    <a:effectLst/>
                    <a:latin typeface="+mn-lt"/>
                    <a:ea typeface="+mn-ea"/>
                    <a:cs typeface="+mn-cs"/>
                  </a:rPr>
                  <a:t>12</a:t>
                </a:r>
                <a:r>
                  <a:rPr lang="zh-CN" altLang="zh-CN" sz="1200" kern="1200" dirty="0">
                    <a:solidFill>
                      <a:schemeClr val="tx1"/>
                    </a:solidFill>
                    <a:effectLst/>
                    <a:latin typeface="+mn-lt"/>
                    <a:ea typeface="+mn-ea"/>
                    <a:cs typeface="+mn-cs"/>
                  </a:rPr>
                  <a:t>个非线性方程。假设</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=6</m:t>
                    </m:r>
                  </m:oMath>
                </a14:m>
                <a:r>
                  <a:rPr lang="zh-CN" altLang="zh-CN" sz="1200" kern="1200" dirty="0">
                    <a:solidFill>
                      <a:schemeClr val="tx1"/>
                    </a:solidFill>
                    <a:effectLst/>
                    <a:latin typeface="+mn-lt"/>
                    <a:ea typeface="+mn-ea"/>
                    <a:cs typeface="+mn-cs"/>
                  </a:rPr>
                  <a:t>，则未知变量有</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个，</a:t>
                </a:r>
                <a:r>
                  <a:rPr lang="en-US" altLang="zh-CN" sz="1200" kern="1200" dirty="0">
                    <a:solidFill>
                      <a:schemeClr val="tx1"/>
                    </a:solidFill>
                    <a:effectLst/>
                    <a:latin typeface="+mn-lt"/>
                    <a:ea typeface="+mn-ea"/>
                    <a:cs typeface="+mn-cs"/>
                  </a:rPr>
                  <a:t>12</a:t>
                </a:r>
                <a:r>
                  <a:rPr lang="zh-CN" altLang="zh-CN" sz="1200" kern="1200" dirty="0">
                    <a:solidFill>
                      <a:schemeClr val="tx1"/>
                    </a:solidFill>
                    <a:effectLst/>
                    <a:latin typeface="+mn-lt"/>
                    <a:ea typeface="+mn-ea"/>
                    <a:cs typeface="+mn-cs"/>
                  </a:rPr>
                  <a:t>个方程中，和姿态关联的</a:t>
                </a:r>
                <a:r>
                  <a:rPr lang="en-US" altLang="zh-CN" sz="1200" kern="1200" dirty="0">
                    <a:solidFill>
                      <a:schemeClr val="tx1"/>
                    </a:solidFill>
                    <a:effectLst/>
                    <a:latin typeface="+mn-lt"/>
                    <a:ea typeface="+mn-ea"/>
                    <a:cs typeface="+mn-cs"/>
                  </a:rPr>
                  <a:t>9</a:t>
                </a:r>
                <a:r>
                  <a:rPr lang="zh-CN" altLang="zh-CN" sz="1200" kern="1200" dirty="0">
                    <a:solidFill>
                      <a:schemeClr val="tx1"/>
                    </a:solidFill>
                    <a:effectLst/>
                    <a:latin typeface="+mn-lt"/>
                    <a:ea typeface="+mn-ea"/>
                    <a:cs typeface="+mn-cs"/>
                  </a:rPr>
                  <a:t>个方程中只有</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个是独立的，和位置关联的</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个方程独立，由</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个独立方程求解</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个未知数，这样的方程组被称为非线性的超越方程组，逆运动学求解非常复杂。</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73</a:t>
            </a:fld>
            <a:endParaRPr lang="zh-CN" altLang="en-US"/>
          </a:p>
        </p:txBody>
      </p:sp>
    </p:spTree>
    <p:extLst>
      <p:ext uri="{BB962C8B-B14F-4D97-AF65-F5344CB8AC3E}">
        <p14:creationId xmlns:p14="http://schemas.microsoft.com/office/powerpoint/2010/main" val="30356767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74</a:t>
            </a:fld>
            <a:endParaRPr lang="zh-CN" altLang="en-US"/>
          </a:p>
        </p:txBody>
      </p:sp>
    </p:spTree>
    <p:extLst>
      <p:ext uri="{BB962C8B-B14F-4D97-AF65-F5344CB8AC3E}">
        <p14:creationId xmlns:p14="http://schemas.microsoft.com/office/powerpoint/2010/main" val="82345028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75</a:t>
            </a:fld>
            <a:endParaRPr lang="zh-CN" altLang="en-US"/>
          </a:p>
        </p:txBody>
      </p:sp>
    </p:spTree>
    <p:extLst>
      <p:ext uri="{BB962C8B-B14F-4D97-AF65-F5344CB8AC3E}">
        <p14:creationId xmlns:p14="http://schemas.microsoft.com/office/powerpoint/2010/main" val="320832728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上式中</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23</m:t>
                        </m:r>
                      </m:sub>
                    </m:sSub>
                    <m:r>
                      <a:rPr lang="en-US" altLang="zh-CN" sz="1200" i="1" kern="1200">
                        <a:solidFill>
                          <a:schemeClr val="tx1"/>
                        </a:solidFill>
                        <a:effectLst/>
                        <a:latin typeface="Cambria Math" panose="02040503050406030204" pitchFamily="18" charset="0"/>
                        <a:ea typeface="+mn-ea"/>
                        <a:cs typeface="+mn-cs"/>
                      </a:rPr>
                      <m:t>=</m:t>
                    </m:r>
                    <m:r>
                      <m:rPr>
                        <m:sty m:val="p"/>
                      </m:rPr>
                      <a:rPr lang="en-US" altLang="zh-CN" sz="1200" kern="1200">
                        <a:solidFill>
                          <a:schemeClr val="tx1"/>
                        </a:solidFill>
                        <a:effectLst/>
                        <a:latin typeface="Cambria Math" panose="02040503050406030204" pitchFamily="18" charset="0"/>
                        <a:ea typeface="+mn-ea"/>
                        <a:cs typeface="+mn-cs"/>
                      </a:rPr>
                      <m:t>cos</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a:t>
                </a:r>
                <a14:m>
                  <m:oMath xmlns:m="http://schemas.openxmlformats.org/officeDocument/2006/math">
                    <m:r>
                      <a:rPr lang="zh-CN"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23</m:t>
                        </m:r>
                      </m:sub>
                    </m:sSub>
                    <m:r>
                      <a:rPr lang="en-US" altLang="zh-CN" sz="1200" i="1" kern="1200">
                        <a:solidFill>
                          <a:schemeClr val="tx1"/>
                        </a:solidFill>
                        <a:effectLst/>
                        <a:latin typeface="Cambria Math" panose="02040503050406030204" pitchFamily="18" charset="0"/>
                        <a:ea typeface="+mn-ea"/>
                        <a:cs typeface="+mn-cs"/>
                      </a:rPr>
                      <m:t>=</m:t>
                    </m:r>
                    <m:r>
                      <m:rPr>
                        <m:sty m:val="p"/>
                      </m:rPr>
                      <a:rPr lang="en-US" altLang="zh-CN" sz="1200" kern="1200">
                        <a:solidFill>
                          <a:schemeClr val="tx1"/>
                        </a:solidFill>
                        <a:effectLst/>
                        <a:latin typeface="Cambria Math" panose="02040503050406030204" pitchFamily="18" charset="0"/>
                        <a:ea typeface="+mn-ea"/>
                        <a:cs typeface="+mn-cs"/>
                      </a:rPr>
                      <m:t>sin</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𝑠𝑖𝑛</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2</m:t>
                        </m:r>
                      </m:sub>
                    </m:sSub>
                  </m:oMath>
                </a14:m>
                <a:r>
                  <a:rPr lang="zh-CN" altLang="zh-CN" sz="1200" kern="1200" dirty="0">
                    <a:solidFill>
                      <a:schemeClr val="tx1"/>
                    </a:solidFill>
                    <a:effectLst/>
                    <a:latin typeface="+mn-lt"/>
                    <a:ea typeface="+mn-ea"/>
                    <a:cs typeface="+mn-cs"/>
                  </a:rPr>
                  <a:t>，依此类推，以下公式中为了简化书写，用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𝐶</m:t>
                    </m:r>
                  </m:oMath>
                </a14:m>
                <a:r>
                  <a:rPr lang="zh-CN" altLang="zh-CN" sz="1200" kern="1200" dirty="0">
                    <a:solidFill>
                      <a:schemeClr val="tx1"/>
                    </a:solidFill>
                    <a:effectLst/>
                    <a:latin typeface="+mn-lt"/>
                    <a:ea typeface="+mn-ea"/>
                    <a:cs typeface="+mn-cs"/>
                  </a:rPr>
                  <a:t>代表</a:t>
                </a:r>
                <a14:m>
                  <m:oMath xmlns:m="http://schemas.openxmlformats.org/officeDocument/2006/math">
                    <m:r>
                      <m:rPr>
                        <m:sty m:val="p"/>
                      </m:rPr>
                      <a:rPr lang="en-US" altLang="zh-CN" sz="1200" kern="1200">
                        <a:solidFill>
                          <a:schemeClr val="tx1"/>
                        </a:solidFill>
                        <a:effectLst/>
                        <a:latin typeface="Cambria Math" panose="02040503050406030204" pitchFamily="18" charset="0"/>
                        <a:ea typeface="+mn-ea"/>
                        <a:cs typeface="+mn-cs"/>
                      </a:rPr>
                      <m:t>cos</m:t>
                    </m:r>
                  </m:oMath>
                </a14:m>
                <a:r>
                  <a:rPr lang="zh-CN" altLang="zh-CN" sz="1200" kern="1200" dirty="0">
                    <a:solidFill>
                      <a:schemeClr val="tx1"/>
                    </a:solidFill>
                    <a:effectLst/>
                    <a:latin typeface="+mn-lt"/>
                    <a:ea typeface="+mn-ea"/>
                    <a:cs typeface="+mn-cs"/>
                  </a:rPr>
                  <a:t>，用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𝑆</m:t>
                    </m:r>
                  </m:oMath>
                </a14:m>
                <a:r>
                  <a:rPr lang="zh-CN" altLang="zh-CN" sz="1200" kern="1200" dirty="0">
                    <a:solidFill>
                      <a:schemeClr val="tx1"/>
                    </a:solidFill>
                    <a:effectLst/>
                    <a:latin typeface="+mn-lt"/>
                    <a:ea typeface="+mn-ea"/>
                    <a:cs typeface="+mn-cs"/>
                  </a:rPr>
                  <a:t>代表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𝑠𝑖𝑛</m:t>
                    </m:r>
                  </m:oMath>
                </a14:m>
                <a:r>
                  <a:rPr lang="zh-CN" altLang="zh-CN" sz="1200" kern="1200" dirty="0">
                    <a:solidFill>
                      <a:schemeClr val="tx1"/>
                    </a:solidFill>
                    <a:effectLst/>
                    <a:latin typeface="+mn-lt"/>
                    <a:ea typeface="+mn-ea"/>
                    <a:cs typeface="+mn-cs"/>
                  </a:rPr>
                  <a:t>。</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76</a:t>
            </a:fld>
            <a:endParaRPr lang="zh-CN" altLang="en-US"/>
          </a:p>
        </p:txBody>
      </p:sp>
    </p:spTree>
    <p:extLst>
      <p:ext uri="{BB962C8B-B14F-4D97-AF65-F5344CB8AC3E}">
        <p14:creationId xmlns:p14="http://schemas.microsoft.com/office/powerpoint/2010/main" val="97278432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三角代换，两角和差公式</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77</a:t>
            </a:fld>
            <a:endParaRPr lang="zh-CN" altLang="en-US"/>
          </a:p>
        </p:txBody>
      </p:sp>
    </p:spTree>
    <p:extLst>
      <p:ext uri="{BB962C8B-B14F-4D97-AF65-F5344CB8AC3E}">
        <p14:creationId xmlns:p14="http://schemas.microsoft.com/office/powerpoint/2010/main" val="202609035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请注意式</a:t>
                </a:r>
                <a:r>
                  <a:rPr lang="en-US" altLang="zh-CN" sz="1200" kern="1200" dirty="0">
                    <a:solidFill>
                      <a:schemeClr val="tx1"/>
                    </a:solidFill>
                    <a:effectLst/>
                    <a:latin typeface="+mn-lt"/>
                    <a:ea typeface="+mn-ea"/>
                    <a:cs typeface="+mn-cs"/>
                  </a:rPr>
                  <a:t>(3-62)</a:t>
                </a:r>
                <a:r>
                  <a:rPr lang="zh-CN" altLang="zh-CN" sz="1200" kern="1200" dirty="0">
                    <a:solidFill>
                      <a:schemeClr val="tx1"/>
                    </a:solidFill>
                    <a:effectLst/>
                    <a:latin typeface="+mn-lt"/>
                    <a:ea typeface="+mn-ea"/>
                    <a:cs typeface="+mn-cs"/>
                  </a:rPr>
                  <a:t>的正负号，</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可以解出两种解，但必须满足</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𝑚</m:t>
                        </m:r>
                      </m:e>
                      <m:sup>
                        <m:r>
                          <a:rPr lang="en-US" altLang="zh-CN" sz="1200" i="1" kern="1200">
                            <a:solidFill>
                              <a:schemeClr val="tx1"/>
                            </a:solidFill>
                            <a:effectLst/>
                            <a:latin typeface="Cambria Math" panose="02040503050406030204" pitchFamily="18" charset="0"/>
                            <a:ea typeface="+mn-ea"/>
                            <a:cs typeface="+mn-cs"/>
                          </a:rPr>
                          <m:t>2</m:t>
                        </m:r>
                      </m:sup>
                    </m:sSup>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𝑛</m:t>
                        </m:r>
                      </m:e>
                      <m:sup>
                        <m:r>
                          <a:rPr lang="en-US" altLang="zh-CN" sz="1200" i="1" kern="1200">
                            <a:solidFill>
                              <a:schemeClr val="tx1"/>
                            </a:solidFill>
                            <a:effectLst/>
                            <a:latin typeface="Cambria Math" panose="02040503050406030204" pitchFamily="18" charset="0"/>
                            <a:ea typeface="+mn-ea"/>
                            <a:cs typeface="+mn-cs"/>
                          </a:rPr>
                          <m:t>2</m:t>
                        </m:r>
                      </m:sup>
                    </m:sSup>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𝑑</m:t>
                            </m:r>
                          </m:e>
                          <m:sub>
                            <m:r>
                              <a:rPr lang="en-US" altLang="zh-CN" sz="1200" i="1" kern="1200">
                                <a:solidFill>
                                  <a:schemeClr val="tx1"/>
                                </a:solidFill>
                                <a:effectLst/>
                                <a:latin typeface="Cambria Math" panose="02040503050406030204" pitchFamily="18" charset="0"/>
                                <a:ea typeface="+mn-ea"/>
                                <a:cs typeface="+mn-cs"/>
                              </a:rPr>
                              <m:t>4</m:t>
                            </m:r>
                          </m:sub>
                        </m:sSub>
                      </m:e>
                      <m:sup>
                        <m:r>
                          <a:rPr lang="en-US" altLang="zh-CN" sz="1200" i="1" kern="1200">
                            <a:solidFill>
                              <a:schemeClr val="tx1"/>
                            </a:solidFill>
                            <a:effectLst/>
                            <a:latin typeface="Cambria Math" panose="02040503050406030204" pitchFamily="18" charset="0"/>
                            <a:ea typeface="+mn-ea"/>
                            <a:cs typeface="+mn-cs"/>
                          </a:rPr>
                          <m:t>2</m:t>
                        </m:r>
                      </m:sup>
                    </m:sSup>
                    <m:r>
                      <a:rPr lang="en-US" altLang="zh-CN" sz="1200" i="1"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78</a:t>
            </a:fld>
            <a:endParaRPr lang="zh-CN" altLang="en-US"/>
          </a:p>
        </p:txBody>
      </p:sp>
    </p:spTree>
    <p:extLst>
      <p:ext uri="{BB962C8B-B14F-4D97-AF65-F5344CB8AC3E}">
        <p14:creationId xmlns:p14="http://schemas.microsoft.com/office/powerpoint/2010/main" val="182641046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zh-CN" altLang="zh-CN" sz="1200" i="1" kern="1200" smtClean="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5</m:t>
                        </m:r>
                      </m:sub>
                    </m:sSub>
                  </m:oMath>
                </a14:m>
                <a:r>
                  <a:rPr lang="zh-CN" altLang="zh-CN" sz="1200" kern="1200" dirty="0">
                    <a:solidFill>
                      <a:schemeClr val="tx1"/>
                    </a:solidFill>
                    <a:effectLst/>
                    <a:latin typeface="+mn-lt"/>
                    <a:ea typeface="+mn-ea"/>
                    <a:cs typeface="+mn-cs"/>
                  </a:rPr>
                  <a:t>也可以解出两种解，但必须满足</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13</m:t>
                            </m:r>
                          </m:sub>
                        </m:sSub>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23</m:t>
                            </m:r>
                          </m:sub>
                        </m:sSub>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≤1</m:t>
                    </m:r>
                  </m:oMath>
                </a14:m>
                <a:r>
                  <a:rPr lang="zh-CN" altLang="zh-CN" sz="1200" kern="1200" dirty="0">
                    <a:solidFill>
                      <a:schemeClr val="tx1"/>
                    </a:solidFill>
                    <a:effectLst/>
                    <a:latin typeface="+mn-lt"/>
                    <a:ea typeface="+mn-ea"/>
                    <a:cs typeface="+mn-cs"/>
                  </a:rPr>
                  <a:t>。</a:t>
                </a:r>
              </a:p>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79</a:t>
            </a:fld>
            <a:endParaRPr lang="zh-CN" altLang="en-US"/>
          </a:p>
        </p:txBody>
      </p:sp>
    </p:spTree>
    <p:extLst>
      <p:ext uri="{BB962C8B-B14F-4D97-AF65-F5344CB8AC3E}">
        <p14:creationId xmlns:p14="http://schemas.microsoft.com/office/powerpoint/2010/main" val="48453347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其实通过（</a:t>
                </a:r>
                <a:r>
                  <a:rPr lang="en-US" altLang="zh-CN" sz="1200" kern="1200" dirty="0">
                    <a:solidFill>
                      <a:schemeClr val="tx1"/>
                    </a:solidFill>
                    <a:effectLst/>
                    <a:latin typeface="+mn-lt"/>
                    <a:ea typeface="+mn-ea"/>
                    <a:cs typeface="+mn-cs"/>
                  </a:rPr>
                  <a:t>3-61</a:t>
                </a:r>
                <a:r>
                  <a:rPr lang="zh-CN" altLang="zh-CN" sz="1200" kern="1200" dirty="0">
                    <a:solidFill>
                      <a:schemeClr val="tx1"/>
                    </a:solidFill>
                    <a:effectLst/>
                    <a:latin typeface="+mn-lt"/>
                    <a:ea typeface="+mn-ea"/>
                    <a:cs typeface="+mn-cs"/>
                  </a:rPr>
                  <a:t>）等式两边第</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行第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列相等，也可以得到：</a:t>
                </a:r>
              </a:p>
              <a:p>
                <a:pPr/>
                <a14:m>
                  <m:oMathPara xmlns:m="http://schemas.openxmlformats.org/officeDocument/2006/math">
                    <m:oMathParaPr>
                      <m:jc m:val="centerGroup"/>
                    </m:oMathParaPr>
                    <m:oMath xmlns:m="http://schemas.openxmlformats.org/officeDocument/2006/math">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12</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22</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sub>
                          </m:sSub>
                        </m:e>
                      </m:d>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6</m:t>
                          </m:r>
                        </m:sub>
                      </m:sSub>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11</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21</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sub>
                          </m:sSub>
                        </m:e>
                      </m:d>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6</m:t>
                          </m:r>
                        </m:sub>
                      </m:sSub>
                      <m:r>
                        <a:rPr lang="en-US" altLang="zh-CN" sz="1200" i="1" kern="1200">
                          <a:solidFill>
                            <a:schemeClr val="tx1"/>
                          </a:solidFill>
                          <a:effectLst/>
                          <a:latin typeface="Cambria Math" panose="02040503050406030204" pitchFamily="18" charset="0"/>
                          <a:ea typeface="+mn-ea"/>
                          <a:cs typeface="+mn-cs"/>
                        </a:rPr>
                        <m:t>=0</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得出：</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6</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𝑎𝑡𝑎𝑛</m:t>
                    </m:r>
                    <m:r>
                      <a:rPr lang="en-US" altLang="zh-CN" sz="1200" i="1" kern="1200">
                        <a:solidFill>
                          <a:schemeClr val="tx1"/>
                        </a:solidFill>
                        <a:effectLst/>
                        <a:latin typeface="Cambria Math" panose="02040503050406030204" pitchFamily="18" charset="0"/>
                        <a:ea typeface="+mn-ea"/>
                        <a:cs typeface="+mn-cs"/>
                      </a:rPr>
                      <m:t>2</m:t>
                    </m:r>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12</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22</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sub>
                            </m:sSub>
                          </m:num>
                          <m:den>
                            <m:d>
                              <m:dPr>
                                <m:ctrlPr>
                                  <a:rPr lang="zh-CN" altLang="zh-CN" sz="1200" i="1" kern="1200">
                                    <a:solidFill>
                                      <a:schemeClr val="tx1"/>
                                    </a:solidFill>
                                    <a:effectLst/>
                                    <a:latin typeface="Cambria Math" panose="02040503050406030204" pitchFamily="18" charset="0"/>
                                    <a:ea typeface="+mn-ea"/>
                                    <a:cs typeface="+mn-cs"/>
                                  </a:rPr>
                                </m:ctrlPr>
                              </m:d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11</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𝑆</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𝑟</m:t>
                                    </m:r>
                                  </m:e>
                                  <m:sub>
                                    <m:r>
                                      <a:rPr lang="en-US" altLang="zh-CN" sz="1200" i="1" kern="1200">
                                        <a:solidFill>
                                          <a:schemeClr val="tx1"/>
                                        </a:solidFill>
                                        <a:effectLst/>
                                        <a:latin typeface="Cambria Math" panose="02040503050406030204" pitchFamily="18" charset="0"/>
                                        <a:ea typeface="+mn-ea"/>
                                        <a:cs typeface="+mn-cs"/>
                                      </a:rPr>
                                      <m:t>21</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1</m:t>
                                    </m:r>
                                  </m:sub>
                                </m:sSub>
                              </m:e>
                            </m:d>
                          </m:den>
                        </m:f>
                      </m:e>
                    </m:d>
                  </m:oMath>
                </a14:m>
                <a:r>
                  <a:rPr lang="en-US" altLang="zh-CN" sz="1200" kern="1200" dirty="0">
                    <a:solidFill>
                      <a:schemeClr val="tx1"/>
                    </a:solidFill>
                    <a:effectLst/>
                    <a:latin typeface="+mn-lt"/>
                    <a:ea typeface="+mn-ea"/>
                    <a:cs typeface="+mn-cs"/>
                  </a:rPr>
                  <a:t>  (3-65)</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80</a:t>
            </a:fld>
            <a:endParaRPr lang="zh-CN" altLang="en-US"/>
          </a:p>
        </p:txBody>
      </p:sp>
    </p:spTree>
    <p:extLst>
      <p:ext uri="{BB962C8B-B14F-4D97-AF65-F5344CB8AC3E}">
        <p14:creationId xmlns:p14="http://schemas.microsoft.com/office/powerpoint/2010/main" val="138636485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82</a:t>
            </a:fld>
            <a:endParaRPr lang="zh-CN" altLang="en-US"/>
          </a:p>
        </p:txBody>
      </p:sp>
    </p:spTree>
    <p:extLst>
      <p:ext uri="{BB962C8B-B14F-4D97-AF65-F5344CB8AC3E}">
        <p14:creationId xmlns:p14="http://schemas.microsoft.com/office/powerpoint/2010/main" val="141800577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从上述求解过程中，我们可以看出解析法解这种非线性超越方程，其技巧就在于如何通过矩阵逆变换以及中间矩阵进行观察对比，这种方法一般被称为</a:t>
                </a:r>
                <a:r>
                  <a:rPr lang="en-US" altLang="zh-CN" sz="1200" kern="1200" dirty="0" smtClean="0">
                    <a:solidFill>
                      <a:schemeClr val="tx1"/>
                    </a:solidFill>
                    <a:effectLst/>
                    <a:latin typeface="+mn-lt"/>
                    <a:ea typeface="+mn-ea"/>
                    <a:cs typeface="+mn-cs"/>
                  </a:rPr>
                  <a:t>Paul</a:t>
                </a:r>
                <a:r>
                  <a:rPr lang="zh-CN" altLang="zh-CN" sz="1200" kern="1200" dirty="0" smtClean="0">
                    <a:solidFill>
                      <a:schemeClr val="tx1"/>
                    </a:solidFill>
                    <a:effectLst/>
                    <a:latin typeface="+mn-lt"/>
                    <a:ea typeface="+mn-ea"/>
                    <a:cs typeface="+mn-cs"/>
                  </a:rPr>
                  <a:t>反变换法。如果我们能够发现等式两边第一个只包含一个角度变量的对应项，则我们就找到了打开这个方程解的一把特殊钥匙，后面的工作就会迎刃而解。上面这个</a:t>
                </a:r>
                <a:r>
                  <a:rPr lang="en-US" altLang="zh-CN" sz="1200" kern="1200" dirty="0" smtClean="0">
                    <a:solidFill>
                      <a:schemeClr val="tx1"/>
                    </a:solidFill>
                    <a:effectLst/>
                    <a:latin typeface="+mn-lt"/>
                    <a:ea typeface="+mn-ea"/>
                    <a:cs typeface="+mn-cs"/>
                  </a:rPr>
                  <a:t>MDH</a:t>
                </a:r>
                <a:r>
                  <a:rPr lang="zh-CN" altLang="zh-CN" sz="1200" kern="1200" dirty="0" smtClean="0">
                    <a:solidFill>
                      <a:schemeClr val="tx1"/>
                    </a:solidFill>
                    <a:effectLst/>
                    <a:latin typeface="+mn-lt"/>
                    <a:ea typeface="+mn-ea"/>
                    <a:cs typeface="+mn-cs"/>
                  </a:rPr>
                  <a:t>表示法的解析解和一般教科书上采用</a:t>
                </a:r>
                <a:r>
                  <a:rPr lang="en-US" altLang="zh-CN" sz="1200" kern="1200" dirty="0" smtClean="0">
                    <a:solidFill>
                      <a:schemeClr val="tx1"/>
                    </a:solidFill>
                    <a:effectLst/>
                    <a:latin typeface="+mn-lt"/>
                    <a:ea typeface="+mn-ea"/>
                    <a:cs typeface="+mn-cs"/>
                  </a:rPr>
                  <a:t>SDH</a:t>
                </a:r>
                <a:r>
                  <a:rPr lang="zh-CN" altLang="zh-CN" sz="1200" kern="1200" dirty="0" smtClean="0">
                    <a:solidFill>
                      <a:schemeClr val="tx1"/>
                    </a:solidFill>
                    <a:effectLst/>
                    <a:latin typeface="+mn-lt"/>
                    <a:ea typeface="+mn-ea"/>
                    <a:cs typeface="+mn-cs"/>
                  </a:rPr>
                  <a:t>表示法的解析解方法大同小异，区别在于我们在等式两边同时乘了两个逆矩阵，一般教科书</a:t>
                </a:r>
                <a:r>
                  <a:rPr lang="en-US" altLang="zh-CN" sz="1200" kern="1200" dirty="0" smtClean="0">
                    <a:solidFill>
                      <a:schemeClr val="tx1"/>
                    </a:solidFill>
                    <a:effectLst/>
                    <a:latin typeface="+mn-lt"/>
                    <a:ea typeface="+mn-ea"/>
                    <a:cs typeface="+mn-cs"/>
                  </a:rPr>
                  <a:t>6R</a:t>
                </a:r>
                <a:r>
                  <a:rPr lang="zh-CN" altLang="zh-CN" sz="1200" kern="1200" dirty="0" smtClean="0">
                    <a:solidFill>
                      <a:schemeClr val="tx1"/>
                    </a:solidFill>
                    <a:effectLst/>
                    <a:latin typeface="+mn-lt"/>
                    <a:ea typeface="+mn-ea"/>
                    <a:cs typeface="+mn-cs"/>
                  </a:rPr>
                  <a:t>串联机械臂的解析解可以解出最多</a:t>
                </a:r>
                <a:r>
                  <a:rPr lang="en-US" altLang="zh-CN" sz="1200" kern="1200" dirty="0" smtClean="0">
                    <a:solidFill>
                      <a:schemeClr val="tx1"/>
                    </a:solidFill>
                    <a:effectLst/>
                    <a:latin typeface="+mn-lt"/>
                    <a:ea typeface="+mn-ea"/>
                    <a:cs typeface="+mn-cs"/>
                  </a:rPr>
                  <a:t>8</a:t>
                </a:r>
                <a:r>
                  <a:rPr lang="zh-CN" altLang="zh-CN" sz="1200" kern="1200" dirty="0" smtClean="0">
                    <a:solidFill>
                      <a:schemeClr val="tx1"/>
                    </a:solidFill>
                    <a:effectLst/>
                    <a:latin typeface="+mn-lt"/>
                    <a:ea typeface="+mn-ea"/>
                    <a:cs typeface="+mn-cs"/>
                  </a:rPr>
                  <a:t>组解。这种方法解出来的解实际并不是完全解，理论上来说，经过</a:t>
                </a:r>
                <a:r>
                  <a:rPr lang="en-US" altLang="zh-CN" sz="1200" kern="1200" dirty="0" smtClean="0">
                    <a:solidFill>
                      <a:schemeClr val="tx1"/>
                    </a:solidFill>
                    <a:effectLst/>
                    <a:latin typeface="+mn-lt"/>
                    <a:ea typeface="+mn-ea"/>
                    <a:cs typeface="+mn-cs"/>
                  </a:rPr>
                  <a:t>Roth</a:t>
                </a:r>
                <a:r>
                  <a:rPr lang="zh-CN" altLang="zh-CN" sz="1200" kern="1200" dirty="0" smtClean="0">
                    <a:solidFill>
                      <a:schemeClr val="tx1"/>
                    </a:solidFill>
                    <a:effectLst/>
                    <a:latin typeface="+mn-lt"/>
                    <a:ea typeface="+mn-ea"/>
                    <a:cs typeface="+mn-cs"/>
                  </a:rPr>
                  <a:t>和</a:t>
                </a:r>
                <a:r>
                  <a:rPr lang="en-US" altLang="zh-CN" sz="1200" kern="1200" dirty="0" smtClean="0">
                    <a:solidFill>
                      <a:schemeClr val="tx1"/>
                    </a:solidFill>
                    <a:effectLst/>
                    <a:latin typeface="+mn-lt"/>
                    <a:ea typeface="+mn-ea"/>
                    <a:cs typeface="+mn-cs"/>
                  </a:rPr>
                  <a:t>Tsai</a:t>
                </a:r>
                <a:r>
                  <a:rPr lang="zh-CN" altLang="zh-CN" sz="1200" kern="1200" dirty="0" smtClean="0">
                    <a:solidFill>
                      <a:schemeClr val="tx1"/>
                    </a:solidFill>
                    <a:effectLst/>
                    <a:latin typeface="+mn-lt"/>
                    <a:ea typeface="+mn-ea"/>
                    <a:cs typeface="+mn-cs"/>
                  </a:rPr>
                  <a:t>等人研究发现，对于串联机械臂，其逆解个数取决于机器人关节数目、机器人的构型以及关节运动范围，决定机器人构型的</a:t>
                </a:r>
                <a:r>
                  <a:rPr lang="en-US" altLang="zh-CN" sz="1200" kern="1200" dirty="0" smtClean="0">
                    <a:solidFill>
                      <a:schemeClr val="tx1"/>
                    </a:solidFill>
                    <a:effectLst/>
                    <a:latin typeface="+mn-lt"/>
                    <a:ea typeface="+mn-ea"/>
                    <a:cs typeface="+mn-cs"/>
                  </a:rPr>
                  <a:t>DH</a:t>
                </a:r>
                <a:r>
                  <a:rPr lang="zh-CN" altLang="zh-CN" sz="1200" kern="1200" dirty="0" smtClean="0">
                    <a:solidFill>
                      <a:schemeClr val="tx1"/>
                    </a:solidFill>
                    <a:effectLst/>
                    <a:latin typeface="+mn-lt"/>
                    <a:ea typeface="+mn-ea"/>
                    <a:cs typeface="+mn-cs"/>
                  </a:rPr>
                  <a:t>参数表中的非零值越多，就有越多的解存在。处于</a:t>
                </a:r>
                <a:r>
                  <a:rPr lang="en-US" altLang="zh-CN" sz="1200" kern="1200" dirty="0" smtClean="0">
                    <a:solidFill>
                      <a:schemeClr val="tx1"/>
                    </a:solidFill>
                    <a:effectLst/>
                    <a:latin typeface="+mn-lt"/>
                    <a:ea typeface="+mn-ea"/>
                    <a:cs typeface="+mn-cs"/>
                  </a:rPr>
                  <a:t>6R</a:t>
                </a:r>
                <a:r>
                  <a:rPr lang="zh-CN" altLang="zh-CN" sz="1200" kern="1200" dirty="0" smtClean="0">
                    <a:solidFill>
                      <a:schemeClr val="tx1"/>
                    </a:solidFill>
                    <a:effectLst/>
                    <a:latin typeface="+mn-lt"/>
                    <a:ea typeface="+mn-ea"/>
                    <a:cs typeface="+mn-cs"/>
                  </a:rPr>
                  <a:t>机械臂灵巧空间中的作业位姿，存在的封闭解数目最多可达</a:t>
                </a:r>
                <a:r>
                  <a:rPr lang="en-US" altLang="zh-CN" sz="1200" kern="1200" dirty="0" smtClean="0">
                    <a:solidFill>
                      <a:schemeClr val="tx1"/>
                    </a:solidFill>
                    <a:effectLst/>
                    <a:latin typeface="+mn-lt"/>
                    <a:ea typeface="+mn-ea"/>
                    <a:cs typeface="+mn-cs"/>
                  </a:rPr>
                  <a:t>16</a:t>
                </a:r>
                <a:r>
                  <a:rPr lang="zh-CN" altLang="zh-CN" sz="1200" kern="1200" dirty="0" smtClean="0">
                    <a:solidFill>
                      <a:schemeClr val="tx1"/>
                    </a:solidFill>
                    <a:effectLst/>
                    <a:latin typeface="+mn-lt"/>
                    <a:ea typeface="+mn-ea"/>
                    <a:cs typeface="+mn-cs"/>
                  </a:rPr>
                  <a:t>组。表</a:t>
                </a:r>
                <a:r>
                  <a:rPr lang="en-US" altLang="zh-CN" sz="1200" kern="1200" dirty="0" smtClean="0">
                    <a:solidFill>
                      <a:schemeClr val="tx1"/>
                    </a:solidFill>
                    <a:effectLst/>
                    <a:latin typeface="+mn-lt"/>
                    <a:ea typeface="+mn-ea"/>
                    <a:cs typeface="+mn-cs"/>
                  </a:rPr>
                  <a:t>3-6</a:t>
                </a:r>
                <a:r>
                  <a:rPr lang="zh-CN" altLang="zh-CN" sz="1200" kern="1200" dirty="0" smtClean="0">
                    <a:solidFill>
                      <a:schemeClr val="tx1"/>
                    </a:solidFill>
                    <a:effectLst/>
                    <a:latin typeface="+mn-lt"/>
                    <a:ea typeface="+mn-ea"/>
                    <a:cs typeface="+mn-cs"/>
                  </a:rPr>
                  <a:t>展示了封闭解的最大数量与</a:t>
                </a:r>
                <a:r>
                  <a:rPr lang="en-US" altLang="zh-CN" sz="1200" kern="1200" dirty="0" smtClean="0">
                    <a:solidFill>
                      <a:schemeClr val="tx1"/>
                    </a:solidFill>
                    <a:effectLst/>
                    <a:latin typeface="+mn-lt"/>
                    <a:ea typeface="+mn-ea"/>
                    <a:cs typeface="+mn-cs"/>
                  </a:rPr>
                  <a:t>DH</a:t>
                </a:r>
                <a:r>
                  <a:rPr lang="zh-CN" altLang="zh-CN" sz="1200" kern="1200" dirty="0" smtClean="0">
                    <a:solidFill>
                      <a:schemeClr val="tx1"/>
                    </a:solidFill>
                    <a:effectLst/>
                    <a:latin typeface="+mn-lt"/>
                    <a:ea typeface="+mn-ea"/>
                    <a:cs typeface="+mn-cs"/>
                  </a:rPr>
                  <a:t>参数中非零值连杆长度参数</a:t>
                </a:r>
                <a:r>
                  <a:rPr lang="en-US" altLang="zh-CN" sz="1200" kern="1200" dirty="0" smtClean="0">
                    <a:solidFill>
                      <a:schemeClr val="tx1"/>
                    </a:solidFill>
                    <a:effectLst/>
                    <a:latin typeface="+mn-lt"/>
                    <a:ea typeface="+mn-ea"/>
                    <a:cs typeface="+mn-cs"/>
                  </a:rPr>
                  <a:t>a</a:t>
                </a:r>
                <a:r>
                  <a:rPr lang="zh-CN" altLang="zh-CN" sz="1200" kern="1200" dirty="0" smtClean="0">
                    <a:solidFill>
                      <a:schemeClr val="tx1"/>
                    </a:solidFill>
                    <a:effectLst/>
                    <a:latin typeface="+mn-lt"/>
                    <a:ea typeface="+mn-ea"/>
                    <a:cs typeface="+mn-cs"/>
                  </a:rPr>
                  <a:t>之间的关系。</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83</a:t>
            </a:fld>
            <a:endParaRPr lang="zh-CN" altLang="en-US"/>
          </a:p>
        </p:txBody>
      </p:sp>
    </p:spTree>
    <p:extLst>
      <p:ext uri="{BB962C8B-B14F-4D97-AF65-F5344CB8AC3E}">
        <p14:creationId xmlns:p14="http://schemas.microsoft.com/office/powerpoint/2010/main" val="114000174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84</a:t>
            </a:fld>
            <a:endParaRPr lang="zh-CN" altLang="en-US"/>
          </a:p>
        </p:txBody>
      </p:sp>
    </p:spTree>
    <p:extLst>
      <p:ext uri="{BB962C8B-B14F-4D97-AF65-F5344CB8AC3E}">
        <p14:creationId xmlns:p14="http://schemas.microsoft.com/office/powerpoint/2010/main" val="78586976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85</a:t>
            </a:fld>
            <a:endParaRPr lang="zh-CN" altLang="en-US"/>
          </a:p>
        </p:txBody>
      </p:sp>
    </p:spTree>
    <p:extLst>
      <p:ext uri="{BB962C8B-B14F-4D97-AF65-F5344CB8AC3E}">
        <p14:creationId xmlns:p14="http://schemas.microsoft.com/office/powerpoint/2010/main" val="339165861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该方法，第一步就可以求出机器人的第一个关节角，其好处是可以通过判断</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，确保机器人用哪一种手型比较合适。</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有两个解，一个是左手型，另一个是右手型。</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86</a:t>
            </a:fld>
            <a:endParaRPr lang="zh-CN" altLang="en-US"/>
          </a:p>
        </p:txBody>
      </p:sp>
    </p:spTree>
    <p:extLst>
      <p:ext uri="{BB962C8B-B14F-4D97-AF65-F5344CB8AC3E}">
        <p14:creationId xmlns:p14="http://schemas.microsoft.com/office/powerpoint/2010/main" val="50069982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zh-CN" altLang="zh-CN" sz="1200" i="1" kern="1200" smtClean="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5</m:t>
                        </m:r>
                      </m:sub>
                    </m:sSub>
                  </m:oMath>
                </a14:m>
                <a:r>
                  <a:rPr lang="zh-CN" altLang="zh-CN" sz="1200" kern="1200" dirty="0">
                    <a:solidFill>
                      <a:schemeClr val="tx1"/>
                    </a:solidFill>
                    <a:effectLst/>
                    <a:latin typeface="+mn-lt"/>
                    <a:ea typeface="+mn-ea"/>
                    <a:cs typeface="+mn-cs"/>
                  </a:rPr>
                  <a:t>有两个解，对应的是坐标系</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，也就是腕部关节是在“上”还是在“下”。无论上下，末端的姿态都将会由</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6</m:t>
                        </m:r>
                      </m:sub>
                    </m:sSub>
                  </m:oMath>
                </a14:m>
                <a:r>
                  <a:rPr lang="zh-CN" altLang="zh-CN" sz="1200" kern="1200" dirty="0">
                    <a:solidFill>
                      <a:schemeClr val="tx1"/>
                    </a:solidFill>
                    <a:effectLst/>
                    <a:latin typeface="+mn-lt"/>
                    <a:ea typeface="+mn-ea"/>
                    <a:cs typeface="+mn-cs"/>
                  </a:rPr>
                  <a:t>来纠正。需要注意的是</a:t>
                </a:r>
                <a:r>
                  <a:rPr lang="en-US" altLang="zh-CN" sz="1200" kern="1200" dirty="0" err="1">
                    <a:solidFill>
                      <a:schemeClr val="tx1"/>
                    </a:solidFill>
                    <a:effectLst/>
                    <a:latin typeface="+mn-lt"/>
                    <a:ea typeface="+mn-ea"/>
                    <a:cs typeface="+mn-cs"/>
                  </a:rPr>
                  <a:t>acos</a:t>
                </a:r>
                <a:r>
                  <a:rPr lang="zh-CN" altLang="zh-CN" sz="1200" kern="1200" dirty="0">
                    <a:solidFill>
                      <a:schemeClr val="tx1"/>
                    </a:solidFill>
                    <a:effectLst/>
                    <a:latin typeface="+mn-lt"/>
                    <a:ea typeface="+mn-ea"/>
                    <a:cs typeface="+mn-cs"/>
                  </a:rPr>
                  <a:t>函数里面计算出来的弧度不能大于</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，也就是：</a:t>
                </a:r>
              </a:p>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87</a:t>
            </a:fld>
            <a:endParaRPr lang="zh-CN" altLang="en-US"/>
          </a:p>
        </p:txBody>
      </p:sp>
    </p:spTree>
    <p:extLst>
      <p:ext uri="{BB962C8B-B14F-4D97-AF65-F5344CB8AC3E}">
        <p14:creationId xmlns:p14="http://schemas.microsoft.com/office/powerpoint/2010/main" val="210233568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解出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6</m:t>
                        </m:r>
                      </m:sub>
                    </m:sSub>
                  </m:oMath>
                </a14:m>
                <a:r>
                  <a:rPr lang="zh-CN" altLang="zh-CN" sz="1200" kern="1200" dirty="0">
                    <a:solidFill>
                      <a:schemeClr val="tx1"/>
                    </a:solidFill>
                    <a:effectLst/>
                    <a:latin typeface="+mn-lt"/>
                    <a:ea typeface="+mn-ea"/>
                    <a:cs typeface="+mn-cs"/>
                  </a:rPr>
                  <a:t>，可以看出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𝑠𝑖𝑛</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5</m:t>
                        </m:r>
                      </m:sub>
                    </m:sSub>
                  </m:oMath>
                </a14:m>
                <a:r>
                  <a:rPr lang="zh-CN" altLang="zh-CN" sz="1200" kern="1200" dirty="0">
                    <a:solidFill>
                      <a:schemeClr val="tx1"/>
                    </a:solidFill>
                    <a:effectLst/>
                    <a:latin typeface="+mn-lt"/>
                    <a:ea typeface="+mn-ea"/>
                    <a:cs typeface="+mn-cs"/>
                  </a:rPr>
                  <a:t>不能为零，如果为零，就没解，在这种情况下，关节轴</a:t>
                </a:r>
                <a:r>
                  <a:rPr lang="en-US" altLang="zh-CN" sz="1200" kern="1200" dirty="0">
                    <a:solidFill>
                      <a:schemeClr val="tx1"/>
                    </a:solidFill>
                    <a:effectLst/>
                    <a:latin typeface="+mn-lt"/>
                    <a:ea typeface="+mn-ea"/>
                    <a:cs typeface="+mn-cs"/>
                  </a:rPr>
                  <a:t>2,3,4</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对齐（如图</a:t>
                </a:r>
                <a:r>
                  <a:rPr lang="en-US" altLang="zh-CN" sz="1200" kern="1200" dirty="0">
                    <a:solidFill>
                      <a:schemeClr val="tx1"/>
                    </a:solidFill>
                    <a:effectLst/>
                    <a:latin typeface="+mn-lt"/>
                    <a:ea typeface="+mn-ea"/>
                    <a:cs typeface="+mn-cs"/>
                  </a:rPr>
                  <a:t>3.26(b)</a:t>
                </a:r>
                <a:r>
                  <a:rPr lang="zh-CN" altLang="zh-CN" sz="1200" kern="1200" dirty="0">
                    <a:solidFill>
                      <a:schemeClr val="tx1"/>
                    </a:solidFill>
                    <a:effectLst/>
                    <a:latin typeface="+mn-lt"/>
                    <a:ea typeface="+mn-ea"/>
                    <a:cs typeface="+mn-cs"/>
                  </a:rPr>
                  <a:t>所示）， 这表示自由度“太多”了。</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88</a:t>
            </a:fld>
            <a:endParaRPr lang="zh-CN" altLang="en-US"/>
          </a:p>
        </p:txBody>
      </p:sp>
    </p:spTree>
    <p:extLst>
      <p:ext uri="{BB962C8B-B14F-4D97-AF65-F5344CB8AC3E}">
        <p14:creationId xmlns:p14="http://schemas.microsoft.com/office/powerpoint/2010/main" val="293434483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89</a:t>
            </a:fld>
            <a:endParaRPr lang="zh-CN" altLang="en-US"/>
          </a:p>
        </p:txBody>
      </p:sp>
    </p:spTree>
    <p:extLst>
      <p:ext uri="{BB962C8B-B14F-4D97-AF65-F5344CB8AC3E}">
        <p14:creationId xmlns:p14="http://schemas.microsoft.com/office/powerpoint/2010/main" val="403320762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90</a:t>
            </a:fld>
            <a:endParaRPr lang="zh-CN" altLang="en-US"/>
          </a:p>
        </p:txBody>
      </p:sp>
    </p:spTree>
    <p:extLst>
      <p:ext uri="{BB962C8B-B14F-4D97-AF65-F5344CB8AC3E}">
        <p14:creationId xmlns:p14="http://schemas.microsoft.com/office/powerpoint/2010/main" val="185069753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以上举例的封闭解方法，基本就是从正运动学的角度反推，是否可以找到等式两边可以首先解出某个单项元素的变换方法，如果第一个解找到了，那么后面的解就可以紧跟求出。按照这种思想，我们也可以采用四元数或对偶四元数的形式进行精确的逆解求解，基于四元数的逆解方法留待课后的作业。</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91</a:t>
            </a:fld>
            <a:endParaRPr lang="zh-CN" altLang="en-US"/>
          </a:p>
        </p:txBody>
      </p:sp>
    </p:spTree>
    <p:extLst>
      <p:ext uri="{BB962C8B-B14F-4D97-AF65-F5344CB8AC3E}">
        <p14:creationId xmlns:p14="http://schemas.microsoft.com/office/powerpoint/2010/main" val="271798610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在向量分析中，以普鲁士数学家卡尔·雅可比命名的矩阵称为雅可比矩阵（</a:t>
                </a:r>
                <a:r>
                  <a:rPr lang="en-US" altLang="zh-CN" sz="1200" kern="1200" dirty="0">
                    <a:solidFill>
                      <a:schemeClr val="tx1"/>
                    </a:solidFill>
                    <a:effectLst/>
                    <a:latin typeface="+mn-lt"/>
                    <a:ea typeface="+mn-ea"/>
                    <a:cs typeface="+mn-cs"/>
                  </a:rPr>
                  <a:t>Jacobian Matrix</a:t>
                </a:r>
                <a:r>
                  <a:rPr lang="zh-CN" altLang="zh-CN" sz="1200" kern="1200" dirty="0">
                    <a:solidFill>
                      <a:schemeClr val="tx1"/>
                    </a:solidFill>
                    <a:effectLst/>
                    <a:latin typeface="+mn-lt"/>
                    <a:ea typeface="+mn-ea"/>
                    <a:cs typeface="+mn-cs"/>
                  </a:rPr>
                  <a:t>），雅可比矩阵是函数的一阶偏导数以一定方式排列成的矩阵。如果函数</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𝑓</m:t>
                    </m:r>
                    <m:r>
                      <a:rPr lang="en-US" altLang="zh-CN" sz="1200" i="1" kern="1200">
                        <a:solidFill>
                          <a:schemeClr val="tx1"/>
                        </a:solidFill>
                        <a:effectLst/>
                        <a:latin typeface="Cambria Math" panose="02040503050406030204" pitchFamily="18" charset="0"/>
                        <a:ea typeface="+mn-ea"/>
                        <a:cs typeface="+mn-cs"/>
                      </a:rPr>
                      <m:t>: </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ℝ</m:t>
                        </m:r>
                      </m:e>
                      <m:sup>
                        <m:r>
                          <a:rPr lang="en-US" altLang="zh-CN" sz="1200" i="1" kern="1200">
                            <a:solidFill>
                              <a:schemeClr val="tx1"/>
                            </a:solidFill>
                            <a:effectLst/>
                            <a:latin typeface="Cambria Math" panose="02040503050406030204" pitchFamily="18" charset="0"/>
                            <a:ea typeface="+mn-ea"/>
                            <a:cs typeface="+mn-cs"/>
                          </a:rPr>
                          <m:t>𝑛</m:t>
                        </m:r>
                      </m:sup>
                    </m:sSup>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ℝ</m:t>
                        </m:r>
                      </m:e>
                      <m:sup>
                        <m:r>
                          <a:rPr lang="en-US" altLang="zh-CN" sz="1200" i="1" kern="1200">
                            <a:solidFill>
                              <a:schemeClr val="tx1"/>
                            </a:solidFill>
                            <a:effectLst/>
                            <a:latin typeface="Cambria Math" panose="02040503050406030204" pitchFamily="18" charset="0"/>
                            <a:ea typeface="+mn-ea"/>
                            <a:cs typeface="+mn-cs"/>
                          </a:rPr>
                          <m:t>𝑚</m:t>
                        </m:r>
                      </m:sup>
                    </m:sSup>
                  </m:oMath>
                </a14:m>
                <a:r>
                  <a:rPr lang="zh-CN" altLang="zh-CN" sz="1200" kern="1200" dirty="0">
                    <a:solidFill>
                      <a:schemeClr val="tx1"/>
                    </a:solidFill>
                    <a:effectLst/>
                    <a:latin typeface="+mn-lt"/>
                    <a:ea typeface="+mn-ea"/>
                    <a:cs typeface="+mn-cs"/>
                  </a:rPr>
                  <a:t>在点</a:t>
                </a:r>
                <a14:m>
                  <m:oMath xmlns:m="http://schemas.openxmlformats.org/officeDocument/2006/math">
                    <m:r>
                      <a:rPr lang="zh-CN" altLang="zh-CN" sz="1200" i="1"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𝑥</m:t>
                    </m:r>
                  </m:oMath>
                </a14:m>
                <a:r>
                  <a:rPr lang="zh-CN" altLang="zh-CN" sz="1200" kern="1200" dirty="0">
                    <a:solidFill>
                      <a:schemeClr val="tx1"/>
                    </a:solidFill>
                    <a:effectLst/>
                    <a:latin typeface="+mn-lt"/>
                    <a:ea typeface="+mn-ea"/>
                    <a:cs typeface="+mn-cs"/>
                  </a:rPr>
                  <a:t>可微分，则点</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𝑥</m:t>
                    </m:r>
                  </m:oMath>
                </a14:m>
                <a:r>
                  <a:rPr lang="zh-CN" altLang="zh-CN" sz="1200" kern="1200" dirty="0">
                    <a:solidFill>
                      <a:schemeClr val="tx1"/>
                    </a:solidFill>
                    <a:effectLst/>
                    <a:latin typeface="+mn-lt"/>
                    <a:ea typeface="+mn-ea"/>
                    <a:cs typeface="+mn-cs"/>
                  </a:rPr>
                  <a:t>的雅可比矩阵为该函数在该点的最佳线性逼近。</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92</a:t>
            </a:fld>
            <a:endParaRPr lang="zh-CN" altLang="en-US"/>
          </a:p>
        </p:txBody>
      </p:sp>
    </p:spTree>
    <p:extLst>
      <p:ext uri="{BB962C8B-B14F-4D97-AF65-F5344CB8AC3E}">
        <p14:creationId xmlns:p14="http://schemas.microsoft.com/office/powerpoint/2010/main" val="161808852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93</a:t>
            </a:fld>
            <a:endParaRPr lang="zh-CN" altLang="en-US"/>
          </a:p>
        </p:txBody>
      </p:sp>
    </p:spTree>
    <p:extLst>
      <p:ext uri="{BB962C8B-B14F-4D97-AF65-F5344CB8AC3E}">
        <p14:creationId xmlns:p14="http://schemas.microsoft.com/office/powerpoint/2010/main" val="294090924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94</a:t>
            </a:fld>
            <a:endParaRPr lang="zh-CN" altLang="en-US"/>
          </a:p>
        </p:txBody>
      </p:sp>
    </p:spTree>
    <p:extLst>
      <p:ext uri="{BB962C8B-B14F-4D97-AF65-F5344CB8AC3E}">
        <p14:creationId xmlns:p14="http://schemas.microsoft.com/office/powerpoint/2010/main" val="344471937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如果雅可比矩阵以全局固定坐标系做参考，则该雅可比被称为</a:t>
                </a:r>
                <a:r>
                  <a:rPr lang="zh-CN" altLang="zh-CN" sz="1200" b="1" kern="1200" dirty="0">
                    <a:solidFill>
                      <a:schemeClr val="tx1"/>
                    </a:solidFill>
                    <a:effectLst/>
                    <a:latin typeface="+mn-lt"/>
                    <a:ea typeface="+mn-ea"/>
                    <a:cs typeface="+mn-cs"/>
                  </a:rPr>
                  <a:t>空间雅可比</a:t>
                </a:r>
                <a:r>
                  <a:rPr lang="en-US" altLang="zh-CN" sz="1200" kern="1200" dirty="0">
                    <a:solidFill>
                      <a:schemeClr val="tx1"/>
                    </a:solidFill>
                    <a:effectLst/>
                    <a:latin typeface="+mn-lt"/>
                    <a:ea typeface="+mn-ea"/>
                    <a:cs typeface="+mn-cs"/>
                  </a:rPr>
                  <a:t>(Space Jacobian, </a:t>
                </a:r>
                <a:r>
                  <a:rPr lang="zh-CN" altLang="zh-CN" sz="1200" kern="1200" dirty="0">
                    <a:solidFill>
                      <a:schemeClr val="tx1"/>
                    </a:solidFill>
                    <a:effectLst/>
                    <a:latin typeface="+mn-lt"/>
                    <a:ea typeface="+mn-ea"/>
                    <a:cs typeface="+mn-cs"/>
                  </a:rPr>
                  <a:t>常写作</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𝑠</m:t>
                        </m:r>
                      </m:sub>
                    </m:sSub>
                  </m:oMath>
                </a14:m>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，如果参考坐标系为末端坐标系，则称为</a:t>
                </a:r>
                <a:r>
                  <a:rPr lang="zh-CN" altLang="zh-CN" sz="1200" b="1" kern="1200" dirty="0">
                    <a:solidFill>
                      <a:schemeClr val="tx1"/>
                    </a:solidFill>
                    <a:effectLst/>
                    <a:latin typeface="+mn-lt"/>
                    <a:ea typeface="+mn-ea"/>
                    <a:cs typeface="+mn-cs"/>
                  </a:rPr>
                  <a:t>物体雅可比</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Body Jacobian, </a:t>
                </a:r>
                <a:r>
                  <a:rPr lang="zh-CN" altLang="zh-CN" sz="1200" kern="1200" dirty="0">
                    <a:solidFill>
                      <a:schemeClr val="tx1"/>
                    </a:solidFill>
                    <a:effectLst/>
                    <a:latin typeface="+mn-lt"/>
                    <a:ea typeface="+mn-ea"/>
                    <a:cs typeface="+mn-cs"/>
                  </a:rPr>
                  <a:t>常写作</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𝑏</m:t>
                        </m:r>
                      </m:sub>
                    </m:sSub>
                  </m:oMath>
                </a14:m>
                <a:r>
                  <a:rPr lang="zh-CN" altLang="zh-CN" sz="1200" kern="1200" dirty="0">
                    <a:solidFill>
                      <a:schemeClr val="tx1"/>
                    </a:solidFill>
                    <a:effectLst/>
                    <a:latin typeface="+mn-lt"/>
                    <a:ea typeface="+mn-ea"/>
                    <a:cs typeface="+mn-cs"/>
                  </a:rPr>
                  <a:t>）。从串联机械臂的转换关系来看，空间雅可比实际就是物体雅可比附加了一个从末端坐标系到全局坐标系的速度变换。</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95</a:t>
            </a:fld>
            <a:endParaRPr lang="zh-CN" altLang="en-US"/>
          </a:p>
        </p:txBody>
      </p:sp>
    </p:spTree>
    <p:extLst>
      <p:ext uri="{BB962C8B-B14F-4D97-AF65-F5344CB8AC3E}">
        <p14:creationId xmlns:p14="http://schemas.microsoft.com/office/powerpoint/2010/main" val="198970954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96</a:t>
            </a:fld>
            <a:endParaRPr lang="zh-CN" altLang="en-US"/>
          </a:p>
        </p:txBody>
      </p:sp>
    </p:spTree>
    <p:extLst>
      <p:ext uri="{BB962C8B-B14F-4D97-AF65-F5344CB8AC3E}">
        <p14:creationId xmlns:p14="http://schemas.microsoft.com/office/powerpoint/2010/main" val="415922358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从上面的步骤中，我们可以看出采用该方法求得的雅可比矩阵</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𝐽</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𝑠</m:t>
                        </m:r>
                      </m:sub>
                    </m:sSub>
                  </m:oMath>
                </a14:m>
                <a:r>
                  <a:rPr lang="zh-CN" altLang="zh-CN" sz="1200" kern="1200" dirty="0">
                    <a:solidFill>
                      <a:schemeClr val="tx1"/>
                    </a:solidFill>
                    <a:effectLst/>
                    <a:latin typeface="+mn-lt"/>
                    <a:ea typeface="+mn-ea"/>
                    <a:cs typeface="+mn-cs"/>
                  </a:rPr>
                  <a:t>，它是基于全局基坐标系</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描述的，机器人末端的线速度、角速度也都是基于基坐标系</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进行描述的。</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97</a:t>
            </a:fld>
            <a:endParaRPr lang="zh-CN" altLang="en-US"/>
          </a:p>
        </p:txBody>
      </p:sp>
    </p:spTree>
    <p:extLst>
      <p:ext uri="{BB962C8B-B14F-4D97-AF65-F5344CB8AC3E}">
        <p14:creationId xmlns:p14="http://schemas.microsoft.com/office/powerpoint/2010/main" val="285383378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板书推导过程</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98</a:t>
            </a:fld>
            <a:endParaRPr lang="zh-CN" altLang="en-US"/>
          </a:p>
        </p:txBody>
      </p:sp>
    </p:spTree>
    <p:extLst>
      <p:ext uri="{BB962C8B-B14F-4D97-AF65-F5344CB8AC3E}">
        <p14:creationId xmlns:p14="http://schemas.microsoft.com/office/powerpoint/2010/main" val="231885538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板书推导过程</a:t>
                </a:r>
                <a:endParaRPr lang="en-US" altLang="zh-CN" dirty="0" smtClean="0"/>
              </a:p>
              <a:p>
                <a:endParaRPr lang="en-US" altLang="zh-CN" dirty="0" smtClean="0"/>
              </a:p>
              <a:p>
                <a:r>
                  <a:rPr lang="zh-CN" altLang="zh-CN" sz="1200" kern="1200" dirty="0" smtClean="0">
                    <a:solidFill>
                      <a:schemeClr val="tx1"/>
                    </a:solidFill>
                    <a:effectLst/>
                    <a:latin typeface="+mn-lt"/>
                    <a:ea typeface="+mn-ea"/>
                    <a:cs typeface="+mn-cs"/>
                  </a:rPr>
                  <a:t>使用微分变换法的雅可比矩阵是在末端坐标系</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下求得的，称为物体雅可比矩阵，表示为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𝑏</m:t>
                        </m:r>
                      </m:sub>
                    </m:sSub>
                  </m:oMath>
                </a14:m>
                <a:r>
                  <a:rPr lang="zh-CN" altLang="zh-CN" sz="1200" kern="1200" dirty="0">
                    <a:solidFill>
                      <a:schemeClr val="tx1"/>
                    </a:solidFill>
                    <a:effectLst/>
                    <a:latin typeface="+mn-lt"/>
                    <a:ea typeface="+mn-ea"/>
                    <a:cs typeface="+mn-cs"/>
                  </a:rPr>
                  <a:t>，而矢量积法计算的雅可比矩阵是在基坐标下的，表示为</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0</m:t>
                        </m:r>
                      </m:sub>
                    </m:sSub>
                  </m:oMath>
                </a14:m>
                <a:r>
                  <a:rPr lang="zh-CN" altLang="zh-CN" sz="1200" kern="1200" dirty="0">
                    <a:solidFill>
                      <a:schemeClr val="tx1"/>
                    </a:solidFill>
                    <a:effectLst/>
                    <a:latin typeface="+mn-lt"/>
                    <a:ea typeface="+mn-ea"/>
                    <a:cs typeface="+mn-cs"/>
                  </a:rPr>
                  <a:t>。它们之间的关系为：</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𝑏</m:t>
                          </m:r>
                        </m:sub>
                      </m:sSub>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0</m:t>
                                        </m:r>
                                      </m:sup>
                                      <m:e>
                                        <m:r>
                                          <a:rPr lang="en-US" altLang="zh-CN" sz="1200" i="1" kern="1200">
                                            <a:solidFill>
                                              <a:schemeClr val="tx1"/>
                                            </a:solidFill>
                                            <a:effectLst/>
                                            <a:latin typeface="Cambria Math" panose="02040503050406030204" pitchFamily="18" charset="0"/>
                                            <a:ea typeface="+mn-ea"/>
                                            <a:cs typeface="+mn-cs"/>
                                          </a:rPr>
                                          <m:t>𝑅</m:t>
                                        </m:r>
                                      </m:e>
                                    </m:sPre>
                                  </m:e>
                                  <m:sub>
                                    <m:r>
                                      <a:rPr lang="en-US" altLang="zh-CN" sz="1200" i="1" kern="1200">
                                        <a:solidFill>
                                          <a:schemeClr val="tx1"/>
                                        </a:solidFill>
                                        <a:effectLst/>
                                        <a:latin typeface="Cambria Math" panose="02040503050406030204" pitchFamily="18" charset="0"/>
                                        <a:ea typeface="+mn-ea"/>
                                        <a:cs typeface="+mn-cs"/>
                                      </a:rPr>
                                      <m:t>𝑛</m:t>
                                    </m:r>
                                  </m:sub>
                                </m:sSub>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sSub>
                                  <m:sSubPr>
                                    <m:ctrlPr>
                                      <a:rPr lang="zh-CN" altLang="zh-CN" sz="1200" i="1" kern="1200">
                                        <a:solidFill>
                                          <a:schemeClr val="tx1"/>
                                        </a:solidFill>
                                        <a:effectLst/>
                                        <a:latin typeface="Cambria Math" panose="02040503050406030204" pitchFamily="18" charset="0"/>
                                        <a:ea typeface="+mn-ea"/>
                                        <a:cs typeface="+mn-cs"/>
                                      </a:rPr>
                                    </m:ctrlPr>
                                  </m:sSubPr>
                                  <m:e>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0</m:t>
                                        </m:r>
                                      </m:sup>
                                      <m:e>
                                        <m:r>
                                          <a:rPr lang="en-US" altLang="zh-CN" sz="1200" i="1" kern="1200">
                                            <a:solidFill>
                                              <a:schemeClr val="tx1"/>
                                            </a:solidFill>
                                            <a:effectLst/>
                                            <a:latin typeface="Cambria Math" panose="02040503050406030204" pitchFamily="18" charset="0"/>
                                            <a:ea typeface="+mn-ea"/>
                                            <a:cs typeface="+mn-cs"/>
                                          </a:rPr>
                                          <m:t>𝑅</m:t>
                                        </m:r>
                                      </m:e>
                                    </m:sPre>
                                  </m:e>
                                  <m:sub>
                                    <m:r>
                                      <a:rPr lang="en-US" altLang="zh-CN" sz="1200" i="1" kern="1200">
                                        <a:solidFill>
                                          <a:schemeClr val="tx1"/>
                                        </a:solidFill>
                                        <a:effectLst/>
                                        <a:latin typeface="Cambria Math" panose="02040503050406030204" pitchFamily="18" charset="0"/>
                                        <a:ea typeface="+mn-ea"/>
                                        <a:cs typeface="+mn-cs"/>
                                      </a:rPr>
                                      <m:t>𝑛</m:t>
                                    </m:r>
                                  </m:sub>
                                </m:sSub>
                              </m:e>
                            </m:mr>
                          </m:m>
                        </m:e>
                      </m:d>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𝑠</m:t>
                          </m:r>
                        </m:sub>
                      </m:sSub>
                    </m:oMath>
                  </m:oMathPara>
                </a14:m>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99</a:t>
            </a:fld>
            <a:endParaRPr lang="zh-CN" altLang="en-US"/>
          </a:p>
        </p:txBody>
      </p:sp>
    </p:spTree>
    <p:extLst>
      <p:ext uri="{BB962C8B-B14F-4D97-AF65-F5344CB8AC3E}">
        <p14:creationId xmlns:p14="http://schemas.microsoft.com/office/powerpoint/2010/main" val="312304652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板书推导过程</a:t>
                </a:r>
                <a:endParaRPr lang="en-US" altLang="zh-CN" dirty="0" smtClean="0"/>
              </a:p>
              <a:p>
                <a:r>
                  <a:rPr lang="zh-CN" altLang="zh-CN" sz="1200" kern="1200" dirty="0" smtClean="0">
                    <a:solidFill>
                      <a:schemeClr val="tx1"/>
                    </a:solidFill>
                    <a:effectLst/>
                    <a:latin typeface="+mn-lt"/>
                    <a:ea typeface="+mn-ea"/>
                    <a:cs typeface="+mn-cs"/>
                  </a:rPr>
                  <a:t>从形式上可以看出，该列表示了第</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𝑖</m:t>
                    </m:r>
                  </m:oMath>
                </a14:m>
                <a:r>
                  <a:rPr lang="zh-CN" altLang="zh-CN" sz="1200" kern="1200" dirty="0">
                    <a:solidFill>
                      <a:schemeClr val="tx1"/>
                    </a:solidFill>
                    <a:effectLst/>
                    <a:latin typeface="+mn-lt"/>
                    <a:ea typeface="+mn-ea"/>
                    <a:cs typeface="+mn-cs"/>
                  </a:rPr>
                  <a:t>个关节旋转轴相对于基坐标系的运动旋量，为关节变量</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 ⋯,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Sub>
                  </m:oMath>
                </a14:m>
                <a:r>
                  <a:rPr lang="zh-CN" altLang="zh-CN" sz="1200" kern="1200" dirty="0">
                    <a:solidFill>
                      <a:schemeClr val="tx1"/>
                    </a:solidFill>
                    <a:effectLst/>
                    <a:latin typeface="+mn-lt"/>
                    <a:ea typeface="+mn-ea"/>
                    <a:cs typeface="+mn-cs"/>
                  </a:rPr>
                  <a:t>的函数。</a:t>
                </a:r>
              </a:p>
              <a:p>
                <a:r>
                  <a:rPr lang="zh-CN" altLang="zh-CN" sz="1200" kern="1200" dirty="0">
                    <a:solidFill>
                      <a:schemeClr val="tx1"/>
                    </a:solidFill>
                    <a:effectLst/>
                    <a:latin typeface="+mn-lt"/>
                    <a:ea typeface="+mn-ea"/>
                    <a:cs typeface="+mn-cs"/>
                  </a:rPr>
                  <a:t>由于该方法求解每一列对应基坐标系</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的运动旋量，其结果为空间雅可比矩阵。</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100</a:t>
            </a:fld>
            <a:endParaRPr lang="zh-CN" altLang="en-US"/>
          </a:p>
        </p:txBody>
      </p:sp>
    </p:spTree>
    <p:extLst>
      <p:ext uri="{BB962C8B-B14F-4D97-AF65-F5344CB8AC3E}">
        <p14:creationId xmlns:p14="http://schemas.microsoft.com/office/powerpoint/2010/main" val="228130513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如果机器人不能满足</a:t>
                </a:r>
                <a:r>
                  <a:rPr lang="en-US" altLang="zh-CN" sz="1200" kern="1200" dirty="0" err="1" smtClean="0">
                    <a:solidFill>
                      <a:schemeClr val="tx1"/>
                    </a:solidFill>
                    <a:effectLst/>
                    <a:latin typeface="+mn-lt"/>
                    <a:ea typeface="+mn-ea"/>
                    <a:cs typeface="+mn-cs"/>
                  </a:rPr>
                  <a:t>pieper</a:t>
                </a:r>
                <a:r>
                  <a:rPr lang="zh-CN" altLang="zh-CN" sz="1200" kern="1200" dirty="0" smtClean="0">
                    <a:solidFill>
                      <a:schemeClr val="tx1"/>
                    </a:solidFill>
                    <a:effectLst/>
                    <a:latin typeface="+mn-lt"/>
                    <a:ea typeface="+mn-ea"/>
                    <a:cs typeface="+mn-cs"/>
                  </a:rPr>
                  <a:t>准则时，我们将很难找到合适的解析解求解方法。不同于封闭解的解析法和几何法，数值法不依赖于机器人的运动学结构，适用于任意构型的机器人逆运动学求解。下面介绍基于雅可比矩阵的迭代求解方法。</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以上算法流程为雅可比矩阵迭代法的基本流程，该算法收敛的前提是雅可比矩阵的逆存在，且迭代步长的选择适当。</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101</a:t>
            </a:fld>
            <a:endParaRPr lang="zh-CN" altLang="en-US"/>
          </a:p>
        </p:txBody>
      </p:sp>
    </p:spTree>
    <p:extLst>
      <p:ext uri="{BB962C8B-B14F-4D97-AF65-F5344CB8AC3E}">
        <p14:creationId xmlns:p14="http://schemas.microsoft.com/office/powerpoint/2010/main" val="338683645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雅可比转置矩阵迭代法的目的是使用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𝐽</m:t>
                    </m:r>
                  </m:oMath>
                </a14:m>
                <a:r>
                  <a:rPr lang="zh-CN" altLang="zh-CN" sz="1200" kern="1200" dirty="0">
                    <a:solidFill>
                      <a:schemeClr val="tx1"/>
                    </a:solidFill>
                    <a:effectLst/>
                    <a:latin typeface="+mn-lt"/>
                    <a:ea typeface="+mn-ea"/>
                    <a:cs typeface="+mn-cs"/>
                  </a:rPr>
                  <a:t>的转置矩阵代替逆</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𝐽</m:t>
                        </m:r>
                      </m:e>
                      <m:sup>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p>
                    </m:sSup>
                  </m:oMath>
                </a14:m>
                <a:r>
                  <a:rPr lang="zh-CN" altLang="zh-CN" sz="1200" kern="1200" dirty="0">
                    <a:solidFill>
                      <a:schemeClr val="tx1"/>
                    </a:solidFill>
                    <a:effectLst/>
                    <a:latin typeface="+mn-lt"/>
                    <a:ea typeface="+mn-ea"/>
                    <a:cs typeface="+mn-cs"/>
                  </a:rPr>
                  <a:t>。我们将</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𝑄</m:t>
                    </m:r>
                  </m:oMath>
                </a14:m>
                <a:r>
                  <a:rPr lang="zh-CN" altLang="zh-CN" sz="1200" kern="1200" dirty="0">
                    <a:solidFill>
                      <a:schemeClr val="tx1"/>
                    </a:solidFill>
                    <a:effectLst/>
                    <a:latin typeface="+mn-lt"/>
                    <a:ea typeface="+mn-ea"/>
                    <a:cs typeface="+mn-cs"/>
                  </a:rPr>
                  <a:t>设为：</a:t>
                </a: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𝑄</m:t>
                    </m:r>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𝐽</m:t>
                        </m:r>
                      </m:e>
                      <m:sup>
                        <m:r>
                          <a:rPr lang="en-US" altLang="zh-CN" sz="1200" i="1" kern="1200">
                            <a:solidFill>
                              <a:schemeClr val="tx1"/>
                            </a:solidFill>
                            <a:effectLst/>
                            <a:latin typeface="Cambria Math" panose="02040503050406030204" pitchFamily="18" charset="0"/>
                            <a:ea typeface="+mn-ea"/>
                            <a:cs typeface="+mn-cs"/>
                          </a:rPr>
                          <m:t>𝑇</m:t>
                        </m:r>
                      </m:sup>
                    </m:sSup>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𝑒</m:t>
                    </m:r>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3-101</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相比较式（</a:t>
                </a:r>
                <a:r>
                  <a:rPr lang="en-US" altLang="zh-CN" sz="1200" kern="1200" dirty="0">
                    <a:solidFill>
                      <a:schemeClr val="tx1"/>
                    </a:solidFill>
                    <a:effectLst/>
                    <a:latin typeface="+mn-lt"/>
                    <a:ea typeface="+mn-ea"/>
                    <a:cs typeface="+mn-cs"/>
                  </a:rPr>
                  <a:t>3-100</a:t>
                </a:r>
                <a:r>
                  <a:rPr lang="zh-CN" altLang="zh-CN" sz="1200" kern="1200" dirty="0">
                    <a:solidFill>
                      <a:schemeClr val="tx1"/>
                    </a:solidFill>
                    <a:effectLst/>
                    <a:latin typeface="+mn-lt"/>
                    <a:ea typeface="+mn-ea"/>
                    <a:cs typeface="+mn-cs"/>
                  </a:rPr>
                  <a:t>），式（</a:t>
                </a:r>
                <a:r>
                  <a:rPr lang="en-US" altLang="zh-CN" sz="1200" kern="1200" dirty="0">
                    <a:solidFill>
                      <a:schemeClr val="tx1"/>
                    </a:solidFill>
                    <a:effectLst/>
                    <a:latin typeface="+mn-lt"/>
                    <a:ea typeface="+mn-ea"/>
                    <a:cs typeface="+mn-cs"/>
                  </a:rPr>
                  <a:t>3-101</a:t>
                </a:r>
                <a:r>
                  <a:rPr lang="zh-CN" altLang="zh-CN" sz="1200" kern="1200" dirty="0">
                    <a:solidFill>
                      <a:schemeClr val="tx1"/>
                    </a:solidFill>
                    <a:effectLst/>
                    <a:latin typeface="+mn-lt"/>
                    <a:ea typeface="+mn-ea"/>
                    <a:cs typeface="+mn-cs"/>
                  </a:rPr>
                  <a:t>）采用转置矩阵和一个标量</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𝛼</m:t>
                    </m:r>
                  </m:oMath>
                </a14:m>
                <a:r>
                  <a:rPr lang="zh-CN" altLang="zh-CN" sz="1200" kern="1200" dirty="0">
                    <a:solidFill>
                      <a:schemeClr val="tx1"/>
                    </a:solidFill>
                    <a:effectLst/>
                    <a:latin typeface="+mn-lt"/>
                    <a:ea typeface="+mn-ea"/>
                    <a:cs typeface="+mn-cs"/>
                  </a:rPr>
                  <a:t>代替了雅可比矩阵的逆。如果</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&gt;0</m:t>
                    </m:r>
                  </m:oMath>
                </a14:m>
                <a:r>
                  <a:rPr lang="zh-CN" altLang="zh-CN" sz="1200" kern="1200" dirty="0">
                    <a:solidFill>
                      <a:schemeClr val="tx1"/>
                    </a:solidFill>
                    <a:effectLst/>
                    <a:latin typeface="+mn-lt"/>
                    <a:ea typeface="+mn-ea"/>
                    <a:cs typeface="+mn-cs"/>
                  </a:rPr>
                  <a:t>且足够小，则迭代步长</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𝑄</m:t>
                    </m:r>
                  </m:oMath>
                </a14:m>
                <a:r>
                  <a:rPr lang="zh-CN" altLang="zh-CN" sz="1200" kern="1200" dirty="0">
                    <a:solidFill>
                      <a:schemeClr val="tx1"/>
                    </a:solidFill>
                    <a:effectLst/>
                    <a:latin typeface="+mn-lt"/>
                    <a:ea typeface="+mn-ea"/>
                    <a:cs typeface="+mn-cs"/>
                  </a:rPr>
                  <a:t>将逐步收敛。</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102</a:t>
            </a:fld>
            <a:endParaRPr lang="zh-CN" altLang="en-US"/>
          </a:p>
        </p:txBody>
      </p:sp>
    </p:spTree>
    <p:extLst>
      <p:ext uri="{BB962C8B-B14F-4D97-AF65-F5344CB8AC3E}">
        <p14:creationId xmlns:p14="http://schemas.microsoft.com/office/powerpoint/2010/main" val="246655589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sz="1200" kern="1200" dirty="0" smtClean="0">
                    <a:solidFill>
                      <a:schemeClr val="tx1"/>
                    </a:solidFill>
                    <a:effectLst/>
                    <a:latin typeface="+mn-lt"/>
                    <a:ea typeface="+mn-ea"/>
                    <a:cs typeface="+mn-cs"/>
                  </a:rPr>
                  <a:t>板书：</a:t>
                </a:r>
                <a:r>
                  <a:rPr lang="zh-CN" altLang="zh-CN" sz="1200" kern="1200" dirty="0" smtClean="0">
                    <a:solidFill>
                      <a:schemeClr val="tx1"/>
                    </a:solidFill>
                    <a:effectLst/>
                    <a:latin typeface="+mn-lt"/>
                    <a:ea typeface="+mn-ea"/>
                    <a:cs typeface="+mn-cs"/>
                  </a:rPr>
                  <a:t>牛顿</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拉夫森法求解非线性方程</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推导过程</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103</a:t>
            </a:fld>
            <a:endParaRPr lang="zh-CN" altLang="en-US"/>
          </a:p>
        </p:txBody>
      </p:sp>
    </p:spTree>
    <p:extLst>
      <p:ext uri="{BB962C8B-B14F-4D97-AF65-F5344CB8AC3E}">
        <p14:creationId xmlns:p14="http://schemas.microsoft.com/office/powerpoint/2010/main" val="246125476"/>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通过计算结果可知，无论是位置还是姿态都和前面方法一致。</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需要注意的是，如果串行机械臂的某个关节为平移关节，则其对偶四元数的旋转部分分量应设为</a:t>
                </a:r>
                <a:r>
                  <a:rPr lang="en-US" altLang="zh-CN" sz="1200" i="0" kern="1200">
                    <a:solidFill>
                      <a:schemeClr val="tx1"/>
                    </a:solidFill>
                    <a:effectLst/>
                    <a:latin typeface="+mn-lt"/>
                    <a:ea typeface="+mn-ea"/>
                    <a:cs typeface="+mn-cs"/>
                  </a:rPr>
                  <a:t>[1, 0,0,0]</a:t>
                </a:r>
                <a:r>
                  <a:rPr lang="zh-CN" altLang="zh-CN" sz="1200" kern="1200" dirty="0">
                    <a:solidFill>
                      <a:schemeClr val="tx1"/>
                    </a:solidFill>
                    <a:effectLst/>
                    <a:latin typeface="+mn-lt"/>
                    <a:ea typeface="+mn-ea"/>
                    <a:cs typeface="+mn-cs"/>
                  </a:rPr>
                  <a:t>，位移部分为其位移变量。例如如果上例中的第六轴如果为平移关节，其沿</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𝑦</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轴的平伸量为</a:t>
                </a:r>
                <a:r>
                  <a:rPr lang="en-US" altLang="zh-CN" sz="1200" i="0" kern="1200">
                    <a:solidFill>
                      <a:schemeClr val="tx1"/>
                    </a:solidFill>
                    <a:effectLst/>
                    <a:latin typeface="+mn-lt"/>
                    <a:ea typeface="+mn-ea"/>
                    <a:cs typeface="+mn-cs"/>
                  </a:rPr>
                  <a:t>𝑙𝑔</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那么：</a:t>
                </a:r>
              </a:p>
              <a:p>
                <a:r>
                  <a:rPr lang="en-US" altLang="zh-CN" sz="1200" i="0" kern="1200">
                    <a:solidFill>
                      <a:schemeClr val="tx1"/>
                    </a:solidFill>
                    <a:effectLst/>
                    <a:latin typeface="+mn-lt"/>
                    <a:ea typeface="+mn-ea"/>
                    <a:cs typeface="+mn-cs"/>
                  </a:rPr>
                  <a:t>𝑄</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6=([1, 0,0,0],[0,&lt;0,− 𝑙𝑔, 0&gt;])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从上可知，相比前面描述的算法，使用对偶四元数求解的方法综合了</a:t>
                </a:r>
                <a:r>
                  <a:rPr lang="en-US" altLang="zh-CN" sz="1200" kern="1200" dirty="0">
                    <a:solidFill>
                      <a:schemeClr val="tx1"/>
                    </a:solidFill>
                    <a:effectLst/>
                    <a:latin typeface="+mn-lt"/>
                    <a:ea typeface="+mn-ea"/>
                    <a:cs typeface="+mn-cs"/>
                  </a:rPr>
                  <a:t>MDH</a:t>
                </a:r>
                <a:r>
                  <a:rPr lang="zh-CN" altLang="zh-CN" sz="1200" kern="1200" dirty="0">
                    <a:solidFill>
                      <a:schemeClr val="tx1"/>
                    </a:solidFill>
                    <a:effectLst/>
                    <a:latin typeface="+mn-lt"/>
                    <a:ea typeface="+mn-ea"/>
                    <a:cs typeface="+mn-cs"/>
                  </a:rPr>
                  <a:t>表示法与四元数法的优点，算法更紧凑、计算效率更高。</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104</a:t>
            </a:fld>
            <a:endParaRPr lang="zh-CN" altLang="en-US"/>
          </a:p>
        </p:txBody>
      </p:sp>
    </p:spTree>
    <p:extLst>
      <p:ext uri="{BB962C8B-B14F-4D97-AF65-F5344CB8AC3E}">
        <p14:creationId xmlns:p14="http://schemas.microsoft.com/office/powerpoint/2010/main" val="399523050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106</a:t>
            </a:fld>
            <a:endParaRPr lang="zh-CN" altLang="en-US"/>
          </a:p>
        </p:txBody>
      </p:sp>
    </p:spTree>
    <p:extLst>
      <p:ext uri="{BB962C8B-B14F-4D97-AF65-F5344CB8AC3E}">
        <p14:creationId xmlns:p14="http://schemas.microsoft.com/office/powerpoint/2010/main" val="365128145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基于逆解的速度方程则可表示为：</a:t>
                </a:r>
              </a:p>
              <a:p>
                <a:pPr/>
                <a14:m>
                  <m:oMathPara xmlns:m="http://schemas.openxmlformats.org/officeDocument/2006/math">
                    <m:oMathParaPr>
                      <m:jc m:val="centerGroup"/>
                    </m:oMathParaPr>
                    <m:oMath xmlns:m="http://schemas.openxmlformats.org/officeDocument/2006/math">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𝜃</m:t>
                          </m:r>
                        </m:e>
                      </m:acc>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𝐽</m:t>
                          </m:r>
                        </m:e>
                        <m:sup>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1</m:t>
                          </m:r>
                        </m:sup>
                      </m:sSup>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𝜈</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上式中，雅可比矩阵</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𝐽</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为方阵（此时关节数</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=6</m:t>
                    </m:r>
                  </m:oMath>
                </a14:m>
                <a:r>
                  <a:rPr lang="zh-CN" altLang="zh-CN" sz="1200" kern="1200" dirty="0">
                    <a:solidFill>
                      <a:schemeClr val="tx1"/>
                    </a:solidFill>
                    <a:effectLst/>
                    <a:latin typeface="+mn-lt"/>
                    <a:ea typeface="+mn-ea"/>
                    <a:cs typeface="+mn-cs"/>
                  </a:rPr>
                  <a:t>），且为满秩矩阵，雅可比矩阵才可逆。若</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≠6</m:t>
                    </m:r>
                  </m:oMath>
                </a14:m>
                <a:r>
                  <a:rPr lang="zh-CN" altLang="zh-CN" sz="1200" kern="1200" dirty="0">
                    <a:solidFill>
                      <a:schemeClr val="tx1"/>
                    </a:solidFill>
                    <a:effectLst/>
                    <a:latin typeface="+mn-lt"/>
                    <a:ea typeface="+mn-ea"/>
                    <a:cs typeface="+mn-cs"/>
                  </a:rPr>
                  <a:t>或机器人处于奇异时，则</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𝐽</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oMath>
                </a14:m>
                <a:r>
                  <a:rPr lang="zh-CN" altLang="zh-CN" sz="1200" kern="1200" dirty="0">
                    <a:solidFill>
                      <a:schemeClr val="tx1"/>
                    </a:solidFill>
                    <a:effectLst/>
                    <a:latin typeface="+mn-lt"/>
                    <a:ea typeface="+mn-ea"/>
                    <a:cs typeface="+mn-cs"/>
                  </a:rPr>
                  <a:t>变得不可逆。当</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&lt;6</m:t>
                    </m:r>
                  </m:oMath>
                </a14:m>
                <a:r>
                  <a:rPr lang="zh-CN" altLang="zh-CN" sz="1200" kern="1200" dirty="0">
                    <a:solidFill>
                      <a:schemeClr val="tx1"/>
                    </a:solidFill>
                    <a:effectLst/>
                    <a:latin typeface="+mn-lt"/>
                    <a:ea typeface="+mn-ea"/>
                    <a:cs typeface="+mn-cs"/>
                  </a:rPr>
                  <a:t>时，根据上式将难以实现任意的末端速度，可以认为这个时候机器人没有足够的关节来提供动力，当</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r>
                      <a:rPr lang="en-US" altLang="zh-CN" sz="1200" i="1" kern="1200">
                        <a:solidFill>
                          <a:schemeClr val="tx1"/>
                        </a:solidFill>
                        <a:effectLst/>
                        <a:latin typeface="Cambria Math" panose="02040503050406030204" pitchFamily="18" charset="0"/>
                        <a:ea typeface="+mn-ea"/>
                        <a:cs typeface="+mn-cs"/>
                      </a:rPr>
                      <m:t>&gt;6</m:t>
                    </m:r>
                  </m:oMath>
                </a14:m>
                <a:r>
                  <a:rPr lang="zh-CN" altLang="zh-CN" sz="1200" kern="1200" dirty="0">
                    <a:solidFill>
                      <a:schemeClr val="tx1"/>
                    </a:solidFill>
                    <a:effectLst/>
                    <a:latin typeface="+mn-lt"/>
                    <a:ea typeface="+mn-ea"/>
                    <a:cs typeface="+mn-cs"/>
                  </a:rPr>
                  <a:t>时，则机器人自由度出现冗余，此时机器人的末端速度只需</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个关节速度进行约束，剩余的</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6</m:t>
                    </m:r>
                  </m:oMath>
                </a14:m>
                <a:r>
                  <a:rPr lang="zh-CN" altLang="zh-CN" sz="1200" kern="1200" dirty="0">
                    <a:solidFill>
                      <a:schemeClr val="tx1"/>
                    </a:solidFill>
                    <a:effectLst/>
                    <a:latin typeface="+mn-lt"/>
                    <a:ea typeface="+mn-ea"/>
                    <a:cs typeface="+mn-cs"/>
                  </a:rPr>
                  <a:t>个自由度对应机器人局部的运动，不对应到末端。假如我们按照仿人的手臂从肩到手掌部分设计一个七关节的串联臂，则我们可以多出一个内部的自由度用来调整肘部的位置</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en-US" altLang="zh-CN" dirty="0" smtClean="0"/>
              </a:p>
              <a:p>
                <a:endParaRPr lang="en-US" altLang="zh-CN" dirty="0" smtClean="0"/>
              </a:p>
              <a:p>
                <a:r>
                  <a:rPr lang="zh-CN" altLang="zh-CN" sz="1200" kern="1200" dirty="0" smtClean="0">
                    <a:solidFill>
                      <a:schemeClr val="tx1"/>
                    </a:solidFill>
                    <a:effectLst/>
                    <a:latin typeface="+mn-lt"/>
                    <a:ea typeface="+mn-ea"/>
                    <a:cs typeface="+mn-cs"/>
                  </a:rPr>
                  <a:t>如果关节数</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oMath>
                </a14:m>
                <a:r>
                  <a:rPr lang="zh-CN" altLang="zh-CN" sz="1200" kern="1200" dirty="0">
                    <a:solidFill>
                      <a:schemeClr val="tx1"/>
                    </a:solidFill>
                    <a:effectLst/>
                    <a:latin typeface="+mn-lt"/>
                    <a:ea typeface="+mn-ea"/>
                    <a:cs typeface="+mn-cs"/>
                  </a:rPr>
                  <a:t>不等于</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𝐽</m:t>
                        </m:r>
                      </m:e>
                      <m:sup>
                        <m:r>
                          <a:rPr lang="en-US" altLang="zh-CN" sz="1200" i="1" kern="1200">
                            <a:solidFill>
                              <a:schemeClr val="tx1"/>
                            </a:solidFill>
                            <a:effectLst/>
                            <a:latin typeface="Cambria Math" panose="02040503050406030204" pitchFamily="18" charset="0"/>
                            <a:ea typeface="+mn-ea"/>
                            <a:cs typeface="+mn-cs"/>
                          </a:rPr>
                          <m:t>𝑇</m:t>
                        </m:r>
                      </m:sup>
                    </m:sSup>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不是可逆矩阵，这个问题将变得不太容易解决。特别是</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oMath>
                </a14:m>
                <a:r>
                  <a:rPr lang="zh-CN" altLang="zh-CN" sz="1200" kern="1200" dirty="0">
                    <a:solidFill>
                      <a:schemeClr val="tx1"/>
                    </a:solidFill>
                    <a:effectLst/>
                    <a:latin typeface="+mn-lt"/>
                    <a:ea typeface="+mn-ea"/>
                    <a:cs typeface="+mn-cs"/>
                  </a:rPr>
                  <a:t>小于</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时，无论关节力矩</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𝜏</m:t>
                    </m:r>
                  </m:oMath>
                </a14:m>
                <a:r>
                  <a:rPr lang="zh-CN" altLang="zh-CN" sz="1200" kern="1200" dirty="0">
                    <a:solidFill>
                      <a:schemeClr val="tx1"/>
                    </a:solidFill>
                    <a:effectLst/>
                    <a:latin typeface="+mn-lt"/>
                    <a:ea typeface="+mn-ea"/>
                    <a:cs typeface="+mn-cs"/>
                  </a:rPr>
                  <a:t>如何选取，机器人在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6</m:t>
                    </m:r>
                    <m:r>
                      <a:rPr lang="zh-CN" altLang="en-US"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𝑛</m:t>
                    </m:r>
                  </m:oMath>
                </a14:m>
                <a:r>
                  <a:rPr lang="zh-CN" altLang="zh-CN" sz="1200" kern="1200" dirty="0">
                    <a:solidFill>
                      <a:schemeClr val="tx1"/>
                    </a:solidFill>
                    <a:effectLst/>
                    <a:latin typeface="+mn-lt"/>
                    <a:ea typeface="+mn-ea"/>
                    <a:cs typeface="+mn-cs"/>
                  </a:rPr>
                  <a:t>维的空间内将不会产生有效力，也就是说在这些方向上，机器人能抵制在这个空间内由外部施加的任意力而不产生相应的运动。例如只有一个旋转关节的旋转门，门把手为末端坐标系，只有和门把手的圆周运动相切的力能起作用，让门产生一个以门把手为半径的圆周运动，而其他五维的力空间内的任意力都会被抵消。如果我们用力旋量来表示这个空间，可以表达为：</a:t>
                </a: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𝑁𝑢𝑙𝑙</m:t>
                      </m:r>
                      <m:d>
                        <m:dPr>
                          <m:ctrlPr>
                            <a:rPr lang="zh-CN" altLang="zh-CN" sz="1200" i="1" kern="1200">
                              <a:solidFill>
                                <a:schemeClr val="tx1"/>
                              </a:solidFill>
                              <a:effectLst/>
                              <a:latin typeface="Cambria Math" panose="02040503050406030204" pitchFamily="18" charset="0"/>
                              <a:ea typeface="+mn-ea"/>
                              <a:cs typeface="+mn-cs"/>
                            </a:rPr>
                          </m:ctrlPr>
                        </m:dPr>
                        <m:e>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𝐽</m:t>
                              </m:r>
                            </m:e>
                            <m:sup>
                              <m:r>
                                <a:rPr lang="en-US" altLang="zh-CN" sz="1200" i="1" kern="1200">
                                  <a:solidFill>
                                    <a:schemeClr val="tx1"/>
                                  </a:solidFill>
                                  <a:effectLst/>
                                  <a:latin typeface="Cambria Math" panose="02040503050406030204" pitchFamily="18" charset="0"/>
                                  <a:ea typeface="+mn-ea"/>
                                  <a:cs typeface="+mn-cs"/>
                                </a:rPr>
                                <m:t>𝑇</m:t>
                              </m:r>
                            </m:sup>
                          </m:sSup>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e>
                      </m:d>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zh-CN" altLang="en-US" sz="1200" i="1" smtClean="0">
                              <a:latin typeface="Cambria Math" panose="02040503050406030204" pitchFamily="18" charset="0"/>
                            </a:rPr>
                            <m:t>𝐹</m:t>
                          </m:r>
                        </m:e>
                        <m:e>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𝐽</m:t>
                              </m:r>
                            </m:e>
                            <m:sup>
                              <m:r>
                                <a:rPr lang="en-US" altLang="zh-CN" sz="1200" i="1" kern="1200">
                                  <a:solidFill>
                                    <a:schemeClr val="tx1"/>
                                  </a:solidFill>
                                  <a:effectLst/>
                                  <a:latin typeface="Cambria Math" panose="02040503050406030204" pitchFamily="18" charset="0"/>
                                  <a:ea typeface="+mn-ea"/>
                                  <a:cs typeface="+mn-cs"/>
                                </a:rPr>
                                <m:t>𝑇</m:t>
                              </m:r>
                            </m:sup>
                          </m:sSup>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r>
                            <a:rPr lang="zh-CN" altLang="en-US" sz="1200" i="1" smtClean="0">
                              <a:latin typeface="Cambria Math" panose="02040503050406030204" pitchFamily="18" charset="0"/>
                            </a:rPr>
                            <m:t>𝐹</m:t>
                          </m:r>
                          <m:r>
                            <a:rPr lang="en-US" altLang="zh-CN" sz="1200" kern="1200">
                              <a:solidFill>
                                <a:schemeClr val="tx1"/>
                              </a:solidFill>
                              <a:effectLst/>
                              <a:latin typeface="Cambria Math" panose="02040503050406030204" pitchFamily="18" charset="0"/>
                              <a:ea typeface="+mn-ea"/>
                              <a:cs typeface="+mn-cs"/>
                            </a:rPr>
                            <m:t>=0</m:t>
                          </m:r>
                        </m:e>
                      </m:d>
                    </m:oMath>
                  </m:oMathPara>
                </a14:m>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基于逆解的速度方程则可表示为：</a:t>
                </a:r>
              </a:p>
              <a:p>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1</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 (𝜃)𝜈</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上式中，雅可比矩阵</a:t>
                </a:r>
                <a:r>
                  <a:rPr lang="en-US" altLang="zh-CN" sz="1200" i="0" kern="1200">
                    <a:solidFill>
                      <a:schemeClr val="tx1"/>
                    </a:solidFill>
                    <a:effectLst/>
                    <a:latin typeface="+mn-lt"/>
                    <a:ea typeface="+mn-ea"/>
                    <a:cs typeface="+mn-cs"/>
                  </a:rPr>
                  <a:t>𝐽(𝜃)</a:t>
                </a:r>
                <a:r>
                  <a:rPr lang="zh-CN" altLang="zh-CN" sz="1200" kern="1200" dirty="0">
                    <a:solidFill>
                      <a:schemeClr val="tx1"/>
                    </a:solidFill>
                    <a:effectLst/>
                    <a:latin typeface="+mn-lt"/>
                    <a:ea typeface="+mn-ea"/>
                    <a:cs typeface="+mn-cs"/>
                  </a:rPr>
                  <a:t>为方阵（此时关节数</a:t>
                </a:r>
                <a:r>
                  <a:rPr lang="en-US" altLang="zh-CN" sz="1200" i="0" kern="1200">
                    <a:solidFill>
                      <a:schemeClr val="tx1"/>
                    </a:solidFill>
                    <a:effectLst/>
                    <a:latin typeface="+mn-lt"/>
                    <a:ea typeface="+mn-ea"/>
                    <a:cs typeface="+mn-cs"/>
                  </a:rPr>
                  <a:t>𝑛=6</a:t>
                </a:r>
                <a:r>
                  <a:rPr lang="zh-CN" altLang="zh-CN" sz="1200" kern="1200" dirty="0">
                    <a:solidFill>
                      <a:schemeClr val="tx1"/>
                    </a:solidFill>
                    <a:effectLst/>
                    <a:latin typeface="+mn-lt"/>
                    <a:ea typeface="+mn-ea"/>
                    <a:cs typeface="+mn-cs"/>
                  </a:rPr>
                  <a:t>），且为满秩矩阵，雅可比矩阵才可逆。若</a:t>
                </a:r>
                <a:r>
                  <a:rPr lang="en-US" altLang="zh-CN" sz="1200" i="0" kern="1200">
                    <a:solidFill>
                      <a:schemeClr val="tx1"/>
                    </a:solidFill>
                    <a:effectLst/>
                    <a:latin typeface="+mn-lt"/>
                    <a:ea typeface="+mn-ea"/>
                    <a:cs typeface="+mn-cs"/>
                  </a:rPr>
                  <a:t>𝑛≠6</a:t>
                </a:r>
                <a:r>
                  <a:rPr lang="zh-CN" altLang="zh-CN" sz="1200" kern="1200" dirty="0">
                    <a:solidFill>
                      <a:schemeClr val="tx1"/>
                    </a:solidFill>
                    <a:effectLst/>
                    <a:latin typeface="+mn-lt"/>
                    <a:ea typeface="+mn-ea"/>
                    <a:cs typeface="+mn-cs"/>
                  </a:rPr>
                  <a:t>或机器人处于奇异时，则</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kern="1200" dirty="0">
                    <a:solidFill>
                      <a:schemeClr val="tx1"/>
                    </a:solidFill>
                    <a:effectLst/>
                    <a:latin typeface="+mn-lt"/>
                    <a:ea typeface="+mn-ea"/>
                    <a:cs typeface="+mn-cs"/>
                  </a:rPr>
                  <a:t>变得不可逆。当</a:t>
                </a:r>
                <a:r>
                  <a:rPr lang="en-US" altLang="zh-CN" sz="1200" i="0" kern="1200">
                    <a:solidFill>
                      <a:schemeClr val="tx1"/>
                    </a:solidFill>
                    <a:effectLst/>
                    <a:latin typeface="+mn-lt"/>
                    <a:ea typeface="+mn-ea"/>
                    <a:cs typeface="+mn-cs"/>
                  </a:rPr>
                  <a:t>𝑛&lt;6</a:t>
                </a:r>
                <a:r>
                  <a:rPr lang="zh-CN" altLang="zh-CN" sz="1200" kern="1200" dirty="0">
                    <a:solidFill>
                      <a:schemeClr val="tx1"/>
                    </a:solidFill>
                    <a:effectLst/>
                    <a:latin typeface="+mn-lt"/>
                    <a:ea typeface="+mn-ea"/>
                    <a:cs typeface="+mn-cs"/>
                  </a:rPr>
                  <a:t>时，根据上式将难以实现任意的末端速度，可以认为这个时候机器人没有足够的关节来提供动力，当</a:t>
                </a:r>
                <a:r>
                  <a:rPr lang="en-US" altLang="zh-CN" sz="1200" i="0" kern="1200">
                    <a:solidFill>
                      <a:schemeClr val="tx1"/>
                    </a:solidFill>
                    <a:effectLst/>
                    <a:latin typeface="+mn-lt"/>
                    <a:ea typeface="+mn-ea"/>
                    <a:cs typeface="+mn-cs"/>
                  </a:rPr>
                  <a:t>𝑛&gt;6</a:t>
                </a:r>
                <a:r>
                  <a:rPr lang="zh-CN" altLang="zh-CN" sz="1200" kern="1200" dirty="0">
                    <a:solidFill>
                      <a:schemeClr val="tx1"/>
                    </a:solidFill>
                    <a:effectLst/>
                    <a:latin typeface="+mn-lt"/>
                    <a:ea typeface="+mn-ea"/>
                    <a:cs typeface="+mn-cs"/>
                  </a:rPr>
                  <a:t>时，则机器人自由度出现冗余，此时机器人的末端速度只需</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个关节速度进行约束，剩余的</a:t>
                </a:r>
                <a:r>
                  <a:rPr lang="en-US" altLang="zh-CN" sz="1200" i="0" kern="1200">
                    <a:solidFill>
                      <a:schemeClr val="tx1"/>
                    </a:solidFill>
                    <a:effectLst/>
                    <a:latin typeface="+mn-lt"/>
                    <a:ea typeface="+mn-ea"/>
                    <a:cs typeface="+mn-cs"/>
                  </a:rPr>
                  <a:t>𝑛</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个自由度对应机器人局部的运动，不对应到末端。假如我们按照仿人的手臂从肩到手掌部分设计一个七关节的串联臂，则我们可以多出一个内部的自由度用来调整肘部的位置</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en-US" altLang="zh-CN" dirty="0" smtClean="0"/>
              </a:p>
              <a:p>
                <a:endParaRPr lang="en-US" altLang="zh-CN" dirty="0" smtClean="0"/>
              </a:p>
              <a:p>
                <a:r>
                  <a:rPr lang="zh-CN" altLang="zh-CN" sz="1200" kern="1200" dirty="0" smtClean="0">
                    <a:solidFill>
                      <a:schemeClr val="tx1"/>
                    </a:solidFill>
                    <a:effectLst/>
                    <a:latin typeface="+mn-lt"/>
                    <a:ea typeface="+mn-ea"/>
                    <a:cs typeface="+mn-cs"/>
                  </a:rPr>
                  <a:t>如果关节数</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不等于</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 (𝜃)</a:t>
                </a:r>
                <a:r>
                  <a:rPr lang="zh-CN" altLang="zh-CN" sz="1200" kern="1200" dirty="0">
                    <a:solidFill>
                      <a:schemeClr val="tx1"/>
                    </a:solidFill>
                    <a:effectLst/>
                    <a:latin typeface="+mn-lt"/>
                    <a:ea typeface="+mn-ea"/>
                    <a:cs typeface="+mn-cs"/>
                  </a:rPr>
                  <a:t>不是可逆矩阵，这个问题将变得不太容易解决。特别是</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小于</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时，无论关节力矩</a:t>
                </a:r>
                <a:r>
                  <a:rPr lang="en-US" altLang="zh-CN" sz="1200" i="0" kern="1200">
                    <a:solidFill>
                      <a:schemeClr val="tx1"/>
                    </a:solidFill>
                    <a:effectLst/>
                    <a:latin typeface="+mn-lt"/>
                    <a:ea typeface="+mn-ea"/>
                    <a:cs typeface="+mn-cs"/>
                  </a:rPr>
                  <a:t>𝜏</a:t>
                </a:r>
                <a:r>
                  <a:rPr lang="zh-CN" altLang="zh-CN" sz="1200" kern="1200" dirty="0">
                    <a:solidFill>
                      <a:schemeClr val="tx1"/>
                    </a:solidFill>
                    <a:effectLst/>
                    <a:latin typeface="+mn-lt"/>
                    <a:ea typeface="+mn-ea"/>
                    <a:cs typeface="+mn-cs"/>
                  </a:rPr>
                  <a:t>如何选取，机器人在</a:t>
                </a:r>
                <a:r>
                  <a:rPr lang="en-US" altLang="zh-CN" sz="1200" i="0" kern="1200">
                    <a:solidFill>
                      <a:schemeClr val="tx1"/>
                    </a:solidFill>
                    <a:effectLst/>
                    <a:latin typeface="+mn-lt"/>
                    <a:ea typeface="+mn-ea"/>
                    <a:cs typeface="+mn-cs"/>
                  </a:rPr>
                  <a:t>6</a:t>
                </a:r>
                <a:r>
                  <a:rPr lang="zh-CN" altLang="en-US"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维的空间内将不会产生有效力，也就是说在这些方向上，机器人能抵制在这个空间内由外部施加的任意力而不产生相应的运动。例如只有一个旋转关节的旋转门，门把手为末端坐标系，只有和门把手的圆周运动相切的力能起作用，让门产生一个以门把手为半径的圆周运动，而其他五维的力空间内的任意力都会被抵消。如果我们用力旋量来表示这个空间，可以表达为：</a:t>
                </a:r>
              </a:p>
              <a:p>
                <a:r>
                  <a:rPr lang="en-US" altLang="zh-CN" sz="1200" i="0" kern="1200">
                    <a:solidFill>
                      <a:schemeClr val="tx1"/>
                    </a:solidFill>
                    <a:effectLst/>
                    <a:latin typeface="+mn-lt"/>
                    <a:ea typeface="+mn-ea"/>
                    <a:cs typeface="+mn-cs"/>
                  </a:rPr>
                  <a:t>𝑁𝑢𝑙𝑙</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Ƒ│𝐽</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𝜃)Ƒ=0}</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107</a:t>
            </a:fld>
            <a:endParaRPr lang="zh-CN" altLang="en-US"/>
          </a:p>
        </p:txBody>
      </p:sp>
    </p:spTree>
    <p:extLst>
      <p:ext uri="{BB962C8B-B14F-4D97-AF65-F5344CB8AC3E}">
        <p14:creationId xmlns:p14="http://schemas.microsoft.com/office/powerpoint/2010/main" val="3967155906"/>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108</a:t>
            </a:fld>
            <a:endParaRPr lang="zh-CN" altLang="en-US"/>
          </a:p>
        </p:txBody>
      </p:sp>
    </p:spTree>
    <p:extLst>
      <p:ext uri="{BB962C8B-B14F-4D97-AF65-F5344CB8AC3E}">
        <p14:creationId xmlns:p14="http://schemas.microsoft.com/office/powerpoint/2010/main" val="185663360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对于任何机器人来说，冗余与否均有可能发现一些奇异位形</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或称奇异位姿</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。例如当下列情况发生时会导致奇异位形：</a:t>
                </a:r>
              </a:p>
              <a:p>
                <a:r>
                  <a:rPr lang="en-US" altLang="zh-CN" sz="1200" kern="1200" dirty="0" smtClean="0">
                    <a:solidFill>
                      <a:schemeClr val="tx1"/>
                    </a:solidFill>
                    <a:effectLst/>
                    <a:latin typeface="+mn-lt"/>
                    <a:ea typeface="+mn-ea"/>
                    <a:cs typeface="+mn-cs"/>
                  </a:rPr>
                  <a:t>1) </a:t>
                </a:r>
                <a:r>
                  <a:rPr lang="zh-CN" altLang="zh-CN" sz="1200" kern="1200" dirty="0" smtClean="0">
                    <a:solidFill>
                      <a:schemeClr val="tx1"/>
                    </a:solidFill>
                    <a:effectLst/>
                    <a:latin typeface="+mn-lt"/>
                    <a:ea typeface="+mn-ea"/>
                    <a:cs typeface="+mn-cs"/>
                  </a:rPr>
                  <a:t>两个平移关节轴平行；</a:t>
                </a:r>
              </a:p>
              <a:p>
                <a:r>
                  <a:rPr lang="en-US" altLang="zh-CN" sz="1200" kern="1200" dirty="0" smtClean="0">
                    <a:solidFill>
                      <a:schemeClr val="tx1"/>
                    </a:solidFill>
                    <a:effectLst/>
                    <a:latin typeface="+mn-lt"/>
                    <a:ea typeface="+mn-ea"/>
                    <a:cs typeface="+mn-cs"/>
                  </a:rPr>
                  <a:t>2) </a:t>
                </a:r>
                <a:r>
                  <a:rPr lang="zh-CN" altLang="zh-CN" sz="1200" kern="1200" dirty="0" smtClean="0">
                    <a:solidFill>
                      <a:schemeClr val="tx1"/>
                    </a:solidFill>
                    <a:effectLst/>
                    <a:latin typeface="+mn-lt"/>
                    <a:ea typeface="+mn-ea"/>
                    <a:cs typeface="+mn-cs"/>
                  </a:rPr>
                  <a:t>两个旋转关节同轴。</a:t>
                </a:r>
              </a:p>
              <a:p>
                <a:r>
                  <a:rPr lang="zh-CN" altLang="zh-CN" sz="1200" kern="1200" dirty="0" smtClean="0">
                    <a:solidFill>
                      <a:schemeClr val="tx1"/>
                    </a:solidFill>
                    <a:effectLst/>
                    <a:latin typeface="+mn-lt"/>
                    <a:ea typeface="+mn-ea"/>
                    <a:cs typeface="+mn-cs"/>
                  </a:rPr>
                  <a:t>在这样的位形中，会由于产生运动的维数不足或者是由于相连关节运动的互相抵消而导致末端执行器丧失一个或多个自由度。这个时候运动方程是线性相关的或者确定解是不明确的，可以通过当前位形下的雅可比矩阵来进行分析。</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如果雅可比矩阵为满秩矩阵，这个时候零空间</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𝑁𝑢𝑙𝑙</m:t>
                    </m:r>
                    <m:d>
                      <m:dPr>
                        <m:ctrlPr>
                          <a:rPr lang="zh-CN" altLang="zh-CN" sz="1200" i="1" kern="1200">
                            <a:solidFill>
                              <a:schemeClr val="tx1"/>
                            </a:solidFill>
                            <a:effectLst/>
                            <a:latin typeface="Cambria Math" panose="02040503050406030204" pitchFamily="18" charset="0"/>
                            <a:ea typeface="+mn-ea"/>
                            <a:cs typeface="+mn-cs"/>
                          </a:rPr>
                        </m:ctrlPr>
                      </m:dPr>
                      <m:e>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𝐽</m:t>
                            </m:r>
                          </m:e>
                          <m:sup>
                            <m:r>
                              <a:rPr lang="en-US" altLang="zh-CN" sz="1200" i="1" kern="1200">
                                <a:solidFill>
                                  <a:schemeClr val="tx1"/>
                                </a:solidFill>
                                <a:effectLst/>
                                <a:latin typeface="Cambria Math" panose="02040503050406030204" pitchFamily="18" charset="0"/>
                                <a:ea typeface="+mn-ea"/>
                                <a:cs typeface="+mn-cs"/>
                              </a:rPr>
                              <m:t>𝑇</m:t>
                            </m:r>
                          </m:sup>
                        </m:sSup>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e>
                    </m:d>
                  </m:oMath>
                </a14:m>
                <a:r>
                  <a:rPr lang="zh-CN" altLang="zh-CN" sz="1200" kern="1200" dirty="0">
                    <a:solidFill>
                      <a:schemeClr val="tx1"/>
                    </a:solidFill>
                    <a:effectLst/>
                    <a:latin typeface="+mn-lt"/>
                    <a:ea typeface="+mn-ea"/>
                    <a:cs typeface="+mn-cs"/>
                  </a:rPr>
                  <a:t>的维数等于冗余自由度数</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𝑚</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𝑛</m:t>
                    </m:r>
                  </m:oMath>
                </a14:m>
                <a:r>
                  <a:rPr lang="zh-CN" altLang="zh-CN" sz="1200" kern="1200" dirty="0">
                    <a:solidFill>
                      <a:schemeClr val="tx1"/>
                    </a:solidFill>
                    <a:effectLst/>
                    <a:latin typeface="+mn-lt"/>
                    <a:ea typeface="+mn-ea"/>
                    <a:cs typeface="+mn-cs"/>
                  </a:rPr>
                  <a:t>。雅可比矩阵不再满秩的位形相当于机器人具有奇异性，通常有两种类型：</a:t>
                </a:r>
              </a:p>
              <a:p>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工作空间边界奇异性。当机械臂全部伸展或自身完全折回时，便会出现工作空间边界奇异性。</a:t>
                </a:r>
              </a:p>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工作空间内部奇异性。这种情况下通常是由于两个或多个旋转轴重合，或两个或多个平移轴平行导致</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对于任何机器人来说，冗余与否均有可能发现一些奇异位形</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或称奇异位姿</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。例如当下列情况发生时会导致奇异位形：</a:t>
                </a:r>
              </a:p>
              <a:p>
                <a:r>
                  <a:rPr lang="en-US" altLang="zh-CN" sz="1200" kern="1200" dirty="0" smtClean="0">
                    <a:solidFill>
                      <a:schemeClr val="tx1"/>
                    </a:solidFill>
                    <a:effectLst/>
                    <a:latin typeface="+mn-lt"/>
                    <a:ea typeface="+mn-ea"/>
                    <a:cs typeface="+mn-cs"/>
                  </a:rPr>
                  <a:t>1) </a:t>
                </a:r>
                <a:r>
                  <a:rPr lang="zh-CN" altLang="zh-CN" sz="1200" kern="1200" dirty="0" smtClean="0">
                    <a:solidFill>
                      <a:schemeClr val="tx1"/>
                    </a:solidFill>
                    <a:effectLst/>
                    <a:latin typeface="+mn-lt"/>
                    <a:ea typeface="+mn-ea"/>
                    <a:cs typeface="+mn-cs"/>
                  </a:rPr>
                  <a:t>两个平移关节轴平行；</a:t>
                </a:r>
              </a:p>
              <a:p>
                <a:r>
                  <a:rPr lang="en-US" altLang="zh-CN" sz="1200" kern="1200" dirty="0" smtClean="0">
                    <a:solidFill>
                      <a:schemeClr val="tx1"/>
                    </a:solidFill>
                    <a:effectLst/>
                    <a:latin typeface="+mn-lt"/>
                    <a:ea typeface="+mn-ea"/>
                    <a:cs typeface="+mn-cs"/>
                  </a:rPr>
                  <a:t>2) </a:t>
                </a:r>
                <a:r>
                  <a:rPr lang="zh-CN" altLang="zh-CN" sz="1200" kern="1200" dirty="0" smtClean="0">
                    <a:solidFill>
                      <a:schemeClr val="tx1"/>
                    </a:solidFill>
                    <a:effectLst/>
                    <a:latin typeface="+mn-lt"/>
                    <a:ea typeface="+mn-ea"/>
                    <a:cs typeface="+mn-cs"/>
                  </a:rPr>
                  <a:t>两个旋转关节同轴。</a:t>
                </a:r>
              </a:p>
              <a:p>
                <a:r>
                  <a:rPr lang="zh-CN" altLang="zh-CN" sz="1200" kern="1200" dirty="0" smtClean="0">
                    <a:solidFill>
                      <a:schemeClr val="tx1"/>
                    </a:solidFill>
                    <a:effectLst/>
                    <a:latin typeface="+mn-lt"/>
                    <a:ea typeface="+mn-ea"/>
                    <a:cs typeface="+mn-cs"/>
                  </a:rPr>
                  <a:t>在这样的位形中，会由于产生运动的维数不足或者是由于相连关节运动的互相抵消而导致末端执行器丧失一个或多个自由度。这个时候运动方程是线性相关的或者确定解是不明确的，可以通过当前位形下的雅可比矩阵来进行分析。</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如果雅可比矩阵为满秩矩阵，这个时候零空间</a:t>
                </a:r>
                <a:r>
                  <a:rPr lang="en-US" altLang="zh-CN" sz="1200" i="0" kern="1200">
                    <a:solidFill>
                      <a:schemeClr val="tx1"/>
                    </a:solidFill>
                    <a:effectLst/>
                    <a:latin typeface="+mn-lt"/>
                    <a:ea typeface="+mn-ea"/>
                    <a:cs typeface="+mn-cs"/>
                  </a:rPr>
                  <a:t>𝑁𝑢𝑙𝑙</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i="0" kern="1200">
                    <a:solidFill>
                      <a:schemeClr val="tx1"/>
                    </a:solidFill>
                    <a:effectLst/>
                    <a:latin typeface="+mn-lt"/>
                    <a:ea typeface="+mn-ea"/>
                    <a:cs typeface="+mn-cs"/>
                  </a:rPr>
                  <a:t> (</a:t>
                </a:r>
                <a:r>
                  <a:rPr lang="en-US" altLang="zh-CN" sz="1200" i="0" kern="1200">
                    <a:solidFill>
                      <a:schemeClr val="tx1"/>
                    </a:solidFill>
                    <a:effectLst/>
                    <a:latin typeface="+mn-lt"/>
                    <a:ea typeface="+mn-ea"/>
                    <a:cs typeface="+mn-cs"/>
                  </a:rPr>
                  <a:t>𝜃))</a:t>
                </a:r>
                <a:r>
                  <a:rPr lang="zh-CN" altLang="zh-CN" sz="1200" kern="1200" dirty="0">
                    <a:solidFill>
                      <a:schemeClr val="tx1"/>
                    </a:solidFill>
                    <a:effectLst/>
                    <a:latin typeface="+mn-lt"/>
                    <a:ea typeface="+mn-ea"/>
                    <a:cs typeface="+mn-cs"/>
                  </a:rPr>
                  <a:t>的维数等于冗余自由度数</a:t>
                </a:r>
                <a:r>
                  <a:rPr lang="en-US" altLang="zh-CN" sz="1200" i="0" kern="1200">
                    <a:solidFill>
                      <a:schemeClr val="tx1"/>
                    </a:solidFill>
                    <a:effectLst/>
                    <a:latin typeface="+mn-lt"/>
                    <a:ea typeface="+mn-ea"/>
                    <a:cs typeface="+mn-cs"/>
                  </a:rPr>
                  <a:t>𝑚−𝑛</a:t>
                </a:r>
                <a:r>
                  <a:rPr lang="zh-CN" altLang="zh-CN" sz="1200" kern="1200" dirty="0">
                    <a:solidFill>
                      <a:schemeClr val="tx1"/>
                    </a:solidFill>
                    <a:effectLst/>
                    <a:latin typeface="+mn-lt"/>
                    <a:ea typeface="+mn-ea"/>
                    <a:cs typeface="+mn-cs"/>
                  </a:rPr>
                  <a:t>。雅可比矩阵不再满秩的位形相当于机器人具有奇异性，通常有两种类型：</a:t>
                </a:r>
              </a:p>
              <a:p>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工作空间边界奇异性。当机械臂全部伸展或自身完全折回时，便会出现工作空间边界奇异性。</a:t>
                </a:r>
              </a:p>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工作空间内部奇异性。这种情况下通常是由于两个或多个旋转轴重合，或两个或多个平移轴平行导致</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109</a:t>
            </a:fld>
            <a:endParaRPr lang="zh-CN" altLang="en-US"/>
          </a:p>
        </p:txBody>
      </p:sp>
    </p:spTree>
    <p:extLst>
      <p:ext uri="{BB962C8B-B14F-4D97-AF65-F5344CB8AC3E}">
        <p14:creationId xmlns:p14="http://schemas.microsoft.com/office/powerpoint/2010/main" val="71937307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其中</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11</m:t>
                        </m:r>
                      </m:sub>
                    </m:sSub>
                  </m:oMath>
                </a14:m>
                <a:r>
                  <a:rPr lang="zh-CN" altLang="zh-CN" sz="1200" kern="1200" dirty="0">
                    <a:solidFill>
                      <a:schemeClr val="tx1"/>
                    </a:solidFill>
                    <a:effectLst/>
                    <a:latin typeface="+mn-lt"/>
                    <a:ea typeface="+mn-ea"/>
                    <a:cs typeface="+mn-cs"/>
                  </a:rPr>
                  <a:t>和</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22</m:t>
                        </m:r>
                      </m:sub>
                    </m:sSub>
                  </m:oMath>
                </a14:m>
                <a:r>
                  <a:rPr lang="zh-CN" altLang="zh-CN" sz="1200" kern="1200" dirty="0">
                    <a:solidFill>
                      <a:schemeClr val="tx1"/>
                    </a:solidFill>
                    <a:effectLst/>
                    <a:latin typeface="+mn-lt"/>
                    <a:ea typeface="+mn-ea"/>
                    <a:cs typeface="+mn-cs"/>
                  </a:rPr>
                  <a:t>均为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3×3</m:t>
                    </m:r>
                  </m:oMath>
                </a14:m>
                <a:r>
                  <a:rPr lang="zh-CN" altLang="zh-CN" sz="1200" kern="1200" dirty="0">
                    <a:solidFill>
                      <a:schemeClr val="tx1"/>
                    </a:solidFill>
                    <a:effectLst/>
                    <a:latin typeface="+mn-lt"/>
                    <a:ea typeface="+mn-ea"/>
                    <a:cs typeface="+mn-cs"/>
                  </a:rPr>
                  <a:t>的矩阵，因此，</a:t>
                </a:r>
                <a:r>
                  <a:rPr lang="en-US" altLang="zh-CN" sz="1200" kern="1200" dirty="0">
                    <a:solidFill>
                      <a:schemeClr val="tx1"/>
                    </a:solidFill>
                    <a:effectLst/>
                    <a:latin typeface="+mn-lt"/>
                    <a:ea typeface="+mn-ea"/>
                    <a:cs typeface="+mn-cs"/>
                  </a:rPr>
                  <a:t>6R</a:t>
                </a:r>
                <a:r>
                  <a:rPr lang="zh-CN" altLang="zh-CN" sz="1200" kern="1200" dirty="0">
                    <a:solidFill>
                      <a:schemeClr val="tx1"/>
                    </a:solidFill>
                    <a:effectLst/>
                    <a:latin typeface="+mn-lt"/>
                    <a:ea typeface="+mn-ea"/>
                    <a:cs typeface="+mn-cs"/>
                  </a:rPr>
                  <a:t>机械臂的奇异位形的集合可分解为满足</a:t>
                </a:r>
                <a14:m>
                  <m:oMath xmlns:m="http://schemas.openxmlformats.org/officeDocument/2006/math">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det</m:t>
                        </m:r>
                      </m:fName>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11</m:t>
                            </m:r>
                          </m:sub>
                        </m:sSub>
                      </m:e>
                    </m:func>
                    <m:r>
                      <a:rPr lang="en-US" altLang="zh-CN" sz="1200" i="1"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的手臂奇异位形集合以及满足</a:t>
                </a:r>
                <a14:m>
                  <m:oMath xmlns:m="http://schemas.openxmlformats.org/officeDocument/2006/math">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det</m:t>
                        </m:r>
                      </m:fName>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𝐽</m:t>
                            </m:r>
                          </m:e>
                          <m:sub>
                            <m:r>
                              <a:rPr lang="en-US" altLang="zh-CN" sz="1200" i="1" kern="1200">
                                <a:solidFill>
                                  <a:schemeClr val="tx1"/>
                                </a:solidFill>
                                <a:effectLst/>
                                <a:latin typeface="Cambria Math" panose="02040503050406030204" pitchFamily="18" charset="0"/>
                                <a:ea typeface="+mn-ea"/>
                                <a:cs typeface="+mn-cs"/>
                              </a:rPr>
                              <m:t>22</m:t>
                            </m:r>
                          </m:sub>
                        </m:sSub>
                      </m:e>
                    </m:func>
                    <m:r>
                      <a:rPr lang="en-US" altLang="zh-CN" sz="1200" i="1"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的手腕奇异位形集合的并集。这种解耦方法常用于对机械臂奇异位形的简化分析方法中。</a:t>
                </a:r>
                <a:endParaRPr lang="zh-CN" altLang="en-US" dirty="0"/>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11</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22</a:t>
                </a:r>
                <a:r>
                  <a:rPr lang="zh-CN" altLang="zh-CN" sz="1200" kern="1200" dirty="0">
                    <a:solidFill>
                      <a:schemeClr val="tx1"/>
                    </a:solidFill>
                    <a:effectLst/>
                    <a:latin typeface="+mn-lt"/>
                    <a:ea typeface="+mn-ea"/>
                    <a:cs typeface="+mn-cs"/>
                  </a:rPr>
                  <a:t>均为</a:t>
                </a:r>
                <a:r>
                  <a:rPr lang="en-US" altLang="zh-CN" sz="1200" i="0" kern="1200">
                    <a:solidFill>
                      <a:schemeClr val="tx1"/>
                    </a:solidFill>
                    <a:effectLst/>
                    <a:latin typeface="+mn-lt"/>
                    <a:ea typeface="+mn-ea"/>
                    <a:cs typeface="+mn-cs"/>
                  </a:rPr>
                  <a:t>3×3</a:t>
                </a:r>
                <a:r>
                  <a:rPr lang="zh-CN" altLang="zh-CN" sz="1200" kern="1200" dirty="0">
                    <a:solidFill>
                      <a:schemeClr val="tx1"/>
                    </a:solidFill>
                    <a:effectLst/>
                    <a:latin typeface="+mn-lt"/>
                    <a:ea typeface="+mn-ea"/>
                    <a:cs typeface="+mn-cs"/>
                  </a:rPr>
                  <a:t>的矩阵，因此，</a:t>
                </a:r>
                <a:r>
                  <a:rPr lang="en-US" altLang="zh-CN" sz="1200" kern="1200" dirty="0">
                    <a:solidFill>
                      <a:schemeClr val="tx1"/>
                    </a:solidFill>
                    <a:effectLst/>
                    <a:latin typeface="+mn-lt"/>
                    <a:ea typeface="+mn-ea"/>
                    <a:cs typeface="+mn-cs"/>
                  </a:rPr>
                  <a:t>6R</a:t>
                </a:r>
                <a:r>
                  <a:rPr lang="zh-CN" altLang="zh-CN" sz="1200" kern="1200" dirty="0">
                    <a:solidFill>
                      <a:schemeClr val="tx1"/>
                    </a:solidFill>
                    <a:effectLst/>
                    <a:latin typeface="+mn-lt"/>
                    <a:ea typeface="+mn-ea"/>
                    <a:cs typeface="+mn-cs"/>
                  </a:rPr>
                  <a:t>机械臂的奇异位形的集合可分解为满足</a:t>
                </a:r>
                <a:r>
                  <a:rPr lang="en-US" altLang="zh-CN" sz="1200" i="0" kern="1200">
                    <a:solidFill>
                      <a:schemeClr val="tx1"/>
                    </a:solidFill>
                    <a:effectLst/>
                    <a:latin typeface="+mn-lt"/>
                    <a:ea typeface="+mn-ea"/>
                    <a:cs typeface="+mn-cs"/>
                  </a:rPr>
                  <a:t>det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11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的手臂奇异位形集合以及满足</a:t>
                </a:r>
                <a:r>
                  <a:rPr lang="en-US" altLang="zh-CN" sz="1200" i="0" kern="1200">
                    <a:solidFill>
                      <a:schemeClr val="tx1"/>
                    </a:solidFill>
                    <a:effectLst/>
                    <a:latin typeface="+mn-lt"/>
                    <a:ea typeface="+mn-ea"/>
                    <a:cs typeface="+mn-cs"/>
                  </a:rPr>
                  <a:t>det</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𝐽</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22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的手腕奇异位形集合的并集。这种解耦方法常用于对机械臂奇异位形的简化分析方法中。</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110</a:t>
            </a:fld>
            <a:endParaRPr lang="zh-CN" altLang="en-US"/>
          </a:p>
        </p:txBody>
      </p:sp>
    </p:spTree>
    <p:extLst>
      <p:ext uri="{BB962C8B-B14F-4D97-AF65-F5344CB8AC3E}">
        <p14:creationId xmlns:p14="http://schemas.microsoft.com/office/powerpoint/2010/main" val="1093469849"/>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早期的工业机器人是根据特定的作业要求进行特定类型设计的。比如焊接机器人、搬运机器人、装配机器人、码垛机器人和喷涂机器人等，根据各自不同的作业特点，确定操作臂的自由度、负载、速度、重复定位精度以及工作空间等方面的约束，分别进行设计。随着机器人的发展，工业机器人也逐步出现了通用性、适应性的发展趋势，目前主要体现在</a:t>
            </a:r>
            <a:r>
              <a:rPr lang="en-US" altLang="zh-CN" sz="1200" kern="1200" dirty="0" smtClean="0">
                <a:solidFill>
                  <a:schemeClr val="tx1"/>
                </a:solidFill>
                <a:effectLst/>
                <a:latin typeface="+mn-lt"/>
                <a:ea typeface="+mn-ea"/>
                <a:cs typeface="+mn-cs"/>
              </a:rPr>
              <a:t>6R</a:t>
            </a:r>
            <a:r>
              <a:rPr lang="zh-CN" altLang="zh-CN" sz="1200" kern="1200" dirty="0" smtClean="0">
                <a:solidFill>
                  <a:schemeClr val="tx1"/>
                </a:solidFill>
                <a:effectLst/>
                <a:latin typeface="+mn-lt"/>
                <a:ea typeface="+mn-ea"/>
                <a:cs typeface="+mn-cs"/>
              </a:rPr>
              <a:t>型的通用机械臂上，这样的串联机械臂，既可以用于码垛，也可以用于焊接、喷涂等作业。这就要求设计出来的机器人，除了负载、速度、重复定位精度与精度等方面满足要求之外，其工作空间要能涵盖各种作业要求的区域，需要对工作空间的形状以及工作空间的奇异性等问题进行分析、优化，并且避免操作臂自身在工作空间中发生干涉。</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111</a:t>
            </a:fld>
            <a:endParaRPr lang="zh-CN" altLang="en-US"/>
          </a:p>
        </p:txBody>
      </p:sp>
    </p:spTree>
    <p:extLst>
      <p:ext uri="{BB962C8B-B14F-4D97-AF65-F5344CB8AC3E}">
        <p14:creationId xmlns:p14="http://schemas.microsoft.com/office/powerpoint/2010/main" val="3504114788"/>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112</a:t>
            </a:fld>
            <a:endParaRPr lang="zh-CN" altLang="en-US"/>
          </a:p>
        </p:txBody>
      </p:sp>
    </p:spTree>
    <p:extLst>
      <p:ext uri="{BB962C8B-B14F-4D97-AF65-F5344CB8AC3E}">
        <p14:creationId xmlns:p14="http://schemas.microsoft.com/office/powerpoint/2010/main" val="2481297372"/>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113</a:t>
            </a:fld>
            <a:endParaRPr lang="zh-CN" altLang="en-US"/>
          </a:p>
        </p:txBody>
      </p:sp>
    </p:spTree>
    <p:extLst>
      <p:ext uri="{BB962C8B-B14F-4D97-AF65-F5344CB8AC3E}">
        <p14:creationId xmlns:p14="http://schemas.microsoft.com/office/powerpoint/2010/main" val="3605980325"/>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smtClean="0"/>
              <a:t>板书</a:t>
            </a:r>
            <a:endParaRPr lang="en-US" altLang="zh-CN" dirty="0" smtClean="0"/>
          </a:p>
          <a:p>
            <a:endParaRPr lang="en-US" altLang="zh-CN" dirty="0" smtClean="0"/>
          </a:p>
          <a:p>
            <a:r>
              <a:rPr lang="zh-CN" altLang="zh-CN" sz="1200" kern="1200" dirty="0" smtClean="0">
                <a:solidFill>
                  <a:schemeClr val="tx1"/>
                </a:solidFill>
                <a:effectLst/>
                <a:latin typeface="+mn-lt"/>
                <a:ea typeface="+mn-ea"/>
                <a:cs typeface="+mn-cs"/>
              </a:rPr>
              <a:t>从以上步骤中可以了解到，解析法对工作空间的边界进行解析求解，一般采用机器臂运动学的雅可比矩阵进行降秩，且涉及复杂的空间曲面相交和裁减等计算，难以适用于工程设计。随着计算机技术的发展，目前在工程上更多采用数值法对机器人的工作空间进行模拟求解。</a:t>
            </a:r>
            <a:endParaRPr lang="en-US"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114</a:t>
            </a:fld>
            <a:endParaRPr lang="zh-CN" altLang="en-US"/>
          </a:p>
        </p:txBody>
      </p:sp>
    </p:spTree>
    <p:extLst>
      <p:ext uri="{BB962C8B-B14F-4D97-AF65-F5344CB8AC3E}">
        <p14:creationId xmlns:p14="http://schemas.microsoft.com/office/powerpoint/2010/main" val="2698161285"/>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从图中，我们可以看出，</a:t>
            </a:r>
            <a:r>
              <a:rPr lang="en-US" altLang="zh-CN" sz="1200" kern="1200" dirty="0" smtClean="0">
                <a:solidFill>
                  <a:schemeClr val="tx1"/>
                </a:solidFill>
                <a:effectLst/>
                <a:latin typeface="+mn-lt"/>
                <a:ea typeface="+mn-ea"/>
                <a:cs typeface="+mn-cs"/>
              </a:rPr>
              <a:t>AUBO-i5</a:t>
            </a:r>
            <a:r>
              <a:rPr lang="zh-CN" altLang="zh-CN" sz="1200" kern="1200" dirty="0" smtClean="0">
                <a:solidFill>
                  <a:schemeClr val="tx1"/>
                </a:solidFill>
                <a:effectLst/>
                <a:latin typeface="+mn-lt"/>
                <a:ea typeface="+mn-ea"/>
                <a:cs typeface="+mn-cs"/>
              </a:rPr>
              <a:t>在六个关节角的</a:t>
            </a:r>
            <a:r>
              <a:rPr lang="en-US" altLang="zh-CN" sz="1200" kern="1200" dirty="0" smtClean="0">
                <a:solidFill>
                  <a:schemeClr val="tx1"/>
                </a:solidFill>
                <a:effectLst/>
                <a:latin typeface="+mn-lt"/>
                <a:ea typeface="+mn-ea"/>
                <a:cs typeface="+mn-cs"/>
              </a:rPr>
              <a:t>-175</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-175</a:t>
            </a:r>
            <a:r>
              <a:rPr lang="zh-CN" altLang="zh-CN" sz="1200" kern="1200" dirty="0" smtClean="0">
                <a:solidFill>
                  <a:schemeClr val="tx1"/>
                </a:solidFill>
                <a:effectLst/>
                <a:latin typeface="+mn-lt"/>
                <a:ea typeface="+mn-ea"/>
                <a:cs typeface="+mn-cs"/>
              </a:rPr>
              <a:t>℃的限制范围内，其工作空间为除去底部圆柱体的一个球形工作空间。当然这里我们没有考虑关节连杆的物理干涉，也没有考虑姿态。可以对这个点云数据进行分析，加以末端姿态约束以及连杆干涉约束，即可得到灵巧工作空间。利用这个点云数据，后面也可以进行查表或者智能学习算法，快速得出满足各种约束要求的逆解或工作空间分析。</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115</a:t>
            </a:fld>
            <a:endParaRPr lang="zh-CN" altLang="en-US"/>
          </a:p>
        </p:txBody>
      </p:sp>
    </p:spTree>
    <p:extLst>
      <p:ext uri="{BB962C8B-B14F-4D97-AF65-F5344CB8AC3E}">
        <p14:creationId xmlns:p14="http://schemas.microsoft.com/office/powerpoint/2010/main" val="2131455257"/>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116</a:t>
            </a:fld>
            <a:endParaRPr lang="zh-CN" altLang="en-US"/>
          </a:p>
        </p:txBody>
      </p:sp>
    </p:spTree>
    <p:extLst>
      <p:ext uri="{BB962C8B-B14F-4D97-AF65-F5344CB8AC3E}">
        <p14:creationId xmlns:p14="http://schemas.microsoft.com/office/powerpoint/2010/main" val="3840732639"/>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Stewart-Gough</a:t>
            </a:r>
            <a:r>
              <a:rPr lang="zh-CN" altLang="zh-CN" sz="1200" kern="1200" dirty="0" smtClean="0">
                <a:solidFill>
                  <a:schemeClr val="tx1"/>
                </a:solidFill>
                <a:effectLst/>
                <a:latin typeface="+mn-lt"/>
                <a:ea typeface="+mn-ea"/>
                <a:cs typeface="+mn-cs"/>
              </a:rPr>
              <a:t>机器人是最早出现的一种并联机器人，这类机器人最初由</a:t>
            </a:r>
            <a:r>
              <a:rPr lang="en-US" altLang="zh-CN" sz="1200" kern="1200" dirty="0" smtClean="0">
                <a:solidFill>
                  <a:schemeClr val="tx1"/>
                </a:solidFill>
                <a:effectLst/>
                <a:latin typeface="+mn-lt"/>
                <a:ea typeface="+mn-ea"/>
                <a:cs typeface="+mn-cs"/>
              </a:rPr>
              <a:t>Gough</a:t>
            </a:r>
            <a:r>
              <a:rPr lang="zh-CN" altLang="zh-CN" sz="1200" kern="1200" dirty="0" smtClean="0">
                <a:solidFill>
                  <a:schemeClr val="tx1"/>
                </a:solidFill>
                <a:effectLst/>
                <a:latin typeface="+mn-lt"/>
                <a:ea typeface="+mn-ea"/>
                <a:cs typeface="+mn-cs"/>
              </a:rPr>
              <a:t>在</a:t>
            </a:r>
            <a:r>
              <a:rPr lang="en-US" altLang="zh-CN" sz="1200" kern="1200" dirty="0" smtClean="0">
                <a:solidFill>
                  <a:schemeClr val="tx1"/>
                </a:solidFill>
                <a:effectLst/>
                <a:latin typeface="+mn-lt"/>
                <a:ea typeface="+mn-ea"/>
                <a:cs typeface="+mn-cs"/>
              </a:rPr>
              <a:t>1947</a:t>
            </a:r>
            <a:r>
              <a:rPr lang="zh-CN" altLang="zh-CN" sz="1200" kern="1200" dirty="0" smtClean="0">
                <a:solidFill>
                  <a:schemeClr val="tx1"/>
                </a:solidFill>
                <a:effectLst/>
                <a:latin typeface="+mn-lt"/>
                <a:ea typeface="+mn-ea"/>
                <a:cs typeface="+mn-cs"/>
              </a:rPr>
              <a:t>年发明，被用于检测各种载荷条件下的轮胎磨损。后来，</a:t>
            </a:r>
            <a:r>
              <a:rPr lang="en-US" altLang="zh-CN" sz="1200" kern="1200" dirty="0" smtClean="0">
                <a:solidFill>
                  <a:schemeClr val="tx1"/>
                </a:solidFill>
                <a:effectLst/>
                <a:latin typeface="+mn-lt"/>
                <a:ea typeface="+mn-ea"/>
                <a:cs typeface="+mn-cs"/>
              </a:rPr>
              <a:t>Stewart</a:t>
            </a:r>
            <a:r>
              <a:rPr lang="zh-CN" altLang="zh-CN" sz="1200" kern="1200" dirty="0" smtClean="0">
                <a:solidFill>
                  <a:schemeClr val="tx1"/>
                </a:solidFill>
                <a:effectLst/>
                <a:latin typeface="+mn-lt"/>
                <a:ea typeface="+mn-ea"/>
                <a:cs typeface="+mn-cs"/>
              </a:rPr>
              <a:t>在</a:t>
            </a:r>
            <a:r>
              <a:rPr lang="en-US" altLang="zh-CN" sz="1200" kern="1200" dirty="0" smtClean="0">
                <a:solidFill>
                  <a:schemeClr val="tx1"/>
                </a:solidFill>
                <a:effectLst/>
                <a:latin typeface="+mn-lt"/>
                <a:ea typeface="+mn-ea"/>
                <a:cs typeface="+mn-cs"/>
              </a:rPr>
              <a:t>1965</a:t>
            </a:r>
            <a:r>
              <a:rPr lang="zh-CN" altLang="zh-CN" sz="1200" kern="1200" dirty="0" smtClean="0">
                <a:solidFill>
                  <a:schemeClr val="tx1"/>
                </a:solidFill>
                <a:effectLst/>
                <a:latin typeface="+mn-lt"/>
                <a:ea typeface="+mn-ea"/>
                <a:cs typeface="+mn-cs"/>
              </a:rPr>
              <a:t>年发表的一篇论文中，阐述了</a:t>
            </a:r>
            <a:r>
              <a:rPr lang="en-US" altLang="zh-CN" sz="1200" kern="1200" dirty="0" smtClean="0">
                <a:solidFill>
                  <a:schemeClr val="tx1"/>
                </a:solidFill>
                <a:effectLst/>
                <a:latin typeface="+mn-lt"/>
                <a:ea typeface="+mn-ea"/>
                <a:cs typeface="+mn-cs"/>
              </a:rPr>
              <a:t>Gough</a:t>
            </a:r>
            <a:r>
              <a:rPr lang="zh-CN" altLang="zh-CN" sz="1200" kern="1200" dirty="0" smtClean="0">
                <a:solidFill>
                  <a:schemeClr val="tx1"/>
                </a:solidFill>
                <a:effectLst/>
                <a:latin typeface="+mn-lt"/>
                <a:ea typeface="+mn-ea"/>
                <a:cs typeface="+mn-cs"/>
              </a:rPr>
              <a:t>的工作，并使其得到了推广。其简化结构见图</a:t>
            </a:r>
            <a:r>
              <a:rPr lang="en-US" altLang="zh-CN" sz="1200" kern="1200" dirty="0" smtClean="0">
                <a:solidFill>
                  <a:schemeClr val="tx1"/>
                </a:solidFill>
                <a:effectLst/>
                <a:latin typeface="+mn-lt"/>
                <a:ea typeface="+mn-ea"/>
                <a:cs typeface="+mn-cs"/>
              </a:rPr>
              <a:t>3.33(a)</a:t>
            </a:r>
            <a:r>
              <a:rPr lang="zh-CN" altLang="zh-CN" sz="1200" kern="1200" dirty="0" smtClean="0">
                <a:solidFill>
                  <a:schemeClr val="tx1"/>
                </a:solidFill>
                <a:effectLst/>
                <a:latin typeface="+mn-lt"/>
                <a:ea typeface="+mn-ea"/>
                <a:cs typeface="+mn-cs"/>
              </a:rPr>
              <a:t>所示，它有六个移动副，被广泛用来做运动模拟器和六轴力</a:t>
            </a:r>
            <a:r>
              <a:rPr lang="en-US" altLang="zh-CN" sz="1200" kern="1200" dirty="0" smtClean="0">
                <a:solidFill>
                  <a:schemeClr val="tx1"/>
                </a:solidFill>
                <a:effectLst/>
                <a:latin typeface="+mn-lt"/>
                <a:ea typeface="+mn-ea"/>
                <a:cs typeface="+mn-cs"/>
              </a:rPr>
              <a:t>&amp;</a:t>
            </a:r>
            <a:r>
              <a:rPr lang="zh-CN" altLang="zh-CN" sz="1200" kern="1200" dirty="0" smtClean="0">
                <a:solidFill>
                  <a:schemeClr val="tx1"/>
                </a:solidFill>
                <a:effectLst/>
                <a:latin typeface="+mn-lt"/>
                <a:ea typeface="+mn-ea"/>
                <a:cs typeface="+mn-cs"/>
              </a:rPr>
              <a:t>力矩传感器。作为力矩传感器使用时，当任何外力施加给平台时，</a:t>
            </a:r>
            <a:r>
              <a:rPr lang="en-US" altLang="zh-CN" sz="1200" kern="1200" dirty="0" smtClean="0">
                <a:solidFill>
                  <a:schemeClr val="tx1"/>
                </a:solidFill>
                <a:effectLst/>
                <a:latin typeface="+mn-lt"/>
                <a:ea typeface="+mn-ea"/>
                <a:cs typeface="+mn-cs"/>
              </a:rPr>
              <a:t>6</a:t>
            </a:r>
            <a:r>
              <a:rPr lang="zh-CN" altLang="zh-CN" sz="1200" kern="1200" dirty="0" smtClean="0">
                <a:solidFill>
                  <a:schemeClr val="tx1"/>
                </a:solidFill>
                <a:effectLst/>
                <a:latin typeface="+mn-lt"/>
                <a:ea typeface="+mn-ea"/>
                <a:cs typeface="+mn-cs"/>
              </a:rPr>
              <a:t>个移动副都承受沿自身直线方向的内力，通过测量这些内力就可以估计所施加的外力。另一种被广泛采用的并联机器人是瑞士洛桑联邦理工学院（</a:t>
            </a:r>
            <a:r>
              <a:rPr lang="en-US" altLang="zh-CN" sz="1200" kern="1200" dirty="0" smtClean="0">
                <a:solidFill>
                  <a:schemeClr val="tx1"/>
                </a:solidFill>
                <a:effectLst/>
                <a:latin typeface="+mn-lt"/>
                <a:ea typeface="+mn-ea"/>
                <a:cs typeface="+mn-cs"/>
              </a:rPr>
              <a:t>EPFL</a:t>
            </a:r>
            <a:r>
              <a:rPr lang="zh-CN" altLang="zh-CN" sz="1200" kern="1200" dirty="0" smtClean="0">
                <a:solidFill>
                  <a:schemeClr val="tx1"/>
                </a:solidFill>
                <a:effectLst/>
                <a:latin typeface="+mn-lt"/>
                <a:ea typeface="+mn-ea"/>
                <a:cs typeface="+mn-cs"/>
              </a:rPr>
              <a:t>）的雷蒙</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克拉威</a:t>
            </a:r>
            <a:r>
              <a:rPr lang="en-US"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Reymond</a:t>
            </a:r>
            <a:r>
              <a:rPr lang="en-US" altLang="zh-CN" sz="1200" kern="1200" dirty="0" smtClean="0">
                <a:solidFill>
                  <a:schemeClr val="tx1"/>
                </a:solidFill>
                <a:effectLst/>
                <a:latin typeface="+mn-lt"/>
                <a:ea typeface="+mn-ea"/>
                <a:cs typeface="+mn-cs"/>
              </a:rPr>
              <a:t> </a:t>
            </a:r>
            <a:r>
              <a:rPr lang="en-US" altLang="zh-CN" sz="1200" kern="1200" dirty="0" err="1" smtClean="0">
                <a:solidFill>
                  <a:schemeClr val="tx1"/>
                </a:solidFill>
                <a:effectLst/>
                <a:latin typeface="+mn-lt"/>
                <a:ea typeface="+mn-ea"/>
                <a:cs typeface="+mn-cs"/>
              </a:rPr>
              <a:t>Clavel</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设计的</a:t>
            </a:r>
            <a:r>
              <a:rPr lang="en-US" altLang="zh-CN" sz="1200" kern="1200" dirty="0" smtClean="0">
                <a:solidFill>
                  <a:schemeClr val="tx1"/>
                </a:solidFill>
                <a:effectLst/>
                <a:latin typeface="+mn-lt"/>
                <a:ea typeface="+mn-ea"/>
                <a:cs typeface="+mn-cs"/>
              </a:rPr>
              <a:t>Delta</a:t>
            </a:r>
            <a:r>
              <a:rPr lang="zh-CN" altLang="zh-CN" sz="1200" kern="1200" dirty="0" smtClean="0">
                <a:solidFill>
                  <a:schemeClr val="tx1"/>
                </a:solidFill>
                <a:effectLst/>
                <a:latin typeface="+mn-lt"/>
                <a:ea typeface="+mn-ea"/>
                <a:cs typeface="+mn-cs"/>
              </a:rPr>
              <a:t>机器人，其简化结构见图</a:t>
            </a:r>
            <a:r>
              <a:rPr lang="en-US" altLang="zh-CN" sz="1200" kern="1200" dirty="0" smtClean="0">
                <a:solidFill>
                  <a:schemeClr val="tx1"/>
                </a:solidFill>
                <a:effectLst/>
                <a:latin typeface="+mn-lt"/>
                <a:ea typeface="+mn-ea"/>
                <a:cs typeface="+mn-cs"/>
              </a:rPr>
              <a:t>3.33(b)</a:t>
            </a:r>
            <a:r>
              <a:rPr lang="zh-CN" altLang="zh-CN" sz="1200" kern="1200" dirty="0" smtClean="0">
                <a:solidFill>
                  <a:schemeClr val="tx1"/>
                </a:solidFill>
                <a:effectLst/>
                <a:latin typeface="+mn-lt"/>
                <a:ea typeface="+mn-ea"/>
                <a:cs typeface="+mn-cs"/>
              </a:rPr>
              <a:t>所示，为</a:t>
            </a:r>
            <a:r>
              <a:rPr lang="en-US" altLang="zh-CN" sz="1200" kern="1200" dirty="0" smtClean="0">
                <a:solidFill>
                  <a:schemeClr val="tx1"/>
                </a:solidFill>
                <a:effectLst/>
                <a:latin typeface="+mn-lt"/>
                <a:ea typeface="+mn-ea"/>
                <a:cs typeface="+mn-cs"/>
              </a:rPr>
              <a:t>3-RUU</a:t>
            </a:r>
            <a:r>
              <a:rPr lang="zh-CN" altLang="zh-CN" sz="1200" kern="1200" dirty="0" smtClean="0">
                <a:solidFill>
                  <a:schemeClr val="tx1"/>
                </a:solidFill>
                <a:effectLst/>
                <a:latin typeface="+mn-lt"/>
                <a:ea typeface="+mn-ea"/>
                <a:cs typeface="+mn-cs"/>
              </a:rPr>
              <a:t>型。</a:t>
            </a:r>
            <a:r>
              <a:rPr lang="en-US" altLang="zh-CN" sz="1200" kern="1200" dirty="0" smtClean="0">
                <a:solidFill>
                  <a:schemeClr val="tx1"/>
                </a:solidFill>
                <a:effectLst/>
                <a:latin typeface="+mn-lt"/>
                <a:ea typeface="+mn-ea"/>
                <a:cs typeface="+mn-cs"/>
              </a:rPr>
              <a:t>Delta</a:t>
            </a:r>
            <a:r>
              <a:rPr lang="zh-CN" altLang="zh-CN" sz="1200" kern="1200" dirty="0" smtClean="0">
                <a:solidFill>
                  <a:schemeClr val="tx1"/>
                </a:solidFill>
                <a:effectLst/>
                <a:latin typeface="+mn-lt"/>
                <a:ea typeface="+mn-ea"/>
                <a:cs typeface="+mn-cs"/>
              </a:rPr>
              <a:t>机器人支链中连杆与运动副的几何分布决定了动平台具有</a:t>
            </a:r>
            <a:r>
              <a:rPr lang="en-US" altLang="zh-CN" sz="1200" kern="1200" dirty="0" smtClean="0">
                <a:solidFill>
                  <a:schemeClr val="tx1"/>
                </a:solidFill>
                <a:effectLst/>
                <a:latin typeface="+mn-lt"/>
                <a:ea typeface="+mn-ea"/>
                <a:cs typeface="+mn-cs"/>
              </a:rPr>
              <a:t>3</a:t>
            </a:r>
            <a:r>
              <a:rPr lang="zh-CN" altLang="zh-CN" sz="1200" kern="1200" dirty="0" smtClean="0">
                <a:solidFill>
                  <a:schemeClr val="tx1"/>
                </a:solidFill>
                <a:effectLst/>
                <a:latin typeface="+mn-lt"/>
                <a:ea typeface="+mn-ea"/>
                <a:cs typeface="+mn-cs"/>
              </a:rPr>
              <a:t>个移动自由度，动平台始终保持与静平台平行的方式运动。近年来很多新的并联机器人被设计了出来，尽管大多数已有的结构都是基于设计者的灵感，但这两种并联机构的型综合体现最广泛。</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相对于串联机器人，并联机器人具有如下优点：</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）刚度质量比大。因采用并联闭环杆系</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杆系理论上只承受拉、压载荷</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是典型的二力杆</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并且多杆受力，使得传动机构具有很高的承载强度。</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）动态性能优越。运动部件质量轻，惯性低</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可有效改善伺服控制器的动态性能</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使动平台获得很高的速度与加速度</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适合于高速作业。</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3</a:t>
            </a:r>
            <a:r>
              <a:rPr lang="zh-CN" altLang="zh-CN" sz="1200" kern="1200" dirty="0" smtClean="0">
                <a:solidFill>
                  <a:schemeClr val="tx1"/>
                </a:solidFill>
                <a:effectLst/>
                <a:latin typeface="+mn-lt"/>
                <a:ea typeface="+mn-ea"/>
                <a:cs typeface="+mn-cs"/>
              </a:rPr>
              <a:t>）运动精度高。并联机构不仅没有串联机构中存在的误差累积，而且各条运动链的误差在末端可以有一个相互抵消的平均化效果。</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4</a:t>
            </a:r>
            <a:r>
              <a:rPr lang="zh-CN" altLang="zh-CN" sz="1200" kern="1200" dirty="0" smtClean="0">
                <a:solidFill>
                  <a:schemeClr val="tx1"/>
                </a:solidFill>
                <a:effectLst/>
                <a:latin typeface="+mn-lt"/>
                <a:ea typeface="+mn-ea"/>
                <a:cs typeface="+mn-cs"/>
              </a:rPr>
              <a:t>）结构紧凑灵活性强。通过运动耦合，可以实现末端复杂的运动轨迹，尤其当应用于机床行业时，容易实现多轴联动，加工复杂曲面。</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5</a:t>
            </a:r>
            <a:r>
              <a:rPr lang="zh-CN" altLang="zh-CN" sz="1200" kern="1200" dirty="0" smtClean="0">
                <a:solidFill>
                  <a:schemeClr val="tx1"/>
                </a:solidFill>
                <a:effectLst/>
                <a:latin typeface="+mn-lt"/>
                <a:ea typeface="+mn-ea"/>
                <a:cs typeface="+mn-cs"/>
              </a:rPr>
              <a:t>）使用寿命长。由于受力结构合理，运动部件磨损小。</a:t>
            </a:r>
          </a:p>
          <a:p>
            <a:r>
              <a:rPr lang="zh-CN" altLang="zh-CN" sz="1200" kern="1200" dirty="0" smtClean="0">
                <a:solidFill>
                  <a:schemeClr val="tx1"/>
                </a:solidFill>
                <a:effectLst/>
                <a:latin typeface="+mn-lt"/>
                <a:ea typeface="+mn-ea"/>
                <a:cs typeface="+mn-cs"/>
              </a:rPr>
              <a:t>并联机器人具有以上优点的同时，在应用推广的过程中也具有明显的缺点：</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）工作空间较小；</a:t>
            </a: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）开发难度大（结构复杂，运动耦合复杂，奇异位形多</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117</a:t>
            </a:fld>
            <a:endParaRPr lang="zh-CN" altLang="en-US"/>
          </a:p>
        </p:txBody>
      </p:sp>
    </p:spTree>
    <p:extLst>
      <p:ext uri="{BB962C8B-B14F-4D97-AF65-F5344CB8AC3E}">
        <p14:creationId xmlns:p14="http://schemas.microsoft.com/office/powerpoint/2010/main" val="426498354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118</a:t>
            </a:fld>
            <a:endParaRPr lang="zh-CN" altLang="en-US"/>
          </a:p>
        </p:txBody>
      </p:sp>
    </p:spTree>
    <p:extLst>
      <p:ext uri="{BB962C8B-B14F-4D97-AF65-F5344CB8AC3E}">
        <p14:creationId xmlns:p14="http://schemas.microsoft.com/office/powerpoint/2010/main" val="3702328667"/>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119</a:t>
            </a:fld>
            <a:endParaRPr lang="zh-CN" altLang="en-US"/>
          </a:p>
        </p:txBody>
      </p:sp>
    </p:spTree>
    <p:extLst>
      <p:ext uri="{BB962C8B-B14F-4D97-AF65-F5344CB8AC3E}">
        <p14:creationId xmlns:p14="http://schemas.microsoft.com/office/powerpoint/2010/main" val="1319062828"/>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120</a:t>
            </a:fld>
            <a:endParaRPr lang="zh-CN" altLang="en-US"/>
          </a:p>
        </p:txBody>
      </p:sp>
    </p:spTree>
    <p:extLst>
      <p:ext uri="{BB962C8B-B14F-4D97-AF65-F5344CB8AC3E}">
        <p14:creationId xmlns:p14="http://schemas.microsoft.com/office/powerpoint/2010/main" val="3824414715"/>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板书推导过程</a:t>
                </a:r>
                <a:endParaRPr lang="en-US" altLang="zh-CN" dirty="0" smtClean="0"/>
              </a:p>
              <a:p>
                <a:endParaRPr lang="en-US" altLang="zh-CN" dirty="0" smtClean="0"/>
              </a:p>
              <a:p>
                <a:endParaRPr lang="en-US" altLang="zh-CN" dirty="0" smtClean="0"/>
              </a:p>
              <a:p>
                <a:r>
                  <a:rPr lang="zh-CN" altLang="zh-CN" sz="1200" kern="1200" dirty="0" smtClean="0">
                    <a:solidFill>
                      <a:schemeClr val="tx1"/>
                    </a:solidFill>
                    <a:effectLst/>
                    <a:latin typeface="+mn-lt"/>
                    <a:ea typeface="+mn-ea"/>
                    <a:cs typeface="+mn-cs"/>
                  </a:rPr>
                  <a:t>首先分析逆运动学求解，如果已知动平台末端坐标为</a:t>
                </a:r>
                <a14:m>
                  <m:oMath xmlns:m="http://schemas.openxmlformats.org/officeDocument/2006/math">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𝐵</m:t>
                        </m:r>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𝑃</m:t>
                            </m:r>
                          </m:e>
                          <m:sub>
                            <m:r>
                              <a:rPr lang="en-US" altLang="zh-CN" sz="1200" i="1" kern="1200">
                                <a:solidFill>
                                  <a:schemeClr val="tx1"/>
                                </a:solidFill>
                                <a:effectLst/>
                                <a:latin typeface="Cambria Math" panose="02040503050406030204" pitchFamily="18" charset="0"/>
                                <a:ea typeface="+mn-ea"/>
                                <a:cs typeface="+mn-cs"/>
                              </a:rPr>
                              <m:t>𝑃</m:t>
                            </m:r>
                          </m:sub>
                        </m:sSub>
                      </m:e>
                    </m:sPre>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𝑥</m:t>
                        </m:r>
                        <m:r>
                          <a:rPr lang="en-US" altLang="zh-CN" sz="1200" i="1"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𝑦</m:t>
                        </m:r>
                        <m:r>
                          <a:rPr lang="en-US" altLang="zh-CN" sz="1200" i="1"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𝑧</m:t>
                        </m:r>
                        <m:r>
                          <a:rPr lang="en-US" altLang="zh-CN" sz="1200" i="1" kern="1200">
                            <a:solidFill>
                              <a:schemeClr val="tx1"/>
                            </a:solidFill>
                            <a:effectLst/>
                            <a:latin typeface="Cambria Math" panose="02040503050406030204" pitchFamily="18" charset="0"/>
                            <a:ea typeface="+mn-ea"/>
                            <a:cs typeface="+mn-cs"/>
                          </a:rPr>
                          <m:t>}</m:t>
                        </m:r>
                      </m:e>
                      <m:sup>
                        <m:r>
                          <a:rPr lang="en-US" altLang="zh-CN" sz="1200" i="1" kern="1200">
                            <a:solidFill>
                              <a:schemeClr val="tx1"/>
                            </a:solidFill>
                            <a:effectLst/>
                            <a:latin typeface="Cambria Math" panose="02040503050406030204" pitchFamily="18" charset="0"/>
                            <a:ea typeface="+mn-ea"/>
                            <a:cs typeface="+mn-cs"/>
                          </a:rPr>
                          <m:t>𝑇</m:t>
                        </m:r>
                      </m:sup>
                    </m:sSup>
                  </m:oMath>
                </a14:m>
                <a:r>
                  <a:rPr lang="zh-CN" altLang="zh-CN" sz="1200" kern="1200" dirty="0">
                    <a:solidFill>
                      <a:schemeClr val="tx1"/>
                    </a:solidFill>
                    <a:effectLst/>
                    <a:latin typeface="+mn-lt"/>
                    <a:ea typeface="+mn-ea"/>
                    <a:cs typeface="+mn-cs"/>
                  </a:rPr>
                  <a:t>，求三条驱动臂的张角</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m:t>
                        </m:r>
                      </m:e>
                      <m:sup>
                        <m:r>
                          <a:rPr lang="en-US" altLang="zh-CN" sz="1200" i="1" kern="1200">
                            <a:solidFill>
                              <a:schemeClr val="tx1"/>
                            </a:solidFill>
                            <a:effectLst/>
                            <a:latin typeface="Cambria Math" panose="02040503050406030204" pitchFamily="18" charset="0"/>
                            <a:ea typeface="+mn-ea"/>
                            <a:cs typeface="+mn-cs"/>
                          </a:rPr>
                          <m:t>𝑇</m:t>
                        </m:r>
                      </m:sup>
                    </m:sSup>
                  </m:oMath>
                </a14:m>
                <a:r>
                  <a:rPr lang="zh-CN" altLang="zh-CN" sz="1200" kern="1200" dirty="0">
                    <a:solidFill>
                      <a:schemeClr val="tx1"/>
                    </a:solidFill>
                    <a:effectLst/>
                    <a:latin typeface="+mn-lt"/>
                    <a:ea typeface="+mn-ea"/>
                    <a:cs typeface="+mn-cs"/>
                  </a:rPr>
                  <a:t>。从几何角度分析，动平台的末端位置取决于三条支链的逆解，驱动臂的运动轨迹为绕</a:t>
                </a:r>
                <a14:m>
                  <m:oMath xmlns:m="http://schemas.openxmlformats.org/officeDocument/2006/math">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𝐵</m:t>
                        </m:r>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𝐵</m:t>
                            </m:r>
                          </m:e>
                          <m:sub>
                            <m:r>
                              <a:rPr lang="en-US" altLang="zh-CN" sz="1200" i="1" kern="1200">
                                <a:solidFill>
                                  <a:schemeClr val="tx1"/>
                                </a:solidFill>
                                <a:effectLst/>
                                <a:latin typeface="Cambria Math" panose="02040503050406030204" pitchFamily="18" charset="0"/>
                                <a:ea typeface="+mn-ea"/>
                                <a:cs typeface="+mn-cs"/>
                              </a:rPr>
                              <m:t>𝑖</m:t>
                            </m:r>
                          </m:sub>
                        </m:sSub>
                      </m:e>
                    </m:sPre>
                  </m:oMath>
                </a14:m>
                <a:r>
                  <a:rPr lang="zh-CN" altLang="zh-CN" sz="1200" kern="1200" dirty="0">
                    <a:solidFill>
                      <a:schemeClr val="tx1"/>
                    </a:solidFill>
                    <a:effectLst/>
                    <a:latin typeface="+mn-lt"/>
                    <a:ea typeface="+mn-ea"/>
                    <a:cs typeface="+mn-cs"/>
                  </a:rPr>
                  <a:t>的圆弧，其半径为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𝐿</m:t>
                    </m:r>
                  </m:oMath>
                </a14:m>
                <a:r>
                  <a:rPr lang="zh-CN" altLang="zh-CN" sz="1200" kern="1200" dirty="0">
                    <a:solidFill>
                      <a:schemeClr val="tx1"/>
                    </a:solidFill>
                    <a:effectLst/>
                    <a:latin typeface="+mn-lt"/>
                    <a:ea typeface="+mn-ea"/>
                    <a:cs typeface="+mn-cs"/>
                  </a:rPr>
                  <a:t>，从动臂的运动轨迹为绕动平台角点</a:t>
                </a:r>
                <a14:m>
                  <m:oMath xmlns:m="http://schemas.openxmlformats.org/officeDocument/2006/math">
                    <m:sPre>
                      <m:sPrePr>
                        <m:ctrlPr>
                          <a:rPr lang="zh-CN" altLang="zh-CN" sz="1200" i="1" kern="1200">
                            <a:solidFill>
                              <a:schemeClr val="tx1"/>
                            </a:solidFill>
                            <a:effectLst/>
                            <a:latin typeface="Cambria Math" panose="02040503050406030204" pitchFamily="18" charset="0"/>
                            <a:ea typeface="+mn-ea"/>
                            <a:cs typeface="+mn-cs"/>
                          </a:rPr>
                        </m:ctrlPr>
                      </m:sPrePr>
                      <m:sub/>
                      <m:sup>
                        <m:r>
                          <a:rPr lang="en-US" altLang="zh-CN" sz="1200" i="1" kern="1200">
                            <a:solidFill>
                              <a:schemeClr val="tx1"/>
                            </a:solidFill>
                            <a:effectLst/>
                            <a:latin typeface="Cambria Math" panose="02040503050406030204" pitchFamily="18" charset="0"/>
                            <a:ea typeface="+mn-ea"/>
                            <a:cs typeface="+mn-cs"/>
                          </a:rPr>
                          <m:t>𝑃</m:t>
                        </m:r>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𝑃</m:t>
                            </m:r>
                          </m:e>
                          <m:sub>
                            <m:r>
                              <a:rPr lang="en-US" altLang="zh-CN" sz="1200" i="1" kern="1200">
                                <a:solidFill>
                                  <a:schemeClr val="tx1"/>
                                </a:solidFill>
                                <a:effectLst/>
                                <a:latin typeface="Cambria Math" panose="02040503050406030204" pitchFamily="18" charset="0"/>
                                <a:ea typeface="+mn-ea"/>
                                <a:cs typeface="+mn-cs"/>
                              </a:rPr>
                              <m:t>𝑖</m:t>
                            </m:r>
                          </m:sub>
                        </m:sSub>
                      </m:e>
                    </m:sPre>
                  </m:oMath>
                </a14:m>
                <a:r>
                  <a:rPr lang="zh-CN" altLang="zh-CN" sz="1200" kern="1200" dirty="0">
                    <a:solidFill>
                      <a:schemeClr val="tx1"/>
                    </a:solidFill>
                    <a:effectLst/>
                    <a:latin typeface="+mn-lt"/>
                    <a:ea typeface="+mn-ea"/>
                    <a:cs typeface="+mn-cs"/>
                  </a:rPr>
                  <a:t>的球面，半径为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𝑙</m:t>
                    </m:r>
                  </m:oMath>
                </a14:m>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en-US" altLang="zh-CN" dirty="0" smtClean="0"/>
              </a:p>
              <a:p>
                <a:r>
                  <a:rPr lang="zh-CN" altLang="zh-CN" sz="1200" kern="1200" dirty="0" smtClean="0">
                    <a:solidFill>
                      <a:schemeClr val="tx1"/>
                    </a:solidFill>
                    <a:effectLst/>
                    <a:latin typeface="+mn-lt"/>
                    <a:ea typeface="+mn-ea"/>
                    <a:cs typeface="+mn-cs"/>
                  </a:rPr>
                  <a:t>由于每个张角</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𝑖</m:t>
                        </m:r>
                      </m:sub>
                    </m:sSub>
                  </m:oMath>
                </a14:m>
                <a:r>
                  <a:rPr lang="zh-CN" altLang="zh-CN" sz="1200" kern="1200" dirty="0">
                    <a:solidFill>
                      <a:schemeClr val="tx1"/>
                    </a:solidFill>
                    <a:effectLst/>
                    <a:latin typeface="+mn-lt"/>
                    <a:ea typeface="+mn-ea"/>
                    <a:cs typeface="+mn-cs"/>
                  </a:rPr>
                  <a:t>有</a:t>
                </a:r>
                <a:r>
                  <a:rPr lang="en-US" altLang="zh-CN" sz="1200" kern="1200" dirty="0">
                    <a:solidFill>
                      <a:schemeClr val="tx1"/>
                    </a:solidFill>
                    <a:effectLst/>
                    <a:latin typeface="+mn-lt"/>
                    <a:ea typeface="+mn-ea"/>
                    <a:cs typeface="+mn-cs"/>
                  </a:rPr>
                  <a:t> 2 </a:t>
                </a:r>
                <a:r>
                  <a:rPr lang="zh-CN" altLang="zh-CN" sz="1200" kern="1200" dirty="0">
                    <a:solidFill>
                      <a:schemeClr val="tx1"/>
                    </a:solidFill>
                    <a:effectLst/>
                    <a:latin typeface="+mn-lt"/>
                    <a:ea typeface="+mn-ea"/>
                    <a:cs typeface="+mn-cs"/>
                  </a:rPr>
                  <a:t>个解，每条支链将有向内弯和向外弯两种姿态，组合起来就有</a:t>
                </a:r>
                <a:r>
                  <a:rPr lang="en-US" altLang="zh-CN" sz="1200" kern="1200" dirty="0">
                    <a:solidFill>
                      <a:schemeClr val="tx1"/>
                    </a:solidFill>
                    <a:effectLst/>
                    <a:latin typeface="+mn-lt"/>
                    <a:ea typeface="+mn-ea"/>
                    <a:cs typeface="+mn-cs"/>
                  </a:rPr>
                  <a:t>8</a:t>
                </a:r>
                <a:r>
                  <a:rPr lang="zh-CN" altLang="zh-CN" sz="1200" kern="1200" dirty="0">
                    <a:solidFill>
                      <a:schemeClr val="tx1"/>
                    </a:solidFill>
                    <a:effectLst/>
                    <a:latin typeface="+mn-lt"/>
                    <a:ea typeface="+mn-ea"/>
                    <a:cs typeface="+mn-cs"/>
                  </a:rPr>
                  <a:t>种可能的解，需要根据运动转角的限制情况，判别</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号中的值到底哪一个符合要求，一般选择所有支链都向外弯曲的姿态，最终求得</a:t>
                </a:r>
                <a:r>
                  <a:rPr lang="en-US" altLang="zh-CN" sz="1200" kern="1200" dirty="0">
                    <a:solidFill>
                      <a:schemeClr val="tx1"/>
                    </a:solidFill>
                    <a:effectLst/>
                    <a:latin typeface="+mn-lt"/>
                    <a:ea typeface="+mn-ea"/>
                    <a:cs typeface="+mn-cs"/>
                  </a:rPr>
                  <a:t>Delta</a:t>
                </a:r>
                <a:r>
                  <a:rPr lang="zh-CN" altLang="zh-CN" sz="1200" kern="1200" dirty="0">
                    <a:solidFill>
                      <a:schemeClr val="tx1"/>
                    </a:solidFill>
                    <a:effectLst/>
                    <a:latin typeface="+mn-lt"/>
                    <a:ea typeface="+mn-ea"/>
                    <a:cs typeface="+mn-cs"/>
                  </a:rPr>
                  <a:t>并联机器人运动学的逆解。</a:t>
                </a:r>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板书推导过程</a:t>
                </a:r>
                <a:endParaRPr lang="en-US" altLang="zh-CN" dirty="0" smtClean="0"/>
              </a:p>
              <a:p>
                <a:endParaRPr lang="en-US" altLang="zh-CN" dirty="0" smtClean="0"/>
              </a:p>
              <a:p>
                <a:endParaRPr lang="en-US" altLang="zh-CN" dirty="0" smtClean="0"/>
              </a:p>
              <a:p>
                <a:r>
                  <a:rPr lang="zh-CN" altLang="zh-CN" sz="1200" kern="1200" dirty="0" smtClean="0">
                    <a:solidFill>
                      <a:schemeClr val="tx1"/>
                    </a:solidFill>
                    <a:effectLst/>
                    <a:latin typeface="+mn-lt"/>
                    <a:ea typeface="+mn-ea"/>
                    <a:cs typeface="+mn-cs"/>
                  </a:rPr>
                  <a:t>首先分析逆运动学求解，如果已知动平台末端坐标为</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^𝐵</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𝑃 =</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{𝑥 𝑦 𝑧}</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kern="1200" dirty="0">
                    <a:solidFill>
                      <a:schemeClr val="tx1"/>
                    </a:solidFill>
                    <a:effectLst/>
                    <a:latin typeface="+mn-lt"/>
                    <a:ea typeface="+mn-ea"/>
                    <a:cs typeface="+mn-cs"/>
                  </a:rPr>
                  <a:t>，求三条驱动臂的张角</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1  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2  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3}</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𝑇</a:t>
                </a:r>
                <a:r>
                  <a:rPr lang="zh-CN" altLang="zh-CN" sz="1200" kern="1200" dirty="0">
                    <a:solidFill>
                      <a:schemeClr val="tx1"/>
                    </a:solidFill>
                    <a:effectLst/>
                    <a:latin typeface="+mn-lt"/>
                    <a:ea typeface="+mn-ea"/>
                    <a:cs typeface="+mn-cs"/>
                  </a:rPr>
                  <a:t>。从几何角度分析，动平台的末端位置取决于三条支链的逆解，驱动臂的运动轨迹为绕</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^𝐵</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𝐵</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kern="1200" dirty="0">
                    <a:solidFill>
                      <a:schemeClr val="tx1"/>
                    </a:solidFill>
                    <a:effectLst/>
                    <a:latin typeface="+mn-lt"/>
                    <a:ea typeface="+mn-ea"/>
                    <a:cs typeface="+mn-cs"/>
                  </a:rPr>
                  <a:t>的圆弧，其半径为</a:t>
                </a:r>
                <a:r>
                  <a:rPr lang="en-US" altLang="zh-CN" sz="1200" i="0" kern="1200">
                    <a:solidFill>
                      <a:schemeClr val="tx1"/>
                    </a:solidFill>
                    <a:effectLst/>
                    <a:latin typeface="+mn-lt"/>
                    <a:ea typeface="+mn-ea"/>
                    <a:cs typeface="+mn-cs"/>
                  </a:rPr>
                  <a:t>𝐿</a:t>
                </a:r>
                <a:r>
                  <a:rPr lang="zh-CN" altLang="zh-CN" sz="1200" kern="1200" dirty="0">
                    <a:solidFill>
                      <a:schemeClr val="tx1"/>
                    </a:solidFill>
                    <a:effectLst/>
                    <a:latin typeface="+mn-lt"/>
                    <a:ea typeface="+mn-ea"/>
                    <a:cs typeface="+mn-cs"/>
                  </a:rPr>
                  <a:t>，从动臂的运动轨迹为绕动平台角点</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^𝑃</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 </a:t>
                </a:r>
                <a:r>
                  <a:rPr lang="zh-CN" altLang="zh-CN" sz="1200" kern="1200" dirty="0">
                    <a:solidFill>
                      <a:schemeClr val="tx1"/>
                    </a:solidFill>
                    <a:effectLst/>
                    <a:latin typeface="+mn-lt"/>
                    <a:ea typeface="+mn-ea"/>
                    <a:cs typeface="+mn-cs"/>
                  </a:rPr>
                  <a:t>的球面，半径为</a:t>
                </a:r>
                <a:r>
                  <a:rPr lang="en-US" altLang="zh-CN" sz="1200" i="0" kern="1200">
                    <a:solidFill>
                      <a:schemeClr val="tx1"/>
                    </a:solidFill>
                    <a:effectLst/>
                    <a:latin typeface="+mn-lt"/>
                    <a:ea typeface="+mn-ea"/>
                    <a:cs typeface="+mn-cs"/>
                  </a:rPr>
                  <a:t>𝑙</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en-US" altLang="zh-CN" dirty="0" smtClean="0"/>
              </a:p>
              <a:p>
                <a:r>
                  <a:rPr lang="zh-CN" altLang="zh-CN" sz="1200" kern="1200" dirty="0" smtClean="0">
                    <a:solidFill>
                      <a:schemeClr val="tx1"/>
                    </a:solidFill>
                    <a:effectLst/>
                    <a:latin typeface="+mn-lt"/>
                    <a:ea typeface="+mn-ea"/>
                    <a:cs typeface="+mn-cs"/>
                  </a:rPr>
                  <a:t>由于每个张角</a:t>
                </a:r>
                <a:r>
                  <a:rPr lang="en-US" altLang="zh-CN" sz="1200" i="0" kern="1200">
                    <a:solidFill>
                      <a:schemeClr val="tx1"/>
                    </a:solidFill>
                    <a:effectLst/>
                    <a:latin typeface="+mn-lt"/>
                    <a:ea typeface="+mn-ea"/>
                    <a:cs typeface="+mn-cs"/>
                  </a:rPr>
                  <a:t>𝜃</a:t>
                </a:r>
                <a:r>
                  <a:rPr lang="zh-CN" altLang="zh-CN" sz="1200" i="0" kern="1200">
                    <a:solidFill>
                      <a:schemeClr val="tx1"/>
                    </a:solidFill>
                    <a:effectLst/>
                    <a:latin typeface="+mn-lt"/>
                    <a:ea typeface="+mn-ea"/>
                    <a:cs typeface="+mn-cs"/>
                  </a:rPr>
                  <a:t>_</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有</a:t>
                </a:r>
                <a:r>
                  <a:rPr lang="en-US" altLang="zh-CN" sz="1200" kern="1200" dirty="0">
                    <a:solidFill>
                      <a:schemeClr val="tx1"/>
                    </a:solidFill>
                    <a:effectLst/>
                    <a:latin typeface="+mn-lt"/>
                    <a:ea typeface="+mn-ea"/>
                    <a:cs typeface="+mn-cs"/>
                  </a:rPr>
                  <a:t> 2 </a:t>
                </a:r>
                <a:r>
                  <a:rPr lang="zh-CN" altLang="zh-CN" sz="1200" kern="1200" dirty="0">
                    <a:solidFill>
                      <a:schemeClr val="tx1"/>
                    </a:solidFill>
                    <a:effectLst/>
                    <a:latin typeface="+mn-lt"/>
                    <a:ea typeface="+mn-ea"/>
                    <a:cs typeface="+mn-cs"/>
                  </a:rPr>
                  <a:t>个解，每条支链将有向内弯和向外弯两种姿态，组合起来就有</a:t>
                </a:r>
                <a:r>
                  <a:rPr lang="en-US" altLang="zh-CN" sz="1200" kern="1200" dirty="0">
                    <a:solidFill>
                      <a:schemeClr val="tx1"/>
                    </a:solidFill>
                    <a:effectLst/>
                    <a:latin typeface="+mn-lt"/>
                    <a:ea typeface="+mn-ea"/>
                    <a:cs typeface="+mn-cs"/>
                  </a:rPr>
                  <a:t>8</a:t>
                </a:r>
                <a:r>
                  <a:rPr lang="zh-CN" altLang="zh-CN" sz="1200" kern="1200" dirty="0">
                    <a:solidFill>
                      <a:schemeClr val="tx1"/>
                    </a:solidFill>
                    <a:effectLst/>
                    <a:latin typeface="+mn-lt"/>
                    <a:ea typeface="+mn-ea"/>
                    <a:cs typeface="+mn-cs"/>
                  </a:rPr>
                  <a:t>种可能的解，需要根据运动转角的限制情况，判别</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号中的值到底哪一个符合要求，一般选择所有支链都向外弯曲的姿态，最终求得</a:t>
                </a:r>
                <a:r>
                  <a:rPr lang="en-US" altLang="zh-CN" sz="1200" kern="1200" dirty="0">
                    <a:solidFill>
                      <a:schemeClr val="tx1"/>
                    </a:solidFill>
                    <a:effectLst/>
                    <a:latin typeface="+mn-lt"/>
                    <a:ea typeface="+mn-ea"/>
                    <a:cs typeface="+mn-cs"/>
                  </a:rPr>
                  <a:t>Delta</a:t>
                </a:r>
                <a:r>
                  <a:rPr lang="zh-CN" altLang="zh-CN" sz="1200" kern="1200" dirty="0">
                    <a:solidFill>
                      <a:schemeClr val="tx1"/>
                    </a:solidFill>
                    <a:effectLst/>
                    <a:latin typeface="+mn-lt"/>
                    <a:ea typeface="+mn-ea"/>
                    <a:cs typeface="+mn-cs"/>
                  </a:rPr>
                  <a:t>并联机器人运动学的逆解。</a:t>
                </a:r>
                <a:endParaRPr lang="zh-CN" altLang="en-US" dirty="0"/>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121</a:t>
            </a:fld>
            <a:endParaRPr lang="zh-CN" altLang="en-US"/>
          </a:p>
        </p:txBody>
      </p:sp>
    </p:spTree>
    <p:extLst>
      <p:ext uri="{BB962C8B-B14F-4D97-AF65-F5344CB8AC3E}">
        <p14:creationId xmlns:p14="http://schemas.microsoft.com/office/powerpoint/2010/main" val="132715351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smtClean="0"/>
              <a:t>板书推导过程</a:t>
            </a:r>
            <a:endParaRPr lang="en-US" altLang="zh-CN" dirty="0" smtClean="0"/>
          </a:p>
          <a:p>
            <a:endParaRPr lang="en-US" altLang="zh-CN" dirty="0" smtClean="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122</a:t>
            </a:fld>
            <a:endParaRPr lang="zh-CN" altLang="en-US"/>
          </a:p>
        </p:txBody>
      </p:sp>
    </p:spTree>
    <p:extLst>
      <p:ext uri="{BB962C8B-B14F-4D97-AF65-F5344CB8AC3E}">
        <p14:creationId xmlns:p14="http://schemas.microsoft.com/office/powerpoint/2010/main" val="4198565947"/>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smtClean="0"/>
              <a:t>板书推导过程</a:t>
            </a:r>
            <a:endParaRPr lang="en-US" altLang="zh-CN" dirty="0" smtClean="0"/>
          </a:p>
          <a:p>
            <a:endParaRPr lang="en-US" altLang="zh-CN" dirty="0" smtClean="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123</a:t>
            </a:fld>
            <a:endParaRPr lang="zh-CN" altLang="en-US"/>
          </a:p>
        </p:txBody>
      </p:sp>
    </p:spTree>
    <p:extLst>
      <p:ext uri="{BB962C8B-B14F-4D97-AF65-F5344CB8AC3E}">
        <p14:creationId xmlns:p14="http://schemas.microsoft.com/office/powerpoint/2010/main" val="2455012205"/>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smtClean="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124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1.sv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5.jpe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8.png"/><Relationship Id="rId11" Type="http://schemas.openxmlformats.org/officeDocument/2006/relationships/image" Target="../media/image5.jpe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18" y="1598181"/>
            <a:ext cx="7772603" cy="1102768"/>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36" y="2915310"/>
            <a:ext cx="6400967" cy="1314748"/>
          </a:xfrm>
          <a:prstGeom prst="rect">
            <a:avLst/>
          </a:prstGeo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8035" indent="0" algn="ctr">
              <a:buNone/>
              <a:defRPr>
                <a:solidFill>
                  <a:schemeClr val="tx1">
                    <a:tint val="75000"/>
                  </a:schemeClr>
                </a:solidFill>
              </a:defRPr>
            </a:lvl7pPr>
            <a:lvl8pPr marL="2400935" indent="0" algn="ctr">
              <a:buNone/>
              <a:defRPr>
                <a:solidFill>
                  <a:schemeClr val="tx1">
                    <a:tint val="75000"/>
                  </a:schemeClr>
                </a:solidFill>
              </a:defRPr>
            </a:lvl8pPr>
            <a:lvl9pPr marL="2743835"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2026/5/19</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12" y="1200422"/>
            <a:ext cx="8229815" cy="3395241"/>
          </a:xfrm>
          <a:prstGeom prst="rect">
            <a:avLst/>
          </a:prstGeom>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2026/5/19</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32" y="3305924"/>
            <a:ext cx="7772603" cy="1021788"/>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32" y="2180528"/>
            <a:ext cx="7772603" cy="1125395"/>
          </a:xfrm>
          <a:prstGeom prst="rect">
            <a:avLst/>
          </a:prstGeo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8035" indent="0">
              <a:buNone/>
              <a:defRPr sz="1050">
                <a:solidFill>
                  <a:schemeClr val="tx1">
                    <a:tint val="75000"/>
                  </a:schemeClr>
                </a:solidFill>
              </a:defRPr>
            </a:lvl7pPr>
            <a:lvl8pPr marL="2400935" indent="0">
              <a:buNone/>
              <a:defRPr sz="1050">
                <a:solidFill>
                  <a:schemeClr val="tx1">
                    <a:tint val="75000"/>
                  </a:schemeClr>
                </a:solidFill>
              </a:defRPr>
            </a:lvl8pPr>
            <a:lvl9pPr marL="2743835" indent="0">
              <a:buNone/>
              <a:defRPr sz="105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2026/5/19</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17" y="1200422"/>
            <a:ext cx="5408754"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0774" y="1200422"/>
            <a:ext cx="5410341"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2026/5/19</a:t>
            </a:fld>
            <a:endParaRPr lang="zh-CN" altLang="en-US"/>
          </a:p>
        </p:txBody>
      </p:sp>
      <p:sp>
        <p:nvSpPr>
          <p:cNvPr id="6" name="页脚占位符 5"/>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12" y="1151595"/>
            <a:ext cx="4040293"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12" y="1631526"/>
            <a:ext cx="4040293"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147" y="1151595"/>
            <a:ext cx="4041881"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147" y="1631526"/>
            <a:ext cx="4041881"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2026/5/19</a:t>
            </a:fld>
            <a:endParaRPr lang="zh-CN" altLang="en-US"/>
          </a:p>
        </p:txBody>
      </p:sp>
      <p:sp>
        <p:nvSpPr>
          <p:cNvPr id="8" name="页脚占位符 7"/>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2026/5/19</a:t>
            </a:fld>
            <a:endParaRPr lang="zh-CN" altLang="en-US"/>
          </a:p>
        </p:txBody>
      </p:sp>
      <p:sp>
        <p:nvSpPr>
          <p:cNvPr id="4" name="页脚占位符 3"/>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2026/5/19</a:t>
            </a:fld>
            <a:endParaRPr lang="zh-CN" altLang="en-US"/>
          </a:p>
        </p:txBody>
      </p:sp>
      <p:sp>
        <p:nvSpPr>
          <p:cNvPr id="3" name="页脚占位符 2"/>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12" y="204834"/>
            <a:ext cx="3008392" cy="871735"/>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143" y="204835"/>
            <a:ext cx="5111883" cy="439082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12" y="1076569"/>
            <a:ext cx="3008392" cy="3519094"/>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2026/5/19</a:t>
            </a:fld>
            <a:endParaRPr lang="zh-CN" altLang="en-US"/>
          </a:p>
        </p:txBody>
      </p:sp>
      <p:sp>
        <p:nvSpPr>
          <p:cNvPr id="6" name="页脚占位符 5"/>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335" y="3601265"/>
            <a:ext cx="5486543" cy="425150"/>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335" y="459685"/>
            <a:ext cx="5486543" cy="308679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8035" indent="0">
              <a:buNone/>
              <a:defRPr sz="1500"/>
            </a:lvl7pPr>
            <a:lvl8pPr marL="2400935" indent="0">
              <a:buNone/>
              <a:defRPr sz="1500"/>
            </a:lvl8pPr>
            <a:lvl9pPr marL="2743835" indent="0">
              <a:buNone/>
              <a:defRPr sz="1500"/>
            </a:lvl9pPr>
          </a:lstStyle>
          <a:p>
            <a:endParaRPr lang="zh-CN" altLang="en-US"/>
          </a:p>
        </p:txBody>
      </p:sp>
      <p:sp>
        <p:nvSpPr>
          <p:cNvPr id="4" name="文本占位符 3"/>
          <p:cNvSpPr>
            <a:spLocks noGrp="1"/>
          </p:cNvSpPr>
          <p:nvPr>
            <p:ph type="body" sz="half" idx="2"/>
          </p:nvPr>
        </p:nvSpPr>
        <p:spPr>
          <a:xfrm>
            <a:off x="1792335" y="4026415"/>
            <a:ext cx="5486543" cy="603783"/>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2026/5/19</a:t>
            </a:fld>
            <a:endParaRPr lang="zh-CN" altLang="en-US"/>
          </a:p>
        </p:txBody>
      </p:sp>
      <p:sp>
        <p:nvSpPr>
          <p:cNvPr id="6" name="页脚占位符 5"/>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12" y="1200422"/>
            <a:ext cx="8229815" cy="3395241"/>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2026/5/19</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431" y="206026"/>
            <a:ext cx="2741684" cy="4389637"/>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16" y="206026"/>
            <a:ext cx="8077411" cy="4389637"/>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2026/5/19</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设计准则">
    <p:spTree>
      <p:nvGrpSpPr>
        <p:cNvPr id="1" name=""/>
        <p:cNvGrpSpPr/>
        <p:nvPr/>
      </p:nvGrpSpPr>
      <p:grpSpPr>
        <a:xfrm>
          <a:off x="0" y="0"/>
          <a:ext cx="0" cy="0"/>
          <a:chOff x="0" y="0"/>
          <a:chExt cx="0" cy="0"/>
        </a:xfrm>
      </p:grpSpPr>
      <p:pic>
        <p:nvPicPr>
          <p:cNvPr id="11" name="图片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71" name="矩形 70"/>
          <p:cNvSpPr/>
          <p:nvPr userDrawn="1"/>
        </p:nvSpPr>
        <p:spPr>
          <a:xfrm>
            <a:off x="1143000" y="1762828"/>
            <a:ext cx="6858000" cy="2801194"/>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sp>
        <p:nvSpPr>
          <p:cNvPr id="72" name="矩形 71"/>
          <p:cNvSpPr/>
          <p:nvPr userDrawn="1"/>
        </p:nvSpPr>
        <p:spPr>
          <a:xfrm>
            <a:off x="1143000" y="1350917"/>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pic>
        <p:nvPicPr>
          <p:cNvPr id="12" name="图片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03905" y="2092604"/>
            <a:ext cx="438031" cy="438221"/>
          </a:xfrm>
          <a:prstGeom prst="rect">
            <a:avLst/>
          </a:prstGeom>
        </p:spPr>
      </p:pic>
      <p:sp>
        <p:nvSpPr>
          <p:cNvPr id="13" name="文本框 12"/>
          <p:cNvSpPr txBox="1"/>
          <p:nvPr userDrawn="1"/>
        </p:nvSpPr>
        <p:spPr>
          <a:xfrm>
            <a:off x="1576216" y="2623188"/>
            <a:ext cx="893407" cy="299085"/>
          </a:xfrm>
          <a:prstGeom prst="rect">
            <a:avLst/>
          </a:prstGeom>
          <a:noFill/>
        </p:spPr>
        <p:txBody>
          <a:bodyPr wrap="square" rtlCol="0">
            <a:spAutoFit/>
          </a:bodyPr>
          <a:lstStyle/>
          <a:p>
            <a:pPr algn="ctr"/>
            <a:r>
              <a:rPr lang="zh-CN" altLang="en-US" sz="1350" dirty="0">
                <a:latin typeface="宋体-简" panose="02010800040101010101" charset="-122"/>
                <a:ea typeface="宋体-简" panose="02010800040101010101" charset="-122"/>
              </a:rPr>
              <a:t>字体设置</a:t>
            </a:r>
          </a:p>
        </p:txBody>
      </p:sp>
      <p:pic>
        <p:nvPicPr>
          <p:cNvPr id="3" name="图形 2"/>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803905" y="3469411"/>
            <a:ext cx="521818" cy="522044"/>
          </a:xfrm>
          <a:prstGeom prst="rect">
            <a:avLst/>
          </a:prstGeom>
        </p:spPr>
      </p:pic>
      <p:sp>
        <p:nvSpPr>
          <p:cNvPr id="21" name="文本框 20"/>
          <p:cNvSpPr txBox="1"/>
          <p:nvPr userDrawn="1"/>
        </p:nvSpPr>
        <p:spPr>
          <a:xfrm>
            <a:off x="1598139" y="3991453"/>
            <a:ext cx="893407" cy="299085"/>
          </a:xfrm>
          <a:prstGeom prst="rect">
            <a:avLst/>
          </a:prstGeom>
          <a:noFill/>
        </p:spPr>
        <p:txBody>
          <a:bodyPr wrap="square" rtlCol="0">
            <a:spAutoFit/>
          </a:bodyPr>
          <a:lstStyle/>
          <a:p>
            <a:pPr algn="ctr"/>
            <a:r>
              <a:rPr lang="zh-CN" altLang="en-US" sz="1350" dirty="0">
                <a:latin typeface="宋体-简" panose="02010800040101010101" charset="-122"/>
                <a:ea typeface="宋体-简" panose="02010800040101010101" charset="-122"/>
              </a:rPr>
              <a:t>大小设置</a:t>
            </a:r>
          </a:p>
        </p:txBody>
      </p:sp>
      <p:cxnSp>
        <p:nvCxnSpPr>
          <p:cNvPr id="5" name="直接连接符 4"/>
          <p:cNvCxnSpPr/>
          <p:nvPr userDrawn="1"/>
        </p:nvCxnSpPr>
        <p:spPr>
          <a:xfrm>
            <a:off x="1689755" y="3187828"/>
            <a:ext cx="5747994"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文本框 5"/>
          <p:cNvSpPr txBox="1"/>
          <p:nvPr userDrawn="1"/>
        </p:nvSpPr>
        <p:spPr>
          <a:xfrm>
            <a:off x="3964141" y="1999881"/>
            <a:ext cx="1678940" cy="897890"/>
          </a:xfrm>
          <a:prstGeom prst="rect">
            <a:avLst/>
          </a:prstGeom>
        </p:spPr>
        <p:txBody>
          <a:bodyPr vert="horz" wrap="none" lIns="68549" tIns="34272" rIns="68549" bIns="34272" rtlCol="0" anchor="ctr">
            <a:spAutoFit/>
          </a:bodyPr>
          <a:lstStyle/>
          <a:p>
            <a:pPr algn="l">
              <a:lnSpc>
                <a:spcPct val="200000"/>
              </a:lnSpc>
            </a:pPr>
            <a:r>
              <a:rPr lang="zh-CN" altLang="en-US" sz="1350" dirty="0">
                <a:latin typeface="宋体-简" panose="02010800040101010101" charset="-122"/>
                <a:ea typeface="宋体-简" panose="02010800040101010101" charset="-122"/>
              </a:rPr>
              <a:t>中文字体：微软雅黑</a:t>
            </a:r>
            <a:endParaRPr lang="en-US" altLang="zh-CN" sz="1350" dirty="0">
              <a:latin typeface="宋体-简" panose="02010800040101010101" charset="-122"/>
              <a:ea typeface="宋体-简" panose="02010800040101010101" charset="-122"/>
            </a:endParaRPr>
          </a:p>
          <a:p>
            <a:pPr algn="l">
              <a:lnSpc>
                <a:spcPct val="200000"/>
              </a:lnSpc>
            </a:pPr>
            <a:r>
              <a:rPr lang="zh-CN" altLang="en-US" sz="1350" dirty="0">
                <a:latin typeface="宋体-简" panose="02010800040101010101" charset="-122"/>
                <a:ea typeface="宋体-简" panose="02010800040101010101" charset="-122"/>
              </a:rPr>
              <a:t>英文字体：</a:t>
            </a:r>
            <a:r>
              <a:rPr lang="en-US" altLang="zh-CN" sz="1350" dirty="0">
                <a:latin typeface="宋体-简" panose="02010800040101010101" charset="-122"/>
                <a:ea typeface="宋体-简" panose="02010800040101010101" charset="-122"/>
              </a:rPr>
              <a:t>Arial</a:t>
            </a:r>
            <a:endParaRPr lang="zh-CN" altLang="en-US" sz="1350" dirty="0">
              <a:latin typeface="宋体-简" panose="02010800040101010101" charset="-122"/>
              <a:ea typeface="宋体-简" panose="02010800040101010101" charset="-122"/>
            </a:endParaRPr>
          </a:p>
        </p:txBody>
      </p:sp>
      <p:sp>
        <p:nvSpPr>
          <p:cNvPr id="24" name="文本框 23"/>
          <p:cNvSpPr txBox="1"/>
          <p:nvPr userDrawn="1"/>
        </p:nvSpPr>
        <p:spPr>
          <a:xfrm>
            <a:off x="3964141" y="3400823"/>
            <a:ext cx="1336040" cy="897890"/>
          </a:xfrm>
          <a:prstGeom prst="rect">
            <a:avLst/>
          </a:prstGeom>
        </p:spPr>
        <p:txBody>
          <a:bodyPr vert="horz" wrap="none" lIns="68549" tIns="34272" rIns="68549" bIns="34272" rtlCol="0" anchor="ctr">
            <a:spAutoFit/>
          </a:bodyPr>
          <a:lstStyle/>
          <a:p>
            <a:pPr algn="l">
              <a:lnSpc>
                <a:spcPct val="200000"/>
              </a:lnSpc>
            </a:pPr>
            <a:r>
              <a:rPr lang="zh-CN" altLang="en-US" sz="1350" dirty="0">
                <a:latin typeface="宋体-简" panose="02010800040101010101" charset="-122"/>
                <a:ea typeface="宋体-简" panose="02010800040101010101" charset="-122"/>
              </a:rPr>
              <a:t>标题字号：</a:t>
            </a:r>
            <a:r>
              <a:rPr lang="en-US" altLang="zh-CN" sz="1350" dirty="0">
                <a:latin typeface="宋体-简" panose="02010800040101010101" charset="-122"/>
                <a:ea typeface="宋体-简" panose="02010800040101010101" charset="-122"/>
              </a:rPr>
              <a:t>18</a:t>
            </a:r>
            <a:r>
              <a:rPr lang="zh-CN" altLang="en-US" sz="1350" dirty="0">
                <a:latin typeface="宋体-简" panose="02010800040101010101" charset="-122"/>
                <a:ea typeface="宋体-简" panose="02010800040101010101" charset="-122"/>
              </a:rPr>
              <a:t>号</a:t>
            </a:r>
            <a:endParaRPr lang="en-US" altLang="zh-CN" sz="1350" dirty="0">
              <a:latin typeface="宋体-简" panose="02010800040101010101" charset="-122"/>
              <a:ea typeface="宋体-简" panose="02010800040101010101" charset="-122"/>
            </a:endParaRPr>
          </a:p>
          <a:p>
            <a:pPr algn="l">
              <a:lnSpc>
                <a:spcPct val="200000"/>
              </a:lnSpc>
            </a:pPr>
            <a:r>
              <a:rPr lang="zh-CN" altLang="en-US" sz="1350" dirty="0">
                <a:latin typeface="宋体-简" panose="02010800040101010101" charset="-122"/>
                <a:ea typeface="宋体-简" panose="02010800040101010101" charset="-122"/>
              </a:rPr>
              <a:t>正文字号：</a:t>
            </a:r>
            <a:r>
              <a:rPr lang="en-US" altLang="zh-CN" sz="1350" dirty="0">
                <a:latin typeface="宋体-简" panose="02010800040101010101" charset="-122"/>
                <a:ea typeface="宋体-简" panose="02010800040101010101" charset="-122"/>
              </a:rPr>
              <a:t>14</a:t>
            </a:r>
            <a:r>
              <a:rPr lang="zh-CN" altLang="en-US" sz="1350" dirty="0">
                <a:latin typeface="宋体-简" panose="02010800040101010101" charset="-122"/>
                <a:ea typeface="宋体-简" panose="02010800040101010101" charset="-122"/>
              </a:rPr>
              <a:t>号</a:t>
            </a:r>
          </a:p>
        </p:txBody>
      </p:sp>
      <p:cxnSp>
        <p:nvCxnSpPr>
          <p:cNvPr id="79" name="直接连接符 78"/>
          <p:cNvCxnSpPr/>
          <p:nvPr userDrawn="1"/>
        </p:nvCxnSpPr>
        <p:spPr>
          <a:xfrm>
            <a:off x="1143000" y="1765418"/>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sp>
        <p:nvSpPr>
          <p:cNvPr id="107" name="文本框 106"/>
          <p:cNvSpPr txBox="1"/>
          <p:nvPr userDrawn="1"/>
        </p:nvSpPr>
        <p:spPr>
          <a:xfrm>
            <a:off x="4156502" y="1429059"/>
            <a:ext cx="82169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设计准则</a:t>
            </a:r>
          </a:p>
        </p:txBody>
      </p:sp>
      <p:sp>
        <p:nvSpPr>
          <p:cNvPr id="236" name="矩形 235"/>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pic>
        <p:nvPicPr>
          <p:cNvPr id="238" name="图片 23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239" name="文本框 238"/>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240" name="文本框 239"/>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241" name="文本框 240"/>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pic>
        <p:nvPicPr>
          <p:cNvPr id="2" name="图片 1"/>
          <p:cNvPicPr>
            <a:picLocks noChangeAspect="1"/>
          </p:cNvPicPr>
          <p:nvPr userDrawn="1"/>
        </p:nvPicPr>
        <p:blipFill>
          <a:blip r:embed="rId7"/>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宣传页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3" name="矩形 2"/>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sp>
        <p:nvSpPr>
          <p:cNvPr id="10" name="矩形 9"/>
          <p:cNvSpPr/>
          <p:nvPr userDrawn="1"/>
        </p:nvSpPr>
        <p:spPr>
          <a:xfrm>
            <a:off x="1143000" y="1772490"/>
            <a:ext cx="6858000" cy="2801194"/>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cxnSp>
        <p:nvCxnSpPr>
          <p:cNvPr id="269" name="直接连接符 268"/>
          <p:cNvCxnSpPr/>
          <p:nvPr userDrawn="1"/>
        </p:nvCxnSpPr>
        <p:spPr>
          <a:xfrm>
            <a:off x="1143000" y="1772490"/>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16" name="文本框 15"/>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17" name="文本框 16"/>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2" name="文本框 1"/>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sp>
        <p:nvSpPr>
          <p:cNvPr id="14" name="矩形 13"/>
          <p:cNvSpPr/>
          <p:nvPr userDrawn="1"/>
        </p:nvSpPr>
        <p:spPr>
          <a:xfrm>
            <a:off x="1143000" y="1360579"/>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sp>
        <p:nvSpPr>
          <p:cNvPr id="4" name="文本框 3"/>
          <p:cNvSpPr txBox="1"/>
          <p:nvPr userDrawn="1"/>
        </p:nvSpPr>
        <p:spPr>
          <a:xfrm>
            <a:off x="4156502" y="1429059"/>
            <a:ext cx="82169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版权声明</a:t>
            </a:r>
          </a:p>
        </p:txBody>
      </p:sp>
      <p:sp>
        <p:nvSpPr>
          <p:cNvPr id="6" name="文本框 5"/>
          <p:cNvSpPr txBox="1"/>
          <p:nvPr userDrawn="1"/>
        </p:nvSpPr>
        <p:spPr>
          <a:xfrm>
            <a:off x="1291281" y="2004371"/>
            <a:ext cx="6549081" cy="2337435"/>
          </a:xfrm>
          <a:prstGeom prst="rect">
            <a:avLst/>
          </a:prstGeom>
        </p:spPr>
        <p:txBody>
          <a:bodyPr vert="horz" wrap="square" lIns="68549" tIns="34272" rIns="68549" bIns="34272" rtlCol="0" anchor="ctr">
            <a:spAutoFit/>
          </a:bodyPr>
          <a:lstStyle/>
          <a:p>
            <a:pPr>
              <a:lnSpc>
                <a:spcPct val="220000"/>
              </a:lnSpc>
            </a:pPr>
            <a:r>
              <a:rPr lang="zh-CN" altLang="zh-CN" sz="900" dirty="0">
                <a:latin typeface="宋体-简" panose="02010800040101010101" charset="-122"/>
                <a:ea typeface="宋体-简" panose="02010800040101010101" charset="-122"/>
                <a:cs typeface="宋体-简" panose="02010800040101010101" charset="-122"/>
                <a:sym typeface="+mn-lt"/>
              </a:rPr>
              <a:t>本素材中涉及到的所有的内容的所有权、知识产权等归原始权利人或者合法的受让人所有，您购买</a:t>
            </a:r>
            <a:r>
              <a:rPr lang="en-US" altLang="zh-CN" sz="900" dirty="0">
                <a:latin typeface="宋体-简" panose="02010800040101010101" charset="-122"/>
                <a:ea typeface="宋体-简" panose="02010800040101010101" charset="-122"/>
                <a:cs typeface="宋体-简" panose="02010800040101010101" charset="-122"/>
                <a:sym typeface="+mn-lt"/>
              </a:rPr>
              <a:t>/</a:t>
            </a:r>
            <a:r>
              <a:rPr lang="zh-CN" altLang="zh-CN" sz="900" dirty="0">
                <a:latin typeface="宋体-简" panose="02010800040101010101" charset="-122"/>
                <a:ea typeface="宋体-简" panose="02010800040101010101" charset="-122"/>
                <a:cs typeface="宋体-简" panose="02010800040101010101" charset="-122"/>
                <a:sym typeface="+mn-lt"/>
              </a:rPr>
              <a:t>免费或通过其他合法方式获得的本信息的使用权，并受到以下条款约束：</a:t>
            </a:r>
          </a:p>
          <a:p>
            <a:pPr lvl="0">
              <a:lnSpc>
                <a:spcPct val="220000"/>
              </a:lnSpc>
            </a:pPr>
            <a:r>
              <a:rPr lang="zh-CN" altLang="zh-CN" sz="900" dirty="0">
                <a:latin typeface="宋体-简" panose="02010800040101010101" charset="-122"/>
                <a:ea typeface="宋体-简" panose="02010800040101010101" charset="-122"/>
                <a:cs typeface="宋体-简" panose="02010800040101010101" charset="-122"/>
                <a:sym typeface="+mn-lt"/>
              </a:rPr>
              <a:t>您仅可以个人非商业用途使用该等信息内容，不得将其全部或部分内容用于出售、或出租、出借、转让、分销、发布等其他方任何式供他人使用；</a:t>
            </a:r>
            <a:endParaRPr lang="en-US" altLang="zh-CN" sz="900" dirty="0">
              <a:latin typeface="宋体-简" panose="02010800040101010101" charset="-122"/>
              <a:ea typeface="宋体-简" panose="02010800040101010101" charset="-122"/>
              <a:cs typeface="宋体-简" panose="02010800040101010101" charset="-122"/>
              <a:sym typeface="+mn-lt"/>
            </a:endParaRPr>
          </a:p>
          <a:p>
            <a:pPr marL="171450" lvl="0" indent="-171450">
              <a:lnSpc>
                <a:spcPct val="220000"/>
              </a:lnSpc>
              <a:buFont typeface="Wingdings" panose="05000000000000000000" pitchFamily="2" charset="2"/>
              <a:buChar char="l"/>
            </a:pPr>
            <a:r>
              <a:rPr lang="en-US" altLang="zh-CN" sz="900" dirty="0">
                <a:latin typeface="宋体-简" panose="02010800040101010101" charset="-122"/>
                <a:ea typeface="宋体-简" panose="02010800040101010101" charset="-122"/>
                <a:cs typeface="宋体-简" panose="02010800040101010101" charset="-122"/>
                <a:sym typeface="+mn-lt"/>
              </a:rPr>
              <a:t> </a:t>
            </a:r>
            <a:r>
              <a:rPr lang="zh-CN" altLang="zh-CN" sz="900" dirty="0">
                <a:latin typeface="宋体-简" panose="02010800040101010101" charset="-122"/>
                <a:ea typeface="宋体-简" panose="02010800040101010101" charset="-122"/>
                <a:cs typeface="宋体-简" panose="02010800040101010101" charset="-122"/>
                <a:sym typeface="+mn-lt"/>
              </a:rPr>
              <a:t>禁止在任何网站、平台、应用程序上以任何方式为他人提供本素材所有内容的下载、转载等；</a:t>
            </a:r>
            <a:endParaRPr lang="en-US" altLang="zh-CN" sz="900" dirty="0">
              <a:latin typeface="宋体-简" panose="02010800040101010101" charset="-122"/>
              <a:ea typeface="宋体-简" panose="02010800040101010101" charset="-122"/>
              <a:cs typeface="宋体-简" panose="02010800040101010101" charset="-122"/>
              <a:sym typeface="+mn-lt"/>
            </a:endParaRPr>
          </a:p>
          <a:p>
            <a:pPr marL="171450" lvl="0" indent="-171450">
              <a:lnSpc>
                <a:spcPct val="220000"/>
              </a:lnSpc>
              <a:buFont typeface="Wingdings" panose="05000000000000000000" pitchFamily="2" charset="2"/>
              <a:buChar char="l"/>
            </a:pPr>
            <a:r>
              <a:rPr lang="en-US" altLang="zh-CN" sz="900" dirty="0">
                <a:latin typeface="宋体-简" panose="02010800040101010101" charset="-122"/>
                <a:ea typeface="宋体-简" panose="02010800040101010101" charset="-122"/>
                <a:cs typeface="宋体-简" panose="02010800040101010101" charset="-122"/>
                <a:sym typeface="+mn-lt"/>
              </a:rPr>
              <a:t> </a:t>
            </a:r>
            <a:r>
              <a:rPr lang="zh-CN" altLang="zh-CN" sz="900" dirty="0">
                <a:latin typeface="宋体-简" panose="02010800040101010101" charset="-122"/>
                <a:ea typeface="宋体-简" panose="02010800040101010101" charset="-122"/>
                <a:cs typeface="宋体-简" panose="02010800040101010101" charset="-122"/>
                <a:sym typeface="+mn-lt"/>
              </a:rPr>
              <a:t>对于不当下载、转载或引用本信息内容而引起的民事纷争、行政处理或其他损失，声明方不承担责任；</a:t>
            </a:r>
            <a:endParaRPr lang="en-US" altLang="zh-CN" sz="900" dirty="0">
              <a:latin typeface="宋体-简" panose="02010800040101010101" charset="-122"/>
              <a:ea typeface="宋体-简" panose="02010800040101010101" charset="-122"/>
              <a:cs typeface="宋体-简" panose="02010800040101010101" charset="-122"/>
              <a:sym typeface="+mn-lt"/>
            </a:endParaRPr>
          </a:p>
          <a:p>
            <a:pPr marL="171450" lvl="0" indent="-171450">
              <a:lnSpc>
                <a:spcPct val="220000"/>
              </a:lnSpc>
              <a:buFont typeface="Wingdings" panose="05000000000000000000" pitchFamily="2" charset="2"/>
              <a:buChar char="l"/>
            </a:pPr>
            <a:r>
              <a:rPr lang="en-US" altLang="zh-CN" sz="900" dirty="0">
                <a:latin typeface="宋体-简" panose="02010800040101010101" charset="-122"/>
                <a:ea typeface="宋体-简" panose="02010800040101010101" charset="-122"/>
                <a:cs typeface="宋体-简" panose="02010800040101010101" charset="-122"/>
                <a:sym typeface="+mn-lt"/>
              </a:rPr>
              <a:t> </a:t>
            </a:r>
            <a:r>
              <a:rPr lang="zh-CN" altLang="zh-CN" sz="900" dirty="0">
                <a:latin typeface="宋体-简" panose="02010800040101010101" charset="-122"/>
                <a:ea typeface="宋体-简" panose="02010800040101010101" charset="-122"/>
                <a:cs typeface="宋体-简" panose="02010800040101010101" charset="-122"/>
                <a:sym typeface="+mn-lt"/>
              </a:rPr>
              <a:t>对不遵守本声明或其他违法、恶意使用本信息内容者，声明方保留追究其法律责任的权利。</a:t>
            </a:r>
          </a:p>
          <a:p>
            <a:pPr algn="l"/>
            <a:endParaRPr lang="zh-CN" altLang="en-US" sz="900" dirty="0">
              <a:latin typeface="宋体-简" panose="02010800040101010101" charset="-122"/>
              <a:ea typeface="宋体-简" panose="02010800040101010101" charset="-122"/>
            </a:endParaRPr>
          </a:p>
        </p:txBody>
      </p:sp>
      <p:pic>
        <p:nvPicPr>
          <p:cNvPr id="5" name="图片 4"/>
          <p:cNvPicPr>
            <a:picLocks noChangeAspect="1"/>
          </p:cNvPicPr>
          <p:nvPr userDrawn="1"/>
        </p:nvPicPr>
        <p:blipFill>
          <a:blip r:embed="rId4"/>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宣传页1">
    <p:spTree>
      <p:nvGrpSpPr>
        <p:cNvPr id="1" name=""/>
        <p:cNvGrpSpPr/>
        <p:nvPr/>
      </p:nvGrpSpPr>
      <p:grpSpPr>
        <a:xfrm>
          <a:off x="0" y="0"/>
          <a:ext cx="0" cy="0"/>
          <a:chOff x="0" y="0"/>
          <a:chExt cx="0" cy="0"/>
        </a:xfrm>
      </p:grpSpPr>
      <p:pic>
        <p:nvPicPr>
          <p:cNvPr id="31" name="图片 3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10" name="矩形 9"/>
          <p:cNvSpPr/>
          <p:nvPr userDrawn="1"/>
        </p:nvSpPr>
        <p:spPr>
          <a:xfrm>
            <a:off x="1143000" y="1190167"/>
            <a:ext cx="6858000" cy="3528499"/>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cxnSp>
        <p:nvCxnSpPr>
          <p:cNvPr id="269" name="直接连接符 268"/>
          <p:cNvCxnSpPr/>
          <p:nvPr userDrawn="1"/>
        </p:nvCxnSpPr>
        <p:spPr>
          <a:xfrm>
            <a:off x="1143000" y="1615042"/>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1143000" y="1202663"/>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sp>
        <p:nvSpPr>
          <p:cNvPr id="5" name="文本框 4"/>
          <p:cNvSpPr txBox="1"/>
          <p:nvPr userDrawn="1"/>
        </p:nvSpPr>
        <p:spPr>
          <a:xfrm>
            <a:off x="2858069" y="1261833"/>
            <a:ext cx="339344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智能的设计工具，让你告别繁琐的设计流程</a:t>
            </a:r>
          </a:p>
        </p:txBody>
      </p:sp>
      <p:sp>
        <p:nvSpPr>
          <p:cNvPr id="8" name="文本框 7"/>
          <p:cNvSpPr txBox="1"/>
          <p:nvPr userDrawn="1"/>
        </p:nvSpPr>
        <p:spPr>
          <a:xfrm>
            <a:off x="1715210" y="2467668"/>
            <a:ext cx="82169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latin typeface="宋体-简" panose="02010800040101010101" charset="-122"/>
                <a:ea typeface="宋体-简" panose="02010800040101010101" charset="-122"/>
              </a:rPr>
              <a:t>段落统一</a:t>
            </a:r>
          </a:p>
        </p:txBody>
      </p:sp>
      <p:sp>
        <p:nvSpPr>
          <p:cNvPr id="27" name="文本框 26"/>
          <p:cNvSpPr txBox="1"/>
          <p:nvPr userDrawn="1"/>
        </p:nvSpPr>
        <p:spPr>
          <a:xfrm>
            <a:off x="3344862" y="2467668"/>
            <a:ext cx="830997" cy="274955"/>
          </a:xfrm>
          <a:prstGeom prst="rect">
            <a:avLst/>
          </a:prstGeom>
        </p:spPr>
        <p:txBody>
          <a:bodyPr vert="horz" wrap="square" lIns="68549" tIns="34272" rIns="68549" bIns="34272" rtlCol="0" anchor="ctr">
            <a:spAutoFit/>
          </a:bodyPr>
          <a:lstStyle/>
          <a:p>
            <a:pPr algn="ctr"/>
            <a:r>
              <a:rPr lang="zh-CN" altLang="en-US" sz="1350" dirty="0">
                <a:latin typeface="宋体-简" panose="02010800040101010101" charset="-122"/>
                <a:ea typeface="宋体-简" panose="02010800040101010101" charset="-122"/>
                <a:cs typeface="宋体-简" panose="02010800040101010101" charset="-122"/>
                <a:sym typeface="+mn-lt"/>
              </a:rPr>
              <a:t>画中画</a:t>
            </a:r>
          </a:p>
        </p:txBody>
      </p:sp>
      <p:sp>
        <p:nvSpPr>
          <p:cNvPr id="46" name="文本框 45"/>
          <p:cNvSpPr txBox="1"/>
          <p:nvPr userDrawn="1"/>
        </p:nvSpPr>
        <p:spPr>
          <a:xfrm>
            <a:off x="5057022" y="2467666"/>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三维折图</a:t>
            </a:r>
          </a:p>
        </p:txBody>
      </p:sp>
      <p:sp>
        <p:nvSpPr>
          <p:cNvPr id="47" name="文本框 46"/>
          <p:cNvSpPr txBox="1"/>
          <p:nvPr userDrawn="1"/>
        </p:nvSpPr>
        <p:spPr>
          <a:xfrm>
            <a:off x="6727574" y="2469211"/>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色彩统一</a:t>
            </a:r>
          </a:p>
        </p:txBody>
      </p:sp>
      <p:sp>
        <p:nvSpPr>
          <p:cNvPr id="63" name="文本框 62"/>
          <p:cNvSpPr txBox="1"/>
          <p:nvPr userDrawn="1"/>
        </p:nvSpPr>
        <p:spPr>
          <a:xfrm>
            <a:off x="1730654"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图形裁图</a:t>
            </a:r>
          </a:p>
        </p:txBody>
      </p:sp>
      <p:sp>
        <p:nvSpPr>
          <p:cNvPr id="64" name="文本框 63"/>
          <p:cNvSpPr txBox="1"/>
          <p:nvPr userDrawn="1"/>
        </p:nvSpPr>
        <p:spPr>
          <a:xfrm>
            <a:off x="3360306"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背景虚化</a:t>
            </a:r>
          </a:p>
        </p:txBody>
      </p:sp>
      <p:sp>
        <p:nvSpPr>
          <p:cNvPr id="65" name="文本框 64"/>
          <p:cNvSpPr txBox="1"/>
          <p:nvPr userDrawn="1"/>
        </p:nvSpPr>
        <p:spPr>
          <a:xfrm>
            <a:off x="5072466"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字体统一</a:t>
            </a:r>
          </a:p>
        </p:txBody>
      </p:sp>
      <p:sp>
        <p:nvSpPr>
          <p:cNvPr id="66" name="文本框 65"/>
          <p:cNvSpPr txBox="1"/>
          <p:nvPr userDrawn="1"/>
        </p:nvSpPr>
        <p:spPr>
          <a:xfrm>
            <a:off x="6743018" y="3593705"/>
            <a:ext cx="735965" cy="274955"/>
          </a:xfrm>
          <a:prstGeom prst="rect">
            <a:avLst/>
          </a:prstGeom>
        </p:spPr>
        <p:txBody>
          <a:bodyPr vert="horz" wrap="none" lIns="68549" tIns="34272" rIns="68549" bIns="34272" rtlCol="0" anchor="ctr">
            <a:spAutoFit/>
          </a:bodyPr>
          <a:lstStyle/>
          <a:p>
            <a:r>
              <a:rPr lang="en-US" altLang="zh-CN" sz="1350" dirty="0">
                <a:latin typeface="宋体-简" panose="02010800040101010101" charset="-122"/>
                <a:ea typeface="宋体-简" panose="02010800040101010101" charset="-122"/>
                <a:cs typeface="宋体-简" panose="02010800040101010101" charset="-122"/>
                <a:sym typeface="+mn-lt"/>
              </a:rPr>
              <a:t>PPT</a:t>
            </a:r>
            <a:r>
              <a:rPr lang="zh-CN" altLang="en-US" sz="1350" dirty="0">
                <a:latin typeface="宋体-简" panose="02010800040101010101" charset="-122"/>
                <a:ea typeface="宋体-简" panose="02010800040101010101" charset="-122"/>
                <a:cs typeface="宋体-简" panose="02010800040101010101" charset="-122"/>
                <a:sym typeface="+mn-lt"/>
              </a:rPr>
              <a:t>瘦身</a:t>
            </a:r>
          </a:p>
        </p:txBody>
      </p:sp>
      <p:sp>
        <p:nvSpPr>
          <p:cNvPr id="11" name="文本框 10"/>
          <p:cNvSpPr txBox="1"/>
          <p:nvPr userDrawn="1"/>
        </p:nvSpPr>
        <p:spPr>
          <a:xfrm>
            <a:off x="1395827" y="2773994"/>
            <a:ext cx="1450340" cy="205740"/>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一键统一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所有页面字体</a:t>
            </a:r>
          </a:p>
        </p:txBody>
      </p:sp>
      <p:sp>
        <p:nvSpPr>
          <p:cNvPr id="71" name="文本框 70"/>
          <p:cNvSpPr txBox="1"/>
          <p:nvPr userDrawn="1"/>
        </p:nvSpPr>
        <p:spPr>
          <a:xfrm>
            <a:off x="3287154" y="2773994"/>
            <a:ext cx="93599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让图片更加高级</a:t>
            </a:r>
          </a:p>
        </p:txBody>
      </p:sp>
      <p:sp>
        <p:nvSpPr>
          <p:cNvPr id="72" name="文本框 71"/>
          <p:cNvSpPr txBox="1"/>
          <p:nvPr userDrawn="1"/>
        </p:nvSpPr>
        <p:spPr>
          <a:xfrm>
            <a:off x="4869357" y="2773994"/>
            <a:ext cx="127889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快速让图片具有立体感</a:t>
            </a:r>
          </a:p>
        </p:txBody>
      </p:sp>
      <p:sp>
        <p:nvSpPr>
          <p:cNvPr id="74" name="文本框 73"/>
          <p:cNvSpPr txBox="1"/>
          <p:nvPr userDrawn="1"/>
        </p:nvSpPr>
        <p:spPr>
          <a:xfrm>
            <a:off x="6399774" y="2773994"/>
            <a:ext cx="145034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一键统一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所有页面色彩</a:t>
            </a:r>
          </a:p>
        </p:txBody>
      </p:sp>
      <p:sp>
        <p:nvSpPr>
          <p:cNvPr id="91" name="文本框 90"/>
          <p:cNvSpPr txBox="1"/>
          <p:nvPr userDrawn="1"/>
        </p:nvSpPr>
        <p:spPr>
          <a:xfrm>
            <a:off x="1615238" y="3921438"/>
            <a:ext cx="1050290" cy="205740"/>
          </a:xfrm>
          <a:prstGeom prst="rect">
            <a:avLst/>
          </a:prstGeom>
        </p:spPr>
        <p:txBody>
          <a:bodyPr vert="horz" wrap="none" lIns="68549" tIns="34272" rIns="68549" bIns="34272" rtlCol="0" anchor="ctr">
            <a:spAutoFit/>
          </a:bodyPr>
          <a:lstStyle/>
          <a:p>
            <a:pPr algn="l"/>
            <a:r>
              <a:rPr lang="zh-CN" altLang="zh-CN" sz="900" dirty="0">
                <a:solidFill>
                  <a:srgbClr val="999999"/>
                </a:solidFill>
                <a:latin typeface="宋体-简" panose="02010800040101010101" charset="-122"/>
                <a:ea typeface="宋体-简" panose="02010800040101010101" charset="-122"/>
                <a:cs typeface="宋体-简" panose="02010800040101010101" charset="-122"/>
                <a:sym typeface="+mn-lt"/>
              </a:rPr>
              <a:t>极速裁剪图片大小</a:t>
            </a:r>
          </a:p>
        </p:txBody>
      </p:sp>
      <p:sp>
        <p:nvSpPr>
          <p:cNvPr id="92" name="文本框 91"/>
          <p:cNvSpPr txBox="1"/>
          <p:nvPr userDrawn="1"/>
        </p:nvSpPr>
        <p:spPr>
          <a:xfrm>
            <a:off x="3148709" y="3921438"/>
            <a:ext cx="139319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让图片具有</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大片</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特质</a:t>
            </a:r>
          </a:p>
        </p:txBody>
      </p:sp>
      <p:sp>
        <p:nvSpPr>
          <p:cNvPr id="93" name="文本框 92"/>
          <p:cNvSpPr txBox="1"/>
          <p:nvPr userDrawn="1"/>
        </p:nvSpPr>
        <p:spPr>
          <a:xfrm>
            <a:off x="4814654" y="3921438"/>
            <a:ext cx="133604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一键统一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所有页字体</a:t>
            </a:r>
          </a:p>
        </p:txBody>
      </p:sp>
      <p:sp>
        <p:nvSpPr>
          <p:cNvPr id="94" name="文本框 93"/>
          <p:cNvSpPr txBox="1"/>
          <p:nvPr userDrawn="1"/>
        </p:nvSpPr>
        <p:spPr>
          <a:xfrm>
            <a:off x="6628475" y="3921438"/>
            <a:ext cx="99314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快速精简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空间</a:t>
            </a:r>
          </a:p>
        </p:txBody>
      </p:sp>
      <p:pic>
        <p:nvPicPr>
          <p:cNvPr id="9" name="图片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287087" y="3072651"/>
            <a:ext cx="457200" cy="457399"/>
          </a:xfrm>
          <a:prstGeom prst="rect">
            <a:avLst/>
          </a:prstGeom>
        </p:spPr>
      </p:pic>
      <p:pic>
        <p:nvPicPr>
          <p:cNvPr id="14" name="图片 1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927785" y="3072651"/>
            <a:ext cx="457200" cy="457399"/>
          </a:xfrm>
          <a:prstGeom prst="rect">
            <a:avLst/>
          </a:prstGeom>
        </p:spPr>
      </p:pic>
      <p:pic>
        <p:nvPicPr>
          <p:cNvPr id="18" name="图片 1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530735" y="3072651"/>
            <a:ext cx="457200" cy="457399"/>
          </a:xfrm>
          <a:prstGeom prst="rect">
            <a:avLst/>
          </a:prstGeom>
        </p:spPr>
      </p:pic>
      <p:pic>
        <p:nvPicPr>
          <p:cNvPr id="22" name="图片 21"/>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842868" y="3072651"/>
            <a:ext cx="457200" cy="457399"/>
          </a:xfrm>
          <a:prstGeom prst="rect">
            <a:avLst/>
          </a:prstGeom>
        </p:spPr>
      </p:pic>
      <p:pic>
        <p:nvPicPr>
          <p:cNvPr id="26" name="图片 25"/>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885488" y="1915178"/>
            <a:ext cx="457200" cy="457399"/>
          </a:xfrm>
          <a:prstGeom prst="rect">
            <a:avLst/>
          </a:prstGeom>
        </p:spPr>
      </p:pic>
      <p:pic>
        <p:nvPicPr>
          <p:cNvPr id="29" name="图片 2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5243921" y="1915178"/>
            <a:ext cx="457200" cy="457399"/>
          </a:xfrm>
          <a:prstGeom prst="rect">
            <a:avLst/>
          </a:prstGeom>
        </p:spPr>
      </p:pic>
      <p:pic>
        <p:nvPicPr>
          <p:cNvPr id="256" name="图片 255"/>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3543298" y="1915178"/>
            <a:ext cx="457200" cy="457399"/>
          </a:xfrm>
          <a:prstGeom prst="rect">
            <a:avLst/>
          </a:prstGeom>
        </p:spPr>
      </p:pic>
      <p:pic>
        <p:nvPicPr>
          <p:cNvPr id="258" name="图片 257"/>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917552" y="1948156"/>
            <a:ext cx="457200" cy="457399"/>
          </a:xfrm>
          <a:prstGeom prst="rect">
            <a:avLst/>
          </a:prstGeom>
        </p:spPr>
      </p:pic>
      <p:sp>
        <p:nvSpPr>
          <p:cNvPr id="50" name="矩形 49"/>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pic>
        <p:nvPicPr>
          <p:cNvPr id="52" name="图片 51"/>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53" name="文本框 52"/>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54" name="文本框 53"/>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55" name="文本框 54"/>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pic>
        <p:nvPicPr>
          <p:cNvPr id="2" name="图片 1"/>
          <p:cNvPicPr>
            <a:picLocks noChangeAspect="1"/>
          </p:cNvPicPr>
          <p:nvPr userDrawn="1"/>
        </p:nvPicPr>
        <p:blipFill>
          <a:blip r:embed="rId12"/>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宣传页2">
    <p:spTree>
      <p:nvGrpSpPr>
        <p:cNvPr id="1" name=""/>
        <p:cNvGrpSpPr/>
        <p:nvPr/>
      </p:nvGrpSpPr>
      <p:grpSpPr>
        <a:xfrm>
          <a:off x="0" y="0"/>
          <a:ext cx="0" cy="0"/>
          <a:chOff x="0" y="0"/>
          <a:chExt cx="0" cy="0"/>
        </a:xfrm>
      </p:grpSpPr>
      <p:pic>
        <p:nvPicPr>
          <p:cNvPr id="23" name="图片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49" name="矩形 48"/>
          <p:cNvSpPr/>
          <p:nvPr userDrawn="1"/>
        </p:nvSpPr>
        <p:spPr>
          <a:xfrm>
            <a:off x="1143000" y="1190167"/>
            <a:ext cx="6858000" cy="3528499"/>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cxnSp>
        <p:nvCxnSpPr>
          <p:cNvPr id="50" name="直接连接符 49"/>
          <p:cNvCxnSpPr/>
          <p:nvPr userDrawn="1"/>
        </p:nvCxnSpPr>
        <p:spPr>
          <a:xfrm>
            <a:off x="1143000" y="1615042"/>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sp>
        <p:nvSpPr>
          <p:cNvPr id="52" name="矩形 51"/>
          <p:cNvSpPr/>
          <p:nvPr userDrawn="1"/>
        </p:nvSpPr>
        <p:spPr>
          <a:xfrm>
            <a:off x="1143000" y="1202663"/>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sp>
        <p:nvSpPr>
          <p:cNvPr id="53" name="文本框 52"/>
          <p:cNvSpPr txBox="1"/>
          <p:nvPr userDrawn="1"/>
        </p:nvSpPr>
        <p:spPr>
          <a:xfrm>
            <a:off x="3117755" y="1261833"/>
            <a:ext cx="2879090" cy="274955"/>
          </a:xfrm>
          <a:prstGeom prst="rect">
            <a:avLst/>
          </a:prstGeom>
        </p:spPr>
        <p:txBody>
          <a:bodyPr vert="horz" wrap="none" lIns="68549" tIns="34272" rIns="68549" bIns="34272" rtlCol="0" anchor="ctr">
            <a:spAutoFit/>
          </a:bodyPr>
          <a:lstStyle/>
          <a:p>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丰富的内容库，让你随时迸发灵感！</a:t>
            </a:r>
          </a:p>
        </p:txBody>
      </p:sp>
      <p:sp>
        <p:nvSpPr>
          <p:cNvPr id="54" name="文本框 53"/>
          <p:cNvSpPr txBox="1"/>
          <p:nvPr userDrawn="1"/>
        </p:nvSpPr>
        <p:spPr>
          <a:xfrm>
            <a:off x="1740069" y="2467668"/>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案例库</a:t>
            </a:r>
          </a:p>
        </p:txBody>
      </p:sp>
      <p:sp>
        <p:nvSpPr>
          <p:cNvPr id="55" name="文本框 54"/>
          <p:cNvSpPr txBox="1"/>
          <p:nvPr userDrawn="1"/>
        </p:nvSpPr>
        <p:spPr>
          <a:xfrm>
            <a:off x="3434430" y="2467668"/>
            <a:ext cx="657872" cy="274955"/>
          </a:xfrm>
          <a:prstGeom prst="rect">
            <a:avLst/>
          </a:prstGeom>
        </p:spPr>
        <p:txBody>
          <a:bodyPr vert="horz" wrap="squar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插图库</a:t>
            </a:r>
          </a:p>
        </p:txBody>
      </p:sp>
      <p:sp>
        <p:nvSpPr>
          <p:cNvPr id="56" name="文本框 55"/>
          <p:cNvSpPr txBox="1"/>
          <p:nvPr userDrawn="1"/>
        </p:nvSpPr>
        <p:spPr>
          <a:xfrm>
            <a:off x="5159028" y="2467666"/>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色彩库</a:t>
            </a:r>
          </a:p>
        </p:txBody>
      </p:sp>
      <p:sp>
        <p:nvSpPr>
          <p:cNvPr id="57" name="文本框 56"/>
          <p:cNvSpPr txBox="1"/>
          <p:nvPr userDrawn="1"/>
        </p:nvSpPr>
        <p:spPr>
          <a:xfrm>
            <a:off x="6814136" y="2469211"/>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图标库</a:t>
            </a:r>
          </a:p>
        </p:txBody>
      </p:sp>
      <p:sp>
        <p:nvSpPr>
          <p:cNvPr id="58" name="文本框 57"/>
          <p:cNvSpPr txBox="1"/>
          <p:nvPr userDrawn="1"/>
        </p:nvSpPr>
        <p:spPr>
          <a:xfrm>
            <a:off x="1746667" y="3592162"/>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图片库</a:t>
            </a:r>
          </a:p>
        </p:txBody>
      </p:sp>
      <p:sp>
        <p:nvSpPr>
          <p:cNvPr id="59" name="文本框 58"/>
          <p:cNvSpPr txBox="1"/>
          <p:nvPr userDrawn="1"/>
        </p:nvSpPr>
        <p:spPr>
          <a:xfrm>
            <a:off x="3378287"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逻辑图表</a:t>
            </a:r>
          </a:p>
        </p:txBody>
      </p:sp>
      <p:sp>
        <p:nvSpPr>
          <p:cNvPr id="60" name="文本框 59"/>
          <p:cNvSpPr txBox="1"/>
          <p:nvPr userDrawn="1"/>
        </p:nvSpPr>
        <p:spPr>
          <a:xfrm>
            <a:off x="5100188"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数据图表</a:t>
            </a:r>
          </a:p>
        </p:txBody>
      </p:sp>
      <p:sp>
        <p:nvSpPr>
          <p:cNvPr id="61" name="文本框 60"/>
          <p:cNvSpPr txBox="1"/>
          <p:nvPr userDrawn="1"/>
        </p:nvSpPr>
        <p:spPr>
          <a:xfrm>
            <a:off x="6827448" y="3593705"/>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主题库</a:t>
            </a:r>
          </a:p>
        </p:txBody>
      </p:sp>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2731" y="1935879"/>
            <a:ext cx="457200" cy="457399"/>
          </a:xfrm>
          <a:prstGeom prst="rect">
            <a:avLst/>
          </a:prstGeom>
        </p:spPr>
      </p:pic>
      <p:pic>
        <p:nvPicPr>
          <p:cNvPr id="5" name="图片 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516860" y="1927846"/>
            <a:ext cx="457200" cy="457399"/>
          </a:xfrm>
          <a:prstGeom prst="rect">
            <a:avLst/>
          </a:prstGeom>
        </p:spPr>
      </p:pic>
      <p:pic>
        <p:nvPicPr>
          <p:cNvPr id="41" name="111_3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927784" y="1935879"/>
            <a:ext cx="457200" cy="457399"/>
          </a:xfrm>
          <a:prstGeom prst="rect">
            <a:avLst/>
          </a:prstGeom>
        </p:spPr>
      </p:pic>
      <p:pic>
        <p:nvPicPr>
          <p:cNvPr id="42" name="111_34"/>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847003" y="3073287"/>
            <a:ext cx="457200" cy="457399"/>
          </a:xfrm>
          <a:prstGeom prst="rect">
            <a:avLst/>
          </a:prstGeom>
        </p:spPr>
      </p:pic>
      <p:pic>
        <p:nvPicPr>
          <p:cNvPr id="43" name="111_35"/>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547203" y="3073287"/>
            <a:ext cx="457200" cy="457399"/>
          </a:xfrm>
          <a:prstGeom prst="rect">
            <a:avLst/>
          </a:prstGeom>
        </p:spPr>
      </p:pic>
      <p:pic>
        <p:nvPicPr>
          <p:cNvPr id="45" name="111_32"/>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5288596" y="1935879"/>
            <a:ext cx="457200" cy="457399"/>
          </a:xfrm>
          <a:prstGeom prst="rect">
            <a:avLst/>
          </a:prstGeom>
        </p:spPr>
      </p:pic>
      <p:pic>
        <p:nvPicPr>
          <p:cNvPr id="46" name="图片 45"/>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927784" y="3073287"/>
            <a:ext cx="457200" cy="457399"/>
          </a:xfrm>
          <a:prstGeom prst="rect">
            <a:avLst/>
          </a:prstGeom>
        </p:spPr>
      </p:pic>
      <p:pic>
        <p:nvPicPr>
          <p:cNvPr id="24" name="图片 23"/>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5287087" y="3073287"/>
            <a:ext cx="457200" cy="457399"/>
          </a:xfrm>
          <a:prstGeom prst="rect">
            <a:avLst/>
          </a:prstGeom>
        </p:spPr>
      </p:pic>
      <p:sp>
        <p:nvSpPr>
          <p:cNvPr id="62" name="矩形 61"/>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pic>
        <p:nvPicPr>
          <p:cNvPr id="64" name="图片 63"/>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65" name="文本框 64"/>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66" name="文本框 65"/>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67" name="文本框 66"/>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pic>
        <p:nvPicPr>
          <p:cNvPr id="2" name="图片 1"/>
          <p:cNvPicPr>
            <a:picLocks noChangeAspect="1"/>
          </p:cNvPicPr>
          <p:nvPr userDrawn="1"/>
        </p:nvPicPr>
        <p:blipFill>
          <a:blip r:embed="rId12"/>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907" y="1598181"/>
            <a:ext cx="7772424" cy="1102768"/>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814" y="2915310"/>
            <a:ext cx="6400610" cy="1314748"/>
          </a:xfrm>
          <a:prstGeom prst="rect">
            <a:avLst/>
          </a:prstGeo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8035" indent="0" algn="ctr">
              <a:buNone/>
              <a:defRPr>
                <a:solidFill>
                  <a:schemeClr val="tx1">
                    <a:tint val="75000"/>
                  </a:schemeClr>
                </a:solidFill>
              </a:defRPr>
            </a:lvl7pPr>
            <a:lvl8pPr marL="2400935" indent="0" algn="ctr">
              <a:buNone/>
              <a:defRPr>
                <a:solidFill>
                  <a:schemeClr val="tx1">
                    <a:tint val="75000"/>
                  </a:schemeClr>
                </a:solidFill>
              </a:defRPr>
            </a:lvl8pPr>
            <a:lvl9pPr marL="2743835"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2026/5/19</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71" y="1200422"/>
            <a:ext cx="8229696" cy="3395241"/>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2026/5/19</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823" y="3305923"/>
            <a:ext cx="7772423" cy="1021788"/>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823" y="2180528"/>
            <a:ext cx="7772423" cy="1125395"/>
          </a:xfrm>
          <a:prstGeom prst="rect">
            <a:avLst/>
          </a:prstGeo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8035" indent="0">
              <a:buNone/>
              <a:defRPr sz="1050">
                <a:solidFill>
                  <a:schemeClr val="tx1">
                    <a:tint val="75000"/>
                  </a:schemeClr>
                </a:solidFill>
              </a:defRPr>
            </a:lvl7pPr>
            <a:lvl8pPr marL="2400935" indent="0">
              <a:buNone/>
              <a:defRPr sz="1050">
                <a:solidFill>
                  <a:schemeClr val="tx1">
                    <a:tint val="75000"/>
                  </a:schemeClr>
                </a:solidFill>
              </a:defRPr>
            </a:lvl8pPr>
            <a:lvl9pPr marL="2743835" indent="0">
              <a:buNone/>
              <a:defRPr sz="105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2026/5/19</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71" y="1200422"/>
            <a:ext cx="4057094"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8683" y="1200422"/>
            <a:ext cx="4058284"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2026/5/19</a:t>
            </a:fld>
            <a:endParaRPr lang="zh-CN" altLang="en-US"/>
          </a:p>
        </p:txBody>
      </p:sp>
      <p:sp>
        <p:nvSpPr>
          <p:cNvPr id="6" name="页脚占位符 5"/>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71" y="1151595"/>
            <a:ext cx="4040422"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71" y="1631526"/>
            <a:ext cx="4040422"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354" y="1151595"/>
            <a:ext cx="4041613"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354" y="1631526"/>
            <a:ext cx="4041613"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2026/5/19</a:t>
            </a:fld>
            <a:endParaRPr lang="zh-CN" altLang="en-US"/>
          </a:p>
        </p:txBody>
      </p:sp>
      <p:sp>
        <p:nvSpPr>
          <p:cNvPr id="8" name="页脚占位符 7"/>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2026/5/19</a:t>
            </a:fld>
            <a:endParaRPr lang="zh-CN" altLang="en-US"/>
          </a:p>
        </p:txBody>
      </p:sp>
      <p:sp>
        <p:nvSpPr>
          <p:cNvPr id="4" name="页脚占位符 3"/>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2026/5/19</a:t>
            </a:fld>
            <a:endParaRPr lang="zh-CN" altLang="en-US"/>
          </a:p>
        </p:txBody>
      </p:sp>
      <p:sp>
        <p:nvSpPr>
          <p:cNvPr id="3" name="页脚占位符 2"/>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71" y="204834"/>
            <a:ext cx="3007989" cy="871735"/>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4815" y="204834"/>
            <a:ext cx="5112152" cy="439082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71" y="1076569"/>
            <a:ext cx="3007989" cy="3519094"/>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2026/5/19</a:t>
            </a:fld>
            <a:endParaRPr lang="zh-CN" altLang="en-US"/>
          </a:p>
        </p:txBody>
      </p:sp>
      <p:sp>
        <p:nvSpPr>
          <p:cNvPr id="6" name="页脚占位符 5"/>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171" y="3601265"/>
            <a:ext cx="5487257" cy="425150"/>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171" y="459685"/>
            <a:ext cx="5487257" cy="308679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8035" indent="0">
              <a:buNone/>
              <a:defRPr sz="1500"/>
            </a:lvl7pPr>
            <a:lvl8pPr marL="2400935" indent="0">
              <a:buNone/>
              <a:defRPr sz="1500"/>
            </a:lvl8pPr>
            <a:lvl9pPr marL="2743835" indent="0">
              <a:buNone/>
              <a:defRPr sz="1500"/>
            </a:lvl9pPr>
          </a:lstStyle>
          <a:p>
            <a:endParaRPr lang="zh-CN" altLang="en-US"/>
          </a:p>
        </p:txBody>
      </p:sp>
      <p:sp>
        <p:nvSpPr>
          <p:cNvPr id="4" name="文本占位符 3"/>
          <p:cNvSpPr>
            <a:spLocks noGrp="1"/>
          </p:cNvSpPr>
          <p:nvPr>
            <p:ph type="body" sz="half" idx="2"/>
          </p:nvPr>
        </p:nvSpPr>
        <p:spPr>
          <a:xfrm>
            <a:off x="1792171" y="4026415"/>
            <a:ext cx="5487257" cy="603783"/>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2026/5/19</a:t>
            </a:fld>
            <a:endParaRPr lang="zh-CN" altLang="en-US"/>
          </a:p>
        </p:txBody>
      </p:sp>
      <p:sp>
        <p:nvSpPr>
          <p:cNvPr id="6" name="页脚占位符 5"/>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71" y="1200422"/>
            <a:ext cx="8229696" cy="3395241"/>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2026/5/19</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0436" y="206025"/>
            <a:ext cx="2056531" cy="4389637"/>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71" y="206025"/>
            <a:ext cx="6058847" cy="4389637"/>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2026/5/19</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image" Target="../media/image1.jpe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7" name="矩形 6"/>
          <p:cNvSpPr/>
          <p:nvPr userDrawn="1"/>
        </p:nvSpPr>
        <p:spPr>
          <a:xfrm rot="10800000">
            <a:off x="-5174" y="-8001"/>
            <a:ext cx="9149412" cy="5152666"/>
          </a:xfrm>
          <a:prstGeom prst="rect">
            <a:avLst/>
          </a:prstGeom>
          <a:gradFill flip="none" rotWithShape="1">
            <a:gsLst>
              <a:gs pos="100000">
                <a:schemeClr val="bg1">
                  <a:lumMod val="75000"/>
                </a:schemeClr>
              </a:gs>
              <a:gs pos="48000">
                <a:schemeClr val="bg1">
                  <a:lumMod val="95000"/>
                </a:schemeClr>
              </a:gs>
              <a:gs pos="0">
                <a:schemeClr val="bg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15000"/>
        </a:spcBef>
        <a:buFont typeface="Arial" panose="020B0604020202020204" pitchFamily="34" charset="0"/>
        <a:buChar char="•"/>
        <a:defRPr sz="2400" kern="1200">
          <a:solidFill>
            <a:schemeClr val="tx1"/>
          </a:solidFill>
          <a:latin typeface="+mn-lt"/>
          <a:ea typeface="+mn-ea"/>
          <a:cs typeface="+mn-cs"/>
        </a:defRPr>
      </a:lvl1pPr>
      <a:lvl2pPr marL="557530" indent="-214630" algn="l" defTabSz="685800" rtl="0" eaLnBrk="1" latinLnBrk="0" hangingPunct="1">
        <a:spcBef>
          <a:spcPct val="15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15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5pPr>
      <a:lvl6pPr marL="18865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6pPr>
      <a:lvl7pPr marL="22294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7pPr>
      <a:lvl8pPr marL="25723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8pPr>
      <a:lvl9pPr marL="29152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rot="10800000">
            <a:off x="-5174" y="-8001"/>
            <a:ext cx="9149412" cy="5152666"/>
          </a:xfrm>
          <a:prstGeom prst="rect">
            <a:avLst/>
          </a:prstGeom>
          <a:gradFill flip="none" rotWithShape="1">
            <a:gsLst>
              <a:gs pos="100000">
                <a:schemeClr val="bg1">
                  <a:lumMod val="75000"/>
                </a:schemeClr>
              </a:gs>
              <a:gs pos="48000">
                <a:schemeClr val="bg1">
                  <a:lumMod val="95000"/>
                </a:schemeClr>
              </a:gs>
              <a:gs pos="0">
                <a:schemeClr val="bg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矩形 4"/>
          <p:cNvSpPr/>
          <p:nvPr userDrawn="1"/>
        </p:nvSpPr>
        <p:spPr>
          <a:xfrm>
            <a:off x="8969989" y="4084843"/>
            <a:ext cx="185136" cy="540182"/>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矩形 5"/>
          <p:cNvSpPr/>
          <p:nvPr userDrawn="1"/>
        </p:nvSpPr>
        <p:spPr>
          <a:xfrm>
            <a:off x="8969989" y="4625025"/>
            <a:ext cx="185136" cy="54018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8" name="直接连接符 7"/>
          <p:cNvCxnSpPr/>
          <p:nvPr userDrawn="1"/>
        </p:nvCxnSpPr>
        <p:spPr>
          <a:xfrm>
            <a:off x="261851" y="573658"/>
            <a:ext cx="8588296" cy="0"/>
          </a:xfrm>
          <a:prstGeom prst="line">
            <a:avLst/>
          </a:prstGeom>
          <a:ln w="28575">
            <a:solidFill>
              <a:schemeClr val="bg1">
                <a:lumMod val="75000"/>
              </a:schemeClr>
            </a:solidFill>
          </a:ln>
          <a:effectLst>
            <a:outerShdw dist="25400" dir="5400000" algn="t" rotWithShape="0">
              <a:schemeClr val="bg1"/>
            </a:outerShdw>
          </a:effectLst>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235214" y="126050"/>
            <a:ext cx="185136" cy="18514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p:nvPr userDrawn="1"/>
        </p:nvSpPr>
        <p:spPr>
          <a:xfrm>
            <a:off x="420351" y="311200"/>
            <a:ext cx="185136" cy="185149"/>
          </a:xfrm>
          <a:prstGeom prst="rect">
            <a:avLst/>
          </a:prstGeom>
          <a:solidFill>
            <a:srgbClr val="00A1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15000"/>
        </a:spcBef>
        <a:buFont typeface="Arial" panose="020B0604020202020204" pitchFamily="34" charset="0"/>
        <a:buChar char="•"/>
        <a:defRPr sz="2400" kern="1200">
          <a:solidFill>
            <a:schemeClr val="tx1"/>
          </a:solidFill>
          <a:latin typeface="+mn-lt"/>
          <a:ea typeface="+mn-ea"/>
          <a:cs typeface="+mn-cs"/>
        </a:defRPr>
      </a:lvl1pPr>
      <a:lvl2pPr marL="557530" indent="-214630" algn="l" defTabSz="685800" rtl="0" eaLnBrk="1" latinLnBrk="0" hangingPunct="1">
        <a:spcBef>
          <a:spcPct val="15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15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5pPr>
      <a:lvl6pPr marL="18865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6pPr>
      <a:lvl7pPr marL="22294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7pPr>
      <a:lvl8pPr marL="25723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8pPr>
      <a:lvl9pPr marL="29152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huasong@wust.edu.cn"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github.com/mhuasong/Basics-of-Robotics-Theory-and-Technology" TargetMode="Externa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notesSlide" Target="../notesSlides/notesSlide2.xml"/><Relationship Id="rId3" Type="http://schemas.openxmlformats.org/officeDocument/2006/relationships/tags" Target="../tags/tag4.xml"/><Relationship Id="rId21" Type="http://schemas.openxmlformats.org/officeDocument/2006/relationships/tags" Target="../tags/tag2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slideLayout" Target="../slideLayouts/slideLayout7.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tags" Target="../tags/tag25.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26.gif"/><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notesSlide" Target="../notesSlides/notesSlide12.xml"/><Relationship Id="rId7" Type="http://schemas.openxmlformats.org/officeDocument/2006/relationships/image" Target="../media/image45.pn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44.png"/><Relationship Id="rId5" Type="http://schemas.openxmlformats.org/officeDocument/2006/relationships/image" Target="../media/image42.emf"/><Relationship Id="rId10" Type="http://schemas.openxmlformats.org/officeDocument/2006/relationships/image" Target="../media/image43.emf"/><Relationship Id="rId4" Type="http://schemas.openxmlformats.org/officeDocument/2006/relationships/oleObject" Target="../embeddings/oleObject1.bin"/><Relationship Id="rId9"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47.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49.jpg"/><Relationship Id="rId4" Type="http://schemas.openxmlformats.org/officeDocument/2006/relationships/image" Target="../media/image48.png"/></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55.png"/><Relationship Id="rId3" Type="http://schemas.openxmlformats.org/officeDocument/2006/relationships/notesSlide" Target="../notesSlides/notesSlide14.xml"/><Relationship Id="rId7" Type="http://schemas.openxmlformats.org/officeDocument/2006/relationships/image" Target="../media/image50.wmf"/><Relationship Id="rId12" Type="http://schemas.openxmlformats.org/officeDocument/2006/relationships/image" Target="../media/image54.png"/><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4.bin"/><Relationship Id="rId11" Type="http://schemas.openxmlformats.org/officeDocument/2006/relationships/image" Target="../media/image53.png"/><Relationship Id="rId5" Type="http://schemas.openxmlformats.org/officeDocument/2006/relationships/image" Target="../media/image44.png"/><Relationship Id="rId10" Type="http://schemas.openxmlformats.org/officeDocument/2006/relationships/image" Target="../media/image520.png"/><Relationship Id="rId4" Type="http://schemas.openxmlformats.org/officeDocument/2006/relationships/image" Target="../media/image52.png"/><Relationship Id="rId9" Type="http://schemas.openxmlformats.org/officeDocument/2006/relationships/image" Target="../media/image51.wmf"/></Relationships>
</file>

<file path=ppt/slides/_rels/slide15.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png"/></Relationships>
</file>

<file path=ppt/slides/_rels/slide16.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66.gif"/><Relationship Id="rId4" Type="http://schemas.openxmlformats.org/officeDocument/2006/relationships/image" Target="../media/image65.png"/></Relationships>
</file>

<file path=ppt/slides/_rels/slide17.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6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71.png"/><Relationship Id="rId4" Type="http://schemas.openxmlformats.org/officeDocument/2006/relationships/image" Target="../media/image70.png"/></Relationships>
</file>

<file path=ppt/slides/_rels/slide20.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2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79.png"/><Relationship Id="rId4" Type="http://schemas.openxmlformats.org/officeDocument/2006/relationships/image" Target="../media/image78.png"/></Relationships>
</file>

<file path=ppt/slides/_rels/slide22.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84.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2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86.png"/></Relationships>
</file>

<file path=ppt/slides/_rels/slide24.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notesSlide" Target="../notesSlides/notesSlide24.xml"/><Relationship Id="rId7" Type="http://schemas.openxmlformats.org/officeDocument/2006/relationships/image" Target="../media/image90.png"/><Relationship Id="rId12" Type="http://schemas.openxmlformats.org/officeDocument/2006/relationships/image" Target="../media/image79.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89.png"/><Relationship Id="rId11" Type="http://schemas.openxmlformats.org/officeDocument/2006/relationships/oleObject" Target="../embeddings/oleObject6.bin"/><Relationship Id="rId5" Type="http://schemas.openxmlformats.org/officeDocument/2006/relationships/image" Target="../media/image88.png"/><Relationship Id="rId10" Type="http://schemas.openxmlformats.org/officeDocument/2006/relationships/image" Target="../media/image79.wmf"/><Relationship Id="rId4" Type="http://schemas.openxmlformats.org/officeDocument/2006/relationships/image" Target="../media/image87.png"/><Relationship Id="rId9" Type="http://schemas.openxmlformats.org/officeDocument/2006/relationships/oleObject" Target="../embeddings/oleObject6.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notesSlide" Target="../notesSlides/notesSlide25.xml"/><Relationship Id="rId7" Type="http://schemas.openxmlformats.org/officeDocument/2006/relationships/image" Target="../media/image92.png"/><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910.png"/><Relationship Id="rId5" Type="http://schemas.openxmlformats.org/officeDocument/2006/relationships/image" Target="../media/image900.png"/><Relationship Id="rId4" Type="http://schemas.openxmlformats.org/officeDocument/2006/relationships/image" Target="../media/image93.png"/><Relationship Id="rId9" Type="http://schemas.openxmlformats.org/officeDocument/2006/relationships/image" Target="../media/image79.w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93.wmf"/><Relationship Id="rId18" Type="http://schemas.openxmlformats.org/officeDocument/2006/relationships/image" Target="../media/image99.png"/><Relationship Id="rId3" Type="http://schemas.openxmlformats.org/officeDocument/2006/relationships/notesSlide" Target="../notesSlides/notesSlide27.xml"/><Relationship Id="rId7" Type="http://schemas.openxmlformats.org/officeDocument/2006/relationships/image" Target="../media/image90.wmf"/><Relationship Id="rId12" Type="http://schemas.openxmlformats.org/officeDocument/2006/relationships/oleObject" Target="../embeddings/oleObject12.bin"/><Relationship Id="rId17" Type="http://schemas.openxmlformats.org/officeDocument/2006/relationships/image" Target="../media/image95.emf"/><Relationship Id="rId2" Type="http://schemas.openxmlformats.org/officeDocument/2006/relationships/slideLayout" Target="../slideLayouts/slideLayout7.xml"/><Relationship Id="rId16" Type="http://schemas.openxmlformats.org/officeDocument/2006/relationships/oleObject" Target="../embeddings/oleObject14.bin"/><Relationship Id="rId1" Type="http://schemas.openxmlformats.org/officeDocument/2006/relationships/vmlDrawing" Target="../drawings/vmlDrawing6.vml"/><Relationship Id="rId6" Type="http://schemas.openxmlformats.org/officeDocument/2006/relationships/oleObject" Target="../embeddings/oleObject9.bin"/><Relationship Id="rId11" Type="http://schemas.openxmlformats.org/officeDocument/2006/relationships/image" Target="../media/image92.wmf"/><Relationship Id="rId5" Type="http://schemas.openxmlformats.org/officeDocument/2006/relationships/image" Target="../media/image89.wmf"/><Relationship Id="rId15" Type="http://schemas.openxmlformats.org/officeDocument/2006/relationships/image" Target="../media/image94.w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91.wmf"/><Relationship Id="rId14" Type="http://schemas.openxmlformats.org/officeDocument/2006/relationships/oleObject" Target="../embeddings/oleObject13.bin"/></Relationships>
</file>

<file path=ppt/slides/_rels/slide28.xml.rels><?xml version="1.0" encoding="UTF-8" standalone="yes"?>
<Relationships xmlns="http://schemas.openxmlformats.org/package/2006/relationships"><Relationship Id="rId13" Type="http://schemas.openxmlformats.org/officeDocument/2006/relationships/image" Target="../media/image100.wmf"/><Relationship Id="rId18" Type="http://schemas.openxmlformats.org/officeDocument/2006/relationships/oleObject" Target="../embeddings/oleObject22.bin"/><Relationship Id="rId26" Type="http://schemas.openxmlformats.org/officeDocument/2006/relationships/oleObject" Target="../embeddings/oleObject26.bin"/><Relationship Id="rId21" Type="http://schemas.openxmlformats.org/officeDocument/2006/relationships/image" Target="../media/image104.wmf"/><Relationship Id="rId34" Type="http://schemas.openxmlformats.org/officeDocument/2006/relationships/oleObject" Target="../embeddings/oleObject30.bin"/><Relationship Id="rId7" Type="http://schemas.openxmlformats.org/officeDocument/2006/relationships/image" Target="../media/image97.wmf"/><Relationship Id="rId12" Type="http://schemas.openxmlformats.org/officeDocument/2006/relationships/oleObject" Target="../embeddings/oleObject19.bin"/><Relationship Id="rId17" Type="http://schemas.openxmlformats.org/officeDocument/2006/relationships/image" Target="../media/image102.wmf"/><Relationship Id="rId25" Type="http://schemas.openxmlformats.org/officeDocument/2006/relationships/image" Target="../media/image106.wmf"/><Relationship Id="rId33" Type="http://schemas.openxmlformats.org/officeDocument/2006/relationships/image" Target="../media/image91.wmf"/><Relationship Id="rId2" Type="http://schemas.openxmlformats.org/officeDocument/2006/relationships/slideLayout" Target="../slideLayouts/slideLayout7.xml"/><Relationship Id="rId16" Type="http://schemas.openxmlformats.org/officeDocument/2006/relationships/oleObject" Target="../embeddings/oleObject21.bin"/><Relationship Id="rId20" Type="http://schemas.openxmlformats.org/officeDocument/2006/relationships/oleObject" Target="../embeddings/oleObject23.bin"/><Relationship Id="rId29" Type="http://schemas.openxmlformats.org/officeDocument/2006/relationships/image" Target="../media/image79.wmf"/><Relationship Id="rId1" Type="http://schemas.openxmlformats.org/officeDocument/2006/relationships/vmlDrawing" Target="../drawings/vmlDrawing7.vml"/><Relationship Id="rId6" Type="http://schemas.openxmlformats.org/officeDocument/2006/relationships/oleObject" Target="../embeddings/oleObject16.bin"/><Relationship Id="rId11" Type="http://schemas.openxmlformats.org/officeDocument/2006/relationships/image" Target="../media/image99.wmf"/><Relationship Id="rId24" Type="http://schemas.openxmlformats.org/officeDocument/2006/relationships/oleObject" Target="../embeddings/oleObject25.bin"/><Relationship Id="rId32" Type="http://schemas.openxmlformats.org/officeDocument/2006/relationships/oleObject" Target="../embeddings/oleObject29.bin"/><Relationship Id="rId37" Type="http://schemas.openxmlformats.org/officeDocument/2006/relationships/image" Target="../media/image93.wmf"/><Relationship Id="rId5" Type="http://schemas.openxmlformats.org/officeDocument/2006/relationships/image" Target="../media/image96.wmf"/><Relationship Id="rId15" Type="http://schemas.openxmlformats.org/officeDocument/2006/relationships/image" Target="../media/image101.wmf"/><Relationship Id="rId23" Type="http://schemas.openxmlformats.org/officeDocument/2006/relationships/image" Target="../media/image105.wmf"/><Relationship Id="rId28" Type="http://schemas.openxmlformats.org/officeDocument/2006/relationships/oleObject" Target="../embeddings/oleObject27.bin"/><Relationship Id="rId36" Type="http://schemas.openxmlformats.org/officeDocument/2006/relationships/oleObject" Target="../embeddings/oleObject31.bin"/><Relationship Id="rId10" Type="http://schemas.openxmlformats.org/officeDocument/2006/relationships/oleObject" Target="../embeddings/oleObject18.bin"/><Relationship Id="rId19" Type="http://schemas.openxmlformats.org/officeDocument/2006/relationships/image" Target="../media/image103.wmf"/><Relationship Id="rId31" Type="http://schemas.openxmlformats.org/officeDocument/2006/relationships/image" Target="../media/image90.wmf"/><Relationship Id="rId4" Type="http://schemas.openxmlformats.org/officeDocument/2006/relationships/oleObject" Target="../embeddings/oleObject15.bin"/><Relationship Id="rId9" Type="http://schemas.openxmlformats.org/officeDocument/2006/relationships/image" Target="../media/image98.wmf"/><Relationship Id="rId14" Type="http://schemas.openxmlformats.org/officeDocument/2006/relationships/oleObject" Target="../embeddings/oleObject20.bin"/><Relationship Id="rId22" Type="http://schemas.openxmlformats.org/officeDocument/2006/relationships/oleObject" Target="../embeddings/oleObject24.bin"/><Relationship Id="rId27" Type="http://schemas.openxmlformats.org/officeDocument/2006/relationships/image" Target="../media/image107.wmf"/><Relationship Id="rId30" Type="http://schemas.openxmlformats.org/officeDocument/2006/relationships/oleObject" Target="../embeddings/oleObject28.bin"/><Relationship Id="rId35" Type="http://schemas.openxmlformats.org/officeDocument/2006/relationships/image" Target="../media/image92.wmf"/><Relationship Id="rId8" Type="http://schemas.openxmlformats.org/officeDocument/2006/relationships/oleObject" Target="../embeddings/oleObject17.bin"/><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image" Target="../media/image108.wmf"/><Relationship Id="rId4" Type="http://schemas.openxmlformats.org/officeDocument/2006/relationships/oleObject" Target="../embeddings/oleObject32.bin"/></Relationships>
</file>

<file path=ppt/slides/_rels/slide30.xml.rels><?xml version="1.0" encoding="UTF-8" standalone="yes"?>
<Relationships xmlns="http://schemas.openxmlformats.org/package/2006/relationships"><Relationship Id="rId8" Type="http://schemas.openxmlformats.org/officeDocument/2006/relationships/image" Target="../media/image118.png"/><Relationship Id="rId13" Type="http://schemas.openxmlformats.org/officeDocument/2006/relationships/oleObject" Target="../embeddings/oleObject37.bin"/><Relationship Id="rId18" Type="http://schemas.openxmlformats.org/officeDocument/2006/relationships/image" Target="../media/image122.png"/><Relationship Id="rId3" Type="http://schemas.openxmlformats.org/officeDocument/2006/relationships/notesSlide" Target="../notesSlides/notesSlide30.xml"/><Relationship Id="rId7" Type="http://schemas.openxmlformats.org/officeDocument/2006/relationships/image" Target="../media/image110.wmf"/><Relationship Id="rId12" Type="http://schemas.openxmlformats.org/officeDocument/2006/relationships/image" Target="../media/image112.wmf"/><Relationship Id="rId17" Type="http://schemas.openxmlformats.org/officeDocument/2006/relationships/image" Target="../media/image121.png"/><Relationship Id="rId2" Type="http://schemas.openxmlformats.org/officeDocument/2006/relationships/slideLayout" Target="../slideLayouts/slideLayout7.xml"/><Relationship Id="rId16" Type="http://schemas.openxmlformats.org/officeDocument/2006/relationships/image" Target="../media/image120.png"/><Relationship Id="rId1" Type="http://schemas.openxmlformats.org/officeDocument/2006/relationships/vmlDrawing" Target="../drawings/vmlDrawing9.vml"/><Relationship Id="rId6" Type="http://schemas.openxmlformats.org/officeDocument/2006/relationships/oleObject" Target="../embeddings/oleObject34.bin"/><Relationship Id="rId11" Type="http://schemas.openxmlformats.org/officeDocument/2006/relationships/oleObject" Target="../embeddings/oleObject36.bin"/><Relationship Id="rId5" Type="http://schemas.openxmlformats.org/officeDocument/2006/relationships/image" Target="../media/image109.wmf"/><Relationship Id="rId15" Type="http://schemas.openxmlformats.org/officeDocument/2006/relationships/image" Target="../media/image119.png"/><Relationship Id="rId10" Type="http://schemas.openxmlformats.org/officeDocument/2006/relationships/image" Target="../media/image111.wmf"/><Relationship Id="rId19" Type="http://schemas.openxmlformats.org/officeDocument/2006/relationships/image" Target="../media/image123.png"/><Relationship Id="rId4" Type="http://schemas.openxmlformats.org/officeDocument/2006/relationships/oleObject" Target="../embeddings/oleObject33.bin"/><Relationship Id="rId9" Type="http://schemas.openxmlformats.org/officeDocument/2006/relationships/oleObject" Target="../embeddings/oleObject35.bin"/><Relationship Id="rId14" Type="http://schemas.openxmlformats.org/officeDocument/2006/relationships/image" Target="../media/image113.wmf"/></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38.bin"/><Relationship Id="rId3" Type="http://schemas.openxmlformats.org/officeDocument/2006/relationships/notesSlide" Target="../notesSlides/notesSlide31.xml"/><Relationship Id="rId7" Type="http://schemas.openxmlformats.org/officeDocument/2006/relationships/image" Target="../media/image127.png"/><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20.png"/><Relationship Id="rId9" Type="http://schemas.openxmlformats.org/officeDocument/2006/relationships/image" Target="../media/image114.wmf"/></Relationships>
</file>

<file path=ppt/slides/_rels/slide32.xml.rels><?xml version="1.0" encoding="UTF-8" standalone="yes"?>
<Relationships xmlns="http://schemas.openxmlformats.org/package/2006/relationships"><Relationship Id="rId8" Type="http://schemas.openxmlformats.org/officeDocument/2006/relationships/image" Target="../media/image115.wmf"/><Relationship Id="rId3" Type="http://schemas.openxmlformats.org/officeDocument/2006/relationships/notesSlide" Target="../notesSlides/notesSlide32.xml"/><Relationship Id="rId7" Type="http://schemas.openxmlformats.org/officeDocument/2006/relationships/oleObject" Target="../embeddings/oleObject40.bin"/><Relationship Id="rId12" Type="http://schemas.openxmlformats.org/officeDocument/2006/relationships/image" Target="../media/image131.png"/><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112.wmf"/><Relationship Id="rId11" Type="http://schemas.openxmlformats.org/officeDocument/2006/relationships/image" Target="../media/image130.png"/><Relationship Id="rId5" Type="http://schemas.openxmlformats.org/officeDocument/2006/relationships/oleObject" Target="../embeddings/oleObject39.bin"/><Relationship Id="rId10" Type="http://schemas.openxmlformats.org/officeDocument/2006/relationships/image" Target="../media/image129.png"/><Relationship Id="rId4" Type="http://schemas.openxmlformats.org/officeDocument/2006/relationships/image" Target="../media/image1260.png"/><Relationship Id="rId9" Type="http://schemas.openxmlformats.org/officeDocument/2006/relationships/image" Target="../media/image127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image" Target="../media/image117.png"/><Relationship Id="rId13" Type="http://schemas.openxmlformats.org/officeDocument/2006/relationships/image" Target="../media/image134.png"/><Relationship Id="rId3" Type="http://schemas.openxmlformats.org/officeDocument/2006/relationships/tags" Target="../tags/tag28.xml"/><Relationship Id="rId7" Type="http://schemas.openxmlformats.org/officeDocument/2006/relationships/image" Target="../media/image116.png"/><Relationship Id="rId12" Type="http://schemas.openxmlformats.org/officeDocument/2006/relationships/image" Target="../media/image133.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notesSlide" Target="../notesSlides/notesSlide34.xml"/><Relationship Id="rId11" Type="http://schemas.openxmlformats.org/officeDocument/2006/relationships/image" Target="../media/image132.png"/><Relationship Id="rId5" Type="http://schemas.openxmlformats.org/officeDocument/2006/relationships/slideLayout" Target="../slideLayouts/slideLayout7.xml"/><Relationship Id="rId10" Type="http://schemas.openxmlformats.org/officeDocument/2006/relationships/image" Target="../media/image128.png"/><Relationship Id="rId4" Type="http://schemas.openxmlformats.org/officeDocument/2006/relationships/tags" Target="../tags/tag29.xml"/><Relationship Id="rId9" Type="http://schemas.openxmlformats.org/officeDocument/2006/relationships/image" Target="../media/image124.png"/><Relationship Id="rId14" Type="http://schemas.openxmlformats.org/officeDocument/2006/relationships/image" Target="../media/image135.png"/></Relationships>
</file>

<file path=ppt/slides/_rels/slide35.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image" Target="../media/image138.png"/><Relationship Id="rId4" Type="http://schemas.openxmlformats.org/officeDocument/2006/relationships/image" Target="../media/image137.png"/></Relationships>
</file>

<file path=ppt/slides/_rels/slide36.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142.png"/><Relationship Id="rId5" Type="http://schemas.openxmlformats.org/officeDocument/2006/relationships/image" Target="../media/image141.png"/><Relationship Id="rId4" Type="http://schemas.openxmlformats.org/officeDocument/2006/relationships/image" Target="../media/image140.png"/></Relationships>
</file>

<file path=ppt/slides/_rels/slide37.xml.rels><?xml version="1.0" encoding="UTF-8" standalone="yes"?>
<Relationships xmlns="http://schemas.openxmlformats.org/package/2006/relationships"><Relationship Id="rId8" Type="http://schemas.openxmlformats.org/officeDocument/2006/relationships/image" Target="../media/image148.png"/><Relationship Id="rId3" Type="http://schemas.openxmlformats.org/officeDocument/2006/relationships/image" Target="../media/image143.emf"/><Relationship Id="rId7" Type="http://schemas.openxmlformats.org/officeDocument/2006/relationships/image" Target="../media/image147.pn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146.png"/><Relationship Id="rId5" Type="http://schemas.openxmlformats.org/officeDocument/2006/relationships/image" Target="../media/image145.png"/><Relationship Id="rId4" Type="http://schemas.openxmlformats.org/officeDocument/2006/relationships/image" Target="../media/image144.png"/><Relationship Id="rId9" Type="http://schemas.openxmlformats.org/officeDocument/2006/relationships/image" Target="../media/image149.emf"/></Relationships>
</file>

<file path=ppt/slides/_rels/slide38.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8" Type="http://schemas.openxmlformats.org/officeDocument/2006/relationships/tags" Target="../tags/tag37.xml"/><Relationship Id="rId13" Type="http://schemas.openxmlformats.org/officeDocument/2006/relationships/tags" Target="../tags/tag42.xml"/><Relationship Id="rId18" Type="http://schemas.openxmlformats.org/officeDocument/2006/relationships/tags" Target="../tags/tag47.xml"/><Relationship Id="rId3" Type="http://schemas.openxmlformats.org/officeDocument/2006/relationships/tags" Target="../tags/tag32.xml"/><Relationship Id="rId7" Type="http://schemas.openxmlformats.org/officeDocument/2006/relationships/tags" Target="../tags/tag36.xml"/><Relationship Id="rId12" Type="http://schemas.openxmlformats.org/officeDocument/2006/relationships/tags" Target="../tags/tag41.xml"/><Relationship Id="rId17" Type="http://schemas.openxmlformats.org/officeDocument/2006/relationships/tags" Target="../tags/tag46.xml"/><Relationship Id="rId2" Type="http://schemas.openxmlformats.org/officeDocument/2006/relationships/tags" Target="../tags/tag31.xml"/><Relationship Id="rId16" Type="http://schemas.openxmlformats.org/officeDocument/2006/relationships/tags" Target="../tags/tag45.xml"/><Relationship Id="rId20" Type="http://schemas.openxmlformats.org/officeDocument/2006/relationships/notesSlide" Target="../notesSlides/notesSlide39.xml"/><Relationship Id="rId1" Type="http://schemas.openxmlformats.org/officeDocument/2006/relationships/tags" Target="../tags/tag30.xml"/><Relationship Id="rId6" Type="http://schemas.openxmlformats.org/officeDocument/2006/relationships/tags" Target="../tags/tag35.xml"/><Relationship Id="rId11" Type="http://schemas.openxmlformats.org/officeDocument/2006/relationships/tags" Target="../tags/tag40.xml"/><Relationship Id="rId5" Type="http://schemas.openxmlformats.org/officeDocument/2006/relationships/tags" Target="../tags/tag34.xml"/><Relationship Id="rId15" Type="http://schemas.openxmlformats.org/officeDocument/2006/relationships/tags" Target="../tags/tag44.xml"/><Relationship Id="rId10" Type="http://schemas.openxmlformats.org/officeDocument/2006/relationships/tags" Target="../tags/tag39.xml"/><Relationship Id="rId19" Type="http://schemas.openxmlformats.org/officeDocument/2006/relationships/slideLayout" Target="../slideLayouts/slideLayout7.xml"/><Relationship Id="rId4" Type="http://schemas.openxmlformats.org/officeDocument/2006/relationships/tags" Target="../tags/tag33.xml"/><Relationship Id="rId9" Type="http://schemas.openxmlformats.org/officeDocument/2006/relationships/tags" Target="../tags/tag38.xml"/><Relationship Id="rId14" Type="http://schemas.openxmlformats.org/officeDocument/2006/relationships/tags" Target="../tags/tag4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152.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154.png"/></Relationships>
</file>

<file path=ppt/slides/_rels/slide45.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155.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156.emf"/><Relationship Id="rId5" Type="http://schemas.openxmlformats.org/officeDocument/2006/relationships/oleObject" Target="../embeddings/oleObject41.bin"/><Relationship Id="rId4" Type="http://schemas.openxmlformats.org/officeDocument/2006/relationships/image" Target="../media/image153.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160.png"/><Relationship Id="rId5" Type="http://schemas.openxmlformats.org/officeDocument/2006/relationships/image" Target="../media/image156.emf"/><Relationship Id="rId4" Type="http://schemas.openxmlformats.org/officeDocument/2006/relationships/oleObject" Target="../embeddings/oleObject42.bin"/></Relationships>
</file>

<file path=ppt/slides/_rels/slide48.xml.rels><?xml version="1.0" encoding="UTF-8" standalone="yes"?>
<Relationships xmlns="http://schemas.openxmlformats.org/package/2006/relationships"><Relationship Id="rId3" Type="http://schemas.openxmlformats.org/officeDocument/2006/relationships/image" Target="../media/image161.png"/><Relationship Id="rId7" Type="http://schemas.openxmlformats.org/officeDocument/2006/relationships/image" Target="../media/image165.png"/><Relationship Id="rId2" Type="http://schemas.openxmlformats.org/officeDocument/2006/relationships/notesSlide" Target="../notesSlides/notesSlide47.xml"/><Relationship Id="rId1" Type="http://schemas.openxmlformats.org/officeDocument/2006/relationships/slideLayout" Target="../slideLayouts/slideLayout7.xml"/><Relationship Id="rId6" Type="http://schemas.openxmlformats.org/officeDocument/2006/relationships/image" Target="../media/image164.png"/><Relationship Id="rId5" Type="http://schemas.openxmlformats.org/officeDocument/2006/relationships/image" Target="../media/image163.png"/><Relationship Id="rId4" Type="http://schemas.openxmlformats.org/officeDocument/2006/relationships/image" Target="../media/image162.png"/></Relationships>
</file>

<file path=ppt/slides/_rels/slide49.xml.rels><?xml version="1.0" encoding="UTF-8" standalone="yes"?>
<Relationships xmlns="http://schemas.openxmlformats.org/package/2006/relationships"><Relationship Id="rId3" Type="http://schemas.openxmlformats.org/officeDocument/2006/relationships/image" Target="../media/image1500.png"/><Relationship Id="rId2" Type="http://schemas.openxmlformats.org/officeDocument/2006/relationships/notesSlide" Target="../notesSlides/notesSlide48.xml"/><Relationship Id="rId1" Type="http://schemas.openxmlformats.org/officeDocument/2006/relationships/slideLayout" Target="../slideLayouts/slideLayout7.xml"/><Relationship Id="rId6" Type="http://schemas.openxmlformats.org/officeDocument/2006/relationships/image" Target="../media/image1530.png"/><Relationship Id="rId5" Type="http://schemas.openxmlformats.org/officeDocument/2006/relationships/image" Target="../media/image1520.png"/><Relationship Id="rId4" Type="http://schemas.openxmlformats.org/officeDocument/2006/relationships/image" Target="../media/image1510.png"/></Relationships>
</file>

<file path=ppt/slides/_rels/slide50.xml.rels><?xml version="1.0" encoding="UTF-8" standalone="yes"?>
<Relationships xmlns="http://schemas.openxmlformats.org/package/2006/relationships"><Relationship Id="rId8" Type="http://schemas.openxmlformats.org/officeDocument/2006/relationships/image" Target="../media/image159.png"/><Relationship Id="rId3" Type="http://schemas.openxmlformats.org/officeDocument/2006/relationships/image" Target="../media/image1540.png"/><Relationship Id="rId7" Type="http://schemas.openxmlformats.org/officeDocument/2006/relationships/image" Target="../media/image1580.png"/><Relationship Id="rId2" Type="http://schemas.openxmlformats.org/officeDocument/2006/relationships/notesSlide" Target="../notesSlides/notesSlide49.xml"/><Relationship Id="rId1" Type="http://schemas.openxmlformats.org/officeDocument/2006/relationships/slideLayout" Target="../slideLayouts/slideLayout7.xml"/><Relationship Id="rId6" Type="http://schemas.openxmlformats.org/officeDocument/2006/relationships/image" Target="../media/image1570.png"/><Relationship Id="rId5" Type="http://schemas.openxmlformats.org/officeDocument/2006/relationships/image" Target="../media/image1560.png"/><Relationship Id="rId4" Type="http://schemas.openxmlformats.org/officeDocument/2006/relationships/image" Target="../media/image1550.png"/></Relationships>
</file>

<file path=ppt/slides/_rels/slide51.xml.rels><?xml version="1.0" encoding="UTF-8" standalone="yes"?>
<Relationships xmlns="http://schemas.openxmlformats.org/package/2006/relationships"><Relationship Id="rId8" Type="http://schemas.openxmlformats.org/officeDocument/2006/relationships/image" Target="../media/image1650.png"/><Relationship Id="rId3" Type="http://schemas.openxmlformats.org/officeDocument/2006/relationships/image" Target="../media/image1600.png"/><Relationship Id="rId7" Type="http://schemas.openxmlformats.org/officeDocument/2006/relationships/image" Target="../media/image1640.png"/><Relationship Id="rId2" Type="http://schemas.openxmlformats.org/officeDocument/2006/relationships/notesSlide" Target="../notesSlides/notesSlide50.xml"/><Relationship Id="rId1" Type="http://schemas.openxmlformats.org/officeDocument/2006/relationships/slideLayout" Target="../slideLayouts/slideLayout7.xml"/><Relationship Id="rId6" Type="http://schemas.openxmlformats.org/officeDocument/2006/relationships/image" Target="../media/image1630.png"/><Relationship Id="rId5" Type="http://schemas.openxmlformats.org/officeDocument/2006/relationships/image" Target="../media/image1620.png"/><Relationship Id="rId4" Type="http://schemas.openxmlformats.org/officeDocument/2006/relationships/image" Target="../media/image1610.png"/></Relationships>
</file>

<file path=ppt/slides/_rels/slide52.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167.png"/></Relationships>
</file>

<file path=ppt/slides/_rels/slide53.xml.rels><?xml version="1.0" encoding="UTF-8" standalone="yes"?>
<Relationships xmlns="http://schemas.openxmlformats.org/package/2006/relationships"><Relationship Id="rId8" Type="http://schemas.openxmlformats.org/officeDocument/2006/relationships/image" Target="../media/image170.png"/><Relationship Id="rId3" Type="http://schemas.openxmlformats.org/officeDocument/2006/relationships/notesSlide" Target="../notesSlides/notesSlide52.xml"/><Relationship Id="rId7" Type="http://schemas.openxmlformats.org/officeDocument/2006/relationships/image" Target="../media/image169.png"/><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168.png"/><Relationship Id="rId5" Type="http://schemas.openxmlformats.org/officeDocument/2006/relationships/image" Target="../media/image157.emf"/><Relationship Id="rId10" Type="http://schemas.openxmlformats.org/officeDocument/2006/relationships/image" Target="../media/image172.png"/><Relationship Id="rId4" Type="http://schemas.openxmlformats.org/officeDocument/2006/relationships/oleObject" Target="../embeddings/oleObject43.bin"/><Relationship Id="rId9" Type="http://schemas.openxmlformats.org/officeDocument/2006/relationships/image" Target="../media/image171.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173.png"/><Relationship Id="rId5" Type="http://schemas.openxmlformats.org/officeDocument/2006/relationships/image" Target="../media/image157.emf"/><Relationship Id="rId4" Type="http://schemas.openxmlformats.org/officeDocument/2006/relationships/oleObject" Target="../embeddings/oleObject44.bin"/></Relationships>
</file>

<file path=ppt/slides/_rels/slide55.xml.rels><?xml version="1.0" encoding="UTF-8" standalone="yes"?>
<Relationships xmlns="http://schemas.openxmlformats.org/package/2006/relationships"><Relationship Id="rId8" Type="http://schemas.openxmlformats.org/officeDocument/2006/relationships/image" Target="../media/image179.png"/><Relationship Id="rId3" Type="http://schemas.openxmlformats.org/officeDocument/2006/relationships/image" Target="../media/image174.png"/><Relationship Id="rId7" Type="http://schemas.openxmlformats.org/officeDocument/2006/relationships/image" Target="../media/image178.png"/><Relationship Id="rId2" Type="http://schemas.openxmlformats.org/officeDocument/2006/relationships/notesSlide" Target="../notesSlides/notesSlide54.xml"/><Relationship Id="rId1" Type="http://schemas.openxmlformats.org/officeDocument/2006/relationships/slideLayout" Target="../slideLayouts/slideLayout7.xml"/><Relationship Id="rId6" Type="http://schemas.openxmlformats.org/officeDocument/2006/relationships/image" Target="../media/image177.png"/><Relationship Id="rId5" Type="http://schemas.openxmlformats.org/officeDocument/2006/relationships/image" Target="../media/image176.png"/><Relationship Id="rId4" Type="http://schemas.openxmlformats.org/officeDocument/2006/relationships/image" Target="../media/image175.png"/></Relationships>
</file>

<file path=ppt/slides/_rels/slide56.xml.rels><?xml version="1.0" encoding="UTF-8" standalone="yes"?>
<Relationships xmlns="http://schemas.openxmlformats.org/package/2006/relationships"><Relationship Id="rId3" Type="http://schemas.openxmlformats.org/officeDocument/2006/relationships/hyperlink" Target="https://github.com/mhuasong/AUBO-Robot-on-ROS" TargetMode="External"/><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hyperlink" Target="https://github.com/mhuasong/Basics-of-Robotics-Theory-and-Technology/tree/main/ch3" TargetMode="External"/></Relationships>
</file>

<file path=ppt/slides/_rels/slide57.xml.rels><?xml version="1.0" encoding="UTF-8" standalone="yes"?>
<Relationships xmlns="http://schemas.openxmlformats.org/package/2006/relationships"><Relationship Id="rId3" Type="http://schemas.openxmlformats.org/officeDocument/2006/relationships/image" Target="../media/image180.png"/><Relationship Id="rId7" Type="http://schemas.openxmlformats.org/officeDocument/2006/relationships/image" Target="../media/image184.png"/><Relationship Id="rId2" Type="http://schemas.openxmlformats.org/officeDocument/2006/relationships/notesSlide" Target="../notesSlides/notesSlide56.xml"/><Relationship Id="rId1" Type="http://schemas.openxmlformats.org/officeDocument/2006/relationships/slideLayout" Target="../slideLayouts/slideLayout7.xml"/><Relationship Id="rId6" Type="http://schemas.openxmlformats.org/officeDocument/2006/relationships/image" Target="../media/image183.png"/><Relationship Id="rId5" Type="http://schemas.openxmlformats.org/officeDocument/2006/relationships/image" Target="../media/image182.png"/><Relationship Id="rId4" Type="http://schemas.openxmlformats.org/officeDocument/2006/relationships/image" Target="../media/image181.png"/></Relationships>
</file>

<file path=ppt/slides/_rels/slide58.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185.png"/><Relationship Id="rId7" Type="http://schemas.openxmlformats.org/officeDocument/2006/relationships/image" Target="../media/image189.png"/><Relationship Id="rId2" Type="http://schemas.openxmlformats.org/officeDocument/2006/relationships/notesSlide" Target="../notesSlides/notesSlide57.xml"/><Relationship Id="rId1" Type="http://schemas.openxmlformats.org/officeDocument/2006/relationships/slideLayout" Target="../slideLayouts/slideLayout7.xml"/><Relationship Id="rId6" Type="http://schemas.openxmlformats.org/officeDocument/2006/relationships/image" Target="../media/image188.png"/><Relationship Id="rId5" Type="http://schemas.openxmlformats.org/officeDocument/2006/relationships/image" Target="../media/image187.png"/><Relationship Id="rId4" Type="http://schemas.openxmlformats.org/officeDocument/2006/relationships/image" Target="../media/image186.png"/></Relationships>
</file>

<file path=ppt/slides/_rels/slide59.xml.rels><?xml version="1.0" encoding="UTF-8" standalone="yes"?>
<Relationships xmlns="http://schemas.openxmlformats.org/package/2006/relationships"><Relationship Id="rId3" Type="http://schemas.openxmlformats.org/officeDocument/2006/relationships/image" Target="../media/image191.png"/><Relationship Id="rId7" Type="http://schemas.openxmlformats.org/officeDocument/2006/relationships/image" Target="../media/image195.png"/><Relationship Id="rId2" Type="http://schemas.openxmlformats.org/officeDocument/2006/relationships/notesSlide" Target="../notesSlides/notesSlide58.xml"/><Relationship Id="rId1" Type="http://schemas.openxmlformats.org/officeDocument/2006/relationships/slideLayout" Target="../slideLayouts/slideLayout7.xml"/><Relationship Id="rId6" Type="http://schemas.openxmlformats.org/officeDocument/2006/relationships/image" Target="../media/image194.png"/><Relationship Id="rId5" Type="http://schemas.openxmlformats.org/officeDocument/2006/relationships/image" Target="../media/image193.png"/><Relationship Id="rId4" Type="http://schemas.openxmlformats.org/officeDocument/2006/relationships/image" Target="../media/image192.png"/></Relationships>
</file>

<file path=ppt/slides/_rels/slide60.xml.rels><?xml version="1.0" encoding="UTF-8" standalone="yes"?>
<Relationships xmlns="http://schemas.openxmlformats.org/package/2006/relationships"><Relationship Id="rId8" Type="http://schemas.openxmlformats.org/officeDocument/2006/relationships/image" Target="../media/image198.png"/><Relationship Id="rId3" Type="http://schemas.openxmlformats.org/officeDocument/2006/relationships/notesSlide" Target="../notesSlides/notesSlide59.xml"/><Relationship Id="rId7" Type="http://schemas.openxmlformats.org/officeDocument/2006/relationships/image" Target="../media/image197.png"/><Relationship Id="rId12" Type="http://schemas.openxmlformats.org/officeDocument/2006/relationships/image" Target="../media/image202.png"/><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196.png"/><Relationship Id="rId11" Type="http://schemas.openxmlformats.org/officeDocument/2006/relationships/image" Target="../media/image201.png"/><Relationship Id="rId5" Type="http://schemas.openxmlformats.org/officeDocument/2006/relationships/image" Target="../media/image157.emf"/><Relationship Id="rId10" Type="http://schemas.openxmlformats.org/officeDocument/2006/relationships/image" Target="../media/image200.png"/><Relationship Id="rId4" Type="http://schemas.openxmlformats.org/officeDocument/2006/relationships/oleObject" Target="../embeddings/oleObject45.bin"/><Relationship Id="rId9" Type="http://schemas.openxmlformats.org/officeDocument/2006/relationships/image" Target="../media/image199.png"/></Relationships>
</file>

<file path=ppt/slides/_rels/slide61.xml.rels><?xml version="1.0" encoding="UTF-8" standalone="yes"?>
<Relationships xmlns="http://schemas.openxmlformats.org/package/2006/relationships"><Relationship Id="rId8" Type="http://schemas.openxmlformats.org/officeDocument/2006/relationships/image" Target="../media/image204.png"/><Relationship Id="rId13" Type="http://schemas.openxmlformats.org/officeDocument/2006/relationships/image" Target="../media/image206.png"/><Relationship Id="rId3" Type="http://schemas.openxmlformats.org/officeDocument/2006/relationships/notesSlide" Target="../notesSlides/notesSlide60.xml"/><Relationship Id="rId7" Type="http://schemas.openxmlformats.org/officeDocument/2006/relationships/image" Target="../media/image203.png"/><Relationship Id="rId12" Type="http://schemas.openxmlformats.org/officeDocument/2006/relationships/image" Target="../media/image208.png"/><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196.png"/><Relationship Id="rId11" Type="http://schemas.openxmlformats.org/officeDocument/2006/relationships/image" Target="../media/image207.png"/><Relationship Id="rId5" Type="http://schemas.openxmlformats.org/officeDocument/2006/relationships/image" Target="../media/image157.emf"/><Relationship Id="rId4" Type="http://schemas.openxmlformats.org/officeDocument/2006/relationships/oleObject" Target="../embeddings/oleObject46.bin"/><Relationship Id="rId9" Type="http://schemas.openxmlformats.org/officeDocument/2006/relationships/image" Target="../media/image205.png"/><Relationship Id="rId14" Type="http://schemas.openxmlformats.org/officeDocument/2006/relationships/image" Target="../media/image209.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7.xml"/><Relationship Id="rId1" Type="http://schemas.openxmlformats.org/officeDocument/2006/relationships/vmlDrawing" Target="../drawings/vmlDrawing18.vml"/><Relationship Id="rId5" Type="http://schemas.openxmlformats.org/officeDocument/2006/relationships/image" Target="../media/image158.emf"/><Relationship Id="rId4" Type="http://schemas.openxmlformats.org/officeDocument/2006/relationships/oleObject" Target="../embeddings/oleObject47.bin"/></Relationships>
</file>

<file path=ppt/slides/_rels/slide63.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62.xml"/><Relationship Id="rId1" Type="http://schemas.openxmlformats.org/officeDocument/2006/relationships/slideLayout" Target="../slideLayouts/slideLayout7.xml"/><Relationship Id="rId5" Type="http://schemas.openxmlformats.org/officeDocument/2006/relationships/image" Target="../media/image212.png"/><Relationship Id="rId4" Type="http://schemas.openxmlformats.org/officeDocument/2006/relationships/image" Target="../media/image211.png"/></Relationships>
</file>

<file path=ppt/slides/_rels/slide64.xml.rels><?xml version="1.0" encoding="UTF-8" standalone="yes"?>
<Relationships xmlns="http://schemas.openxmlformats.org/package/2006/relationships"><Relationship Id="rId8" Type="http://schemas.openxmlformats.org/officeDocument/2006/relationships/image" Target="../media/image218.png"/><Relationship Id="rId3" Type="http://schemas.openxmlformats.org/officeDocument/2006/relationships/image" Target="../media/image213.png"/><Relationship Id="rId7" Type="http://schemas.openxmlformats.org/officeDocument/2006/relationships/image" Target="../media/image217.png"/><Relationship Id="rId2" Type="http://schemas.openxmlformats.org/officeDocument/2006/relationships/notesSlide" Target="../notesSlides/notesSlide63.xml"/><Relationship Id="rId1" Type="http://schemas.openxmlformats.org/officeDocument/2006/relationships/slideLayout" Target="../slideLayouts/slideLayout7.xml"/><Relationship Id="rId6" Type="http://schemas.openxmlformats.org/officeDocument/2006/relationships/image" Target="../media/image216.png"/><Relationship Id="rId5" Type="http://schemas.openxmlformats.org/officeDocument/2006/relationships/image" Target="../media/image215.png"/><Relationship Id="rId4" Type="http://schemas.openxmlformats.org/officeDocument/2006/relationships/image" Target="../media/image214.png"/><Relationship Id="rId9" Type="http://schemas.openxmlformats.org/officeDocument/2006/relationships/image" Target="../media/image219.png"/></Relationships>
</file>

<file path=ppt/slides/_rels/slide65.xml.rels><?xml version="1.0" encoding="UTF-8" standalone="yes"?>
<Relationships xmlns="http://schemas.openxmlformats.org/package/2006/relationships"><Relationship Id="rId8" Type="http://schemas.openxmlformats.org/officeDocument/2006/relationships/image" Target="../media/image225.png"/><Relationship Id="rId3" Type="http://schemas.openxmlformats.org/officeDocument/2006/relationships/image" Target="../media/image220.png"/><Relationship Id="rId7" Type="http://schemas.openxmlformats.org/officeDocument/2006/relationships/image" Target="../media/image224.png"/><Relationship Id="rId2" Type="http://schemas.openxmlformats.org/officeDocument/2006/relationships/notesSlide" Target="../notesSlides/notesSlide64.xml"/><Relationship Id="rId1" Type="http://schemas.openxmlformats.org/officeDocument/2006/relationships/slideLayout" Target="../slideLayouts/slideLayout7.xml"/><Relationship Id="rId6" Type="http://schemas.openxmlformats.org/officeDocument/2006/relationships/image" Target="../media/image223.png"/><Relationship Id="rId5" Type="http://schemas.openxmlformats.org/officeDocument/2006/relationships/image" Target="../media/image222.png"/><Relationship Id="rId4" Type="http://schemas.openxmlformats.org/officeDocument/2006/relationships/image" Target="../media/image221.png"/></Relationships>
</file>

<file path=ppt/slides/_rels/slide66.xml.rels><?xml version="1.0" encoding="UTF-8" standalone="yes"?>
<Relationships xmlns="http://schemas.openxmlformats.org/package/2006/relationships"><Relationship Id="rId8" Type="http://schemas.openxmlformats.org/officeDocument/2006/relationships/image" Target="../media/image231.png"/><Relationship Id="rId3" Type="http://schemas.openxmlformats.org/officeDocument/2006/relationships/image" Target="../media/image226.png"/><Relationship Id="rId7" Type="http://schemas.openxmlformats.org/officeDocument/2006/relationships/image" Target="../media/image230.png"/><Relationship Id="rId2" Type="http://schemas.openxmlformats.org/officeDocument/2006/relationships/notesSlide" Target="../notesSlides/notesSlide65.xml"/><Relationship Id="rId1" Type="http://schemas.openxmlformats.org/officeDocument/2006/relationships/slideLayout" Target="../slideLayouts/slideLayout7.xml"/><Relationship Id="rId6" Type="http://schemas.openxmlformats.org/officeDocument/2006/relationships/image" Target="../media/image229.png"/><Relationship Id="rId11" Type="http://schemas.openxmlformats.org/officeDocument/2006/relationships/image" Target="../media/image234.png"/><Relationship Id="rId5" Type="http://schemas.openxmlformats.org/officeDocument/2006/relationships/image" Target="../media/image228.png"/><Relationship Id="rId10" Type="http://schemas.openxmlformats.org/officeDocument/2006/relationships/image" Target="../media/image233.png"/><Relationship Id="rId4" Type="http://schemas.openxmlformats.org/officeDocument/2006/relationships/image" Target="../media/image227.png"/><Relationship Id="rId9" Type="http://schemas.openxmlformats.org/officeDocument/2006/relationships/image" Target="../media/image232.png"/></Relationships>
</file>

<file path=ppt/slides/_rels/slide67.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image" Target="../media/image220.emf"/><Relationship Id="rId7" Type="http://schemas.openxmlformats.org/officeDocument/2006/relationships/image" Target="../media/image239.png"/><Relationship Id="rId2" Type="http://schemas.openxmlformats.org/officeDocument/2006/relationships/notesSlide" Target="../notesSlides/notesSlide66.xml"/><Relationship Id="rId1" Type="http://schemas.openxmlformats.org/officeDocument/2006/relationships/slideLayout" Target="../slideLayouts/slideLayout7.xml"/><Relationship Id="rId6" Type="http://schemas.openxmlformats.org/officeDocument/2006/relationships/image" Target="../media/image238.png"/><Relationship Id="rId5" Type="http://schemas.openxmlformats.org/officeDocument/2006/relationships/image" Target="../media/image237.png"/><Relationship Id="rId4" Type="http://schemas.openxmlformats.org/officeDocument/2006/relationships/image" Target="../media/image236.png"/><Relationship Id="rId9" Type="http://schemas.openxmlformats.org/officeDocument/2006/relationships/image" Target="../media/image241.png"/></Relationships>
</file>

<file path=ppt/slides/_rels/slide68.xml.rels><?xml version="1.0" encoding="UTF-8" standalone="yes"?>
<Relationships xmlns="http://schemas.openxmlformats.org/package/2006/relationships"><Relationship Id="rId8" Type="http://schemas.openxmlformats.org/officeDocument/2006/relationships/image" Target="../media/image235.png"/><Relationship Id="rId7" Type="http://schemas.openxmlformats.org/officeDocument/2006/relationships/image" Target="../media/image246.png"/><Relationship Id="rId2" Type="http://schemas.openxmlformats.org/officeDocument/2006/relationships/notesSlide" Target="../notesSlides/notesSlide67.xml"/><Relationship Id="rId1" Type="http://schemas.openxmlformats.org/officeDocument/2006/relationships/slideLayout" Target="../slideLayouts/slideLayout7.xml"/><Relationship Id="rId11" Type="http://schemas.openxmlformats.org/officeDocument/2006/relationships/image" Target="../media/image244.png"/><Relationship Id="rId10" Type="http://schemas.openxmlformats.org/officeDocument/2006/relationships/image" Target="../media/image243.png"/><Relationship Id="rId9" Type="http://schemas.openxmlformats.org/officeDocument/2006/relationships/image" Target="../media/image242.png"/></Relationships>
</file>

<file path=ppt/slides/_rels/slide69.xml.rels><?xml version="1.0" encoding="UTF-8" standalone="yes"?>
<Relationships xmlns="http://schemas.openxmlformats.org/package/2006/relationships"><Relationship Id="rId3" Type="http://schemas.openxmlformats.org/officeDocument/2006/relationships/image" Target="../media/image222.emf"/><Relationship Id="rId2" Type="http://schemas.openxmlformats.org/officeDocument/2006/relationships/image" Target="../media/image221.emf"/><Relationship Id="rId1" Type="http://schemas.openxmlformats.org/officeDocument/2006/relationships/slideLayout" Target="../slideLayouts/slideLayout7.xml"/><Relationship Id="rId6" Type="http://schemas.openxmlformats.org/officeDocument/2006/relationships/image" Target="../media/image248.png"/><Relationship Id="rId5" Type="http://schemas.openxmlformats.org/officeDocument/2006/relationships/image" Target="../media/image247.png"/><Relationship Id="rId4" Type="http://schemas.openxmlformats.org/officeDocument/2006/relationships/image" Target="../media/image245.png"/></Relationships>
</file>

<file path=ppt/slides/_rels/slide70.xml.rels><?xml version="1.0" encoding="UTF-8" standalone="yes"?>
<Relationships xmlns="http://schemas.openxmlformats.org/package/2006/relationships"><Relationship Id="rId8" Type="http://schemas.openxmlformats.org/officeDocument/2006/relationships/image" Target="../media/image255.jpeg"/><Relationship Id="rId3" Type="http://schemas.openxmlformats.org/officeDocument/2006/relationships/image" Target="../media/image250.png"/><Relationship Id="rId7" Type="http://schemas.openxmlformats.org/officeDocument/2006/relationships/image" Target="../media/image254.png"/><Relationship Id="rId2" Type="http://schemas.openxmlformats.org/officeDocument/2006/relationships/image" Target="../media/image249.png"/><Relationship Id="rId1" Type="http://schemas.openxmlformats.org/officeDocument/2006/relationships/slideLayout" Target="../slideLayouts/slideLayout7.xml"/><Relationship Id="rId6" Type="http://schemas.openxmlformats.org/officeDocument/2006/relationships/image" Target="../media/image253.png"/><Relationship Id="rId5" Type="http://schemas.openxmlformats.org/officeDocument/2006/relationships/image" Target="../media/image252.png"/><Relationship Id="rId4" Type="http://schemas.openxmlformats.org/officeDocument/2006/relationships/image" Target="../media/image251.png"/><Relationship Id="rId9" Type="http://schemas.openxmlformats.org/officeDocument/2006/relationships/image" Target="../media/image257.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 Id="rId5" Type="http://schemas.openxmlformats.org/officeDocument/2006/relationships/image" Target="../media/image23.emf"/><Relationship Id="rId4" Type="http://schemas.openxmlformats.org/officeDocument/2006/relationships/image" Target="../media/image2440.png"/></Relationships>
</file>

<file path=ppt/slides/_rels/slide73.xml.rels><?xml version="1.0" encoding="UTF-8" standalone="yes"?>
<Relationships xmlns="http://schemas.openxmlformats.org/package/2006/relationships"><Relationship Id="rId3" Type="http://schemas.openxmlformats.org/officeDocument/2006/relationships/image" Target="../media/image2470.png"/><Relationship Id="rId2" Type="http://schemas.openxmlformats.org/officeDocument/2006/relationships/notesSlide" Target="../notesSlides/notesSlide70.xml"/><Relationship Id="rId1" Type="http://schemas.openxmlformats.org/officeDocument/2006/relationships/slideLayout" Target="../slideLayouts/slideLayout7.xml"/><Relationship Id="rId5" Type="http://schemas.openxmlformats.org/officeDocument/2006/relationships/image" Target="../media/image2490.png"/><Relationship Id="rId4" Type="http://schemas.openxmlformats.org/officeDocument/2006/relationships/image" Target="../media/image2480.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156.emf"/><Relationship Id="rId5" Type="http://schemas.openxmlformats.org/officeDocument/2006/relationships/oleObject" Target="../embeddings/oleObject41.bin"/><Relationship Id="rId4" Type="http://schemas.openxmlformats.org/officeDocument/2006/relationships/image" Target="../media/image153.png"/></Relationships>
</file>

<file path=ppt/slides/_rels/slide75.xml.rels><?xml version="1.0" encoding="UTF-8" standalone="yes"?>
<Relationships xmlns="http://schemas.openxmlformats.org/package/2006/relationships"><Relationship Id="rId8" Type="http://schemas.openxmlformats.org/officeDocument/2006/relationships/image" Target="../media/image2540.png"/><Relationship Id="rId13" Type="http://schemas.openxmlformats.org/officeDocument/2006/relationships/image" Target="../media/image259.png"/><Relationship Id="rId3" Type="http://schemas.openxmlformats.org/officeDocument/2006/relationships/notesSlide" Target="../notesSlides/notesSlide72.xml"/><Relationship Id="rId7" Type="http://schemas.openxmlformats.org/officeDocument/2006/relationships/image" Target="../media/image2530.png"/><Relationship Id="rId12" Type="http://schemas.openxmlformats.org/officeDocument/2006/relationships/image" Target="../media/image258.png"/><Relationship Id="rId2" Type="http://schemas.openxmlformats.org/officeDocument/2006/relationships/slideLayout" Target="../slideLayouts/slideLayout7.xml"/><Relationship Id="rId1" Type="http://schemas.openxmlformats.org/officeDocument/2006/relationships/tags" Target="../tags/tag48.xml"/><Relationship Id="rId6" Type="http://schemas.openxmlformats.org/officeDocument/2006/relationships/image" Target="../media/image2520.png"/><Relationship Id="rId11" Type="http://schemas.openxmlformats.org/officeDocument/2006/relationships/image" Target="../media/image2570.png"/><Relationship Id="rId10" Type="http://schemas.openxmlformats.org/officeDocument/2006/relationships/image" Target="../media/image256.png"/><Relationship Id="rId9" Type="http://schemas.openxmlformats.org/officeDocument/2006/relationships/image" Target="../media/image2550.png"/></Relationships>
</file>

<file path=ppt/slides/_rels/slide76.xml.rels><?xml version="1.0" encoding="UTF-8" standalone="yes"?>
<Relationships xmlns="http://schemas.openxmlformats.org/package/2006/relationships"><Relationship Id="rId8" Type="http://schemas.openxmlformats.org/officeDocument/2006/relationships/image" Target="../media/image263.png"/><Relationship Id="rId3" Type="http://schemas.openxmlformats.org/officeDocument/2006/relationships/notesSlide" Target="../notesSlides/notesSlide73.xml"/><Relationship Id="rId7" Type="http://schemas.openxmlformats.org/officeDocument/2006/relationships/image" Target="../media/image262.png"/><Relationship Id="rId2" Type="http://schemas.openxmlformats.org/officeDocument/2006/relationships/slideLayout" Target="../slideLayouts/slideLayout7.xml"/><Relationship Id="rId1" Type="http://schemas.openxmlformats.org/officeDocument/2006/relationships/tags" Target="../tags/tag49.xml"/><Relationship Id="rId6" Type="http://schemas.openxmlformats.org/officeDocument/2006/relationships/image" Target="../media/image261.png"/><Relationship Id="rId5" Type="http://schemas.openxmlformats.org/officeDocument/2006/relationships/image" Target="../media/image260.png"/><Relationship Id="rId4" Type="http://schemas.openxmlformats.org/officeDocument/2006/relationships/image" Target="../media/image2590.png"/><Relationship Id="rId9" Type="http://schemas.openxmlformats.org/officeDocument/2006/relationships/image" Target="../media/image264.png"/></Relationships>
</file>

<file path=ppt/slides/_rels/slide77.xml.rels><?xml version="1.0" encoding="UTF-8" standalone="yes"?>
<Relationships xmlns="http://schemas.openxmlformats.org/package/2006/relationships"><Relationship Id="rId8" Type="http://schemas.openxmlformats.org/officeDocument/2006/relationships/image" Target="../media/image269.png"/><Relationship Id="rId3" Type="http://schemas.openxmlformats.org/officeDocument/2006/relationships/notesSlide" Target="../notesSlides/notesSlide74.xml"/><Relationship Id="rId7" Type="http://schemas.openxmlformats.org/officeDocument/2006/relationships/image" Target="../media/image268.png"/><Relationship Id="rId2" Type="http://schemas.openxmlformats.org/officeDocument/2006/relationships/slideLayout" Target="../slideLayouts/slideLayout7.xml"/><Relationship Id="rId1" Type="http://schemas.openxmlformats.org/officeDocument/2006/relationships/tags" Target="../tags/tag50.xml"/><Relationship Id="rId6" Type="http://schemas.openxmlformats.org/officeDocument/2006/relationships/image" Target="../media/image267.png"/><Relationship Id="rId5" Type="http://schemas.openxmlformats.org/officeDocument/2006/relationships/image" Target="../media/image266.png"/><Relationship Id="rId4" Type="http://schemas.openxmlformats.org/officeDocument/2006/relationships/image" Target="../media/image265.png"/></Relationships>
</file>

<file path=ppt/slides/_rels/slide78.xml.rels><?xml version="1.0" encoding="UTF-8" standalone="yes"?>
<Relationships xmlns="http://schemas.openxmlformats.org/package/2006/relationships"><Relationship Id="rId8" Type="http://schemas.openxmlformats.org/officeDocument/2006/relationships/image" Target="../media/image274.png"/><Relationship Id="rId3" Type="http://schemas.openxmlformats.org/officeDocument/2006/relationships/notesSlide" Target="../notesSlides/notesSlide75.xml"/><Relationship Id="rId7" Type="http://schemas.openxmlformats.org/officeDocument/2006/relationships/image" Target="../media/image273.png"/><Relationship Id="rId12" Type="http://schemas.openxmlformats.org/officeDocument/2006/relationships/image" Target="../media/image278.png"/><Relationship Id="rId2" Type="http://schemas.openxmlformats.org/officeDocument/2006/relationships/slideLayout" Target="../slideLayouts/slideLayout7.xml"/><Relationship Id="rId1" Type="http://schemas.openxmlformats.org/officeDocument/2006/relationships/tags" Target="../tags/tag51.xml"/><Relationship Id="rId6" Type="http://schemas.openxmlformats.org/officeDocument/2006/relationships/image" Target="../media/image272.png"/><Relationship Id="rId11" Type="http://schemas.openxmlformats.org/officeDocument/2006/relationships/image" Target="../media/image277.png"/><Relationship Id="rId5" Type="http://schemas.openxmlformats.org/officeDocument/2006/relationships/image" Target="../media/image271.png"/><Relationship Id="rId10" Type="http://schemas.openxmlformats.org/officeDocument/2006/relationships/image" Target="../media/image276.png"/><Relationship Id="rId4" Type="http://schemas.openxmlformats.org/officeDocument/2006/relationships/image" Target="../media/image270.png"/><Relationship Id="rId9" Type="http://schemas.openxmlformats.org/officeDocument/2006/relationships/image" Target="../media/image275.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6.xml"/><Relationship Id="rId7" Type="http://schemas.openxmlformats.org/officeDocument/2006/relationships/image" Target="../media/image282.png"/><Relationship Id="rId2" Type="http://schemas.openxmlformats.org/officeDocument/2006/relationships/slideLayout" Target="../slideLayouts/slideLayout7.xml"/><Relationship Id="rId1" Type="http://schemas.openxmlformats.org/officeDocument/2006/relationships/tags" Target="../tags/tag52.xml"/><Relationship Id="rId6" Type="http://schemas.openxmlformats.org/officeDocument/2006/relationships/image" Target="../media/image281.png"/><Relationship Id="rId5" Type="http://schemas.openxmlformats.org/officeDocument/2006/relationships/image" Target="../media/image280.png"/><Relationship Id="rId4" Type="http://schemas.openxmlformats.org/officeDocument/2006/relationships/image" Target="../media/image279.png"/></Relationships>
</file>

<file path=ppt/slides/_rels/slide80.xml.rels><?xml version="1.0" encoding="UTF-8" standalone="yes"?>
<Relationships xmlns="http://schemas.openxmlformats.org/package/2006/relationships"><Relationship Id="rId8" Type="http://schemas.openxmlformats.org/officeDocument/2006/relationships/image" Target="../media/image286.png"/><Relationship Id="rId3" Type="http://schemas.openxmlformats.org/officeDocument/2006/relationships/notesSlide" Target="../notesSlides/notesSlide77.xml"/><Relationship Id="rId7" Type="http://schemas.openxmlformats.org/officeDocument/2006/relationships/image" Target="../media/image285.png"/><Relationship Id="rId2" Type="http://schemas.openxmlformats.org/officeDocument/2006/relationships/slideLayout" Target="../slideLayouts/slideLayout7.xml"/><Relationship Id="rId1" Type="http://schemas.openxmlformats.org/officeDocument/2006/relationships/tags" Target="../tags/tag53.xml"/><Relationship Id="rId6" Type="http://schemas.openxmlformats.org/officeDocument/2006/relationships/image" Target="../media/image284.png"/><Relationship Id="rId5" Type="http://schemas.openxmlformats.org/officeDocument/2006/relationships/image" Target="../media/image280.png"/><Relationship Id="rId4" Type="http://schemas.openxmlformats.org/officeDocument/2006/relationships/image" Target="../media/image283.png"/><Relationship Id="rId9" Type="http://schemas.openxmlformats.org/officeDocument/2006/relationships/image" Target="../media/image287.png"/></Relationships>
</file>

<file path=ppt/slides/_rels/slide81.xml.rels><?xml version="1.0" encoding="UTF-8" standalone="yes"?>
<Relationships xmlns="http://schemas.openxmlformats.org/package/2006/relationships"><Relationship Id="rId8" Type="http://schemas.openxmlformats.org/officeDocument/2006/relationships/image" Target="../media/image292.png"/><Relationship Id="rId13" Type="http://schemas.openxmlformats.org/officeDocument/2006/relationships/image" Target="../media/image297.png"/><Relationship Id="rId3" Type="http://schemas.openxmlformats.org/officeDocument/2006/relationships/slideLayout" Target="../slideLayouts/slideLayout1.xml"/><Relationship Id="rId7" Type="http://schemas.openxmlformats.org/officeDocument/2006/relationships/image" Target="../media/image291.png"/><Relationship Id="rId12" Type="http://schemas.openxmlformats.org/officeDocument/2006/relationships/image" Target="../media/image296.png"/><Relationship Id="rId2" Type="http://schemas.openxmlformats.org/officeDocument/2006/relationships/tags" Target="../tags/tag54.xml"/><Relationship Id="rId1" Type="http://schemas.openxmlformats.org/officeDocument/2006/relationships/vmlDrawing" Target="../drawings/vmlDrawing20.vml"/><Relationship Id="rId6" Type="http://schemas.openxmlformats.org/officeDocument/2006/relationships/image" Target="../media/image290.png"/><Relationship Id="rId11" Type="http://schemas.openxmlformats.org/officeDocument/2006/relationships/image" Target="../media/image295.png"/><Relationship Id="rId5" Type="http://schemas.openxmlformats.org/officeDocument/2006/relationships/image" Target="../media/image289.png"/><Relationship Id="rId15" Type="http://schemas.openxmlformats.org/officeDocument/2006/relationships/image" Target="../media/image256.wmf"/><Relationship Id="rId10" Type="http://schemas.openxmlformats.org/officeDocument/2006/relationships/image" Target="../media/image294.png"/><Relationship Id="rId4" Type="http://schemas.openxmlformats.org/officeDocument/2006/relationships/image" Target="../media/image288.png"/><Relationship Id="rId9" Type="http://schemas.openxmlformats.org/officeDocument/2006/relationships/image" Target="../media/image293.png"/><Relationship Id="rId14" Type="http://schemas.openxmlformats.org/officeDocument/2006/relationships/oleObject" Target="../embeddings/oleObject48.bin"/></Relationships>
</file>

<file path=ppt/slides/_rels/slide82.xml.rels><?xml version="1.0" encoding="UTF-8" standalone="yes"?>
<Relationships xmlns="http://schemas.openxmlformats.org/package/2006/relationships"><Relationship Id="rId8" Type="http://schemas.openxmlformats.org/officeDocument/2006/relationships/image" Target="../media/image305.png"/><Relationship Id="rId13" Type="http://schemas.openxmlformats.org/officeDocument/2006/relationships/image" Target="../media/image295.wmf"/><Relationship Id="rId3" Type="http://schemas.openxmlformats.org/officeDocument/2006/relationships/slideLayout" Target="../slideLayouts/slideLayout7.xml"/><Relationship Id="rId7" Type="http://schemas.openxmlformats.org/officeDocument/2006/relationships/image" Target="../media/image304.png"/><Relationship Id="rId12" Type="http://schemas.openxmlformats.org/officeDocument/2006/relationships/oleObject" Target="../embeddings/oleObject49.bin"/><Relationship Id="rId17" Type="http://schemas.openxmlformats.org/officeDocument/2006/relationships/image" Target="../media/image296.wmf"/><Relationship Id="rId2" Type="http://schemas.openxmlformats.org/officeDocument/2006/relationships/tags" Target="../tags/tag55.xml"/><Relationship Id="rId16" Type="http://schemas.openxmlformats.org/officeDocument/2006/relationships/oleObject" Target="../embeddings/oleObject50.bin"/><Relationship Id="rId1" Type="http://schemas.openxmlformats.org/officeDocument/2006/relationships/vmlDrawing" Target="../drawings/vmlDrawing21.vml"/><Relationship Id="rId6" Type="http://schemas.openxmlformats.org/officeDocument/2006/relationships/image" Target="../media/image303.png"/><Relationship Id="rId11" Type="http://schemas.openxmlformats.org/officeDocument/2006/relationships/image" Target="../media/image308.png"/><Relationship Id="rId5" Type="http://schemas.openxmlformats.org/officeDocument/2006/relationships/image" Target="../media/image302.png"/><Relationship Id="rId15" Type="http://schemas.openxmlformats.org/officeDocument/2006/relationships/image" Target="../media/image310.png"/><Relationship Id="rId10" Type="http://schemas.openxmlformats.org/officeDocument/2006/relationships/image" Target="../media/image307.png"/><Relationship Id="rId4" Type="http://schemas.openxmlformats.org/officeDocument/2006/relationships/notesSlide" Target="../notesSlides/notesSlide78.xml"/><Relationship Id="rId9" Type="http://schemas.openxmlformats.org/officeDocument/2006/relationships/image" Target="../media/image306.png"/><Relationship Id="rId14" Type="http://schemas.openxmlformats.org/officeDocument/2006/relationships/image" Target="../media/image309.png"/></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image" Target="../media/image311.png"/><Relationship Id="rId4" Type="http://schemas.openxmlformats.org/officeDocument/2006/relationships/notesSlide" Target="../notesSlides/notesSlide79.xml"/></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00.png"/><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image" Target="../media/image299.png"/><Relationship Id="rId5" Type="http://schemas.openxmlformats.org/officeDocument/2006/relationships/image" Target="../media/image298.png"/><Relationship Id="rId4" Type="http://schemas.openxmlformats.org/officeDocument/2006/relationships/notesSlide" Target="../notesSlides/notesSlide80.xml"/></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image" Target="../media/image312.png"/><Relationship Id="rId5" Type="http://schemas.openxmlformats.org/officeDocument/2006/relationships/image" Target="../media/image301.png"/><Relationship Id="rId4" Type="http://schemas.openxmlformats.org/officeDocument/2006/relationships/notesSlide" Target="../notesSlides/notesSlide81.xml"/></Relationships>
</file>

<file path=ppt/slides/_rels/slide86.xml.rels><?xml version="1.0" encoding="UTF-8" standalone="yes"?>
<Relationships xmlns="http://schemas.openxmlformats.org/package/2006/relationships"><Relationship Id="rId8" Type="http://schemas.openxmlformats.org/officeDocument/2006/relationships/image" Target="../media/image316.png"/><Relationship Id="rId3" Type="http://schemas.openxmlformats.org/officeDocument/2006/relationships/slideLayout" Target="../slideLayouts/slideLayout7.xml"/><Relationship Id="rId7" Type="http://schemas.openxmlformats.org/officeDocument/2006/relationships/image" Target="../media/image315.png"/><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image" Target="../media/image314.png"/><Relationship Id="rId11" Type="http://schemas.openxmlformats.org/officeDocument/2006/relationships/image" Target="../media/image319.png"/><Relationship Id="rId5" Type="http://schemas.openxmlformats.org/officeDocument/2006/relationships/image" Target="../media/image313.png"/><Relationship Id="rId10" Type="http://schemas.openxmlformats.org/officeDocument/2006/relationships/image" Target="../media/image318.png"/><Relationship Id="rId4" Type="http://schemas.openxmlformats.org/officeDocument/2006/relationships/notesSlide" Target="../notesSlides/notesSlide82.xml"/><Relationship Id="rId9" Type="http://schemas.openxmlformats.org/officeDocument/2006/relationships/image" Target="../media/image317.png"/></Relationships>
</file>

<file path=ppt/slides/_rels/slide87.xml.rels><?xml version="1.0" encoding="UTF-8" standalone="yes"?>
<Relationships xmlns="http://schemas.openxmlformats.org/package/2006/relationships"><Relationship Id="rId8" Type="http://schemas.openxmlformats.org/officeDocument/2006/relationships/image" Target="../media/image323.png"/><Relationship Id="rId3" Type="http://schemas.openxmlformats.org/officeDocument/2006/relationships/slideLayout" Target="../slideLayouts/slideLayout7.xml"/><Relationship Id="rId7" Type="http://schemas.openxmlformats.org/officeDocument/2006/relationships/image" Target="../media/image322.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image" Target="../media/image321.png"/><Relationship Id="rId5" Type="http://schemas.openxmlformats.org/officeDocument/2006/relationships/image" Target="../media/image320.png"/><Relationship Id="rId4" Type="http://schemas.openxmlformats.org/officeDocument/2006/relationships/notesSlide" Target="../notesSlides/notesSlide83.xml"/></Relationships>
</file>

<file path=ppt/slides/_rels/slide88.xml.rels><?xml version="1.0" encoding="UTF-8" standalone="yes"?>
<Relationships xmlns="http://schemas.openxmlformats.org/package/2006/relationships"><Relationship Id="rId8" Type="http://schemas.openxmlformats.org/officeDocument/2006/relationships/image" Target="../media/image331.png"/><Relationship Id="rId3" Type="http://schemas.openxmlformats.org/officeDocument/2006/relationships/slideLayout" Target="../slideLayouts/slideLayout7.xml"/><Relationship Id="rId7" Type="http://schemas.openxmlformats.org/officeDocument/2006/relationships/image" Target="../media/image325.png"/><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image" Target="../media/image329.png"/><Relationship Id="rId5" Type="http://schemas.openxmlformats.org/officeDocument/2006/relationships/image" Target="../media/image324.png"/><Relationship Id="rId10" Type="http://schemas.openxmlformats.org/officeDocument/2006/relationships/image" Target="../media/image327.png"/><Relationship Id="rId4" Type="http://schemas.openxmlformats.org/officeDocument/2006/relationships/notesSlide" Target="../notesSlides/notesSlide84.xml"/><Relationship Id="rId9" Type="http://schemas.openxmlformats.org/officeDocument/2006/relationships/image" Target="../media/image326.png"/></Relationships>
</file>

<file path=ppt/slides/_rels/slide89.xml.rels><?xml version="1.0" encoding="UTF-8" standalone="yes"?>
<Relationships xmlns="http://schemas.openxmlformats.org/package/2006/relationships"><Relationship Id="rId8" Type="http://schemas.openxmlformats.org/officeDocument/2006/relationships/image" Target="../media/image333.png"/><Relationship Id="rId3" Type="http://schemas.openxmlformats.org/officeDocument/2006/relationships/slideLayout" Target="../slideLayouts/slideLayout7.xml"/><Relationship Id="rId7" Type="http://schemas.openxmlformats.org/officeDocument/2006/relationships/image" Target="../media/image332.png"/><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image" Target="../media/image330.png"/><Relationship Id="rId5" Type="http://schemas.openxmlformats.org/officeDocument/2006/relationships/image" Target="../media/image328.png"/><Relationship Id="rId4" Type="http://schemas.openxmlformats.org/officeDocument/2006/relationships/notesSlide" Target="../notesSlides/notesSlide85.xml"/></Relationships>
</file>

<file path=ppt/slides/_rels/slide90.xml.rels><?xml version="1.0" encoding="UTF-8" standalone="yes"?>
<Relationships xmlns="http://schemas.openxmlformats.org/package/2006/relationships"><Relationship Id="rId8" Type="http://schemas.openxmlformats.org/officeDocument/2006/relationships/image" Target="../media/image336.png"/><Relationship Id="rId3" Type="http://schemas.openxmlformats.org/officeDocument/2006/relationships/slideLayout" Target="../slideLayouts/slideLayout7.xml"/><Relationship Id="rId7" Type="http://schemas.openxmlformats.org/officeDocument/2006/relationships/image" Target="../media/image335.png"/><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image" Target="../media/image328.png"/><Relationship Id="rId5" Type="http://schemas.openxmlformats.org/officeDocument/2006/relationships/image" Target="../media/image334.png"/><Relationship Id="rId4" Type="http://schemas.openxmlformats.org/officeDocument/2006/relationships/notesSlide" Target="../notesSlides/notesSlide86.xml"/></Relationships>
</file>

<file path=ppt/slides/_rels/slide91.xml.rels><?xml version="1.0" encoding="UTF-8" standalone="yes"?>
<Relationships xmlns="http://schemas.openxmlformats.org/package/2006/relationships"><Relationship Id="rId8" Type="http://schemas.openxmlformats.org/officeDocument/2006/relationships/image" Target="../media/image339.png"/><Relationship Id="rId3" Type="http://schemas.openxmlformats.org/officeDocument/2006/relationships/slideLayout" Target="../slideLayouts/slideLayout7.xml"/><Relationship Id="rId7" Type="http://schemas.openxmlformats.org/officeDocument/2006/relationships/image" Target="../media/image343.png"/><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image" Target="../media/image338.png"/><Relationship Id="rId5" Type="http://schemas.openxmlformats.org/officeDocument/2006/relationships/image" Target="../media/image337.png"/><Relationship Id="rId4" Type="http://schemas.openxmlformats.org/officeDocument/2006/relationships/notesSlide" Target="../notesSlides/notesSlide87.xml"/></Relationships>
</file>

<file path=ppt/slides/_rels/slide92.xml.rels><?xml version="1.0" encoding="UTF-8" standalone="yes"?>
<Relationships xmlns="http://schemas.openxmlformats.org/package/2006/relationships"><Relationship Id="rId8" Type="http://schemas.openxmlformats.org/officeDocument/2006/relationships/image" Target="../media/image348.png"/><Relationship Id="rId3" Type="http://schemas.openxmlformats.org/officeDocument/2006/relationships/image" Target="../media/image340.png"/><Relationship Id="rId7" Type="http://schemas.openxmlformats.org/officeDocument/2006/relationships/image" Target="../media/image347.png"/><Relationship Id="rId2" Type="http://schemas.openxmlformats.org/officeDocument/2006/relationships/notesSlide" Target="../notesSlides/notesSlide88.xml"/><Relationship Id="rId1" Type="http://schemas.openxmlformats.org/officeDocument/2006/relationships/slideLayout" Target="../slideLayouts/slideLayout7.xml"/><Relationship Id="rId6" Type="http://schemas.openxmlformats.org/officeDocument/2006/relationships/image" Target="../media/image346.png"/><Relationship Id="rId5" Type="http://schemas.openxmlformats.org/officeDocument/2006/relationships/image" Target="../media/image345.png"/><Relationship Id="rId4" Type="http://schemas.openxmlformats.org/officeDocument/2006/relationships/image" Target="../media/image344.png"/><Relationship Id="rId9" Type="http://schemas.openxmlformats.org/officeDocument/2006/relationships/image" Target="../media/image349.png"/></Relationships>
</file>

<file path=ppt/slides/_rels/slide93.xml.rels><?xml version="1.0" encoding="UTF-8" standalone="yes"?>
<Relationships xmlns="http://schemas.openxmlformats.org/package/2006/relationships"><Relationship Id="rId8" Type="http://schemas.openxmlformats.org/officeDocument/2006/relationships/image" Target="../media/image352.png"/><Relationship Id="rId3" Type="http://schemas.openxmlformats.org/officeDocument/2006/relationships/image" Target="../media/image29.png"/><Relationship Id="rId7" Type="http://schemas.openxmlformats.org/officeDocument/2006/relationships/image" Target="../media/image351.png"/><Relationship Id="rId2" Type="http://schemas.openxmlformats.org/officeDocument/2006/relationships/notesSlide" Target="../notesSlides/notesSlide89.xml"/><Relationship Id="rId1" Type="http://schemas.openxmlformats.org/officeDocument/2006/relationships/slideLayout" Target="../slideLayouts/slideLayout7.xml"/><Relationship Id="rId6" Type="http://schemas.openxmlformats.org/officeDocument/2006/relationships/image" Target="../media/image350.png"/><Relationship Id="rId11" Type="http://schemas.openxmlformats.org/officeDocument/2006/relationships/image" Target="../media/image355.png"/><Relationship Id="rId5" Type="http://schemas.openxmlformats.org/officeDocument/2006/relationships/image" Target="../media/image342.png"/><Relationship Id="rId10" Type="http://schemas.openxmlformats.org/officeDocument/2006/relationships/image" Target="../media/image354.png"/><Relationship Id="rId4" Type="http://schemas.openxmlformats.org/officeDocument/2006/relationships/image" Target="../media/image341.png"/><Relationship Id="rId9" Type="http://schemas.openxmlformats.org/officeDocument/2006/relationships/image" Target="../media/image353.png"/></Relationships>
</file>

<file path=ppt/slides/_rels/slide94.xml.rels><?xml version="1.0" encoding="UTF-8" standalone="yes"?>
<Relationships xmlns="http://schemas.openxmlformats.org/package/2006/relationships"><Relationship Id="rId8" Type="http://schemas.openxmlformats.org/officeDocument/2006/relationships/oleObject" Target="../embeddings/oleObject51.bin"/><Relationship Id="rId3" Type="http://schemas.openxmlformats.org/officeDocument/2006/relationships/notesSlide" Target="../notesSlides/notesSlide90.xml"/><Relationship Id="rId7" Type="http://schemas.openxmlformats.org/officeDocument/2006/relationships/image" Target="../media/image360.png"/><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359.png"/><Relationship Id="rId11" Type="http://schemas.openxmlformats.org/officeDocument/2006/relationships/image" Target="../media/image362.png"/><Relationship Id="rId5" Type="http://schemas.openxmlformats.org/officeDocument/2006/relationships/image" Target="../media/image358.png"/><Relationship Id="rId10" Type="http://schemas.openxmlformats.org/officeDocument/2006/relationships/image" Target="../media/image356.png"/><Relationship Id="rId4" Type="http://schemas.openxmlformats.org/officeDocument/2006/relationships/image" Target="../media/image357.png"/><Relationship Id="rId9" Type="http://schemas.openxmlformats.org/officeDocument/2006/relationships/image" Target="../media/image341.emf"/></Relationships>
</file>

<file path=ppt/slides/_rels/slide95.xml.rels><?xml version="1.0" encoding="UTF-8" standalone="yes"?>
<Relationships xmlns="http://schemas.openxmlformats.org/package/2006/relationships"><Relationship Id="rId8" Type="http://schemas.openxmlformats.org/officeDocument/2006/relationships/image" Target="../media/image366.png"/><Relationship Id="rId13" Type="http://schemas.openxmlformats.org/officeDocument/2006/relationships/image" Target="../media/image372.png"/><Relationship Id="rId3" Type="http://schemas.openxmlformats.org/officeDocument/2006/relationships/image" Target="../media/image363.png"/><Relationship Id="rId7" Type="http://schemas.openxmlformats.org/officeDocument/2006/relationships/image" Target="../media/image365.png"/><Relationship Id="rId12" Type="http://schemas.openxmlformats.org/officeDocument/2006/relationships/image" Target="../media/image371.png"/><Relationship Id="rId17" Type="http://schemas.openxmlformats.org/officeDocument/2006/relationships/image" Target="../media/image376.png"/><Relationship Id="rId2" Type="http://schemas.openxmlformats.org/officeDocument/2006/relationships/notesSlide" Target="../notesSlides/notesSlide91.xml"/><Relationship Id="rId16" Type="http://schemas.openxmlformats.org/officeDocument/2006/relationships/image" Target="../media/image375.png"/><Relationship Id="rId1" Type="http://schemas.openxmlformats.org/officeDocument/2006/relationships/slideLayout" Target="../slideLayouts/slideLayout7.xml"/><Relationship Id="rId6" Type="http://schemas.openxmlformats.org/officeDocument/2006/relationships/image" Target="../media/image361.png"/><Relationship Id="rId11" Type="http://schemas.openxmlformats.org/officeDocument/2006/relationships/image" Target="../media/image370.png"/><Relationship Id="rId5" Type="http://schemas.openxmlformats.org/officeDocument/2006/relationships/image" Target="../media/image364.png"/><Relationship Id="rId15" Type="http://schemas.openxmlformats.org/officeDocument/2006/relationships/image" Target="../media/image374.png"/><Relationship Id="rId10" Type="http://schemas.openxmlformats.org/officeDocument/2006/relationships/image" Target="../media/image369.png"/><Relationship Id="rId4" Type="http://schemas.openxmlformats.org/officeDocument/2006/relationships/image" Target="../media/image356.png"/><Relationship Id="rId9" Type="http://schemas.openxmlformats.org/officeDocument/2006/relationships/image" Target="../media/image368.png"/><Relationship Id="rId14" Type="http://schemas.openxmlformats.org/officeDocument/2006/relationships/image" Target="../media/image373.png"/></Relationships>
</file>

<file path=ppt/slides/_rels/slide96.xml.rels><?xml version="1.0" encoding="UTF-8" standalone="yes"?>
<Relationships xmlns="http://schemas.openxmlformats.org/package/2006/relationships"><Relationship Id="rId8" Type="http://schemas.openxmlformats.org/officeDocument/2006/relationships/tags" Target="../tags/tag81.xml"/><Relationship Id="rId13" Type="http://schemas.openxmlformats.org/officeDocument/2006/relationships/tags" Target="../tags/tag86.xml"/><Relationship Id="rId18" Type="http://schemas.openxmlformats.org/officeDocument/2006/relationships/image" Target="../media/image377.png"/><Relationship Id="rId26" Type="http://schemas.openxmlformats.org/officeDocument/2006/relationships/image" Target="../media/image384.png"/><Relationship Id="rId3" Type="http://schemas.openxmlformats.org/officeDocument/2006/relationships/tags" Target="../tags/tag76.xml"/><Relationship Id="rId21" Type="http://schemas.openxmlformats.org/officeDocument/2006/relationships/image" Target="../media/image379.png"/><Relationship Id="rId7" Type="http://schemas.openxmlformats.org/officeDocument/2006/relationships/tags" Target="../tags/tag80.xml"/><Relationship Id="rId12" Type="http://schemas.openxmlformats.org/officeDocument/2006/relationships/tags" Target="../tags/tag85.xml"/><Relationship Id="rId17" Type="http://schemas.openxmlformats.org/officeDocument/2006/relationships/notesSlide" Target="../notesSlides/notesSlide92.xml"/><Relationship Id="rId25" Type="http://schemas.openxmlformats.org/officeDocument/2006/relationships/image" Target="../media/image383.png"/><Relationship Id="rId2" Type="http://schemas.openxmlformats.org/officeDocument/2006/relationships/tags" Target="../tags/tag75.xml"/><Relationship Id="rId16" Type="http://schemas.openxmlformats.org/officeDocument/2006/relationships/slideLayout" Target="../slideLayouts/slideLayout7.xml"/><Relationship Id="rId20" Type="http://schemas.openxmlformats.org/officeDocument/2006/relationships/tags" Target="../tags/tag87.xml"/><Relationship Id="rId1" Type="http://schemas.openxmlformats.org/officeDocument/2006/relationships/tags" Target="../tags/tag74.xml"/><Relationship Id="rId6" Type="http://schemas.openxmlformats.org/officeDocument/2006/relationships/tags" Target="../tags/tag79.xml"/><Relationship Id="rId11" Type="http://schemas.openxmlformats.org/officeDocument/2006/relationships/tags" Target="../tags/tag84.xml"/><Relationship Id="rId24" Type="http://schemas.openxmlformats.org/officeDocument/2006/relationships/image" Target="../media/image381.png"/><Relationship Id="rId5" Type="http://schemas.openxmlformats.org/officeDocument/2006/relationships/tags" Target="../tags/tag78.xml"/><Relationship Id="rId15" Type="http://schemas.openxmlformats.org/officeDocument/2006/relationships/tags" Target="../tags/tag88.xml"/><Relationship Id="rId23" Type="http://schemas.openxmlformats.org/officeDocument/2006/relationships/image" Target="../media/image380.png"/><Relationship Id="rId10" Type="http://schemas.openxmlformats.org/officeDocument/2006/relationships/tags" Target="../tags/tag83.xml"/><Relationship Id="rId19" Type="http://schemas.openxmlformats.org/officeDocument/2006/relationships/image" Target="../media/image378.png"/><Relationship Id="rId4" Type="http://schemas.openxmlformats.org/officeDocument/2006/relationships/tags" Target="../tags/tag77.xml"/><Relationship Id="rId9" Type="http://schemas.openxmlformats.org/officeDocument/2006/relationships/tags" Target="../tags/tag82.xml"/><Relationship Id="rId14" Type="http://schemas.openxmlformats.org/officeDocument/2006/relationships/tags" Target="../tags/tag87.xml"/><Relationship Id="rId22" Type="http://schemas.openxmlformats.org/officeDocument/2006/relationships/image" Target="../media/image367.png"/><Relationship Id="rId27" Type="http://schemas.openxmlformats.org/officeDocument/2006/relationships/image" Target="../media/image385.png"/></Relationships>
</file>

<file path=ppt/slides/_rels/slide97.xml.rels><?xml version="1.0" encoding="UTF-8" standalone="yes"?>
<Relationships xmlns="http://schemas.openxmlformats.org/package/2006/relationships"><Relationship Id="rId8" Type="http://schemas.openxmlformats.org/officeDocument/2006/relationships/image" Target="../media/image390.png"/><Relationship Id="rId3" Type="http://schemas.openxmlformats.org/officeDocument/2006/relationships/image" Target="../media/image382.png"/><Relationship Id="rId7" Type="http://schemas.openxmlformats.org/officeDocument/2006/relationships/image" Target="../media/image389.png"/><Relationship Id="rId12" Type="http://schemas.openxmlformats.org/officeDocument/2006/relationships/image" Target="../media/image394.png"/><Relationship Id="rId2" Type="http://schemas.openxmlformats.org/officeDocument/2006/relationships/notesSlide" Target="../notesSlides/notesSlide93.xml"/><Relationship Id="rId1" Type="http://schemas.openxmlformats.org/officeDocument/2006/relationships/slideLayout" Target="../slideLayouts/slideLayout7.xml"/><Relationship Id="rId6" Type="http://schemas.openxmlformats.org/officeDocument/2006/relationships/image" Target="../media/image388.png"/><Relationship Id="rId11" Type="http://schemas.openxmlformats.org/officeDocument/2006/relationships/image" Target="../media/image393.png"/><Relationship Id="rId5" Type="http://schemas.openxmlformats.org/officeDocument/2006/relationships/image" Target="../media/image387.png"/><Relationship Id="rId10" Type="http://schemas.openxmlformats.org/officeDocument/2006/relationships/image" Target="../media/image392.png"/><Relationship Id="rId4" Type="http://schemas.openxmlformats.org/officeDocument/2006/relationships/image" Target="../media/image386.png"/><Relationship Id="rId9" Type="http://schemas.openxmlformats.org/officeDocument/2006/relationships/image" Target="../media/image391.png"/></Relationships>
</file>

<file path=ppt/slides/_rels/slide98.xml.rels><?xml version="1.0" encoding="UTF-8" standalone="yes"?>
<Relationships xmlns="http://schemas.openxmlformats.org/package/2006/relationships"><Relationship Id="rId8" Type="http://schemas.openxmlformats.org/officeDocument/2006/relationships/image" Target="../media/image400.png"/><Relationship Id="rId3" Type="http://schemas.openxmlformats.org/officeDocument/2006/relationships/image" Target="../media/image395.png"/><Relationship Id="rId7" Type="http://schemas.openxmlformats.org/officeDocument/2006/relationships/image" Target="../media/image399.png"/><Relationship Id="rId12" Type="http://schemas.openxmlformats.org/officeDocument/2006/relationships/image" Target="../media/image404.png"/><Relationship Id="rId2" Type="http://schemas.openxmlformats.org/officeDocument/2006/relationships/notesSlide" Target="../notesSlides/notesSlide94.xml"/><Relationship Id="rId1" Type="http://schemas.openxmlformats.org/officeDocument/2006/relationships/slideLayout" Target="../slideLayouts/slideLayout7.xml"/><Relationship Id="rId6" Type="http://schemas.openxmlformats.org/officeDocument/2006/relationships/image" Target="../media/image398.png"/><Relationship Id="rId11" Type="http://schemas.openxmlformats.org/officeDocument/2006/relationships/image" Target="../media/image403.png"/><Relationship Id="rId5" Type="http://schemas.openxmlformats.org/officeDocument/2006/relationships/image" Target="../media/image397.png"/><Relationship Id="rId10" Type="http://schemas.openxmlformats.org/officeDocument/2006/relationships/image" Target="../media/image402.png"/><Relationship Id="rId4" Type="http://schemas.openxmlformats.org/officeDocument/2006/relationships/image" Target="../media/image396.png"/><Relationship Id="rId9" Type="http://schemas.openxmlformats.org/officeDocument/2006/relationships/image" Target="../media/image401.png"/></Relationships>
</file>

<file path=ppt/slides/_rels/slide99.xml.rels><?xml version="1.0" encoding="UTF-8" standalone="yes"?>
<Relationships xmlns="http://schemas.openxmlformats.org/package/2006/relationships"><Relationship Id="rId8" Type="http://schemas.openxmlformats.org/officeDocument/2006/relationships/image" Target="../media/image409.png"/><Relationship Id="rId13" Type="http://schemas.openxmlformats.org/officeDocument/2006/relationships/image" Target="../media/image414.png"/><Relationship Id="rId18" Type="http://schemas.openxmlformats.org/officeDocument/2006/relationships/image" Target="../media/image419.png"/><Relationship Id="rId26" Type="http://schemas.openxmlformats.org/officeDocument/2006/relationships/image" Target="../media/image427.png"/><Relationship Id="rId3" Type="http://schemas.openxmlformats.org/officeDocument/2006/relationships/image" Target="../media/image395.png"/><Relationship Id="rId21" Type="http://schemas.openxmlformats.org/officeDocument/2006/relationships/image" Target="../media/image422.png"/><Relationship Id="rId7" Type="http://schemas.openxmlformats.org/officeDocument/2006/relationships/image" Target="../media/image408.png"/><Relationship Id="rId12" Type="http://schemas.openxmlformats.org/officeDocument/2006/relationships/image" Target="../media/image413.png"/><Relationship Id="rId17" Type="http://schemas.openxmlformats.org/officeDocument/2006/relationships/image" Target="../media/image418.png"/><Relationship Id="rId25" Type="http://schemas.openxmlformats.org/officeDocument/2006/relationships/image" Target="../media/image426.png"/><Relationship Id="rId2" Type="http://schemas.openxmlformats.org/officeDocument/2006/relationships/notesSlide" Target="../notesSlides/notesSlide95.xml"/><Relationship Id="rId16" Type="http://schemas.openxmlformats.org/officeDocument/2006/relationships/image" Target="../media/image417.png"/><Relationship Id="rId20" Type="http://schemas.openxmlformats.org/officeDocument/2006/relationships/image" Target="../media/image421.png"/><Relationship Id="rId1" Type="http://schemas.openxmlformats.org/officeDocument/2006/relationships/slideLayout" Target="../slideLayouts/slideLayout7.xml"/><Relationship Id="rId6" Type="http://schemas.openxmlformats.org/officeDocument/2006/relationships/image" Target="../media/image407.png"/><Relationship Id="rId11" Type="http://schemas.openxmlformats.org/officeDocument/2006/relationships/image" Target="../media/image412.png"/><Relationship Id="rId24" Type="http://schemas.openxmlformats.org/officeDocument/2006/relationships/image" Target="../media/image425.png"/><Relationship Id="rId5" Type="http://schemas.openxmlformats.org/officeDocument/2006/relationships/image" Target="../media/image406.png"/><Relationship Id="rId15" Type="http://schemas.openxmlformats.org/officeDocument/2006/relationships/image" Target="../media/image416.png"/><Relationship Id="rId23" Type="http://schemas.openxmlformats.org/officeDocument/2006/relationships/image" Target="../media/image424.png"/><Relationship Id="rId28" Type="http://schemas.openxmlformats.org/officeDocument/2006/relationships/image" Target="../media/image429.png"/><Relationship Id="rId10" Type="http://schemas.openxmlformats.org/officeDocument/2006/relationships/image" Target="../media/image411.png"/><Relationship Id="rId19" Type="http://schemas.openxmlformats.org/officeDocument/2006/relationships/image" Target="../media/image420.png"/><Relationship Id="rId4" Type="http://schemas.openxmlformats.org/officeDocument/2006/relationships/image" Target="../media/image405.png"/><Relationship Id="rId9" Type="http://schemas.openxmlformats.org/officeDocument/2006/relationships/image" Target="../media/image410.png"/><Relationship Id="rId14" Type="http://schemas.openxmlformats.org/officeDocument/2006/relationships/image" Target="../media/image415.png"/><Relationship Id="rId22" Type="http://schemas.openxmlformats.org/officeDocument/2006/relationships/image" Target="../media/image423.png"/><Relationship Id="rId27" Type="http://schemas.openxmlformats.org/officeDocument/2006/relationships/image" Target="../media/image428.png"/></Relationships>
</file>

<file path=ppt/slides/_rels/slide100.xml.rels><?xml version="1.0" encoding="UTF-8" standalone="yes"?>
<Relationships xmlns="http://schemas.openxmlformats.org/package/2006/relationships"><Relationship Id="rId8" Type="http://schemas.openxmlformats.org/officeDocument/2006/relationships/image" Target="../media/image435.png"/><Relationship Id="rId13" Type="http://schemas.openxmlformats.org/officeDocument/2006/relationships/image" Target="../media/image440.png"/><Relationship Id="rId3" Type="http://schemas.openxmlformats.org/officeDocument/2006/relationships/image" Target="../media/image430.png"/><Relationship Id="rId7" Type="http://schemas.openxmlformats.org/officeDocument/2006/relationships/image" Target="../media/image434.png"/><Relationship Id="rId12" Type="http://schemas.openxmlformats.org/officeDocument/2006/relationships/image" Target="../media/image439.png"/><Relationship Id="rId2" Type="http://schemas.openxmlformats.org/officeDocument/2006/relationships/notesSlide" Target="../notesSlides/notesSlide96.xml"/><Relationship Id="rId1" Type="http://schemas.openxmlformats.org/officeDocument/2006/relationships/slideLayout" Target="../slideLayouts/slideLayout7.xml"/><Relationship Id="rId6" Type="http://schemas.openxmlformats.org/officeDocument/2006/relationships/image" Target="../media/image433.png"/><Relationship Id="rId11" Type="http://schemas.openxmlformats.org/officeDocument/2006/relationships/image" Target="../media/image438.png"/><Relationship Id="rId5" Type="http://schemas.openxmlformats.org/officeDocument/2006/relationships/image" Target="../media/image432.png"/><Relationship Id="rId15" Type="http://schemas.openxmlformats.org/officeDocument/2006/relationships/image" Target="../media/image442.png"/><Relationship Id="rId10" Type="http://schemas.openxmlformats.org/officeDocument/2006/relationships/image" Target="../media/image437.png"/><Relationship Id="rId4" Type="http://schemas.openxmlformats.org/officeDocument/2006/relationships/image" Target="../media/image431.png"/><Relationship Id="rId9" Type="http://schemas.openxmlformats.org/officeDocument/2006/relationships/image" Target="../media/image436.png"/><Relationship Id="rId14" Type="http://schemas.openxmlformats.org/officeDocument/2006/relationships/image" Target="../media/image441.png"/></Relationships>
</file>

<file path=ppt/slides/_rels/slide101.xml.rels><?xml version="1.0" encoding="UTF-8" standalone="yes"?>
<Relationships xmlns="http://schemas.openxmlformats.org/package/2006/relationships"><Relationship Id="rId3" Type="http://schemas.openxmlformats.org/officeDocument/2006/relationships/image" Target="../media/image443.png"/><Relationship Id="rId2" Type="http://schemas.openxmlformats.org/officeDocument/2006/relationships/notesSlide" Target="../notesSlides/notesSlide97.xml"/><Relationship Id="rId1" Type="http://schemas.openxmlformats.org/officeDocument/2006/relationships/slideLayout" Target="../slideLayouts/slideLayout7.xml"/><Relationship Id="rId6" Type="http://schemas.openxmlformats.org/officeDocument/2006/relationships/image" Target="../media/image446.png"/><Relationship Id="rId5" Type="http://schemas.openxmlformats.org/officeDocument/2006/relationships/image" Target="../media/image445.png"/><Relationship Id="rId4" Type="http://schemas.openxmlformats.org/officeDocument/2006/relationships/image" Target="../media/image444.png"/></Relationships>
</file>

<file path=ppt/slides/_rels/slide102.xml.rels><?xml version="1.0" encoding="UTF-8" standalone="yes"?>
<Relationships xmlns="http://schemas.openxmlformats.org/package/2006/relationships"><Relationship Id="rId3" Type="http://schemas.openxmlformats.org/officeDocument/2006/relationships/image" Target="../media/image443.png"/><Relationship Id="rId7" Type="http://schemas.openxmlformats.org/officeDocument/2006/relationships/image" Target="../media/image447.png"/><Relationship Id="rId2" Type="http://schemas.openxmlformats.org/officeDocument/2006/relationships/notesSlide" Target="../notesSlides/notesSlide98.xml"/><Relationship Id="rId1" Type="http://schemas.openxmlformats.org/officeDocument/2006/relationships/slideLayout" Target="../slideLayouts/slideLayout7.xml"/><Relationship Id="rId6" Type="http://schemas.openxmlformats.org/officeDocument/2006/relationships/image" Target="../media/image446.png"/><Relationship Id="rId5" Type="http://schemas.openxmlformats.org/officeDocument/2006/relationships/image" Target="../media/image445.png"/><Relationship Id="rId4" Type="http://schemas.openxmlformats.org/officeDocument/2006/relationships/image" Target="../media/image444.png"/></Relationships>
</file>

<file path=ppt/slides/_rels/slide103.xml.rels><?xml version="1.0" encoding="UTF-8" standalone="yes"?>
<Relationships xmlns="http://schemas.openxmlformats.org/package/2006/relationships"><Relationship Id="rId8" Type="http://schemas.openxmlformats.org/officeDocument/2006/relationships/oleObject" Target="../embeddings/oleObject52.bin"/><Relationship Id="rId3" Type="http://schemas.openxmlformats.org/officeDocument/2006/relationships/notesSlide" Target="../notesSlides/notesSlide99.xml"/><Relationship Id="rId7" Type="http://schemas.openxmlformats.org/officeDocument/2006/relationships/image" Target="../media/image452.png"/><Relationship Id="rId12" Type="http://schemas.openxmlformats.org/officeDocument/2006/relationships/image" Target="../media/image455.png"/><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451.png"/><Relationship Id="rId11" Type="http://schemas.openxmlformats.org/officeDocument/2006/relationships/image" Target="../media/image454.png"/><Relationship Id="rId5" Type="http://schemas.openxmlformats.org/officeDocument/2006/relationships/image" Target="../media/image450.png"/><Relationship Id="rId10" Type="http://schemas.openxmlformats.org/officeDocument/2006/relationships/image" Target="../media/image453.png"/><Relationship Id="rId4" Type="http://schemas.openxmlformats.org/officeDocument/2006/relationships/image" Target="../media/image449.png"/><Relationship Id="rId9" Type="http://schemas.openxmlformats.org/officeDocument/2006/relationships/image" Target="../media/image382.emf"/></Relationships>
</file>

<file path=ppt/slides/_rels/slide104.xml.rels><?xml version="1.0" encoding="UTF-8" standalone="yes"?>
<Relationships xmlns="http://schemas.openxmlformats.org/package/2006/relationships"><Relationship Id="rId8" Type="http://schemas.openxmlformats.org/officeDocument/2006/relationships/image" Target="../media/image461.png"/><Relationship Id="rId3" Type="http://schemas.openxmlformats.org/officeDocument/2006/relationships/image" Target="../media/image456.png"/><Relationship Id="rId7" Type="http://schemas.openxmlformats.org/officeDocument/2006/relationships/image" Target="../media/image460.png"/><Relationship Id="rId2" Type="http://schemas.openxmlformats.org/officeDocument/2006/relationships/notesSlide" Target="../notesSlides/notesSlide100.xml"/><Relationship Id="rId1" Type="http://schemas.openxmlformats.org/officeDocument/2006/relationships/slideLayout" Target="../slideLayouts/slideLayout7.xml"/><Relationship Id="rId6" Type="http://schemas.openxmlformats.org/officeDocument/2006/relationships/image" Target="../media/image459.png"/><Relationship Id="rId5" Type="http://schemas.openxmlformats.org/officeDocument/2006/relationships/image" Target="../media/image458.png"/><Relationship Id="rId10" Type="http://schemas.openxmlformats.org/officeDocument/2006/relationships/image" Target="../media/image463.png"/><Relationship Id="rId4" Type="http://schemas.openxmlformats.org/officeDocument/2006/relationships/image" Target="../media/image457.png"/><Relationship Id="rId9" Type="http://schemas.openxmlformats.org/officeDocument/2006/relationships/image" Target="../media/image462.png"/></Relationships>
</file>

<file path=ppt/slides/_rels/slide105.xml.rels><?xml version="1.0" encoding="UTF-8" standalone="yes"?>
<Relationships xmlns="http://schemas.openxmlformats.org/package/2006/relationships"><Relationship Id="rId8" Type="http://schemas.openxmlformats.org/officeDocument/2006/relationships/image" Target="../media/image385.wmf"/><Relationship Id="rId13" Type="http://schemas.openxmlformats.org/officeDocument/2006/relationships/oleObject" Target="../embeddings/oleObject58.bin"/><Relationship Id="rId18" Type="http://schemas.openxmlformats.org/officeDocument/2006/relationships/oleObject" Target="../embeddings/oleObject62.bin"/><Relationship Id="rId26" Type="http://schemas.openxmlformats.org/officeDocument/2006/relationships/image" Target="../media/image466.png"/><Relationship Id="rId3" Type="http://schemas.openxmlformats.org/officeDocument/2006/relationships/oleObject" Target="../embeddings/oleObject53.bin"/><Relationship Id="rId21" Type="http://schemas.openxmlformats.org/officeDocument/2006/relationships/image" Target="../media/image339.png"/><Relationship Id="rId7" Type="http://schemas.openxmlformats.org/officeDocument/2006/relationships/oleObject" Target="../embeddings/oleObject55.bin"/><Relationship Id="rId12" Type="http://schemas.openxmlformats.org/officeDocument/2006/relationships/image" Target="../media/image387.wmf"/><Relationship Id="rId17" Type="http://schemas.openxmlformats.org/officeDocument/2006/relationships/oleObject" Target="../embeddings/oleObject61.bin"/><Relationship Id="rId25" Type="http://schemas.openxmlformats.org/officeDocument/2006/relationships/image" Target="../media/image465.png"/><Relationship Id="rId2" Type="http://schemas.openxmlformats.org/officeDocument/2006/relationships/slideLayout" Target="../slideLayouts/slideLayout7.xml"/><Relationship Id="rId16" Type="http://schemas.openxmlformats.org/officeDocument/2006/relationships/oleObject" Target="../embeddings/oleObject60.bin"/><Relationship Id="rId20" Type="http://schemas.openxmlformats.org/officeDocument/2006/relationships/oleObject" Target="../embeddings/oleObject64.bin"/><Relationship Id="rId1" Type="http://schemas.openxmlformats.org/officeDocument/2006/relationships/vmlDrawing" Target="../drawings/vmlDrawing24.vml"/><Relationship Id="rId6" Type="http://schemas.openxmlformats.org/officeDocument/2006/relationships/image" Target="../media/image384.wmf"/><Relationship Id="rId11" Type="http://schemas.openxmlformats.org/officeDocument/2006/relationships/oleObject" Target="../embeddings/oleObject57.bin"/><Relationship Id="rId24" Type="http://schemas.openxmlformats.org/officeDocument/2006/relationships/image" Target="../media/image464.png"/><Relationship Id="rId5" Type="http://schemas.openxmlformats.org/officeDocument/2006/relationships/oleObject" Target="../embeddings/oleObject54.bin"/><Relationship Id="rId15" Type="http://schemas.openxmlformats.org/officeDocument/2006/relationships/oleObject" Target="../embeddings/oleObject59.bin"/><Relationship Id="rId23" Type="http://schemas.openxmlformats.org/officeDocument/2006/relationships/image" Target="../media/image300.png"/><Relationship Id="rId10" Type="http://schemas.openxmlformats.org/officeDocument/2006/relationships/image" Target="../media/image386.wmf"/><Relationship Id="rId19" Type="http://schemas.openxmlformats.org/officeDocument/2006/relationships/oleObject" Target="../embeddings/oleObject63.bin"/><Relationship Id="rId4" Type="http://schemas.openxmlformats.org/officeDocument/2006/relationships/image" Target="../media/image383.wmf"/><Relationship Id="rId9" Type="http://schemas.openxmlformats.org/officeDocument/2006/relationships/oleObject" Target="../embeddings/oleObject56.bin"/><Relationship Id="rId14" Type="http://schemas.openxmlformats.org/officeDocument/2006/relationships/image" Target="../media/image388.wmf"/><Relationship Id="rId22" Type="http://schemas.openxmlformats.org/officeDocument/2006/relationships/image" Target="../media/image448.png"/></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8" Type="http://schemas.openxmlformats.org/officeDocument/2006/relationships/image" Target="../media/image472.png"/><Relationship Id="rId3" Type="http://schemas.openxmlformats.org/officeDocument/2006/relationships/image" Target="../media/image467.png"/><Relationship Id="rId7" Type="http://schemas.openxmlformats.org/officeDocument/2006/relationships/image" Target="../media/image471.png"/><Relationship Id="rId2" Type="http://schemas.openxmlformats.org/officeDocument/2006/relationships/notesSlide" Target="../notesSlides/notesSlide102.xml"/><Relationship Id="rId1" Type="http://schemas.openxmlformats.org/officeDocument/2006/relationships/slideLayout" Target="../slideLayouts/slideLayout7.xml"/><Relationship Id="rId6" Type="http://schemas.openxmlformats.org/officeDocument/2006/relationships/image" Target="../media/image470.png"/><Relationship Id="rId5" Type="http://schemas.openxmlformats.org/officeDocument/2006/relationships/image" Target="../media/image469.png"/><Relationship Id="rId10" Type="http://schemas.openxmlformats.org/officeDocument/2006/relationships/image" Target="../media/image474.png"/><Relationship Id="rId4" Type="http://schemas.openxmlformats.org/officeDocument/2006/relationships/image" Target="../media/image468.png"/><Relationship Id="rId9" Type="http://schemas.openxmlformats.org/officeDocument/2006/relationships/image" Target="../media/image473.png"/></Relationships>
</file>

<file path=ppt/slides/_rels/slide108.xml.rels><?xml version="1.0" encoding="UTF-8" standalone="yes"?>
<Relationships xmlns="http://schemas.openxmlformats.org/package/2006/relationships"><Relationship Id="rId3" Type="http://schemas.openxmlformats.org/officeDocument/2006/relationships/image" Target="../media/image475.png"/><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476.png"/><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8" Type="http://schemas.openxmlformats.org/officeDocument/2006/relationships/image" Target="../media/image482.png"/><Relationship Id="rId3" Type="http://schemas.openxmlformats.org/officeDocument/2006/relationships/image" Target="../media/image477.png"/><Relationship Id="rId7" Type="http://schemas.openxmlformats.org/officeDocument/2006/relationships/image" Target="../media/image481.png"/><Relationship Id="rId2" Type="http://schemas.openxmlformats.org/officeDocument/2006/relationships/notesSlide" Target="../notesSlides/notesSlide105.xml"/><Relationship Id="rId1" Type="http://schemas.openxmlformats.org/officeDocument/2006/relationships/slideLayout" Target="../slideLayouts/slideLayout7.xml"/><Relationship Id="rId6" Type="http://schemas.openxmlformats.org/officeDocument/2006/relationships/image" Target="../media/image480.png"/><Relationship Id="rId11" Type="http://schemas.openxmlformats.org/officeDocument/2006/relationships/image" Target="../media/image485.png"/><Relationship Id="rId5" Type="http://schemas.openxmlformats.org/officeDocument/2006/relationships/image" Target="../media/image479.png"/><Relationship Id="rId10" Type="http://schemas.openxmlformats.org/officeDocument/2006/relationships/image" Target="../media/image484.png"/><Relationship Id="rId4" Type="http://schemas.openxmlformats.org/officeDocument/2006/relationships/image" Target="../media/image478.png"/><Relationship Id="rId9" Type="http://schemas.openxmlformats.org/officeDocument/2006/relationships/image" Target="../media/image483.png"/></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475.gif"/><Relationship Id="rId2" Type="http://schemas.openxmlformats.org/officeDocument/2006/relationships/notesSlide" Target="../notesSlides/notesSlide107.xml"/><Relationship Id="rId1" Type="http://schemas.openxmlformats.org/officeDocument/2006/relationships/slideLayout" Target="../slideLayouts/slideLayout7.xml"/><Relationship Id="rId4" Type="http://schemas.openxmlformats.org/officeDocument/2006/relationships/image" Target="../media/image486.png"/></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108.xml"/><Relationship Id="rId7" Type="http://schemas.openxmlformats.org/officeDocument/2006/relationships/image" Target="../media/image487.emf"/><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65.bin"/><Relationship Id="rId5" Type="http://schemas.openxmlformats.org/officeDocument/2006/relationships/image" Target="../media/image490.png"/><Relationship Id="rId4" Type="http://schemas.openxmlformats.org/officeDocument/2006/relationships/image" Target="../media/image488.png"/></Relationships>
</file>

<file path=ppt/slides/_rels/slide114.xml.rels><?xml version="1.0" encoding="UTF-8" standalone="yes"?>
<Relationships xmlns="http://schemas.openxmlformats.org/package/2006/relationships"><Relationship Id="rId3" Type="http://schemas.openxmlformats.org/officeDocument/2006/relationships/image" Target="../media/image489.png"/><Relationship Id="rId2" Type="http://schemas.openxmlformats.org/officeDocument/2006/relationships/notesSlide" Target="../notesSlides/notesSlide109.xml"/><Relationship Id="rId1" Type="http://schemas.openxmlformats.org/officeDocument/2006/relationships/slideLayout" Target="../slideLayouts/slideLayout7.xml"/><Relationship Id="rId6" Type="http://schemas.openxmlformats.org/officeDocument/2006/relationships/image" Target="../media/image494.png"/><Relationship Id="rId5" Type="http://schemas.openxmlformats.org/officeDocument/2006/relationships/image" Target="../media/image493.png"/><Relationship Id="rId4" Type="http://schemas.openxmlformats.org/officeDocument/2006/relationships/image" Target="../media/image492.png"/></Relationships>
</file>

<file path=ppt/slides/_rels/slide115.xml.rels><?xml version="1.0" encoding="UTF-8" standalone="yes"?>
<Relationships xmlns="http://schemas.openxmlformats.org/package/2006/relationships"><Relationship Id="rId3" Type="http://schemas.openxmlformats.org/officeDocument/2006/relationships/image" Target="../media/image491.png"/><Relationship Id="rId2" Type="http://schemas.openxmlformats.org/officeDocument/2006/relationships/notesSlide" Target="../notesSlides/notesSlide110.xml"/><Relationship Id="rId1" Type="http://schemas.openxmlformats.org/officeDocument/2006/relationships/slideLayout" Target="../slideLayouts/slideLayout7.xml"/><Relationship Id="rId5" Type="http://schemas.openxmlformats.org/officeDocument/2006/relationships/image" Target="../media/image486.png"/><Relationship Id="rId4" Type="http://schemas.openxmlformats.org/officeDocument/2006/relationships/image" Target="../media/image496.png"/></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495.png"/><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3" Type="http://schemas.openxmlformats.org/officeDocument/2006/relationships/image" Target="../media/image498.png"/><Relationship Id="rId2" Type="http://schemas.openxmlformats.org/officeDocument/2006/relationships/notesSlide" Target="../notesSlides/notesSlide113.xml"/><Relationship Id="rId1" Type="http://schemas.openxmlformats.org/officeDocument/2006/relationships/slideLayout" Target="../slideLayouts/slideLayout7.xml"/><Relationship Id="rId4" Type="http://schemas.openxmlformats.org/officeDocument/2006/relationships/image" Target="../media/image496.emf"/></Relationships>
</file>

<file path=ppt/slides/_rels/slide119.xml.rels><?xml version="1.0" encoding="UTF-8" standalone="yes"?>
<Relationships xmlns="http://schemas.openxmlformats.org/package/2006/relationships"><Relationship Id="rId3" Type="http://schemas.openxmlformats.org/officeDocument/2006/relationships/image" Target="../media/image497.emf"/><Relationship Id="rId7" Type="http://schemas.openxmlformats.org/officeDocument/2006/relationships/image" Target="../media/image504.png"/><Relationship Id="rId2" Type="http://schemas.openxmlformats.org/officeDocument/2006/relationships/notesSlide" Target="../notesSlides/notesSlide114.xml"/><Relationship Id="rId1" Type="http://schemas.openxmlformats.org/officeDocument/2006/relationships/slideLayout" Target="../slideLayouts/slideLayout7.xml"/><Relationship Id="rId6" Type="http://schemas.openxmlformats.org/officeDocument/2006/relationships/image" Target="../media/image503.png"/><Relationship Id="rId5" Type="http://schemas.openxmlformats.org/officeDocument/2006/relationships/image" Target="../media/image502.png"/><Relationship Id="rId4" Type="http://schemas.openxmlformats.org/officeDocument/2006/relationships/image" Target="../media/image498.emf"/></Relationships>
</file>

<file path=ppt/slides/_rels/slide120.xml.rels><?xml version="1.0" encoding="UTF-8" standalone="yes"?>
<Relationships xmlns="http://schemas.openxmlformats.org/package/2006/relationships"><Relationship Id="rId8" Type="http://schemas.openxmlformats.org/officeDocument/2006/relationships/image" Target="../media/image510.png"/><Relationship Id="rId3" Type="http://schemas.openxmlformats.org/officeDocument/2006/relationships/image" Target="../media/image505.png"/><Relationship Id="rId7" Type="http://schemas.openxmlformats.org/officeDocument/2006/relationships/image" Target="../media/image509.png"/><Relationship Id="rId2" Type="http://schemas.openxmlformats.org/officeDocument/2006/relationships/notesSlide" Target="../notesSlides/notesSlide115.xml"/><Relationship Id="rId1" Type="http://schemas.openxmlformats.org/officeDocument/2006/relationships/slideLayout" Target="../slideLayouts/slideLayout7.xml"/><Relationship Id="rId6" Type="http://schemas.openxmlformats.org/officeDocument/2006/relationships/image" Target="../media/image508.png"/><Relationship Id="rId5" Type="http://schemas.openxmlformats.org/officeDocument/2006/relationships/image" Target="../media/image507.png"/><Relationship Id="rId4" Type="http://schemas.openxmlformats.org/officeDocument/2006/relationships/image" Target="../media/image506.png"/><Relationship Id="rId9" Type="http://schemas.openxmlformats.org/officeDocument/2006/relationships/image" Target="../media/image511.png"/></Relationships>
</file>

<file path=ppt/slides/_rels/slide121.xml.rels><?xml version="1.0" encoding="UTF-8" standalone="yes"?>
<Relationships xmlns="http://schemas.openxmlformats.org/package/2006/relationships"><Relationship Id="rId8" Type="http://schemas.openxmlformats.org/officeDocument/2006/relationships/image" Target="../media/image517.png"/><Relationship Id="rId3" Type="http://schemas.openxmlformats.org/officeDocument/2006/relationships/image" Target="../media/image499.png"/><Relationship Id="rId7" Type="http://schemas.openxmlformats.org/officeDocument/2006/relationships/image" Target="../media/image516.png"/><Relationship Id="rId12" Type="http://schemas.openxmlformats.org/officeDocument/2006/relationships/image" Target="../media/image522.png"/><Relationship Id="rId2" Type="http://schemas.openxmlformats.org/officeDocument/2006/relationships/notesSlide" Target="../notesSlides/notesSlide116.xml"/><Relationship Id="rId1" Type="http://schemas.openxmlformats.org/officeDocument/2006/relationships/slideLayout" Target="../slideLayouts/slideLayout7.xml"/><Relationship Id="rId6" Type="http://schemas.openxmlformats.org/officeDocument/2006/relationships/image" Target="../media/image515.png"/><Relationship Id="rId11" Type="http://schemas.openxmlformats.org/officeDocument/2006/relationships/image" Target="../media/image521.png"/><Relationship Id="rId5" Type="http://schemas.openxmlformats.org/officeDocument/2006/relationships/image" Target="../media/image501.png"/><Relationship Id="rId10" Type="http://schemas.openxmlformats.org/officeDocument/2006/relationships/image" Target="../media/image519.png"/><Relationship Id="rId4" Type="http://schemas.openxmlformats.org/officeDocument/2006/relationships/image" Target="../media/image500.png"/><Relationship Id="rId9" Type="http://schemas.openxmlformats.org/officeDocument/2006/relationships/image" Target="../media/image518.png"/></Relationships>
</file>

<file path=ppt/slides/_rels/slide122.xml.rels><?xml version="1.0" encoding="UTF-8" standalone="yes"?>
<Relationships xmlns="http://schemas.openxmlformats.org/package/2006/relationships"><Relationship Id="rId8" Type="http://schemas.openxmlformats.org/officeDocument/2006/relationships/image" Target="../media/image524.png"/><Relationship Id="rId3" Type="http://schemas.openxmlformats.org/officeDocument/2006/relationships/image" Target="../media/image512.png"/><Relationship Id="rId7" Type="http://schemas.openxmlformats.org/officeDocument/2006/relationships/image" Target="../media/image523.png"/><Relationship Id="rId2" Type="http://schemas.openxmlformats.org/officeDocument/2006/relationships/notesSlide" Target="../notesSlides/notesSlide117.xml"/><Relationship Id="rId1" Type="http://schemas.openxmlformats.org/officeDocument/2006/relationships/slideLayout" Target="../slideLayouts/slideLayout7.xml"/><Relationship Id="rId6" Type="http://schemas.openxmlformats.org/officeDocument/2006/relationships/image" Target="../media/image499.emf"/><Relationship Id="rId5" Type="http://schemas.openxmlformats.org/officeDocument/2006/relationships/image" Target="../media/image514.png"/><Relationship Id="rId4" Type="http://schemas.openxmlformats.org/officeDocument/2006/relationships/image" Target="../media/image513.png"/></Relationships>
</file>

<file path=ppt/slides/_rels/slide123.xml.rels><?xml version="1.0" encoding="UTF-8" standalone="yes"?>
<Relationships xmlns="http://schemas.openxmlformats.org/package/2006/relationships"><Relationship Id="rId8" Type="http://schemas.openxmlformats.org/officeDocument/2006/relationships/image" Target="../media/image529.emf"/><Relationship Id="rId13" Type="http://schemas.openxmlformats.org/officeDocument/2006/relationships/image" Target="../media/image534.emf"/><Relationship Id="rId3" Type="http://schemas.openxmlformats.org/officeDocument/2006/relationships/image" Target="../media/image500.emf"/><Relationship Id="rId7" Type="http://schemas.openxmlformats.org/officeDocument/2006/relationships/image" Target="../media/image528.png"/><Relationship Id="rId12" Type="http://schemas.openxmlformats.org/officeDocument/2006/relationships/image" Target="../media/image533.emf"/><Relationship Id="rId2" Type="http://schemas.openxmlformats.org/officeDocument/2006/relationships/notesSlide" Target="../notesSlides/notesSlide118.xml"/><Relationship Id="rId1" Type="http://schemas.openxmlformats.org/officeDocument/2006/relationships/slideLayout" Target="../slideLayouts/slideLayout7.xml"/><Relationship Id="rId6" Type="http://schemas.openxmlformats.org/officeDocument/2006/relationships/image" Target="../media/image527.png"/><Relationship Id="rId11" Type="http://schemas.openxmlformats.org/officeDocument/2006/relationships/image" Target="../media/image532.emf"/><Relationship Id="rId5" Type="http://schemas.openxmlformats.org/officeDocument/2006/relationships/image" Target="../media/image526.png"/><Relationship Id="rId10" Type="http://schemas.openxmlformats.org/officeDocument/2006/relationships/image" Target="../media/image531.emf"/><Relationship Id="rId4" Type="http://schemas.openxmlformats.org/officeDocument/2006/relationships/image" Target="../media/image525.png"/><Relationship Id="rId9" Type="http://schemas.openxmlformats.org/officeDocument/2006/relationships/image" Target="../media/image530.png"/></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1943735" y="-3544570"/>
            <a:ext cx="5256530" cy="525653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3"/>
          <p:cNvSpPr txBox="1"/>
          <p:nvPr/>
        </p:nvSpPr>
        <p:spPr>
          <a:xfrm>
            <a:off x="1366203" y="2103887"/>
            <a:ext cx="6821170" cy="829945"/>
          </a:xfrm>
          <a:prstGeom prst="rect">
            <a:avLst/>
          </a:prstGeom>
          <a:noFill/>
          <a:effectLst/>
        </p:spPr>
        <p:txBody>
          <a:bodyPr wrap="square" rtlCol="0">
            <a:spAutoFit/>
          </a:bodyPr>
          <a:lstStyle/>
          <a:p>
            <a:pPr algn="ctr"/>
            <a:r>
              <a:rPr lang="zh-CN" altLang="en-US" sz="4800" b="1" dirty="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rPr>
              <a:t>机器人原理与应用</a:t>
            </a:r>
            <a:endParaRPr lang="zh-CN" altLang="en-US" sz="4800" b="1" dirty="0" smtClean="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5" name="矩形 4"/>
          <p:cNvSpPr/>
          <p:nvPr/>
        </p:nvSpPr>
        <p:spPr>
          <a:xfrm>
            <a:off x="1169670" y="2933700"/>
            <a:ext cx="7215505" cy="461665"/>
          </a:xfrm>
          <a:prstGeom prst="rect">
            <a:avLst/>
          </a:prstGeom>
        </p:spPr>
        <p:txBody>
          <a:bodyPr wrap="square">
            <a:spAutoFit/>
          </a:bodyPr>
          <a:lstStyle/>
          <a:p>
            <a:pPr algn="ctr">
              <a:lnSpc>
                <a:spcPct val="100000"/>
              </a:lnSpc>
            </a:pPr>
            <a:r>
              <a:rPr lang="en-US" altLang="zh-CN" sz="2400" dirty="0">
                <a:latin typeface="Arial" panose="020B0604020202020204" pitchFamily="34" charset="0"/>
                <a:ea typeface="微软雅黑" panose="020B0503020204020204" charset="-122"/>
              </a:rPr>
              <a:t>Principles and Applications of Robotics </a:t>
            </a:r>
            <a:endParaRPr lang="zh-CN" altLang="en-US" sz="2400" dirty="0">
              <a:solidFill>
                <a:schemeClr val="tx1"/>
              </a:solidFill>
              <a:latin typeface="Arial" panose="020B0604020202020204" pitchFamily="34" charset="0"/>
              <a:ea typeface="微软雅黑" panose="020B0503020204020204" charset="-122"/>
              <a:sym typeface="+mn-ea"/>
            </a:endParaRPr>
          </a:p>
        </p:txBody>
      </p:sp>
      <p:sp>
        <p:nvSpPr>
          <p:cNvPr id="4" name="椭圆 3"/>
          <p:cNvSpPr/>
          <p:nvPr/>
        </p:nvSpPr>
        <p:spPr>
          <a:xfrm>
            <a:off x="2304415" y="-3183890"/>
            <a:ext cx="4535170" cy="4535170"/>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 Box 4"/>
          <p:cNvSpPr txBox="1">
            <a:spLocks noChangeArrowheads="1"/>
          </p:cNvSpPr>
          <p:nvPr/>
        </p:nvSpPr>
        <p:spPr bwMode="auto">
          <a:xfrm>
            <a:off x="708819" y="3439620"/>
            <a:ext cx="813593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1600" b="1" dirty="0"/>
              <a:t>Instructor:</a:t>
            </a:r>
            <a:r>
              <a:rPr lang="zh-CN" altLang="en-US" sz="1600" dirty="0">
                <a:ea typeface="楷体_GB2312" pitchFamily="49" charset="-122"/>
              </a:rPr>
              <a:t> </a:t>
            </a:r>
            <a:r>
              <a:rPr lang="en-US" altLang="zh-CN" sz="1600" dirty="0">
                <a:ea typeface="楷体_GB2312" pitchFamily="49" charset="-122"/>
              </a:rPr>
              <a:t>Dr. </a:t>
            </a:r>
            <a:r>
              <a:rPr lang="zh-CN" altLang="en-US" sz="1600" dirty="0" smtClean="0">
                <a:latin typeface="楷体" panose="02010609060101010101" pitchFamily="49" charset="-122"/>
                <a:ea typeface="楷体" panose="02010609060101010101" pitchFamily="49" charset="-122"/>
              </a:rPr>
              <a:t>闵华松</a:t>
            </a:r>
            <a:r>
              <a:rPr lang="en-US" altLang="zh-CN" sz="1600" dirty="0" smtClean="0">
                <a:ea typeface="楷体_GB2312" pitchFamily="49" charset="-122"/>
              </a:rPr>
              <a:t>(</a:t>
            </a:r>
            <a:r>
              <a:rPr lang="en-US" altLang="zh-CN" sz="1600" dirty="0" err="1" smtClean="0">
                <a:ea typeface="楷体_GB2312" pitchFamily="49" charset="-122"/>
              </a:rPr>
              <a:t>Huasong</a:t>
            </a:r>
            <a:r>
              <a:rPr lang="en-US" altLang="zh-CN" sz="1600" dirty="0" smtClean="0">
                <a:ea typeface="楷体_GB2312" pitchFamily="49" charset="-122"/>
              </a:rPr>
              <a:t> Min)</a:t>
            </a:r>
            <a:r>
              <a:rPr lang="en-US" altLang="zh-CN" sz="1600" dirty="0">
                <a:ea typeface="楷体_GB2312" pitchFamily="49" charset="-122"/>
              </a:rPr>
              <a:t>.</a:t>
            </a:r>
            <a:r>
              <a:rPr lang="en-US" altLang="zh-CN" sz="1600" dirty="0" smtClean="0">
                <a:ea typeface="楷体_GB2312" pitchFamily="49" charset="-122"/>
              </a:rPr>
              <a:t> Professor </a:t>
            </a:r>
            <a:endParaRPr lang="zh-CN" altLang="en-US" sz="1600" dirty="0">
              <a:ea typeface="楷体_GB2312" pitchFamily="49" charset="-122"/>
            </a:endParaRPr>
          </a:p>
          <a:p>
            <a:pPr eaLnBrk="1" hangingPunct="1">
              <a:spcBef>
                <a:spcPct val="0"/>
              </a:spcBef>
              <a:buFontTx/>
              <a:buNone/>
            </a:pPr>
            <a:r>
              <a:rPr lang="en-US" altLang="zh-CN" sz="1600" b="1" dirty="0"/>
              <a:t>Office Location</a:t>
            </a:r>
            <a:r>
              <a:rPr lang="zh-CN" altLang="en-US" sz="1600" dirty="0" smtClean="0">
                <a:ea typeface="楷体_GB2312" pitchFamily="49" charset="-122"/>
              </a:rPr>
              <a:t>：</a:t>
            </a:r>
            <a:r>
              <a:rPr lang="zh-CN" altLang="en-US" sz="1600" dirty="0" smtClean="0">
                <a:latin typeface="楷体" panose="02010609060101010101" pitchFamily="49" charset="-122"/>
                <a:ea typeface="楷体" panose="02010609060101010101" pitchFamily="49" charset="-122"/>
              </a:rPr>
              <a:t>钢铁楼</a:t>
            </a:r>
            <a:r>
              <a:rPr lang="en-US" altLang="zh-CN" sz="1600" dirty="0" smtClean="0">
                <a:ea typeface="楷体_GB2312" pitchFamily="49" charset="-122"/>
              </a:rPr>
              <a:t>1110</a:t>
            </a:r>
            <a:r>
              <a:rPr lang="en-US" altLang="zh-CN" sz="1600" dirty="0">
                <a:ea typeface="楷体_GB2312" pitchFamily="49" charset="-122"/>
              </a:rPr>
              <a:t>(</a:t>
            </a:r>
            <a:r>
              <a:rPr lang="en-US" altLang="zh-CN" sz="1600" dirty="0" smtClean="0">
                <a:ea typeface="楷体_GB2312" pitchFamily="49" charset="-122"/>
              </a:rPr>
              <a:t>Room </a:t>
            </a:r>
            <a:r>
              <a:rPr lang="en-US" altLang="zh-CN" sz="1600" dirty="0">
                <a:ea typeface="楷体_GB2312" pitchFamily="49" charset="-122"/>
              </a:rPr>
              <a:t>No. 1110, </a:t>
            </a:r>
            <a:r>
              <a:rPr lang="en-US" altLang="zh-CN" sz="1600" dirty="0" smtClean="0">
                <a:ea typeface="楷体_GB2312" pitchFamily="49" charset="-122"/>
              </a:rPr>
              <a:t>GANGTIE Building)</a:t>
            </a:r>
          </a:p>
          <a:p>
            <a:pPr eaLnBrk="1" hangingPunct="1">
              <a:spcBef>
                <a:spcPct val="0"/>
              </a:spcBef>
              <a:buFontTx/>
              <a:buNone/>
            </a:pPr>
            <a:r>
              <a:rPr lang="en-US" altLang="zh-CN" sz="1600" b="1" dirty="0" smtClean="0"/>
              <a:t>Class </a:t>
            </a:r>
            <a:r>
              <a:rPr lang="en-US" altLang="zh-CN" sz="1600" b="1" dirty="0"/>
              <a:t>venue:  </a:t>
            </a:r>
            <a:r>
              <a:rPr lang="en-US" altLang="zh-CN" sz="1600" dirty="0">
                <a:ea typeface="楷体_GB2312" pitchFamily="49" charset="-122"/>
              </a:rPr>
              <a:t>Room No. </a:t>
            </a:r>
            <a:r>
              <a:rPr lang="en-US" altLang="zh-CN" sz="1600" dirty="0" smtClean="0">
                <a:ea typeface="楷体_GB2312" pitchFamily="49" charset="-122"/>
              </a:rPr>
              <a:t>F4201</a:t>
            </a:r>
            <a:endParaRPr lang="en-US" altLang="zh-CN" sz="1600" dirty="0">
              <a:ea typeface="楷体_GB2312" pitchFamily="49" charset="-122"/>
            </a:endParaRPr>
          </a:p>
          <a:p>
            <a:pPr eaLnBrk="1" hangingPunct="1">
              <a:spcBef>
                <a:spcPct val="0"/>
              </a:spcBef>
              <a:buFontTx/>
              <a:buNone/>
            </a:pPr>
            <a:r>
              <a:rPr lang="en-US" altLang="zh-CN" sz="1600" b="1" dirty="0">
                <a:ea typeface="楷体_GB2312" pitchFamily="49" charset="-122"/>
              </a:rPr>
              <a:t>Email:  </a:t>
            </a:r>
            <a:r>
              <a:rPr lang="en-US" altLang="zh-CN" sz="1600" dirty="0" smtClean="0">
                <a:ea typeface="楷体_GB2312" pitchFamily="49" charset="-122"/>
                <a:hlinkClick r:id="rId3"/>
              </a:rPr>
              <a:t>mhuasong@wust.edu.cn</a:t>
            </a:r>
            <a:r>
              <a:rPr lang="en-US" altLang="zh-CN" sz="1600" dirty="0">
                <a:ea typeface="楷体_GB2312" pitchFamily="49" charset="-122"/>
              </a:rPr>
              <a:t> </a:t>
            </a:r>
            <a:endParaRPr lang="en-US" altLang="zh-CN" sz="1600" dirty="0" smtClean="0">
              <a:ea typeface="楷体_GB2312" pitchFamily="49" charset="-122"/>
            </a:endParaRPr>
          </a:p>
          <a:p>
            <a:pPr eaLnBrk="1" hangingPunct="1">
              <a:spcBef>
                <a:spcPct val="0"/>
              </a:spcBef>
              <a:buFontTx/>
              <a:buNone/>
            </a:pPr>
            <a:r>
              <a:rPr lang="en-US" altLang="zh-CN" sz="1600" b="1" dirty="0" smtClean="0">
                <a:ea typeface="楷体_GB2312" pitchFamily="49" charset="-122"/>
              </a:rPr>
              <a:t>Website</a:t>
            </a:r>
            <a:r>
              <a:rPr lang="en-US" altLang="zh-CN" sz="1600" dirty="0">
                <a:ea typeface="楷体_GB2312" pitchFamily="49" charset="-122"/>
              </a:rPr>
              <a:t>: </a:t>
            </a:r>
            <a:r>
              <a:rPr lang="en-US" altLang="zh-CN" sz="1600" dirty="0">
                <a:ea typeface="楷体_GB2312" pitchFamily="49" charset="-122"/>
                <a:hlinkClick r:id="rId4"/>
              </a:rPr>
              <a:t>https://</a:t>
            </a:r>
            <a:r>
              <a:rPr lang="en-US" altLang="zh-CN" sz="1600" dirty="0" smtClean="0">
                <a:ea typeface="楷体_GB2312" pitchFamily="49" charset="-122"/>
                <a:hlinkClick r:id="rId4"/>
              </a:rPr>
              <a:t>github.com/mhuasong/Basics-of-Robotics-Theory-and-Technology</a:t>
            </a:r>
            <a:r>
              <a:rPr lang="en-US" altLang="zh-CN" sz="1600" dirty="0" smtClean="0">
                <a:ea typeface="楷体_GB2312" pitchFamily="49" charset="-122"/>
              </a:rPr>
              <a:t> </a:t>
            </a:r>
            <a:endParaRPr lang="en-US" altLang="zh-CN" sz="1600" dirty="0">
              <a:ea typeface="楷体_GB2312" pitchFamily="49" charset="-122"/>
            </a:endParaRPr>
          </a:p>
          <a:p>
            <a:pPr eaLnBrk="1" hangingPunct="1">
              <a:spcBef>
                <a:spcPct val="0"/>
              </a:spcBef>
              <a:buFontTx/>
              <a:buNone/>
            </a:pPr>
            <a:r>
              <a:rPr lang="en-US" altLang="zh-CN" sz="1600" b="1" dirty="0">
                <a:ea typeface="楷体_GB2312" pitchFamily="49" charset="-122"/>
              </a:rPr>
              <a:t>Mobile</a:t>
            </a:r>
            <a:r>
              <a:rPr lang="en-US" altLang="zh-CN" sz="1600" b="1" dirty="0" smtClean="0">
                <a:ea typeface="楷体_GB2312" pitchFamily="49" charset="-122"/>
              </a:rPr>
              <a:t>:</a:t>
            </a:r>
            <a:endParaRPr lang="en-US" altLang="zh-CN" sz="1600" dirty="0">
              <a:ea typeface="楷体_GB2312" pitchFamily="49" charset="-122"/>
            </a:endParaRPr>
          </a:p>
        </p:txBody>
      </p:sp>
    </p:spTree>
    <p:extLst>
      <p:ext uri="{BB962C8B-B14F-4D97-AF65-F5344CB8AC3E}">
        <p14:creationId xmlns:p14="http://schemas.microsoft.com/office/powerpoint/2010/main" val="185240414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4043930" y="0"/>
            <a:ext cx="5136582" cy="5144135"/>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508635" y="972185"/>
            <a:ext cx="3199765" cy="319976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728345" y="1191895"/>
            <a:ext cx="2760345" cy="276034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576263" y="2280285"/>
            <a:ext cx="3063875" cy="583565"/>
          </a:xfrm>
          <a:prstGeom prst="rect">
            <a:avLst/>
          </a:prstGeom>
          <a:noFill/>
        </p:spPr>
        <p:txBody>
          <a:bodyPr wrap="square" rtlCol="0">
            <a:spAutoFit/>
          </a:bodyPr>
          <a:lstStyle/>
          <a:p>
            <a:pPr algn="ctr"/>
            <a:r>
              <a:rPr lang="en-US" altLang="zh-CN" sz="3200" b="1" spc="500">
                <a:solidFill>
                  <a:schemeClr val="bg1"/>
                </a:solidFill>
                <a:uFillTx/>
                <a:sym typeface="+mn-ea"/>
              </a:rPr>
              <a:t>CONTENTS</a:t>
            </a:r>
          </a:p>
        </p:txBody>
      </p:sp>
      <p:sp>
        <p:nvSpPr>
          <p:cNvPr id="24" name="KSO_Shape"/>
          <p:cNvSpPr/>
          <p:nvPr>
            <p:custDataLst>
              <p:tags r:id="rId1"/>
            </p:custDataLst>
          </p:nvPr>
        </p:nvSpPr>
        <p:spPr bwMode="auto">
          <a:xfrm>
            <a:off x="4067944" y="627534"/>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6" name="矩形 25"/>
          <p:cNvSpPr/>
          <p:nvPr>
            <p:custDataLst>
              <p:tags r:id="rId2"/>
            </p:custDataLst>
          </p:nvPr>
        </p:nvSpPr>
        <p:spPr>
          <a:xfrm>
            <a:off x="4534669" y="771550"/>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Introduction and Conceptual Problems</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27" name="矩形 26"/>
          <p:cNvSpPr/>
          <p:nvPr>
            <p:custDataLst>
              <p:tags r:id="rId3"/>
            </p:custDataLst>
          </p:nvPr>
        </p:nvSpPr>
        <p:spPr>
          <a:xfrm>
            <a:off x="4534637" y="555526"/>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smtClean="0">
                <a:solidFill>
                  <a:srgbClr val="002060"/>
                </a:solidFill>
                <a:latin typeface="Arial" panose="020B0604020202020204" pitchFamily="34" charset="0"/>
                <a:ea typeface="微软雅黑" panose="020B0503020204020204" charset="-122"/>
                <a:cs typeface="+mn-ea"/>
                <a:sym typeface="Arial" panose="020B0604020202020204" pitchFamily="34" charset="0"/>
              </a:rPr>
              <a:t>绪论</a:t>
            </a:r>
            <a:endPar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62" name="KSO_Shape"/>
          <p:cNvSpPr/>
          <p:nvPr>
            <p:custDataLst>
              <p:tags r:id="rId4"/>
            </p:custDataLst>
          </p:nvPr>
        </p:nvSpPr>
        <p:spPr bwMode="auto">
          <a:xfrm>
            <a:off x="4067944" y="1131590"/>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3" name="矩形 62"/>
          <p:cNvSpPr/>
          <p:nvPr>
            <p:custDataLst>
              <p:tags r:id="rId5"/>
            </p:custDataLst>
          </p:nvPr>
        </p:nvSpPr>
        <p:spPr>
          <a:xfrm>
            <a:off x="4534669" y="1275606"/>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System Model of Robot</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64" name="矩形 63"/>
          <p:cNvSpPr/>
          <p:nvPr>
            <p:custDataLst>
              <p:tags r:id="rId6"/>
            </p:custDataLst>
          </p:nvPr>
        </p:nvSpPr>
        <p:spPr>
          <a:xfrm>
            <a:off x="4534637" y="1059582"/>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机器人系统分析基础</a:t>
            </a:r>
          </a:p>
        </p:txBody>
      </p:sp>
      <p:sp>
        <p:nvSpPr>
          <p:cNvPr id="66" name="KSO_Shape"/>
          <p:cNvSpPr/>
          <p:nvPr>
            <p:custDataLst>
              <p:tags r:id="rId7"/>
            </p:custDataLst>
          </p:nvPr>
        </p:nvSpPr>
        <p:spPr bwMode="auto">
          <a:xfrm>
            <a:off x="4067944" y="1635646"/>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7" name="矩形 66"/>
          <p:cNvSpPr/>
          <p:nvPr>
            <p:custDataLst>
              <p:tags r:id="rId8"/>
            </p:custDataLst>
          </p:nvPr>
        </p:nvSpPr>
        <p:spPr>
          <a:xfrm>
            <a:off x="4534669" y="1795914"/>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smtClean="0">
                <a:solidFill>
                  <a:srgbClr val="FF0000"/>
                </a:solidFill>
                <a:latin typeface="Arial" panose="020B0604020202020204" pitchFamily="34" charset="0"/>
                <a:ea typeface="微软雅黑" panose="020B0503020204020204" charset="-122"/>
                <a:sym typeface="Arial" panose="020B0604020202020204" pitchFamily="34" charset="0"/>
              </a:rPr>
              <a:t>Robot Kinematics</a:t>
            </a:r>
            <a:endParaRPr lang="zh-CN" altLang="en-US" sz="1200" spc="150" dirty="0">
              <a:solidFill>
                <a:srgbClr val="FF0000"/>
              </a:solidFill>
              <a:latin typeface="Arial" panose="020B0604020202020204" pitchFamily="34" charset="0"/>
              <a:ea typeface="微软雅黑" panose="020B0503020204020204" charset="-122"/>
              <a:sym typeface="Arial" panose="020B0604020202020204" pitchFamily="34" charset="0"/>
            </a:endParaRPr>
          </a:p>
        </p:txBody>
      </p:sp>
      <p:sp>
        <p:nvSpPr>
          <p:cNvPr id="68" name="矩形 67"/>
          <p:cNvSpPr/>
          <p:nvPr>
            <p:custDataLst>
              <p:tags r:id="rId9"/>
            </p:custDataLst>
          </p:nvPr>
        </p:nvSpPr>
        <p:spPr>
          <a:xfrm>
            <a:off x="4534637" y="1601282"/>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FF0000"/>
                </a:solidFill>
                <a:latin typeface="Arial" panose="020B0604020202020204" pitchFamily="34" charset="0"/>
                <a:ea typeface="微软雅黑" panose="020B0503020204020204" charset="-122"/>
                <a:cs typeface="+mn-ea"/>
                <a:sym typeface="Arial" panose="020B0604020202020204" pitchFamily="34" charset="0"/>
              </a:rPr>
              <a:t>运动学</a:t>
            </a:r>
          </a:p>
        </p:txBody>
      </p:sp>
      <p:sp>
        <p:nvSpPr>
          <p:cNvPr id="78" name="KSO_Shape"/>
          <p:cNvSpPr/>
          <p:nvPr>
            <p:custDataLst>
              <p:tags r:id="rId10"/>
            </p:custDataLst>
          </p:nvPr>
        </p:nvSpPr>
        <p:spPr bwMode="auto">
          <a:xfrm>
            <a:off x="4067944" y="2103284"/>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79" name="矩形 78"/>
          <p:cNvSpPr/>
          <p:nvPr>
            <p:custDataLst>
              <p:tags r:id="rId11"/>
            </p:custDataLst>
          </p:nvPr>
        </p:nvSpPr>
        <p:spPr>
          <a:xfrm>
            <a:off x="4534669" y="2299970"/>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Robot </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Dynamics</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80" name="矩形 79"/>
          <p:cNvSpPr/>
          <p:nvPr>
            <p:custDataLst>
              <p:tags r:id="rId12"/>
            </p:custDataLst>
          </p:nvPr>
        </p:nvSpPr>
        <p:spPr>
          <a:xfrm>
            <a:off x="4534637" y="2067694"/>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动力学</a:t>
            </a:r>
          </a:p>
        </p:txBody>
      </p:sp>
      <p:sp>
        <p:nvSpPr>
          <p:cNvPr id="2" name="矩形 1"/>
          <p:cNvSpPr/>
          <p:nvPr/>
        </p:nvSpPr>
        <p:spPr>
          <a:xfrm>
            <a:off x="4043930" y="-20538"/>
            <a:ext cx="5094446" cy="584775"/>
          </a:xfrm>
          <a:prstGeom prst="rect">
            <a:avLst/>
          </a:prstGeom>
        </p:spPr>
        <p:txBody>
          <a:bodyPr wrap="square">
            <a:spAutoFit/>
          </a:bodyPr>
          <a:lstStyle/>
          <a:p>
            <a:r>
              <a:rPr lang="en-US" altLang="zh-CN" sz="1600" b="1" dirty="0">
                <a:solidFill>
                  <a:schemeClr val="bg1"/>
                </a:solidFill>
              </a:rPr>
              <a:t>The course is divided into eight modules covering the following </a:t>
            </a:r>
            <a:r>
              <a:rPr lang="en-US" altLang="zh-CN" sz="1600" b="1" dirty="0" smtClean="0">
                <a:solidFill>
                  <a:schemeClr val="bg1"/>
                </a:solidFill>
              </a:rPr>
              <a:t>areas:</a:t>
            </a:r>
            <a:endParaRPr lang="en-US" altLang="zh-CN" sz="1600" b="1" dirty="0">
              <a:solidFill>
                <a:schemeClr val="bg1"/>
              </a:solidFill>
            </a:endParaRPr>
          </a:p>
        </p:txBody>
      </p:sp>
      <p:sp>
        <p:nvSpPr>
          <p:cNvPr id="19" name="KSO_Shape"/>
          <p:cNvSpPr/>
          <p:nvPr>
            <p:custDataLst>
              <p:tags r:id="rId13"/>
            </p:custDataLst>
          </p:nvPr>
        </p:nvSpPr>
        <p:spPr bwMode="auto">
          <a:xfrm>
            <a:off x="4067944" y="2679348"/>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0" name="矩形 19"/>
          <p:cNvSpPr/>
          <p:nvPr>
            <p:custDataLst>
              <p:tags r:id="rId14"/>
            </p:custDataLst>
          </p:nvPr>
        </p:nvSpPr>
        <p:spPr>
          <a:xfrm>
            <a:off x="4534637" y="3452098"/>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Robot </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Control</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21" name="矩形 20"/>
          <p:cNvSpPr/>
          <p:nvPr>
            <p:custDataLst>
              <p:tags r:id="rId15"/>
            </p:custDataLst>
          </p:nvPr>
        </p:nvSpPr>
        <p:spPr>
          <a:xfrm>
            <a:off x="4534637" y="3185458"/>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机器人控制</a:t>
            </a:r>
          </a:p>
        </p:txBody>
      </p:sp>
      <p:sp>
        <p:nvSpPr>
          <p:cNvPr id="25" name="KSO_Shape"/>
          <p:cNvSpPr/>
          <p:nvPr>
            <p:custDataLst>
              <p:tags r:id="rId16"/>
            </p:custDataLst>
          </p:nvPr>
        </p:nvSpPr>
        <p:spPr bwMode="auto">
          <a:xfrm>
            <a:off x="4097652" y="3255412"/>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9" name="矩形 28"/>
          <p:cNvSpPr/>
          <p:nvPr>
            <p:custDataLst>
              <p:tags r:id="rId17"/>
            </p:custDataLst>
          </p:nvPr>
        </p:nvSpPr>
        <p:spPr>
          <a:xfrm>
            <a:off x="4534669" y="2876034"/>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Robot </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Motion </a:t>
            </a: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P</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lanning</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30" name="矩形 29"/>
          <p:cNvSpPr/>
          <p:nvPr>
            <p:custDataLst>
              <p:tags r:id="rId18"/>
            </p:custDataLst>
          </p:nvPr>
        </p:nvSpPr>
        <p:spPr>
          <a:xfrm>
            <a:off x="4534637" y="2609394"/>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机器人运动规划</a:t>
            </a:r>
          </a:p>
        </p:txBody>
      </p:sp>
      <p:sp>
        <p:nvSpPr>
          <p:cNvPr id="35" name="KSO_Shape"/>
          <p:cNvSpPr/>
          <p:nvPr>
            <p:custDataLst>
              <p:tags r:id="rId19"/>
            </p:custDataLst>
          </p:nvPr>
        </p:nvSpPr>
        <p:spPr bwMode="auto">
          <a:xfrm>
            <a:off x="4114428" y="3831476"/>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36" name="矩形 35"/>
          <p:cNvSpPr/>
          <p:nvPr>
            <p:custDataLst>
              <p:tags r:id="rId20"/>
            </p:custDataLst>
          </p:nvPr>
        </p:nvSpPr>
        <p:spPr>
          <a:xfrm>
            <a:off x="4546476" y="3761522"/>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smtClean="0">
                <a:solidFill>
                  <a:srgbClr val="002060"/>
                </a:solidFill>
                <a:latin typeface="Arial" panose="020B0604020202020204" pitchFamily="34" charset="0"/>
                <a:ea typeface="微软雅黑" panose="020B0503020204020204" charset="-122"/>
                <a:cs typeface="+mn-ea"/>
                <a:sym typeface="Arial" panose="020B0604020202020204" pitchFamily="34" charset="0"/>
              </a:rPr>
              <a:t>机器人编程语言</a:t>
            </a:r>
            <a:endPar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37" name="矩形 36"/>
          <p:cNvSpPr/>
          <p:nvPr>
            <p:custDataLst>
              <p:tags r:id="rId21"/>
            </p:custDataLst>
          </p:nvPr>
        </p:nvSpPr>
        <p:spPr>
          <a:xfrm>
            <a:off x="4546476" y="4028162"/>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Programming Language of Robot</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38" name="KSO_Shape"/>
          <p:cNvSpPr/>
          <p:nvPr>
            <p:custDataLst>
              <p:tags r:id="rId22"/>
            </p:custDataLst>
          </p:nvPr>
        </p:nvSpPr>
        <p:spPr bwMode="auto">
          <a:xfrm>
            <a:off x="4114428" y="4407540"/>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39" name="矩形 38"/>
          <p:cNvSpPr/>
          <p:nvPr>
            <p:custDataLst>
              <p:tags r:id="rId23"/>
            </p:custDataLst>
          </p:nvPr>
        </p:nvSpPr>
        <p:spPr>
          <a:xfrm>
            <a:off x="4546476" y="4337586"/>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典型机器人系统的设计与实现</a:t>
            </a:r>
          </a:p>
        </p:txBody>
      </p:sp>
      <p:sp>
        <p:nvSpPr>
          <p:cNvPr id="40" name="矩形 39"/>
          <p:cNvSpPr/>
          <p:nvPr>
            <p:custDataLst>
              <p:tags r:id="rId24"/>
            </p:custDataLst>
          </p:nvPr>
        </p:nvSpPr>
        <p:spPr>
          <a:xfrm>
            <a:off x="4534232" y="4604226"/>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Design and Implementation of Robot System</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Tree>
    <p:extLst>
      <p:ext uri="{BB962C8B-B14F-4D97-AF65-F5344CB8AC3E}">
        <p14:creationId xmlns:p14="http://schemas.microsoft.com/office/powerpoint/2010/main" val="223493140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2308324"/>
          </a:xfrm>
          <a:prstGeom prst="rect">
            <a:avLst/>
          </a:prstGeom>
        </p:spPr>
        <p:txBody>
          <a:bodyPr wrap="square">
            <a:spAutoFit/>
          </a:bodyPr>
          <a:lstStyle/>
          <a:p>
            <a:pPr marL="171450" indent="-171450">
              <a:lnSpc>
                <a:spcPct val="150000"/>
              </a:lnSpc>
              <a:buFont typeface="Wingdings" panose="05000000000000000000" pitchFamily="2" charset="2"/>
              <a:buChar char="Ø"/>
            </a:pPr>
            <a:r>
              <a:rPr lang="zh-CN" altLang="en-US" sz="1200" dirty="0" smtClean="0">
                <a:solidFill>
                  <a:srgbClr val="FF0000"/>
                </a:solidFill>
                <a:latin typeface="Arial" panose="020B0604020202020204" pitchFamily="34" charset="0"/>
                <a:ea typeface="微软雅黑" panose="020B0503020204020204" charset="-122"/>
                <a:sym typeface="+mn-ea"/>
              </a:rPr>
              <a:t>工业机器人运动学</a:t>
            </a:r>
            <a:endParaRPr lang="en-US" altLang="zh-CN" sz="1200" dirty="0" smtClean="0">
              <a:solidFill>
                <a:srgbClr val="FF0000"/>
              </a:solidFill>
              <a:latin typeface="Arial" panose="020B0604020202020204" pitchFamily="34" charset="0"/>
              <a:ea typeface="微软雅黑" panose="020B0503020204020204" charset="-122"/>
              <a:sym typeface="+mn-ea"/>
            </a:endParaRPr>
          </a:p>
          <a:p>
            <a:pPr marL="628650" lvl="1" indent="-171450">
              <a:lnSpc>
                <a:spcPct val="150000"/>
              </a:lnSpc>
              <a:buFont typeface="Wingdings" panose="05000000000000000000" pitchFamily="2" charset="2"/>
              <a:buChar char="Ø"/>
            </a:pPr>
            <a:r>
              <a:rPr lang="zh-CN" altLang="en-US" sz="1200" dirty="0" smtClean="0">
                <a:latin typeface="Arial" panose="020B0604020202020204" pitchFamily="34" charset="0"/>
                <a:ea typeface="微软雅黑" panose="020B0503020204020204" charset="-122"/>
                <a:sym typeface="+mn-ea"/>
              </a:rPr>
              <a:t>串联机械臂运动学</a:t>
            </a:r>
            <a:endParaRPr lang="en-US" altLang="zh-CN" sz="1200" dirty="0">
              <a:latin typeface="Arial" panose="020B0604020202020204" pitchFamily="34" charset="0"/>
              <a:ea typeface="微软雅黑" panose="020B0503020204020204" charset="-122"/>
              <a:sym typeface="+mn-ea"/>
            </a:endParaRPr>
          </a:p>
          <a:p>
            <a:pPr marL="628650" lvl="1" indent="-171450">
              <a:lnSpc>
                <a:spcPct val="150000"/>
              </a:lnSpc>
              <a:buFont typeface="Wingdings" panose="05000000000000000000" pitchFamily="2" charset="2"/>
              <a:buChar char="Ø"/>
            </a:pPr>
            <a:r>
              <a:rPr lang="zh-CN" altLang="en-US" sz="1200" dirty="0" smtClean="0">
                <a:latin typeface="Arial" panose="020B0604020202020204" pitchFamily="34" charset="0"/>
                <a:ea typeface="微软雅黑" panose="020B0503020204020204" charset="-122"/>
                <a:sym typeface="+mn-ea"/>
              </a:rPr>
              <a:t>并联机器人运动学</a:t>
            </a:r>
            <a:endParaRPr lang="en-US" altLang="zh-CN" sz="1200" dirty="0">
              <a:latin typeface="Arial" panose="020B0604020202020204" pitchFamily="34" charset="0"/>
              <a:ea typeface="微软雅黑" panose="020B0503020204020204" charset="-122"/>
              <a:sym typeface="+mn-ea"/>
            </a:endParaRPr>
          </a:p>
          <a:p>
            <a:pPr marL="171450" indent="-171450">
              <a:lnSpc>
                <a:spcPct val="150000"/>
              </a:lnSpc>
              <a:buFont typeface="Wingdings" panose="05000000000000000000" pitchFamily="2" charset="2"/>
              <a:buChar char="Ø"/>
            </a:pPr>
            <a:r>
              <a:rPr lang="zh-CN" altLang="en-US" sz="1200" dirty="0" smtClean="0">
                <a:latin typeface="Arial" panose="020B0604020202020204" pitchFamily="34" charset="0"/>
                <a:ea typeface="微软雅黑" panose="020B0503020204020204" charset="-122"/>
                <a:sym typeface="+mn-ea"/>
              </a:rPr>
              <a:t>移动机器人运动学</a:t>
            </a:r>
            <a:endParaRPr lang="en-US" altLang="zh-CN" sz="1200" dirty="0" smtClean="0">
              <a:latin typeface="Arial" panose="020B0604020202020204" pitchFamily="34" charset="0"/>
              <a:ea typeface="微软雅黑" panose="020B0503020204020204" charset="-122"/>
              <a:sym typeface="+mn-ea"/>
            </a:endParaRPr>
          </a:p>
          <a:p>
            <a:pPr marL="628650" lvl="1" indent="-171450">
              <a:lnSpc>
                <a:spcPct val="150000"/>
              </a:lnSpc>
              <a:buFont typeface="Wingdings" panose="05000000000000000000" pitchFamily="2" charset="2"/>
              <a:buChar char="Ø"/>
            </a:pPr>
            <a:r>
              <a:rPr lang="zh-CN" altLang="en-US" sz="1200" dirty="0" smtClean="0">
                <a:latin typeface="Arial" panose="020B0604020202020204" pitchFamily="34" charset="0"/>
                <a:ea typeface="微软雅黑" panose="020B0503020204020204" charset="-122"/>
                <a:sym typeface="+mn-ea"/>
              </a:rPr>
              <a:t>轮式机器人</a:t>
            </a:r>
            <a:endParaRPr lang="en-US" altLang="zh-CN" sz="1200" dirty="0" smtClean="0">
              <a:latin typeface="Arial" panose="020B0604020202020204" pitchFamily="34" charset="0"/>
              <a:ea typeface="微软雅黑" panose="020B0503020204020204" charset="-122"/>
              <a:sym typeface="+mn-ea"/>
            </a:endParaRPr>
          </a:p>
          <a:p>
            <a:pPr marL="628650" lvl="1" indent="-171450">
              <a:lnSpc>
                <a:spcPct val="150000"/>
              </a:lnSpc>
              <a:buFont typeface="Wingdings" panose="05000000000000000000" pitchFamily="2" charset="2"/>
              <a:buChar char="Ø"/>
            </a:pPr>
            <a:r>
              <a:rPr lang="zh-CN" altLang="en-US" sz="1200" dirty="0" smtClean="0">
                <a:solidFill>
                  <a:schemeClr val="bg1">
                    <a:lumMod val="75000"/>
                  </a:schemeClr>
                </a:solidFill>
                <a:latin typeface="Arial" panose="020B0604020202020204" pitchFamily="34" charset="0"/>
                <a:ea typeface="微软雅黑" panose="020B0503020204020204" charset="-122"/>
                <a:sym typeface="+mn-ea"/>
              </a:rPr>
              <a:t>足式机器人</a:t>
            </a:r>
            <a:endParaRPr lang="en-US" altLang="zh-CN" sz="1200" dirty="0" smtClean="0">
              <a:solidFill>
                <a:schemeClr val="bg1">
                  <a:lumMod val="75000"/>
                </a:schemeClr>
              </a:solidFill>
              <a:latin typeface="Arial" panose="020B0604020202020204" pitchFamily="34" charset="0"/>
              <a:ea typeface="微软雅黑" panose="020B0503020204020204" charset="-122"/>
              <a:sym typeface="+mn-ea"/>
            </a:endParaRPr>
          </a:p>
          <a:p>
            <a:pPr marL="628650" lvl="1" indent="-171450">
              <a:lnSpc>
                <a:spcPct val="150000"/>
              </a:lnSpc>
              <a:buFont typeface="Wingdings" panose="05000000000000000000" pitchFamily="2" charset="2"/>
              <a:buChar char="Ø"/>
            </a:pPr>
            <a:r>
              <a:rPr lang="zh-CN" altLang="en-US" sz="1200" dirty="0" smtClean="0">
                <a:solidFill>
                  <a:schemeClr val="bg1">
                    <a:lumMod val="75000"/>
                  </a:schemeClr>
                </a:solidFill>
                <a:latin typeface="Arial" panose="020B0604020202020204" pitchFamily="34" charset="0"/>
                <a:ea typeface="微软雅黑" panose="020B0503020204020204" charset="-122"/>
                <a:sym typeface="+mn-ea"/>
              </a:rPr>
              <a:t>飞行机器人</a:t>
            </a:r>
            <a:endParaRPr lang="en-US" altLang="zh-CN" sz="1200" dirty="0" smtClean="0">
              <a:solidFill>
                <a:schemeClr val="bg1">
                  <a:lumMod val="75000"/>
                </a:schemeClr>
              </a:solidFill>
              <a:latin typeface="Arial" panose="020B0604020202020204" pitchFamily="34" charset="0"/>
              <a:ea typeface="微软雅黑" panose="020B0503020204020204" charset="-122"/>
              <a:sym typeface="+mn-ea"/>
            </a:endParaRPr>
          </a:p>
          <a:p>
            <a:pPr marL="628650" lvl="1" indent="-171450">
              <a:lnSpc>
                <a:spcPct val="150000"/>
              </a:lnSpc>
              <a:buFont typeface="Wingdings" panose="05000000000000000000" pitchFamily="2" charset="2"/>
              <a:buChar char="Ø"/>
            </a:pPr>
            <a:r>
              <a:rPr lang="zh-CN" altLang="en-US" sz="1200" dirty="0" smtClean="0">
                <a:solidFill>
                  <a:schemeClr val="bg1">
                    <a:lumMod val="75000"/>
                  </a:schemeClr>
                </a:solidFill>
                <a:latin typeface="Arial" panose="020B0604020202020204" pitchFamily="34" charset="0"/>
                <a:ea typeface="微软雅黑" panose="020B0503020204020204" charset="-122"/>
                <a:sym typeface="+mn-ea"/>
              </a:rPr>
              <a:t>水下机器人</a:t>
            </a:r>
            <a:r>
              <a:rPr lang="en-US" altLang="zh-CN" sz="1200" dirty="0" smtClean="0">
                <a:latin typeface="Arial" panose="020B0604020202020204" pitchFamily="34" charset="0"/>
                <a:ea typeface="微软雅黑" panose="020B0503020204020204" charset="-122"/>
                <a:sym typeface="+mn-ea"/>
              </a:rPr>
              <a:t>	</a:t>
            </a:r>
            <a:endParaRPr lang="en-US" altLang="zh-CN" sz="1200" dirty="0">
              <a:latin typeface="Arial" panose="020B0604020202020204" pitchFamily="34" charset="0"/>
              <a:ea typeface="微软雅黑" panose="020B0503020204020204" charset="-122"/>
              <a:sym typeface="+mn-ea"/>
            </a:endParaRPr>
          </a:p>
        </p:txBody>
      </p:sp>
      <p:sp>
        <p:nvSpPr>
          <p:cNvPr id="7" name="文本框 6"/>
          <p:cNvSpPr txBox="1"/>
          <p:nvPr/>
        </p:nvSpPr>
        <p:spPr>
          <a:xfrm>
            <a:off x="4319270" y="1951355"/>
            <a:ext cx="3335655" cy="461665"/>
          </a:xfrm>
          <a:prstGeom prst="rect">
            <a:avLst/>
          </a:prstGeom>
          <a:noFill/>
        </p:spPr>
        <p:txBody>
          <a:bodyPr wrap="square" rtlCol="0" anchor="t">
            <a:spAutoFit/>
          </a:bodyPr>
          <a:lstStyle/>
          <a:p>
            <a:pPr algn="l"/>
            <a:r>
              <a:rPr lang="zh-CN" altLang="en-US" sz="2400" b="1" dirty="0">
                <a:latin typeface="Arial" panose="020B0604020202020204" pitchFamily="34" charset="0"/>
                <a:ea typeface="微软雅黑" panose="020B0503020204020204" charset="-122"/>
                <a:sym typeface="+mn-ea"/>
              </a:rPr>
              <a:t>运动学</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00</a:t>
            </a:r>
            <a:endParaRPr lang="en-US" altLang="zh-CN" sz="6600" b="1" dirty="0">
              <a:solidFill>
                <a:schemeClr val="bg1"/>
              </a:solidFill>
              <a:latin typeface="微软雅黑" panose="020B0503020204020204" charset="-122"/>
              <a:ea typeface="微软雅黑" panose="020B0503020204020204" charset="-122"/>
              <a:sym typeface="+mn-ea"/>
            </a:endParaRPr>
          </a:p>
        </p:txBody>
      </p:sp>
      <p:sp>
        <p:nvSpPr>
          <p:cNvPr id="4" name="圆角矩形 3"/>
          <p:cNvSpPr/>
          <p:nvPr/>
        </p:nvSpPr>
        <p:spPr>
          <a:xfrm>
            <a:off x="4788024" y="3939902"/>
            <a:ext cx="1224136" cy="841747"/>
          </a:xfrm>
          <a:prstGeom prst="round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3975470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stretch>
            <a:fillRect/>
          </a:stretch>
        </p:blipFill>
        <p:spPr>
          <a:xfrm>
            <a:off x="1691680" y="339502"/>
            <a:ext cx="5565673" cy="4563588"/>
          </a:xfrm>
          <a:prstGeom prst="rect">
            <a:avLst/>
          </a:prstGeom>
        </p:spPr>
      </p:pic>
    </p:spTree>
    <p:extLst>
      <p:ext uri="{BB962C8B-B14F-4D97-AF65-F5344CB8AC3E}">
        <p14:creationId xmlns:p14="http://schemas.microsoft.com/office/powerpoint/2010/main" val="55347695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57782" y="4760526"/>
            <a:ext cx="1005403" cy="338554"/>
          </a:xfrm>
          <a:prstGeom prst="rect">
            <a:avLst/>
          </a:prstGeom>
        </p:spPr>
        <p:txBody>
          <a:bodyPr wrap="none">
            <a:spAutoFit/>
          </a:bodyPr>
          <a:lstStyle/>
          <a:p>
            <a:r>
              <a:rPr lang="zh-CN" altLang="zh-CN" sz="1600" dirty="0" smtClean="0">
                <a:ea typeface="等线" panose="02010600030101010101" pitchFamily="2" charset="-122"/>
                <a:cs typeface="Times New Roman" panose="02020603050405020304" pitchFamily="18" charset="0"/>
              </a:rPr>
              <a:t>闭环机构</a:t>
            </a:r>
            <a:endParaRPr lang="zh-CN" altLang="en-US" sz="1600" dirty="0"/>
          </a:p>
        </p:txBody>
      </p:sp>
      <p:pic>
        <p:nvPicPr>
          <p:cNvPr id="2050" name="Picture 2" descr="涨知识啦！各种工业机器人清晰动态原理图- 综合交流_电工学习网"/>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23528" y="2139702"/>
            <a:ext cx="3473913" cy="2605435"/>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2-2"/>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87824" y="726429"/>
            <a:ext cx="2952328" cy="1419845"/>
          </a:xfrm>
          <a:prstGeom prst="rect">
            <a:avLst/>
          </a:prstGeom>
          <a:noFill/>
          <a:ln>
            <a:noFill/>
          </a:ln>
        </p:spPr>
      </p:pic>
      <p:pic>
        <p:nvPicPr>
          <p:cNvPr id="2054" name="Picture 6" descr="哪些场景最适合部署协作机器人？-看点快报"/>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3797440" y="2146274"/>
            <a:ext cx="4620199" cy="2598863"/>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p:cNvSpPr/>
          <p:nvPr/>
        </p:nvSpPr>
        <p:spPr>
          <a:xfrm>
            <a:off x="5724128" y="4745137"/>
            <a:ext cx="1205880" cy="338554"/>
          </a:xfrm>
          <a:prstGeom prst="rect">
            <a:avLst/>
          </a:prstGeom>
        </p:spPr>
        <p:txBody>
          <a:bodyPr wrap="square">
            <a:spAutoFit/>
          </a:bodyPr>
          <a:lstStyle/>
          <a:p>
            <a:r>
              <a:rPr lang="zh-CN" altLang="zh-CN" sz="1600" dirty="0" smtClean="0">
                <a:ea typeface="等线" panose="02010600030101010101" pitchFamily="2" charset="-122"/>
                <a:cs typeface="Times New Roman" panose="02020603050405020304" pitchFamily="18" charset="0"/>
              </a:rPr>
              <a:t>开环</a:t>
            </a:r>
            <a:r>
              <a:rPr lang="zh-CN" altLang="zh-CN" sz="1600" dirty="0">
                <a:ea typeface="等线" panose="02010600030101010101" pitchFamily="2" charset="-122"/>
                <a:cs typeface="Times New Roman" panose="02020603050405020304" pitchFamily="18" charset="0"/>
              </a:rPr>
              <a:t>机构</a:t>
            </a:r>
            <a:endParaRPr lang="zh-CN" altLang="en-US" sz="1600" dirty="0"/>
          </a:p>
        </p:txBody>
      </p:sp>
      <p:sp>
        <p:nvSpPr>
          <p:cNvPr id="8" name="矩形 7"/>
          <p:cNvSpPr/>
          <p:nvPr/>
        </p:nvSpPr>
        <p:spPr>
          <a:xfrm>
            <a:off x="3727284" y="203209"/>
            <a:ext cx="1651414" cy="400110"/>
          </a:xfrm>
          <a:prstGeom prst="rect">
            <a:avLst/>
          </a:prstGeom>
        </p:spPr>
        <p:txBody>
          <a:bodyPr wrap="none">
            <a:spAutoFit/>
          </a:bodyPr>
          <a:lstStyle/>
          <a:p>
            <a:r>
              <a:rPr lang="en-US" altLang="zh-CN" sz="2000" b="1" dirty="0">
                <a:solidFill>
                  <a:srgbClr val="002060"/>
                </a:solidFill>
                <a:latin typeface="Arial" panose="020B0604020202020204" pitchFamily="34" charset="0"/>
                <a:cs typeface="Arial" panose="020B0604020202020204" pitchFamily="34" charset="0"/>
              </a:rPr>
              <a:t>manipulator</a:t>
            </a:r>
            <a:endParaRPr lang="zh-CN" altLang="en-US" sz="2000" b="1"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5542895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019471" y="357207"/>
            <a:ext cx="4824536" cy="4662815"/>
          </a:xfrm>
          <a:prstGeom prst="rect">
            <a:avLst/>
          </a:prstGeom>
        </p:spPr>
        <p:txBody>
          <a:bodyPr wrap="square">
            <a:spAutoFit/>
          </a:bodyPr>
          <a:lstStyle/>
          <a:p>
            <a:pPr marL="171450" indent="-171450">
              <a:lnSpc>
                <a:spcPct val="150000"/>
              </a:lnSpc>
              <a:buFont typeface="Wingdings" panose="05000000000000000000" pitchFamily="2" charset="2"/>
              <a:buChar char="Ø"/>
            </a:pPr>
            <a:r>
              <a:rPr lang="zh-CN" altLang="en-US" sz="900" dirty="0" smtClean="0">
                <a:solidFill>
                  <a:srgbClr val="FF0000"/>
                </a:solidFill>
                <a:latin typeface="Arial" panose="020B0604020202020204" pitchFamily="34" charset="0"/>
                <a:ea typeface="微软雅黑" panose="020B0503020204020204" charset="-122"/>
                <a:sym typeface="+mn-ea"/>
              </a:rPr>
              <a:t>三自由度串联机械人运动学</a:t>
            </a:r>
            <a:endParaRPr lang="en-US" altLang="zh-CN" sz="900" dirty="0">
              <a:solidFill>
                <a:srgbClr val="FF0000"/>
              </a:solidFill>
              <a:latin typeface="Arial" panose="020B0604020202020204" pitchFamily="34" charset="0"/>
              <a:ea typeface="微软雅黑" panose="020B0503020204020204" charset="-122"/>
              <a:sym typeface="+mn-ea"/>
            </a:endParaRPr>
          </a:p>
          <a:p>
            <a:pPr marL="171450" indent="-171450">
              <a:lnSpc>
                <a:spcPct val="150000"/>
              </a:lnSpc>
              <a:buFont typeface="Wingdings" panose="05000000000000000000" pitchFamily="2" charset="2"/>
              <a:buChar char="Ø"/>
            </a:pPr>
            <a:r>
              <a:rPr lang="en-US" altLang="zh-CN" sz="900" dirty="0" smtClean="0">
                <a:latin typeface="Arial" panose="020B0604020202020204" pitchFamily="34" charset="0"/>
                <a:ea typeface="微软雅黑" panose="020B0503020204020204" charset="-122"/>
                <a:sym typeface="+mn-ea"/>
              </a:rPr>
              <a:t>DH</a:t>
            </a:r>
            <a:r>
              <a:rPr lang="zh-CN" altLang="en-US" sz="900" dirty="0" smtClean="0">
                <a:latin typeface="Arial" panose="020B0604020202020204" pitchFamily="34" charset="0"/>
                <a:ea typeface="微软雅黑" panose="020B0503020204020204" charset="-122"/>
                <a:sym typeface="+mn-ea"/>
              </a:rPr>
              <a:t>表示法</a:t>
            </a:r>
            <a:endParaRPr lang="en-US" altLang="zh-CN" sz="900" dirty="0">
              <a:latin typeface="Arial" panose="020B0604020202020204" pitchFamily="34" charset="0"/>
              <a:ea typeface="微软雅黑" panose="020B0503020204020204" charset="-122"/>
              <a:sym typeface="+mn-ea"/>
            </a:endParaRPr>
          </a:p>
          <a:p>
            <a:pPr marL="171450" indent="-171450">
              <a:lnSpc>
                <a:spcPct val="150000"/>
              </a:lnSpc>
              <a:buFont typeface="Wingdings" panose="05000000000000000000" pitchFamily="2" charset="2"/>
              <a:buChar char="Ø"/>
            </a:pPr>
            <a:r>
              <a:rPr lang="en-US" altLang="zh-CN" sz="900" dirty="0">
                <a:latin typeface="Arial" panose="020B0604020202020204" pitchFamily="34" charset="0"/>
                <a:ea typeface="微软雅黑" panose="020B0503020204020204" charset="-122"/>
                <a:sym typeface="+mn-ea"/>
              </a:rPr>
              <a:t>SCARA</a:t>
            </a:r>
            <a:r>
              <a:rPr lang="zh-CN" altLang="en-US" sz="900" dirty="0">
                <a:latin typeface="Arial" panose="020B0604020202020204" pitchFamily="34" charset="0"/>
                <a:ea typeface="微软雅黑" panose="020B0503020204020204" charset="-122"/>
                <a:sym typeface="+mn-ea"/>
              </a:rPr>
              <a:t>机器人</a:t>
            </a:r>
            <a:r>
              <a:rPr lang="zh-CN" altLang="en-US" sz="900" dirty="0" smtClean="0">
                <a:latin typeface="Arial" panose="020B0604020202020204" pitchFamily="34" charset="0"/>
                <a:ea typeface="微软雅黑" panose="020B0503020204020204" charset="-122"/>
                <a:sym typeface="+mn-ea"/>
              </a:rPr>
              <a:t>运动学</a:t>
            </a:r>
            <a:endParaRPr lang="en-US" altLang="zh-CN" sz="900" dirty="0" smtClean="0">
              <a:latin typeface="Arial" panose="020B0604020202020204" pitchFamily="34" charset="0"/>
              <a:ea typeface="微软雅黑" panose="020B0503020204020204" charset="-122"/>
              <a:sym typeface="+mn-ea"/>
            </a:endParaRPr>
          </a:p>
          <a:p>
            <a:pPr marL="171450" indent="-171450">
              <a:lnSpc>
                <a:spcPct val="150000"/>
              </a:lnSpc>
              <a:buFont typeface="Wingdings" panose="05000000000000000000" pitchFamily="2" charset="2"/>
              <a:buChar char="Ø"/>
            </a:pPr>
            <a:r>
              <a:rPr lang="zh-CN" altLang="en-US" sz="900" dirty="0">
                <a:latin typeface="Arial" panose="020B0604020202020204" pitchFamily="34" charset="0"/>
                <a:ea typeface="微软雅黑" panose="020B0503020204020204" charset="-122"/>
                <a:sym typeface="+mn-ea"/>
              </a:rPr>
              <a:t>机器人腕部</a:t>
            </a:r>
            <a:r>
              <a:rPr lang="zh-CN" altLang="en-US" sz="900" dirty="0" smtClean="0">
                <a:latin typeface="Arial" panose="020B0604020202020204" pitchFamily="34" charset="0"/>
                <a:ea typeface="微软雅黑" panose="020B0503020204020204" charset="-122"/>
                <a:sym typeface="+mn-ea"/>
              </a:rPr>
              <a:t>结构</a:t>
            </a:r>
            <a:endParaRPr lang="en-US" altLang="zh-CN" sz="900" dirty="0" smtClean="0">
              <a:latin typeface="Arial" panose="020B0604020202020204" pitchFamily="34" charset="0"/>
              <a:ea typeface="微软雅黑" panose="020B0503020204020204" charset="-122"/>
              <a:sym typeface="+mn-ea"/>
            </a:endParaRPr>
          </a:p>
          <a:p>
            <a:pPr marL="171450" indent="-171450">
              <a:lnSpc>
                <a:spcPct val="150000"/>
              </a:lnSpc>
              <a:buFont typeface="Wingdings" panose="05000000000000000000" pitchFamily="2" charset="2"/>
              <a:buChar char="Ø"/>
            </a:pPr>
            <a:r>
              <a:rPr lang="zh-CN" altLang="en-US" sz="900" dirty="0">
                <a:latin typeface="Arial" panose="020B0604020202020204" pitchFamily="34" charset="0"/>
                <a:ea typeface="微软雅黑" panose="020B0503020204020204" charset="-122"/>
                <a:sym typeface="+mn-ea"/>
              </a:rPr>
              <a:t>多轴</a:t>
            </a:r>
            <a:r>
              <a:rPr lang="zh-CN" altLang="en-US" sz="900" dirty="0" smtClean="0">
                <a:latin typeface="Arial" panose="020B0604020202020204" pitchFamily="34" charset="0"/>
                <a:ea typeface="微软雅黑" panose="020B0503020204020204" charset="-122"/>
                <a:sym typeface="+mn-ea"/>
              </a:rPr>
              <a:t>串联</a:t>
            </a:r>
            <a:r>
              <a:rPr lang="zh-CN" altLang="en-US" sz="900" dirty="0">
                <a:latin typeface="Arial" panose="020B0604020202020204" pitchFamily="34" charset="0"/>
                <a:ea typeface="微软雅黑" panose="020B0503020204020204" charset="-122"/>
                <a:sym typeface="+mn-ea"/>
              </a:rPr>
              <a:t>机器人</a:t>
            </a:r>
            <a:r>
              <a:rPr lang="zh-CN" altLang="en-US" sz="900" dirty="0" smtClean="0">
                <a:latin typeface="Arial" panose="020B0604020202020204" pitchFamily="34" charset="0"/>
                <a:ea typeface="微软雅黑" panose="020B0503020204020204" charset="-122"/>
                <a:sym typeface="+mn-ea"/>
              </a:rPr>
              <a:t>运动学求解方法分类</a:t>
            </a:r>
            <a:endParaRPr lang="en-US" altLang="zh-CN" sz="900" dirty="0" smtClean="0">
              <a:latin typeface="Arial" panose="020B0604020202020204" pitchFamily="34" charset="0"/>
              <a:ea typeface="微软雅黑" panose="020B0503020204020204" charset="-122"/>
              <a:sym typeface="+mn-ea"/>
            </a:endParaRPr>
          </a:p>
          <a:p>
            <a:pPr marL="171450" indent="-171450">
              <a:lnSpc>
                <a:spcPct val="150000"/>
              </a:lnSpc>
              <a:buFont typeface="Wingdings" panose="05000000000000000000" pitchFamily="2" charset="2"/>
              <a:buChar char="Ø"/>
            </a:pPr>
            <a:r>
              <a:rPr lang="en-US" altLang="zh-CN" sz="900" dirty="0">
                <a:latin typeface="Arial" panose="020B0604020202020204" pitchFamily="34" charset="0"/>
                <a:ea typeface="微软雅黑" panose="020B0503020204020204" charset="-122"/>
                <a:sym typeface="+mn-ea"/>
              </a:rPr>
              <a:t>6R</a:t>
            </a:r>
            <a:r>
              <a:rPr lang="zh-CN" altLang="en-US" sz="900" dirty="0">
                <a:latin typeface="Arial" panose="020B0604020202020204" pitchFamily="34" charset="0"/>
                <a:ea typeface="微软雅黑" panose="020B0503020204020204" charset="-122"/>
                <a:sym typeface="+mn-ea"/>
              </a:rPr>
              <a:t>串联机器人正</a:t>
            </a:r>
            <a:r>
              <a:rPr lang="zh-CN" altLang="en-US" sz="900" dirty="0" smtClean="0">
                <a:latin typeface="Arial" panose="020B0604020202020204" pitchFamily="34" charset="0"/>
                <a:ea typeface="微软雅黑" panose="020B0503020204020204" charset="-122"/>
                <a:sym typeface="+mn-ea"/>
              </a:rPr>
              <a:t>运动学</a:t>
            </a:r>
            <a:endParaRPr lang="en-US" altLang="zh-CN" sz="900" dirty="0" smtClean="0">
              <a:latin typeface="Arial" panose="020B0604020202020204" pitchFamily="34" charset="0"/>
              <a:ea typeface="微软雅黑" panose="020B0503020204020204" charset="-122"/>
              <a:sym typeface="+mn-ea"/>
            </a:endParaRPr>
          </a:p>
          <a:p>
            <a:pPr marL="628650" lvl="1" indent="-171450">
              <a:lnSpc>
                <a:spcPct val="150000"/>
              </a:lnSpc>
              <a:buFont typeface="Wingdings" panose="05000000000000000000" pitchFamily="2" charset="2"/>
              <a:buChar char="Ø"/>
            </a:pPr>
            <a:r>
              <a:rPr lang="en-US" altLang="zh-CN" sz="900" dirty="0">
                <a:latin typeface="Arial" panose="020B0604020202020204" pitchFamily="34" charset="0"/>
                <a:ea typeface="微软雅黑" panose="020B0503020204020204" charset="-122"/>
                <a:sym typeface="+mn-ea"/>
              </a:rPr>
              <a:t>D-H</a:t>
            </a:r>
            <a:r>
              <a:rPr lang="zh-CN" altLang="en-US" sz="900" dirty="0">
                <a:latin typeface="Arial" panose="020B0604020202020204" pitchFamily="34" charset="0"/>
                <a:ea typeface="微软雅黑" panose="020B0503020204020204" charset="-122"/>
                <a:sym typeface="+mn-ea"/>
              </a:rPr>
              <a:t>表示</a:t>
            </a:r>
            <a:r>
              <a:rPr lang="zh-CN" altLang="en-US" sz="900" dirty="0" smtClean="0">
                <a:latin typeface="Arial" panose="020B0604020202020204" pitchFamily="34" charset="0"/>
                <a:ea typeface="微软雅黑" panose="020B0503020204020204" charset="-122"/>
                <a:sym typeface="+mn-ea"/>
              </a:rPr>
              <a:t>法（</a:t>
            </a:r>
            <a:r>
              <a:rPr lang="en-US" altLang="zh-CN" sz="900" dirty="0" smtClean="0">
                <a:latin typeface="Arial" panose="020B0604020202020204" pitchFamily="34" charset="0"/>
                <a:ea typeface="微软雅黑" panose="020B0503020204020204" charset="-122"/>
                <a:sym typeface="+mn-ea"/>
              </a:rPr>
              <a:t>SDH</a:t>
            </a:r>
            <a:r>
              <a:rPr lang="zh-CN" altLang="en-US" sz="900" dirty="0" smtClean="0">
                <a:latin typeface="Arial" panose="020B0604020202020204" pitchFamily="34" charset="0"/>
                <a:ea typeface="微软雅黑" panose="020B0503020204020204" charset="-122"/>
                <a:sym typeface="+mn-ea"/>
              </a:rPr>
              <a:t>、</a:t>
            </a:r>
            <a:r>
              <a:rPr lang="en-US" altLang="zh-CN" sz="900" dirty="0" smtClean="0">
                <a:latin typeface="Arial" panose="020B0604020202020204" pitchFamily="34" charset="0"/>
                <a:ea typeface="微软雅黑" panose="020B0503020204020204" charset="-122"/>
                <a:sym typeface="+mn-ea"/>
              </a:rPr>
              <a:t>MDH</a:t>
            </a:r>
            <a:r>
              <a:rPr lang="zh-CN" altLang="en-US" sz="900" dirty="0" smtClean="0">
                <a:latin typeface="Arial" panose="020B0604020202020204" pitchFamily="34" charset="0"/>
                <a:ea typeface="微软雅黑" panose="020B0503020204020204" charset="-122"/>
                <a:sym typeface="+mn-ea"/>
              </a:rPr>
              <a:t>）</a:t>
            </a:r>
            <a:endParaRPr lang="en-US" altLang="zh-CN" sz="900" dirty="0" smtClean="0">
              <a:latin typeface="Arial" panose="020B0604020202020204" pitchFamily="34" charset="0"/>
              <a:ea typeface="微软雅黑" panose="020B0503020204020204" charset="-122"/>
              <a:sym typeface="+mn-ea"/>
            </a:endParaRPr>
          </a:p>
          <a:p>
            <a:pPr marL="628650" lvl="1" indent="-171450">
              <a:lnSpc>
                <a:spcPct val="150000"/>
              </a:lnSpc>
              <a:buFont typeface="Wingdings" panose="05000000000000000000" pitchFamily="2" charset="2"/>
              <a:buChar char="Ø"/>
            </a:pPr>
            <a:r>
              <a:rPr lang="zh-CN" altLang="en-US" sz="900" dirty="0">
                <a:latin typeface="Arial" panose="020B0604020202020204" pitchFamily="34" charset="0"/>
                <a:ea typeface="微软雅黑" panose="020B0503020204020204" charset="-122"/>
                <a:sym typeface="+mn-ea"/>
              </a:rPr>
              <a:t>旋量法</a:t>
            </a:r>
            <a:endParaRPr lang="en-US" altLang="zh-CN" sz="900" dirty="0">
              <a:latin typeface="Arial" panose="020B0604020202020204" pitchFamily="34" charset="0"/>
              <a:ea typeface="微软雅黑" panose="020B0503020204020204" charset="-122"/>
              <a:sym typeface="+mn-ea"/>
            </a:endParaRPr>
          </a:p>
          <a:p>
            <a:pPr marL="628650" lvl="1" indent="-171450">
              <a:lnSpc>
                <a:spcPct val="150000"/>
              </a:lnSpc>
              <a:buFont typeface="Wingdings" panose="05000000000000000000" pitchFamily="2" charset="2"/>
              <a:buChar char="Ø"/>
            </a:pPr>
            <a:r>
              <a:rPr lang="zh-CN" altLang="en-US" sz="900" dirty="0">
                <a:latin typeface="Arial" panose="020B0604020202020204" pitchFamily="34" charset="0"/>
                <a:ea typeface="微软雅黑" panose="020B0503020204020204" charset="-122"/>
                <a:sym typeface="+mn-ea"/>
              </a:rPr>
              <a:t>四元数</a:t>
            </a:r>
            <a:r>
              <a:rPr lang="zh-CN" altLang="en-US" sz="900" dirty="0" smtClean="0">
                <a:latin typeface="Arial" panose="020B0604020202020204" pitchFamily="34" charset="0"/>
                <a:ea typeface="微软雅黑" panose="020B0503020204020204" charset="-122"/>
                <a:sym typeface="+mn-ea"/>
              </a:rPr>
              <a:t>法</a:t>
            </a:r>
            <a:endParaRPr lang="en-US" altLang="zh-CN" sz="900" dirty="0" smtClean="0">
              <a:latin typeface="Arial" panose="020B0604020202020204" pitchFamily="34" charset="0"/>
              <a:ea typeface="微软雅黑" panose="020B0503020204020204" charset="-122"/>
              <a:sym typeface="+mn-ea"/>
            </a:endParaRPr>
          </a:p>
          <a:p>
            <a:pPr marL="628650" lvl="1" indent="-171450">
              <a:lnSpc>
                <a:spcPct val="150000"/>
              </a:lnSpc>
              <a:buFont typeface="Wingdings" panose="05000000000000000000" pitchFamily="2" charset="2"/>
              <a:buChar char="Ø"/>
            </a:pPr>
            <a:r>
              <a:rPr lang="zh-CN" altLang="en-US" sz="900" dirty="0">
                <a:latin typeface="Arial" panose="020B0604020202020204" pitchFamily="34" charset="0"/>
                <a:ea typeface="微软雅黑" panose="020B0503020204020204" charset="-122"/>
                <a:sym typeface="+mn-ea"/>
              </a:rPr>
              <a:t>对偶四元数</a:t>
            </a:r>
            <a:r>
              <a:rPr lang="zh-CN" altLang="en-US" sz="900" dirty="0" smtClean="0">
                <a:latin typeface="Arial" panose="020B0604020202020204" pitchFamily="34" charset="0"/>
                <a:ea typeface="微软雅黑" panose="020B0503020204020204" charset="-122"/>
                <a:sym typeface="+mn-ea"/>
              </a:rPr>
              <a:t>法</a:t>
            </a:r>
            <a:endParaRPr lang="en-US" altLang="zh-CN" sz="900" dirty="0" smtClean="0">
              <a:latin typeface="Arial" panose="020B0604020202020204" pitchFamily="34" charset="0"/>
              <a:ea typeface="微软雅黑" panose="020B0503020204020204" charset="-122"/>
              <a:sym typeface="+mn-ea"/>
            </a:endParaRPr>
          </a:p>
          <a:p>
            <a:pPr marL="171450" indent="-171450">
              <a:lnSpc>
                <a:spcPct val="150000"/>
              </a:lnSpc>
              <a:buFont typeface="Wingdings" panose="05000000000000000000" pitchFamily="2" charset="2"/>
              <a:buChar char="Ø"/>
            </a:pPr>
            <a:r>
              <a:rPr lang="zh-CN" altLang="en-US" sz="900" dirty="0" smtClean="0">
                <a:latin typeface="Arial" panose="020B0604020202020204" pitchFamily="34" charset="0"/>
                <a:ea typeface="微软雅黑" panose="020B0503020204020204" charset="-122"/>
                <a:sym typeface="+mn-ea"/>
              </a:rPr>
              <a:t>多轴串联</a:t>
            </a:r>
            <a:r>
              <a:rPr lang="zh-CN" altLang="en-US" sz="900" dirty="0">
                <a:latin typeface="Arial" panose="020B0604020202020204" pitchFamily="34" charset="0"/>
                <a:ea typeface="微软雅黑" panose="020B0503020204020204" charset="-122"/>
                <a:sym typeface="+mn-ea"/>
              </a:rPr>
              <a:t>机器人逆</a:t>
            </a:r>
            <a:r>
              <a:rPr lang="zh-CN" altLang="en-US" sz="900" dirty="0" smtClean="0">
                <a:latin typeface="Arial" panose="020B0604020202020204" pitchFamily="34" charset="0"/>
                <a:ea typeface="微软雅黑" panose="020B0503020204020204" charset="-122"/>
                <a:sym typeface="+mn-ea"/>
              </a:rPr>
              <a:t>运动学</a:t>
            </a:r>
            <a:endParaRPr lang="en-US" altLang="zh-CN" sz="900" dirty="0" smtClean="0">
              <a:latin typeface="Arial" panose="020B0604020202020204" pitchFamily="34" charset="0"/>
              <a:ea typeface="微软雅黑" panose="020B0503020204020204" charset="-122"/>
              <a:sym typeface="+mn-ea"/>
            </a:endParaRPr>
          </a:p>
          <a:p>
            <a:pPr marL="628650" lvl="1" indent="-171450">
              <a:lnSpc>
                <a:spcPct val="150000"/>
              </a:lnSpc>
              <a:buFont typeface="Wingdings" panose="05000000000000000000" pitchFamily="2" charset="2"/>
              <a:buChar char="Ø"/>
            </a:pPr>
            <a:r>
              <a:rPr lang="zh-CN" altLang="en-US" sz="900" dirty="0">
                <a:latin typeface="Arial" panose="020B0604020202020204" pitchFamily="34" charset="0"/>
                <a:ea typeface="微软雅黑" panose="020B0503020204020204" charset="-122"/>
                <a:sym typeface="+mn-ea"/>
              </a:rPr>
              <a:t>满足</a:t>
            </a:r>
            <a:r>
              <a:rPr lang="en-US" altLang="zh-CN" sz="900" dirty="0">
                <a:latin typeface="Arial" panose="020B0604020202020204" pitchFamily="34" charset="0"/>
                <a:ea typeface="微软雅黑" panose="020B0503020204020204" charset="-122"/>
                <a:sym typeface="+mn-ea"/>
              </a:rPr>
              <a:t>Pieper</a:t>
            </a:r>
            <a:r>
              <a:rPr lang="zh-CN" altLang="en-US" sz="900" dirty="0">
                <a:latin typeface="Arial" panose="020B0604020202020204" pitchFamily="34" charset="0"/>
                <a:ea typeface="微软雅黑" panose="020B0503020204020204" charset="-122"/>
                <a:sym typeface="+mn-ea"/>
              </a:rPr>
              <a:t>准则的解析解求</a:t>
            </a:r>
            <a:r>
              <a:rPr lang="zh-CN" altLang="en-US" sz="900" dirty="0" smtClean="0">
                <a:latin typeface="Arial" panose="020B0604020202020204" pitchFamily="34" charset="0"/>
                <a:ea typeface="微软雅黑" panose="020B0503020204020204" charset="-122"/>
                <a:sym typeface="+mn-ea"/>
              </a:rPr>
              <a:t>法</a:t>
            </a:r>
            <a:r>
              <a:rPr lang="en-US" altLang="zh-CN" sz="900" dirty="0" smtClean="0">
                <a:latin typeface="Arial" panose="020B0604020202020204" pitchFamily="34" charset="0"/>
                <a:ea typeface="微软雅黑" panose="020B0503020204020204" charset="-122"/>
                <a:sym typeface="+mn-ea"/>
              </a:rPr>
              <a:t>-DH</a:t>
            </a:r>
            <a:r>
              <a:rPr lang="zh-CN" altLang="en-US" sz="900" dirty="0" smtClean="0">
                <a:latin typeface="Arial" panose="020B0604020202020204" pitchFamily="34" charset="0"/>
                <a:ea typeface="微软雅黑" panose="020B0503020204020204" charset="-122"/>
                <a:sym typeface="+mn-ea"/>
              </a:rPr>
              <a:t>表示法求解</a:t>
            </a:r>
            <a:endParaRPr lang="en-US" altLang="zh-CN" sz="900" dirty="0" smtClean="0">
              <a:latin typeface="Arial" panose="020B0604020202020204" pitchFamily="34" charset="0"/>
              <a:ea typeface="微软雅黑" panose="020B0503020204020204" charset="-122"/>
              <a:sym typeface="+mn-ea"/>
            </a:endParaRPr>
          </a:p>
          <a:p>
            <a:pPr marL="628650" lvl="1" indent="-171450">
              <a:lnSpc>
                <a:spcPct val="150000"/>
              </a:lnSpc>
              <a:buFont typeface="Wingdings" panose="05000000000000000000" pitchFamily="2" charset="2"/>
              <a:buChar char="Ø"/>
            </a:pPr>
            <a:r>
              <a:rPr lang="zh-CN" altLang="en-US" sz="900" dirty="0">
                <a:latin typeface="Arial" panose="020B0604020202020204" pitchFamily="34" charset="0"/>
                <a:ea typeface="微软雅黑" panose="020B0503020204020204" charset="-122"/>
                <a:sym typeface="+mn-ea"/>
              </a:rPr>
              <a:t>解析法与几何法的混合求</a:t>
            </a:r>
            <a:r>
              <a:rPr lang="zh-CN" altLang="en-US" sz="900" dirty="0" smtClean="0">
                <a:latin typeface="Arial" panose="020B0604020202020204" pitchFamily="34" charset="0"/>
                <a:ea typeface="微软雅黑" panose="020B0503020204020204" charset="-122"/>
                <a:sym typeface="+mn-ea"/>
              </a:rPr>
              <a:t>法</a:t>
            </a:r>
            <a:endParaRPr lang="en-US" altLang="zh-CN" sz="900" dirty="0" smtClean="0">
              <a:latin typeface="Arial" panose="020B0604020202020204" pitchFamily="34" charset="0"/>
              <a:ea typeface="微软雅黑" panose="020B0503020204020204" charset="-122"/>
              <a:sym typeface="+mn-ea"/>
            </a:endParaRPr>
          </a:p>
          <a:p>
            <a:pPr marL="628650" lvl="1" indent="-171450">
              <a:lnSpc>
                <a:spcPct val="150000"/>
              </a:lnSpc>
              <a:buFont typeface="Wingdings" panose="05000000000000000000" pitchFamily="2" charset="2"/>
              <a:buChar char="Ø"/>
            </a:pPr>
            <a:r>
              <a:rPr lang="zh-CN" altLang="en-US" sz="900" dirty="0">
                <a:latin typeface="Arial" panose="020B0604020202020204" pitchFamily="34" charset="0"/>
                <a:ea typeface="微软雅黑" panose="020B0503020204020204" charset="-122"/>
                <a:sym typeface="+mn-ea"/>
              </a:rPr>
              <a:t>机器人</a:t>
            </a:r>
            <a:r>
              <a:rPr lang="zh-CN" altLang="en-US" sz="900" dirty="0" smtClean="0">
                <a:latin typeface="Arial" panose="020B0604020202020204" pitchFamily="34" charset="0"/>
                <a:ea typeface="微软雅黑" panose="020B0503020204020204" charset="-122"/>
                <a:sym typeface="+mn-ea"/>
              </a:rPr>
              <a:t>雅可比矩阵</a:t>
            </a:r>
            <a:endParaRPr lang="en-US" altLang="zh-CN" sz="900" dirty="0" smtClean="0">
              <a:latin typeface="Arial" panose="020B0604020202020204" pitchFamily="34" charset="0"/>
              <a:ea typeface="微软雅黑" panose="020B0503020204020204" charset="-122"/>
              <a:sym typeface="+mn-ea"/>
            </a:endParaRPr>
          </a:p>
          <a:p>
            <a:pPr marL="628650" lvl="1" indent="-171450">
              <a:lnSpc>
                <a:spcPct val="150000"/>
              </a:lnSpc>
              <a:buFont typeface="Wingdings" panose="05000000000000000000" pitchFamily="2" charset="2"/>
              <a:buChar char="Ø"/>
            </a:pPr>
            <a:r>
              <a:rPr lang="zh-CN" altLang="en-US" sz="900" dirty="0">
                <a:latin typeface="Arial" panose="020B0604020202020204" pitchFamily="34" charset="0"/>
                <a:ea typeface="微软雅黑" panose="020B0503020204020204" charset="-122"/>
                <a:sym typeface="+mn-ea"/>
              </a:rPr>
              <a:t>逆运动学的数值</a:t>
            </a:r>
            <a:r>
              <a:rPr lang="zh-CN" altLang="en-US" sz="900" dirty="0" smtClean="0">
                <a:latin typeface="Arial" panose="020B0604020202020204" pitchFamily="34" charset="0"/>
                <a:ea typeface="微软雅黑" panose="020B0503020204020204" charset="-122"/>
                <a:sym typeface="+mn-ea"/>
              </a:rPr>
              <a:t>求解</a:t>
            </a:r>
            <a:endParaRPr lang="en-US" altLang="zh-CN" sz="900" dirty="0" smtClean="0">
              <a:latin typeface="Arial" panose="020B0604020202020204" pitchFamily="34" charset="0"/>
              <a:ea typeface="微软雅黑" panose="020B0503020204020204" charset="-122"/>
              <a:sym typeface="+mn-ea"/>
            </a:endParaRPr>
          </a:p>
          <a:p>
            <a:pPr marL="1085850" lvl="2" indent="-171450">
              <a:lnSpc>
                <a:spcPct val="150000"/>
              </a:lnSpc>
              <a:buFont typeface="Wingdings" panose="05000000000000000000" pitchFamily="2" charset="2"/>
              <a:buChar char="Ø"/>
            </a:pPr>
            <a:r>
              <a:rPr lang="zh-CN" altLang="en-US" sz="900" dirty="0">
                <a:latin typeface="Arial" panose="020B0604020202020204" pitchFamily="34" charset="0"/>
                <a:ea typeface="微软雅黑" panose="020B0503020204020204" charset="-122"/>
                <a:sym typeface="+mn-ea"/>
              </a:rPr>
              <a:t>雅可比逆矩阵迭代法</a:t>
            </a:r>
            <a:r>
              <a:rPr lang="en-US" altLang="zh-CN" sz="900" dirty="0">
                <a:latin typeface="Arial" panose="020B0604020202020204" pitchFamily="34" charset="0"/>
                <a:ea typeface="微软雅黑" panose="020B0503020204020204" charset="-122"/>
                <a:sym typeface="+mn-ea"/>
              </a:rPr>
              <a:t>(Jacobian Inverse Method)</a:t>
            </a:r>
          </a:p>
          <a:p>
            <a:pPr marL="1085850" lvl="2" indent="-171450">
              <a:lnSpc>
                <a:spcPct val="150000"/>
              </a:lnSpc>
              <a:buFont typeface="Wingdings" panose="05000000000000000000" pitchFamily="2" charset="2"/>
              <a:buChar char="Ø"/>
            </a:pPr>
            <a:r>
              <a:rPr lang="zh-CN" altLang="en-US" sz="900" dirty="0">
                <a:latin typeface="Arial" panose="020B0604020202020204" pitchFamily="34" charset="0"/>
                <a:ea typeface="微软雅黑" panose="020B0503020204020204" charset="-122"/>
                <a:sym typeface="+mn-ea"/>
              </a:rPr>
              <a:t>雅可比转置矩阵迭代法</a:t>
            </a:r>
            <a:r>
              <a:rPr lang="en-US" altLang="zh-CN" sz="900" dirty="0">
                <a:latin typeface="Arial" panose="020B0604020202020204" pitchFamily="34" charset="0"/>
                <a:ea typeface="微软雅黑" panose="020B0503020204020204" charset="-122"/>
                <a:sym typeface="+mn-ea"/>
              </a:rPr>
              <a:t>(Jacobian Transpose Method)</a:t>
            </a:r>
          </a:p>
          <a:p>
            <a:pPr marL="1085850" lvl="2" indent="-171450">
              <a:lnSpc>
                <a:spcPct val="150000"/>
              </a:lnSpc>
              <a:buFont typeface="Wingdings" panose="05000000000000000000" pitchFamily="2" charset="2"/>
              <a:buChar char="Ø"/>
            </a:pPr>
            <a:r>
              <a:rPr lang="zh-CN" altLang="en-US" sz="900" dirty="0">
                <a:latin typeface="Arial" panose="020B0604020202020204" pitchFamily="34" charset="0"/>
                <a:ea typeface="微软雅黑" panose="020B0503020204020204" charset="-122"/>
                <a:sym typeface="+mn-ea"/>
              </a:rPr>
              <a:t>雅可比伪逆矩阵迭代法</a:t>
            </a:r>
            <a:r>
              <a:rPr lang="en-US" altLang="zh-CN" sz="900" dirty="0">
                <a:latin typeface="Arial" panose="020B0604020202020204" pitchFamily="34" charset="0"/>
                <a:ea typeface="微软雅黑" panose="020B0503020204020204" charset="-122"/>
                <a:sym typeface="+mn-ea"/>
              </a:rPr>
              <a:t>(Jacobian Pseudo Inverse Method</a:t>
            </a:r>
            <a:r>
              <a:rPr lang="en-US" altLang="zh-CN" sz="900" dirty="0" smtClean="0">
                <a:latin typeface="Arial" panose="020B0604020202020204" pitchFamily="34" charset="0"/>
                <a:ea typeface="微软雅黑" panose="020B0503020204020204" charset="-122"/>
                <a:sym typeface="+mn-ea"/>
              </a:rPr>
              <a:t>)</a:t>
            </a:r>
          </a:p>
          <a:p>
            <a:pPr marL="171450" indent="-171450">
              <a:lnSpc>
                <a:spcPct val="150000"/>
              </a:lnSpc>
              <a:buFont typeface="Wingdings" panose="05000000000000000000" pitchFamily="2" charset="2"/>
              <a:buChar char="Ø"/>
            </a:pPr>
            <a:r>
              <a:rPr lang="zh-CN" altLang="en-US" sz="900" dirty="0">
                <a:latin typeface="Arial" panose="020B0604020202020204" pitchFamily="34" charset="0"/>
                <a:ea typeface="微软雅黑" panose="020B0503020204020204" charset="-122"/>
                <a:sym typeface="+mn-ea"/>
              </a:rPr>
              <a:t>速度与</a:t>
            </a:r>
            <a:r>
              <a:rPr lang="zh-CN" altLang="en-US" sz="900" dirty="0" smtClean="0">
                <a:latin typeface="Arial" panose="020B0604020202020204" pitchFamily="34" charset="0"/>
                <a:ea typeface="微软雅黑" panose="020B0503020204020204" charset="-122"/>
                <a:sym typeface="+mn-ea"/>
              </a:rPr>
              <a:t>静力学</a:t>
            </a:r>
            <a:endParaRPr lang="en-US" altLang="zh-CN" sz="900" dirty="0" smtClean="0">
              <a:latin typeface="Arial" panose="020B0604020202020204" pitchFamily="34" charset="0"/>
              <a:ea typeface="微软雅黑" panose="020B0503020204020204" charset="-122"/>
              <a:sym typeface="+mn-ea"/>
            </a:endParaRPr>
          </a:p>
          <a:p>
            <a:pPr marL="171450" indent="-171450">
              <a:lnSpc>
                <a:spcPct val="150000"/>
              </a:lnSpc>
              <a:buFont typeface="Wingdings" panose="05000000000000000000" pitchFamily="2" charset="2"/>
              <a:buChar char="Ø"/>
            </a:pPr>
            <a:r>
              <a:rPr lang="zh-CN" altLang="en-US" sz="900" dirty="0">
                <a:latin typeface="Arial" panose="020B0604020202020204" pitchFamily="34" charset="0"/>
                <a:ea typeface="微软雅黑" panose="020B0503020204020204" charset="-122"/>
                <a:sym typeface="+mn-ea"/>
              </a:rPr>
              <a:t>奇异性</a:t>
            </a:r>
            <a:r>
              <a:rPr lang="zh-CN" altLang="en-US" sz="900" dirty="0" smtClean="0">
                <a:latin typeface="Arial" panose="020B0604020202020204" pitchFamily="34" charset="0"/>
                <a:ea typeface="微软雅黑" panose="020B0503020204020204" charset="-122"/>
                <a:sym typeface="+mn-ea"/>
              </a:rPr>
              <a:t>分析</a:t>
            </a:r>
            <a:endParaRPr lang="en-US" altLang="zh-CN" sz="900" dirty="0" smtClean="0">
              <a:latin typeface="Arial" panose="020B0604020202020204" pitchFamily="34" charset="0"/>
              <a:ea typeface="微软雅黑" panose="020B0503020204020204" charset="-122"/>
              <a:sym typeface="+mn-ea"/>
            </a:endParaRPr>
          </a:p>
          <a:p>
            <a:pPr marL="171450" indent="-171450">
              <a:lnSpc>
                <a:spcPct val="150000"/>
              </a:lnSpc>
              <a:buFont typeface="Wingdings" panose="05000000000000000000" pitchFamily="2" charset="2"/>
              <a:buChar char="Ø"/>
            </a:pPr>
            <a:r>
              <a:rPr lang="zh-CN" altLang="en-US" sz="900" dirty="0" smtClean="0">
                <a:latin typeface="Arial" panose="020B0604020202020204" pitchFamily="34" charset="0"/>
                <a:ea typeface="微软雅黑" panose="020B0503020204020204" charset="-122"/>
                <a:sym typeface="+mn-ea"/>
              </a:rPr>
              <a:t>工作空间分析</a:t>
            </a:r>
            <a:endParaRPr lang="en-US" altLang="zh-CN" sz="900" dirty="0" smtClean="0">
              <a:latin typeface="Arial" panose="020B0604020202020204" pitchFamily="34" charset="0"/>
              <a:ea typeface="微软雅黑" panose="020B0503020204020204" charset="-122"/>
              <a:sym typeface="+mn-ea"/>
            </a:endParaRPr>
          </a:p>
          <a:p>
            <a:pPr marL="171450" indent="-171450">
              <a:lnSpc>
                <a:spcPct val="150000"/>
              </a:lnSpc>
              <a:buFont typeface="Wingdings" panose="05000000000000000000" pitchFamily="2" charset="2"/>
              <a:buChar char="Ø"/>
            </a:pPr>
            <a:r>
              <a:rPr lang="zh-CN" altLang="en-US" sz="900" dirty="0" smtClean="0">
                <a:latin typeface="Arial" panose="020B0604020202020204" pitchFamily="34" charset="0"/>
                <a:ea typeface="微软雅黑" panose="020B0503020204020204" charset="-122"/>
                <a:sym typeface="+mn-ea"/>
              </a:rPr>
              <a:t>并联机器人运动学</a:t>
            </a:r>
            <a:endParaRPr lang="en-US" altLang="zh-CN" sz="900" dirty="0">
              <a:latin typeface="Arial" panose="020B0604020202020204" pitchFamily="34" charset="0"/>
              <a:ea typeface="微软雅黑" panose="020B0503020204020204" charset="-122"/>
              <a:sym typeface="+mn-ea"/>
            </a:endParaRPr>
          </a:p>
        </p:txBody>
      </p:sp>
      <p:sp>
        <p:nvSpPr>
          <p:cNvPr id="7" name="文本框 6"/>
          <p:cNvSpPr txBox="1"/>
          <p:nvPr/>
        </p:nvSpPr>
        <p:spPr>
          <a:xfrm>
            <a:off x="807337" y="426318"/>
            <a:ext cx="3335655" cy="461665"/>
          </a:xfrm>
          <a:prstGeom prst="rect">
            <a:avLst/>
          </a:prstGeom>
          <a:noFill/>
        </p:spPr>
        <p:txBody>
          <a:bodyPr wrap="square" rtlCol="0" anchor="t">
            <a:spAutoFit/>
          </a:bodyPr>
          <a:lstStyle/>
          <a:p>
            <a:pPr algn="l"/>
            <a:r>
              <a:rPr lang="zh-CN" altLang="en-US" sz="2400" b="1" dirty="0" smtClean="0">
                <a:latin typeface="Arial" panose="020B0604020202020204" pitchFamily="34" charset="0"/>
                <a:ea typeface="微软雅黑" panose="020B0503020204020204" charset="-122"/>
                <a:sym typeface="+mn-ea"/>
              </a:rPr>
              <a:t>工业机器人运动学</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00</a:t>
            </a:r>
            <a:endParaRPr lang="en-US" altLang="zh-CN" sz="6600" b="1" dirty="0">
              <a:solidFill>
                <a:schemeClr val="bg1"/>
              </a:solidFill>
              <a:latin typeface="微软雅黑" panose="020B0503020204020204" charset="-122"/>
              <a:ea typeface="微软雅黑" panose="020B0503020204020204" charset="-122"/>
              <a:sym typeface="+mn-ea"/>
            </a:endParaRPr>
          </a:p>
        </p:txBody>
      </p:sp>
      <p:pic>
        <p:nvPicPr>
          <p:cNvPr id="4" name="图片 3"/>
          <p:cNvPicPr>
            <a:picLocks noChangeAspect="1"/>
          </p:cNvPicPr>
          <p:nvPr/>
        </p:nvPicPr>
        <p:blipFill>
          <a:blip r:embed="rId3"/>
          <a:stretch>
            <a:fillRect/>
          </a:stretch>
        </p:blipFill>
        <p:spPr>
          <a:xfrm>
            <a:off x="6552220" y="726938"/>
            <a:ext cx="1732794" cy="1845413"/>
          </a:xfrm>
          <a:prstGeom prst="rect">
            <a:avLst/>
          </a:prstGeom>
        </p:spPr>
      </p:pic>
    </p:spTree>
    <p:extLst>
      <p:ext uri="{BB962C8B-B14F-4D97-AF65-F5344CB8AC3E}">
        <p14:creationId xmlns:p14="http://schemas.microsoft.com/office/powerpoint/2010/main" val="157902537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p:cNvSpPr txBox="1"/>
          <p:nvPr/>
        </p:nvSpPr>
        <p:spPr>
          <a:xfrm>
            <a:off x="4283968" y="1491630"/>
            <a:ext cx="3335655" cy="461665"/>
          </a:xfrm>
          <a:prstGeom prst="rect">
            <a:avLst/>
          </a:prstGeom>
          <a:noFill/>
        </p:spPr>
        <p:txBody>
          <a:bodyPr wrap="square" rtlCol="0" anchor="t">
            <a:spAutoFit/>
          </a:bodyPr>
          <a:lstStyle/>
          <a:p>
            <a:r>
              <a:rPr lang="en-US" altLang="zh-CN" sz="2400" b="1" dirty="0" smtClean="0">
                <a:latin typeface="Arial" panose="020B0604020202020204" pitchFamily="34" charset="0"/>
                <a:ea typeface="微软雅黑" panose="020B0503020204020204" charset="-122"/>
                <a:sym typeface="+mn-ea"/>
              </a:rPr>
              <a:t>3.1 </a:t>
            </a:r>
            <a:r>
              <a:rPr lang="zh-CN" altLang="en-US" sz="2400" b="1" dirty="0" smtClean="0">
                <a:latin typeface="Arial" panose="020B0604020202020204" pitchFamily="34" charset="0"/>
                <a:ea typeface="微软雅黑" panose="020B0503020204020204" charset="-122"/>
                <a:sym typeface="+mn-ea"/>
              </a:rPr>
              <a:t>串联</a:t>
            </a:r>
            <a:r>
              <a:rPr lang="zh-CN" altLang="en-US" sz="2400" b="1" dirty="0">
                <a:latin typeface="Arial" panose="020B0604020202020204" pitchFamily="34" charset="0"/>
                <a:ea typeface="微软雅黑" panose="020B0503020204020204" charset="-122"/>
                <a:sym typeface="+mn-ea"/>
              </a:rPr>
              <a:t>机器臂运动学</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a:solidFill>
                  <a:schemeClr val="bg1"/>
                </a:solidFill>
                <a:latin typeface="微软雅黑" panose="020B0503020204020204" charset="-122"/>
                <a:ea typeface="微软雅黑" panose="020B0503020204020204" charset="-122"/>
                <a:sym typeface="+mn-ea"/>
              </a:rPr>
              <a:t>01</a:t>
            </a:r>
          </a:p>
        </p:txBody>
      </p:sp>
      <p:sp>
        <p:nvSpPr>
          <p:cNvPr id="8" name="矩形 7"/>
          <p:cNvSpPr/>
          <p:nvPr/>
        </p:nvSpPr>
        <p:spPr>
          <a:xfrm>
            <a:off x="4283968" y="2013600"/>
            <a:ext cx="4357186" cy="1754326"/>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串联机器人可以用一个开环关节链进行建模</a:t>
            </a:r>
            <a:r>
              <a:rPr lang="en-US" altLang="zh-CN" sz="1200" dirty="0">
                <a:latin typeface="Arial" panose="020B0604020202020204" pitchFamily="34" charset="0"/>
                <a:ea typeface="微软雅黑" panose="020B0503020204020204" charset="-122"/>
                <a:sym typeface="+mn-ea"/>
              </a:rPr>
              <a:t>: </a:t>
            </a:r>
          </a:p>
          <a:p>
            <a:pPr marL="228600" indent="-228600">
              <a:lnSpc>
                <a:spcPct val="150000"/>
              </a:lnSpc>
              <a:buFont typeface="+mj-ea"/>
              <a:buAutoNum type="circleNumDbPlain"/>
            </a:pPr>
            <a:r>
              <a:rPr lang="zh-CN" altLang="en-US" sz="1200" dirty="0" smtClean="0">
                <a:latin typeface="Arial" panose="020B0604020202020204" pitchFamily="34" charset="0"/>
                <a:ea typeface="微软雅黑" panose="020B0503020204020204" charset="-122"/>
                <a:sym typeface="+mn-ea"/>
              </a:rPr>
              <a:t>由</a:t>
            </a:r>
            <a:r>
              <a:rPr lang="zh-CN" altLang="en-US" sz="1200" dirty="0">
                <a:latin typeface="Arial" panose="020B0604020202020204" pitchFamily="34" charset="0"/>
                <a:ea typeface="微软雅黑" panose="020B0503020204020204" charset="-122"/>
                <a:sym typeface="+mn-ea"/>
              </a:rPr>
              <a:t>数个驱动器驱动的转动或移动关节串联而成；</a:t>
            </a:r>
          </a:p>
          <a:p>
            <a:pPr marL="228600" indent="-228600">
              <a:lnSpc>
                <a:spcPct val="150000"/>
              </a:lnSpc>
              <a:buFont typeface="+mj-ea"/>
              <a:buAutoNum type="circleNumDbPlain"/>
            </a:pPr>
            <a:r>
              <a:rPr lang="zh-CN" altLang="en-US" sz="1200" dirty="0" smtClean="0">
                <a:latin typeface="Arial" panose="020B0604020202020204" pitchFamily="34" charset="0"/>
                <a:ea typeface="微软雅黑" panose="020B0503020204020204" charset="-122"/>
                <a:sym typeface="+mn-ea"/>
              </a:rPr>
              <a:t>一端</a:t>
            </a:r>
            <a:r>
              <a:rPr lang="zh-CN" altLang="en-US" sz="1200" dirty="0">
                <a:latin typeface="Arial" panose="020B0604020202020204" pitchFamily="34" charset="0"/>
                <a:ea typeface="微软雅黑" panose="020B0503020204020204" charset="-122"/>
                <a:sym typeface="+mn-ea"/>
              </a:rPr>
              <a:t>固定在基座上，另一端是自由的，安装工具（末端执行器），用以操纵物体，或完成各种任务；</a:t>
            </a:r>
          </a:p>
          <a:p>
            <a:pPr marL="228600" indent="-228600">
              <a:lnSpc>
                <a:spcPct val="150000"/>
              </a:lnSpc>
              <a:buFont typeface="+mj-ea"/>
              <a:buAutoNum type="circleNumDbPlain"/>
            </a:pPr>
            <a:r>
              <a:rPr lang="zh-CN" altLang="en-US" sz="1200" dirty="0" smtClean="0">
                <a:latin typeface="Arial" panose="020B0604020202020204" pitchFamily="34" charset="0"/>
                <a:ea typeface="微软雅黑" panose="020B0503020204020204" charset="-122"/>
                <a:sym typeface="+mn-ea"/>
              </a:rPr>
              <a:t>关节</a:t>
            </a:r>
            <a:r>
              <a:rPr lang="zh-CN" altLang="en-US" sz="1200" dirty="0">
                <a:latin typeface="Arial" panose="020B0604020202020204" pitchFamily="34" charset="0"/>
                <a:ea typeface="微软雅黑" panose="020B0503020204020204" charset="-122"/>
                <a:sym typeface="+mn-ea"/>
              </a:rPr>
              <a:t>的相对运动导致杆件的运动，使末端执行器定位于所需要的方位上。</a:t>
            </a:r>
            <a:endParaRPr lang="en-US" altLang="zh-CN" sz="1200" dirty="0">
              <a:latin typeface="Arial" panose="020B0604020202020204" pitchFamily="34" charset="0"/>
              <a:ea typeface="微软雅黑" panose="020B0503020204020204" charset="-122"/>
              <a:sym typeface="+mn-ea"/>
            </a:endParaRPr>
          </a:p>
        </p:txBody>
      </p:sp>
      <p:sp>
        <p:nvSpPr>
          <p:cNvPr id="4" name="矩形 3"/>
          <p:cNvSpPr/>
          <p:nvPr/>
        </p:nvSpPr>
        <p:spPr>
          <a:xfrm>
            <a:off x="1162039" y="4484324"/>
            <a:ext cx="7226385" cy="369332"/>
          </a:xfrm>
          <a:prstGeom prst="rect">
            <a:avLst/>
          </a:prstGeom>
        </p:spPr>
        <p:txBody>
          <a:bodyPr wrap="square">
            <a:spAutoFit/>
          </a:bodyPr>
          <a:lstStyle/>
          <a:p>
            <a:r>
              <a:rPr lang="zh-CN" altLang="en-US" b="1" dirty="0">
                <a:solidFill>
                  <a:srgbClr val="FF0000"/>
                </a:solidFill>
              </a:rPr>
              <a:t>平面</a:t>
            </a:r>
            <a:r>
              <a:rPr lang="en-US" altLang="zh-CN" b="1" dirty="0">
                <a:solidFill>
                  <a:srgbClr val="FF0000"/>
                </a:solidFill>
              </a:rPr>
              <a:t>2</a:t>
            </a:r>
            <a:r>
              <a:rPr lang="zh-CN" altLang="en-US" b="1" dirty="0">
                <a:solidFill>
                  <a:srgbClr val="FF0000"/>
                </a:solidFill>
              </a:rPr>
              <a:t>自由度</a:t>
            </a:r>
            <a:r>
              <a:rPr lang="en-US" altLang="zh-CN" b="1" dirty="0">
                <a:solidFill>
                  <a:srgbClr val="FF0000"/>
                </a:solidFill>
              </a:rPr>
              <a:t>-&gt;</a:t>
            </a:r>
            <a:r>
              <a:rPr lang="zh-CN" altLang="en-US" b="1" dirty="0">
                <a:solidFill>
                  <a:srgbClr val="FF0000"/>
                </a:solidFill>
              </a:rPr>
              <a:t>空间</a:t>
            </a:r>
            <a:r>
              <a:rPr lang="en-US" altLang="zh-CN" b="1" dirty="0">
                <a:solidFill>
                  <a:srgbClr val="FF0000"/>
                </a:solidFill>
              </a:rPr>
              <a:t>3</a:t>
            </a:r>
            <a:r>
              <a:rPr lang="zh-CN" altLang="en-US" b="1" dirty="0">
                <a:solidFill>
                  <a:srgbClr val="FF0000"/>
                </a:solidFill>
              </a:rPr>
              <a:t>自由度机器人</a:t>
            </a:r>
            <a:r>
              <a:rPr lang="en-US" altLang="zh-CN" b="1" dirty="0">
                <a:solidFill>
                  <a:srgbClr val="FF0000"/>
                </a:solidFill>
              </a:rPr>
              <a:t>-&gt;</a:t>
            </a:r>
            <a:r>
              <a:rPr lang="zh-CN" altLang="en-US" b="1" dirty="0">
                <a:solidFill>
                  <a:srgbClr val="FF0000"/>
                </a:solidFill>
              </a:rPr>
              <a:t>通用</a:t>
            </a:r>
            <a:r>
              <a:rPr lang="en-US" altLang="zh-CN" b="1" dirty="0">
                <a:solidFill>
                  <a:srgbClr val="FF0000"/>
                </a:solidFill>
              </a:rPr>
              <a:t>6</a:t>
            </a:r>
            <a:r>
              <a:rPr lang="zh-CN" altLang="en-US" b="1" dirty="0">
                <a:solidFill>
                  <a:srgbClr val="FF0000"/>
                </a:solidFill>
              </a:rPr>
              <a:t>轴机器人</a:t>
            </a:r>
            <a:r>
              <a:rPr lang="en-US" altLang="zh-CN" b="1" dirty="0">
                <a:solidFill>
                  <a:srgbClr val="FF0000"/>
                </a:solidFill>
              </a:rPr>
              <a:t>-&gt;n</a:t>
            </a:r>
            <a:r>
              <a:rPr lang="zh-CN" altLang="en-US" b="1" dirty="0">
                <a:solidFill>
                  <a:srgbClr val="FF0000"/>
                </a:solidFill>
              </a:rPr>
              <a:t>自由度机器人</a:t>
            </a:r>
          </a:p>
        </p:txBody>
      </p:sp>
    </p:spTree>
    <p:extLst>
      <p:ext uri="{BB962C8B-B14F-4D97-AF65-F5344CB8AC3E}">
        <p14:creationId xmlns:p14="http://schemas.microsoft.com/office/powerpoint/2010/main" val="157309139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699792" y="267494"/>
            <a:ext cx="4125551" cy="4396241"/>
          </a:xfrm>
          <a:prstGeom prst="rect">
            <a:avLst/>
          </a:prstGeom>
        </p:spPr>
      </p:pic>
      <p:sp>
        <p:nvSpPr>
          <p:cNvPr id="3" name="矩形 2"/>
          <p:cNvSpPr/>
          <p:nvPr/>
        </p:nvSpPr>
        <p:spPr>
          <a:xfrm>
            <a:off x="2699792" y="4756808"/>
            <a:ext cx="4339650" cy="369332"/>
          </a:xfrm>
          <a:prstGeom prst="rect">
            <a:avLst/>
          </a:prstGeom>
        </p:spPr>
        <p:txBody>
          <a:bodyPr wrap="none">
            <a:spAutoFit/>
          </a:bodyPr>
          <a:lstStyle/>
          <a:p>
            <a:r>
              <a:rPr lang="zh-CN" altLang="zh-CN" dirty="0">
                <a:ea typeface="等线" panose="02010600030101010101" pitchFamily="2" charset="-122"/>
                <a:cs typeface="Times New Roman" panose="02020603050405020304" pitchFamily="18" charset="0"/>
              </a:rPr>
              <a:t>串联机械臂坐标系及末端执行器位姿描述</a:t>
            </a:r>
            <a:endParaRPr lang="zh-CN" altLang="en-US" dirty="0"/>
          </a:p>
        </p:txBody>
      </p:sp>
      <p:grpSp>
        <p:nvGrpSpPr>
          <p:cNvPr id="8" name="组合 7"/>
          <p:cNvGrpSpPr/>
          <p:nvPr/>
        </p:nvGrpSpPr>
        <p:grpSpPr>
          <a:xfrm>
            <a:off x="-236220" y="219075"/>
            <a:ext cx="5153660" cy="598805"/>
            <a:chOff x="-372" y="345"/>
            <a:chExt cx="8116" cy="943"/>
          </a:xfrm>
        </p:grpSpPr>
        <p:sp>
          <p:nvSpPr>
            <p:cNvPr id="9" name="矩形 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Kinematics of Serial Manipulators</a:t>
              </a:r>
            </a:p>
          </p:txBody>
        </p:sp>
        <p:sp>
          <p:nvSpPr>
            <p:cNvPr id="10" name="文本框 9"/>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串联机器臂运动学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1" name="椭圆 1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7097971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36220" y="219075"/>
            <a:ext cx="5153660" cy="598805"/>
            <a:chOff x="-372" y="345"/>
            <a:chExt cx="8116" cy="943"/>
          </a:xfrm>
        </p:grpSpPr>
        <p:sp>
          <p:nvSpPr>
            <p:cNvPr id="9" name="矩形 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Kinematics of Serial Manipulators</a:t>
              </a:r>
            </a:p>
          </p:txBody>
        </p:sp>
        <p:sp>
          <p:nvSpPr>
            <p:cNvPr id="10" name="文本框 9"/>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串联机器臂运动学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1" name="椭圆 1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2" name="图片 11"/>
          <p:cNvPicPr/>
          <p:nvPr/>
        </p:nvPicPr>
        <p:blipFill>
          <a:blip r:embed="rId3">
            <a:extLst>
              <a:ext uri="{28A0092B-C50C-407E-A947-70E740481C1C}">
                <a14:useLocalDpi xmlns:a14="http://schemas.microsoft.com/office/drawing/2010/main" val="0"/>
              </a:ext>
            </a:extLst>
          </a:blip>
          <a:srcRect/>
          <a:stretch>
            <a:fillRect/>
          </a:stretch>
        </p:blipFill>
        <p:spPr bwMode="auto">
          <a:xfrm>
            <a:off x="1517963" y="1570467"/>
            <a:ext cx="2561590" cy="2296160"/>
          </a:xfrm>
          <a:prstGeom prst="rect">
            <a:avLst/>
          </a:prstGeom>
          <a:noFill/>
        </p:spPr>
      </p:pic>
      <p:pic>
        <p:nvPicPr>
          <p:cNvPr id="13" name="图片 12"/>
          <p:cNvPicPr/>
          <p:nvPr/>
        </p:nvPicPr>
        <p:blipFill>
          <a:blip r:embed="rId4">
            <a:extLst>
              <a:ext uri="{28A0092B-C50C-407E-A947-70E740481C1C}">
                <a14:useLocalDpi xmlns:a14="http://schemas.microsoft.com/office/drawing/2010/main" val="0"/>
              </a:ext>
            </a:extLst>
          </a:blip>
          <a:srcRect/>
          <a:stretch>
            <a:fillRect/>
          </a:stretch>
        </p:blipFill>
        <p:spPr bwMode="auto">
          <a:xfrm>
            <a:off x="5379390" y="1407929"/>
            <a:ext cx="818515" cy="659765"/>
          </a:xfrm>
          <a:prstGeom prst="rect">
            <a:avLst/>
          </a:prstGeom>
          <a:noFill/>
          <a:ln>
            <a:noFill/>
          </a:ln>
          <a:effectLst/>
        </p:spPr>
      </p:pic>
      <p:pic>
        <p:nvPicPr>
          <p:cNvPr id="14" name="图片 13"/>
          <p:cNvPicPr/>
          <p:nvPr/>
        </p:nvPicPr>
        <p:blipFill>
          <a:blip r:embed="rId5">
            <a:extLst>
              <a:ext uri="{28A0092B-C50C-407E-A947-70E740481C1C}">
                <a14:useLocalDpi xmlns:a14="http://schemas.microsoft.com/office/drawing/2010/main" val="0"/>
              </a:ext>
            </a:extLst>
          </a:blip>
          <a:srcRect/>
          <a:stretch>
            <a:fillRect/>
          </a:stretch>
        </p:blipFill>
        <p:spPr bwMode="auto">
          <a:xfrm>
            <a:off x="5379390" y="2103626"/>
            <a:ext cx="889000" cy="612140"/>
          </a:xfrm>
          <a:prstGeom prst="rect">
            <a:avLst/>
          </a:prstGeom>
          <a:noFill/>
          <a:ln>
            <a:noFill/>
          </a:ln>
          <a:effectLst/>
        </p:spPr>
      </p:pic>
      <p:pic>
        <p:nvPicPr>
          <p:cNvPr id="15" name="图片 14"/>
          <p:cNvPicPr/>
          <p:nvPr/>
        </p:nvPicPr>
        <p:blipFill>
          <a:blip r:embed="rId6">
            <a:extLst>
              <a:ext uri="{28A0092B-C50C-407E-A947-70E740481C1C}">
                <a14:useLocalDpi xmlns:a14="http://schemas.microsoft.com/office/drawing/2010/main" val="0"/>
              </a:ext>
            </a:extLst>
          </a:blip>
          <a:srcRect/>
          <a:stretch>
            <a:fillRect/>
          </a:stretch>
        </p:blipFill>
        <p:spPr bwMode="auto">
          <a:xfrm>
            <a:off x="4566862" y="3205920"/>
            <a:ext cx="2782570" cy="222250"/>
          </a:xfrm>
          <a:prstGeom prst="rect">
            <a:avLst/>
          </a:prstGeom>
          <a:noFill/>
          <a:ln>
            <a:noFill/>
          </a:ln>
          <a:effectLst/>
        </p:spPr>
      </p:pic>
      <p:pic>
        <p:nvPicPr>
          <p:cNvPr id="16" name="图片 15"/>
          <p:cNvPicPr/>
          <p:nvPr/>
        </p:nvPicPr>
        <p:blipFill>
          <a:blip r:embed="rId7">
            <a:extLst>
              <a:ext uri="{28A0092B-C50C-407E-A947-70E740481C1C}">
                <a14:useLocalDpi xmlns:a14="http://schemas.microsoft.com/office/drawing/2010/main" val="0"/>
              </a:ext>
            </a:extLst>
          </a:blip>
          <a:srcRect/>
          <a:stretch>
            <a:fillRect/>
          </a:stretch>
        </p:blipFill>
        <p:spPr bwMode="auto">
          <a:xfrm>
            <a:off x="4572000" y="2853716"/>
            <a:ext cx="2941955" cy="238125"/>
          </a:xfrm>
          <a:prstGeom prst="rect">
            <a:avLst/>
          </a:prstGeom>
          <a:noFill/>
          <a:ln>
            <a:noFill/>
          </a:ln>
          <a:effectLst/>
        </p:spPr>
      </p:pic>
      <p:pic>
        <p:nvPicPr>
          <p:cNvPr id="17" name="图片 16"/>
          <p:cNvPicPr/>
          <p:nvPr/>
        </p:nvPicPr>
        <p:blipFill>
          <a:blip r:embed="rId8">
            <a:extLst>
              <a:ext uri="{28A0092B-C50C-407E-A947-70E740481C1C}">
                <a14:useLocalDpi xmlns:a14="http://schemas.microsoft.com/office/drawing/2010/main" val="0"/>
              </a:ext>
            </a:extLst>
          </a:blip>
          <a:srcRect/>
          <a:stretch>
            <a:fillRect/>
          </a:stretch>
        </p:blipFill>
        <p:spPr bwMode="auto">
          <a:xfrm>
            <a:off x="5168587" y="4168288"/>
            <a:ext cx="1579120" cy="335490"/>
          </a:xfrm>
          <a:prstGeom prst="rect">
            <a:avLst/>
          </a:prstGeom>
          <a:noFill/>
          <a:ln>
            <a:noFill/>
          </a:ln>
          <a:effectLst/>
        </p:spPr>
      </p:pic>
      <p:sp>
        <p:nvSpPr>
          <p:cNvPr id="4" name="文本框 3"/>
          <p:cNvSpPr txBox="1"/>
          <p:nvPr/>
        </p:nvSpPr>
        <p:spPr>
          <a:xfrm>
            <a:off x="3030291" y="4146634"/>
            <a:ext cx="2098523" cy="369332"/>
          </a:xfrm>
          <a:prstGeom prst="rect">
            <a:avLst/>
          </a:prstGeom>
          <a:noFill/>
        </p:spPr>
        <p:txBody>
          <a:bodyPr wrap="none" rtlCol="0">
            <a:spAutoFit/>
          </a:bodyPr>
          <a:lstStyle/>
          <a:p>
            <a:r>
              <a:rPr lang="en-US" altLang="zh-CN" dirty="0" smtClean="0"/>
              <a:t>Forward Kinematics:</a:t>
            </a:r>
            <a:endParaRPr lang="zh-CN" altLang="en-US" dirty="0"/>
          </a:p>
        </p:txBody>
      </p:sp>
      <p:sp>
        <p:nvSpPr>
          <p:cNvPr id="2" name="矩形 1"/>
          <p:cNvSpPr/>
          <p:nvPr/>
        </p:nvSpPr>
        <p:spPr>
          <a:xfrm>
            <a:off x="3034228" y="767235"/>
            <a:ext cx="3185487" cy="369332"/>
          </a:xfrm>
          <a:prstGeom prst="rect">
            <a:avLst/>
          </a:prstGeom>
        </p:spPr>
        <p:txBody>
          <a:bodyPr wrap="none">
            <a:spAutoFit/>
          </a:bodyPr>
          <a:lstStyle/>
          <a:p>
            <a:r>
              <a:rPr lang="zh-CN" altLang="zh-CN" kern="100" dirty="0">
                <a:ea typeface="等线" panose="02010600030101010101" pitchFamily="2" charset="-122"/>
                <a:cs typeface="Times New Roman" panose="02020603050405020304" pitchFamily="18" charset="0"/>
              </a:rPr>
              <a:t>平面二维坐标下的两连杆机构</a:t>
            </a:r>
            <a:endParaRPr lang="zh-CN" altLang="en-US" dirty="0"/>
          </a:p>
        </p:txBody>
      </p:sp>
      <p:sp>
        <p:nvSpPr>
          <p:cNvPr id="3" name="矩形 2"/>
          <p:cNvSpPr/>
          <p:nvPr/>
        </p:nvSpPr>
        <p:spPr>
          <a:xfrm>
            <a:off x="3782032" y="1126467"/>
            <a:ext cx="1569660" cy="369332"/>
          </a:xfrm>
          <a:prstGeom prst="rect">
            <a:avLst/>
          </a:prstGeom>
        </p:spPr>
        <p:txBody>
          <a:bodyPr wrap="none">
            <a:spAutoFit/>
          </a:bodyPr>
          <a:lstStyle/>
          <a:p>
            <a:r>
              <a:rPr lang="zh-CN" altLang="zh-CN" kern="100" dirty="0">
                <a:solidFill>
                  <a:schemeClr val="tx2"/>
                </a:solidFill>
                <a:ea typeface="等线" panose="02010600030101010101" pitchFamily="2" charset="-122"/>
                <a:cs typeface="Times New Roman" panose="02020603050405020304" pitchFamily="18" charset="0"/>
              </a:rPr>
              <a:t>正运动学方程</a:t>
            </a:r>
            <a:endParaRPr lang="zh-CN" altLang="en-US" dirty="0">
              <a:solidFill>
                <a:schemeClr val="tx2"/>
              </a:solidFill>
            </a:endParaRPr>
          </a:p>
        </p:txBody>
      </p:sp>
    </p:spTree>
    <p:extLst>
      <p:ext uri="{BB962C8B-B14F-4D97-AF65-F5344CB8AC3E}">
        <p14:creationId xmlns:p14="http://schemas.microsoft.com/office/powerpoint/2010/main" val="261360541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36220" y="219075"/>
            <a:ext cx="5153660" cy="598805"/>
            <a:chOff x="-372" y="345"/>
            <a:chExt cx="8116" cy="943"/>
          </a:xfrm>
        </p:grpSpPr>
        <p:sp>
          <p:nvSpPr>
            <p:cNvPr id="9" name="矩形 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Kinematics of Serial Manipulators</a:t>
              </a:r>
            </a:p>
          </p:txBody>
        </p:sp>
        <p:sp>
          <p:nvSpPr>
            <p:cNvPr id="10" name="文本框 9"/>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串联机器臂运动学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1" name="椭圆 1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图片 1"/>
          <p:cNvPicPr>
            <a:picLocks noChangeAspect="1"/>
          </p:cNvPicPr>
          <p:nvPr/>
        </p:nvPicPr>
        <p:blipFill>
          <a:blip r:embed="rId3"/>
          <a:stretch>
            <a:fillRect/>
          </a:stretch>
        </p:blipFill>
        <p:spPr>
          <a:xfrm>
            <a:off x="1319101" y="1471606"/>
            <a:ext cx="2560542" cy="2426418"/>
          </a:xfrm>
          <a:prstGeom prst="rect">
            <a:avLst/>
          </a:prstGeom>
        </p:spPr>
      </p:pic>
      <p:pic>
        <p:nvPicPr>
          <p:cNvPr id="18" name="图片 17"/>
          <p:cNvPicPr/>
          <p:nvPr/>
        </p:nvPicPr>
        <p:blipFill>
          <a:blip r:embed="rId4">
            <a:extLst>
              <a:ext uri="{28A0092B-C50C-407E-A947-70E740481C1C}">
                <a14:useLocalDpi xmlns:a14="http://schemas.microsoft.com/office/drawing/2010/main" val="0"/>
              </a:ext>
            </a:extLst>
          </a:blip>
          <a:srcRect/>
          <a:stretch>
            <a:fillRect/>
          </a:stretch>
        </p:blipFill>
        <p:spPr bwMode="auto">
          <a:xfrm>
            <a:off x="4706178" y="1811334"/>
            <a:ext cx="1296035" cy="254000"/>
          </a:xfrm>
          <a:prstGeom prst="rect">
            <a:avLst/>
          </a:prstGeom>
          <a:noFill/>
          <a:ln>
            <a:noFill/>
          </a:ln>
          <a:effectLst/>
        </p:spPr>
      </p:pic>
      <p:pic>
        <p:nvPicPr>
          <p:cNvPr id="19" name="图片 18"/>
          <p:cNvPicPr/>
          <p:nvPr/>
        </p:nvPicPr>
        <p:blipFill>
          <a:blip r:embed="rId5">
            <a:extLst>
              <a:ext uri="{28A0092B-C50C-407E-A947-70E740481C1C}">
                <a14:useLocalDpi xmlns:a14="http://schemas.microsoft.com/office/drawing/2010/main" val="0"/>
              </a:ext>
            </a:extLst>
          </a:blip>
          <a:srcRect/>
          <a:stretch>
            <a:fillRect/>
          </a:stretch>
        </p:blipFill>
        <p:spPr bwMode="auto">
          <a:xfrm>
            <a:off x="4716872" y="2284602"/>
            <a:ext cx="3240551" cy="559217"/>
          </a:xfrm>
          <a:prstGeom prst="rect">
            <a:avLst/>
          </a:prstGeom>
          <a:noFill/>
          <a:ln>
            <a:noFill/>
          </a:ln>
          <a:effectLst/>
        </p:spPr>
      </p:pic>
      <p:pic>
        <p:nvPicPr>
          <p:cNvPr id="20" name="图片 19"/>
          <p:cNvPicPr/>
          <p:nvPr/>
        </p:nvPicPr>
        <p:blipFill>
          <a:blip r:embed="rId6">
            <a:extLst>
              <a:ext uri="{28A0092B-C50C-407E-A947-70E740481C1C}">
                <a14:useLocalDpi xmlns:a14="http://schemas.microsoft.com/office/drawing/2010/main" val="0"/>
              </a:ext>
            </a:extLst>
          </a:blip>
          <a:srcRect/>
          <a:stretch>
            <a:fillRect/>
          </a:stretch>
        </p:blipFill>
        <p:spPr bwMode="auto">
          <a:xfrm>
            <a:off x="4667416" y="2949077"/>
            <a:ext cx="3339465" cy="648072"/>
          </a:xfrm>
          <a:prstGeom prst="rect">
            <a:avLst/>
          </a:prstGeom>
          <a:noFill/>
          <a:ln>
            <a:noFill/>
          </a:ln>
          <a:effectLst/>
        </p:spPr>
      </p:pic>
      <p:pic>
        <p:nvPicPr>
          <p:cNvPr id="21" name="图片 20"/>
          <p:cNvPicPr/>
          <p:nvPr/>
        </p:nvPicPr>
        <p:blipFill>
          <a:blip r:embed="rId7">
            <a:extLst>
              <a:ext uri="{28A0092B-C50C-407E-A947-70E740481C1C}">
                <a14:useLocalDpi xmlns:a14="http://schemas.microsoft.com/office/drawing/2010/main" val="0"/>
              </a:ext>
            </a:extLst>
          </a:blip>
          <a:srcRect/>
          <a:stretch>
            <a:fillRect/>
          </a:stretch>
        </p:blipFill>
        <p:spPr bwMode="auto">
          <a:xfrm>
            <a:off x="5061178" y="4371950"/>
            <a:ext cx="1383030" cy="432048"/>
          </a:xfrm>
          <a:prstGeom prst="rect">
            <a:avLst/>
          </a:prstGeom>
          <a:noFill/>
          <a:ln>
            <a:noFill/>
          </a:ln>
          <a:effectLst/>
        </p:spPr>
      </p:pic>
      <p:sp>
        <p:nvSpPr>
          <p:cNvPr id="3" name="文本框 2"/>
          <p:cNvSpPr txBox="1"/>
          <p:nvPr/>
        </p:nvSpPr>
        <p:spPr>
          <a:xfrm>
            <a:off x="2822838" y="4434666"/>
            <a:ext cx="2031325" cy="369332"/>
          </a:xfrm>
          <a:prstGeom prst="rect">
            <a:avLst/>
          </a:prstGeom>
          <a:noFill/>
        </p:spPr>
        <p:txBody>
          <a:bodyPr wrap="none" rtlCol="0">
            <a:spAutoFit/>
          </a:bodyPr>
          <a:lstStyle/>
          <a:p>
            <a:r>
              <a:rPr lang="zh-CN" altLang="en-US" dirty="0" smtClean="0"/>
              <a:t>逆解一般表达式：</a:t>
            </a:r>
            <a:endParaRPr lang="zh-CN" altLang="en-US" dirty="0"/>
          </a:p>
        </p:txBody>
      </p:sp>
      <p:sp>
        <p:nvSpPr>
          <p:cNvPr id="5" name="文本框 4"/>
          <p:cNvSpPr txBox="1"/>
          <p:nvPr/>
        </p:nvSpPr>
        <p:spPr>
          <a:xfrm>
            <a:off x="3838500" y="817880"/>
            <a:ext cx="954107" cy="400110"/>
          </a:xfrm>
          <a:prstGeom prst="rect">
            <a:avLst/>
          </a:prstGeom>
          <a:noFill/>
        </p:spPr>
        <p:txBody>
          <a:bodyPr wrap="none" rtlCol="0">
            <a:spAutoFit/>
          </a:bodyPr>
          <a:lstStyle/>
          <a:p>
            <a:r>
              <a:rPr lang="zh-CN" altLang="en-US" sz="2000" b="1" dirty="0" smtClean="0">
                <a:solidFill>
                  <a:srgbClr val="002060"/>
                </a:solidFill>
              </a:rPr>
              <a:t>几何法</a:t>
            </a:r>
            <a:endParaRPr lang="zh-CN" altLang="en-US" sz="2000" b="1" dirty="0">
              <a:solidFill>
                <a:srgbClr val="002060"/>
              </a:solidFill>
            </a:endParaRPr>
          </a:p>
        </p:txBody>
      </p:sp>
      <p:sp>
        <p:nvSpPr>
          <p:cNvPr id="4" name="圆角矩形 3"/>
          <p:cNvSpPr/>
          <p:nvPr/>
        </p:nvSpPr>
        <p:spPr>
          <a:xfrm>
            <a:off x="4572000" y="1707654"/>
            <a:ext cx="3816424" cy="201622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5759172" y="1288733"/>
            <a:ext cx="1569660" cy="369332"/>
          </a:xfrm>
          <a:prstGeom prst="rect">
            <a:avLst/>
          </a:prstGeom>
        </p:spPr>
        <p:txBody>
          <a:bodyPr wrap="none">
            <a:spAutoFit/>
          </a:bodyPr>
          <a:lstStyle/>
          <a:p>
            <a:r>
              <a:rPr lang="zh-CN" altLang="zh-CN" kern="100" dirty="0">
                <a:solidFill>
                  <a:schemeClr val="tx2"/>
                </a:solidFill>
                <a:ea typeface="等线" panose="02010600030101010101" pitchFamily="2" charset="-122"/>
                <a:cs typeface="Times New Roman" panose="02020603050405020304" pitchFamily="18" charset="0"/>
              </a:rPr>
              <a:t>逆运动学方程</a:t>
            </a:r>
            <a:endParaRPr lang="zh-CN" altLang="en-US" dirty="0">
              <a:solidFill>
                <a:schemeClr val="tx2"/>
              </a:solidFill>
            </a:endParaRPr>
          </a:p>
        </p:txBody>
      </p:sp>
    </p:spTree>
    <p:extLst>
      <p:ext uri="{BB962C8B-B14F-4D97-AF65-F5344CB8AC3E}">
        <p14:creationId xmlns:p14="http://schemas.microsoft.com/office/powerpoint/2010/main" val="1959284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36220" y="219075"/>
            <a:ext cx="5153660" cy="598805"/>
            <a:chOff x="-372" y="345"/>
            <a:chExt cx="8116" cy="943"/>
          </a:xfrm>
        </p:grpSpPr>
        <p:sp>
          <p:nvSpPr>
            <p:cNvPr id="9" name="矩形 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Kinematics of Serial Manipulators</a:t>
              </a:r>
            </a:p>
          </p:txBody>
        </p:sp>
        <p:sp>
          <p:nvSpPr>
            <p:cNvPr id="10" name="文本框 9"/>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串联机器臂运动学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1" name="椭圆 1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文本框 4"/>
          <p:cNvSpPr txBox="1"/>
          <p:nvPr/>
        </p:nvSpPr>
        <p:spPr>
          <a:xfrm>
            <a:off x="3838500" y="817880"/>
            <a:ext cx="954107" cy="400110"/>
          </a:xfrm>
          <a:prstGeom prst="rect">
            <a:avLst/>
          </a:prstGeom>
          <a:noFill/>
        </p:spPr>
        <p:txBody>
          <a:bodyPr wrap="none" rtlCol="0">
            <a:spAutoFit/>
          </a:bodyPr>
          <a:lstStyle/>
          <a:p>
            <a:r>
              <a:rPr lang="zh-CN" altLang="en-US" sz="2000" b="1" dirty="0" smtClean="0">
                <a:solidFill>
                  <a:srgbClr val="002060"/>
                </a:solidFill>
              </a:rPr>
              <a:t>几何法</a:t>
            </a:r>
            <a:endParaRPr lang="zh-CN" altLang="en-US" sz="2000" b="1" dirty="0">
              <a:solidFill>
                <a:srgbClr val="002060"/>
              </a:solidFill>
            </a:endParaRPr>
          </a:p>
        </p:txBody>
      </p:sp>
      <p:pic>
        <p:nvPicPr>
          <p:cNvPr id="13" name="图片 12"/>
          <p:cNvPicPr/>
          <p:nvPr/>
        </p:nvPicPr>
        <p:blipFill>
          <a:blip r:embed="rId3">
            <a:extLst>
              <a:ext uri="{28A0092B-C50C-407E-A947-70E740481C1C}">
                <a14:useLocalDpi xmlns:a14="http://schemas.microsoft.com/office/drawing/2010/main" val="0"/>
              </a:ext>
            </a:extLst>
          </a:blip>
          <a:srcRect/>
          <a:stretch>
            <a:fillRect/>
          </a:stretch>
        </p:blipFill>
        <p:spPr bwMode="auto">
          <a:xfrm>
            <a:off x="2599372" y="1235783"/>
            <a:ext cx="3601720" cy="2861945"/>
          </a:xfrm>
          <a:prstGeom prst="rect">
            <a:avLst/>
          </a:prstGeom>
          <a:noFill/>
          <a:ln>
            <a:noFill/>
          </a:ln>
          <a:effectLst/>
        </p:spPr>
      </p:pic>
      <p:sp>
        <p:nvSpPr>
          <p:cNvPr id="4" name="矩形 3"/>
          <p:cNvSpPr/>
          <p:nvPr/>
        </p:nvSpPr>
        <p:spPr>
          <a:xfrm>
            <a:off x="3131840" y="4346354"/>
            <a:ext cx="2852063" cy="338554"/>
          </a:xfrm>
          <a:prstGeom prst="rect">
            <a:avLst/>
          </a:prstGeom>
        </p:spPr>
        <p:txBody>
          <a:bodyPr wrap="none">
            <a:spAutoFit/>
          </a:bodyPr>
          <a:lstStyle/>
          <a:p>
            <a:r>
              <a:rPr lang="zh-CN" altLang="zh-CN" sz="1600" dirty="0">
                <a:ea typeface="等线" panose="02010600030101010101" pitchFamily="2" charset="-122"/>
                <a:cs typeface="Times New Roman" panose="02020603050405020304" pitchFamily="18" charset="0"/>
              </a:rPr>
              <a:t>平面两连杆机构存在两个逆解</a:t>
            </a:r>
            <a:endParaRPr lang="zh-CN" altLang="en-US" sz="1600" dirty="0"/>
          </a:p>
        </p:txBody>
      </p:sp>
      <p:pic>
        <p:nvPicPr>
          <p:cNvPr id="15" name="图片 14"/>
          <p:cNvPicPr/>
          <p:nvPr/>
        </p:nvPicPr>
        <p:blipFill>
          <a:blip r:embed="rId4">
            <a:extLst>
              <a:ext uri="{28A0092B-C50C-407E-A947-70E740481C1C}">
                <a14:useLocalDpi xmlns:a14="http://schemas.microsoft.com/office/drawing/2010/main" val="0"/>
              </a:ext>
            </a:extLst>
          </a:blip>
          <a:srcRect/>
          <a:stretch>
            <a:fillRect/>
          </a:stretch>
        </p:blipFill>
        <p:spPr bwMode="auto">
          <a:xfrm>
            <a:off x="6588224" y="2139702"/>
            <a:ext cx="739140" cy="182880"/>
          </a:xfrm>
          <a:prstGeom prst="rect">
            <a:avLst/>
          </a:prstGeom>
          <a:noFill/>
          <a:ln>
            <a:noFill/>
          </a:ln>
          <a:effectLst/>
        </p:spPr>
      </p:pic>
      <p:sp>
        <p:nvSpPr>
          <p:cNvPr id="6" name="矩形 5"/>
          <p:cNvSpPr/>
          <p:nvPr/>
        </p:nvSpPr>
        <p:spPr>
          <a:xfrm>
            <a:off x="5652120" y="633214"/>
            <a:ext cx="3416320" cy="369332"/>
          </a:xfrm>
          <a:prstGeom prst="rect">
            <a:avLst/>
          </a:prstGeom>
        </p:spPr>
        <p:txBody>
          <a:bodyPr wrap="none">
            <a:spAutoFit/>
          </a:bodyPr>
          <a:lstStyle/>
          <a:p>
            <a:r>
              <a:rPr lang="zh-CN" altLang="zh-CN" dirty="0">
                <a:solidFill>
                  <a:srgbClr val="FF0000"/>
                </a:solidFill>
              </a:rPr>
              <a:t>逆运动学方程的解不是唯一</a:t>
            </a:r>
            <a:r>
              <a:rPr lang="zh-CN" altLang="zh-CN" dirty="0" smtClean="0">
                <a:solidFill>
                  <a:srgbClr val="FF0000"/>
                </a:solidFill>
              </a:rPr>
              <a:t>的</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22519464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36220" y="219075"/>
            <a:ext cx="5153660" cy="598805"/>
            <a:chOff x="-372" y="345"/>
            <a:chExt cx="8116" cy="943"/>
          </a:xfrm>
        </p:grpSpPr>
        <p:sp>
          <p:nvSpPr>
            <p:cNvPr id="9" name="矩形 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Kinematics of Serial Manipulators</a:t>
              </a:r>
            </a:p>
          </p:txBody>
        </p:sp>
        <p:sp>
          <p:nvSpPr>
            <p:cNvPr id="10" name="文本框 9"/>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串联机器臂运动学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1" name="椭圆 1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1390832" y="2214962"/>
            <a:ext cx="6336704" cy="2369880"/>
          </a:xfrm>
          <a:prstGeom prst="rect">
            <a:avLst/>
          </a:prstGeom>
        </p:spPr>
        <p:txBody>
          <a:bodyPr wrap="square">
            <a:spAutoFit/>
          </a:bodyPr>
          <a:lstStyle/>
          <a:p>
            <a:pPr marL="285750" indent="-285750">
              <a:buFont typeface="Wingdings" panose="05000000000000000000" pitchFamily="2" charset="2"/>
              <a:buChar char="Ø"/>
            </a:pPr>
            <a:r>
              <a:rPr lang="en-US" altLang="zh-CN" sz="1600" b="1" dirty="0" smtClean="0">
                <a:solidFill>
                  <a:srgbClr val="002060"/>
                </a:solidFill>
              </a:rPr>
              <a:t>(1)</a:t>
            </a:r>
            <a:r>
              <a:rPr lang="zh-CN" altLang="zh-CN" sz="1600" b="1" dirty="0" smtClean="0">
                <a:solidFill>
                  <a:srgbClr val="002060"/>
                </a:solidFill>
              </a:rPr>
              <a:t>笛卡尔（台架，直角）坐标型</a:t>
            </a:r>
            <a:r>
              <a:rPr lang="en-US" altLang="zh-CN" sz="1600" b="1" dirty="0" smtClean="0">
                <a:solidFill>
                  <a:srgbClr val="002060"/>
                </a:solidFill>
              </a:rPr>
              <a:t>(PPP)</a:t>
            </a:r>
          </a:p>
          <a:p>
            <a:endParaRPr lang="zh-CN" altLang="zh-CN" sz="2000" dirty="0"/>
          </a:p>
          <a:p>
            <a:pPr marL="285750" indent="-285750">
              <a:buFont typeface="Wingdings" panose="05000000000000000000" pitchFamily="2" charset="2"/>
              <a:buChar char="Ø"/>
            </a:pPr>
            <a:r>
              <a:rPr lang="en-US" altLang="zh-CN" sz="1600" b="1" dirty="0" smtClean="0">
                <a:solidFill>
                  <a:srgbClr val="002060"/>
                </a:solidFill>
              </a:rPr>
              <a:t>(</a:t>
            </a:r>
            <a:r>
              <a:rPr lang="en-US" altLang="zh-CN" sz="1600" b="1" dirty="0">
                <a:solidFill>
                  <a:srgbClr val="002060"/>
                </a:solidFill>
              </a:rPr>
              <a:t>2)</a:t>
            </a:r>
            <a:r>
              <a:rPr lang="zh-CN" altLang="zh-CN" sz="1600" b="1" dirty="0">
                <a:solidFill>
                  <a:srgbClr val="002060"/>
                </a:solidFill>
              </a:rPr>
              <a:t>圆柱坐标型</a:t>
            </a:r>
            <a:r>
              <a:rPr lang="en-US" altLang="zh-CN" sz="1600" b="1" dirty="0">
                <a:solidFill>
                  <a:srgbClr val="002060"/>
                </a:solidFill>
              </a:rPr>
              <a:t>(RPP</a:t>
            </a:r>
            <a:r>
              <a:rPr lang="en-US" altLang="zh-CN" sz="1600" b="1" dirty="0" smtClean="0">
                <a:solidFill>
                  <a:srgbClr val="002060"/>
                </a:solidFill>
              </a:rPr>
              <a:t>)</a:t>
            </a:r>
          </a:p>
          <a:p>
            <a:pPr marL="285750" indent="-285750">
              <a:buFont typeface="Wingdings" panose="05000000000000000000" pitchFamily="2" charset="2"/>
              <a:buChar char="Ø"/>
            </a:pPr>
            <a:endParaRPr lang="zh-CN" altLang="zh-CN" sz="1600" b="1" dirty="0">
              <a:solidFill>
                <a:srgbClr val="002060"/>
              </a:solidFill>
            </a:endParaRPr>
          </a:p>
          <a:p>
            <a:pPr marL="285750" indent="-285750">
              <a:buFont typeface="Wingdings" panose="05000000000000000000" pitchFamily="2" charset="2"/>
              <a:buChar char="Ø"/>
            </a:pPr>
            <a:r>
              <a:rPr lang="en-US" altLang="zh-CN" sz="1600" b="1" dirty="0">
                <a:solidFill>
                  <a:srgbClr val="002060"/>
                </a:solidFill>
              </a:rPr>
              <a:t>(3)</a:t>
            </a:r>
            <a:r>
              <a:rPr lang="zh-CN" altLang="zh-CN" sz="1600" b="1" dirty="0">
                <a:solidFill>
                  <a:srgbClr val="002060"/>
                </a:solidFill>
              </a:rPr>
              <a:t>球坐标型（</a:t>
            </a:r>
            <a:r>
              <a:rPr lang="en-US" altLang="zh-CN" sz="1600" b="1" dirty="0">
                <a:solidFill>
                  <a:srgbClr val="002060"/>
                </a:solidFill>
              </a:rPr>
              <a:t>PRR</a:t>
            </a:r>
            <a:r>
              <a:rPr lang="zh-CN" altLang="zh-CN" sz="1600" b="1" dirty="0" smtClean="0">
                <a:solidFill>
                  <a:srgbClr val="002060"/>
                </a:solidFill>
              </a:rPr>
              <a:t>）</a:t>
            </a:r>
            <a:endParaRPr lang="en-US" altLang="zh-CN" sz="1600" b="1" dirty="0" smtClean="0">
              <a:solidFill>
                <a:srgbClr val="002060"/>
              </a:solidFill>
            </a:endParaRPr>
          </a:p>
          <a:p>
            <a:pPr marL="285750" indent="-285750">
              <a:buFont typeface="Wingdings" panose="05000000000000000000" pitchFamily="2" charset="2"/>
              <a:buChar char="Ø"/>
            </a:pPr>
            <a:endParaRPr lang="zh-CN" altLang="zh-CN" sz="1600" b="1" dirty="0">
              <a:solidFill>
                <a:srgbClr val="002060"/>
              </a:solidFill>
            </a:endParaRPr>
          </a:p>
          <a:p>
            <a:pPr marL="285750" indent="-285750">
              <a:buFont typeface="Wingdings" panose="05000000000000000000" pitchFamily="2" charset="2"/>
              <a:buChar char="Ø"/>
            </a:pPr>
            <a:r>
              <a:rPr lang="en-US" altLang="zh-CN" sz="1600" b="1" dirty="0">
                <a:solidFill>
                  <a:srgbClr val="002060"/>
                </a:solidFill>
              </a:rPr>
              <a:t>(4)</a:t>
            </a:r>
            <a:r>
              <a:rPr lang="zh-CN" altLang="zh-CN" sz="1600" b="1" dirty="0">
                <a:solidFill>
                  <a:srgbClr val="002060"/>
                </a:solidFill>
              </a:rPr>
              <a:t>平面关节型</a:t>
            </a:r>
            <a:r>
              <a:rPr lang="en-US" altLang="zh-CN" sz="1600" b="1" dirty="0">
                <a:solidFill>
                  <a:srgbClr val="002060"/>
                </a:solidFill>
              </a:rPr>
              <a:t>(RRP</a:t>
            </a:r>
            <a:r>
              <a:rPr lang="en-US" altLang="zh-CN" sz="1600" b="1" dirty="0" smtClean="0">
                <a:solidFill>
                  <a:srgbClr val="002060"/>
                </a:solidFill>
              </a:rPr>
              <a:t>)</a:t>
            </a:r>
          </a:p>
          <a:p>
            <a:pPr marL="285750" indent="-285750">
              <a:buFont typeface="Wingdings" panose="05000000000000000000" pitchFamily="2" charset="2"/>
              <a:buChar char="Ø"/>
            </a:pPr>
            <a:endParaRPr lang="zh-CN" altLang="zh-CN" sz="1600" b="1" dirty="0">
              <a:solidFill>
                <a:srgbClr val="002060"/>
              </a:solidFill>
            </a:endParaRPr>
          </a:p>
          <a:p>
            <a:pPr marL="285750" indent="-285750">
              <a:buFont typeface="Wingdings" panose="05000000000000000000" pitchFamily="2" charset="2"/>
              <a:buChar char="Ø"/>
            </a:pPr>
            <a:r>
              <a:rPr lang="en-US" altLang="zh-CN" sz="1600" b="1" dirty="0">
                <a:solidFill>
                  <a:srgbClr val="002060"/>
                </a:solidFill>
              </a:rPr>
              <a:t>(5)</a:t>
            </a:r>
            <a:r>
              <a:rPr lang="zh-CN" altLang="zh-CN" sz="1600" b="1" dirty="0">
                <a:solidFill>
                  <a:srgbClr val="002060"/>
                </a:solidFill>
              </a:rPr>
              <a:t>链式</a:t>
            </a:r>
            <a:r>
              <a:rPr lang="en-US" altLang="zh-CN" sz="1600" b="1" dirty="0">
                <a:solidFill>
                  <a:srgbClr val="002060"/>
                </a:solidFill>
              </a:rPr>
              <a:t>(</a:t>
            </a:r>
            <a:r>
              <a:rPr lang="zh-CN" altLang="zh-CN" sz="1600" b="1" dirty="0">
                <a:solidFill>
                  <a:srgbClr val="002060"/>
                </a:solidFill>
              </a:rPr>
              <a:t>拟人或全旋转</a:t>
            </a:r>
            <a:r>
              <a:rPr lang="en-US" altLang="zh-CN" sz="1600" b="1" dirty="0">
                <a:solidFill>
                  <a:srgbClr val="002060"/>
                </a:solidFill>
              </a:rPr>
              <a:t>)</a:t>
            </a:r>
            <a:r>
              <a:rPr lang="zh-CN" altLang="zh-CN" sz="1600" b="1" dirty="0">
                <a:solidFill>
                  <a:srgbClr val="002060"/>
                </a:solidFill>
              </a:rPr>
              <a:t>坐标型，或称串联关节型（</a:t>
            </a:r>
            <a:r>
              <a:rPr lang="en-US" altLang="zh-CN" sz="1600" b="1" dirty="0">
                <a:solidFill>
                  <a:srgbClr val="002060"/>
                </a:solidFill>
              </a:rPr>
              <a:t>RRR</a:t>
            </a:r>
            <a:r>
              <a:rPr lang="zh-CN" altLang="zh-CN" sz="1600" b="1" dirty="0">
                <a:solidFill>
                  <a:srgbClr val="002060"/>
                </a:solidFill>
              </a:rPr>
              <a:t>）</a:t>
            </a:r>
            <a:endParaRPr lang="zh-CN" altLang="en-US" sz="1600" b="1" dirty="0">
              <a:solidFill>
                <a:srgbClr val="002060"/>
              </a:solidFill>
            </a:endParaRPr>
          </a:p>
        </p:txBody>
      </p:sp>
      <p:sp>
        <p:nvSpPr>
          <p:cNvPr id="4" name="矩形 3"/>
          <p:cNvSpPr/>
          <p:nvPr/>
        </p:nvSpPr>
        <p:spPr>
          <a:xfrm>
            <a:off x="1234002" y="1110502"/>
            <a:ext cx="6650365" cy="646331"/>
          </a:xfrm>
          <a:prstGeom prst="rect">
            <a:avLst/>
          </a:prstGeom>
        </p:spPr>
        <p:txBody>
          <a:bodyPr wrap="square">
            <a:spAutoFit/>
          </a:bodyPr>
          <a:lstStyle/>
          <a:p>
            <a:r>
              <a:rPr lang="zh-CN" altLang="zh-CN" dirty="0"/>
              <a:t>按机械臂运动学坐标系分类，以</a:t>
            </a:r>
            <a:r>
              <a:rPr lang="zh-CN" altLang="zh-CN" b="1" dirty="0">
                <a:solidFill>
                  <a:srgbClr val="FF0000"/>
                </a:solidFill>
              </a:rPr>
              <a:t>三关节</a:t>
            </a:r>
            <a:r>
              <a:rPr lang="zh-CN" altLang="zh-CN" dirty="0"/>
              <a:t>机械臂为主，常见的机械臂有如下几种形式（</a:t>
            </a:r>
            <a:r>
              <a:rPr lang="en-US" altLang="zh-CN" dirty="0"/>
              <a:t>P</a:t>
            </a:r>
            <a:r>
              <a:rPr lang="zh-CN" altLang="zh-CN" dirty="0"/>
              <a:t>代表平动关节，</a:t>
            </a:r>
            <a:r>
              <a:rPr lang="en-US" altLang="zh-CN" dirty="0"/>
              <a:t>R</a:t>
            </a:r>
            <a:r>
              <a:rPr lang="zh-CN" altLang="zh-CN" dirty="0"/>
              <a:t>代表旋转关节）：</a:t>
            </a:r>
            <a:endParaRPr lang="en-US" altLang="zh-CN" dirty="0"/>
          </a:p>
        </p:txBody>
      </p:sp>
      <p:sp>
        <p:nvSpPr>
          <p:cNvPr id="5" name="圆角矩形 4"/>
          <p:cNvSpPr/>
          <p:nvPr/>
        </p:nvSpPr>
        <p:spPr>
          <a:xfrm>
            <a:off x="1234002" y="2067694"/>
            <a:ext cx="6650365" cy="273630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3" name="对象 12"/>
          <p:cNvGraphicFramePr>
            <a:graphicFrameLocks/>
          </p:cNvGraphicFramePr>
          <p:nvPr>
            <p:extLst>
              <p:ext uri="{D42A27DB-BD31-4B8C-83A1-F6EECF244321}">
                <p14:modId xmlns:p14="http://schemas.microsoft.com/office/powerpoint/2010/main" val="2352272621"/>
              </p:ext>
            </p:extLst>
          </p:nvPr>
        </p:nvGraphicFramePr>
        <p:xfrm>
          <a:off x="5300577" y="2049455"/>
          <a:ext cx="621160" cy="938017"/>
        </p:xfrm>
        <a:graphic>
          <a:graphicData uri="http://schemas.openxmlformats.org/presentationml/2006/ole">
            <mc:AlternateContent xmlns:mc="http://schemas.openxmlformats.org/markup-compatibility/2006">
              <mc:Choice xmlns:v="urn:schemas-microsoft-com:vml" Requires="v">
                <p:oleObj spid="_x0000_s44104" name="Visio" r:id="rId4" imgW="1760326" imgH="2240233" progId="Visio.Drawing.15">
                  <p:embed/>
                </p:oleObj>
              </mc:Choice>
              <mc:Fallback>
                <p:oleObj name="Visio" r:id="rId4" imgW="1760326" imgH="2240233" progId="Visio.Drawing.15">
                  <p:embed/>
                  <p:pic>
                    <p:nvPicPr>
                      <p:cNvPr id="0" name="Object 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00577" y="2049455"/>
                        <a:ext cx="621160" cy="938017"/>
                      </a:xfrm>
                      <a:prstGeom prst="rect">
                        <a:avLst/>
                      </a:prstGeom>
                      <a:noFill/>
                    </p:spPr>
                  </p:pic>
                </p:oleObj>
              </mc:Fallback>
            </mc:AlternateContent>
          </a:graphicData>
        </a:graphic>
      </p:graphicFrame>
      <p:pic>
        <p:nvPicPr>
          <p:cNvPr id="17" name="图片 16"/>
          <p:cNvPicPr/>
          <p:nvPr/>
        </p:nvPicPr>
        <p:blipFill>
          <a:blip r:embed="rId6" cstate="print">
            <a:extLst>
              <a:ext uri="{28A0092B-C50C-407E-A947-70E740481C1C}">
                <a14:useLocalDpi xmlns:a14="http://schemas.microsoft.com/office/drawing/2010/main" val="0"/>
              </a:ext>
            </a:extLst>
          </a:blip>
          <a:stretch>
            <a:fillRect/>
          </a:stretch>
        </p:blipFill>
        <p:spPr>
          <a:xfrm>
            <a:off x="3616325" y="2470639"/>
            <a:ext cx="673735" cy="894967"/>
          </a:xfrm>
          <a:prstGeom prst="rect">
            <a:avLst/>
          </a:prstGeom>
        </p:spPr>
      </p:pic>
      <p:pic>
        <p:nvPicPr>
          <p:cNvPr id="18" name="图片 17"/>
          <p:cNvPicPr/>
          <p:nvPr/>
        </p:nvPicPr>
        <p:blipFill>
          <a:blip r:embed="rId7" cstate="print">
            <a:extLst>
              <a:ext uri="{28A0092B-C50C-407E-A947-70E740481C1C}">
                <a14:useLocalDpi xmlns:a14="http://schemas.microsoft.com/office/drawing/2010/main" val="0"/>
              </a:ext>
            </a:extLst>
          </a:blip>
          <a:srcRect/>
          <a:stretch>
            <a:fillRect/>
          </a:stretch>
        </p:blipFill>
        <p:spPr>
          <a:xfrm>
            <a:off x="4320945" y="3134740"/>
            <a:ext cx="1125235" cy="641477"/>
          </a:xfrm>
          <a:prstGeom prst="rect">
            <a:avLst/>
          </a:prstGeom>
          <a:noFill/>
          <a:ln>
            <a:noFill/>
          </a:ln>
        </p:spPr>
      </p:pic>
      <p:pic>
        <p:nvPicPr>
          <p:cNvPr id="22" name="图片 2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477064" y="3465482"/>
            <a:ext cx="1109793" cy="789275"/>
          </a:xfrm>
          <a:prstGeom prst="rect">
            <a:avLst/>
          </a:prstGeom>
        </p:spPr>
      </p:pic>
      <p:graphicFrame>
        <p:nvGraphicFramePr>
          <p:cNvPr id="24" name="对象 23"/>
          <p:cNvGraphicFramePr>
            <a:graphicFrameLocks/>
          </p:cNvGraphicFramePr>
          <p:nvPr>
            <p:extLst>
              <p:ext uri="{D42A27DB-BD31-4B8C-83A1-F6EECF244321}">
                <p14:modId xmlns:p14="http://schemas.microsoft.com/office/powerpoint/2010/main" val="1277040071"/>
              </p:ext>
            </p:extLst>
          </p:nvPr>
        </p:nvGraphicFramePr>
        <p:xfrm>
          <a:off x="6736944" y="3794456"/>
          <a:ext cx="1053444" cy="1027781"/>
        </p:xfrm>
        <a:graphic>
          <a:graphicData uri="http://schemas.openxmlformats.org/presentationml/2006/ole">
            <mc:AlternateContent xmlns:mc="http://schemas.openxmlformats.org/markup-compatibility/2006">
              <mc:Choice xmlns:v="urn:schemas-microsoft-com:vml" Requires="v">
                <p:oleObj spid="_x0000_s44105" name="Visio" r:id="rId9" imgW="2727889" imgH="2194419" progId="Visio.Drawing.15">
                  <p:embed/>
                </p:oleObj>
              </mc:Choice>
              <mc:Fallback>
                <p:oleObj name="Visio" r:id="rId9" imgW="2727889" imgH="2194419" progId="Visio.Drawing.15">
                  <p:embed/>
                  <p:pic>
                    <p:nvPicPr>
                      <p:cNvPr id="0" name="Object 8"/>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36944" y="3794456"/>
                        <a:ext cx="1053444" cy="1027781"/>
                      </a:xfrm>
                      <a:prstGeom prst="rect">
                        <a:avLst/>
                      </a:prstGeom>
                      <a:noFill/>
                    </p:spPr>
                  </p:pic>
                </p:oleObj>
              </mc:Fallback>
            </mc:AlternateContent>
          </a:graphicData>
        </a:graphic>
      </p:graphicFrame>
    </p:spTree>
    <p:extLst>
      <p:ext uri="{BB962C8B-B14F-4D97-AF65-F5344CB8AC3E}">
        <p14:creationId xmlns:p14="http://schemas.microsoft.com/office/powerpoint/2010/main" val="106561767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36220" y="219075"/>
            <a:ext cx="5153660" cy="598805"/>
            <a:chOff x="-372" y="345"/>
            <a:chExt cx="8116" cy="943"/>
          </a:xfrm>
        </p:grpSpPr>
        <p:sp>
          <p:nvSpPr>
            <p:cNvPr id="9" name="矩形 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Kinematics of Serial Manipulators</a:t>
              </a:r>
            </a:p>
          </p:txBody>
        </p:sp>
        <p:sp>
          <p:nvSpPr>
            <p:cNvPr id="10" name="文本框 9"/>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串联机器臂运动学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1" name="椭圆 1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2685192" y="1110615"/>
            <a:ext cx="4464496" cy="400110"/>
          </a:xfrm>
          <a:prstGeom prst="rect">
            <a:avLst/>
          </a:prstGeom>
        </p:spPr>
        <p:txBody>
          <a:bodyPr wrap="square">
            <a:spAutoFit/>
          </a:bodyPr>
          <a:lstStyle/>
          <a:p>
            <a:r>
              <a:rPr lang="zh-CN" altLang="zh-CN" sz="2000" b="1" dirty="0" smtClean="0">
                <a:solidFill>
                  <a:srgbClr val="002060"/>
                </a:solidFill>
              </a:rPr>
              <a:t>笛卡尔</a:t>
            </a:r>
            <a:r>
              <a:rPr lang="zh-CN" altLang="zh-CN" sz="2000" b="1" dirty="0">
                <a:solidFill>
                  <a:srgbClr val="002060"/>
                </a:solidFill>
              </a:rPr>
              <a:t>（台架，直角）坐标型</a:t>
            </a:r>
            <a:r>
              <a:rPr lang="en-US" altLang="zh-CN" sz="2000" b="1" dirty="0">
                <a:solidFill>
                  <a:srgbClr val="002060"/>
                </a:solidFill>
              </a:rPr>
              <a:t>(PPP</a:t>
            </a:r>
            <a:r>
              <a:rPr lang="en-US" altLang="zh-CN" sz="2000" b="1" dirty="0" smtClean="0">
                <a:solidFill>
                  <a:srgbClr val="002060"/>
                </a:solidFill>
              </a:rPr>
              <a:t>)</a:t>
            </a:r>
            <a:endParaRPr lang="zh-CN" altLang="en-US" sz="2000" b="1" dirty="0">
              <a:solidFill>
                <a:srgbClr val="002060"/>
              </a:solidFill>
            </a:endParaRPr>
          </a:p>
        </p:txBody>
      </p:sp>
      <p:pic>
        <p:nvPicPr>
          <p:cNvPr id="13" name="图片 12" descr="2-18"/>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87624" y="1835933"/>
            <a:ext cx="2044700" cy="2338070"/>
          </a:xfrm>
          <a:prstGeom prst="rect">
            <a:avLst/>
          </a:prstGeom>
          <a:noFill/>
          <a:ln>
            <a:noFill/>
          </a:ln>
        </p:spPr>
      </p:pic>
      <p:pic>
        <p:nvPicPr>
          <p:cNvPr id="15" name="图片 14"/>
          <p:cNvPicPr/>
          <p:nvPr/>
        </p:nvPicPr>
        <p:blipFill>
          <a:blip r:embed="rId5">
            <a:extLst>
              <a:ext uri="{28A0092B-C50C-407E-A947-70E740481C1C}">
                <a14:useLocalDpi xmlns:a14="http://schemas.microsoft.com/office/drawing/2010/main" val="0"/>
              </a:ext>
            </a:extLst>
          </a:blip>
          <a:stretch>
            <a:fillRect/>
          </a:stretch>
        </p:blipFill>
        <p:spPr>
          <a:xfrm>
            <a:off x="3287832" y="1841003"/>
            <a:ext cx="2220272" cy="2333000"/>
          </a:xfrm>
          <a:prstGeom prst="rect">
            <a:avLst/>
          </a:prstGeom>
        </p:spPr>
      </p:pic>
      <p:graphicFrame>
        <p:nvGraphicFramePr>
          <p:cNvPr id="5" name="对象 4"/>
          <p:cNvGraphicFramePr>
            <a:graphicFrameLocks noChangeAspect="1"/>
          </p:cNvGraphicFramePr>
          <p:nvPr>
            <p:extLst>
              <p:ext uri="{D42A27DB-BD31-4B8C-83A1-F6EECF244321}">
                <p14:modId xmlns:p14="http://schemas.microsoft.com/office/powerpoint/2010/main" val="2904506619"/>
              </p:ext>
            </p:extLst>
          </p:nvPr>
        </p:nvGraphicFramePr>
        <p:xfrm>
          <a:off x="5799538" y="2283718"/>
          <a:ext cx="2700300" cy="1440160"/>
        </p:xfrm>
        <a:graphic>
          <a:graphicData uri="http://schemas.openxmlformats.org/presentationml/2006/ole">
            <mc:AlternateContent xmlns:mc="http://schemas.openxmlformats.org/markup-compatibility/2006">
              <mc:Choice xmlns:v="urn:schemas-microsoft-com:vml" Requires="v">
                <p:oleObj spid="_x0000_s3216" r:id="rId6" imgW="1715244" imgH="914797" progId="Equation.DSMT4">
                  <p:embed/>
                </p:oleObj>
              </mc:Choice>
              <mc:Fallback>
                <p:oleObj r:id="rId6" imgW="1715244" imgH="914797" progId="Equation.DSMT4">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99538" y="2283718"/>
                        <a:ext cx="2700300" cy="1440160"/>
                      </a:xfrm>
                      <a:prstGeom prst="rect">
                        <a:avLst/>
                      </a:prstGeom>
                      <a:noFill/>
                    </p:spPr>
                  </p:pic>
                </p:oleObj>
              </mc:Fallback>
            </mc:AlternateContent>
          </a:graphicData>
        </a:graphic>
      </p:graphicFrame>
    </p:spTree>
    <p:extLst>
      <p:ext uri="{BB962C8B-B14F-4D97-AF65-F5344CB8AC3E}">
        <p14:creationId xmlns:p14="http://schemas.microsoft.com/office/powerpoint/2010/main" val="177752808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36220" y="219075"/>
            <a:ext cx="5153660" cy="598805"/>
            <a:chOff x="-372" y="345"/>
            <a:chExt cx="8116" cy="943"/>
          </a:xfrm>
        </p:grpSpPr>
        <p:sp>
          <p:nvSpPr>
            <p:cNvPr id="9" name="矩形 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Kinematics of Serial Manipulators</a:t>
              </a:r>
            </a:p>
          </p:txBody>
        </p:sp>
        <p:sp>
          <p:nvSpPr>
            <p:cNvPr id="10" name="文本框 9"/>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串联机器臂运动学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1" name="椭圆 1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3419872" y="1138234"/>
            <a:ext cx="2232248" cy="400110"/>
          </a:xfrm>
          <a:prstGeom prst="rect">
            <a:avLst/>
          </a:prstGeom>
        </p:spPr>
        <p:txBody>
          <a:bodyPr wrap="square">
            <a:spAutoFit/>
          </a:bodyPr>
          <a:lstStyle/>
          <a:p>
            <a:r>
              <a:rPr lang="zh-CN" altLang="en-US" sz="2000" b="1" dirty="0">
                <a:solidFill>
                  <a:srgbClr val="002060"/>
                </a:solidFill>
              </a:rPr>
              <a:t>圆柱坐标（</a:t>
            </a:r>
            <a:r>
              <a:rPr lang="en-US" altLang="zh-CN" sz="2000" b="1" dirty="0">
                <a:solidFill>
                  <a:srgbClr val="002060"/>
                </a:solidFill>
              </a:rPr>
              <a:t>RPP</a:t>
            </a:r>
            <a:r>
              <a:rPr lang="zh-CN" altLang="en-US" sz="2000" b="1" dirty="0">
                <a:solidFill>
                  <a:srgbClr val="002060"/>
                </a:solidFill>
              </a:rPr>
              <a:t>）</a:t>
            </a:r>
          </a:p>
        </p:txBody>
      </p:sp>
      <p:pic>
        <p:nvPicPr>
          <p:cNvPr id="12" name="图片 11" descr="2-19"/>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71605" y="2355726"/>
            <a:ext cx="1324234" cy="1656184"/>
          </a:xfrm>
          <a:prstGeom prst="rect">
            <a:avLst/>
          </a:prstGeom>
          <a:noFill/>
          <a:ln>
            <a:noFill/>
          </a:ln>
        </p:spPr>
      </p:pic>
      <p:pic>
        <p:nvPicPr>
          <p:cNvPr id="14" name="图片 13"/>
          <p:cNvPicPr/>
          <p:nvPr/>
        </p:nvPicPr>
        <p:blipFill>
          <a:blip r:embed="rId5">
            <a:extLst>
              <a:ext uri="{28A0092B-C50C-407E-A947-70E740481C1C}">
                <a14:useLocalDpi xmlns:a14="http://schemas.microsoft.com/office/drawing/2010/main" val="0"/>
              </a:ext>
            </a:extLst>
          </a:blip>
          <a:stretch>
            <a:fillRect/>
          </a:stretch>
        </p:blipFill>
        <p:spPr>
          <a:xfrm>
            <a:off x="5226164" y="2355726"/>
            <a:ext cx="1362060" cy="1656184"/>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4218030914"/>
              </p:ext>
            </p:extLst>
          </p:nvPr>
        </p:nvGraphicFramePr>
        <p:xfrm>
          <a:off x="618753" y="1882780"/>
          <a:ext cx="3305175" cy="247650"/>
        </p:xfrm>
        <a:graphic>
          <a:graphicData uri="http://schemas.openxmlformats.org/presentationml/2006/ole">
            <mc:AlternateContent xmlns:mc="http://schemas.openxmlformats.org/markup-compatibility/2006">
              <mc:Choice xmlns:v="urn:schemas-microsoft-com:vml" Requires="v">
                <p:oleObj spid="_x0000_s4386" r:id="rId6" imgW="3299136" imgH="253780" progId="Equation.DSMT4">
                  <p:embed/>
                </p:oleObj>
              </mc:Choice>
              <mc:Fallback>
                <p:oleObj r:id="rId6" imgW="3299136" imgH="253780" progId="Equation.DSMT4">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8753" y="1882780"/>
                        <a:ext cx="3305175" cy="247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a:spLocks noChangeArrowheads="1"/>
          </p:cNvSpPr>
          <p:nvPr/>
        </p:nvSpPr>
        <p:spPr bwMode="auto">
          <a:xfrm>
            <a:off x="618753" y="2474865"/>
            <a:ext cx="751884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1025044425"/>
              </p:ext>
            </p:extLst>
          </p:nvPr>
        </p:nvGraphicFramePr>
        <p:xfrm>
          <a:off x="618754" y="2474866"/>
          <a:ext cx="2858728" cy="751885"/>
        </p:xfrm>
        <a:graphic>
          <a:graphicData uri="http://schemas.openxmlformats.org/presentationml/2006/ole">
            <mc:AlternateContent xmlns:mc="http://schemas.openxmlformats.org/markup-compatibility/2006">
              <mc:Choice xmlns:v="urn:schemas-microsoft-com:vml" Requires="v">
                <p:oleObj spid="_x0000_s4387" r:id="rId8" imgW="3479800" imgH="914400" progId="Equation.DSMT4">
                  <p:embed/>
                </p:oleObj>
              </mc:Choice>
              <mc:Fallback>
                <p:oleObj r:id="rId8" imgW="3479800" imgH="914400"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8754" y="2474866"/>
                        <a:ext cx="2858728" cy="751885"/>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16" name="矩形 15"/>
              <p:cNvSpPr/>
              <p:nvPr/>
            </p:nvSpPr>
            <p:spPr>
              <a:xfrm>
                <a:off x="504409" y="3369458"/>
                <a:ext cx="2973073" cy="12849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sPre>
                            <m:sPrePr>
                              <m:ctrlPr>
                                <a:rPr lang="zh-CN" altLang="en-US" sz="1600" i="1">
                                  <a:latin typeface="Cambria Math" panose="02040503050406030204" pitchFamily="18" charset="0"/>
                                </a:rPr>
                              </m:ctrlPr>
                            </m:sPrePr>
                            <m:sub/>
                            <m:sup>
                              <m:r>
                                <a:rPr lang="zh-CN" altLang="en-US" sz="1600" i="1">
                                  <a:latin typeface="Cambria Math" panose="02040503050406030204" pitchFamily="18" charset="0"/>
                                </a:rPr>
                                <m:t>𝑅</m:t>
                              </m:r>
                            </m:sup>
                            <m:e>
                              <m:r>
                                <a:rPr lang="zh-CN" altLang="en-US" sz="1600" i="1">
                                  <a:latin typeface="Cambria Math" panose="02040503050406030204" pitchFamily="18" charset="0"/>
                                </a:rPr>
                                <m:t>𝑇</m:t>
                              </m:r>
                            </m:e>
                          </m:sPre>
                        </m:e>
                        <m:sub>
                          <m:r>
                            <a:rPr lang="zh-CN" altLang="en-US" sz="1600" i="1">
                              <a:latin typeface="Cambria Math" panose="02040503050406030204" pitchFamily="18" charset="0"/>
                            </a:rPr>
                            <m:t>𝑃</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𝑇</m:t>
                          </m:r>
                        </m:e>
                        <m:sub>
                          <m:r>
                            <a:rPr lang="zh-CN" altLang="en-US" sz="1600" i="1">
                              <a:latin typeface="Cambria Math" panose="02040503050406030204" pitchFamily="18" charset="0"/>
                            </a:rPr>
                            <m:t>𝑐𝑦𝑙</m:t>
                          </m:r>
                        </m:sub>
                      </m:sSub>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m>
                            <m:mPr>
                              <m:mcs>
                                <m:mc>
                                  <m:mcPr>
                                    <m:count m:val="4"/>
                                    <m:mcJc m:val="center"/>
                                  </m:mcPr>
                                </m:mc>
                              </m:mcs>
                              <m:ctrlPr>
                                <a:rPr lang="zh-CN" altLang="en-US" sz="1600" i="1">
                                  <a:latin typeface="Cambria Math" panose="02040503050406030204" pitchFamily="18" charset="0"/>
                                </a:rPr>
                              </m:ctrlPr>
                            </m:mPr>
                            <m:mr>
                              <m:e>
                                <m:r>
                                  <a:rPr lang="zh-CN" altLang="en-US" sz="1600" i="1">
                                    <a:latin typeface="Cambria Math" panose="02040503050406030204" pitchFamily="18" charset="0"/>
                                  </a:rPr>
                                  <m:t>𝐶</m:t>
                                </m:r>
                                <m:r>
                                  <a:rPr lang="zh-CN" altLang="en-US" sz="1600" i="1">
                                    <a:latin typeface="Cambria Math" panose="02040503050406030204" pitchFamily="18" charset="0"/>
                                  </a:rPr>
                                  <m:t>𝛼</m:t>
                                </m:r>
                              </m:e>
                              <m:e>
                                <m:r>
                                  <a:rPr lang="zh-CN" altLang="en-US" sz="1600" i="0">
                                    <a:latin typeface="Cambria Math" panose="02040503050406030204" pitchFamily="18" charset="0"/>
                                  </a:rPr>
                                  <m:t>−</m:t>
                                </m:r>
                                <m:r>
                                  <a:rPr lang="zh-CN" altLang="en-US" sz="1600" i="1">
                                    <a:latin typeface="Cambria Math" panose="02040503050406030204" pitchFamily="18" charset="0"/>
                                  </a:rPr>
                                  <m:t>𝑆</m:t>
                                </m:r>
                                <m:r>
                                  <a:rPr lang="zh-CN" altLang="en-US" sz="1600" i="1">
                                    <a:latin typeface="Cambria Math" panose="02040503050406030204" pitchFamily="18" charset="0"/>
                                  </a:rPr>
                                  <m:t>𝛼</m:t>
                                </m:r>
                              </m:e>
                              <m:e>
                                <m:r>
                                  <a:rPr lang="zh-CN" altLang="en-US" sz="1600" i="0">
                                    <a:latin typeface="Cambria Math" panose="02040503050406030204" pitchFamily="18" charset="0"/>
                                  </a:rPr>
                                  <m:t>0</m:t>
                                </m:r>
                              </m:e>
                              <m:e>
                                <m:r>
                                  <a:rPr lang="zh-CN" altLang="en-US" sz="1600" i="1">
                                    <a:latin typeface="Cambria Math" panose="02040503050406030204" pitchFamily="18" charset="0"/>
                                  </a:rPr>
                                  <m:t>𝑟𝐶</m:t>
                                </m:r>
                                <m:r>
                                  <a:rPr lang="zh-CN" altLang="en-US" sz="1600" i="1">
                                    <a:latin typeface="Cambria Math" panose="02040503050406030204" pitchFamily="18" charset="0"/>
                                  </a:rPr>
                                  <m:t>𝛼</m:t>
                                </m:r>
                              </m:e>
                            </m:mr>
                            <m:mr>
                              <m:e>
                                <m:r>
                                  <a:rPr lang="zh-CN" altLang="en-US" sz="1600" i="1">
                                    <a:latin typeface="Cambria Math" panose="02040503050406030204" pitchFamily="18" charset="0"/>
                                  </a:rPr>
                                  <m:t>𝑆</m:t>
                                </m:r>
                                <m:r>
                                  <a:rPr lang="zh-CN" altLang="en-US" sz="1600" i="1">
                                    <a:latin typeface="Cambria Math" panose="02040503050406030204" pitchFamily="18" charset="0"/>
                                  </a:rPr>
                                  <m:t>𝛼</m:t>
                                </m:r>
                              </m:e>
                              <m:e>
                                <m:r>
                                  <a:rPr lang="zh-CN" altLang="en-US" sz="1600" i="1">
                                    <a:latin typeface="Cambria Math" panose="02040503050406030204" pitchFamily="18" charset="0"/>
                                  </a:rPr>
                                  <m:t>𝐶</m:t>
                                </m:r>
                                <m:r>
                                  <a:rPr lang="zh-CN" altLang="en-US" sz="1600" i="1">
                                    <a:latin typeface="Cambria Math" panose="02040503050406030204" pitchFamily="18" charset="0"/>
                                  </a:rPr>
                                  <m:t>𝛼</m:t>
                                </m:r>
                              </m:e>
                              <m:e>
                                <m:r>
                                  <a:rPr lang="zh-CN" altLang="en-US" sz="1600" i="0">
                                    <a:latin typeface="Cambria Math" panose="02040503050406030204" pitchFamily="18" charset="0"/>
                                  </a:rPr>
                                  <m:t>0</m:t>
                                </m:r>
                              </m:e>
                              <m:e>
                                <m:r>
                                  <a:rPr lang="zh-CN" altLang="en-US" sz="1600" i="1">
                                    <a:latin typeface="Cambria Math" panose="02040503050406030204" pitchFamily="18" charset="0"/>
                                  </a:rPr>
                                  <m:t>𝑟𝑆</m:t>
                                </m:r>
                                <m:r>
                                  <a:rPr lang="zh-CN" altLang="en-US" sz="1600" i="1">
                                    <a:latin typeface="Cambria Math" panose="02040503050406030204" pitchFamily="18" charset="0"/>
                                  </a:rPr>
                                  <m:t>𝛼</m:t>
                                </m:r>
                              </m:e>
                            </m:mr>
                            <m:mr>
                              <m:e>
                                <m:r>
                                  <a:rPr lang="zh-CN" altLang="en-US" sz="1600" i="0">
                                    <a:latin typeface="Cambria Math" panose="02040503050406030204" pitchFamily="18" charset="0"/>
                                  </a:rPr>
                                  <m:t>0</m:t>
                                </m:r>
                              </m:e>
                              <m:e>
                                <m:r>
                                  <a:rPr lang="zh-CN" altLang="en-US" sz="1600" i="0">
                                    <a:latin typeface="Cambria Math" panose="02040503050406030204" pitchFamily="18" charset="0"/>
                                  </a:rPr>
                                  <m:t>0</m:t>
                                </m:r>
                              </m:e>
                              <m:e>
                                <m:r>
                                  <a:rPr lang="zh-CN" altLang="en-US" sz="1600" i="0">
                                    <a:latin typeface="Cambria Math" panose="02040503050406030204" pitchFamily="18" charset="0"/>
                                  </a:rPr>
                                  <m:t>1</m:t>
                                </m:r>
                              </m:e>
                              <m:e>
                                <m:r>
                                  <a:rPr lang="zh-CN" altLang="en-US" sz="1600" i="1">
                                    <a:latin typeface="Cambria Math" panose="02040503050406030204" pitchFamily="18" charset="0"/>
                                  </a:rPr>
                                  <m:t>𝑙</m:t>
                                </m:r>
                              </m:e>
                            </m:mr>
                            <m:mr>
                              <m:e>
                                <m:r>
                                  <a:rPr lang="zh-CN" altLang="en-US" sz="1600" i="0">
                                    <a:latin typeface="Cambria Math" panose="02040503050406030204" pitchFamily="18" charset="0"/>
                                  </a:rPr>
                                  <m:t>0</m:t>
                                </m:r>
                              </m:e>
                              <m:e>
                                <m:r>
                                  <a:rPr lang="zh-CN" altLang="en-US" sz="1600" i="0">
                                    <a:latin typeface="Cambria Math" panose="02040503050406030204" pitchFamily="18" charset="0"/>
                                  </a:rPr>
                                  <m:t>0</m:t>
                                </m:r>
                              </m:e>
                              <m:e>
                                <m:r>
                                  <a:rPr lang="zh-CN" altLang="en-US" sz="1600" i="0">
                                    <a:latin typeface="Cambria Math" panose="02040503050406030204" pitchFamily="18" charset="0"/>
                                  </a:rPr>
                                  <m:t>0</m:t>
                                </m:r>
                              </m:e>
                              <m:e>
                                <m:r>
                                  <a:rPr lang="zh-CN" altLang="en-US" sz="1600" i="0">
                                    <a:latin typeface="Cambria Math" panose="02040503050406030204" pitchFamily="18" charset="0"/>
                                  </a:rPr>
                                  <m:t>1</m:t>
                                </m:r>
                              </m:e>
                            </m:mr>
                          </m:m>
                        </m:e>
                      </m:d>
                    </m:oMath>
                  </m:oMathPara>
                </a14:m>
                <a:endParaRPr lang="zh-CN" altLang="en-US" sz="1600" dirty="0"/>
              </a:p>
            </p:txBody>
          </p:sp>
        </mc:Choice>
        <mc:Fallback xmlns="">
          <p:sp>
            <p:nvSpPr>
              <p:cNvPr id="16" name="矩形 15"/>
              <p:cNvSpPr>
                <a:spLocks noRot="1" noChangeAspect="1" noMove="1" noResize="1" noEditPoints="1" noAdjustHandles="1" noChangeArrowheads="1" noChangeShapeType="1" noTextEdit="1"/>
              </p:cNvSpPr>
              <p:nvPr/>
            </p:nvSpPr>
            <p:spPr>
              <a:xfrm>
                <a:off x="504409" y="3369458"/>
                <a:ext cx="2973073" cy="1284904"/>
              </a:xfrm>
              <a:prstGeom prst="rect">
                <a:avLst/>
              </a:prstGeom>
              <a:blipFill>
                <a:blip r:embed="rId10"/>
                <a:stretch>
                  <a:fillRect/>
                </a:stretch>
              </a:blipFill>
            </p:spPr>
            <p:txBody>
              <a:bodyPr/>
              <a:lstStyle/>
              <a:p>
                <a:r>
                  <a:rPr lang="zh-CN" altLang="en-US">
                    <a:noFill/>
                  </a:rPr>
                  <a:t> </a:t>
                </a:r>
              </a:p>
            </p:txBody>
          </p:sp>
        </mc:Fallback>
      </mc:AlternateContent>
      <p:sp>
        <p:nvSpPr>
          <p:cNvPr id="19" name="文本框 18"/>
          <p:cNvSpPr txBox="1"/>
          <p:nvPr/>
        </p:nvSpPr>
        <p:spPr>
          <a:xfrm>
            <a:off x="1115616" y="1347614"/>
            <a:ext cx="962508" cy="369332"/>
          </a:xfrm>
          <a:prstGeom prst="rect">
            <a:avLst/>
          </a:prstGeom>
          <a:noFill/>
        </p:spPr>
        <p:txBody>
          <a:bodyPr wrap="none" rtlCol="0">
            <a:spAutoFit/>
          </a:bodyPr>
          <a:lstStyle/>
          <a:p>
            <a:r>
              <a:rPr lang="en-US" altLang="zh-CN" dirty="0" smtClean="0"/>
              <a:t>Forward</a:t>
            </a:r>
            <a:endParaRPr lang="zh-CN" altLang="en-US" dirty="0"/>
          </a:p>
        </p:txBody>
      </p:sp>
      <p:sp>
        <p:nvSpPr>
          <p:cNvPr id="20" name="文本框 19"/>
          <p:cNvSpPr txBox="1"/>
          <p:nvPr/>
        </p:nvSpPr>
        <p:spPr>
          <a:xfrm>
            <a:off x="6660232" y="1419622"/>
            <a:ext cx="859081" cy="369332"/>
          </a:xfrm>
          <a:prstGeom prst="rect">
            <a:avLst/>
          </a:prstGeom>
          <a:noFill/>
        </p:spPr>
        <p:txBody>
          <a:bodyPr wrap="none" rtlCol="0">
            <a:spAutoFit/>
          </a:bodyPr>
          <a:lstStyle/>
          <a:p>
            <a:r>
              <a:rPr lang="en-US" altLang="zh-CN" dirty="0" smtClean="0"/>
              <a:t>Inverse</a:t>
            </a:r>
            <a:endParaRPr lang="zh-CN" altLang="en-US" dirty="0"/>
          </a:p>
        </p:txBody>
      </p:sp>
      <p:cxnSp>
        <p:nvCxnSpPr>
          <p:cNvPr id="22" name="直接连接符 21"/>
          <p:cNvCxnSpPr/>
          <p:nvPr/>
        </p:nvCxnSpPr>
        <p:spPr>
          <a:xfrm>
            <a:off x="611560" y="1788954"/>
            <a:ext cx="7920880"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矩形 23"/>
              <p:cNvSpPr/>
              <p:nvPr/>
            </p:nvSpPr>
            <p:spPr>
              <a:xfrm>
                <a:off x="6761576" y="2039564"/>
                <a:ext cx="1450782" cy="65094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zh-CN" altLang="en-US">
                          <a:latin typeface="Cambria Math" panose="02040503050406030204" pitchFamily="18" charset="0"/>
                        </a:rPr>
                        <m:t>α</m:t>
                      </m:r>
                      <m:r>
                        <a:rPr lang="zh-CN" altLang="en-US" i="0">
                          <a:latin typeface="Cambria Math" panose="02040503050406030204" pitchFamily="18" charset="0"/>
                        </a:rPr>
                        <m:t>=</m:t>
                      </m:r>
                      <m:r>
                        <m:rPr>
                          <m:sty m:val="p"/>
                        </m:rPr>
                        <a:rPr lang="zh-CN" altLang="en-US" i="0">
                          <a:latin typeface="Cambria Math" panose="02040503050406030204" pitchFamily="18" charset="0"/>
                        </a:rPr>
                        <m:t>arctg</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zh-CN" altLang="en-US" i="1">
                                  <a:latin typeface="Cambria Math" panose="02040503050406030204" pitchFamily="18" charset="0"/>
                                </a:rPr>
                                <m:t>𝑝</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𝑝</m:t>
                              </m:r>
                            </m:sub>
                          </m:sSub>
                        </m:den>
                      </m:f>
                    </m:oMath>
                  </m:oMathPara>
                </a14:m>
                <a:endParaRPr lang="zh-CN" altLang="en-US" dirty="0"/>
              </a:p>
            </p:txBody>
          </p:sp>
        </mc:Choice>
        <mc:Fallback xmlns="">
          <p:sp>
            <p:nvSpPr>
              <p:cNvPr id="24" name="矩形 23"/>
              <p:cNvSpPr>
                <a:spLocks noRot="1" noChangeAspect="1" noMove="1" noResize="1" noEditPoints="1" noAdjustHandles="1" noChangeArrowheads="1" noChangeShapeType="1" noTextEdit="1"/>
              </p:cNvSpPr>
              <p:nvPr/>
            </p:nvSpPr>
            <p:spPr>
              <a:xfrm>
                <a:off x="6761576" y="2039564"/>
                <a:ext cx="1450782" cy="650947"/>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p:cNvSpPr/>
              <p:nvPr/>
            </p:nvSpPr>
            <p:spPr>
              <a:xfrm>
                <a:off x="6737742" y="2623982"/>
                <a:ext cx="1860445" cy="57381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zh-CN" altLang="en-US">
                          <a:latin typeface="Cambria Math" panose="02040503050406030204" pitchFamily="18" charset="0"/>
                        </a:rPr>
                        <m:t>r</m:t>
                      </m:r>
                      <m:r>
                        <a:rPr lang="zh-CN" altLang="en-US" i="0">
                          <a:latin typeface="Cambria Math" panose="02040503050406030204" pitchFamily="18" charset="0"/>
                        </a:rPr>
                        <m:t>=</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𝑝</m:t>
                              </m:r>
                            </m:sub>
                          </m:sSub>
                        </m:num>
                        <m:den>
                          <m:r>
                            <a:rPr lang="zh-CN" altLang="en-US" i="1">
                              <a:latin typeface="Cambria Math" panose="02040503050406030204" pitchFamily="18" charset="0"/>
                            </a:rPr>
                            <m:t>𝑐𝑜𝑠</m:t>
                          </m:r>
                          <m:r>
                            <a:rPr lang="zh-CN" altLang="en-US" i="1">
                              <a:latin typeface="Cambria Math" panose="02040503050406030204" pitchFamily="18" charset="0"/>
                            </a:rPr>
                            <m:t>𝜃</m:t>
                          </m:r>
                        </m:den>
                      </m:f>
                      <m:r>
                        <a:rPr lang="zh-CN" altLang="en-US" i="0">
                          <a:latin typeface="Cambria Math" panose="02040503050406030204" pitchFamily="18" charset="0"/>
                        </a:rPr>
                        <m:t>=</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zh-CN" altLang="en-US" i="1">
                                  <a:latin typeface="Cambria Math" panose="02040503050406030204" pitchFamily="18" charset="0"/>
                                </a:rPr>
                                <m:t>𝑝</m:t>
                              </m:r>
                            </m:sub>
                          </m:sSub>
                        </m:num>
                        <m:den>
                          <m:r>
                            <a:rPr lang="zh-CN" altLang="en-US" i="1">
                              <a:latin typeface="Cambria Math" panose="02040503050406030204" pitchFamily="18" charset="0"/>
                            </a:rPr>
                            <m:t>𝑠𝑖𝑛</m:t>
                          </m:r>
                          <m:r>
                            <a:rPr lang="zh-CN" altLang="en-US" i="1">
                              <a:latin typeface="Cambria Math" panose="02040503050406030204" pitchFamily="18" charset="0"/>
                            </a:rPr>
                            <m:t>𝜃</m:t>
                          </m:r>
                        </m:den>
                      </m:f>
                    </m:oMath>
                  </m:oMathPara>
                </a14:m>
                <a:endParaRPr lang="zh-CN" altLang="en-US" dirty="0"/>
              </a:p>
            </p:txBody>
          </p:sp>
        </mc:Choice>
        <mc:Fallback xmlns="">
          <p:sp>
            <p:nvSpPr>
              <p:cNvPr id="25" name="矩形 24"/>
              <p:cNvSpPr>
                <a:spLocks noRot="1" noChangeAspect="1" noMove="1" noResize="1" noEditPoints="1" noAdjustHandles="1" noChangeArrowheads="1" noChangeShapeType="1" noTextEdit="1"/>
              </p:cNvSpPr>
              <p:nvPr/>
            </p:nvSpPr>
            <p:spPr>
              <a:xfrm>
                <a:off x="6737742" y="2623982"/>
                <a:ext cx="1860445" cy="573811"/>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矩形 25"/>
              <p:cNvSpPr/>
              <p:nvPr/>
            </p:nvSpPr>
            <p:spPr>
              <a:xfrm>
                <a:off x="6831666" y="3344745"/>
                <a:ext cx="842346" cy="3907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𝑙</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𝑧</m:t>
                          </m:r>
                        </m:e>
                        <m:sub>
                          <m:r>
                            <a:rPr lang="zh-CN" altLang="en-US" i="1">
                              <a:latin typeface="Cambria Math" panose="02040503050406030204" pitchFamily="18" charset="0"/>
                            </a:rPr>
                            <m:t>𝑝</m:t>
                          </m:r>
                        </m:sub>
                      </m:sSub>
                    </m:oMath>
                  </m:oMathPara>
                </a14:m>
                <a:endParaRPr lang="zh-CN" altLang="en-US" dirty="0"/>
              </a:p>
            </p:txBody>
          </p:sp>
        </mc:Choice>
        <mc:Fallback xmlns="">
          <p:sp>
            <p:nvSpPr>
              <p:cNvPr id="26" name="矩形 25"/>
              <p:cNvSpPr>
                <a:spLocks noRot="1" noChangeAspect="1" noMove="1" noResize="1" noEditPoints="1" noAdjustHandles="1" noChangeArrowheads="1" noChangeShapeType="1" noTextEdit="1"/>
              </p:cNvSpPr>
              <p:nvPr/>
            </p:nvSpPr>
            <p:spPr>
              <a:xfrm>
                <a:off x="6831666" y="3344745"/>
                <a:ext cx="842346" cy="390748"/>
              </a:xfrm>
              <a:prstGeom prst="rect">
                <a:avLst/>
              </a:prstGeom>
              <a:blipFill>
                <a:blip r:embed="rId13"/>
                <a:stretch>
                  <a:fillRect b="-312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3981631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36220" y="219075"/>
            <a:ext cx="5153660" cy="598805"/>
            <a:chOff x="-372" y="345"/>
            <a:chExt cx="8116" cy="943"/>
          </a:xfrm>
        </p:grpSpPr>
        <p:sp>
          <p:nvSpPr>
            <p:cNvPr id="9" name="矩形 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Kinematics of Serial Manipulators</a:t>
              </a:r>
            </a:p>
          </p:txBody>
        </p:sp>
        <p:sp>
          <p:nvSpPr>
            <p:cNvPr id="10" name="文本框 9"/>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串联机器臂运动学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1" name="椭圆 1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3419872" y="1138234"/>
            <a:ext cx="2232248" cy="400110"/>
          </a:xfrm>
          <a:prstGeom prst="rect">
            <a:avLst/>
          </a:prstGeom>
        </p:spPr>
        <p:txBody>
          <a:bodyPr wrap="square">
            <a:spAutoFit/>
          </a:bodyPr>
          <a:lstStyle/>
          <a:p>
            <a:r>
              <a:rPr lang="zh-CN" altLang="en-US" sz="2000" b="1" dirty="0">
                <a:solidFill>
                  <a:srgbClr val="002060"/>
                </a:solidFill>
              </a:rPr>
              <a:t>球坐标（</a:t>
            </a:r>
            <a:r>
              <a:rPr lang="en-US" altLang="zh-CN" sz="2000" b="1" dirty="0">
                <a:solidFill>
                  <a:srgbClr val="002060"/>
                </a:solidFill>
              </a:rPr>
              <a:t>PRR</a:t>
            </a:r>
            <a:r>
              <a:rPr lang="zh-CN" altLang="en-US" sz="2000" b="1" dirty="0">
                <a:solidFill>
                  <a:srgbClr val="002060"/>
                </a:solidFill>
              </a:rPr>
              <a:t>）</a:t>
            </a:r>
          </a:p>
        </p:txBody>
      </p:sp>
      <p:sp>
        <p:nvSpPr>
          <p:cNvPr id="6" name="Rectangle 5"/>
          <p:cNvSpPr>
            <a:spLocks noChangeArrowheads="1"/>
          </p:cNvSpPr>
          <p:nvPr/>
        </p:nvSpPr>
        <p:spPr bwMode="auto">
          <a:xfrm>
            <a:off x="618753" y="2474865"/>
            <a:ext cx="751884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9" name="文本框 18"/>
          <p:cNvSpPr txBox="1"/>
          <p:nvPr/>
        </p:nvSpPr>
        <p:spPr>
          <a:xfrm>
            <a:off x="1115616" y="1347614"/>
            <a:ext cx="962508" cy="369332"/>
          </a:xfrm>
          <a:prstGeom prst="rect">
            <a:avLst/>
          </a:prstGeom>
          <a:noFill/>
        </p:spPr>
        <p:txBody>
          <a:bodyPr wrap="none" rtlCol="0">
            <a:spAutoFit/>
          </a:bodyPr>
          <a:lstStyle/>
          <a:p>
            <a:r>
              <a:rPr lang="en-US" altLang="zh-CN" dirty="0" smtClean="0"/>
              <a:t>Forward</a:t>
            </a:r>
            <a:endParaRPr lang="zh-CN" altLang="en-US" dirty="0"/>
          </a:p>
        </p:txBody>
      </p:sp>
      <p:sp>
        <p:nvSpPr>
          <p:cNvPr id="20" name="文本框 19"/>
          <p:cNvSpPr txBox="1"/>
          <p:nvPr/>
        </p:nvSpPr>
        <p:spPr>
          <a:xfrm>
            <a:off x="6660232" y="1419622"/>
            <a:ext cx="859081" cy="369332"/>
          </a:xfrm>
          <a:prstGeom prst="rect">
            <a:avLst/>
          </a:prstGeom>
          <a:noFill/>
        </p:spPr>
        <p:txBody>
          <a:bodyPr wrap="none" rtlCol="0">
            <a:spAutoFit/>
          </a:bodyPr>
          <a:lstStyle/>
          <a:p>
            <a:r>
              <a:rPr lang="en-US" altLang="zh-CN" dirty="0" smtClean="0"/>
              <a:t>Inverse</a:t>
            </a:r>
            <a:endParaRPr lang="zh-CN" altLang="en-US" dirty="0"/>
          </a:p>
        </p:txBody>
      </p:sp>
      <p:cxnSp>
        <p:nvCxnSpPr>
          <p:cNvPr id="22" name="直接连接符 21"/>
          <p:cNvCxnSpPr/>
          <p:nvPr/>
        </p:nvCxnSpPr>
        <p:spPr>
          <a:xfrm>
            <a:off x="611560" y="1788954"/>
            <a:ext cx="7920880" cy="0"/>
          </a:xfrm>
          <a:prstGeom prst="line">
            <a:avLst/>
          </a:prstGeom>
        </p:spPr>
        <p:style>
          <a:lnRef idx="1">
            <a:schemeClr val="accent1"/>
          </a:lnRef>
          <a:fillRef idx="0">
            <a:schemeClr val="accent1"/>
          </a:fillRef>
          <a:effectRef idx="0">
            <a:schemeClr val="accent1"/>
          </a:effectRef>
          <a:fontRef idx="minor">
            <a:schemeClr val="tx1"/>
          </a:fontRef>
        </p:style>
      </p:cxnSp>
      <p:pic>
        <p:nvPicPr>
          <p:cNvPr id="21" name="图片 20"/>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21589" y="2106327"/>
            <a:ext cx="2367227" cy="1618302"/>
          </a:xfrm>
          <a:prstGeom prst="rect">
            <a:avLst/>
          </a:prstGeom>
          <a:noFill/>
          <a:ln>
            <a:noFill/>
          </a:ln>
        </p:spPr>
      </p:pic>
      <p:pic>
        <p:nvPicPr>
          <p:cNvPr id="23" name="图片 22"/>
          <p:cNvPicPr/>
          <p:nvPr/>
        </p:nvPicPr>
        <p:blipFill>
          <a:blip r:embed="rId4">
            <a:extLst>
              <a:ext uri="{28A0092B-C50C-407E-A947-70E740481C1C}">
                <a14:useLocalDpi xmlns:a14="http://schemas.microsoft.com/office/drawing/2010/main" val="0"/>
              </a:ext>
            </a:extLst>
          </a:blip>
          <a:stretch>
            <a:fillRect/>
          </a:stretch>
        </p:blipFill>
        <p:spPr>
          <a:xfrm>
            <a:off x="4337455" y="3897718"/>
            <a:ext cx="1512168" cy="861625"/>
          </a:xfrm>
          <a:prstGeom prst="rect">
            <a:avLst/>
          </a:prstGeom>
        </p:spPr>
      </p:pic>
      <mc:AlternateContent xmlns:mc="http://schemas.openxmlformats.org/markup-compatibility/2006" xmlns:a14="http://schemas.microsoft.com/office/drawing/2010/main">
        <mc:Choice Requires="a14">
          <p:sp>
            <p:nvSpPr>
              <p:cNvPr id="3" name="矩形 2"/>
              <p:cNvSpPr/>
              <p:nvPr/>
            </p:nvSpPr>
            <p:spPr>
              <a:xfrm>
                <a:off x="618753" y="1998981"/>
                <a:ext cx="3161160" cy="62356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sPre>
                            <m:sPrePr>
                              <m:ctrlPr>
                                <a:rPr lang="zh-CN" altLang="en-US" sz="1600" i="1">
                                  <a:latin typeface="Cambria Math" panose="02040503050406030204" pitchFamily="18" charset="0"/>
                                </a:rPr>
                              </m:ctrlPr>
                            </m:sPrePr>
                            <m:sub/>
                            <m:sup>
                              <m:r>
                                <a:rPr lang="zh-CN" altLang="en-US" sz="1600" i="1">
                                  <a:latin typeface="Cambria Math" panose="02040503050406030204" pitchFamily="18" charset="0"/>
                                </a:rPr>
                                <m:t>𝑅</m:t>
                              </m:r>
                            </m:sup>
                            <m:e>
                              <m:r>
                                <a:rPr lang="zh-CN" altLang="en-US" sz="1600" i="1">
                                  <a:latin typeface="Cambria Math" panose="02040503050406030204" pitchFamily="18" charset="0"/>
                                </a:rPr>
                                <m:t>𝑇</m:t>
                              </m:r>
                            </m:e>
                          </m:sPre>
                        </m:e>
                        <m:sub>
                          <m:r>
                            <a:rPr lang="zh-CN" altLang="en-US" sz="1600" i="1">
                              <a:latin typeface="Cambria Math" panose="02040503050406030204" pitchFamily="18" charset="0"/>
                            </a:rPr>
                            <m:t>𝑃</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𝑇</m:t>
                          </m:r>
                        </m:e>
                        <m:sub>
                          <m:r>
                            <a:rPr lang="zh-CN" altLang="en-US" sz="1600" i="1">
                              <a:latin typeface="Cambria Math" panose="02040503050406030204" pitchFamily="18" charset="0"/>
                            </a:rPr>
                            <m:t>𝑠𝑝h</m:t>
                          </m:r>
                        </m:sub>
                      </m:sSub>
                      <m:d>
                        <m:dPr>
                          <m:ctrlPr>
                            <a:rPr lang="zh-CN" altLang="en-US" sz="1600" i="1">
                              <a:latin typeface="Cambria Math" panose="02040503050406030204" pitchFamily="18" charset="0"/>
                            </a:rPr>
                          </m:ctrlPr>
                        </m:dPr>
                        <m:e>
                          <m:r>
                            <a:rPr lang="zh-CN" altLang="en-US" sz="1600" i="1">
                              <a:latin typeface="Cambria Math" panose="02040503050406030204" pitchFamily="18" charset="0"/>
                            </a:rPr>
                            <m:t>𝑟</m:t>
                          </m:r>
                          <m:r>
                            <a:rPr lang="zh-CN" altLang="en-US" sz="1600" i="0">
                              <a:latin typeface="Cambria Math" panose="02040503050406030204" pitchFamily="18" charset="0"/>
                            </a:rPr>
                            <m:t>,</m:t>
                          </m:r>
                          <m:r>
                            <a:rPr lang="zh-CN" altLang="en-US" sz="1600" i="1">
                              <a:latin typeface="Cambria Math" panose="02040503050406030204" pitchFamily="18" charset="0"/>
                            </a:rPr>
                            <m:t>𝛽</m:t>
                          </m:r>
                          <m:r>
                            <a:rPr lang="zh-CN" altLang="en-US" sz="1600" i="0">
                              <a:latin typeface="Cambria Math" panose="02040503050406030204" pitchFamily="18" charset="0"/>
                            </a:rPr>
                            <m:t>,</m:t>
                          </m:r>
                          <m:r>
                            <a:rPr lang="zh-CN" altLang="en-US" sz="1600" i="1">
                              <a:latin typeface="Cambria Math" panose="02040503050406030204" pitchFamily="18" charset="0"/>
                            </a:rPr>
                            <m:t>𝛾</m:t>
                          </m:r>
                        </m:e>
                      </m:d>
                      <m:r>
                        <a:rPr lang="zh-CN" altLang="en-US" sz="1600" i="0">
                          <a:latin typeface="Cambria Math" panose="02040503050406030204" pitchFamily="18" charset="0"/>
                        </a:rPr>
                        <m:t>=</m:t>
                      </m:r>
                      <m:r>
                        <a:rPr lang="zh-CN" altLang="en-US" sz="1600" i="1">
                          <a:latin typeface="Cambria Math" panose="02040503050406030204" pitchFamily="18" charset="0"/>
                        </a:rPr>
                        <m:t>𝑅𝑜𝑡</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𝑧</m:t>
                          </m:r>
                          <m:r>
                            <a:rPr lang="zh-CN" altLang="en-US" sz="1600" i="0">
                              <a:latin typeface="Cambria Math" panose="02040503050406030204" pitchFamily="18" charset="0"/>
                            </a:rPr>
                            <m:t>,</m:t>
                          </m:r>
                          <m:r>
                            <a:rPr lang="zh-CN" altLang="en-US" sz="1600" i="1">
                              <a:latin typeface="Cambria Math" panose="02040503050406030204" pitchFamily="18" charset="0"/>
                            </a:rPr>
                            <m:t>𝛾</m:t>
                          </m:r>
                        </m:e>
                      </m:d>
                      <m:r>
                        <a:rPr lang="zh-CN" altLang="en-US" sz="1600" i="1">
                          <a:latin typeface="Cambria Math" panose="02040503050406030204" pitchFamily="18" charset="0"/>
                        </a:rPr>
                        <m:t>𝑅𝑜𝑡</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𝑦</m:t>
                          </m:r>
                          <m:r>
                            <a:rPr lang="zh-CN" altLang="en-US" sz="1600" i="0">
                              <a:latin typeface="Cambria Math" panose="02040503050406030204" pitchFamily="18" charset="0"/>
                            </a:rPr>
                            <m:t>,</m:t>
                          </m:r>
                          <m:r>
                            <a:rPr lang="zh-CN" altLang="en-US" sz="1600" i="1">
                              <a:latin typeface="Cambria Math" panose="02040503050406030204" pitchFamily="18" charset="0"/>
                            </a:rPr>
                            <m:t>𝛽</m:t>
                          </m:r>
                        </m:e>
                      </m:d>
                      <m:r>
                        <a:rPr lang="zh-CN" altLang="en-US" sz="1600" i="1">
                          <a:latin typeface="Cambria Math" panose="02040503050406030204" pitchFamily="18" charset="0"/>
                        </a:rPr>
                        <m:t>𝑇𝑟𝑎𝑛𝑠</m:t>
                      </m:r>
                      <m:d>
                        <m:dPr>
                          <m:ctrlPr>
                            <a:rPr lang="zh-CN" altLang="en-US" sz="1600" i="1">
                              <a:latin typeface="Cambria Math" panose="02040503050406030204" pitchFamily="18" charset="0"/>
                            </a:rPr>
                          </m:ctrlPr>
                        </m:dPr>
                        <m:e>
                          <m:r>
                            <a:rPr lang="zh-CN" altLang="en-US" sz="1600" i="0">
                              <a:latin typeface="Cambria Math" panose="02040503050406030204" pitchFamily="18" charset="0"/>
                            </a:rPr>
                            <m:t>0,0,</m:t>
                          </m:r>
                          <m:r>
                            <a:rPr lang="zh-CN" altLang="en-US" sz="1600" i="1">
                              <a:latin typeface="Cambria Math" panose="02040503050406030204" pitchFamily="18" charset="0"/>
                            </a:rPr>
                            <m:t>𝛾</m:t>
                          </m:r>
                        </m:e>
                      </m:d>
                    </m:oMath>
                  </m:oMathPara>
                </a14:m>
                <a:endParaRPr lang="zh-CN" altLang="en-US" sz="1600" dirty="0"/>
              </a:p>
            </p:txBody>
          </p:sp>
        </mc:Choice>
        <mc:Fallback xmlns="">
          <p:sp>
            <p:nvSpPr>
              <p:cNvPr id="3" name="矩形 2"/>
              <p:cNvSpPr>
                <a:spLocks noRot="1" noChangeAspect="1" noMove="1" noResize="1" noEditPoints="1" noAdjustHandles="1" noChangeArrowheads="1" noChangeShapeType="1" noTextEdit="1"/>
              </p:cNvSpPr>
              <p:nvPr/>
            </p:nvSpPr>
            <p:spPr>
              <a:xfrm>
                <a:off x="618753" y="1998981"/>
                <a:ext cx="3161160" cy="623569"/>
              </a:xfrm>
              <a:prstGeom prst="rect">
                <a:avLst/>
              </a:prstGeom>
              <a:blipFill>
                <a:blip r:embed="rId5"/>
                <a:stretch>
                  <a:fillRect b="-58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611560" y="2647509"/>
                <a:ext cx="2927798" cy="139737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000" i="1">
                              <a:latin typeface="Cambria Math" panose="02040503050406030204" pitchFamily="18" charset="0"/>
                            </a:rPr>
                          </m:ctrlPr>
                        </m:sSubPr>
                        <m:e>
                          <m:sPre>
                            <m:sPrePr>
                              <m:ctrlPr>
                                <a:rPr lang="zh-CN" altLang="en-US" sz="1000" i="1">
                                  <a:latin typeface="Cambria Math" panose="02040503050406030204" pitchFamily="18" charset="0"/>
                                </a:rPr>
                              </m:ctrlPr>
                            </m:sPrePr>
                            <m:sub/>
                            <m:sup>
                              <m:r>
                                <a:rPr lang="zh-CN" altLang="en-US" sz="1000" i="1">
                                  <a:latin typeface="Cambria Math" panose="02040503050406030204" pitchFamily="18" charset="0"/>
                                </a:rPr>
                                <m:t>𝑅</m:t>
                              </m:r>
                            </m:sup>
                            <m:e>
                              <m:r>
                                <a:rPr lang="zh-CN" altLang="en-US" sz="1000" i="1">
                                  <a:latin typeface="Cambria Math" panose="02040503050406030204" pitchFamily="18" charset="0"/>
                                </a:rPr>
                                <m:t>𝑇</m:t>
                              </m:r>
                            </m:e>
                          </m:sPre>
                        </m:e>
                        <m:sub>
                          <m:r>
                            <a:rPr lang="zh-CN" altLang="en-US" sz="1000" i="1">
                              <a:latin typeface="Cambria Math" panose="02040503050406030204" pitchFamily="18" charset="0"/>
                            </a:rPr>
                            <m:t>𝑃</m:t>
                          </m:r>
                        </m:sub>
                      </m:sSub>
                      <m:r>
                        <a:rPr lang="zh-CN" altLang="en-US" sz="1000" i="0">
                          <a:latin typeface="Cambria Math" panose="02040503050406030204" pitchFamily="18" charset="0"/>
                        </a:rPr>
                        <m:t>=</m:t>
                      </m:r>
                      <m:d>
                        <m:dPr>
                          <m:begChr m:val="["/>
                          <m:endChr m:val="]"/>
                          <m:ctrlPr>
                            <a:rPr lang="zh-CN" altLang="en-US" sz="1000" i="1">
                              <a:latin typeface="Cambria Math" panose="02040503050406030204" pitchFamily="18" charset="0"/>
                            </a:rPr>
                          </m:ctrlPr>
                        </m:dPr>
                        <m:e>
                          <m:m>
                            <m:mPr>
                              <m:mcs>
                                <m:mc>
                                  <m:mcPr>
                                    <m:count m:val="4"/>
                                    <m:mcJc m:val="center"/>
                                  </m:mcPr>
                                </m:mc>
                              </m:mcs>
                              <m:ctrlPr>
                                <a:rPr lang="zh-CN" altLang="en-US" sz="1000" i="1">
                                  <a:latin typeface="Cambria Math" panose="02040503050406030204" pitchFamily="18" charset="0"/>
                                </a:rPr>
                              </m:ctrlPr>
                            </m:mPr>
                            <m:mr>
                              <m:e>
                                <m:r>
                                  <a:rPr lang="zh-CN" altLang="en-US" sz="1000" i="1">
                                    <a:latin typeface="Cambria Math" panose="02040503050406030204" pitchFamily="18" charset="0"/>
                                  </a:rPr>
                                  <m:t>𝐶</m:t>
                                </m:r>
                                <m:r>
                                  <a:rPr lang="zh-CN" altLang="en-US" sz="1000" i="1">
                                    <a:latin typeface="Cambria Math" panose="02040503050406030204" pitchFamily="18" charset="0"/>
                                  </a:rPr>
                                  <m:t>𝛾</m:t>
                                </m:r>
                              </m:e>
                              <m:e>
                                <m:r>
                                  <a:rPr lang="zh-CN" altLang="en-US" sz="1000" i="0">
                                    <a:latin typeface="Cambria Math" panose="02040503050406030204" pitchFamily="18" charset="0"/>
                                  </a:rPr>
                                  <m:t>−</m:t>
                                </m:r>
                                <m:r>
                                  <a:rPr lang="zh-CN" altLang="en-US" sz="1000" i="1">
                                    <a:latin typeface="Cambria Math" panose="02040503050406030204" pitchFamily="18" charset="0"/>
                                  </a:rPr>
                                  <m:t>𝑆</m:t>
                                </m:r>
                                <m:r>
                                  <a:rPr lang="zh-CN" altLang="en-US" sz="1000" i="1">
                                    <a:latin typeface="Cambria Math" panose="02040503050406030204" pitchFamily="18" charset="0"/>
                                  </a:rPr>
                                  <m:t>𝛾</m:t>
                                </m:r>
                              </m:e>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r>
                              <m:e>
                                <m:r>
                                  <a:rPr lang="zh-CN" altLang="en-US" sz="1000" i="1">
                                    <a:latin typeface="Cambria Math" panose="02040503050406030204" pitchFamily="18" charset="0"/>
                                  </a:rPr>
                                  <m:t>𝑆</m:t>
                                </m:r>
                                <m:r>
                                  <a:rPr lang="zh-CN" altLang="en-US" sz="1000" i="1">
                                    <a:latin typeface="Cambria Math" panose="02040503050406030204" pitchFamily="18" charset="0"/>
                                  </a:rPr>
                                  <m:t>𝛾</m:t>
                                </m:r>
                              </m:e>
                              <m:e>
                                <m:r>
                                  <a:rPr lang="zh-CN" altLang="en-US" sz="1000" i="1">
                                    <a:latin typeface="Cambria Math" panose="02040503050406030204" pitchFamily="18" charset="0"/>
                                  </a:rPr>
                                  <m:t>𝐶</m:t>
                                </m:r>
                                <m:r>
                                  <a:rPr lang="zh-CN" altLang="en-US" sz="1000" i="1">
                                    <a:latin typeface="Cambria Math" panose="02040503050406030204" pitchFamily="18" charset="0"/>
                                  </a:rPr>
                                  <m:t>𝛾</m:t>
                                </m:r>
                              </m:e>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e>
                                <m:r>
                                  <a:rPr lang="zh-CN" altLang="en-US" sz="1000" i="0">
                                    <a:latin typeface="Cambria Math" panose="02040503050406030204" pitchFamily="18" charset="0"/>
                                  </a:rPr>
                                  <m:t>1</m:t>
                                </m:r>
                              </m:e>
                              <m:e>
                                <m:r>
                                  <a:rPr lang="zh-CN" altLang="en-US" sz="1000" i="0">
                                    <a:latin typeface="Cambria Math" panose="02040503050406030204" pitchFamily="18" charset="0"/>
                                  </a:rPr>
                                  <m:t>0</m:t>
                                </m:r>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e>
                                <m:r>
                                  <a:rPr lang="zh-CN" altLang="en-US" sz="1000" i="0">
                                    <a:latin typeface="Cambria Math" panose="02040503050406030204" pitchFamily="18" charset="0"/>
                                  </a:rPr>
                                  <m:t>0</m:t>
                                </m:r>
                              </m:e>
                              <m:e>
                                <m:r>
                                  <a:rPr lang="zh-CN" altLang="en-US" sz="1000" i="0">
                                    <a:latin typeface="Cambria Math" panose="02040503050406030204" pitchFamily="18" charset="0"/>
                                  </a:rPr>
                                  <m:t>1</m:t>
                                </m:r>
                              </m:e>
                            </m:mr>
                          </m:m>
                        </m:e>
                      </m:d>
                      <m:r>
                        <a:rPr lang="zh-CN" altLang="en-US" sz="1000" i="0">
                          <a:latin typeface="Cambria Math" panose="02040503050406030204" pitchFamily="18" charset="0"/>
                        </a:rPr>
                        <m:t>⋅</m:t>
                      </m:r>
                      <m:d>
                        <m:dPr>
                          <m:begChr m:val="["/>
                          <m:endChr m:val="]"/>
                          <m:ctrlPr>
                            <a:rPr lang="zh-CN" altLang="en-US" sz="1000" i="1">
                              <a:latin typeface="Cambria Math" panose="02040503050406030204" pitchFamily="18" charset="0"/>
                            </a:rPr>
                          </m:ctrlPr>
                        </m:dPr>
                        <m:e>
                          <m:m>
                            <m:mPr>
                              <m:mcs>
                                <m:mc>
                                  <m:mcPr>
                                    <m:count m:val="4"/>
                                    <m:mcJc m:val="center"/>
                                  </m:mcPr>
                                </m:mc>
                              </m:mcs>
                              <m:ctrlPr>
                                <a:rPr lang="zh-CN" altLang="en-US" sz="1000" i="1">
                                  <a:latin typeface="Cambria Math" panose="02040503050406030204" pitchFamily="18" charset="0"/>
                                </a:rPr>
                              </m:ctrlPr>
                            </m:mPr>
                            <m:mr>
                              <m:e>
                                <m:r>
                                  <a:rPr lang="zh-CN" altLang="en-US" sz="1000" i="1">
                                    <a:latin typeface="Cambria Math" panose="02040503050406030204" pitchFamily="18" charset="0"/>
                                  </a:rPr>
                                  <m:t>𝐶</m:t>
                                </m:r>
                                <m:r>
                                  <a:rPr lang="zh-CN" altLang="en-US" sz="1000" i="1">
                                    <a:latin typeface="Cambria Math" panose="02040503050406030204" pitchFamily="18" charset="0"/>
                                  </a:rPr>
                                  <m:t>𝛽</m:t>
                                </m:r>
                              </m:e>
                              <m:e>
                                <m:r>
                                  <a:rPr lang="zh-CN" altLang="en-US" sz="1000" i="0">
                                    <a:latin typeface="Cambria Math" panose="02040503050406030204" pitchFamily="18" charset="0"/>
                                  </a:rPr>
                                  <m:t>0</m:t>
                                </m:r>
                              </m:e>
                              <m:e>
                                <m:r>
                                  <a:rPr lang="zh-CN" altLang="en-US" sz="1000" i="1">
                                    <a:latin typeface="Cambria Math" panose="02040503050406030204" pitchFamily="18" charset="0"/>
                                  </a:rPr>
                                  <m:t>𝑆</m:t>
                                </m:r>
                                <m:r>
                                  <a:rPr lang="zh-CN" altLang="en-US" sz="1000" i="1">
                                    <a:latin typeface="Cambria Math" panose="02040503050406030204" pitchFamily="18" charset="0"/>
                                  </a:rPr>
                                  <m:t>𝛽</m:t>
                                </m:r>
                              </m:e>
                              <m:e>
                                <m:r>
                                  <a:rPr lang="zh-CN" altLang="en-US" sz="1000" i="0">
                                    <a:latin typeface="Cambria Math" panose="02040503050406030204" pitchFamily="18" charset="0"/>
                                  </a:rPr>
                                  <m:t>0</m:t>
                                </m:r>
                              </m:e>
                            </m:mr>
                            <m:mr>
                              <m:e>
                                <m:r>
                                  <a:rPr lang="zh-CN" altLang="en-US" sz="1000" i="0">
                                    <a:latin typeface="Cambria Math" panose="02040503050406030204" pitchFamily="18" charset="0"/>
                                  </a:rPr>
                                  <m:t>0</m:t>
                                </m:r>
                              </m:e>
                              <m:e>
                                <m:r>
                                  <a:rPr lang="zh-CN" altLang="en-US" sz="1000" i="0">
                                    <a:latin typeface="Cambria Math" panose="02040503050406030204" pitchFamily="18" charset="0"/>
                                  </a:rPr>
                                  <m:t>1</m:t>
                                </m:r>
                              </m:e>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r>
                              <m:e>
                                <m:r>
                                  <a:rPr lang="zh-CN" altLang="en-US" sz="1000" i="0">
                                    <a:latin typeface="Cambria Math" panose="02040503050406030204" pitchFamily="18" charset="0"/>
                                  </a:rPr>
                                  <m:t>−</m:t>
                                </m:r>
                                <m:r>
                                  <a:rPr lang="zh-CN" altLang="en-US" sz="1000" i="1">
                                    <a:latin typeface="Cambria Math" panose="02040503050406030204" pitchFamily="18" charset="0"/>
                                  </a:rPr>
                                  <m:t>𝑆</m:t>
                                </m:r>
                                <m:r>
                                  <a:rPr lang="zh-CN" altLang="en-US" sz="1000" i="1">
                                    <a:latin typeface="Cambria Math" panose="02040503050406030204" pitchFamily="18" charset="0"/>
                                  </a:rPr>
                                  <m:t>𝛽</m:t>
                                </m:r>
                              </m:e>
                              <m:e>
                                <m:r>
                                  <a:rPr lang="zh-CN" altLang="en-US" sz="1000" i="0">
                                    <a:latin typeface="Cambria Math" panose="02040503050406030204" pitchFamily="18" charset="0"/>
                                  </a:rPr>
                                  <m:t>0</m:t>
                                </m:r>
                              </m:e>
                              <m:e>
                                <m:r>
                                  <a:rPr lang="zh-CN" altLang="en-US" sz="1000" i="1">
                                    <a:latin typeface="Cambria Math" panose="02040503050406030204" pitchFamily="18" charset="0"/>
                                  </a:rPr>
                                  <m:t>𝐶</m:t>
                                </m:r>
                                <m:r>
                                  <a:rPr lang="zh-CN" altLang="en-US" sz="1000" i="1">
                                    <a:latin typeface="Cambria Math" panose="02040503050406030204" pitchFamily="18" charset="0"/>
                                  </a:rPr>
                                  <m:t>𝛽</m:t>
                                </m:r>
                              </m:e>
                              <m:e>
                                <m:r>
                                  <a:rPr lang="zh-CN" altLang="en-US" sz="1000" i="0">
                                    <a:latin typeface="Cambria Math" panose="02040503050406030204" pitchFamily="18" charset="0"/>
                                  </a:rPr>
                                  <m:t>0</m:t>
                                </m:r>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e>
                                <m:r>
                                  <a:rPr lang="zh-CN" altLang="en-US" sz="1000" i="0">
                                    <a:latin typeface="Cambria Math" panose="02040503050406030204" pitchFamily="18" charset="0"/>
                                  </a:rPr>
                                  <m:t>0</m:t>
                                </m:r>
                              </m:e>
                              <m:e>
                                <m:r>
                                  <a:rPr lang="zh-CN" altLang="en-US" sz="1000" i="0">
                                    <a:latin typeface="Cambria Math" panose="02040503050406030204" pitchFamily="18" charset="0"/>
                                  </a:rPr>
                                  <m:t>1</m:t>
                                </m:r>
                              </m:e>
                            </m:mr>
                          </m:m>
                        </m:e>
                      </m:d>
                      <m:r>
                        <a:rPr lang="zh-CN" altLang="en-US" sz="1000" i="0">
                          <a:latin typeface="Cambria Math" panose="02040503050406030204" pitchFamily="18" charset="0"/>
                        </a:rPr>
                        <m:t>⋅</m:t>
                      </m:r>
                      <m:d>
                        <m:dPr>
                          <m:begChr m:val="["/>
                          <m:endChr m:val="]"/>
                          <m:ctrlPr>
                            <a:rPr lang="zh-CN" altLang="en-US" sz="1000" i="1">
                              <a:latin typeface="Cambria Math" panose="02040503050406030204" pitchFamily="18" charset="0"/>
                            </a:rPr>
                          </m:ctrlPr>
                        </m:dPr>
                        <m:e>
                          <m:m>
                            <m:mPr>
                              <m:mcs>
                                <m:mc>
                                  <m:mcPr>
                                    <m:count m:val="4"/>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1</m:t>
                                </m:r>
                              </m:e>
                              <m:e>
                                <m:r>
                                  <a:rPr lang="zh-CN" altLang="en-US" sz="1000" i="0">
                                    <a:latin typeface="Cambria Math" panose="02040503050406030204" pitchFamily="18" charset="0"/>
                                  </a:rPr>
                                  <m:t>0</m:t>
                                </m:r>
                              </m:e>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r>
                              <m:e>
                                <m:r>
                                  <a:rPr lang="zh-CN" altLang="en-US" sz="1000" i="0">
                                    <a:latin typeface="Cambria Math" panose="02040503050406030204" pitchFamily="18" charset="0"/>
                                  </a:rPr>
                                  <m:t>0</m:t>
                                </m:r>
                              </m:e>
                              <m:e>
                                <m:r>
                                  <a:rPr lang="zh-CN" altLang="en-US" sz="1000" i="0">
                                    <a:latin typeface="Cambria Math" panose="02040503050406030204" pitchFamily="18" charset="0"/>
                                  </a:rPr>
                                  <m:t>1</m:t>
                                </m:r>
                              </m:e>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e>
                                <m:r>
                                  <a:rPr lang="zh-CN" altLang="en-US" sz="1000" i="0">
                                    <a:latin typeface="Cambria Math" panose="02040503050406030204" pitchFamily="18" charset="0"/>
                                  </a:rPr>
                                  <m:t>1</m:t>
                                </m:r>
                              </m:e>
                              <m:e>
                                <m:r>
                                  <a:rPr lang="zh-CN" altLang="en-US" sz="1000" i="1">
                                    <a:latin typeface="Cambria Math" panose="02040503050406030204" pitchFamily="18" charset="0"/>
                                  </a:rPr>
                                  <m:t>𝑟</m:t>
                                </m:r>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e>
                                <m:r>
                                  <a:rPr lang="zh-CN" altLang="en-US" sz="1000" i="0">
                                    <a:latin typeface="Cambria Math" panose="02040503050406030204" pitchFamily="18" charset="0"/>
                                  </a:rPr>
                                  <m:t>0</m:t>
                                </m:r>
                              </m:e>
                              <m:e>
                                <m:r>
                                  <a:rPr lang="zh-CN" altLang="en-US" sz="1000" i="0">
                                    <a:latin typeface="Cambria Math" panose="02040503050406030204" pitchFamily="18" charset="0"/>
                                  </a:rPr>
                                  <m:t>1</m:t>
                                </m:r>
                              </m:e>
                            </m:mr>
                          </m:m>
                        </m:e>
                      </m:d>
                    </m:oMath>
                  </m:oMathPara>
                </a14:m>
                <a:endParaRPr lang="zh-CN" altLang="en-US" sz="1000" dirty="0"/>
              </a:p>
            </p:txBody>
          </p:sp>
        </mc:Choice>
        <mc:Fallback xmlns="">
          <p:sp>
            <p:nvSpPr>
              <p:cNvPr id="5" name="矩形 4"/>
              <p:cNvSpPr>
                <a:spLocks noRot="1" noChangeAspect="1" noMove="1" noResize="1" noEditPoints="1" noAdjustHandles="1" noChangeArrowheads="1" noChangeShapeType="1" noTextEdit="1"/>
              </p:cNvSpPr>
              <p:nvPr/>
            </p:nvSpPr>
            <p:spPr>
              <a:xfrm>
                <a:off x="611560" y="2647509"/>
                <a:ext cx="2927798" cy="139737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618753" y="4069838"/>
                <a:ext cx="3593207" cy="7867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𝑅</m:t>
                              </m:r>
                            </m:sup>
                            <m:e>
                              <m:r>
                                <a:rPr lang="zh-CN" altLang="en-US" sz="1200" i="1">
                                  <a:latin typeface="Cambria Math" panose="02040503050406030204" pitchFamily="18" charset="0"/>
                                </a:rPr>
                                <m:t>𝑇</m:t>
                              </m:r>
                            </m:e>
                          </m:sPre>
                        </m:e>
                        <m:sub>
                          <m:r>
                            <a:rPr lang="zh-CN" altLang="en-US" sz="1200" i="1">
                              <a:latin typeface="Cambria Math" panose="02040503050406030204" pitchFamily="18" charset="0"/>
                            </a:rPr>
                            <m:t>𝑃</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1">
                              <a:latin typeface="Cambria Math" panose="02040503050406030204" pitchFamily="18" charset="0"/>
                            </a:rPr>
                            <m:t>𝑠𝑝h</m:t>
                          </m:r>
                        </m:sub>
                      </m:sSub>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4"/>
                                    <m:mcJc m:val="center"/>
                                  </m:mcPr>
                                </m:mc>
                              </m:mcs>
                              <m:ctrlPr>
                                <a:rPr lang="zh-CN" altLang="en-US" sz="1200" i="1">
                                  <a:latin typeface="Cambria Math" panose="02040503050406030204" pitchFamily="18" charset="0"/>
                                </a:rPr>
                              </m:ctrlPr>
                            </m:mPr>
                            <m:mr>
                              <m:e>
                                <m:r>
                                  <a:rPr lang="zh-CN" altLang="en-US" sz="1200" i="1">
                                    <a:latin typeface="Cambria Math" panose="02040503050406030204" pitchFamily="18" charset="0"/>
                                  </a:rPr>
                                  <m:t>𝐶</m:t>
                                </m:r>
                                <m:r>
                                  <a:rPr lang="zh-CN" altLang="en-US" sz="1200" i="1">
                                    <a:latin typeface="Cambria Math" panose="02040503050406030204" pitchFamily="18" charset="0"/>
                                  </a:rPr>
                                  <m:t>𝛽</m:t>
                                </m:r>
                                <m:r>
                                  <a:rPr lang="zh-CN" altLang="en-US" sz="1200" i="0">
                                    <a:latin typeface="Cambria Math" panose="02040503050406030204" pitchFamily="18" charset="0"/>
                                  </a:rPr>
                                  <m:t>⋅</m:t>
                                </m:r>
                                <m:r>
                                  <a:rPr lang="zh-CN" altLang="en-US" sz="1200" i="1">
                                    <a:latin typeface="Cambria Math" panose="02040503050406030204" pitchFamily="18" charset="0"/>
                                  </a:rPr>
                                  <m:t>𝐶</m:t>
                                </m:r>
                                <m:r>
                                  <a:rPr lang="zh-CN" altLang="en-US" sz="1200" i="1">
                                    <a:latin typeface="Cambria Math" panose="02040503050406030204" pitchFamily="18" charset="0"/>
                                  </a:rPr>
                                  <m:t>𝛾</m:t>
                                </m:r>
                              </m:e>
                              <m:e>
                                <m:r>
                                  <a:rPr lang="zh-CN" altLang="en-US" sz="1200" i="0">
                                    <a:latin typeface="Cambria Math" panose="02040503050406030204" pitchFamily="18" charset="0"/>
                                  </a:rPr>
                                  <m:t>−</m:t>
                                </m:r>
                                <m:r>
                                  <a:rPr lang="zh-CN" altLang="en-US" sz="1200" i="1">
                                    <a:latin typeface="Cambria Math" panose="02040503050406030204" pitchFamily="18" charset="0"/>
                                  </a:rPr>
                                  <m:t>𝑆</m:t>
                                </m:r>
                                <m:r>
                                  <a:rPr lang="zh-CN" altLang="en-US" sz="1200" i="1">
                                    <a:latin typeface="Cambria Math" panose="02040503050406030204" pitchFamily="18" charset="0"/>
                                  </a:rPr>
                                  <m:t>𝛾</m:t>
                                </m:r>
                              </m:e>
                              <m:e>
                                <m:r>
                                  <a:rPr lang="zh-CN" altLang="en-US" sz="1200" i="1">
                                    <a:latin typeface="Cambria Math" panose="02040503050406030204" pitchFamily="18" charset="0"/>
                                  </a:rPr>
                                  <m:t>𝑆</m:t>
                                </m:r>
                                <m:r>
                                  <a:rPr lang="zh-CN" altLang="en-US" sz="1200" i="1">
                                    <a:latin typeface="Cambria Math" panose="02040503050406030204" pitchFamily="18" charset="0"/>
                                  </a:rPr>
                                  <m:t>𝛽</m:t>
                                </m:r>
                                <m:r>
                                  <a:rPr lang="zh-CN" altLang="en-US" sz="1200" i="0">
                                    <a:latin typeface="Cambria Math" panose="02040503050406030204" pitchFamily="18" charset="0"/>
                                  </a:rPr>
                                  <m:t>⋅</m:t>
                                </m:r>
                                <m:r>
                                  <a:rPr lang="zh-CN" altLang="en-US" sz="1200" i="1">
                                    <a:latin typeface="Cambria Math" panose="02040503050406030204" pitchFamily="18" charset="0"/>
                                  </a:rPr>
                                  <m:t>𝐶</m:t>
                                </m:r>
                                <m:r>
                                  <a:rPr lang="zh-CN" altLang="en-US" sz="1200" i="1">
                                    <a:latin typeface="Cambria Math" panose="02040503050406030204" pitchFamily="18" charset="0"/>
                                  </a:rPr>
                                  <m:t>𝛾</m:t>
                                </m:r>
                              </m:e>
                              <m:e>
                                <m:r>
                                  <a:rPr lang="zh-CN" altLang="en-US" sz="1200" i="1">
                                    <a:latin typeface="Cambria Math" panose="02040503050406030204" pitchFamily="18" charset="0"/>
                                  </a:rPr>
                                  <m:t>𝑟𝑆</m:t>
                                </m:r>
                                <m:r>
                                  <a:rPr lang="zh-CN" altLang="en-US" sz="1200" i="1">
                                    <a:latin typeface="Cambria Math" panose="02040503050406030204" pitchFamily="18" charset="0"/>
                                  </a:rPr>
                                  <m:t>𝛽</m:t>
                                </m:r>
                                <m:r>
                                  <a:rPr lang="zh-CN" altLang="en-US" sz="1200" i="0">
                                    <a:latin typeface="Cambria Math" panose="02040503050406030204" pitchFamily="18" charset="0"/>
                                  </a:rPr>
                                  <m:t>⋅</m:t>
                                </m:r>
                                <m:r>
                                  <a:rPr lang="zh-CN" altLang="en-US" sz="1200" i="1">
                                    <a:latin typeface="Cambria Math" panose="02040503050406030204" pitchFamily="18" charset="0"/>
                                  </a:rPr>
                                  <m:t>𝐶</m:t>
                                </m:r>
                                <m:r>
                                  <a:rPr lang="zh-CN" altLang="en-US" sz="1200" i="1">
                                    <a:latin typeface="Cambria Math" panose="02040503050406030204" pitchFamily="18" charset="0"/>
                                  </a:rPr>
                                  <m:t>𝛾</m:t>
                                </m:r>
                              </m:e>
                            </m:mr>
                            <m:mr>
                              <m:e>
                                <m:r>
                                  <a:rPr lang="zh-CN" altLang="en-US" sz="1200" i="1">
                                    <a:latin typeface="Cambria Math" panose="02040503050406030204" pitchFamily="18" charset="0"/>
                                  </a:rPr>
                                  <m:t>𝐶</m:t>
                                </m:r>
                                <m:r>
                                  <a:rPr lang="zh-CN" altLang="en-US" sz="1200" i="1">
                                    <a:latin typeface="Cambria Math" panose="02040503050406030204" pitchFamily="18" charset="0"/>
                                  </a:rPr>
                                  <m:t>𝛽</m:t>
                                </m:r>
                                <m:r>
                                  <a:rPr lang="zh-CN" altLang="en-US" sz="1200" i="0">
                                    <a:latin typeface="Cambria Math" panose="02040503050406030204" pitchFamily="18" charset="0"/>
                                  </a:rPr>
                                  <m:t>⋅</m:t>
                                </m:r>
                                <m:r>
                                  <a:rPr lang="zh-CN" altLang="en-US" sz="1200" i="1">
                                    <a:latin typeface="Cambria Math" panose="02040503050406030204" pitchFamily="18" charset="0"/>
                                  </a:rPr>
                                  <m:t>𝑆</m:t>
                                </m:r>
                                <m:r>
                                  <a:rPr lang="zh-CN" altLang="en-US" sz="1200" i="1">
                                    <a:latin typeface="Cambria Math" panose="02040503050406030204" pitchFamily="18" charset="0"/>
                                  </a:rPr>
                                  <m:t>𝛾</m:t>
                                </m:r>
                              </m:e>
                              <m:e>
                                <m:r>
                                  <a:rPr lang="zh-CN" altLang="en-US" sz="1200" i="1">
                                    <a:latin typeface="Cambria Math" panose="02040503050406030204" pitchFamily="18" charset="0"/>
                                  </a:rPr>
                                  <m:t>𝐶</m:t>
                                </m:r>
                                <m:r>
                                  <a:rPr lang="zh-CN" altLang="en-US" sz="1200" i="1">
                                    <a:latin typeface="Cambria Math" panose="02040503050406030204" pitchFamily="18" charset="0"/>
                                  </a:rPr>
                                  <m:t>𝛾</m:t>
                                </m:r>
                              </m:e>
                              <m:e>
                                <m:r>
                                  <a:rPr lang="zh-CN" altLang="en-US" sz="1200" i="1">
                                    <a:latin typeface="Cambria Math" panose="02040503050406030204" pitchFamily="18" charset="0"/>
                                  </a:rPr>
                                  <m:t>𝑆</m:t>
                                </m:r>
                                <m:r>
                                  <a:rPr lang="zh-CN" altLang="en-US" sz="1200" i="1">
                                    <a:latin typeface="Cambria Math" panose="02040503050406030204" pitchFamily="18" charset="0"/>
                                  </a:rPr>
                                  <m:t>𝛽</m:t>
                                </m:r>
                                <m:r>
                                  <a:rPr lang="zh-CN" altLang="en-US" sz="1200" i="0">
                                    <a:latin typeface="Cambria Math" panose="02040503050406030204" pitchFamily="18" charset="0"/>
                                  </a:rPr>
                                  <m:t>⋅</m:t>
                                </m:r>
                                <m:r>
                                  <a:rPr lang="zh-CN" altLang="en-US" sz="1200" i="1">
                                    <a:latin typeface="Cambria Math" panose="02040503050406030204" pitchFamily="18" charset="0"/>
                                  </a:rPr>
                                  <m:t>𝑆</m:t>
                                </m:r>
                                <m:r>
                                  <a:rPr lang="zh-CN" altLang="en-US" sz="1200" i="1">
                                    <a:latin typeface="Cambria Math" panose="02040503050406030204" pitchFamily="18" charset="0"/>
                                  </a:rPr>
                                  <m:t>𝛾</m:t>
                                </m:r>
                              </m:e>
                              <m:e>
                                <m:r>
                                  <a:rPr lang="zh-CN" altLang="en-US" sz="1200" i="1">
                                    <a:latin typeface="Cambria Math" panose="02040503050406030204" pitchFamily="18" charset="0"/>
                                  </a:rPr>
                                  <m:t>𝑟𝑆</m:t>
                                </m:r>
                                <m:r>
                                  <a:rPr lang="zh-CN" altLang="en-US" sz="1200" i="1">
                                    <a:latin typeface="Cambria Math" panose="02040503050406030204" pitchFamily="18" charset="0"/>
                                  </a:rPr>
                                  <m:t>𝛽</m:t>
                                </m:r>
                                <m:r>
                                  <a:rPr lang="zh-CN" altLang="en-US" sz="1200" i="0">
                                    <a:latin typeface="Cambria Math" panose="02040503050406030204" pitchFamily="18" charset="0"/>
                                  </a:rPr>
                                  <m:t>⋅</m:t>
                                </m:r>
                                <m:r>
                                  <a:rPr lang="zh-CN" altLang="en-US" sz="1200" i="1">
                                    <a:latin typeface="Cambria Math" panose="02040503050406030204" pitchFamily="18" charset="0"/>
                                  </a:rPr>
                                  <m:t>𝑆</m:t>
                                </m:r>
                                <m:r>
                                  <a:rPr lang="zh-CN" altLang="en-US" sz="1200" i="1">
                                    <a:latin typeface="Cambria Math" panose="02040503050406030204" pitchFamily="18" charset="0"/>
                                  </a:rPr>
                                  <m:t>𝛾</m:t>
                                </m:r>
                              </m:e>
                            </m:mr>
                            <m:mr>
                              <m:e>
                                <m:r>
                                  <a:rPr lang="zh-CN" altLang="en-US" sz="1200" i="0">
                                    <a:latin typeface="Cambria Math" panose="02040503050406030204" pitchFamily="18" charset="0"/>
                                  </a:rPr>
                                  <m:t>−</m:t>
                                </m:r>
                                <m:r>
                                  <a:rPr lang="zh-CN" altLang="en-US" sz="1200" i="1">
                                    <a:latin typeface="Cambria Math" panose="02040503050406030204" pitchFamily="18" charset="0"/>
                                  </a:rPr>
                                  <m:t>𝑆</m:t>
                                </m:r>
                                <m:r>
                                  <a:rPr lang="zh-CN" altLang="en-US" sz="1200" i="1">
                                    <a:latin typeface="Cambria Math" panose="02040503050406030204" pitchFamily="18" charset="0"/>
                                  </a:rPr>
                                  <m:t>𝛽</m:t>
                                </m:r>
                              </m:e>
                              <m:e>
                                <m:r>
                                  <a:rPr lang="zh-CN" altLang="en-US" sz="1200" i="0">
                                    <a:latin typeface="Cambria Math" panose="02040503050406030204" pitchFamily="18" charset="0"/>
                                  </a:rPr>
                                  <m:t>0</m:t>
                                </m:r>
                              </m:e>
                              <m:e>
                                <m:r>
                                  <a:rPr lang="zh-CN" altLang="en-US" sz="1200" i="1">
                                    <a:latin typeface="Cambria Math" panose="02040503050406030204" pitchFamily="18" charset="0"/>
                                  </a:rPr>
                                  <m:t>𝐶</m:t>
                                </m:r>
                                <m:r>
                                  <a:rPr lang="zh-CN" altLang="en-US" sz="1200" i="1">
                                    <a:latin typeface="Cambria Math" panose="02040503050406030204" pitchFamily="18" charset="0"/>
                                  </a:rPr>
                                  <m:t>𝛽</m:t>
                                </m:r>
                              </m:e>
                              <m:e>
                                <m:r>
                                  <a:rPr lang="zh-CN" altLang="en-US" sz="1200" i="1">
                                    <a:latin typeface="Cambria Math" panose="02040503050406030204" pitchFamily="18" charset="0"/>
                                  </a:rPr>
                                  <m:t>𝑟𝐶</m:t>
                                </m:r>
                                <m:r>
                                  <a:rPr lang="zh-CN" altLang="en-US" sz="1200" i="1">
                                    <a:latin typeface="Cambria Math" panose="02040503050406030204" pitchFamily="18" charset="0"/>
                                  </a:rPr>
                                  <m:t>𝛽</m:t>
                                </m:r>
                              </m:e>
                            </m:mr>
                            <m:mr>
                              <m:e>
                                <m:r>
                                  <a:rPr lang="zh-CN" altLang="en-US" sz="1200" i="0">
                                    <a:latin typeface="Cambria Math" panose="02040503050406030204" pitchFamily="18" charset="0"/>
                                  </a:rPr>
                                  <m:t>0</m:t>
                                </m:r>
                              </m:e>
                              <m:e>
                                <m:r>
                                  <a:rPr lang="zh-CN" altLang="en-US" sz="1200" i="0">
                                    <a:latin typeface="Cambria Math" panose="02040503050406030204" pitchFamily="18" charset="0"/>
                                  </a:rPr>
                                  <m:t>0</m:t>
                                </m:r>
                              </m:e>
                              <m:e>
                                <m:r>
                                  <a:rPr lang="zh-CN" altLang="en-US" sz="1200" i="0">
                                    <a:latin typeface="Cambria Math" panose="02040503050406030204" pitchFamily="18" charset="0"/>
                                  </a:rPr>
                                  <m:t>0</m:t>
                                </m:r>
                              </m:e>
                              <m:e>
                                <m:r>
                                  <a:rPr lang="zh-CN" altLang="en-US" sz="1200" i="0">
                                    <a:latin typeface="Cambria Math" panose="02040503050406030204" pitchFamily="18" charset="0"/>
                                  </a:rPr>
                                  <m:t>1</m:t>
                                </m:r>
                              </m:e>
                            </m:mr>
                          </m:m>
                        </m:e>
                      </m:d>
                    </m:oMath>
                  </m:oMathPara>
                </a14:m>
                <a:endParaRPr lang="zh-CN" altLang="en-US" sz="1200" dirty="0"/>
              </a:p>
            </p:txBody>
          </p:sp>
        </mc:Choice>
        <mc:Fallback xmlns="">
          <p:sp>
            <p:nvSpPr>
              <p:cNvPr id="13" name="矩形 12"/>
              <p:cNvSpPr>
                <a:spLocks noRot="1" noChangeAspect="1" noMove="1" noResize="1" noEditPoints="1" noAdjustHandles="1" noChangeArrowheads="1" noChangeShapeType="1" noTextEdit="1"/>
              </p:cNvSpPr>
              <p:nvPr/>
            </p:nvSpPr>
            <p:spPr>
              <a:xfrm>
                <a:off x="618753" y="4069838"/>
                <a:ext cx="3593207" cy="78675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5652121" y="1933238"/>
                <a:ext cx="2880320" cy="491096"/>
              </a:xfrm>
              <a:prstGeom prst="rect">
                <a:avLst/>
              </a:prstGeom>
            </p:spPr>
            <p:txBody>
              <a:bodyPr wrap="square">
                <a:spAutoFit/>
              </a:bodyPr>
              <a:lstStyle/>
              <a:p>
                <a:pPr indent="266700" algn="ctr">
                  <a:spcBef>
                    <a:spcPts val="600"/>
                  </a:spcBef>
                  <a:spcAft>
                    <a:spcPts val="600"/>
                  </a:spcAft>
                </a:pPr>
                <a14:m>
                  <m:oMath xmlns:m="http://schemas.openxmlformats.org/officeDocument/2006/math">
                    <m:r>
                      <m:rPr>
                        <m:sty m:val="p"/>
                      </m:rPr>
                      <a:rPr lang="en-US" altLang="zh-CN" sz="1600">
                        <a:latin typeface="Cambria Math" panose="02040503050406030204" pitchFamily="18" charset="0"/>
                        <a:cs typeface="宋体" panose="02010600030101010101" pitchFamily="2" charset="-122"/>
                      </a:rPr>
                      <m:t>tan</m:t>
                    </m:r>
                    <m:r>
                      <a:rPr lang="en-US" altLang="zh-CN" sz="1600" i="1">
                        <a:latin typeface="Cambria Math" panose="02040503050406030204" pitchFamily="18" charset="0"/>
                        <a:cs typeface="宋体" panose="02010600030101010101" pitchFamily="2" charset="-122"/>
                      </a:rPr>
                      <m:t>𝛾</m:t>
                    </m:r>
                    <m:r>
                      <a:rPr lang="en-US" altLang="zh-CN" sz="1600" i="1">
                        <a:latin typeface="Cambria Math" panose="02040503050406030204" pitchFamily="18" charset="0"/>
                        <a:cs typeface="宋体" panose="02010600030101010101" pitchFamily="2" charset="-122"/>
                      </a:rPr>
                      <m:t>=</m:t>
                    </m:r>
                    <m:f>
                      <m:f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fPr>
                      <m:num>
                        <m:sSub>
                          <m:sSub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600" i="1">
                                <a:latin typeface="Cambria Math" panose="02040503050406030204" pitchFamily="18" charset="0"/>
                                <a:cs typeface="宋体" panose="02010600030101010101" pitchFamily="2" charset="-122"/>
                              </a:rPr>
                              <m:t>𝑦</m:t>
                            </m:r>
                          </m:e>
                          <m:sub>
                            <m:r>
                              <a:rPr lang="en-US" altLang="zh-CN" sz="1600" i="1">
                                <a:latin typeface="Cambria Math" panose="02040503050406030204" pitchFamily="18" charset="0"/>
                                <a:cs typeface="宋体" panose="02010600030101010101" pitchFamily="2" charset="-122"/>
                              </a:rPr>
                              <m:t>𝑝</m:t>
                            </m:r>
                          </m:sub>
                        </m:sSub>
                      </m:num>
                      <m:den>
                        <m:sSub>
                          <m:sSub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600" i="1">
                                <a:latin typeface="Cambria Math" panose="02040503050406030204" pitchFamily="18" charset="0"/>
                                <a:cs typeface="宋体" panose="02010600030101010101" pitchFamily="2" charset="-122"/>
                              </a:rPr>
                              <m:t>𝑥</m:t>
                            </m:r>
                          </m:e>
                          <m:sub>
                            <m:r>
                              <a:rPr lang="en-US" altLang="zh-CN" sz="1600" i="1">
                                <a:latin typeface="Cambria Math" panose="02040503050406030204" pitchFamily="18" charset="0"/>
                                <a:cs typeface="宋体" panose="02010600030101010101" pitchFamily="2" charset="-122"/>
                              </a:rPr>
                              <m:t>𝑝</m:t>
                            </m:r>
                          </m:sub>
                        </m:sSub>
                      </m:den>
                    </m:f>
                  </m:oMath>
                </a14:m>
                <a:r>
                  <a:rPr lang="en-US" altLang="zh-CN" sz="1600" dirty="0">
                    <a:latin typeface="宋体" panose="02010600030101010101" pitchFamily="2" charset="-122"/>
                    <a:cs typeface="宋体" panose="02010600030101010101" pitchFamily="2" charset="-122"/>
                  </a:rPr>
                  <a:t> </a:t>
                </a:r>
                <a14:m>
                  <m:oMath xmlns:m="http://schemas.openxmlformats.org/officeDocument/2006/math">
                    <m:r>
                      <a:rPr lang="en-US" altLang="zh-CN" sz="1600" i="1">
                        <a:latin typeface="Cambria Math" panose="02040503050406030204" pitchFamily="18" charset="0"/>
                        <a:cs typeface="宋体" panose="02010600030101010101" pitchFamily="2" charset="-122"/>
                      </a:rPr>
                      <m:t>→</m:t>
                    </m:r>
                    <m:r>
                      <m:rPr>
                        <m:sty m:val="p"/>
                      </m:rPr>
                      <a:rPr lang="en-US" altLang="zh-CN" sz="1600">
                        <a:latin typeface="Cambria Math" panose="02040503050406030204" pitchFamily="18" charset="0"/>
                        <a:cs typeface="宋体" panose="02010600030101010101" pitchFamily="2" charset="-122"/>
                      </a:rPr>
                      <m:t>γ</m:t>
                    </m:r>
                    <m:r>
                      <a:rPr lang="en-US" altLang="zh-CN" sz="1600">
                        <a:latin typeface="Cambria Math" panose="02040503050406030204" pitchFamily="18" charset="0"/>
                        <a:cs typeface="宋体" panose="02010600030101010101" pitchFamily="2" charset="-122"/>
                      </a:rPr>
                      <m:t>=</m:t>
                    </m:r>
                    <m:r>
                      <m:rPr>
                        <m:sty m:val="p"/>
                      </m:rPr>
                      <a:rPr lang="en-US" altLang="zh-CN" sz="1600">
                        <a:latin typeface="Cambria Math" panose="02040503050406030204" pitchFamily="18" charset="0"/>
                        <a:cs typeface="宋体" panose="02010600030101010101" pitchFamily="2" charset="-122"/>
                      </a:rPr>
                      <m:t>arctan</m:t>
                    </m:r>
                    <m:f>
                      <m:f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fPr>
                      <m:num>
                        <m:sSub>
                          <m:sSub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600" i="1">
                                <a:latin typeface="Cambria Math" panose="02040503050406030204" pitchFamily="18" charset="0"/>
                                <a:cs typeface="宋体" panose="02010600030101010101" pitchFamily="2" charset="-122"/>
                              </a:rPr>
                              <m:t>𝑦</m:t>
                            </m:r>
                          </m:e>
                          <m:sub>
                            <m:r>
                              <a:rPr lang="en-US" altLang="zh-CN" sz="1600" i="1">
                                <a:latin typeface="Cambria Math" panose="02040503050406030204" pitchFamily="18" charset="0"/>
                                <a:cs typeface="宋体" panose="02010600030101010101" pitchFamily="2" charset="-122"/>
                              </a:rPr>
                              <m:t>𝑝</m:t>
                            </m:r>
                          </m:sub>
                        </m:sSub>
                      </m:num>
                      <m:den>
                        <m:sSub>
                          <m:sSub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600" i="1">
                                <a:latin typeface="Cambria Math" panose="02040503050406030204" pitchFamily="18" charset="0"/>
                                <a:cs typeface="宋体" panose="02010600030101010101" pitchFamily="2" charset="-122"/>
                              </a:rPr>
                              <m:t>𝑥</m:t>
                            </m:r>
                          </m:e>
                          <m:sub>
                            <m:r>
                              <a:rPr lang="en-US" altLang="zh-CN" sz="1600" i="1">
                                <a:latin typeface="Cambria Math" panose="02040503050406030204" pitchFamily="18" charset="0"/>
                                <a:cs typeface="宋体" panose="02010600030101010101" pitchFamily="2" charset="-122"/>
                              </a:rPr>
                              <m:t>𝑝</m:t>
                            </m:r>
                          </m:sub>
                        </m:sSub>
                      </m:den>
                    </m:f>
                  </m:oMath>
                </a14:m>
                <a:endParaRPr lang="zh-CN" altLang="zh-CN" sz="1600" dirty="0">
                  <a:latin typeface="宋体" panose="02010600030101010101" pitchFamily="2" charset="-122"/>
                  <a:cs typeface="宋体" panose="02010600030101010101" pitchFamily="2" charset="-122"/>
                </a:endParaRPr>
              </a:p>
            </p:txBody>
          </p:sp>
        </mc:Choice>
        <mc:Fallback xmlns="">
          <p:sp>
            <p:nvSpPr>
              <p:cNvPr id="15" name="矩形 14"/>
              <p:cNvSpPr>
                <a:spLocks noRot="1" noChangeAspect="1" noMove="1" noResize="1" noEditPoints="1" noAdjustHandles="1" noChangeArrowheads="1" noChangeShapeType="1" noTextEdit="1"/>
              </p:cNvSpPr>
              <p:nvPr/>
            </p:nvSpPr>
            <p:spPr>
              <a:xfrm>
                <a:off x="5652121" y="1933238"/>
                <a:ext cx="2880320" cy="491096"/>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6387035" y="2416951"/>
                <a:ext cx="1694118" cy="5888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zh-CN" altLang="en-US" sz="1600">
                          <a:latin typeface="Cambria Math" panose="02040503050406030204" pitchFamily="18" charset="0"/>
                        </a:rPr>
                        <m:t>t</m:t>
                      </m:r>
                      <m:r>
                        <m:rPr>
                          <m:sty m:val="p"/>
                        </m:rPr>
                        <a:rPr lang="zh-CN" altLang="en-US" sz="1600" i="0">
                          <a:latin typeface="Cambria Math" panose="02040503050406030204" pitchFamily="18" charset="0"/>
                        </a:rPr>
                        <m:t>an</m:t>
                      </m:r>
                      <m:r>
                        <a:rPr lang="zh-CN" altLang="en-US" sz="1600" i="1">
                          <a:latin typeface="Cambria Math" panose="02040503050406030204" pitchFamily="18" charset="0"/>
                        </a:rPr>
                        <m:t>𝛽</m:t>
                      </m:r>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𝑦</m:t>
                              </m:r>
                            </m:e>
                            <m:sub>
                              <m:r>
                                <a:rPr lang="zh-CN" altLang="en-US" sz="1600" i="1">
                                  <a:latin typeface="Cambria Math" panose="02040503050406030204" pitchFamily="18" charset="0"/>
                                </a:rPr>
                                <m:t>𝑝</m:t>
                              </m:r>
                            </m:sub>
                          </m:sSub>
                        </m:num>
                        <m:den>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𝑧</m:t>
                              </m:r>
                            </m:e>
                            <m:sub>
                              <m:r>
                                <a:rPr lang="zh-CN" altLang="en-US" sz="1600" i="1">
                                  <a:latin typeface="Cambria Math" panose="02040503050406030204" pitchFamily="18" charset="0"/>
                                </a:rPr>
                                <m:t>𝑝</m:t>
                              </m:r>
                            </m:sub>
                          </m:sSub>
                          <m:r>
                            <a:rPr lang="zh-CN" altLang="en-US" sz="1600" i="0">
                              <a:latin typeface="Cambria Math" panose="02040503050406030204" pitchFamily="18" charset="0"/>
                            </a:rPr>
                            <m:t>∗</m:t>
                          </m:r>
                          <m:r>
                            <a:rPr lang="zh-CN" altLang="en-US" sz="1600" i="1">
                              <a:latin typeface="Cambria Math" panose="02040503050406030204" pitchFamily="18" charset="0"/>
                            </a:rPr>
                            <m:t>𝑠𝑖𝑛</m:t>
                          </m:r>
                          <m:r>
                            <a:rPr lang="zh-CN" altLang="en-US" sz="1600" i="1">
                              <a:latin typeface="Cambria Math" panose="02040503050406030204" pitchFamily="18" charset="0"/>
                            </a:rPr>
                            <m:t>𝛾</m:t>
                          </m:r>
                        </m:den>
                      </m:f>
                    </m:oMath>
                  </m:oMathPara>
                </a14:m>
                <a:endParaRPr lang="zh-CN" altLang="en-US" sz="1600" dirty="0"/>
              </a:p>
            </p:txBody>
          </p:sp>
        </mc:Choice>
        <mc:Fallback xmlns="">
          <p:sp>
            <p:nvSpPr>
              <p:cNvPr id="17" name="矩形 16"/>
              <p:cNvSpPr>
                <a:spLocks noRot="1" noChangeAspect="1" noMove="1" noResize="1" noEditPoints="1" noAdjustHandles="1" noChangeArrowheads="1" noChangeShapeType="1" noTextEdit="1"/>
              </p:cNvSpPr>
              <p:nvPr/>
            </p:nvSpPr>
            <p:spPr>
              <a:xfrm>
                <a:off x="6387035" y="2416951"/>
                <a:ext cx="1694118" cy="588816"/>
              </a:xfrm>
              <a:prstGeom prst="rect">
                <a:avLst/>
              </a:prstGeom>
              <a:blipFill>
                <a:blip r:embed="rId9"/>
                <a:stretch>
                  <a:fillRect b="-103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6361532" y="3034096"/>
                <a:ext cx="2066848" cy="5888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𝛽</m:t>
                      </m:r>
                      <m:r>
                        <a:rPr lang="zh-CN" altLang="en-US" sz="1600" i="0">
                          <a:latin typeface="Cambria Math" panose="02040503050406030204" pitchFamily="18" charset="0"/>
                        </a:rPr>
                        <m:t>=</m:t>
                      </m:r>
                      <m:r>
                        <a:rPr lang="zh-CN" altLang="en-US" sz="1600" i="1">
                          <a:latin typeface="Cambria Math" panose="02040503050406030204" pitchFamily="18" charset="0"/>
                        </a:rPr>
                        <m:t>𝑎𝑟𝑐𝑡𝑎𝑛</m:t>
                      </m:r>
                      <m:f>
                        <m:fPr>
                          <m:ctrlPr>
                            <a:rPr lang="zh-CN" altLang="en-US" sz="1600" i="1">
                              <a:latin typeface="Cambria Math" panose="02040503050406030204" pitchFamily="18" charset="0"/>
                            </a:rPr>
                          </m:ctrlPr>
                        </m:fPr>
                        <m:num>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𝑦</m:t>
                              </m:r>
                            </m:e>
                            <m:sub>
                              <m:r>
                                <a:rPr lang="zh-CN" altLang="en-US" sz="1600" i="1">
                                  <a:latin typeface="Cambria Math" panose="02040503050406030204" pitchFamily="18" charset="0"/>
                                </a:rPr>
                                <m:t>𝑝</m:t>
                              </m:r>
                            </m:sub>
                          </m:sSub>
                        </m:num>
                        <m:den>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𝑧</m:t>
                              </m:r>
                            </m:e>
                            <m:sub>
                              <m:r>
                                <a:rPr lang="zh-CN" altLang="en-US" sz="1600" i="1">
                                  <a:latin typeface="Cambria Math" panose="02040503050406030204" pitchFamily="18" charset="0"/>
                                </a:rPr>
                                <m:t>𝑝</m:t>
                              </m:r>
                            </m:sub>
                          </m:sSub>
                          <m:r>
                            <a:rPr lang="zh-CN" altLang="en-US" sz="1600" i="0">
                              <a:latin typeface="Cambria Math" panose="02040503050406030204" pitchFamily="18" charset="0"/>
                            </a:rPr>
                            <m:t>∗</m:t>
                          </m:r>
                          <m:r>
                            <a:rPr lang="zh-CN" altLang="en-US" sz="1600" i="1">
                              <a:latin typeface="Cambria Math" panose="02040503050406030204" pitchFamily="18" charset="0"/>
                            </a:rPr>
                            <m:t>𝑠𝑖𝑛</m:t>
                          </m:r>
                          <m:r>
                            <a:rPr lang="zh-CN" altLang="en-US" sz="1600" i="1">
                              <a:latin typeface="Cambria Math" panose="02040503050406030204" pitchFamily="18" charset="0"/>
                            </a:rPr>
                            <m:t>𝛾</m:t>
                          </m:r>
                        </m:den>
                      </m:f>
                    </m:oMath>
                  </m:oMathPara>
                </a14:m>
                <a:endParaRPr lang="zh-CN" altLang="en-US" sz="1600" dirty="0"/>
              </a:p>
            </p:txBody>
          </p:sp>
        </mc:Choice>
        <mc:Fallback xmlns="">
          <p:sp>
            <p:nvSpPr>
              <p:cNvPr id="18" name="矩形 17"/>
              <p:cNvSpPr>
                <a:spLocks noRot="1" noChangeAspect="1" noMove="1" noResize="1" noEditPoints="1" noAdjustHandles="1" noChangeArrowheads="1" noChangeShapeType="1" noTextEdit="1"/>
              </p:cNvSpPr>
              <p:nvPr/>
            </p:nvSpPr>
            <p:spPr>
              <a:xfrm>
                <a:off x="6361532" y="3034096"/>
                <a:ext cx="2066848" cy="588816"/>
              </a:xfrm>
              <a:prstGeom prst="rect">
                <a:avLst/>
              </a:prstGeom>
              <a:blipFill>
                <a:blip r:embed="rId10"/>
                <a:stretch>
                  <a:fillRect b="-10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矩形 26"/>
              <p:cNvSpPr/>
              <p:nvPr/>
            </p:nvSpPr>
            <p:spPr>
              <a:xfrm>
                <a:off x="6826916" y="3857334"/>
                <a:ext cx="1030730" cy="5600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𝑟</m:t>
                      </m:r>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𝑧</m:t>
                              </m:r>
                            </m:e>
                            <m:sub>
                              <m:r>
                                <a:rPr lang="zh-CN" altLang="en-US" sz="1600" i="1">
                                  <a:latin typeface="Cambria Math" panose="02040503050406030204" pitchFamily="18" charset="0"/>
                                </a:rPr>
                                <m:t>𝑝</m:t>
                              </m:r>
                            </m:sub>
                          </m:sSub>
                        </m:num>
                        <m:den>
                          <m:r>
                            <a:rPr lang="zh-CN" altLang="en-US" sz="1600" i="1">
                              <a:latin typeface="Cambria Math" panose="02040503050406030204" pitchFamily="18" charset="0"/>
                            </a:rPr>
                            <m:t>𝑐𝑜𝑠</m:t>
                          </m:r>
                          <m:r>
                            <a:rPr lang="zh-CN" altLang="en-US" sz="1600" i="1">
                              <a:latin typeface="Cambria Math" panose="02040503050406030204" pitchFamily="18" charset="0"/>
                            </a:rPr>
                            <m:t>𝛽</m:t>
                          </m:r>
                        </m:den>
                      </m:f>
                    </m:oMath>
                  </m:oMathPara>
                </a14:m>
                <a:endParaRPr lang="zh-CN" altLang="en-US" sz="1600" dirty="0"/>
              </a:p>
            </p:txBody>
          </p:sp>
        </mc:Choice>
        <mc:Fallback xmlns="">
          <p:sp>
            <p:nvSpPr>
              <p:cNvPr id="27" name="矩形 26"/>
              <p:cNvSpPr>
                <a:spLocks noRot="1" noChangeAspect="1" noMove="1" noResize="1" noEditPoints="1" noAdjustHandles="1" noChangeArrowheads="1" noChangeShapeType="1" noTextEdit="1"/>
              </p:cNvSpPr>
              <p:nvPr/>
            </p:nvSpPr>
            <p:spPr>
              <a:xfrm>
                <a:off x="6826916" y="3857334"/>
                <a:ext cx="1030730" cy="560090"/>
              </a:xfrm>
              <a:prstGeom prst="rect">
                <a:avLst/>
              </a:prstGeom>
              <a:blipFill>
                <a:blip r:embed="rId11"/>
                <a:stretch>
                  <a:fillRect b="-760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5567226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36220" y="219075"/>
            <a:ext cx="5153660" cy="598805"/>
            <a:chOff x="-372" y="345"/>
            <a:chExt cx="8116" cy="943"/>
          </a:xfrm>
        </p:grpSpPr>
        <p:sp>
          <p:nvSpPr>
            <p:cNvPr id="9" name="矩形 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Kinematics of Serial Manipulators</a:t>
              </a:r>
            </a:p>
          </p:txBody>
        </p:sp>
        <p:sp>
          <p:nvSpPr>
            <p:cNvPr id="10" name="文本框 9"/>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串联机器臂运动学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1" name="椭圆 1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3419872" y="1138234"/>
            <a:ext cx="2232248" cy="400110"/>
          </a:xfrm>
          <a:prstGeom prst="rect">
            <a:avLst/>
          </a:prstGeom>
        </p:spPr>
        <p:txBody>
          <a:bodyPr wrap="square">
            <a:spAutoFit/>
          </a:bodyPr>
          <a:lstStyle/>
          <a:p>
            <a:r>
              <a:rPr lang="zh-CN" altLang="en-US" sz="2000" b="1" dirty="0">
                <a:solidFill>
                  <a:srgbClr val="002060"/>
                </a:solidFill>
              </a:rPr>
              <a:t>平面关节型</a:t>
            </a:r>
            <a:r>
              <a:rPr lang="en-US" altLang="zh-CN" sz="2000" b="1" dirty="0">
                <a:solidFill>
                  <a:srgbClr val="002060"/>
                </a:solidFill>
              </a:rPr>
              <a:t>(RRP)</a:t>
            </a:r>
            <a:endParaRPr lang="zh-CN" altLang="en-US" sz="2000" b="1" dirty="0">
              <a:solidFill>
                <a:srgbClr val="002060"/>
              </a:solidFill>
            </a:endParaRPr>
          </a:p>
        </p:txBody>
      </p:sp>
      <p:sp>
        <p:nvSpPr>
          <p:cNvPr id="19" name="文本框 18"/>
          <p:cNvSpPr txBox="1"/>
          <p:nvPr/>
        </p:nvSpPr>
        <p:spPr>
          <a:xfrm>
            <a:off x="1115616" y="1347614"/>
            <a:ext cx="962508" cy="369332"/>
          </a:xfrm>
          <a:prstGeom prst="rect">
            <a:avLst/>
          </a:prstGeom>
          <a:noFill/>
        </p:spPr>
        <p:txBody>
          <a:bodyPr wrap="none" rtlCol="0">
            <a:spAutoFit/>
          </a:bodyPr>
          <a:lstStyle/>
          <a:p>
            <a:r>
              <a:rPr lang="en-US" altLang="zh-CN" dirty="0" smtClean="0"/>
              <a:t>Forward</a:t>
            </a:r>
            <a:endParaRPr lang="zh-CN" altLang="en-US" dirty="0"/>
          </a:p>
        </p:txBody>
      </p:sp>
      <p:sp>
        <p:nvSpPr>
          <p:cNvPr id="20" name="文本框 19"/>
          <p:cNvSpPr txBox="1"/>
          <p:nvPr/>
        </p:nvSpPr>
        <p:spPr>
          <a:xfrm>
            <a:off x="6660232" y="1419622"/>
            <a:ext cx="859081" cy="369332"/>
          </a:xfrm>
          <a:prstGeom prst="rect">
            <a:avLst/>
          </a:prstGeom>
          <a:noFill/>
        </p:spPr>
        <p:txBody>
          <a:bodyPr wrap="none" rtlCol="0">
            <a:spAutoFit/>
          </a:bodyPr>
          <a:lstStyle/>
          <a:p>
            <a:r>
              <a:rPr lang="en-US" altLang="zh-CN" dirty="0" smtClean="0"/>
              <a:t>Inverse</a:t>
            </a:r>
            <a:endParaRPr lang="zh-CN" altLang="en-US" dirty="0"/>
          </a:p>
        </p:txBody>
      </p:sp>
      <p:cxnSp>
        <p:nvCxnSpPr>
          <p:cNvPr id="22" name="直接连接符 21"/>
          <p:cNvCxnSpPr/>
          <p:nvPr/>
        </p:nvCxnSpPr>
        <p:spPr>
          <a:xfrm>
            <a:off x="611560" y="1788954"/>
            <a:ext cx="7920880" cy="0"/>
          </a:xfrm>
          <a:prstGeom prst="line">
            <a:avLst/>
          </a:prstGeom>
        </p:spPr>
        <p:style>
          <a:lnRef idx="1">
            <a:schemeClr val="accent1"/>
          </a:lnRef>
          <a:fillRef idx="0">
            <a:schemeClr val="accent1"/>
          </a:fillRef>
          <a:effectRef idx="0">
            <a:schemeClr val="accent1"/>
          </a:effectRef>
          <a:fontRef idx="minor">
            <a:schemeClr val="tx1"/>
          </a:fontRef>
        </p:style>
      </p:cxnSp>
      <p:pic>
        <p:nvPicPr>
          <p:cNvPr id="24" name="图片 23"/>
          <p:cNvPicPr/>
          <p:nvPr/>
        </p:nvPicPr>
        <p:blipFill>
          <a:blip r:embed="rId3">
            <a:extLst>
              <a:ext uri="{28A0092B-C50C-407E-A947-70E740481C1C}">
                <a14:useLocalDpi xmlns:a14="http://schemas.microsoft.com/office/drawing/2010/main" val="0"/>
              </a:ext>
            </a:extLst>
          </a:blip>
          <a:stretch>
            <a:fillRect/>
          </a:stretch>
        </p:blipFill>
        <p:spPr>
          <a:xfrm>
            <a:off x="844636" y="2165607"/>
            <a:ext cx="2719252" cy="2195623"/>
          </a:xfrm>
          <a:prstGeom prst="rect">
            <a:avLst/>
          </a:prstGeom>
        </p:spPr>
      </p:pic>
      <p:pic>
        <p:nvPicPr>
          <p:cNvPr id="25" name="图片 24"/>
          <p:cNvPicPr/>
          <p:nvPr/>
        </p:nvPicPr>
        <p:blipFill>
          <a:blip r:embed="rId4">
            <a:extLst>
              <a:ext uri="{28A0092B-C50C-407E-A947-70E740481C1C}">
                <a14:useLocalDpi xmlns:a14="http://schemas.microsoft.com/office/drawing/2010/main" val="0"/>
              </a:ext>
            </a:extLst>
          </a:blip>
          <a:stretch>
            <a:fillRect/>
          </a:stretch>
        </p:blipFill>
        <p:spPr>
          <a:xfrm>
            <a:off x="3635896" y="2165606"/>
            <a:ext cx="2232248" cy="2195623"/>
          </a:xfrm>
          <a:prstGeom prst="rect">
            <a:avLst/>
          </a:prstGeom>
        </p:spPr>
      </p:pic>
      <p:pic>
        <p:nvPicPr>
          <p:cNvPr id="5122" name="Picture 2" descr="传送带跟踪|扩展功能|产品|工业用机器人|DENSO WAVE"/>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6012160" y="2158285"/>
            <a:ext cx="2202944" cy="2202944"/>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844637" y="4553214"/>
            <a:ext cx="7370468" cy="338554"/>
          </a:xfrm>
          <a:prstGeom prst="rect">
            <a:avLst/>
          </a:prstGeom>
        </p:spPr>
        <p:txBody>
          <a:bodyPr wrap="square">
            <a:spAutoFit/>
          </a:bodyPr>
          <a:lstStyle/>
          <a:p>
            <a:pPr algn="ctr"/>
            <a:r>
              <a:rPr lang="zh-CN" altLang="zh-CN" sz="1600" dirty="0"/>
              <a:t>四关节平面坐标机械</a:t>
            </a:r>
            <a:r>
              <a:rPr lang="zh-CN" altLang="zh-CN" sz="1600" dirty="0" smtClean="0"/>
              <a:t>臂</a:t>
            </a:r>
            <a:r>
              <a:rPr lang="en-US" altLang="zh-CN" sz="1600" dirty="0" smtClean="0"/>
              <a:t>: SCARA(Selective </a:t>
            </a:r>
            <a:r>
              <a:rPr lang="en-US" altLang="zh-CN" sz="1600" dirty="0"/>
              <a:t>Compliance Assembly Robot Arm)</a:t>
            </a:r>
            <a:endParaRPr lang="zh-CN" altLang="en-US" sz="1600" dirty="0"/>
          </a:p>
        </p:txBody>
      </p:sp>
    </p:spTree>
    <p:extLst>
      <p:ext uri="{BB962C8B-B14F-4D97-AF65-F5344CB8AC3E}">
        <p14:creationId xmlns:p14="http://schemas.microsoft.com/office/powerpoint/2010/main" val="160734451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36220" y="219075"/>
            <a:ext cx="5153660" cy="598805"/>
            <a:chOff x="-372" y="345"/>
            <a:chExt cx="8116" cy="943"/>
          </a:xfrm>
        </p:grpSpPr>
        <p:sp>
          <p:nvSpPr>
            <p:cNvPr id="9" name="矩形 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Kinematics of Serial Manipulators</a:t>
              </a:r>
            </a:p>
          </p:txBody>
        </p:sp>
        <p:sp>
          <p:nvSpPr>
            <p:cNvPr id="10" name="文本框 9"/>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串联机器臂运动学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1" name="椭圆 1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3419872" y="1138234"/>
            <a:ext cx="2232248" cy="400110"/>
          </a:xfrm>
          <a:prstGeom prst="rect">
            <a:avLst/>
          </a:prstGeom>
        </p:spPr>
        <p:txBody>
          <a:bodyPr wrap="square">
            <a:spAutoFit/>
          </a:bodyPr>
          <a:lstStyle/>
          <a:p>
            <a:r>
              <a:rPr lang="zh-CN" altLang="en-US" sz="2000" b="1" dirty="0">
                <a:solidFill>
                  <a:srgbClr val="002060"/>
                </a:solidFill>
              </a:rPr>
              <a:t>链式坐标</a:t>
            </a:r>
            <a:r>
              <a:rPr lang="en-US" altLang="zh-CN" sz="2000" b="1" dirty="0">
                <a:solidFill>
                  <a:srgbClr val="002060"/>
                </a:solidFill>
              </a:rPr>
              <a:t>(RRR)</a:t>
            </a:r>
            <a:endParaRPr lang="zh-CN" altLang="en-US" sz="2000" b="1" dirty="0">
              <a:solidFill>
                <a:srgbClr val="002060"/>
              </a:solidFill>
            </a:endParaRPr>
          </a:p>
        </p:txBody>
      </p:sp>
      <p:sp>
        <p:nvSpPr>
          <p:cNvPr id="19" name="文本框 18"/>
          <p:cNvSpPr txBox="1"/>
          <p:nvPr/>
        </p:nvSpPr>
        <p:spPr>
          <a:xfrm>
            <a:off x="1115616" y="1347614"/>
            <a:ext cx="962508" cy="369332"/>
          </a:xfrm>
          <a:prstGeom prst="rect">
            <a:avLst/>
          </a:prstGeom>
          <a:noFill/>
        </p:spPr>
        <p:txBody>
          <a:bodyPr wrap="none" rtlCol="0">
            <a:spAutoFit/>
          </a:bodyPr>
          <a:lstStyle/>
          <a:p>
            <a:r>
              <a:rPr lang="en-US" altLang="zh-CN" dirty="0" smtClean="0"/>
              <a:t>Forward</a:t>
            </a:r>
            <a:endParaRPr lang="zh-CN" altLang="en-US" dirty="0"/>
          </a:p>
        </p:txBody>
      </p:sp>
      <p:sp>
        <p:nvSpPr>
          <p:cNvPr id="20" name="文本框 19"/>
          <p:cNvSpPr txBox="1"/>
          <p:nvPr/>
        </p:nvSpPr>
        <p:spPr>
          <a:xfrm>
            <a:off x="6660232" y="1419622"/>
            <a:ext cx="859081" cy="369332"/>
          </a:xfrm>
          <a:prstGeom prst="rect">
            <a:avLst/>
          </a:prstGeom>
          <a:noFill/>
        </p:spPr>
        <p:txBody>
          <a:bodyPr wrap="none" rtlCol="0">
            <a:spAutoFit/>
          </a:bodyPr>
          <a:lstStyle/>
          <a:p>
            <a:r>
              <a:rPr lang="en-US" altLang="zh-CN" dirty="0" smtClean="0"/>
              <a:t>Inverse</a:t>
            </a:r>
            <a:endParaRPr lang="zh-CN" altLang="en-US" dirty="0"/>
          </a:p>
        </p:txBody>
      </p:sp>
      <p:cxnSp>
        <p:nvCxnSpPr>
          <p:cNvPr id="22" name="直接连接符 21"/>
          <p:cNvCxnSpPr/>
          <p:nvPr/>
        </p:nvCxnSpPr>
        <p:spPr>
          <a:xfrm>
            <a:off x="611560" y="1788954"/>
            <a:ext cx="7920880" cy="0"/>
          </a:xfrm>
          <a:prstGeom prst="line">
            <a:avLst/>
          </a:prstGeom>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tretch>
            <a:fillRect/>
          </a:stretch>
        </p:blipFill>
        <p:spPr>
          <a:xfrm>
            <a:off x="4589311" y="2115375"/>
            <a:ext cx="2935017" cy="2091055"/>
          </a:xfrm>
          <a:prstGeom prst="rect">
            <a:avLst/>
          </a:prstGeom>
        </p:spPr>
      </p:pic>
      <p:pic>
        <p:nvPicPr>
          <p:cNvPr id="15" name="图片 14"/>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47391" y="2115376"/>
            <a:ext cx="2759075" cy="2091055"/>
          </a:xfrm>
          <a:prstGeom prst="rect">
            <a:avLst/>
          </a:prstGeom>
          <a:noFill/>
          <a:ln>
            <a:noFill/>
          </a:ln>
        </p:spPr>
      </p:pic>
      <p:sp>
        <p:nvSpPr>
          <p:cNvPr id="5" name="文本框 4"/>
          <p:cNvSpPr txBox="1"/>
          <p:nvPr/>
        </p:nvSpPr>
        <p:spPr>
          <a:xfrm>
            <a:off x="3547057" y="4443958"/>
            <a:ext cx="2105063" cy="461665"/>
          </a:xfrm>
          <a:prstGeom prst="rect">
            <a:avLst/>
          </a:prstGeom>
          <a:noFill/>
        </p:spPr>
        <p:txBody>
          <a:bodyPr wrap="none" rtlCol="0">
            <a:spAutoFit/>
          </a:bodyPr>
          <a:lstStyle/>
          <a:p>
            <a:r>
              <a:rPr lang="zh-CN" altLang="en-US" sz="2400" dirty="0" smtClean="0">
                <a:solidFill>
                  <a:srgbClr val="FF0000"/>
                </a:solidFill>
              </a:rPr>
              <a:t>引入</a:t>
            </a:r>
            <a:r>
              <a:rPr lang="en-US" altLang="zh-CN" sz="2400" dirty="0" smtClean="0">
                <a:solidFill>
                  <a:srgbClr val="FF0000"/>
                </a:solidFill>
              </a:rPr>
              <a:t>DH</a:t>
            </a:r>
            <a:r>
              <a:rPr lang="zh-CN" altLang="en-US" sz="2400" dirty="0" smtClean="0">
                <a:solidFill>
                  <a:srgbClr val="FF0000"/>
                </a:solidFill>
              </a:rPr>
              <a:t>表示法</a:t>
            </a:r>
            <a:endParaRPr lang="zh-CN" altLang="en-US" sz="2400" dirty="0">
              <a:solidFill>
                <a:srgbClr val="FF0000"/>
              </a:solidFill>
            </a:endParaRPr>
          </a:p>
        </p:txBody>
      </p:sp>
      <p:sp>
        <p:nvSpPr>
          <p:cNvPr id="16" name="十字星 15"/>
          <p:cNvSpPr/>
          <p:nvPr/>
        </p:nvSpPr>
        <p:spPr>
          <a:xfrm>
            <a:off x="3142010" y="4458766"/>
            <a:ext cx="376871" cy="432048"/>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2843808" y="4389068"/>
            <a:ext cx="3456384" cy="57144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十字星 16"/>
          <p:cNvSpPr/>
          <p:nvPr/>
        </p:nvSpPr>
        <p:spPr>
          <a:xfrm>
            <a:off x="5580112" y="4443958"/>
            <a:ext cx="376871" cy="432048"/>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9664500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2031325"/>
          </a:xfrm>
          <a:prstGeom prst="rect">
            <a:avLst/>
          </a:prstGeom>
        </p:spPr>
        <p:txBody>
          <a:bodyPr wrap="square">
            <a:spAutoFit/>
          </a:bodyPr>
          <a:lstStyle/>
          <a:p>
            <a:pPr>
              <a:lnSpc>
                <a:spcPct val="150000"/>
              </a:lnSpc>
            </a:pPr>
            <a:r>
              <a:rPr lang="en-US" altLang="zh-CN" sz="1200" dirty="0" err="1">
                <a:latin typeface="Arial" panose="020B0604020202020204" pitchFamily="34" charset="0"/>
                <a:ea typeface="微软雅黑" panose="020B0503020204020204" charset="-122"/>
                <a:sym typeface="+mn-ea"/>
              </a:rPr>
              <a:t>Denavit</a:t>
            </a:r>
            <a:r>
              <a:rPr lang="en-US" altLang="zh-CN" sz="1200" dirty="0">
                <a:latin typeface="Arial" panose="020B0604020202020204" pitchFamily="34" charset="0"/>
                <a:ea typeface="微软雅黑" panose="020B0503020204020204" charset="-122"/>
                <a:sym typeface="+mn-ea"/>
              </a:rPr>
              <a:t> </a:t>
            </a:r>
            <a:r>
              <a:rPr lang="zh-CN" altLang="en-US" sz="1200" dirty="0">
                <a:latin typeface="Arial" panose="020B0604020202020204" pitchFamily="34" charset="0"/>
                <a:ea typeface="微软雅黑" panose="020B0503020204020204" charset="-122"/>
                <a:sym typeface="+mn-ea"/>
              </a:rPr>
              <a:t>和</a:t>
            </a:r>
            <a:r>
              <a:rPr lang="en-US" altLang="zh-CN" sz="1200" dirty="0" err="1">
                <a:latin typeface="Arial" panose="020B0604020202020204" pitchFamily="34" charset="0"/>
                <a:ea typeface="微软雅黑" panose="020B0503020204020204" charset="-122"/>
                <a:sym typeface="+mn-ea"/>
              </a:rPr>
              <a:t>Hartenberg</a:t>
            </a:r>
            <a:r>
              <a:rPr lang="zh-CN" altLang="en-US" sz="1200" dirty="0">
                <a:latin typeface="Arial" panose="020B0604020202020204" pitchFamily="34" charset="0"/>
                <a:ea typeface="微软雅黑" panose="020B0503020204020204" charset="-122"/>
                <a:sym typeface="+mn-ea"/>
              </a:rPr>
              <a:t>在</a:t>
            </a:r>
            <a:r>
              <a:rPr lang="en-US" altLang="zh-CN" sz="1200" dirty="0">
                <a:latin typeface="Arial" panose="020B0604020202020204" pitchFamily="34" charset="0"/>
                <a:ea typeface="微软雅黑" panose="020B0503020204020204" charset="-122"/>
                <a:sym typeface="+mn-ea"/>
              </a:rPr>
              <a:t>1955</a:t>
            </a:r>
            <a:r>
              <a:rPr lang="zh-CN" altLang="en-US" sz="1200" dirty="0">
                <a:latin typeface="Arial" panose="020B0604020202020204" pitchFamily="34" charset="0"/>
                <a:ea typeface="微软雅黑" panose="020B0503020204020204" charset="-122"/>
                <a:sym typeface="+mn-ea"/>
              </a:rPr>
              <a:t>年提出一种通用的方法，这种方法在机器人的每个连杆上都固定一个坐标系，然后用</a:t>
            </a:r>
            <a:r>
              <a:rPr lang="en-US" altLang="zh-CN" sz="1200" dirty="0">
                <a:latin typeface="Arial" panose="020B0604020202020204" pitchFamily="34" charset="0"/>
                <a:ea typeface="微软雅黑" panose="020B0503020204020204" charset="-122"/>
                <a:sym typeface="+mn-ea"/>
              </a:rPr>
              <a:t>4×4</a:t>
            </a:r>
            <a:r>
              <a:rPr lang="zh-CN" altLang="en-US" sz="1200" dirty="0">
                <a:latin typeface="Arial" panose="020B0604020202020204" pitchFamily="34" charset="0"/>
                <a:ea typeface="微软雅黑" panose="020B0503020204020204" charset="-122"/>
                <a:sym typeface="+mn-ea"/>
              </a:rPr>
              <a:t>的齐次变换矩阵来描述相邻两连杆的空间关系。通过依次变换可最终推导出末端执行器相对于基坐标系的位姿，从而建立机器人的运动学方程</a:t>
            </a:r>
            <a:r>
              <a:rPr lang="zh-CN" altLang="en-US" sz="1200" dirty="0" smtClean="0">
                <a:latin typeface="Arial" panose="020B0604020202020204" pitchFamily="34" charset="0"/>
                <a:ea typeface="微软雅黑" panose="020B0503020204020204" charset="-122"/>
                <a:sym typeface="+mn-ea"/>
              </a:rPr>
              <a:t>。</a:t>
            </a:r>
            <a:endParaRPr lang="en-US" altLang="zh-CN" sz="1200" dirty="0" smtClean="0">
              <a:latin typeface="Arial" panose="020B0604020202020204" pitchFamily="34" charset="0"/>
              <a:ea typeface="微软雅黑" panose="020B0503020204020204" charset="-122"/>
              <a:sym typeface="+mn-ea"/>
            </a:endParaRPr>
          </a:p>
          <a:p>
            <a:pPr>
              <a:lnSpc>
                <a:spcPct val="150000"/>
              </a:lnSpc>
            </a:pPr>
            <a:r>
              <a:rPr lang="en-US" altLang="zh-CN" sz="1200" b="1" dirty="0" smtClean="0">
                <a:solidFill>
                  <a:srgbClr val="002060"/>
                </a:solidFill>
                <a:latin typeface="Arial" panose="020B0604020202020204" pitchFamily="34" charset="0"/>
                <a:ea typeface="微软雅黑" panose="020B0503020204020204" charset="-122"/>
                <a:sym typeface="+mn-ea"/>
              </a:rPr>
              <a:t>SDH</a:t>
            </a:r>
            <a:r>
              <a:rPr lang="zh-CN" altLang="en-US" sz="1200" b="1" dirty="0" smtClean="0">
                <a:solidFill>
                  <a:srgbClr val="002060"/>
                </a:solidFill>
                <a:latin typeface="Arial" panose="020B0604020202020204" pitchFamily="34" charset="0"/>
                <a:ea typeface="微软雅黑" panose="020B0503020204020204" charset="-122"/>
                <a:sym typeface="+mn-ea"/>
              </a:rPr>
              <a:t>表示法</a:t>
            </a:r>
            <a:r>
              <a:rPr lang="en-US" altLang="zh-CN" sz="1200" b="1" dirty="0" smtClean="0">
                <a:solidFill>
                  <a:srgbClr val="002060"/>
                </a:solidFill>
                <a:latin typeface="Arial" panose="020B0604020202020204" pitchFamily="34" charset="0"/>
                <a:ea typeface="微软雅黑" panose="020B0503020204020204" charset="-122"/>
                <a:sym typeface="+mn-ea"/>
              </a:rPr>
              <a:t>( Standard DH Notation)</a:t>
            </a:r>
          </a:p>
          <a:p>
            <a:pPr>
              <a:lnSpc>
                <a:spcPct val="150000"/>
              </a:lnSpc>
            </a:pPr>
            <a:r>
              <a:rPr lang="en-US" altLang="zh-CN" sz="1200" b="1" dirty="0" smtClean="0">
                <a:solidFill>
                  <a:srgbClr val="002060"/>
                </a:solidFill>
                <a:latin typeface="Arial" panose="020B0604020202020204" pitchFamily="34" charset="0"/>
                <a:ea typeface="微软雅黑" panose="020B0503020204020204" charset="-122"/>
                <a:sym typeface="+mn-ea"/>
              </a:rPr>
              <a:t>MDH</a:t>
            </a:r>
            <a:r>
              <a:rPr lang="zh-CN" altLang="en-US" sz="1200" b="1" dirty="0" smtClean="0">
                <a:solidFill>
                  <a:srgbClr val="002060"/>
                </a:solidFill>
                <a:latin typeface="Arial" panose="020B0604020202020204" pitchFamily="34" charset="0"/>
                <a:ea typeface="微软雅黑" panose="020B0503020204020204" charset="-122"/>
                <a:sym typeface="+mn-ea"/>
              </a:rPr>
              <a:t>表示法</a:t>
            </a:r>
            <a:r>
              <a:rPr lang="en-US" altLang="zh-CN" sz="1200" b="1" dirty="0" smtClean="0">
                <a:solidFill>
                  <a:srgbClr val="002060"/>
                </a:solidFill>
                <a:latin typeface="Arial" panose="020B0604020202020204" pitchFamily="34" charset="0"/>
                <a:ea typeface="微软雅黑" panose="020B0503020204020204" charset="-122"/>
                <a:sym typeface="+mn-ea"/>
              </a:rPr>
              <a:t>( Modified DH Notation)</a:t>
            </a:r>
            <a:endParaRPr lang="zh-CN" altLang="en-US" sz="1200" b="1" dirty="0">
              <a:solidFill>
                <a:srgbClr val="002060"/>
              </a:solidFill>
              <a:latin typeface="Arial" panose="020B0604020202020204" pitchFamily="34" charset="0"/>
              <a:ea typeface="微软雅黑" panose="020B0503020204020204" charset="-122"/>
              <a:sym typeface="+mn-ea"/>
            </a:endParaRPr>
          </a:p>
        </p:txBody>
      </p:sp>
      <p:sp>
        <p:nvSpPr>
          <p:cNvPr id="7" name="文本框 6"/>
          <p:cNvSpPr txBox="1"/>
          <p:nvPr/>
        </p:nvSpPr>
        <p:spPr>
          <a:xfrm>
            <a:off x="4319270" y="1951355"/>
            <a:ext cx="3335655" cy="521970"/>
          </a:xfrm>
          <a:prstGeom prst="rect">
            <a:avLst/>
          </a:prstGeom>
          <a:noFill/>
        </p:spPr>
        <p:txBody>
          <a:bodyPr wrap="square" rtlCol="0" anchor="t">
            <a:spAutoFit/>
          </a:bodyPr>
          <a:lstStyle/>
          <a:p>
            <a:r>
              <a:rPr lang="en-US" altLang="zh-CN" sz="2800" b="1" dirty="0">
                <a:latin typeface="Arial" panose="020B0604020202020204" pitchFamily="34" charset="0"/>
                <a:ea typeface="微软雅黑" panose="020B0503020204020204" charset="-122"/>
                <a:sym typeface="+mn-ea"/>
              </a:rPr>
              <a:t>D-H</a:t>
            </a:r>
            <a:r>
              <a:rPr lang="zh-CN" altLang="en-US" sz="2800" b="1" dirty="0">
                <a:latin typeface="Arial" panose="020B0604020202020204" pitchFamily="34" charset="0"/>
                <a:ea typeface="微软雅黑" panose="020B0503020204020204" charset="-122"/>
                <a:sym typeface="+mn-ea"/>
              </a:rPr>
              <a:t>表示法</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02</a:t>
            </a:r>
            <a:endParaRPr lang="en-US" altLang="zh-CN" sz="6600" b="1" dirty="0">
              <a:solidFill>
                <a:schemeClr val="bg1"/>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36220" y="219075"/>
            <a:ext cx="5153660" cy="598805"/>
            <a:chOff x="-372" y="345"/>
            <a:chExt cx="8116" cy="943"/>
          </a:xfrm>
        </p:grpSpPr>
        <p:sp>
          <p:nvSpPr>
            <p:cNvPr id="9" name="矩形 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D-H </a:t>
              </a:r>
              <a:r>
                <a:rPr lang="en-US" altLang="zh-CN" sz="1000" dirty="0" smtClean="0">
                  <a:latin typeface="Arial" panose="020B0604020202020204" pitchFamily="34" charset="0"/>
                  <a:ea typeface="微软雅黑" panose="020B0503020204020204" charset="-122"/>
                  <a:sym typeface="+mn-ea"/>
                </a:rPr>
                <a:t>Notation in Robotics</a:t>
              </a:r>
              <a:endParaRPr lang="en-US" altLang="zh-CN" sz="1000" dirty="0">
                <a:latin typeface="Arial" panose="020B0604020202020204" pitchFamily="34" charset="0"/>
                <a:ea typeface="微软雅黑" panose="020B0503020204020204" charset="-122"/>
                <a:sym typeface="+mn-ea"/>
              </a:endParaRPr>
            </a:p>
          </p:txBody>
        </p:sp>
        <p:sp>
          <p:nvSpPr>
            <p:cNvPr id="10" name="文本框 9"/>
            <p:cNvSpPr txBox="1"/>
            <p:nvPr/>
          </p:nvSpPr>
          <p:spPr>
            <a:xfrm>
              <a:off x="443" y="363"/>
              <a:ext cx="7301" cy="628"/>
            </a:xfrm>
            <a:prstGeom prst="rect">
              <a:avLst/>
            </a:prstGeom>
            <a:noFill/>
          </p:spPr>
          <p:txBody>
            <a:bodyPr wrap="square" rtlCol="0" anchor="t">
              <a:spAutoFit/>
            </a:bodyPr>
            <a:lstStyle/>
            <a:p>
              <a:r>
                <a:rPr lang="en-US" altLang="zh-CN" sz="2000" b="1" dirty="0" smtClean="0">
                  <a:latin typeface="Arial" panose="020B0604020202020204" pitchFamily="34" charset="0"/>
                  <a:ea typeface="微软雅黑" panose="020B0503020204020204" charset="-122"/>
                  <a:sym typeface="+mn-ea"/>
                </a:rPr>
                <a:t>D-H</a:t>
              </a:r>
              <a:r>
                <a:rPr lang="zh-CN" altLang="en-US" sz="2000" b="1" dirty="0" smtClean="0">
                  <a:latin typeface="Arial" panose="020B0604020202020204" pitchFamily="34" charset="0"/>
                  <a:ea typeface="微软雅黑" panose="020B0503020204020204" charset="-122"/>
                  <a:sym typeface="+mn-ea"/>
                </a:rPr>
                <a:t>表示法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1" name="椭圆 1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p:cNvGrpSpPr/>
          <p:nvPr/>
        </p:nvGrpSpPr>
        <p:grpSpPr>
          <a:xfrm>
            <a:off x="827584" y="1419622"/>
            <a:ext cx="7344816" cy="3309744"/>
            <a:chOff x="251520" y="918190"/>
            <a:chExt cx="8652236" cy="4000501"/>
          </a:xfrm>
        </p:grpSpPr>
        <p:pic>
          <p:nvPicPr>
            <p:cNvPr id="7170" name="Picture 2" descr="Sample Denavit-Hartenberg Diagram.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918190"/>
              <a:ext cx="3571875" cy="4000501"/>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ttps://upload.wikimedia.org/wikipedia/commons/thumb/8/85/Classic_DH_Parameters_Convention.png/568px-Classic_DH_Parameters_Conventio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9601" y="1063173"/>
              <a:ext cx="5054155" cy="3710533"/>
            </a:xfrm>
            <a:prstGeom prst="rect">
              <a:avLst/>
            </a:prstGeom>
            <a:noFill/>
            <a:extLst>
              <a:ext uri="{909E8E84-426E-40DD-AFC4-6F175D3DCCD1}">
                <a14:hiddenFill xmlns:a14="http://schemas.microsoft.com/office/drawing/2010/main">
                  <a:solidFill>
                    <a:srgbClr val="FFFFFF"/>
                  </a:solidFill>
                </a14:hiddenFill>
              </a:ext>
            </a:extLst>
          </p:spPr>
        </p:pic>
      </p:grpSp>
      <mc:AlternateContent xmlns:mc="http://schemas.openxmlformats.org/markup-compatibility/2006" xmlns:a14="http://schemas.microsoft.com/office/drawing/2010/main">
        <mc:Choice Requires="a14">
          <p:sp>
            <p:nvSpPr>
              <p:cNvPr id="6" name="文本框 5"/>
              <p:cNvSpPr txBox="1"/>
              <p:nvPr/>
            </p:nvSpPr>
            <p:spPr>
              <a:xfrm>
                <a:off x="2609573" y="980251"/>
                <a:ext cx="429854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i="1" smtClean="0">
                          <a:solidFill>
                            <a:srgbClr val="002060"/>
                          </a:solidFill>
                          <a:latin typeface="Cambria Math" panose="02040503050406030204" pitchFamily="18" charset="0"/>
                        </a:rPr>
                        <m:t>四个参数</m:t>
                      </m:r>
                      <m:r>
                        <a:rPr lang="zh-CN" altLang="en-US" sz="2000" i="1">
                          <a:solidFill>
                            <a:srgbClr val="002060"/>
                          </a:solidFill>
                          <a:latin typeface="Cambria Math" panose="02040503050406030204" pitchFamily="18" charset="0"/>
                        </a:rPr>
                        <m:t>抽象</m:t>
                      </m:r>
                      <m:r>
                        <a:rPr lang="zh-CN" altLang="en-US" sz="2000" i="1" smtClean="0">
                          <a:solidFill>
                            <a:srgbClr val="002060"/>
                          </a:solidFill>
                          <a:latin typeface="Cambria Math" panose="02040503050406030204" pitchFamily="18" charset="0"/>
                        </a:rPr>
                        <m:t>化</m:t>
                      </m:r>
                      <m:r>
                        <a:rPr lang="zh-CN" altLang="en-US" sz="2000" i="1">
                          <a:solidFill>
                            <a:srgbClr val="002060"/>
                          </a:solidFill>
                          <a:latin typeface="Cambria Math" panose="02040503050406030204" pitchFamily="18" charset="0"/>
                        </a:rPr>
                        <m:t>关节</m:t>
                      </m:r>
                      <m:r>
                        <a:rPr lang="zh-CN" altLang="en-US" sz="2000" i="1" smtClean="0">
                          <a:solidFill>
                            <a:srgbClr val="002060"/>
                          </a:solidFill>
                          <a:latin typeface="Cambria Math" panose="02040503050406030204" pitchFamily="18" charset="0"/>
                        </a:rPr>
                        <m:t>和</m:t>
                      </m:r>
                      <m:r>
                        <a:rPr lang="zh-CN" altLang="en-US" sz="2000" i="1">
                          <a:solidFill>
                            <a:srgbClr val="002060"/>
                          </a:solidFill>
                          <a:latin typeface="Cambria Math" panose="02040503050406030204" pitchFamily="18" charset="0"/>
                        </a:rPr>
                        <m:t>连杆</m:t>
                      </m:r>
                      <m:r>
                        <a:rPr lang="zh-CN" altLang="en-US" sz="2000" i="1" smtClean="0">
                          <a:solidFill>
                            <a:srgbClr val="002060"/>
                          </a:solidFill>
                          <a:latin typeface="Cambria Math" panose="02040503050406030204" pitchFamily="18" charset="0"/>
                        </a:rPr>
                        <m:t>：</m:t>
                      </m:r>
                      <m:r>
                        <a:rPr lang="zh-CN" altLang="en-US" sz="2000" i="1" smtClean="0">
                          <a:solidFill>
                            <a:srgbClr val="002060"/>
                          </a:solidFill>
                          <a:latin typeface="Cambria Math" panose="02040503050406030204" pitchFamily="18" charset="0"/>
                        </a:rPr>
                        <m:t>𝜃</m:t>
                      </m:r>
                      <m:r>
                        <a:rPr lang="en-US" altLang="zh-CN" sz="2000" b="0" i="1" smtClean="0">
                          <a:solidFill>
                            <a:srgbClr val="002060"/>
                          </a:solidFill>
                          <a:latin typeface="Cambria Math" panose="02040503050406030204" pitchFamily="18" charset="0"/>
                        </a:rPr>
                        <m:t>, </m:t>
                      </m:r>
                      <m:r>
                        <a:rPr lang="en-US" altLang="zh-CN" sz="2000" b="0" i="1" smtClean="0">
                          <a:solidFill>
                            <a:srgbClr val="002060"/>
                          </a:solidFill>
                          <a:latin typeface="Cambria Math" panose="02040503050406030204" pitchFamily="18" charset="0"/>
                        </a:rPr>
                        <m:t>𝑑</m:t>
                      </m:r>
                      <m:r>
                        <a:rPr lang="en-US" altLang="zh-CN" sz="2000" b="0" i="1" smtClean="0">
                          <a:solidFill>
                            <a:srgbClr val="002060"/>
                          </a:solidFill>
                          <a:latin typeface="Cambria Math" panose="02040503050406030204" pitchFamily="18" charset="0"/>
                        </a:rPr>
                        <m:t>, </m:t>
                      </m:r>
                      <m:r>
                        <a:rPr lang="en-US" altLang="zh-CN" sz="2000" b="0" i="1" smtClean="0">
                          <a:solidFill>
                            <a:srgbClr val="002060"/>
                          </a:solidFill>
                          <a:latin typeface="Cambria Math" panose="02040503050406030204" pitchFamily="18" charset="0"/>
                        </a:rPr>
                        <m:t>𝑎</m:t>
                      </m:r>
                      <m:r>
                        <a:rPr lang="en-US" altLang="zh-CN" sz="2000" b="0" i="1" smtClean="0">
                          <a:solidFill>
                            <a:srgbClr val="002060"/>
                          </a:solidFill>
                          <a:latin typeface="Cambria Math" panose="02040503050406030204" pitchFamily="18" charset="0"/>
                        </a:rPr>
                        <m:t>, </m:t>
                      </m:r>
                      <m:r>
                        <a:rPr lang="zh-CN" altLang="en-US" sz="2000" b="0" i="1" smtClean="0">
                          <a:solidFill>
                            <a:srgbClr val="002060"/>
                          </a:solidFill>
                          <a:latin typeface="Cambria Math" panose="02040503050406030204" pitchFamily="18" charset="0"/>
                        </a:rPr>
                        <m:t>𝛼</m:t>
                      </m:r>
                    </m:oMath>
                  </m:oMathPara>
                </a14:m>
                <a:endParaRPr lang="zh-CN" altLang="en-US" sz="2000" dirty="0">
                  <a:solidFill>
                    <a:srgbClr val="002060"/>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2609573" y="980251"/>
                <a:ext cx="4298549" cy="307777"/>
              </a:xfrm>
              <a:prstGeom prst="rect">
                <a:avLst/>
              </a:prstGeom>
              <a:blipFill>
                <a:blip r:embed="rId5"/>
                <a:stretch>
                  <a:fillRect l="-1702" t="-12000" r="-284" b="-26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6047877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36220" y="219075"/>
            <a:ext cx="5153660" cy="598805"/>
            <a:chOff x="-372" y="345"/>
            <a:chExt cx="8116" cy="943"/>
          </a:xfrm>
        </p:grpSpPr>
        <p:sp>
          <p:nvSpPr>
            <p:cNvPr id="9" name="矩形 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D-H </a:t>
              </a:r>
              <a:r>
                <a:rPr lang="en-US" altLang="zh-CN" sz="1000" dirty="0" smtClean="0">
                  <a:latin typeface="Arial" panose="020B0604020202020204" pitchFamily="34" charset="0"/>
                  <a:ea typeface="微软雅黑" panose="020B0503020204020204" charset="-122"/>
                  <a:sym typeface="+mn-ea"/>
                </a:rPr>
                <a:t>Notation in Robotics</a:t>
              </a:r>
              <a:endParaRPr lang="en-US" altLang="zh-CN" sz="1000" dirty="0">
                <a:latin typeface="Arial" panose="020B0604020202020204" pitchFamily="34" charset="0"/>
                <a:ea typeface="微软雅黑" panose="020B0503020204020204" charset="-122"/>
                <a:sym typeface="+mn-ea"/>
              </a:endParaRPr>
            </a:p>
          </p:txBody>
        </p:sp>
        <p:sp>
          <p:nvSpPr>
            <p:cNvPr id="10" name="文本框 9"/>
            <p:cNvSpPr txBox="1"/>
            <p:nvPr/>
          </p:nvSpPr>
          <p:spPr>
            <a:xfrm>
              <a:off x="443" y="363"/>
              <a:ext cx="7301" cy="628"/>
            </a:xfrm>
            <a:prstGeom prst="rect">
              <a:avLst/>
            </a:prstGeom>
            <a:noFill/>
          </p:spPr>
          <p:txBody>
            <a:bodyPr wrap="square" rtlCol="0" anchor="t">
              <a:spAutoFit/>
            </a:bodyPr>
            <a:lstStyle/>
            <a:p>
              <a:r>
                <a:rPr lang="en-US" altLang="zh-CN" sz="2000" b="1" dirty="0" smtClean="0">
                  <a:latin typeface="Arial" panose="020B0604020202020204" pitchFamily="34" charset="0"/>
                  <a:ea typeface="微软雅黑" panose="020B0503020204020204" charset="-122"/>
                  <a:sym typeface="+mn-ea"/>
                </a:rPr>
                <a:t>D-H</a:t>
              </a:r>
              <a:r>
                <a:rPr lang="zh-CN" altLang="en-US" sz="2000" b="1" dirty="0" smtClean="0">
                  <a:latin typeface="Arial" panose="020B0604020202020204" pitchFamily="34" charset="0"/>
                  <a:ea typeface="微软雅黑" panose="020B0503020204020204" charset="-122"/>
                  <a:sym typeface="+mn-ea"/>
                </a:rPr>
                <a:t>表示法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1" name="椭圆 1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6" name="文本框 5"/>
              <p:cNvSpPr txBox="1"/>
              <p:nvPr/>
            </p:nvSpPr>
            <p:spPr>
              <a:xfrm>
                <a:off x="1998724" y="555526"/>
                <a:ext cx="5837431"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i="1">
                          <a:solidFill>
                            <a:srgbClr val="002060"/>
                          </a:solidFill>
                          <a:latin typeface="Cambria Math" panose="02040503050406030204" pitchFamily="18" charset="0"/>
                        </a:rPr>
                        <m:t>建立</m:t>
                      </m:r>
                      <m:r>
                        <a:rPr lang="zh-CN" altLang="en-US" sz="2000" i="1" smtClean="0">
                          <a:solidFill>
                            <a:srgbClr val="002060"/>
                          </a:solidFill>
                          <a:latin typeface="Cambria Math" panose="02040503050406030204" pitchFamily="18" charset="0"/>
                        </a:rPr>
                        <m:t>坐标系四个</m:t>
                      </m:r>
                      <m:r>
                        <a:rPr lang="zh-CN" altLang="en-US" sz="2000" i="1">
                          <a:solidFill>
                            <a:srgbClr val="002060"/>
                          </a:solidFill>
                          <a:latin typeface="Cambria Math" panose="02040503050406030204" pitchFamily="18" charset="0"/>
                        </a:rPr>
                        <m:t>原则求取关节</m:t>
                      </m:r>
                      <m:r>
                        <a:rPr lang="zh-CN" altLang="en-US" sz="2000" i="1" smtClean="0">
                          <a:solidFill>
                            <a:srgbClr val="002060"/>
                          </a:solidFill>
                          <a:latin typeface="Cambria Math" panose="02040503050406030204" pitchFamily="18" charset="0"/>
                        </a:rPr>
                        <m:t>和</m:t>
                      </m:r>
                      <m:r>
                        <a:rPr lang="zh-CN" altLang="en-US" sz="2000" i="1">
                          <a:solidFill>
                            <a:srgbClr val="002060"/>
                          </a:solidFill>
                          <a:latin typeface="Cambria Math" panose="02040503050406030204" pitchFamily="18" charset="0"/>
                        </a:rPr>
                        <m:t>连杆</m:t>
                      </m:r>
                      <m:r>
                        <a:rPr lang="zh-CN" altLang="en-US" sz="2000" i="1" smtClean="0">
                          <a:solidFill>
                            <a:srgbClr val="002060"/>
                          </a:solidFill>
                          <a:latin typeface="Cambria Math" panose="02040503050406030204" pitchFamily="18" charset="0"/>
                        </a:rPr>
                        <m:t>参数：</m:t>
                      </m:r>
                      <m:r>
                        <a:rPr lang="zh-CN" altLang="en-US" sz="2000" i="1" smtClean="0">
                          <a:solidFill>
                            <a:srgbClr val="002060"/>
                          </a:solidFill>
                          <a:latin typeface="Cambria Math" panose="02040503050406030204" pitchFamily="18" charset="0"/>
                        </a:rPr>
                        <m:t>𝜃</m:t>
                      </m:r>
                      <m:r>
                        <a:rPr lang="en-US" altLang="zh-CN" sz="2000" b="0" i="1" smtClean="0">
                          <a:solidFill>
                            <a:srgbClr val="002060"/>
                          </a:solidFill>
                          <a:latin typeface="Cambria Math" panose="02040503050406030204" pitchFamily="18" charset="0"/>
                        </a:rPr>
                        <m:t>, </m:t>
                      </m:r>
                      <m:r>
                        <a:rPr lang="en-US" altLang="zh-CN" sz="2000" b="0" i="1" smtClean="0">
                          <a:solidFill>
                            <a:srgbClr val="002060"/>
                          </a:solidFill>
                          <a:latin typeface="Cambria Math" panose="02040503050406030204" pitchFamily="18" charset="0"/>
                        </a:rPr>
                        <m:t>𝑑</m:t>
                      </m:r>
                      <m:r>
                        <a:rPr lang="en-US" altLang="zh-CN" sz="2000" b="0" i="1" smtClean="0">
                          <a:solidFill>
                            <a:srgbClr val="002060"/>
                          </a:solidFill>
                          <a:latin typeface="Cambria Math" panose="02040503050406030204" pitchFamily="18" charset="0"/>
                        </a:rPr>
                        <m:t>, </m:t>
                      </m:r>
                      <m:r>
                        <a:rPr lang="en-US" altLang="zh-CN" sz="2000" b="0" i="1" smtClean="0">
                          <a:solidFill>
                            <a:srgbClr val="002060"/>
                          </a:solidFill>
                          <a:latin typeface="Cambria Math" panose="02040503050406030204" pitchFamily="18" charset="0"/>
                        </a:rPr>
                        <m:t>𝑎</m:t>
                      </m:r>
                      <m:r>
                        <a:rPr lang="en-US" altLang="zh-CN" sz="2000" b="0" i="1" smtClean="0">
                          <a:solidFill>
                            <a:srgbClr val="002060"/>
                          </a:solidFill>
                          <a:latin typeface="Cambria Math" panose="02040503050406030204" pitchFamily="18" charset="0"/>
                        </a:rPr>
                        <m:t>, </m:t>
                      </m:r>
                      <m:r>
                        <a:rPr lang="zh-CN" altLang="en-US" sz="2000" b="0" i="1" smtClean="0">
                          <a:solidFill>
                            <a:srgbClr val="002060"/>
                          </a:solidFill>
                          <a:latin typeface="Cambria Math" panose="02040503050406030204" pitchFamily="18" charset="0"/>
                        </a:rPr>
                        <m:t>𝛼</m:t>
                      </m:r>
                    </m:oMath>
                  </m:oMathPara>
                </a14:m>
                <a:endParaRPr lang="zh-CN" altLang="en-US" sz="2000" dirty="0">
                  <a:solidFill>
                    <a:srgbClr val="002060"/>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1998724" y="555526"/>
                <a:ext cx="5837431" cy="307777"/>
              </a:xfrm>
              <a:prstGeom prst="rect">
                <a:avLst/>
              </a:prstGeom>
              <a:blipFill>
                <a:blip r:embed="rId3"/>
                <a:stretch>
                  <a:fillRect l="-1149" t="-11765" b="-23529"/>
                </a:stretch>
              </a:blipFill>
            </p:spPr>
            <p:txBody>
              <a:bodyPr/>
              <a:lstStyle/>
              <a:p>
                <a:r>
                  <a:rPr lang="zh-CN" altLang="en-US">
                    <a:noFill/>
                  </a:rPr>
                  <a:t> </a:t>
                </a:r>
              </a:p>
            </p:txBody>
          </p:sp>
        </mc:Fallback>
      </mc:AlternateContent>
      <p:pic>
        <p:nvPicPr>
          <p:cNvPr id="2" name="图片 1"/>
          <p:cNvPicPr>
            <a:picLocks noChangeAspect="1"/>
          </p:cNvPicPr>
          <p:nvPr/>
        </p:nvPicPr>
        <p:blipFill rotWithShape="1">
          <a:blip r:embed="rId4"/>
          <a:srcRect b="48382"/>
          <a:stretch/>
        </p:blipFill>
        <p:spPr>
          <a:xfrm>
            <a:off x="133371" y="1416641"/>
            <a:ext cx="4932002" cy="3243341"/>
          </a:xfrm>
          <a:prstGeom prst="rect">
            <a:avLst/>
          </a:prstGeom>
        </p:spPr>
      </p:pic>
      <p:sp>
        <p:nvSpPr>
          <p:cNvPr id="4" name="文本框 3"/>
          <p:cNvSpPr txBox="1"/>
          <p:nvPr/>
        </p:nvSpPr>
        <p:spPr>
          <a:xfrm>
            <a:off x="5065373" y="984346"/>
            <a:ext cx="3899115" cy="2062103"/>
          </a:xfrm>
          <a:prstGeom prst="rect">
            <a:avLst/>
          </a:prstGeom>
          <a:noFill/>
        </p:spPr>
        <p:txBody>
          <a:bodyPr wrap="square" rtlCol="0">
            <a:spAutoFit/>
          </a:bodyPr>
          <a:lstStyle/>
          <a:p>
            <a:pPr marL="342900" indent="-342900">
              <a:buAutoNum type="arabicPeriod"/>
            </a:pPr>
            <a:r>
              <a:rPr lang="zh-CN" altLang="en-US" sz="1600" dirty="0" smtClean="0"/>
              <a:t>确定轴的参考坐标系</a:t>
            </a:r>
            <a:r>
              <a:rPr lang="en-US" altLang="zh-CN" sz="1600" dirty="0" smtClean="0"/>
              <a:t>Z</a:t>
            </a:r>
            <a:r>
              <a:rPr lang="zh-CN" altLang="en-US" sz="1600" dirty="0" smtClean="0"/>
              <a:t>轴；</a:t>
            </a:r>
            <a:endParaRPr lang="en-US" altLang="zh-CN" sz="1600" dirty="0" smtClean="0"/>
          </a:p>
          <a:p>
            <a:pPr marL="342900" indent="-342900">
              <a:buAutoNum type="arabicPeriod"/>
            </a:pPr>
            <a:r>
              <a:rPr lang="zh-CN" altLang="en-US" sz="1600" dirty="0"/>
              <a:t>找到</a:t>
            </a:r>
            <a:r>
              <a:rPr lang="zh-CN" altLang="en-US" sz="1600" dirty="0" smtClean="0"/>
              <a:t>最短公垂线，确定</a:t>
            </a:r>
            <a:r>
              <a:rPr lang="en-US" altLang="zh-CN" sz="1600" dirty="0" smtClean="0"/>
              <a:t>x</a:t>
            </a:r>
            <a:r>
              <a:rPr lang="zh-CN" altLang="en-US" sz="1600" dirty="0" smtClean="0"/>
              <a:t>轴；</a:t>
            </a:r>
            <a:endParaRPr lang="en-US" altLang="zh-CN" sz="1600" dirty="0" smtClean="0"/>
          </a:p>
          <a:p>
            <a:pPr marL="342900" indent="-342900">
              <a:buAutoNum type="arabicPeriod"/>
            </a:pPr>
            <a:r>
              <a:rPr lang="zh-CN" altLang="zh-CN" sz="1600" dirty="0"/>
              <a:t>如果两个关节的</a:t>
            </a:r>
            <a:r>
              <a:rPr lang="en-US" altLang="zh-CN" sz="1600" dirty="0"/>
              <a:t>z</a:t>
            </a:r>
            <a:r>
              <a:rPr lang="zh-CN" altLang="zh-CN" sz="1600" dirty="0"/>
              <a:t>轴</a:t>
            </a:r>
            <a:r>
              <a:rPr lang="zh-CN" altLang="zh-CN" sz="1600" dirty="0" smtClean="0"/>
              <a:t>平行</a:t>
            </a:r>
            <a:r>
              <a:rPr lang="zh-CN" altLang="en-US" sz="1600" dirty="0" smtClean="0"/>
              <a:t>，</a:t>
            </a:r>
            <a:r>
              <a:rPr lang="zh-CN" altLang="zh-CN" sz="1600" dirty="0"/>
              <a:t>选与前一关节的公垂线共线的一条</a:t>
            </a:r>
            <a:r>
              <a:rPr lang="zh-CN" altLang="zh-CN" sz="1600" dirty="0" smtClean="0"/>
              <a:t>公垂线</a:t>
            </a:r>
            <a:r>
              <a:rPr lang="zh-CN" altLang="en-US" sz="1600" dirty="0" smtClean="0"/>
              <a:t>；</a:t>
            </a:r>
            <a:endParaRPr lang="en-US" altLang="zh-CN" sz="1600" dirty="0" smtClean="0"/>
          </a:p>
          <a:p>
            <a:pPr marL="342900" indent="-342900">
              <a:buAutoNum type="arabicPeriod"/>
            </a:pPr>
            <a:r>
              <a:rPr lang="zh-CN" altLang="zh-CN" sz="1600" dirty="0"/>
              <a:t>如果两个相邻关节的</a:t>
            </a:r>
            <a:r>
              <a:rPr lang="en-US" altLang="zh-CN" sz="1600" dirty="0"/>
              <a:t>z</a:t>
            </a:r>
            <a:r>
              <a:rPr lang="zh-CN" altLang="zh-CN" sz="1600" dirty="0"/>
              <a:t>轴是相交的，那么它们之间就没有公垂线（或者说公垂线距离为零）。这时可将垂直于两条轴线构成的平面的直线定义为</a:t>
            </a:r>
            <a:r>
              <a:rPr lang="en-US" altLang="zh-CN" sz="1600" dirty="0"/>
              <a:t>x</a:t>
            </a:r>
            <a:r>
              <a:rPr lang="zh-CN" altLang="zh-CN" sz="1600" dirty="0"/>
              <a:t>轴。</a:t>
            </a:r>
            <a:endParaRPr lang="zh-CN" altLang="en-US" sz="1600" dirty="0"/>
          </a:p>
        </p:txBody>
      </p:sp>
      <mc:AlternateContent xmlns:mc="http://schemas.openxmlformats.org/markup-compatibility/2006" xmlns:a14="http://schemas.microsoft.com/office/drawing/2010/main">
        <mc:Choice Requires="a14">
          <p:sp>
            <p:nvSpPr>
              <p:cNvPr id="5" name="矩形 4"/>
              <p:cNvSpPr/>
              <p:nvPr/>
            </p:nvSpPr>
            <p:spPr>
              <a:xfrm>
                <a:off x="5148064" y="3033935"/>
                <a:ext cx="2494914" cy="369332"/>
              </a:xfrm>
              <a:prstGeom prst="rect">
                <a:avLst/>
              </a:prstGeom>
            </p:spPr>
            <p:txBody>
              <a:bodyPr wrap="none">
                <a:spAutoFit/>
              </a:bodyPr>
              <a:lstStyle/>
              <a:p>
                <a14:m>
                  <m:oMath xmlns:m="http://schemas.openxmlformats.org/officeDocument/2006/math">
                    <m:r>
                      <a:rPr lang="zh-CN" altLang="en-US" i="1">
                        <a:solidFill>
                          <a:srgbClr val="002060"/>
                        </a:solidFill>
                        <a:latin typeface="Cambria Math" panose="02040503050406030204" pitchFamily="18" charset="0"/>
                      </a:rPr>
                      <m:t>𝜃</m:t>
                    </m:r>
                  </m:oMath>
                </a14:m>
                <a:r>
                  <a:rPr lang="zh-CN" altLang="en-US" dirty="0" smtClean="0"/>
                  <a:t>：</a:t>
                </a:r>
                <a:r>
                  <a:rPr lang="zh-CN" altLang="zh-CN" dirty="0"/>
                  <a:t>表示绕</a:t>
                </a:r>
                <a:r>
                  <a:rPr lang="en-US" altLang="zh-CN" dirty="0"/>
                  <a:t>z</a:t>
                </a:r>
                <a:r>
                  <a:rPr lang="zh-CN" altLang="zh-CN" dirty="0"/>
                  <a:t>轴的</a:t>
                </a:r>
                <a:r>
                  <a:rPr lang="zh-CN" altLang="zh-CN" b="1" dirty="0"/>
                  <a:t>旋转角</a:t>
                </a:r>
                <a:endParaRPr lang="zh-CN" altLang="en-US" dirty="0"/>
              </a:p>
            </p:txBody>
          </p:sp>
        </mc:Choice>
        <mc:Fallback xmlns="">
          <p:sp>
            <p:nvSpPr>
              <p:cNvPr id="5" name="矩形 4"/>
              <p:cNvSpPr>
                <a:spLocks noRot="1" noChangeAspect="1" noMove="1" noResize="1" noEditPoints="1" noAdjustHandles="1" noChangeArrowheads="1" noChangeShapeType="1" noTextEdit="1"/>
              </p:cNvSpPr>
              <p:nvPr/>
            </p:nvSpPr>
            <p:spPr>
              <a:xfrm>
                <a:off x="5148064" y="3033935"/>
                <a:ext cx="2494914" cy="369332"/>
              </a:xfrm>
              <a:prstGeom prst="rect">
                <a:avLst/>
              </a:prstGeom>
              <a:blipFill>
                <a:blip r:embed="rId5"/>
                <a:stretch>
                  <a:fillRect t="-15000" r="-1707" b="-2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5148064" y="3415781"/>
                <a:ext cx="3816423" cy="646331"/>
              </a:xfrm>
              <a:prstGeom prst="rect">
                <a:avLst/>
              </a:prstGeom>
            </p:spPr>
            <p:txBody>
              <a:bodyPr wrap="square">
                <a:spAutoFit/>
              </a:bodyPr>
              <a:lstStyle/>
              <a:p>
                <a14:m>
                  <m:oMath xmlns:m="http://schemas.openxmlformats.org/officeDocument/2006/math">
                    <m:r>
                      <a:rPr lang="en-US" altLang="zh-CN" i="1">
                        <a:solidFill>
                          <a:srgbClr val="002060"/>
                        </a:solidFill>
                        <a:latin typeface="Cambria Math" panose="02040503050406030204" pitchFamily="18" charset="0"/>
                      </a:rPr>
                      <m:t>𝑑</m:t>
                    </m:r>
                  </m:oMath>
                </a14:m>
                <a:r>
                  <a:rPr lang="zh-CN" altLang="en-US" dirty="0" smtClean="0"/>
                  <a:t>：</a:t>
                </a:r>
                <a:r>
                  <a:rPr lang="zh-CN" altLang="zh-CN" dirty="0"/>
                  <a:t>表示在</a:t>
                </a:r>
                <a:r>
                  <a:rPr lang="en-US" altLang="zh-CN" dirty="0"/>
                  <a:t>z</a:t>
                </a:r>
                <a:r>
                  <a:rPr lang="zh-CN" altLang="zh-CN" dirty="0"/>
                  <a:t>轴上两条相邻的公垂线之间的</a:t>
                </a:r>
                <a:r>
                  <a:rPr lang="zh-CN" altLang="zh-CN" b="1" dirty="0"/>
                  <a:t>距离</a:t>
                </a:r>
                <a:endParaRPr lang="zh-CN" altLang="en-US" b="1" dirty="0"/>
              </a:p>
            </p:txBody>
          </p:sp>
        </mc:Choice>
        <mc:Fallback xmlns="">
          <p:sp>
            <p:nvSpPr>
              <p:cNvPr id="7" name="矩形 6"/>
              <p:cNvSpPr>
                <a:spLocks noRot="1" noChangeAspect="1" noMove="1" noResize="1" noEditPoints="1" noAdjustHandles="1" noChangeArrowheads="1" noChangeShapeType="1" noTextEdit="1"/>
              </p:cNvSpPr>
              <p:nvPr/>
            </p:nvSpPr>
            <p:spPr>
              <a:xfrm>
                <a:off x="5148064" y="3415781"/>
                <a:ext cx="3816423" cy="646331"/>
              </a:xfrm>
              <a:prstGeom prst="rect">
                <a:avLst/>
              </a:prstGeom>
              <a:blipFill>
                <a:blip r:embed="rId6"/>
                <a:stretch>
                  <a:fillRect l="-1276" t="-7547" b="-113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5148063" y="3896425"/>
                <a:ext cx="3816423" cy="646331"/>
              </a:xfrm>
              <a:prstGeom prst="rect">
                <a:avLst/>
              </a:prstGeom>
            </p:spPr>
            <p:txBody>
              <a:bodyPr wrap="square">
                <a:spAutoFit/>
              </a:bodyPr>
              <a:lstStyle/>
              <a:p>
                <a14:m>
                  <m:oMath xmlns:m="http://schemas.openxmlformats.org/officeDocument/2006/math">
                    <m:r>
                      <a:rPr lang="en-US" altLang="zh-CN" i="1">
                        <a:solidFill>
                          <a:srgbClr val="002060"/>
                        </a:solidFill>
                        <a:latin typeface="Cambria Math" panose="02040503050406030204" pitchFamily="18" charset="0"/>
                      </a:rPr>
                      <m:t>𝑎</m:t>
                    </m:r>
                  </m:oMath>
                </a14:m>
                <a:r>
                  <a:rPr lang="zh-CN" altLang="en-US" dirty="0" smtClean="0"/>
                  <a:t>：</a:t>
                </a:r>
                <a:r>
                  <a:rPr lang="zh-CN" altLang="zh-CN" dirty="0"/>
                  <a:t>表示每一条公垂线的长度（也叫</a:t>
                </a:r>
                <a:r>
                  <a:rPr lang="zh-CN" altLang="zh-CN" b="1" dirty="0"/>
                  <a:t>关节偏移量</a:t>
                </a:r>
                <a:r>
                  <a:rPr lang="zh-CN" altLang="zh-CN" dirty="0" smtClean="0"/>
                  <a:t>）</a:t>
                </a:r>
                <a:endParaRPr lang="zh-CN" altLang="en-US" dirty="0"/>
              </a:p>
            </p:txBody>
          </p:sp>
        </mc:Choice>
        <mc:Fallback xmlns="">
          <p:sp>
            <p:nvSpPr>
              <p:cNvPr id="12" name="矩形 11"/>
              <p:cNvSpPr>
                <a:spLocks noRot="1" noChangeAspect="1" noMove="1" noResize="1" noEditPoints="1" noAdjustHandles="1" noChangeArrowheads="1" noChangeShapeType="1" noTextEdit="1"/>
              </p:cNvSpPr>
              <p:nvPr/>
            </p:nvSpPr>
            <p:spPr>
              <a:xfrm>
                <a:off x="5148063" y="3896425"/>
                <a:ext cx="3816423" cy="646331"/>
              </a:xfrm>
              <a:prstGeom prst="rect">
                <a:avLst/>
              </a:prstGeom>
              <a:blipFill>
                <a:blip r:embed="rId7"/>
                <a:stretch>
                  <a:fillRect l="-1276" t="-6604" b="-113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5148062" y="4451823"/>
                <a:ext cx="3744418" cy="64466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a:solidFill>
                            <a:srgbClr val="002060"/>
                          </a:solidFill>
                          <a:latin typeface="Cambria Math" panose="02040503050406030204" pitchFamily="18" charset="0"/>
                        </a:rPr>
                        <m:t>𝛼</m:t>
                      </m:r>
                      <m:r>
                        <a:rPr lang="zh-CN" altLang="en-US" i="1" smtClean="0">
                          <a:solidFill>
                            <a:srgbClr val="002060"/>
                          </a:solidFill>
                          <a:latin typeface="Cambria Math" panose="02040503050406030204" pitchFamily="18" charset="0"/>
                        </a:rPr>
                        <m:t>：</m:t>
                      </m:r>
                      <m:r>
                        <m:rPr>
                          <m:nor/>
                        </m:rPr>
                        <a:rPr lang="zh-CN" altLang="zh-CN" dirty="0"/>
                        <m:t>表示两个相邻的</m:t>
                      </m:r>
                      <m:r>
                        <m:rPr>
                          <m:nor/>
                        </m:rPr>
                        <a:rPr lang="en-US" altLang="zh-CN" dirty="0"/>
                        <m:t>z</m:t>
                      </m:r>
                      <m:r>
                        <m:rPr>
                          <m:nor/>
                        </m:rPr>
                        <a:rPr lang="zh-CN" altLang="zh-CN" dirty="0"/>
                        <m:t>轴之间的角度 （也叫</m:t>
                      </m:r>
                      <m:r>
                        <m:rPr>
                          <m:nor/>
                        </m:rPr>
                        <a:rPr lang="zh-CN" altLang="zh-CN" b="1" dirty="0"/>
                        <m:t>关节扭转</m:t>
                      </m:r>
                      <m:r>
                        <m:rPr>
                          <m:nor/>
                        </m:rPr>
                        <a:rPr lang="zh-CN" altLang="zh-CN" dirty="0"/>
                        <m:t>）</m:t>
                      </m:r>
                    </m:oMath>
                  </m:oMathPara>
                </a14:m>
                <a:endParaRPr lang="zh-CN" altLang="en-US" dirty="0">
                  <a:solidFill>
                    <a:srgbClr val="002060"/>
                  </a:solidFill>
                </a:endParaRPr>
              </a:p>
            </p:txBody>
          </p:sp>
        </mc:Choice>
        <mc:Fallback xmlns="">
          <p:sp>
            <p:nvSpPr>
              <p:cNvPr id="13" name="矩形 12"/>
              <p:cNvSpPr>
                <a:spLocks noRot="1" noChangeAspect="1" noMove="1" noResize="1" noEditPoints="1" noAdjustHandles="1" noChangeArrowheads="1" noChangeShapeType="1" noTextEdit="1"/>
              </p:cNvSpPr>
              <p:nvPr/>
            </p:nvSpPr>
            <p:spPr>
              <a:xfrm>
                <a:off x="5148062" y="4451823"/>
                <a:ext cx="3744418" cy="644664"/>
              </a:xfrm>
              <a:prstGeom prst="rect">
                <a:avLst/>
              </a:prstGeom>
              <a:blipFill>
                <a:blip r:embed="rId8"/>
                <a:stretch>
                  <a:fillRect b="-3774"/>
                </a:stretch>
              </a:blipFill>
            </p:spPr>
            <p:txBody>
              <a:bodyPr/>
              <a:lstStyle/>
              <a:p>
                <a:r>
                  <a:rPr lang="zh-CN" altLang="en-US">
                    <a:noFill/>
                  </a:rPr>
                  <a:t> </a:t>
                </a:r>
              </a:p>
            </p:txBody>
          </p:sp>
        </mc:Fallback>
      </mc:AlternateContent>
      <p:sp>
        <p:nvSpPr>
          <p:cNvPr id="14" name="文本框 13"/>
          <p:cNvSpPr txBox="1"/>
          <p:nvPr/>
        </p:nvSpPr>
        <p:spPr>
          <a:xfrm>
            <a:off x="35496" y="4710038"/>
            <a:ext cx="5262979" cy="369332"/>
          </a:xfrm>
          <a:prstGeom prst="rect">
            <a:avLst/>
          </a:prstGeom>
          <a:noFill/>
        </p:spPr>
        <p:txBody>
          <a:bodyPr wrap="none" rtlCol="0">
            <a:spAutoFit/>
          </a:bodyPr>
          <a:lstStyle/>
          <a:p>
            <a:r>
              <a:rPr lang="zh-CN" altLang="en-US" dirty="0" smtClean="0">
                <a:solidFill>
                  <a:srgbClr val="FF0000"/>
                </a:solidFill>
              </a:rPr>
              <a:t>问：四个参数中，哪几个是常量，哪几个是变量？</a:t>
            </a:r>
            <a:endParaRPr lang="zh-CN" altLang="en-US" dirty="0">
              <a:solidFill>
                <a:srgbClr val="FF0000"/>
              </a:solidFill>
            </a:endParaRPr>
          </a:p>
        </p:txBody>
      </p:sp>
    </p:spTree>
    <p:extLst>
      <p:ext uri="{BB962C8B-B14F-4D97-AF65-F5344CB8AC3E}">
        <p14:creationId xmlns:p14="http://schemas.microsoft.com/office/powerpoint/2010/main" val="26117589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36220" y="219075"/>
            <a:ext cx="5153660" cy="598805"/>
            <a:chOff x="-372" y="345"/>
            <a:chExt cx="8116" cy="943"/>
          </a:xfrm>
        </p:grpSpPr>
        <p:sp>
          <p:nvSpPr>
            <p:cNvPr id="9" name="矩形 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D-H </a:t>
              </a:r>
              <a:r>
                <a:rPr lang="en-US" altLang="zh-CN" sz="1000" dirty="0" smtClean="0">
                  <a:latin typeface="Arial" panose="020B0604020202020204" pitchFamily="34" charset="0"/>
                  <a:ea typeface="微软雅黑" panose="020B0503020204020204" charset="-122"/>
                  <a:sym typeface="+mn-ea"/>
                </a:rPr>
                <a:t>Notation in Robotics</a:t>
              </a:r>
              <a:endParaRPr lang="en-US" altLang="zh-CN" sz="1000" dirty="0">
                <a:latin typeface="Arial" panose="020B0604020202020204" pitchFamily="34" charset="0"/>
                <a:ea typeface="微软雅黑" panose="020B0503020204020204" charset="-122"/>
                <a:sym typeface="+mn-ea"/>
              </a:endParaRPr>
            </a:p>
          </p:txBody>
        </p:sp>
        <p:sp>
          <p:nvSpPr>
            <p:cNvPr id="10" name="文本框 9"/>
            <p:cNvSpPr txBox="1"/>
            <p:nvPr/>
          </p:nvSpPr>
          <p:spPr>
            <a:xfrm>
              <a:off x="443" y="363"/>
              <a:ext cx="7301" cy="628"/>
            </a:xfrm>
            <a:prstGeom prst="rect">
              <a:avLst/>
            </a:prstGeom>
            <a:noFill/>
          </p:spPr>
          <p:txBody>
            <a:bodyPr wrap="square" rtlCol="0" anchor="t">
              <a:spAutoFit/>
            </a:bodyPr>
            <a:lstStyle/>
            <a:p>
              <a:r>
                <a:rPr lang="en-US" altLang="zh-CN" sz="2000" b="1" dirty="0" smtClean="0">
                  <a:latin typeface="Arial" panose="020B0604020202020204" pitchFamily="34" charset="0"/>
                  <a:ea typeface="微软雅黑" panose="020B0503020204020204" charset="-122"/>
                  <a:sym typeface="+mn-ea"/>
                </a:rPr>
                <a:t>D-H</a:t>
              </a:r>
              <a:r>
                <a:rPr lang="zh-CN" altLang="en-US" sz="2000" b="1" dirty="0" smtClean="0">
                  <a:latin typeface="Arial" panose="020B0604020202020204" pitchFamily="34" charset="0"/>
                  <a:ea typeface="微软雅黑" panose="020B0503020204020204" charset="-122"/>
                  <a:sym typeface="+mn-ea"/>
                </a:rPr>
                <a:t>表示法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1" name="椭圆 1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图片 1"/>
          <p:cNvPicPr>
            <a:picLocks noChangeAspect="1"/>
          </p:cNvPicPr>
          <p:nvPr/>
        </p:nvPicPr>
        <p:blipFill rotWithShape="1">
          <a:blip r:embed="rId3"/>
          <a:srcRect b="48382"/>
          <a:stretch/>
        </p:blipFill>
        <p:spPr>
          <a:xfrm>
            <a:off x="202928" y="1461437"/>
            <a:ext cx="4165507" cy="2739285"/>
          </a:xfrm>
          <a:prstGeom prst="rect">
            <a:avLst/>
          </a:prstGeom>
        </p:spPr>
      </p:pic>
      <p:pic>
        <p:nvPicPr>
          <p:cNvPr id="15" name="图片 14"/>
          <p:cNvPicPr/>
          <p:nvPr/>
        </p:nvPicPr>
        <p:blipFill rotWithShape="1">
          <a:blip r:embed="rId4" cstate="print">
            <a:extLst>
              <a:ext uri="{28A0092B-C50C-407E-A947-70E740481C1C}">
                <a14:useLocalDpi xmlns:a14="http://schemas.microsoft.com/office/drawing/2010/main" val="0"/>
              </a:ext>
            </a:extLst>
          </a:blip>
          <a:srcRect t="51304"/>
          <a:stretch/>
        </p:blipFill>
        <p:spPr bwMode="auto">
          <a:xfrm>
            <a:off x="4446812" y="987574"/>
            <a:ext cx="4496570" cy="3687012"/>
          </a:xfrm>
          <a:prstGeom prst="rect">
            <a:avLst/>
          </a:prstGeom>
          <a:noFill/>
          <a:ln>
            <a:noFill/>
          </a:ln>
        </p:spPr>
      </p:pic>
      <mc:AlternateContent xmlns:mc="http://schemas.openxmlformats.org/markup-compatibility/2006" xmlns:a14="http://schemas.microsoft.com/office/drawing/2010/main">
        <mc:Choice Requires="a14">
          <p:sp>
            <p:nvSpPr>
              <p:cNvPr id="3" name="矩形 2"/>
              <p:cNvSpPr/>
              <p:nvPr/>
            </p:nvSpPr>
            <p:spPr>
              <a:xfrm>
                <a:off x="14248" y="4340784"/>
                <a:ext cx="4572000" cy="584775"/>
              </a:xfrm>
              <a:prstGeom prst="rect">
                <a:avLst/>
              </a:prstGeom>
            </p:spPr>
            <p:txBody>
              <a:bodyPr>
                <a:spAutoFit/>
              </a:bodyPr>
              <a:lstStyle/>
              <a:p>
                <a:r>
                  <a:rPr lang="zh-CN" altLang="zh-CN" sz="1600" dirty="0" smtClean="0">
                    <a:solidFill>
                      <a:srgbClr val="002060"/>
                    </a:solidFill>
                  </a:rPr>
                  <a:t>本地坐标系</a:t>
                </a:r>
                <a14:m>
                  <m:oMath xmlns:m="http://schemas.openxmlformats.org/officeDocument/2006/math">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𝑥</m:t>
                        </m:r>
                      </m:e>
                      <m:sub>
                        <m:r>
                          <a:rPr lang="en-US" altLang="zh-CN" sz="1600" i="1">
                            <a:solidFill>
                              <a:srgbClr val="002060"/>
                            </a:solidFill>
                            <a:latin typeface="Cambria Math" panose="02040503050406030204" pitchFamily="18" charset="0"/>
                          </a:rPr>
                          <m:t>𝑛</m:t>
                        </m:r>
                      </m:sub>
                    </m:sSub>
                    <m:r>
                      <a:rPr lang="zh-CN" altLang="en-US"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𝑧</m:t>
                        </m:r>
                      </m:e>
                      <m:sub>
                        <m:r>
                          <a:rPr lang="en-US" altLang="zh-CN" sz="1600" i="1">
                            <a:solidFill>
                              <a:srgbClr val="002060"/>
                            </a:solidFill>
                            <a:latin typeface="Cambria Math" panose="02040503050406030204" pitchFamily="18" charset="0"/>
                          </a:rPr>
                          <m:t>𝑛</m:t>
                        </m:r>
                      </m:sub>
                    </m:sSub>
                  </m:oMath>
                </a14:m>
                <a:r>
                  <a:rPr lang="zh-CN" altLang="zh-CN" sz="1600" dirty="0">
                    <a:solidFill>
                      <a:srgbClr val="002060"/>
                    </a:solidFill>
                  </a:rPr>
                  <a:t>，那么</a:t>
                </a:r>
                <a:r>
                  <a:rPr lang="zh-CN" altLang="zh-CN" sz="1600" dirty="0" smtClean="0">
                    <a:solidFill>
                      <a:srgbClr val="002060"/>
                    </a:solidFill>
                  </a:rPr>
                  <a:t>通过四</a:t>
                </a:r>
                <a:r>
                  <a:rPr lang="zh-CN" altLang="zh-CN" sz="1600" dirty="0">
                    <a:solidFill>
                      <a:srgbClr val="002060"/>
                    </a:solidFill>
                  </a:rPr>
                  <a:t>步标准运动即可到达下一个本地坐标系</a:t>
                </a:r>
                <a14:m>
                  <m:oMath xmlns:m="http://schemas.openxmlformats.org/officeDocument/2006/math">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𝑥</m:t>
                        </m:r>
                      </m:e>
                      <m:sub>
                        <m:r>
                          <a:rPr lang="en-US" altLang="zh-CN" sz="1600" i="1">
                            <a:solidFill>
                              <a:srgbClr val="002060"/>
                            </a:solidFill>
                            <a:latin typeface="Cambria Math" panose="02040503050406030204" pitchFamily="18" charset="0"/>
                          </a:rPr>
                          <m:t>𝑛</m:t>
                        </m:r>
                        <m:r>
                          <a:rPr lang="en-US" altLang="zh-CN" sz="1600" i="1">
                            <a:solidFill>
                              <a:srgbClr val="002060"/>
                            </a:solidFill>
                            <a:latin typeface="Cambria Math" panose="02040503050406030204" pitchFamily="18" charset="0"/>
                          </a:rPr>
                          <m:t>+1</m:t>
                        </m:r>
                      </m:sub>
                    </m:sSub>
                    <m:r>
                      <a:rPr lang="zh-CN" altLang="en-US" sz="1600" i="1">
                        <a:solidFill>
                          <a:srgbClr val="002060"/>
                        </a:solidFill>
                        <a:latin typeface="Cambria Math" panose="02040503050406030204" pitchFamily="18" charset="0"/>
                      </a:rPr>
                      <m:t>−</m:t>
                    </m:r>
                    <m:sSub>
                      <m:sSubPr>
                        <m:ctrlPr>
                          <a:rPr lang="zh-CN"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𝑧</m:t>
                        </m:r>
                      </m:e>
                      <m:sub>
                        <m:r>
                          <a:rPr lang="en-US" altLang="zh-CN" sz="1600" i="1">
                            <a:solidFill>
                              <a:srgbClr val="002060"/>
                            </a:solidFill>
                            <a:latin typeface="Cambria Math" panose="02040503050406030204" pitchFamily="18" charset="0"/>
                          </a:rPr>
                          <m:t>𝑛</m:t>
                        </m:r>
                        <m:r>
                          <a:rPr lang="en-US" altLang="zh-CN" sz="1600" i="1">
                            <a:solidFill>
                              <a:srgbClr val="002060"/>
                            </a:solidFill>
                            <a:latin typeface="Cambria Math" panose="02040503050406030204" pitchFamily="18" charset="0"/>
                          </a:rPr>
                          <m:t>+1</m:t>
                        </m:r>
                      </m:sub>
                    </m:sSub>
                  </m:oMath>
                </a14:m>
                <a:r>
                  <a:rPr lang="zh-CN" altLang="zh-CN" sz="1600" dirty="0">
                    <a:solidFill>
                      <a:srgbClr val="002060"/>
                    </a:solidFill>
                  </a:rPr>
                  <a:t>。</a:t>
                </a:r>
                <a:endParaRPr lang="zh-CN" altLang="en-US" sz="1600" dirty="0">
                  <a:solidFill>
                    <a:srgbClr val="002060"/>
                  </a:solidFill>
                </a:endParaRPr>
              </a:p>
            </p:txBody>
          </p:sp>
        </mc:Choice>
        <mc:Fallback xmlns="">
          <p:sp>
            <p:nvSpPr>
              <p:cNvPr id="3" name="矩形 2"/>
              <p:cNvSpPr>
                <a:spLocks noRot="1" noChangeAspect="1" noMove="1" noResize="1" noEditPoints="1" noAdjustHandles="1" noChangeArrowheads="1" noChangeShapeType="1" noTextEdit="1"/>
              </p:cNvSpPr>
              <p:nvPr/>
            </p:nvSpPr>
            <p:spPr>
              <a:xfrm>
                <a:off x="14248" y="4340784"/>
                <a:ext cx="4572000" cy="584775"/>
              </a:xfrm>
              <a:prstGeom prst="rect">
                <a:avLst/>
              </a:prstGeom>
              <a:blipFill>
                <a:blip r:embed="rId5"/>
                <a:stretch>
                  <a:fillRect l="-667" t="-4167" b="-1041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0520078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36220" y="219075"/>
            <a:ext cx="5153660" cy="598805"/>
            <a:chOff x="-372" y="345"/>
            <a:chExt cx="8116" cy="943"/>
          </a:xfrm>
        </p:grpSpPr>
        <p:sp>
          <p:nvSpPr>
            <p:cNvPr id="9" name="矩形 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D-H </a:t>
              </a:r>
              <a:r>
                <a:rPr lang="en-US" altLang="zh-CN" sz="1000" dirty="0" smtClean="0">
                  <a:latin typeface="Arial" panose="020B0604020202020204" pitchFamily="34" charset="0"/>
                  <a:ea typeface="微软雅黑" panose="020B0503020204020204" charset="-122"/>
                  <a:sym typeface="+mn-ea"/>
                </a:rPr>
                <a:t>Notation in Robotics</a:t>
              </a:r>
              <a:endParaRPr lang="en-US" altLang="zh-CN" sz="1000" dirty="0">
                <a:latin typeface="Arial" panose="020B0604020202020204" pitchFamily="34" charset="0"/>
                <a:ea typeface="微软雅黑" panose="020B0503020204020204" charset="-122"/>
                <a:sym typeface="+mn-ea"/>
              </a:endParaRPr>
            </a:p>
          </p:txBody>
        </p:sp>
        <p:sp>
          <p:nvSpPr>
            <p:cNvPr id="10" name="文本框 9"/>
            <p:cNvSpPr txBox="1"/>
            <p:nvPr/>
          </p:nvSpPr>
          <p:spPr>
            <a:xfrm>
              <a:off x="443" y="363"/>
              <a:ext cx="7301" cy="628"/>
            </a:xfrm>
            <a:prstGeom prst="rect">
              <a:avLst/>
            </a:prstGeom>
            <a:noFill/>
          </p:spPr>
          <p:txBody>
            <a:bodyPr wrap="square" rtlCol="0" anchor="t">
              <a:spAutoFit/>
            </a:bodyPr>
            <a:lstStyle/>
            <a:p>
              <a:r>
                <a:rPr lang="en-US" altLang="zh-CN" sz="2000" b="1" dirty="0" smtClean="0">
                  <a:latin typeface="Arial" panose="020B0604020202020204" pitchFamily="34" charset="0"/>
                  <a:ea typeface="微软雅黑" panose="020B0503020204020204" charset="-122"/>
                  <a:sym typeface="+mn-ea"/>
                </a:rPr>
                <a:t>D-H</a:t>
              </a:r>
              <a:r>
                <a:rPr lang="zh-CN" altLang="en-US" sz="2000" b="1" dirty="0" smtClean="0">
                  <a:latin typeface="Arial" panose="020B0604020202020204" pitchFamily="34" charset="0"/>
                  <a:ea typeface="微软雅黑" panose="020B0503020204020204" charset="-122"/>
                  <a:sym typeface="+mn-ea"/>
                </a:rPr>
                <a:t>表示法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1" name="椭圆 1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4" name="矩形 3"/>
              <p:cNvSpPr/>
              <p:nvPr/>
            </p:nvSpPr>
            <p:spPr>
              <a:xfrm>
                <a:off x="755576" y="1203598"/>
                <a:ext cx="7776864" cy="65344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sPre>
                            <m:sPrePr>
                              <m:ctrlPr>
                                <a:rPr lang="zh-CN" altLang="en-US" i="1">
                                  <a:latin typeface="Cambria Math" panose="02040503050406030204" pitchFamily="18" charset="0"/>
                                </a:rPr>
                              </m:ctrlPr>
                            </m:sPrePr>
                            <m:sub/>
                            <m:sup>
                              <m:r>
                                <a:rPr lang="zh-CN" altLang="en-US" i="1">
                                  <a:latin typeface="Cambria Math" panose="02040503050406030204" pitchFamily="18" charset="0"/>
                                </a:rPr>
                                <m:t>𝑛</m:t>
                              </m:r>
                            </m:sup>
                            <m:e>
                              <m:r>
                                <a:rPr lang="zh-CN" altLang="en-US" i="1">
                                  <a:latin typeface="Cambria Math" panose="02040503050406030204" pitchFamily="18" charset="0"/>
                                </a:rPr>
                                <m:t>𝑇</m:t>
                              </m:r>
                            </m:e>
                          </m:sPre>
                        </m:e>
                        <m:sub>
                          <m:r>
                            <a:rPr lang="zh-CN" altLang="en-US" i="1">
                              <a:latin typeface="Cambria Math" panose="02040503050406030204" pitchFamily="18" charset="0"/>
                            </a:rPr>
                            <m:t>𝑛</m:t>
                          </m:r>
                          <m:r>
                            <a:rPr lang="zh-CN" altLang="en-US" i="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𝐴</m:t>
                          </m:r>
                        </m:e>
                        <m:sub>
                          <m:r>
                            <a:rPr lang="zh-CN" altLang="en-US" i="1">
                              <a:latin typeface="Cambria Math" panose="02040503050406030204" pitchFamily="18" charset="0"/>
                            </a:rPr>
                            <m:t>𝑛</m:t>
                          </m:r>
                          <m:r>
                            <a:rPr lang="zh-CN" altLang="en-US" i="0">
                              <a:latin typeface="Cambria Math" panose="02040503050406030204" pitchFamily="18" charset="0"/>
                            </a:rPr>
                            <m:t>+1</m:t>
                          </m:r>
                        </m:sub>
                      </m:sSub>
                      <m:r>
                        <a:rPr lang="zh-CN" altLang="en-US" i="0">
                          <a:latin typeface="Cambria Math" panose="02040503050406030204" pitchFamily="18" charset="0"/>
                        </a:rPr>
                        <m:t>=</m:t>
                      </m:r>
                      <m:r>
                        <a:rPr lang="zh-CN" altLang="en-US" i="1">
                          <a:latin typeface="Cambria Math" panose="02040503050406030204" pitchFamily="18" charset="0"/>
                        </a:rPr>
                        <m:t>𝑅𝑜𝑡</m:t>
                      </m:r>
                      <m:d>
                        <m:dPr>
                          <m:ctrlPr>
                            <a:rPr lang="zh-CN" altLang="en-US" i="1">
                              <a:latin typeface="Cambria Math" panose="02040503050406030204" pitchFamily="18" charset="0"/>
                            </a:rPr>
                          </m:ctrlPr>
                        </m:dPr>
                        <m:e>
                          <m:r>
                            <a:rPr lang="zh-CN" altLang="en-US" i="1">
                              <a:latin typeface="Cambria Math" panose="02040503050406030204" pitchFamily="18" charset="0"/>
                            </a:rPr>
                            <m:t>𝑧</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𝜃</m:t>
                              </m:r>
                            </m:e>
                            <m:sub>
                              <m:r>
                                <a:rPr lang="zh-CN" altLang="en-US" i="1">
                                  <a:latin typeface="Cambria Math" panose="02040503050406030204" pitchFamily="18" charset="0"/>
                                </a:rPr>
                                <m:t>𝑛</m:t>
                              </m:r>
                              <m:r>
                                <a:rPr lang="zh-CN" altLang="en-US" i="0">
                                  <a:latin typeface="Cambria Math" panose="02040503050406030204" pitchFamily="18" charset="0"/>
                                </a:rPr>
                                <m:t>+1</m:t>
                              </m:r>
                            </m:sub>
                          </m:sSub>
                        </m:e>
                      </m:d>
                      <m:r>
                        <a:rPr lang="zh-CN" altLang="en-US" i="0">
                          <a:latin typeface="Cambria Math" panose="02040503050406030204" pitchFamily="18" charset="0"/>
                        </a:rPr>
                        <m:t>×</m:t>
                      </m:r>
                      <m:r>
                        <a:rPr lang="zh-CN" altLang="en-US" i="1">
                          <a:latin typeface="Cambria Math" panose="02040503050406030204" pitchFamily="18" charset="0"/>
                        </a:rPr>
                        <m:t>𝑇𝑟𝑎𝑛</m:t>
                      </m:r>
                      <m:d>
                        <m:dPr>
                          <m:ctrlPr>
                            <a:rPr lang="zh-CN" altLang="en-US" i="1">
                              <a:latin typeface="Cambria Math" panose="02040503050406030204" pitchFamily="18" charset="0"/>
                            </a:rPr>
                          </m:ctrlPr>
                        </m:dPr>
                        <m:e>
                          <m:r>
                            <a:rPr lang="zh-CN" altLang="en-US" i="0">
                              <a:latin typeface="Cambria Math" panose="02040503050406030204" pitchFamily="18" charset="0"/>
                            </a:rPr>
                            <m:t>0,0,</m:t>
                          </m:r>
                          <m:sSub>
                            <m:sSubPr>
                              <m:ctrlPr>
                                <a:rPr lang="zh-CN" altLang="en-US" i="1">
                                  <a:latin typeface="Cambria Math" panose="02040503050406030204" pitchFamily="18" charset="0"/>
                                </a:rPr>
                              </m:ctrlPr>
                            </m:sSubPr>
                            <m:e>
                              <m:r>
                                <a:rPr lang="zh-CN" altLang="en-US" i="1">
                                  <a:latin typeface="Cambria Math" panose="02040503050406030204" pitchFamily="18" charset="0"/>
                                </a:rPr>
                                <m:t>𝑑</m:t>
                              </m:r>
                            </m:e>
                            <m:sub>
                              <m:r>
                                <a:rPr lang="zh-CN" altLang="en-US" i="1">
                                  <a:latin typeface="Cambria Math" panose="02040503050406030204" pitchFamily="18" charset="0"/>
                                </a:rPr>
                                <m:t>𝑛</m:t>
                              </m:r>
                              <m:r>
                                <a:rPr lang="zh-CN" altLang="en-US" i="0">
                                  <a:latin typeface="Cambria Math" panose="02040503050406030204" pitchFamily="18" charset="0"/>
                                </a:rPr>
                                <m:t>+1</m:t>
                              </m:r>
                            </m:sub>
                          </m:sSub>
                        </m:e>
                      </m:d>
                      <m:r>
                        <a:rPr lang="zh-CN" altLang="en-US" i="0">
                          <a:latin typeface="Cambria Math" panose="02040503050406030204" pitchFamily="18" charset="0"/>
                        </a:rPr>
                        <m:t>×</m:t>
                      </m:r>
                      <m:r>
                        <a:rPr lang="zh-CN" altLang="en-US" i="1">
                          <a:latin typeface="Cambria Math" panose="02040503050406030204" pitchFamily="18" charset="0"/>
                        </a:rPr>
                        <m:t>𝑇𝑟𝑎𝑛</m:t>
                      </m:r>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a:rPr lang="zh-CN" altLang="en-US" i="1">
                                  <a:latin typeface="Cambria Math" panose="02040503050406030204" pitchFamily="18" charset="0"/>
                                </a:rPr>
                                <m:t>𝑛</m:t>
                              </m:r>
                              <m:r>
                                <a:rPr lang="zh-CN" altLang="en-US" i="0">
                                  <a:latin typeface="Cambria Math" panose="02040503050406030204" pitchFamily="18" charset="0"/>
                                </a:rPr>
                                <m:t>+1</m:t>
                              </m:r>
                            </m:sub>
                          </m:sSub>
                          <m:r>
                            <a:rPr lang="zh-CN" altLang="en-US" i="0">
                              <a:latin typeface="Cambria Math" panose="02040503050406030204" pitchFamily="18" charset="0"/>
                            </a:rPr>
                            <m:t>,0,0</m:t>
                          </m:r>
                        </m:e>
                      </m:d>
                      <m:r>
                        <a:rPr lang="zh-CN" altLang="en-US" i="0">
                          <a:latin typeface="Cambria Math" panose="02040503050406030204" pitchFamily="18" charset="0"/>
                        </a:rPr>
                        <m:t>×</m:t>
                      </m:r>
                      <m:r>
                        <a:rPr lang="zh-CN" altLang="en-US" i="1">
                          <a:latin typeface="Cambria Math" panose="02040503050406030204" pitchFamily="18" charset="0"/>
                        </a:rPr>
                        <m:t>𝑅𝑜𝑡</m:t>
                      </m:r>
                      <m:d>
                        <m:dPr>
                          <m:ctrlPr>
                            <a:rPr lang="zh-CN" altLang="en-US" i="1">
                              <a:latin typeface="Cambria Math" panose="02040503050406030204" pitchFamily="18" charset="0"/>
                            </a:rPr>
                          </m:ctrlPr>
                        </m:dPr>
                        <m:e>
                          <m:r>
                            <a:rPr lang="zh-CN" altLang="en-US" i="1">
                              <a:latin typeface="Cambria Math" panose="02040503050406030204" pitchFamily="18" charset="0"/>
                            </a:rPr>
                            <m:t>𝑥</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a:rPr lang="zh-CN" altLang="en-US" i="1">
                                  <a:latin typeface="Cambria Math" panose="02040503050406030204" pitchFamily="18" charset="0"/>
                                </a:rPr>
                                <m:t>𝑛</m:t>
                              </m:r>
                              <m:r>
                                <a:rPr lang="zh-CN" altLang="en-US" i="0">
                                  <a:latin typeface="Cambria Math" panose="02040503050406030204" pitchFamily="18" charset="0"/>
                                </a:rPr>
                                <m:t>+1</m:t>
                              </m:r>
                            </m:sub>
                          </m:sSub>
                        </m:e>
                      </m:d>
                    </m:oMath>
                  </m:oMathPara>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755576" y="1203598"/>
                <a:ext cx="7776864" cy="653449"/>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1259632" y="834508"/>
                <a:ext cx="7455439" cy="338554"/>
              </a:xfrm>
              <a:prstGeom prst="rect">
                <a:avLst/>
              </a:prstGeom>
              <a:noFill/>
            </p:spPr>
            <p:txBody>
              <a:bodyPr wrap="none" rtlCol="0">
                <a:spAutoFit/>
              </a:bodyPr>
              <a:lstStyle/>
              <a:p>
                <a:r>
                  <a:rPr lang="en-US" altLang="zh-CN" sz="1600" dirty="0" smtClean="0">
                    <a:solidFill>
                      <a:srgbClr val="002060"/>
                    </a:solidFill>
                  </a:rPr>
                  <a:t>{</a:t>
                </a:r>
                <a14:m>
                  <m:oMath xmlns:m="http://schemas.openxmlformats.org/officeDocument/2006/math">
                    <m:sSub>
                      <m:sSubPr>
                        <m:ctrlPr>
                          <a:rPr lang="en-US" altLang="zh-CN" sz="1600" i="1" smtClean="0">
                            <a:solidFill>
                              <a:srgbClr val="002060"/>
                            </a:solidFill>
                            <a:latin typeface="Cambria Math" panose="02040503050406030204" pitchFamily="18" charset="0"/>
                          </a:rPr>
                        </m:ctrlPr>
                      </m:sSubPr>
                      <m:e>
                        <m:r>
                          <a:rPr lang="en-US" altLang="zh-CN" sz="1600" b="0" i="1" smtClean="0">
                            <a:solidFill>
                              <a:srgbClr val="002060"/>
                            </a:solidFill>
                            <a:latin typeface="Cambria Math" panose="02040503050406030204" pitchFamily="18" charset="0"/>
                          </a:rPr>
                          <m:t>𝑧</m:t>
                        </m:r>
                      </m:e>
                      <m:sub>
                        <m:r>
                          <a:rPr lang="en-US" altLang="zh-CN" sz="1600" b="0" i="1" smtClean="0">
                            <a:solidFill>
                              <a:srgbClr val="002060"/>
                            </a:solidFill>
                            <a:latin typeface="Cambria Math" panose="02040503050406030204" pitchFamily="18" charset="0"/>
                          </a:rPr>
                          <m:t>𝑛</m:t>
                        </m:r>
                      </m:sub>
                    </m:sSub>
                    <m:r>
                      <a:rPr lang="en-US" altLang="zh-CN" sz="1600" b="0" i="1" smtClean="0">
                        <a:solidFill>
                          <a:srgbClr val="002060"/>
                        </a:solidFill>
                        <a:latin typeface="Cambria Math" panose="02040503050406030204" pitchFamily="18" charset="0"/>
                      </a:rPr>
                      <m:t>−</m:t>
                    </m:r>
                    <m:sSub>
                      <m:sSubPr>
                        <m:ctrlPr>
                          <a:rPr lang="en-US" altLang="zh-CN" sz="1600" b="0" i="1" smtClean="0">
                            <a:solidFill>
                              <a:srgbClr val="002060"/>
                            </a:solidFill>
                            <a:latin typeface="Cambria Math" panose="02040503050406030204" pitchFamily="18" charset="0"/>
                          </a:rPr>
                        </m:ctrlPr>
                      </m:sSubPr>
                      <m:e>
                        <m:r>
                          <a:rPr lang="en-US" altLang="zh-CN" sz="1600" b="0" i="1" smtClean="0">
                            <a:solidFill>
                              <a:srgbClr val="002060"/>
                            </a:solidFill>
                            <a:latin typeface="Cambria Math" panose="02040503050406030204" pitchFamily="18" charset="0"/>
                          </a:rPr>
                          <m:t>𝑥</m:t>
                        </m:r>
                      </m:e>
                      <m:sub>
                        <m:r>
                          <a:rPr lang="en-US" altLang="zh-CN" sz="1600" b="0" i="1" smtClean="0">
                            <a:solidFill>
                              <a:srgbClr val="002060"/>
                            </a:solidFill>
                            <a:latin typeface="Cambria Math" panose="02040503050406030204" pitchFamily="18" charset="0"/>
                          </a:rPr>
                          <m:t>𝑛</m:t>
                        </m:r>
                      </m:sub>
                    </m:sSub>
                  </m:oMath>
                </a14:m>
                <a:r>
                  <a:rPr lang="en-US" altLang="zh-CN" sz="1600" dirty="0" smtClean="0">
                    <a:solidFill>
                      <a:srgbClr val="002060"/>
                    </a:solidFill>
                  </a:rPr>
                  <a:t>}-&gt;</a:t>
                </a:r>
                <a:r>
                  <a:rPr lang="en-US" altLang="zh-CN" sz="1600" dirty="0">
                    <a:solidFill>
                      <a:srgbClr val="002060"/>
                    </a:solidFill>
                  </a:rPr>
                  <a:t>{</a:t>
                </a:r>
                <a14:m>
                  <m:oMath xmlns:m="http://schemas.openxmlformats.org/officeDocument/2006/math">
                    <m:sSub>
                      <m:sSubPr>
                        <m:ctrlPr>
                          <a:rPr lang="en-US"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𝑧</m:t>
                        </m:r>
                      </m:e>
                      <m:sub>
                        <m:r>
                          <a:rPr lang="en-US" altLang="zh-CN" sz="1600" i="1">
                            <a:solidFill>
                              <a:srgbClr val="002060"/>
                            </a:solidFill>
                            <a:latin typeface="Cambria Math" panose="02040503050406030204" pitchFamily="18" charset="0"/>
                          </a:rPr>
                          <m:t>𝑛</m:t>
                        </m:r>
                        <m:r>
                          <a:rPr lang="en-US" altLang="zh-CN" sz="1600" b="0" i="1" smtClean="0">
                            <a:solidFill>
                              <a:srgbClr val="002060"/>
                            </a:solidFill>
                            <a:latin typeface="Cambria Math" panose="02040503050406030204" pitchFamily="18" charset="0"/>
                          </a:rPr>
                          <m:t>+1</m:t>
                        </m:r>
                      </m:sub>
                    </m:sSub>
                    <m:r>
                      <a:rPr lang="en-US" altLang="zh-CN" sz="1600" i="1">
                        <a:solidFill>
                          <a:srgbClr val="002060"/>
                        </a:solidFill>
                        <a:latin typeface="Cambria Math" panose="02040503050406030204" pitchFamily="18" charset="0"/>
                      </a:rPr>
                      <m:t>−</m:t>
                    </m:r>
                    <m:sSub>
                      <m:sSubPr>
                        <m:ctrlPr>
                          <a:rPr lang="en-US" altLang="zh-CN" sz="1600" i="1">
                            <a:solidFill>
                              <a:srgbClr val="002060"/>
                            </a:solidFill>
                            <a:latin typeface="Cambria Math" panose="02040503050406030204" pitchFamily="18" charset="0"/>
                          </a:rPr>
                        </m:ctrlPr>
                      </m:sSubPr>
                      <m:e>
                        <m:r>
                          <a:rPr lang="en-US" altLang="zh-CN" sz="1600" i="1">
                            <a:solidFill>
                              <a:srgbClr val="002060"/>
                            </a:solidFill>
                            <a:latin typeface="Cambria Math" panose="02040503050406030204" pitchFamily="18" charset="0"/>
                          </a:rPr>
                          <m:t>𝑥</m:t>
                        </m:r>
                      </m:e>
                      <m:sub>
                        <m:r>
                          <a:rPr lang="en-US" altLang="zh-CN" sz="1600" i="1">
                            <a:solidFill>
                              <a:srgbClr val="002060"/>
                            </a:solidFill>
                            <a:latin typeface="Cambria Math" panose="02040503050406030204" pitchFamily="18" charset="0"/>
                          </a:rPr>
                          <m:t>𝑛</m:t>
                        </m:r>
                        <m:r>
                          <a:rPr lang="en-US" altLang="zh-CN" sz="1600" b="0" i="1" smtClean="0">
                            <a:solidFill>
                              <a:srgbClr val="002060"/>
                            </a:solidFill>
                            <a:latin typeface="Cambria Math" panose="02040503050406030204" pitchFamily="18" charset="0"/>
                          </a:rPr>
                          <m:t>+1</m:t>
                        </m:r>
                      </m:sub>
                    </m:sSub>
                  </m:oMath>
                </a14:m>
                <a:r>
                  <a:rPr lang="en-US" altLang="zh-CN" sz="1600" dirty="0" smtClean="0">
                    <a:solidFill>
                      <a:srgbClr val="002060"/>
                    </a:solidFill>
                  </a:rPr>
                  <a:t>}</a:t>
                </a:r>
                <a:r>
                  <a:rPr lang="zh-CN" altLang="en-US" sz="1600" dirty="0" smtClean="0">
                    <a:solidFill>
                      <a:srgbClr val="002060"/>
                    </a:solidFill>
                  </a:rPr>
                  <a:t>的变换</a:t>
                </a:r>
                <a:r>
                  <a:rPr lang="zh-CN" altLang="en-US" sz="1600" dirty="0">
                    <a:solidFill>
                      <a:srgbClr val="002060"/>
                    </a:solidFill>
                  </a:rPr>
                  <a:t>，</a:t>
                </a:r>
                <a:r>
                  <a:rPr lang="zh-CN" altLang="en-US" sz="1600" dirty="0" smtClean="0">
                    <a:solidFill>
                      <a:srgbClr val="002060"/>
                    </a:solidFill>
                  </a:rPr>
                  <a:t>根据齐次坐标变换矩阵得到：四个矩阵依次右乘</a:t>
                </a:r>
                <a:endParaRPr lang="zh-CN" altLang="en-US" sz="1600" dirty="0">
                  <a:solidFill>
                    <a:srgbClr val="002060"/>
                  </a:solidFill>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1259632" y="834508"/>
                <a:ext cx="7455439" cy="338554"/>
              </a:xfrm>
              <a:prstGeom prst="rect">
                <a:avLst/>
              </a:prstGeom>
              <a:blipFill>
                <a:blip r:embed="rId4"/>
                <a:stretch>
                  <a:fillRect l="-491" t="-9091" b="-254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1763688" y="2067694"/>
                <a:ext cx="4572000" cy="660309"/>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r>
                        <a:rPr lang="zh-CN" altLang="en-US" sz="1000">
                          <a:latin typeface="Cambria Math" panose="02040503050406030204" pitchFamily="18" charset="0"/>
                        </a:rPr>
                        <m:t>=</m:t>
                      </m:r>
                      <m:d>
                        <m:dPr>
                          <m:begChr m:val="["/>
                          <m:endChr m:val="]"/>
                          <m:ctrlPr>
                            <a:rPr lang="zh-CN" altLang="en-US" sz="1000" i="1">
                              <a:latin typeface="Cambria Math" panose="02040503050406030204" pitchFamily="18" charset="0"/>
                            </a:rPr>
                          </m:ctrlPr>
                        </m:dPr>
                        <m:e>
                          <m:m>
                            <m:mPr>
                              <m:mcs>
                                <m:mc>
                                  <m:mcPr>
                                    <m:count m:val="4"/>
                                    <m:mcJc m:val="center"/>
                                  </m:mcPr>
                                </m:mc>
                              </m:mcs>
                              <m:ctrlPr>
                                <a:rPr lang="zh-CN" altLang="en-US" sz="1000" i="1">
                                  <a:latin typeface="Cambria Math" panose="02040503050406030204" pitchFamily="18" charset="0"/>
                                </a:rPr>
                              </m:ctrlPr>
                            </m:mPr>
                            <m:mr>
                              <m:e>
                                <m:r>
                                  <a:rPr lang="zh-CN" altLang="en-US" sz="1000" i="1">
                                    <a:latin typeface="Cambria Math" panose="02040503050406030204" pitchFamily="18" charset="0"/>
                                  </a:rPr>
                                  <m:t>𝐶</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e>
                              <m:e>
                                <m:r>
                                  <a:rPr lang="zh-CN" altLang="en-US" sz="1000" i="0">
                                    <a:latin typeface="Cambria Math" panose="02040503050406030204" pitchFamily="18" charset="0"/>
                                  </a:rPr>
                                  <m:t>−</m:t>
                                </m:r>
                                <m:r>
                                  <a:rPr lang="zh-CN" altLang="en-US" sz="1000" i="1">
                                    <a:latin typeface="Cambria Math" panose="02040503050406030204" pitchFamily="18" charset="0"/>
                                  </a:rPr>
                                  <m:t>𝑆</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e>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r>
                              <m:e>
                                <m:r>
                                  <a:rPr lang="zh-CN" altLang="en-US" sz="1000" i="1">
                                    <a:latin typeface="Cambria Math" panose="02040503050406030204" pitchFamily="18" charset="0"/>
                                  </a:rPr>
                                  <m:t>𝑆</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e>
                              <m:e>
                                <m:r>
                                  <a:rPr lang="zh-CN" altLang="en-US" sz="1000" i="1">
                                    <a:latin typeface="Cambria Math" panose="02040503050406030204" pitchFamily="18" charset="0"/>
                                  </a:rPr>
                                  <m:t>𝐶</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e>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e>
                                <m:r>
                                  <a:rPr lang="zh-CN" altLang="en-US" sz="1000" i="0">
                                    <a:latin typeface="Cambria Math" panose="02040503050406030204" pitchFamily="18" charset="0"/>
                                  </a:rPr>
                                  <m:t>1</m:t>
                                </m:r>
                              </m:e>
                              <m:e>
                                <m:r>
                                  <a:rPr lang="zh-CN" altLang="en-US" sz="1000" i="0">
                                    <a:latin typeface="Cambria Math" panose="02040503050406030204" pitchFamily="18" charset="0"/>
                                  </a:rPr>
                                  <m:t>0</m:t>
                                </m:r>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e>
                                <m:r>
                                  <a:rPr lang="zh-CN" altLang="en-US" sz="1000" i="0">
                                    <a:latin typeface="Cambria Math" panose="02040503050406030204" pitchFamily="18" charset="0"/>
                                  </a:rPr>
                                  <m:t>0</m:t>
                                </m:r>
                              </m:e>
                              <m:e>
                                <m:r>
                                  <a:rPr lang="zh-CN" altLang="en-US" sz="1000" i="0">
                                    <a:latin typeface="Cambria Math" panose="02040503050406030204" pitchFamily="18" charset="0"/>
                                  </a:rPr>
                                  <m:t>1</m:t>
                                </m:r>
                              </m:e>
                            </m:mr>
                          </m:m>
                        </m:e>
                      </m:d>
                      <m:r>
                        <a:rPr lang="zh-CN" altLang="en-US" sz="1000" i="0">
                          <a:latin typeface="Cambria Math" panose="02040503050406030204" pitchFamily="18" charset="0"/>
                        </a:rPr>
                        <m:t>×</m:t>
                      </m:r>
                      <m:d>
                        <m:dPr>
                          <m:begChr m:val="["/>
                          <m:endChr m:val="]"/>
                          <m:ctrlPr>
                            <a:rPr lang="zh-CN" altLang="en-US" sz="1000" i="1">
                              <a:latin typeface="Cambria Math" panose="02040503050406030204" pitchFamily="18" charset="0"/>
                            </a:rPr>
                          </m:ctrlPr>
                        </m:dPr>
                        <m:e>
                          <m:m>
                            <m:mPr>
                              <m:mcs>
                                <m:mc>
                                  <m:mcPr>
                                    <m:count m:val="4"/>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1</m:t>
                                </m:r>
                              </m:e>
                              <m:e>
                                <m:r>
                                  <a:rPr lang="zh-CN" altLang="en-US" sz="1000" i="0">
                                    <a:latin typeface="Cambria Math" panose="02040503050406030204" pitchFamily="18" charset="0"/>
                                  </a:rPr>
                                  <m:t>0</m:t>
                                </m:r>
                              </m:e>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r>
                              <m:e>
                                <m:r>
                                  <a:rPr lang="zh-CN" altLang="en-US" sz="1000" i="0">
                                    <a:latin typeface="Cambria Math" panose="02040503050406030204" pitchFamily="18" charset="0"/>
                                  </a:rPr>
                                  <m:t>0</m:t>
                                </m:r>
                              </m:e>
                              <m:e>
                                <m:r>
                                  <a:rPr lang="zh-CN" altLang="en-US" sz="1000" i="0">
                                    <a:latin typeface="Cambria Math" panose="02040503050406030204" pitchFamily="18" charset="0"/>
                                  </a:rPr>
                                  <m:t>1</m:t>
                                </m:r>
                              </m:e>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e>
                                <m:r>
                                  <a:rPr lang="zh-CN" altLang="en-US" sz="1000" i="0">
                                    <a:latin typeface="Cambria Math" panose="02040503050406030204" pitchFamily="18" charset="0"/>
                                  </a:rPr>
                                  <m:t>1</m:t>
                                </m:r>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e>
                                <m:r>
                                  <a:rPr lang="zh-CN" altLang="en-US" sz="1000" i="0">
                                    <a:latin typeface="Cambria Math" panose="02040503050406030204" pitchFamily="18" charset="0"/>
                                  </a:rPr>
                                  <m:t>0</m:t>
                                </m:r>
                              </m:e>
                              <m:e>
                                <m:r>
                                  <a:rPr lang="zh-CN" altLang="en-US" sz="1000" i="0">
                                    <a:latin typeface="Cambria Math" panose="02040503050406030204" pitchFamily="18" charset="0"/>
                                  </a:rPr>
                                  <m:t>1</m:t>
                                </m:r>
                              </m:e>
                            </m:mr>
                          </m:m>
                        </m:e>
                      </m:d>
                    </m:oMath>
                  </m:oMathPara>
                </a14:m>
                <a:endParaRPr lang="zh-CN" altLang="en-US" sz="1000" dirty="0"/>
              </a:p>
            </p:txBody>
          </p:sp>
        </mc:Choice>
        <mc:Fallback xmlns="">
          <p:sp>
            <p:nvSpPr>
              <p:cNvPr id="6" name="矩形 5"/>
              <p:cNvSpPr>
                <a:spLocks noRot="1" noChangeAspect="1" noMove="1" noResize="1" noEditPoints="1" noAdjustHandles="1" noChangeArrowheads="1" noChangeShapeType="1" noTextEdit="1"/>
              </p:cNvSpPr>
              <p:nvPr/>
            </p:nvSpPr>
            <p:spPr>
              <a:xfrm>
                <a:off x="1763688" y="2067694"/>
                <a:ext cx="4572000" cy="660309"/>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4427984" y="2067694"/>
                <a:ext cx="4572000" cy="659283"/>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r>
                        <a:rPr lang="zh-CN" altLang="en-US" sz="1000">
                          <a:latin typeface="Cambria Math" panose="02040503050406030204" pitchFamily="18" charset="0"/>
                        </a:rPr>
                        <m:t>×</m:t>
                      </m:r>
                      <m:d>
                        <m:dPr>
                          <m:begChr m:val="["/>
                          <m:endChr m:val="]"/>
                          <m:ctrlPr>
                            <a:rPr lang="zh-CN" altLang="en-US" sz="1000" i="1">
                              <a:latin typeface="Cambria Math" panose="02040503050406030204" pitchFamily="18" charset="0"/>
                            </a:rPr>
                          </m:ctrlPr>
                        </m:dPr>
                        <m:e>
                          <m:m>
                            <m:mPr>
                              <m:mcs>
                                <m:mc>
                                  <m:mcPr>
                                    <m:count m:val="4"/>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1</m:t>
                                </m:r>
                              </m:e>
                              <m:e>
                                <m:r>
                                  <a:rPr lang="zh-CN" altLang="en-US" sz="1000" i="0">
                                    <a:latin typeface="Cambria Math" panose="02040503050406030204" pitchFamily="18" charset="0"/>
                                  </a:rPr>
                                  <m:t>0</m:t>
                                </m:r>
                              </m:e>
                              <m:e>
                                <m:r>
                                  <a:rPr lang="zh-CN" altLang="en-US" sz="1000" i="0">
                                    <a:latin typeface="Cambria Math" panose="02040503050406030204" pitchFamily="18" charset="0"/>
                                  </a:rPr>
                                  <m:t>0</m:t>
                                </m:r>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𝑎</m:t>
                                    </m:r>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1</m:t>
                                </m:r>
                              </m:e>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e>
                                <m:r>
                                  <a:rPr lang="zh-CN" altLang="en-US" sz="1000" i="0">
                                    <a:latin typeface="Cambria Math" panose="02040503050406030204" pitchFamily="18" charset="0"/>
                                  </a:rPr>
                                  <m:t>1</m:t>
                                </m:r>
                              </m:e>
                              <m:e>
                                <m:r>
                                  <a:rPr lang="zh-CN" altLang="en-US" sz="1000" i="0">
                                    <a:latin typeface="Cambria Math" panose="02040503050406030204" pitchFamily="18" charset="0"/>
                                  </a:rPr>
                                  <m:t>0</m:t>
                                </m:r>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e>
                                <m:r>
                                  <a:rPr lang="zh-CN" altLang="en-US" sz="1000" i="0">
                                    <a:latin typeface="Cambria Math" panose="02040503050406030204" pitchFamily="18" charset="0"/>
                                  </a:rPr>
                                  <m:t>0</m:t>
                                </m:r>
                              </m:e>
                              <m:e>
                                <m:r>
                                  <a:rPr lang="zh-CN" altLang="en-US" sz="1000" i="0">
                                    <a:latin typeface="Cambria Math" panose="02040503050406030204" pitchFamily="18" charset="0"/>
                                  </a:rPr>
                                  <m:t>1</m:t>
                                </m:r>
                              </m:e>
                            </m:mr>
                          </m:m>
                        </m:e>
                      </m:d>
                      <m:r>
                        <a:rPr lang="zh-CN" altLang="en-US" sz="1000" i="0">
                          <a:latin typeface="Cambria Math" panose="02040503050406030204" pitchFamily="18" charset="0"/>
                        </a:rPr>
                        <m:t>×</m:t>
                      </m:r>
                      <m:d>
                        <m:dPr>
                          <m:begChr m:val="["/>
                          <m:endChr m:val="]"/>
                          <m:ctrlPr>
                            <a:rPr lang="zh-CN" altLang="en-US" sz="1000" i="1">
                              <a:latin typeface="Cambria Math" panose="02040503050406030204" pitchFamily="18" charset="0"/>
                            </a:rPr>
                          </m:ctrlPr>
                        </m:dPr>
                        <m:e>
                          <m:m>
                            <m:mPr>
                              <m:mcs>
                                <m:mc>
                                  <m:mcPr>
                                    <m:count m:val="4"/>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1</m:t>
                                </m:r>
                              </m:e>
                              <m:e>
                                <m:r>
                                  <a:rPr lang="zh-CN" altLang="en-US" sz="1000" i="0">
                                    <a:latin typeface="Cambria Math" panose="02040503050406030204" pitchFamily="18" charset="0"/>
                                  </a:rPr>
                                  <m:t>0</m:t>
                                </m:r>
                              </m:e>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r>
                              <m:e>
                                <m:r>
                                  <a:rPr lang="zh-CN" altLang="en-US" sz="1000" i="0">
                                    <a:latin typeface="Cambria Math" panose="02040503050406030204" pitchFamily="18" charset="0"/>
                                  </a:rPr>
                                  <m:t>0</m:t>
                                </m:r>
                              </m:e>
                              <m:e>
                                <m:r>
                                  <a:rPr lang="zh-CN" altLang="en-US" sz="1000" i="1">
                                    <a:latin typeface="Cambria Math" panose="02040503050406030204" pitchFamily="18" charset="0"/>
                                  </a:rPr>
                                  <m:t>𝐶</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𝛼</m:t>
                                    </m:r>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e>
                              <m:e>
                                <m:r>
                                  <a:rPr lang="zh-CN" altLang="en-US" sz="1000" i="0">
                                    <a:latin typeface="Cambria Math" panose="02040503050406030204" pitchFamily="18" charset="0"/>
                                  </a:rPr>
                                  <m:t>−</m:t>
                                </m:r>
                                <m:r>
                                  <a:rPr lang="zh-CN" altLang="en-US" sz="1000" i="1">
                                    <a:latin typeface="Cambria Math" panose="02040503050406030204" pitchFamily="18" charset="0"/>
                                  </a:rPr>
                                  <m:t>𝑆</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𝛼</m:t>
                                    </m:r>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e>
                              <m:e>
                                <m:r>
                                  <a:rPr lang="zh-CN" altLang="en-US" sz="1000" i="0">
                                    <a:latin typeface="Cambria Math" panose="02040503050406030204" pitchFamily="18" charset="0"/>
                                  </a:rPr>
                                  <m:t>0</m:t>
                                </m:r>
                              </m:e>
                            </m:mr>
                            <m:mr>
                              <m:e>
                                <m:r>
                                  <a:rPr lang="zh-CN" altLang="en-US" sz="1000" i="0">
                                    <a:latin typeface="Cambria Math" panose="02040503050406030204" pitchFamily="18" charset="0"/>
                                  </a:rPr>
                                  <m:t>0</m:t>
                                </m:r>
                              </m:e>
                              <m:e>
                                <m:r>
                                  <a:rPr lang="zh-CN" altLang="en-US" sz="1000" i="1">
                                    <a:latin typeface="Cambria Math" panose="02040503050406030204" pitchFamily="18" charset="0"/>
                                  </a:rPr>
                                  <m:t>𝑆</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𝛼</m:t>
                                    </m:r>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e>
                              <m:e>
                                <m:r>
                                  <a:rPr lang="zh-CN" altLang="en-US" sz="1000" i="1">
                                    <a:latin typeface="Cambria Math" panose="02040503050406030204" pitchFamily="18" charset="0"/>
                                  </a:rPr>
                                  <m:t>𝐶</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𝛼</m:t>
                                    </m:r>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e>
                              <m:e>
                                <m:r>
                                  <a:rPr lang="zh-CN" altLang="en-US" sz="1000" i="0">
                                    <a:latin typeface="Cambria Math" panose="02040503050406030204" pitchFamily="18" charset="0"/>
                                  </a:rPr>
                                  <m:t>0</m:t>
                                </m:r>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e>
                                <m:r>
                                  <a:rPr lang="zh-CN" altLang="en-US" sz="1000" i="0">
                                    <a:latin typeface="Cambria Math" panose="02040503050406030204" pitchFamily="18" charset="0"/>
                                  </a:rPr>
                                  <m:t>0</m:t>
                                </m:r>
                              </m:e>
                              <m:e>
                                <m:r>
                                  <a:rPr lang="zh-CN" altLang="en-US" sz="1000" i="0">
                                    <a:latin typeface="Cambria Math" panose="02040503050406030204" pitchFamily="18" charset="0"/>
                                  </a:rPr>
                                  <m:t>1</m:t>
                                </m:r>
                              </m:e>
                            </m:mr>
                          </m:m>
                        </m:e>
                      </m:d>
                    </m:oMath>
                  </m:oMathPara>
                </a14:m>
                <a:endParaRPr lang="zh-CN" altLang="en-US" sz="1000" dirty="0"/>
              </a:p>
            </p:txBody>
          </p:sp>
        </mc:Choice>
        <mc:Fallback xmlns="">
          <p:sp>
            <p:nvSpPr>
              <p:cNvPr id="7" name="矩形 6"/>
              <p:cNvSpPr>
                <a:spLocks noRot="1" noChangeAspect="1" noMove="1" noResize="1" noEditPoints="1" noAdjustHandles="1" noChangeArrowheads="1" noChangeShapeType="1" noTextEdit="1"/>
              </p:cNvSpPr>
              <p:nvPr/>
            </p:nvSpPr>
            <p:spPr>
              <a:xfrm>
                <a:off x="4427984" y="2067694"/>
                <a:ext cx="4572000" cy="659283"/>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1835696" y="3075806"/>
                <a:ext cx="4572000" cy="1398075"/>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𝐴</m:t>
                          </m:r>
                        </m:e>
                        <m:sub>
                          <m:r>
                            <a:rPr lang="zh-CN" altLang="en-US" i="1">
                              <a:latin typeface="Cambria Math" panose="02040503050406030204" pitchFamily="18" charset="0"/>
                            </a:rPr>
                            <m:t>𝑛</m:t>
                          </m:r>
                          <m:r>
                            <a:rPr lang="zh-CN" altLang="en-US" i="0">
                              <a:latin typeface="Cambria Math" panose="02040503050406030204" pitchFamily="18" charset="0"/>
                            </a:rPr>
                            <m:t>+1</m:t>
                          </m:r>
                        </m:sub>
                      </m:sSub>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m>
                            <m:mPr>
                              <m:mcs>
                                <m:mc>
                                  <m:mcPr>
                                    <m:count m:val="4"/>
                                    <m:mcJc m:val="center"/>
                                  </m:mcPr>
                                </m:mc>
                              </m:mcs>
                              <m:ctrlPr>
                                <a:rPr lang="zh-CN" altLang="en-US" i="1">
                                  <a:latin typeface="Cambria Math" panose="02040503050406030204" pitchFamily="18" charset="0"/>
                                </a:rPr>
                              </m:ctrlPr>
                            </m:mPr>
                            <m:mr>
                              <m:e>
                                <m:r>
                                  <a:rPr lang="zh-CN" altLang="en-US" i="1">
                                    <a:latin typeface="Cambria Math" panose="02040503050406030204" pitchFamily="18" charset="0"/>
                                  </a:rPr>
                                  <m:t>𝐶</m:t>
                                </m:r>
                                <m:sSub>
                                  <m:sSubPr>
                                    <m:ctrlPr>
                                      <a:rPr lang="zh-CN" altLang="en-US" i="1">
                                        <a:latin typeface="Cambria Math" panose="02040503050406030204" pitchFamily="18" charset="0"/>
                                      </a:rPr>
                                    </m:ctrlPr>
                                  </m:sSubPr>
                                  <m:e>
                                    <m:r>
                                      <a:rPr lang="zh-CN" altLang="en-US" i="1">
                                        <a:latin typeface="Cambria Math" panose="02040503050406030204" pitchFamily="18" charset="0"/>
                                      </a:rPr>
                                      <m:t>𝜃</m:t>
                                    </m:r>
                                  </m:e>
                                  <m:sub>
                                    <m:r>
                                      <a:rPr lang="zh-CN" altLang="en-US" i="1">
                                        <a:latin typeface="Cambria Math" panose="02040503050406030204" pitchFamily="18" charset="0"/>
                                      </a:rPr>
                                      <m:t>𝑛</m:t>
                                    </m:r>
                                    <m:r>
                                      <a:rPr lang="zh-CN" altLang="en-US" i="0">
                                        <a:latin typeface="Cambria Math" panose="02040503050406030204" pitchFamily="18" charset="0"/>
                                      </a:rPr>
                                      <m:t>+1</m:t>
                                    </m:r>
                                  </m:sub>
                                </m:sSub>
                              </m:e>
                              <m:e>
                                <m:r>
                                  <a:rPr lang="zh-CN" altLang="en-US" i="0">
                                    <a:latin typeface="Cambria Math" panose="02040503050406030204" pitchFamily="18" charset="0"/>
                                  </a:rPr>
                                  <m:t>−</m:t>
                                </m:r>
                                <m:r>
                                  <a:rPr lang="zh-CN" altLang="en-US" i="1">
                                    <a:latin typeface="Cambria Math" panose="02040503050406030204" pitchFamily="18" charset="0"/>
                                  </a:rPr>
                                  <m:t>𝑆</m:t>
                                </m:r>
                                <m:sSub>
                                  <m:sSubPr>
                                    <m:ctrlPr>
                                      <a:rPr lang="zh-CN" altLang="en-US" i="1">
                                        <a:latin typeface="Cambria Math" panose="02040503050406030204" pitchFamily="18" charset="0"/>
                                      </a:rPr>
                                    </m:ctrlPr>
                                  </m:sSubPr>
                                  <m:e>
                                    <m:r>
                                      <a:rPr lang="zh-CN" altLang="en-US" i="1">
                                        <a:latin typeface="Cambria Math" panose="02040503050406030204" pitchFamily="18" charset="0"/>
                                      </a:rPr>
                                      <m:t>𝜃</m:t>
                                    </m:r>
                                  </m:e>
                                  <m:sub>
                                    <m:r>
                                      <a:rPr lang="zh-CN" altLang="en-US" i="1">
                                        <a:latin typeface="Cambria Math" panose="02040503050406030204" pitchFamily="18" charset="0"/>
                                      </a:rPr>
                                      <m:t>𝑛</m:t>
                                    </m:r>
                                    <m:r>
                                      <a:rPr lang="zh-CN" altLang="en-US" i="0">
                                        <a:latin typeface="Cambria Math" panose="02040503050406030204" pitchFamily="18" charset="0"/>
                                      </a:rPr>
                                      <m:t>+1</m:t>
                                    </m:r>
                                  </m:sub>
                                </m:sSub>
                                <m:r>
                                  <a:rPr lang="zh-CN" altLang="en-US" i="1">
                                    <a:latin typeface="Cambria Math" panose="02040503050406030204" pitchFamily="18" charset="0"/>
                                  </a:rPr>
                                  <m:t>𝐶</m:t>
                                </m:r>
                                <m:sSub>
                                  <m:sSubPr>
                                    <m:ctrlPr>
                                      <a:rPr lang="zh-CN" altLang="en-US" i="1">
                                        <a:latin typeface="Cambria Math" panose="02040503050406030204" pitchFamily="18" charset="0"/>
                                      </a:rPr>
                                    </m:ctrlPr>
                                  </m:sSubPr>
                                  <m:e>
                                    <m:r>
                                      <a:rPr lang="zh-CN" altLang="en-US" i="1">
                                        <a:latin typeface="Cambria Math" panose="02040503050406030204" pitchFamily="18" charset="0"/>
                                      </a:rPr>
                                      <m:t>𝛼</m:t>
                                    </m:r>
                                  </m:e>
                                  <m:sub>
                                    <m:r>
                                      <a:rPr lang="zh-CN" altLang="en-US" i="1">
                                        <a:latin typeface="Cambria Math" panose="02040503050406030204" pitchFamily="18" charset="0"/>
                                      </a:rPr>
                                      <m:t>𝑛</m:t>
                                    </m:r>
                                    <m:r>
                                      <a:rPr lang="zh-CN" altLang="en-US" i="0">
                                        <a:latin typeface="Cambria Math" panose="02040503050406030204" pitchFamily="18" charset="0"/>
                                      </a:rPr>
                                      <m:t>+1</m:t>
                                    </m:r>
                                  </m:sub>
                                </m:sSub>
                              </m:e>
                              <m:e>
                                <m:r>
                                  <a:rPr lang="zh-CN" altLang="en-US" i="1">
                                    <a:latin typeface="Cambria Math" panose="02040503050406030204" pitchFamily="18" charset="0"/>
                                  </a:rPr>
                                  <m:t>𝑆</m:t>
                                </m:r>
                                <m:sSub>
                                  <m:sSubPr>
                                    <m:ctrlPr>
                                      <a:rPr lang="zh-CN" altLang="en-US" i="1">
                                        <a:latin typeface="Cambria Math" panose="02040503050406030204" pitchFamily="18" charset="0"/>
                                      </a:rPr>
                                    </m:ctrlPr>
                                  </m:sSubPr>
                                  <m:e>
                                    <m:r>
                                      <a:rPr lang="zh-CN" altLang="en-US" i="1">
                                        <a:latin typeface="Cambria Math" panose="02040503050406030204" pitchFamily="18" charset="0"/>
                                      </a:rPr>
                                      <m:t>𝜃</m:t>
                                    </m:r>
                                  </m:e>
                                  <m:sub>
                                    <m:r>
                                      <a:rPr lang="zh-CN" altLang="en-US" i="1">
                                        <a:latin typeface="Cambria Math" panose="02040503050406030204" pitchFamily="18" charset="0"/>
                                      </a:rPr>
                                      <m:t>𝑛</m:t>
                                    </m:r>
                                    <m:r>
                                      <a:rPr lang="zh-CN" altLang="en-US" i="0">
                                        <a:latin typeface="Cambria Math" panose="02040503050406030204" pitchFamily="18" charset="0"/>
                                      </a:rPr>
                                      <m:t>+1</m:t>
                                    </m:r>
                                  </m:sub>
                                </m:sSub>
                                <m:r>
                                  <a:rPr lang="zh-CN" altLang="en-US" i="1">
                                    <a:latin typeface="Cambria Math" panose="02040503050406030204" pitchFamily="18" charset="0"/>
                                  </a:rPr>
                                  <m:t>𝑆</m:t>
                                </m:r>
                                <m:sSub>
                                  <m:sSubPr>
                                    <m:ctrlPr>
                                      <a:rPr lang="zh-CN" altLang="en-US" i="1">
                                        <a:latin typeface="Cambria Math" panose="02040503050406030204" pitchFamily="18" charset="0"/>
                                      </a:rPr>
                                    </m:ctrlPr>
                                  </m:sSubPr>
                                  <m:e>
                                    <m:r>
                                      <a:rPr lang="zh-CN" altLang="en-US" i="1">
                                        <a:latin typeface="Cambria Math" panose="02040503050406030204" pitchFamily="18" charset="0"/>
                                      </a:rPr>
                                      <m:t>𝛼</m:t>
                                    </m:r>
                                  </m:e>
                                  <m:sub>
                                    <m:r>
                                      <a:rPr lang="zh-CN" altLang="en-US" i="1">
                                        <a:latin typeface="Cambria Math" panose="02040503050406030204" pitchFamily="18" charset="0"/>
                                      </a:rPr>
                                      <m:t>𝑛</m:t>
                                    </m:r>
                                    <m:r>
                                      <a:rPr lang="zh-CN" altLang="en-US" i="0">
                                        <a:latin typeface="Cambria Math" panose="02040503050406030204" pitchFamily="18" charset="0"/>
                                      </a:rPr>
                                      <m:t>+1</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a:rPr lang="zh-CN" altLang="en-US" i="1">
                                        <a:latin typeface="Cambria Math" panose="02040503050406030204" pitchFamily="18" charset="0"/>
                                      </a:rPr>
                                      <m:t>𝑛</m:t>
                                    </m:r>
                                    <m:r>
                                      <a:rPr lang="zh-CN" altLang="en-US" i="0">
                                        <a:latin typeface="Cambria Math" panose="02040503050406030204" pitchFamily="18" charset="0"/>
                                      </a:rPr>
                                      <m:t>+1</m:t>
                                    </m:r>
                                  </m:sub>
                                </m:sSub>
                                <m:r>
                                  <a:rPr lang="zh-CN" altLang="en-US" i="1">
                                    <a:latin typeface="Cambria Math" panose="02040503050406030204" pitchFamily="18" charset="0"/>
                                  </a:rPr>
                                  <m:t>𝐶</m:t>
                                </m:r>
                                <m:sSub>
                                  <m:sSubPr>
                                    <m:ctrlPr>
                                      <a:rPr lang="zh-CN" altLang="en-US" i="1">
                                        <a:latin typeface="Cambria Math" panose="02040503050406030204" pitchFamily="18" charset="0"/>
                                      </a:rPr>
                                    </m:ctrlPr>
                                  </m:sSubPr>
                                  <m:e>
                                    <m:r>
                                      <a:rPr lang="zh-CN" altLang="en-US" i="1">
                                        <a:latin typeface="Cambria Math" panose="02040503050406030204" pitchFamily="18" charset="0"/>
                                      </a:rPr>
                                      <m:t>𝜃</m:t>
                                    </m:r>
                                  </m:e>
                                  <m:sub>
                                    <m:r>
                                      <a:rPr lang="zh-CN" altLang="en-US" i="1">
                                        <a:latin typeface="Cambria Math" panose="02040503050406030204" pitchFamily="18" charset="0"/>
                                      </a:rPr>
                                      <m:t>𝑛</m:t>
                                    </m:r>
                                    <m:r>
                                      <a:rPr lang="zh-CN" altLang="en-US" i="0">
                                        <a:latin typeface="Cambria Math" panose="02040503050406030204" pitchFamily="18" charset="0"/>
                                      </a:rPr>
                                      <m:t>+1</m:t>
                                    </m:r>
                                  </m:sub>
                                </m:sSub>
                              </m:e>
                            </m:mr>
                            <m:mr>
                              <m:e>
                                <m:r>
                                  <a:rPr lang="zh-CN" altLang="en-US" i="1">
                                    <a:latin typeface="Cambria Math" panose="02040503050406030204" pitchFamily="18" charset="0"/>
                                  </a:rPr>
                                  <m:t>𝑆</m:t>
                                </m:r>
                                <m:sSub>
                                  <m:sSubPr>
                                    <m:ctrlPr>
                                      <a:rPr lang="zh-CN" altLang="en-US" i="1">
                                        <a:latin typeface="Cambria Math" panose="02040503050406030204" pitchFamily="18" charset="0"/>
                                      </a:rPr>
                                    </m:ctrlPr>
                                  </m:sSubPr>
                                  <m:e>
                                    <m:r>
                                      <a:rPr lang="zh-CN" altLang="en-US" i="1">
                                        <a:latin typeface="Cambria Math" panose="02040503050406030204" pitchFamily="18" charset="0"/>
                                      </a:rPr>
                                      <m:t>𝜃</m:t>
                                    </m:r>
                                  </m:e>
                                  <m:sub>
                                    <m:r>
                                      <a:rPr lang="zh-CN" altLang="en-US" i="1">
                                        <a:latin typeface="Cambria Math" panose="02040503050406030204" pitchFamily="18" charset="0"/>
                                      </a:rPr>
                                      <m:t>𝑛</m:t>
                                    </m:r>
                                    <m:r>
                                      <a:rPr lang="zh-CN" altLang="en-US" i="0">
                                        <a:latin typeface="Cambria Math" panose="02040503050406030204" pitchFamily="18" charset="0"/>
                                      </a:rPr>
                                      <m:t>+1</m:t>
                                    </m:r>
                                  </m:sub>
                                </m:sSub>
                              </m:e>
                              <m:e>
                                <m:r>
                                  <a:rPr lang="zh-CN" altLang="en-US" i="1">
                                    <a:latin typeface="Cambria Math" panose="02040503050406030204" pitchFamily="18" charset="0"/>
                                  </a:rPr>
                                  <m:t>𝐶</m:t>
                                </m:r>
                                <m:sSub>
                                  <m:sSubPr>
                                    <m:ctrlPr>
                                      <a:rPr lang="zh-CN" altLang="en-US" i="1">
                                        <a:latin typeface="Cambria Math" panose="02040503050406030204" pitchFamily="18" charset="0"/>
                                      </a:rPr>
                                    </m:ctrlPr>
                                  </m:sSubPr>
                                  <m:e>
                                    <m:r>
                                      <a:rPr lang="zh-CN" altLang="en-US" i="1">
                                        <a:latin typeface="Cambria Math" panose="02040503050406030204" pitchFamily="18" charset="0"/>
                                      </a:rPr>
                                      <m:t>𝜃</m:t>
                                    </m:r>
                                  </m:e>
                                  <m:sub>
                                    <m:r>
                                      <a:rPr lang="zh-CN" altLang="en-US" i="1">
                                        <a:latin typeface="Cambria Math" panose="02040503050406030204" pitchFamily="18" charset="0"/>
                                      </a:rPr>
                                      <m:t>𝑛</m:t>
                                    </m:r>
                                    <m:r>
                                      <a:rPr lang="zh-CN" altLang="en-US" i="0">
                                        <a:latin typeface="Cambria Math" panose="02040503050406030204" pitchFamily="18" charset="0"/>
                                      </a:rPr>
                                      <m:t>+1</m:t>
                                    </m:r>
                                  </m:sub>
                                </m:sSub>
                                <m:r>
                                  <a:rPr lang="zh-CN" altLang="en-US" i="1">
                                    <a:latin typeface="Cambria Math" panose="02040503050406030204" pitchFamily="18" charset="0"/>
                                  </a:rPr>
                                  <m:t>𝐶</m:t>
                                </m:r>
                                <m:sSub>
                                  <m:sSubPr>
                                    <m:ctrlPr>
                                      <a:rPr lang="zh-CN" altLang="en-US" i="1">
                                        <a:latin typeface="Cambria Math" panose="02040503050406030204" pitchFamily="18" charset="0"/>
                                      </a:rPr>
                                    </m:ctrlPr>
                                  </m:sSubPr>
                                  <m:e>
                                    <m:r>
                                      <a:rPr lang="zh-CN" altLang="en-US" i="1">
                                        <a:latin typeface="Cambria Math" panose="02040503050406030204" pitchFamily="18" charset="0"/>
                                      </a:rPr>
                                      <m:t>𝛼</m:t>
                                    </m:r>
                                  </m:e>
                                  <m:sub>
                                    <m:r>
                                      <a:rPr lang="zh-CN" altLang="en-US" i="1">
                                        <a:latin typeface="Cambria Math" panose="02040503050406030204" pitchFamily="18" charset="0"/>
                                      </a:rPr>
                                      <m:t>𝑛</m:t>
                                    </m:r>
                                    <m:r>
                                      <a:rPr lang="zh-CN" altLang="en-US" i="0">
                                        <a:latin typeface="Cambria Math" panose="02040503050406030204" pitchFamily="18" charset="0"/>
                                      </a:rPr>
                                      <m:t>+1</m:t>
                                    </m:r>
                                  </m:sub>
                                </m:sSub>
                              </m:e>
                              <m:e>
                                <m:r>
                                  <a:rPr lang="zh-CN" altLang="en-US" i="0">
                                    <a:latin typeface="Cambria Math" panose="02040503050406030204" pitchFamily="18" charset="0"/>
                                  </a:rPr>
                                  <m:t>−</m:t>
                                </m:r>
                                <m:r>
                                  <a:rPr lang="zh-CN" altLang="en-US" i="1">
                                    <a:latin typeface="Cambria Math" panose="02040503050406030204" pitchFamily="18" charset="0"/>
                                  </a:rPr>
                                  <m:t>𝐶</m:t>
                                </m:r>
                                <m:sSub>
                                  <m:sSubPr>
                                    <m:ctrlPr>
                                      <a:rPr lang="zh-CN" altLang="en-US" i="1">
                                        <a:latin typeface="Cambria Math" panose="02040503050406030204" pitchFamily="18" charset="0"/>
                                      </a:rPr>
                                    </m:ctrlPr>
                                  </m:sSubPr>
                                  <m:e>
                                    <m:r>
                                      <a:rPr lang="zh-CN" altLang="en-US" i="1">
                                        <a:latin typeface="Cambria Math" panose="02040503050406030204" pitchFamily="18" charset="0"/>
                                      </a:rPr>
                                      <m:t>𝜃</m:t>
                                    </m:r>
                                  </m:e>
                                  <m:sub>
                                    <m:r>
                                      <a:rPr lang="zh-CN" altLang="en-US" i="1">
                                        <a:latin typeface="Cambria Math" panose="02040503050406030204" pitchFamily="18" charset="0"/>
                                      </a:rPr>
                                      <m:t>𝑛</m:t>
                                    </m:r>
                                    <m:r>
                                      <a:rPr lang="zh-CN" altLang="en-US" i="0">
                                        <a:latin typeface="Cambria Math" panose="02040503050406030204" pitchFamily="18" charset="0"/>
                                      </a:rPr>
                                      <m:t>+1</m:t>
                                    </m:r>
                                  </m:sub>
                                </m:sSub>
                                <m:r>
                                  <a:rPr lang="zh-CN" altLang="en-US" i="1">
                                    <a:latin typeface="Cambria Math" panose="02040503050406030204" pitchFamily="18" charset="0"/>
                                  </a:rPr>
                                  <m:t>𝑆</m:t>
                                </m:r>
                                <m:sSub>
                                  <m:sSubPr>
                                    <m:ctrlPr>
                                      <a:rPr lang="zh-CN" altLang="en-US" i="1">
                                        <a:latin typeface="Cambria Math" panose="02040503050406030204" pitchFamily="18" charset="0"/>
                                      </a:rPr>
                                    </m:ctrlPr>
                                  </m:sSubPr>
                                  <m:e>
                                    <m:r>
                                      <a:rPr lang="zh-CN" altLang="en-US" i="1">
                                        <a:latin typeface="Cambria Math" panose="02040503050406030204" pitchFamily="18" charset="0"/>
                                      </a:rPr>
                                      <m:t>𝛼</m:t>
                                    </m:r>
                                  </m:e>
                                  <m:sub>
                                    <m:r>
                                      <a:rPr lang="zh-CN" altLang="en-US" i="1">
                                        <a:latin typeface="Cambria Math" panose="02040503050406030204" pitchFamily="18" charset="0"/>
                                      </a:rPr>
                                      <m:t>𝑛</m:t>
                                    </m:r>
                                    <m:r>
                                      <a:rPr lang="zh-CN" altLang="en-US" i="0">
                                        <a:latin typeface="Cambria Math" panose="02040503050406030204" pitchFamily="18" charset="0"/>
                                      </a:rPr>
                                      <m:t>+1</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a:rPr lang="zh-CN" altLang="en-US" i="1">
                                        <a:latin typeface="Cambria Math" panose="02040503050406030204" pitchFamily="18" charset="0"/>
                                      </a:rPr>
                                      <m:t>𝑛</m:t>
                                    </m:r>
                                    <m:r>
                                      <a:rPr lang="zh-CN" altLang="en-US" i="0">
                                        <a:latin typeface="Cambria Math" panose="02040503050406030204" pitchFamily="18" charset="0"/>
                                      </a:rPr>
                                      <m:t>+1</m:t>
                                    </m:r>
                                  </m:sub>
                                </m:sSub>
                                <m:r>
                                  <a:rPr lang="zh-CN" altLang="en-US" i="1">
                                    <a:latin typeface="Cambria Math" panose="02040503050406030204" pitchFamily="18" charset="0"/>
                                  </a:rPr>
                                  <m:t>𝑆</m:t>
                                </m:r>
                                <m:sSub>
                                  <m:sSubPr>
                                    <m:ctrlPr>
                                      <a:rPr lang="zh-CN" altLang="en-US" i="1">
                                        <a:latin typeface="Cambria Math" panose="02040503050406030204" pitchFamily="18" charset="0"/>
                                      </a:rPr>
                                    </m:ctrlPr>
                                  </m:sSubPr>
                                  <m:e>
                                    <m:r>
                                      <a:rPr lang="zh-CN" altLang="en-US" i="1">
                                        <a:latin typeface="Cambria Math" panose="02040503050406030204" pitchFamily="18" charset="0"/>
                                      </a:rPr>
                                      <m:t>𝜃</m:t>
                                    </m:r>
                                  </m:e>
                                  <m:sub>
                                    <m:r>
                                      <a:rPr lang="zh-CN" altLang="en-US" i="1">
                                        <a:latin typeface="Cambria Math" panose="02040503050406030204" pitchFamily="18" charset="0"/>
                                      </a:rPr>
                                      <m:t>𝑛</m:t>
                                    </m:r>
                                    <m:r>
                                      <a:rPr lang="zh-CN" altLang="en-US" i="0">
                                        <a:latin typeface="Cambria Math" panose="02040503050406030204" pitchFamily="18" charset="0"/>
                                      </a:rPr>
                                      <m:t>+1</m:t>
                                    </m:r>
                                  </m:sub>
                                </m:sSub>
                              </m:e>
                            </m:mr>
                            <m:mr>
                              <m:e>
                                <m:r>
                                  <a:rPr lang="zh-CN" altLang="en-US" i="0">
                                    <a:latin typeface="Cambria Math" panose="02040503050406030204" pitchFamily="18" charset="0"/>
                                  </a:rPr>
                                  <m:t>0</m:t>
                                </m:r>
                              </m:e>
                              <m:e>
                                <m:r>
                                  <a:rPr lang="zh-CN" altLang="en-US" i="1">
                                    <a:latin typeface="Cambria Math" panose="02040503050406030204" pitchFamily="18" charset="0"/>
                                  </a:rPr>
                                  <m:t>𝑆</m:t>
                                </m:r>
                                <m:sSub>
                                  <m:sSubPr>
                                    <m:ctrlPr>
                                      <a:rPr lang="zh-CN" altLang="en-US" i="1">
                                        <a:latin typeface="Cambria Math" panose="02040503050406030204" pitchFamily="18" charset="0"/>
                                      </a:rPr>
                                    </m:ctrlPr>
                                  </m:sSubPr>
                                  <m:e>
                                    <m:r>
                                      <a:rPr lang="zh-CN" altLang="en-US" i="1">
                                        <a:latin typeface="Cambria Math" panose="02040503050406030204" pitchFamily="18" charset="0"/>
                                      </a:rPr>
                                      <m:t>𝛼</m:t>
                                    </m:r>
                                  </m:e>
                                  <m:sub>
                                    <m:r>
                                      <a:rPr lang="zh-CN" altLang="en-US" i="1">
                                        <a:latin typeface="Cambria Math" panose="02040503050406030204" pitchFamily="18" charset="0"/>
                                      </a:rPr>
                                      <m:t>𝑛</m:t>
                                    </m:r>
                                    <m:r>
                                      <a:rPr lang="zh-CN" altLang="en-US" i="0">
                                        <a:latin typeface="Cambria Math" panose="02040503050406030204" pitchFamily="18" charset="0"/>
                                      </a:rPr>
                                      <m:t>+1</m:t>
                                    </m:r>
                                  </m:sub>
                                </m:sSub>
                              </m:e>
                              <m:e>
                                <m:r>
                                  <a:rPr lang="zh-CN" altLang="en-US" i="1">
                                    <a:latin typeface="Cambria Math" panose="02040503050406030204" pitchFamily="18" charset="0"/>
                                  </a:rPr>
                                  <m:t>𝐶</m:t>
                                </m:r>
                                <m:sSub>
                                  <m:sSubPr>
                                    <m:ctrlPr>
                                      <a:rPr lang="zh-CN" altLang="en-US" i="1">
                                        <a:latin typeface="Cambria Math" panose="02040503050406030204" pitchFamily="18" charset="0"/>
                                      </a:rPr>
                                    </m:ctrlPr>
                                  </m:sSubPr>
                                  <m:e>
                                    <m:r>
                                      <a:rPr lang="zh-CN" altLang="en-US" i="1">
                                        <a:latin typeface="Cambria Math" panose="02040503050406030204" pitchFamily="18" charset="0"/>
                                      </a:rPr>
                                      <m:t>𝛼</m:t>
                                    </m:r>
                                  </m:e>
                                  <m:sub>
                                    <m:r>
                                      <a:rPr lang="zh-CN" altLang="en-US" i="1">
                                        <a:latin typeface="Cambria Math" panose="02040503050406030204" pitchFamily="18" charset="0"/>
                                      </a:rPr>
                                      <m:t>𝑛</m:t>
                                    </m:r>
                                    <m:r>
                                      <a:rPr lang="zh-CN" altLang="en-US" i="0">
                                        <a:latin typeface="Cambria Math" panose="02040503050406030204" pitchFamily="18" charset="0"/>
                                      </a:rPr>
                                      <m:t>+1</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𝑑</m:t>
                                    </m:r>
                                  </m:e>
                                  <m:sub>
                                    <m:r>
                                      <a:rPr lang="zh-CN" altLang="en-US" i="1">
                                        <a:latin typeface="Cambria Math" panose="02040503050406030204" pitchFamily="18" charset="0"/>
                                      </a:rPr>
                                      <m:t>𝑛</m:t>
                                    </m:r>
                                    <m:r>
                                      <a:rPr lang="zh-CN" altLang="en-US" i="0">
                                        <a:latin typeface="Cambria Math" panose="02040503050406030204" pitchFamily="18" charset="0"/>
                                      </a:rPr>
                                      <m:t>+1</m:t>
                                    </m:r>
                                  </m:sub>
                                </m:sSub>
                              </m:e>
                            </m:mr>
                            <m:mr>
                              <m:e>
                                <m:r>
                                  <a:rPr lang="zh-CN" altLang="en-US" i="0">
                                    <a:latin typeface="Cambria Math" panose="02040503050406030204" pitchFamily="18" charset="0"/>
                                  </a:rPr>
                                  <m:t>0</m:t>
                                </m:r>
                              </m:e>
                              <m:e>
                                <m:r>
                                  <a:rPr lang="zh-CN" altLang="en-US" i="0">
                                    <a:latin typeface="Cambria Math" panose="02040503050406030204" pitchFamily="18" charset="0"/>
                                  </a:rPr>
                                  <m:t>0</m:t>
                                </m:r>
                              </m:e>
                              <m:e>
                                <m:r>
                                  <a:rPr lang="zh-CN" altLang="en-US" i="0">
                                    <a:latin typeface="Cambria Math" panose="02040503050406030204" pitchFamily="18" charset="0"/>
                                  </a:rPr>
                                  <m:t>0</m:t>
                                </m:r>
                              </m:e>
                              <m:e>
                                <m:r>
                                  <a:rPr lang="zh-CN" altLang="en-US" i="0">
                                    <a:latin typeface="Cambria Math" panose="02040503050406030204" pitchFamily="18" charset="0"/>
                                  </a:rPr>
                                  <m:t>1</m:t>
                                </m:r>
                              </m:e>
                            </m:mr>
                          </m:m>
                        </m:e>
                      </m:d>
                    </m:oMath>
                  </m:oMathPara>
                </a14:m>
                <a:endParaRPr lang="zh-CN" altLang="en-US" dirty="0"/>
              </a:p>
            </p:txBody>
          </p:sp>
        </mc:Choice>
        <mc:Fallback xmlns="">
          <p:sp>
            <p:nvSpPr>
              <p:cNvPr id="12" name="矩形 11"/>
              <p:cNvSpPr>
                <a:spLocks noRot="1" noChangeAspect="1" noMove="1" noResize="1" noEditPoints="1" noAdjustHandles="1" noChangeArrowheads="1" noChangeShapeType="1" noTextEdit="1"/>
              </p:cNvSpPr>
              <p:nvPr/>
            </p:nvSpPr>
            <p:spPr>
              <a:xfrm>
                <a:off x="1835696" y="3075806"/>
                <a:ext cx="4572000" cy="1398075"/>
              </a:xfrm>
              <a:prstGeom prst="rect">
                <a:avLst/>
              </a:prstGeom>
              <a:blipFill>
                <a:blip r:embed="rId7"/>
                <a:stretch>
                  <a:fillRect r="-228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9700681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36220" y="219075"/>
            <a:ext cx="5153660" cy="598805"/>
            <a:chOff x="-372" y="345"/>
            <a:chExt cx="8116" cy="943"/>
          </a:xfrm>
        </p:grpSpPr>
        <p:sp>
          <p:nvSpPr>
            <p:cNvPr id="9" name="矩形 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D-H </a:t>
              </a:r>
              <a:r>
                <a:rPr lang="en-US" altLang="zh-CN" sz="1000" dirty="0" smtClean="0">
                  <a:latin typeface="Arial" panose="020B0604020202020204" pitchFamily="34" charset="0"/>
                  <a:ea typeface="微软雅黑" panose="020B0503020204020204" charset="-122"/>
                  <a:sym typeface="+mn-ea"/>
                </a:rPr>
                <a:t>Notation in Robotics</a:t>
              </a:r>
              <a:endParaRPr lang="en-US" altLang="zh-CN" sz="1000" dirty="0">
                <a:latin typeface="Arial" panose="020B0604020202020204" pitchFamily="34" charset="0"/>
                <a:ea typeface="微软雅黑" panose="020B0503020204020204" charset="-122"/>
                <a:sym typeface="+mn-ea"/>
              </a:endParaRPr>
            </a:p>
          </p:txBody>
        </p:sp>
        <p:sp>
          <p:nvSpPr>
            <p:cNvPr id="10" name="文本框 9"/>
            <p:cNvSpPr txBox="1"/>
            <p:nvPr/>
          </p:nvSpPr>
          <p:spPr>
            <a:xfrm>
              <a:off x="443" y="363"/>
              <a:ext cx="7301" cy="628"/>
            </a:xfrm>
            <a:prstGeom prst="rect">
              <a:avLst/>
            </a:prstGeom>
            <a:noFill/>
          </p:spPr>
          <p:txBody>
            <a:bodyPr wrap="square" rtlCol="0" anchor="t">
              <a:spAutoFit/>
            </a:bodyPr>
            <a:lstStyle/>
            <a:p>
              <a:r>
                <a:rPr lang="en-US" altLang="zh-CN" sz="2000" b="1" dirty="0" smtClean="0">
                  <a:latin typeface="Arial" panose="020B0604020202020204" pitchFamily="34" charset="0"/>
                  <a:ea typeface="微软雅黑" panose="020B0503020204020204" charset="-122"/>
                  <a:sym typeface="+mn-ea"/>
                </a:rPr>
                <a:t>D-H</a:t>
              </a:r>
              <a:r>
                <a:rPr lang="zh-CN" altLang="en-US" sz="2000" b="1" dirty="0" smtClean="0">
                  <a:latin typeface="Arial" panose="020B0604020202020204" pitchFamily="34" charset="0"/>
                  <a:ea typeface="微软雅黑" panose="020B0503020204020204" charset="-122"/>
                  <a:sym typeface="+mn-ea"/>
                </a:rPr>
                <a:t>表示法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1" name="椭圆 1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extLst>
                  <p:ext uri="{D42A27DB-BD31-4B8C-83A1-F6EECF244321}">
                    <p14:modId xmlns:p14="http://schemas.microsoft.com/office/powerpoint/2010/main" val="1684378062"/>
                  </p:ext>
                </p:extLst>
              </p:nvPr>
            </p:nvGraphicFramePr>
            <p:xfrm>
              <a:off x="2670163" y="2355728"/>
              <a:ext cx="4134085" cy="1944214"/>
            </p:xfrm>
            <a:graphic>
              <a:graphicData uri="http://schemas.openxmlformats.org/drawingml/2006/table">
                <a:tbl>
                  <a:tblPr>
                    <a:tableStyleId>{5C22544A-7EE6-4342-B048-85BDC9FD1C3A}</a:tableStyleId>
                  </a:tblPr>
                  <a:tblGrid>
                    <a:gridCol w="826817">
                      <a:extLst>
                        <a:ext uri="{9D8B030D-6E8A-4147-A177-3AD203B41FA5}">
                          <a16:colId xmlns:a16="http://schemas.microsoft.com/office/drawing/2014/main" val="1565080428"/>
                        </a:ext>
                      </a:extLst>
                    </a:gridCol>
                    <a:gridCol w="826817">
                      <a:extLst>
                        <a:ext uri="{9D8B030D-6E8A-4147-A177-3AD203B41FA5}">
                          <a16:colId xmlns:a16="http://schemas.microsoft.com/office/drawing/2014/main" val="11495325"/>
                        </a:ext>
                      </a:extLst>
                    </a:gridCol>
                    <a:gridCol w="826817">
                      <a:extLst>
                        <a:ext uri="{9D8B030D-6E8A-4147-A177-3AD203B41FA5}">
                          <a16:colId xmlns:a16="http://schemas.microsoft.com/office/drawing/2014/main" val="2401424890"/>
                        </a:ext>
                      </a:extLst>
                    </a:gridCol>
                    <a:gridCol w="826817">
                      <a:extLst>
                        <a:ext uri="{9D8B030D-6E8A-4147-A177-3AD203B41FA5}">
                          <a16:colId xmlns:a16="http://schemas.microsoft.com/office/drawing/2014/main" val="786026678"/>
                        </a:ext>
                      </a:extLst>
                    </a:gridCol>
                    <a:gridCol w="826817">
                      <a:extLst>
                        <a:ext uri="{9D8B030D-6E8A-4147-A177-3AD203B41FA5}">
                          <a16:colId xmlns:a16="http://schemas.microsoft.com/office/drawing/2014/main" val="1990284312"/>
                        </a:ext>
                      </a:extLst>
                    </a:gridCol>
                  </a:tblGrid>
                  <a:tr h="383890">
                    <a:tc>
                      <a:txBody>
                        <a:bodyPr/>
                        <a:lstStyle/>
                        <a:p>
                          <a:pPr>
                            <a:spcBef>
                              <a:spcPts val="600"/>
                            </a:spcBef>
                            <a:spcAft>
                              <a:spcPts val="600"/>
                            </a:spcAft>
                          </a:pPr>
                          <a:r>
                            <a:rPr lang="en-US" sz="1600" kern="100">
                              <a:effectLst/>
                            </a:rPr>
                            <a:t>#</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14:m>
                            <m:oMathPara xmlns:m="http://schemas.openxmlformats.org/officeDocument/2006/math">
                              <m:oMathParaPr>
                                <m:jc m:val="centerGroup"/>
                              </m:oMathParaPr>
                              <m:oMath xmlns:m="http://schemas.openxmlformats.org/officeDocument/2006/math">
                                <m:r>
                                  <a:rPr lang="en-US" sz="1600" kern="100">
                                    <a:effectLst/>
                                    <a:latin typeface="Cambria Math" panose="02040503050406030204" pitchFamily="18" charset="0"/>
                                  </a:rPr>
                                  <m:t>𝜃</m:t>
                                </m:r>
                              </m:oMath>
                            </m:oMathPara>
                          </a14:m>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d</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a</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14:m>
                            <m:oMathPara xmlns:m="http://schemas.openxmlformats.org/officeDocument/2006/math">
                              <m:oMathParaPr>
                                <m:jc m:val="centerGroup"/>
                              </m:oMathParaPr>
                              <m:oMath xmlns:m="http://schemas.openxmlformats.org/officeDocument/2006/math">
                                <m:r>
                                  <a:rPr lang="en-US" sz="1600" kern="100">
                                    <a:effectLst/>
                                    <a:latin typeface="Cambria Math" panose="02040503050406030204" pitchFamily="18" charset="0"/>
                                  </a:rPr>
                                  <m:t>𝛼</m:t>
                                </m:r>
                              </m:oMath>
                            </m:oMathPara>
                          </a14:m>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793094803"/>
                      </a:ext>
                    </a:extLst>
                  </a:tr>
                  <a:tr h="260054">
                    <a:tc>
                      <a:txBody>
                        <a:bodyPr/>
                        <a:lstStyle/>
                        <a:p>
                          <a:pPr>
                            <a:spcBef>
                              <a:spcPts val="600"/>
                            </a:spcBef>
                            <a:spcAft>
                              <a:spcPts val="600"/>
                            </a:spcAft>
                          </a:pPr>
                          <a:r>
                            <a:rPr lang="en-US" sz="1600" kern="100">
                              <a:effectLst/>
                            </a:rPr>
                            <a:t>1</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3457323227"/>
                      </a:ext>
                    </a:extLst>
                  </a:tr>
                  <a:tr h="260054">
                    <a:tc>
                      <a:txBody>
                        <a:bodyPr/>
                        <a:lstStyle/>
                        <a:p>
                          <a:pPr>
                            <a:spcBef>
                              <a:spcPts val="600"/>
                            </a:spcBef>
                            <a:spcAft>
                              <a:spcPts val="600"/>
                            </a:spcAft>
                          </a:pPr>
                          <a:r>
                            <a:rPr lang="en-US" sz="1600" kern="100">
                              <a:effectLst/>
                            </a:rPr>
                            <a:t>2</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176863450"/>
                      </a:ext>
                    </a:extLst>
                  </a:tr>
                  <a:tr h="260054">
                    <a:tc>
                      <a:txBody>
                        <a:bodyPr/>
                        <a:lstStyle/>
                        <a:p>
                          <a:pPr>
                            <a:spcBef>
                              <a:spcPts val="600"/>
                            </a:spcBef>
                            <a:spcAft>
                              <a:spcPts val="600"/>
                            </a:spcAft>
                          </a:pPr>
                          <a:r>
                            <a:rPr lang="en-US" sz="1600" kern="100">
                              <a:effectLst/>
                            </a:rPr>
                            <a:t>3</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4277766333"/>
                      </a:ext>
                    </a:extLst>
                  </a:tr>
                  <a:tr h="260054">
                    <a:tc>
                      <a:txBody>
                        <a:bodyPr/>
                        <a:lstStyle/>
                        <a:p>
                          <a:pPr>
                            <a:spcBef>
                              <a:spcPts val="600"/>
                            </a:spcBef>
                            <a:spcAft>
                              <a:spcPts val="600"/>
                            </a:spcAft>
                          </a:pPr>
                          <a:r>
                            <a:rPr lang="en-US" sz="1600" kern="100">
                              <a:effectLst/>
                            </a:rPr>
                            <a:t>4</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3076705810"/>
                      </a:ext>
                    </a:extLst>
                  </a:tr>
                  <a:tr h="260054">
                    <a:tc>
                      <a:txBody>
                        <a:bodyPr/>
                        <a:lstStyle/>
                        <a:p>
                          <a:pPr>
                            <a:spcBef>
                              <a:spcPts val="600"/>
                            </a:spcBef>
                            <a:spcAft>
                              <a:spcPts val="600"/>
                            </a:spcAft>
                          </a:pPr>
                          <a:r>
                            <a:rPr lang="en-US" sz="1600" kern="100">
                              <a:effectLst/>
                            </a:rPr>
                            <a:t>5</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4222319771"/>
                      </a:ext>
                    </a:extLst>
                  </a:tr>
                  <a:tr h="260054">
                    <a:tc>
                      <a:txBody>
                        <a:bodyPr/>
                        <a:lstStyle/>
                        <a:p>
                          <a:pPr>
                            <a:spcBef>
                              <a:spcPts val="600"/>
                            </a:spcBef>
                            <a:spcAft>
                              <a:spcPts val="600"/>
                            </a:spcAft>
                          </a:pPr>
                          <a:r>
                            <a:rPr lang="en-US" sz="1600" kern="100">
                              <a:effectLst/>
                            </a:rPr>
                            <a:t>6</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dirty="0">
                              <a:effectLst/>
                            </a:rPr>
                            <a:t> </a:t>
                          </a:r>
                          <a:endParaRPr lang="zh-CN" sz="1600" kern="100" dirty="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301052996"/>
                      </a:ext>
                    </a:extLst>
                  </a:tr>
                </a:tbl>
              </a:graphicData>
            </a:graphic>
          </p:graphicFrame>
        </mc:Choice>
        <mc:Fallback xmlns="">
          <p:graphicFrame>
            <p:nvGraphicFramePr>
              <p:cNvPr id="2" name="表格 1"/>
              <p:cNvGraphicFramePr>
                <a:graphicFrameLocks noGrp="1"/>
              </p:cNvGraphicFramePr>
              <p:nvPr>
                <p:extLst>
                  <p:ext uri="{D42A27DB-BD31-4B8C-83A1-F6EECF244321}">
                    <p14:modId xmlns:p14="http://schemas.microsoft.com/office/powerpoint/2010/main" val="1684378062"/>
                  </p:ext>
                </p:extLst>
              </p:nvPr>
            </p:nvGraphicFramePr>
            <p:xfrm>
              <a:off x="2670163" y="2355728"/>
              <a:ext cx="4134085" cy="1944214"/>
            </p:xfrm>
            <a:graphic>
              <a:graphicData uri="http://schemas.openxmlformats.org/drawingml/2006/table">
                <a:tbl>
                  <a:tblPr>
                    <a:tableStyleId>{5C22544A-7EE6-4342-B048-85BDC9FD1C3A}</a:tableStyleId>
                  </a:tblPr>
                  <a:tblGrid>
                    <a:gridCol w="826817">
                      <a:extLst>
                        <a:ext uri="{9D8B030D-6E8A-4147-A177-3AD203B41FA5}">
                          <a16:colId xmlns:a16="http://schemas.microsoft.com/office/drawing/2014/main" val="1565080428"/>
                        </a:ext>
                      </a:extLst>
                    </a:gridCol>
                    <a:gridCol w="826817">
                      <a:extLst>
                        <a:ext uri="{9D8B030D-6E8A-4147-A177-3AD203B41FA5}">
                          <a16:colId xmlns:a16="http://schemas.microsoft.com/office/drawing/2014/main" val="11495325"/>
                        </a:ext>
                      </a:extLst>
                    </a:gridCol>
                    <a:gridCol w="826817">
                      <a:extLst>
                        <a:ext uri="{9D8B030D-6E8A-4147-A177-3AD203B41FA5}">
                          <a16:colId xmlns:a16="http://schemas.microsoft.com/office/drawing/2014/main" val="2401424890"/>
                        </a:ext>
                      </a:extLst>
                    </a:gridCol>
                    <a:gridCol w="826817">
                      <a:extLst>
                        <a:ext uri="{9D8B030D-6E8A-4147-A177-3AD203B41FA5}">
                          <a16:colId xmlns:a16="http://schemas.microsoft.com/office/drawing/2014/main" val="786026678"/>
                        </a:ext>
                      </a:extLst>
                    </a:gridCol>
                    <a:gridCol w="826817">
                      <a:extLst>
                        <a:ext uri="{9D8B030D-6E8A-4147-A177-3AD203B41FA5}">
                          <a16:colId xmlns:a16="http://schemas.microsoft.com/office/drawing/2014/main" val="1990284312"/>
                        </a:ext>
                      </a:extLst>
                    </a:gridCol>
                  </a:tblGrid>
                  <a:tr h="383890">
                    <a:tc>
                      <a:txBody>
                        <a:bodyPr/>
                        <a:lstStyle/>
                        <a:p>
                          <a:pPr>
                            <a:spcBef>
                              <a:spcPts val="600"/>
                            </a:spcBef>
                            <a:spcAft>
                              <a:spcPts val="600"/>
                            </a:spcAft>
                          </a:pPr>
                          <a:r>
                            <a:rPr lang="en-US" sz="1600" kern="100">
                              <a:effectLst/>
                            </a:rPr>
                            <a:t>#</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endParaRPr lang="zh-CN"/>
                        </a:p>
                      </a:txBody>
                      <a:tcPr marL="68580" marR="68580" marT="0" marB="0">
                        <a:blipFill>
                          <a:blip r:embed="rId3"/>
                          <a:stretch>
                            <a:fillRect l="-101471" t="-15873" r="-300735" b="-434921"/>
                          </a:stretch>
                        </a:blipFill>
                      </a:tcPr>
                    </a:tc>
                    <a:tc>
                      <a:txBody>
                        <a:bodyPr/>
                        <a:lstStyle/>
                        <a:p>
                          <a:pPr>
                            <a:spcBef>
                              <a:spcPts val="600"/>
                            </a:spcBef>
                            <a:spcAft>
                              <a:spcPts val="600"/>
                            </a:spcAft>
                          </a:pPr>
                          <a:r>
                            <a:rPr lang="en-US" sz="1600" kern="100">
                              <a:effectLst/>
                            </a:rPr>
                            <a:t>d</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a</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endParaRPr lang="zh-CN"/>
                        </a:p>
                      </a:txBody>
                      <a:tcPr marL="68580" marR="68580" marT="0" marB="0">
                        <a:blipFill>
                          <a:blip r:embed="rId3"/>
                          <a:stretch>
                            <a:fillRect l="-400735" t="-15873" r="-1471" b="-434921"/>
                          </a:stretch>
                        </a:blipFill>
                      </a:tcPr>
                    </a:tc>
                    <a:extLst>
                      <a:ext uri="{0D108BD9-81ED-4DB2-BD59-A6C34878D82A}">
                        <a16:rowId xmlns:a16="http://schemas.microsoft.com/office/drawing/2014/main" val="793094803"/>
                      </a:ext>
                    </a:extLst>
                  </a:tr>
                  <a:tr h="260054">
                    <a:tc>
                      <a:txBody>
                        <a:bodyPr/>
                        <a:lstStyle/>
                        <a:p>
                          <a:pPr>
                            <a:spcBef>
                              <a:spcPts val="600"/>
                            </a:spcBef>
                            <a:spcAft>
                              <a:spcPts val="600"/>
                            </a:spcAft>
                          </a:pPr>
                          <a:r>
                            <a:rPr lang="en-US" sz="1600" kern="100">
                              <a:effectLst/>
                            </a:rPr>
                            <a:t>1</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3457323227"/>
                      </a:ext>
                    </a:extLst>
                  </a:tr>
                  <a:tr h="260054">
                    <a:tc>
                      <a:txBody>
                        <a:bodyPr/>
                        <a:lstStyle/>
                        <a:p>
                          <a:pPr>
                            <a:spcBef>
                              <a:spcPts val="600"/>
                            </a:spcBef>
                            <a:spcAft>
                              <a:spcPts val="600"/>
                            </a:spcAft>
                          </a:pPr>
                          <a:r>
                            <a:rPr lang="en-US" sz="1600" kern="100">
                              <a:effectLst/>
                            </a:rPr>
                            <a:t>2</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176863450"/>
                      </a:ext>
                    </a:extLst>
                  </a:tr>
                  <a:tr h="260054">
                    <a:tc>
                      <a:txBody>
                        <a:bodyPr/>
                        <a:lstStyle/>
                        <a:p>
                          <a:pPr>
                            <a:spcBef>
                              <a:spcPts val="600"/>
                            </a:spcBef>
                            <a:spcAft>
                              <a:spcPts val="600"/>
                            </a:spcAft>
                          </a:pPr>
                          <a:r>
                            <a:rPr lang="en-US" sz="1600" kern="100">
                              <a:effectLst/>
                            </a:rPr>
                            <a:t>3</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4277766333"/>
                      </a:ext>
                    </a:extLst>
                  </a:tr>
                  <a:tr h="260054">
                    <a:tc>
                      <a:txBody>
                        <a:bodyPr/>
                        <a:lstStyle/>
                        <a:p>
                          <a:pPr>
                            <a:spcBef>
                              <a:spcPts val="600"/>
                            </a:spcBef>
                            <a:spcAft>
                              <a:spcPts val="600"/>
                            </a:spcAft>
                          </a:pPr>
                          <a:r>
                            <a:rPr lang="en-US" sz="1600" kern="100">
                              <a:effectLst/>
                            </a:rPr>
                            <a:t>4</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3076705810"/>
                      </a:ext>
                    </a:extLst>
                  </a:tr>
                  <a:tr h="260054">
                    <a:tc>
                      <a:txBody>
                        <a:bodyPr/>
                        <a:lstStyle/>
                        <a:p>
                          <a:pPr>
                            <a:spcBef>
                              <a:spcPts val="600"/>
                            </a:spcBef>
                            <a:spcAft>
                              <a:spcPts val="600"/>
                            </a:spcAft>
                          </a:pPr>
                          <a:r>
                            <a:rPr lang="en-US" sz="1600" kern="100">
                              <a:effectLst/>
                            </a:rPr>
                            <a:t>5</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4222319771"/>
                      </a:ext>
                    </a:extLst>
                  </a:tr>
                  <a:tr h="260054">
                    <a:tc>
                      <a:txBody>
                        <a:bodyPr/>
                        <a:lstStyle/>
                        <a:p>
                          <a:pPr>
                            <a:spcBef>
                              <a:spcPts val="600"/>
                            </a:spcBef>
                            <a:spcAft>
                              <a:spcPts val="600"/>
                            </a:spcAft>
                          </a:pPr>
                          <a:r>
                            <a:rPr lang="en-US" sz="1600" kern="100">
                              <a:effectLst/>
                            </a:rPr>
                            <a:t>6</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a:effectLst/>
                            </a:rPr>
                            <a:t> </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600" kern="100" dirty="0">
                              <a:effectLst/>
                            </a:rPr>
                            <a:t> </a:t>
                          </a:r>
                          <a:endParaRPr lang="zh-CN" sz="1600" kern="100" dirty="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301052996"/>
                      </a:ext>
                    </a:extLst>
                  </a:tr>
                </a:tbl>
              </a:graphicData>
            </a:graphic>
          </p:graphicFrame>
        </mc:Fallback>
      </mc:AlternateContent>
      <p:sp>
        <p:nvSpPr>
          <p:cNvPr id="3" name="矩形 2"/>
          <p:cNvSpPr/>
          <p:nvPr/>
        </p:nvSpPr>
        <p:spPr>
          <a:xfrm>
            <a:off x="4081416" y="1923680"/>
            <a:ext cx="1311578" cy="369332"/>
          </a:xfrm>
          <a:prstGeom prst="rect">
            <a:avLst/>
          </a:prstGeom>
        </p:spPr>
        <p:txBody>
          <a:bodyPr wrap="none">
            <a:spAutoFit/>
          </a:bodyPr>
          <a:lstStyle/>
          <a:p>
            <a:r>
              <a:rPr lang="en-US" altLang="zh-CN" dirty="0">
                <a:latin typeface="等线" panose="02010600030101010101" pitchFamily="2" charset="-122"/>
                <a:cs typeface="Times New Roman" panose="02020603050405020304" pitchFamily="18" charset="0"/>
              </a:rPr>
              <a:t>D-H</a:t>
            </a:r>
            <a:r>
              <a:rPr lang="zh-CN" altLang="zh-CN" dirty="0">
                <a:ea typeface="等线" panose="02010600030101010101" pitchFamily="2" charset="-122"/>
                <a:cs typeface="Times New Roman" panose="02020603050405020304" pitchFamily="18" charset="0"/>
              </a:rPr>
              <a:t>参数表</a:t>
            </a:r>
            <a:endParaRPr lang="zh-CN" altLang="en-US" dirty="0"/>
          </a:p>
        </p:txBody>
      </p:sp>
      <mc:AlternateContent xmlns:mc="http://schemas.openxmlformats.org/markup-compatibility/2006" xmlns:a14="http://schemas.microsoft.com/office/drawing/2010/main">
        <mc:Choice Requires="a14">
          <p:sp>
            <p:nvSpPr>
              <p:cNvPr id="13" name="矩形 12"/>
              <p:cNvSpPr/>
              <p:nvPr/>
            </p:nvSpPr>
            <p:spPr>
              <a:xfrm>
                <a:off x="2265631" y="1478380"/>
                <a:ext cx="4558299" cy="398442"/>
              </a:xfrm>
              <a:prstGeom prst="rect">
                <a:avLst/>
              </a:prstGeom>
            </p:spPr>
            <p:txBody>
              <a:bodyPr wrap="none">
                <a:spAutoFit/>
              </a:bodyPr>
              <a:lstStyle/>
              <a:p>
                <a14:m>
                  <m:oMath xmlns:m="http://schemas.openxmlformats.org/officeDocument/2006/math">
                    <m:sSub>
                      <m:sSubPr>
                        <m:ctrlPr>
                          <a:rPr lang="zh-CN" altLang="zh-CN" i="1">
                            <a:latin typeface="Cambria Math" panose="02040503050406030204" pitchFamily="18" charset="0"/>
                            <a:ea typeface="Cambria Math" panose="02040503050406030204" pitchFamily="18" charset="0"/>
                          </a:rPr>
                        </m:ctrlPr>
                      </m:sSubPr>
                      <m:e>
                        <m:sPre>
                          <m:sPrePr>
                            <m:ctrlPr>
                              <a:rPr lang="zh-CN" altLang="zh-CN" i="1">
                                <a:effectLst/>
                                <a:latin typeface="Cambria Math" panose="02040503050406030204" pitchFamily="18" charset="0"/>
                                <a:ea typeface="Cambria Math" panose="02040503050406030204" pitchFamily="18" charset="0"/>
                              </a:rPr>
                            </m:ctrlPr>
                          </m:sPrePr>
                          <m:sub/>
                          <m:sup>
                            <m:r>
                              <a:rPr lang="en-US" altLang="zh-CN" i="1">
                                <a:latin typeface="Cambria Math" panose="02040503050406030204" pitchFamily="18" charset="0"/>
                                <a:ea typeface="等线" panose="02010600030101010101" pitchFamily="2" charset="-122"/>
                                <a:cs typeface="Times New Roman" panose="02020603050405020304" pitchFamily="18" charset="0"/>
                              </a:rPr>
                              <m:t>𝑅</m:t>
                            </m:r>
                          </m:sup>
                          <m:e>
                            <m:r>
                              <a:rPr lang="en-US" altLang="zh-CN" i="1">
                                <a:latin typeface="Cambria Math" panose="02040503050406030204" pitchFamily="18" charset="0"/>
                                <a:ea typeface="等线" panose="02010600030101010101" pitchFamily="2" charset="-122"/>
                                <a:cs typeface="Times New Roman" panose="02020603050405020304" pitchFamily="18" charset="0"/>
                              </a:rPr>
                              <m:t>𝑇</m:t>
                            </m:r>
                          </m:e>
                        </m:sPre>
                      </m:e>
                      <m:sub>
                        <m:r>
                          <a:rPr lang="en-US" altLang="zh-CN" i="1">
                            <a:latin typeface="Cambria Math" panose="02040503050406030204" pitchFamily="18" charset="0"/>
                            <a:ea typeface="等线" panose="02010600030101010101" pitchFamily="2" charset="-122"/>
                            <a:cs typeface="Times New Roman" panose="02020603050405020304" pitchFamily="18" charset="0"/>
                          </a:rPr>
                          <m:t>𝐻</m:t>
                        </m:r>
                      </m:sub>
                    </m:sSub>
                    <m:r>
                      <a:rPr lang="en-US" altLang="zh-CN"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i="1">
                            <a:effectLst/>
                            <a:latin typeface="Cambria Math" panose="02040503050406030204" pitchFamily="18" charset="0"/>
                            <a:ea typeface="Cambria Math" panose="02040503050406030204" pitchFamily="18" charset="0"/>
                          </a:rPr>
                        </m:ctrlPr>
                      </m:sSubPr>
                      <m:e>
                        <m:sPre>
                          <m:sPrePr>
                            <m:ctrlPr>
                              <a:rPr lang="zh-CN" altLang="zh-CN" i="1">
                                <a:effectLst/>
                                <a:latin typeface="Cambria Math" panose="02040503050406030204" pitchFamily="18" charset="0"/>
                                <a:ea typeface="Cambria Math" panose="02040503050406030204" pitchFamily="18" charset="0"/>
                              </a:rPr>
                            </m:ctrlPr>
                          </m:sPrePr>
                          <m:sub/>
                          <m:sup>
                            <m:r>
                              <a:rPr lang="en-US" altLang="zh-CN" i="1">
                                <a:latin typeface="Cambria Math" panose="02040503050406030204" pitchFamily="18" charset="0"/>
                                <a:ea typeface="等线" panose="02010600030101010101" pitchFamily="2" charset="-122"/>
                                <a:cs typeface="Times New Roman" panose="02020603050405020304" pitchFamily="18" charset="0"/>
                              </a:rPr>
                              <m:t>𝑅</m:t>
                            </m:r>
                          </m:sup>
                          <m:e>
                            <m:r>
                              <a:rPr lang="en-US" altLang="zh-CN" i="1">
                                <a:latin typeface="Cambria Math" panose="02040503050406030204" pitchFamily="18" charset="0"/>
                                <a:ea typeface="等线" panose="02010600030101010101" pitchFamily="2" charset="-122"/>
                                <a:cs typeface="Times New Roman" panose="02020603050405020304" pitchFamily="18" charset="0"/>
                              </a:rPr>
                              <m:t>𝑇</m:t>
                            </m:r>
                          </m:e>
                        </m:sPre>
                      </m:e>
                      <m:sub>
                        <m:r>
                          <a:rPr lang="en-US" altLang="zh-CN" i="1">
                            <a:latin typeface="Cambria Math" panose="02040503050406030204" pitchFamily="18" charset="0"/>
                            <a:ea typeface="等线" panose="02010600030101010101" pitchFamily="2" charset="-122"/>
                            <a:cs typeface="Times New Roman" panose="02020603050405020304" pitchFamily="18" charset="0"/>
                          </a:rPr>
                          <m:t>1</m:t>
                        </m:r>
                      </m:sub>
                    </m:sSub>
                    <m:sSub>
                      <m:sSubPr>
                        <m:ctrlPr>
                          <a:rPr lang="zh-CN" altLang="zh-CN" i="1">
                            <a:effectLst/>
                            <a:latin typeface="Cambria Math" panose="02040503050406030204" pitchFamily="18" charset="0"/>
                            <a:ea typeface="Cambria Math" panose="02040503050406030204" pitchFamily="18" charset="0"/>
                          </a:rPr>
                        </m:ctrlPr>
                      </m:sSubPr>
                      <m:e>
                        <m:sPre>
                          <m:sPrePr>
                            <m:ctrlPr>
                              <a:rPr lang="zh-CN" altLang="zh-CN" i="1">
                                <a:effectLst/>
                                <a:latin typeface="Cambria Math" panose="02040503050406030204" pitchFamily="18" charset="0"/>
                                <a:ea typeface="Cambria Math" panose="02040503050406030204" pitchFamily="18" charset="0"/>
                              </a:rPr>
                            </m:ctrlPr>
                          </m:sPrePr>
                          <m:sub/>
                          <m:sup>
                            <m:r>
                              <a:rPr lang="en-US" altLang="zh-CN" i="1">
                                <a:latin typeface="Cambria Math" panose="02040503050406030204" pitchFamily="18" charset="0"/>
                                <a:ea typeface="等线" panose="02010600030101010101" pitchFamily="2" charset="-122"/>
                                <a:cs typeface="Times New Roman" panose="02020603050405020304" pitchFamily="18" charset="0"/>
                              </a:rPr>
                              <m:t>1</m:t>
                            </m:r>
                          </m:sup>
                          <m:e>
                            <m:r>
                              <a:rPr lang="en-US" altLang="zh-CN" i="1">
                                <a:latin typeface="Cambria Math" panose="02040503050406030204" pitchFamily="18" charset="0"/>
                                <a:ea typeface="等线" panose="02010600030101010101" pitchFamily="2" charset="-122"/>
                                <a:cs typeface="Times New Roman" panose="02020603050405020304" pitchFamily="18" charset="0"/>
                              </a:rPr>
                              <m:t>𝑇</m:t>
                            </m:r>
                          </m:e>
                        </m:sPre>
                      </m:e>
                      <m:sub>
                        <m:r>
                          <a:rPr lang="en-US" altLang="zh-CN" i="1">
                            <a:latin typeface="Cambria Math" panose="02040503050406030204" pitchFamily="18" charset="0"/>
                            <a:ea typeface="等线" panose="02010600030101010101" pitchFamily="2" charset="-122"/>
                            <a:cs typeface="Times New Roman" panose="02020603050405020304" pitchFamily="18" charset="0"/>
                          </a:rPr>
                          <m:t>2</m:t>
                        </m:r>
                      </m:sub>
                    </m:sSub>
                    <m:sSub>
                      <m:sSubPr>
                        <m:ctrlPr>
                          <a:rPr lang="zh-CN" altLang="zh-CN" i="1">
                            <a:effectLst/>
                            <a:latin typeface="Cambria Math" panose="02040503050406030204" pitchFamily="18" charset="0"/>
                            <a:ea typeface="Cambria Math" panose="02040503050406030204" pitchFamily="18" charset="0"/>
                          </a:rPr>
                        </m:ctrlPr>
                      </m:sSubPr>
                      <m:e>
                        <m:sPre>
                          <m:sPrePr>
                            <m:ctrlPr>
                              <a:rPr lang="zh-CN" altLang="zh-CN" i="1">
                                <a:effectLst/>
                                <a:latin typeface="Cambria Math" panose="02040503050406030204" pitchFamily="18" charset="0"/>
                                <a:ea typeface="Cambria Math" panose="02040503050406030204" pitchFamily="18" charset="0"/>
                              </a:rPr>
                            </m:ctrlPr>
                          </m:sPrePr>
                          <m:sub/>
                          <m:sup>
                            <m:r>
                              <a:rPr lang="en-US" altLang="zh-CN" i="1">
                                <a:latin typeface="Cambria Math" panose="02040503050406030204" pitchFamily="18" charset="0"/>
                                <a:ea typeface="等线" panose="02010600030101010101" pitchFamily="2" charset="-122"/>
                                <a:cs typeface="Times New Roman" panose="02020603050405020304" pitchFamily="18" charset="0"/>
                              </a:rPr>
                              <m:t>2</m:t>
                            </m:r>
                          </m:sup>
                          <m:e>
                            <m:r>
                              <a:rPr lang="en-US" altLang="zh-CN" i="1">
                                <a:latin typeface="Cambria Math" panose="02040503050406030204" pitchFamily="18" charset="0"/>
                                <a:ea typeface="等线" panose="02010600030101010101" pitchFamily="2" charset="-122"/>
                                <a:cs typeface="Times New Roman" panose="02020603050405020304" pitchFamily="18" charset="0"/>
                              </a:rPr>
                              <m:t>𝑇</m:t>
                            </m:r>
                          </m:e>
                        </m:sPre>
                      </m:e>
                      <m:sub>
                        <m:r>
                          <a:rPr lang="en-US" altLang="zh-CN" i="1">
                            <a:latin typeface="Cambria Math" panose="02040503050406030204" pitchFamily="18" charset="0"/>
                            <a:ea typeface="等线" panose="02010600030101010101" pitchFamily="2" charset="-122"/>
                            <a:cs typeface="Times New Roman" panose="02020603050405020304" pitchFamily="18" charset="0"/>
                          </a:rPr>
                          <m:t>3</m:t>
                        </m:r>
                      </m:sub>
                    </m:sSub>
                    <m:r>
                      <a:rPr lang="zh-CN" altLang="zh-CN" i="1">
                        <a:latin typeface="Cambria Math" panose="02040503050406030204" pitchFamily="18" charset="0"/>
                        <a:ea typeface="MS Mincho"/>
                        <a:cs typeface="MS Mincho"/>
                      </a:rPr>
                      <m:t>⋯</m:t>
                    </m:r>
                    <m:sSub>
                      <m:sSubPr>
                        <m:ctrlPr>
                          <a:rPr lang="zh-CN" altLang="zh-CN" i="1">
                            <a:effectLst/>
                            <a:latin typeface="Cambria Math" panose="02040503050406030204" pitchFamily="18" charset="0"/>
                            <a:ea typeface="Cambria Math" panose="02040503050406030204" pitchFamily="18" charset="0"/>
                          </a:rPr>
                        </m:ctrlPr>
                      </m:sSubPr>
                      <m:e>
                        <m:sPre>
                          <m:sPrePr>
                            <m:ctrlPr>
                              <a:rPr lang="zh-CN" altLang="zh-CN" i="1">
                                <a:effectLst/>
                                <a:latin typeface="Cambria Math" panose="02040503050406030204" pitchFamily="18" charset="0"/>
                                <a:ea typeface="Cambria Math" panose="02040503050406030204" pitchFamily="18" charset="0"/>
                              </a:rPr>
                            </m:ctrlPr>
                          </m:sPrePr>
                          <m:sub/>
                          <m:sup>
                            <m:r>
                              <a:rPr lang="en-US" altLang="zh-CN" i="1">
                                <a:latin typeface="Cambria Math" panose="02040503050406030204" pitchFamily="18" charset="0"/>
                                <a:ea typeface="等线" panose="02010600030101010101" pitchFamily="2" charset="-122"/>
                                <a:cs typeface="Times New Roman" panose="02020603050405020304" pitchFamily="18" charset="0"/>
                              </a:rPr>
                              <m:t>𝑛</m:t>
                            </m:r>
                            <m:r>
                              <a:rPr lang="zh-CN" altLang="en-US" i="1">
                                <a:latin typeface="Cambria Math" panose="02040503050406030204" pitchFamily="18" charset="0"/>
                                <a:ea typeface="微软雅黑" panose="020B0503020204020204" pitchFamily="34" charset="-122"/>
                                <a:cs typeface="微软雅黑" panose="020B0503020204020204" pitchFamily="34" charset="-122"/>
                              </a:rPr>
                              <m:t>−</m:t>
                            </m:r>
                            <m:r>
                              <a:rPr lang="en-US" altLang="zh-CN" i="1">
                                <a:latin typeface="Cambria Math" panose="02040503050406030204" pitchFamily="18" charset="0"/>
                                <a:ea typeface="等线" panose="02010600030101010101" pitchFamily="2" charset="-122"/>
                                <a:cs typeface="Times New Roman" panose="02020603050405020304" pitchFamily="18" charset="0"/>
                              </a:rPr>
                              <m:t>1</m:t>
                            </m:r>
                          </m:sup>
                          <m:e>
                            <m:r>
                              <a:rPr lang="en-US" altLang="zh-CN" i="1">
                                <a:latin typeface="Cambria Math" panose="02040503050406030204" pitchFamily="18" charset="0"/>
                                <a:ea typeface="等线" panose="02010600030101010101" pitchFamily="2" charset="-122"/>
                                <a:cs typeface="Times New Roman" panose="02020603050405020304" pitchFamily="18" charset="0"/>
                              </a:rPr>
                              <m:t>𝑇</m:t>
                            </m:r>
                          </m:e>
                        </m:sPre>
                      </m:e>
                      <m:sub>
                        <m:r>
                          <a:rPr lang="en-US" altLang="zh-CN" i="1">
                            <a:latin typeface="Cambria Math" panose="02040503050406030204" pitchFamily="18" charset="0"/>
                            <a:ea typeface="等线" panose="02010600030101010101" pitchFamily="2" charset="-122"/>
                            <a:cs typeface="Times New Roman" panose="02020603050405020304" pitchFamily="18" charset="0"/>
                          </a:rPr>
                          <m:t>𝑛</m:t>
                        </m:r>
                      </m:sub>
                    </m:sSub>
                    <m:r>
                      <a:rPr lang="en-US" altLang="zh-CN"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等线" panose="02010600030101010101" pitchFamily="2" charset="-122"/>
                            <a:cs typeface="Times New Roman" panose="02020603050405020304" pitchFamily="18" charset="0"/>
                          </a:rPr>
                          <m:t>𝐴</m:t>
                        </m:r>
                      </m:e>
                      <m:sub>
                        <m:r>
                          <a:rPr lang="en-US" altLang="zh-CN" i="1">
                            <a:latin typeface="Cambria Math" panose="02040503050406030204" pitchFamily="18" charset="0"/>
                            <a:ea typeface="等线" panose="02010600030101010101" pitchFamily="2" charset="-122"/>
                            <a:cs typeface="Times New Roman" panose="02020603050405020304" pitchFamily="18" charset="0"/>
                          </a:rPr>
                          <m:t>1</m:t>
                        </m:r>
                      </m:sub>
                    </m:sSub>
                    <m:sSub>
                      <m:sSubPr>
                        <m:ctrlPr>
                          <a:rPr lang="zh-CN" altLang="zh-CN" i="1">
                            <a:effectLst/>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等线" panose="02010600030101010101" pitchFamily="2" charset="-122"/>
                            <a:cs typeface="Times New Roman" panose="02020603050405020304" pitchFamily="18" charset="0"/>
                          </a:rPr>
                          <m:t>𝐴</m:t>
                        </m:r>
                      </m:e>
                      <m:sub>
                        <m:r>
                          <a:rPr lang="en-US" altLang="zh-CN" i="1">
                            <a:latin typeface="Cambria Math" panose="02040503050406030204" pitchFamily="18" charset="0"/>
                            <a:ea typeface="等线" panose="02010600030101010101" pitchFamily="2" charset="-122"/>
                            <a:cs typeface="Times New Roman" panose="02020603050405020304" pitchFamily="18" charset="0"/>
                          </a:rPr>
                          <m:t>2</m:t>
                        </m:r>
                      </m:sub>
                    </m:sSub>
                    <m:sSub>
                      <m:sSubPr>
                        <m:ctrlPr>
                          <a:rPr lang="zh-CN" altLang="zh-CN" i="1">
                            <a:effectLst/>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等线" panose="02010600030101010101" pitchFamily="2" charset="-122"/>
                            <a:cs typeface="Times New Roman" panose="02020603050405020304" pitchFamily="18" charset="0"/>
                          </a:rPr>
                          <m:t>𝐴</m:t>
                        </m:r>
                      </m:e>
                      <m:sub>
                        <m:r>
                          <a:rPr lang="en-US" altLang="zh-CN" i="1">
                            <a:latin typeface="Cambria Math" panose="02040503050406030204" pitchFamily="18" charset="0"/>
                            <a:ea typeface="等线" panose="02010600030101010101" pitchFamily="2" charset="-122"/>
                            <a:cs typeface="Times New Roman" panose="02020603050405020304" pitchFamily="18" charset="0"/>
                          </a:rPr>
                          <m:t>3</m:t>
                        </m:r>
                      </m:sub>
                    </m:sSub>
                    <m:r>
                      <a:rPr lang="zh-CN" altLang="zh-CN" i="1">
                        <a:latin typeface="Cambria Math" panose="02040503050406030204" pitchFamily="18" charset="0"/>
                        <a:ea typeface="MS Mincho"/>
                        <a:cs typeface="MS Mincho"/>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等线" panose="02010600030101010101" pitchFamily="2" charset="-122"/>
                            <a:cs typeface="Times New Roman" panose="02020603050405020304" pitchFamily="18" charset="0"/>
                          </a:rPr>
                          <m:t>𝐴</m:t>
                        </m:r>
                      </m:e>
                      <m:sub>
                        <m:r>
                          <a:rPr lang="en-US" altLang="zh-CN" i="1">
                            <a:latin typeface="Cambria Math" panose="02040503050406030204" pitchFamily="18" charset="0"/>
                            <a:ea typeface="等线" panose="02010600030101010101" pitchFamily="2" charset="-122"/>
                            <a:cs typeface="Times New Roman" panose="02020603050405020304" pitchFamily="18" charset="0"/>
                          </a:rPr>
                          <m:t>𝑛</m:t>
                        </m:r>
                      </m:sub>
                    </m:sSub>
                  </m:oMath>
                </a14:m>
                <a:r>
                  <a:rPr lang="en-US" altLang="zh-CN" dirty="0">
                    <a:latin typeface="等线" panose="02010600030101010101" pitchFamily="2" charset="-122"/>
                    <a:cs typeface="Times New Roman" panose="02020603050405020304" pitchFamily="18" charset="0"/>
                  </a:rPr>
                  <a:t> </a:t>
                </a:r>
                <a:endParaRPr lang="zh-CN" altLang="en-US" dirty="0"/>
              </a:p>
            </p:txBody>
          </p:sp>
        </mc:Choice>
        <mc:Fallback xmlns="">
          <p:sp>
            <p:nvSpPr>
              <p:cNvPr id="13" name="矩形 12"/>
              <p:cNvSpPr>
                <a:spLocks noRot="1" noChangeAspect="1" noMove="1" noResize="1" noEditPoints="1" noAdjustHandles="1" noChangeArrowheads="1" noChangeShapeType="1" noTextEdit="1"/>
              </p:cNvSpPr>
              <p:nvPr/>
            </p:nvSpPr>
            <p:spPr>
              <a:xfrm>
                <a:off x="2265631" y="1478380"/>
                <a:ext cx="4558299" cy="398442"/>
              </a:xfrm>
              <a:prstGeom prst="rect">
                <a:avLst/>
              </a:prstGeom>
              <a:blipFill>
                <a:blip r:embed="rId4"/>
                <a:stretch>
                  <a:fillRect/>
                </a:stretch>
              </a:blipFill>
            </p:spPr>
            <p:txBody>
              <a:bodyPr/>
              <a:lstStyle/>
              <a:p>
                <a:r>
                  <a:rPr lang="zh-CN" altLang="en-US">
                    <a:noFill/>
                  </a:rPr>
                  <a:t> </a:t>
                </a:r>
              </a:p>
            </p:txBody>
          </p:sp>
        </mc:Fallback>
      </mc:AlternateContent>
      <p:sp>
        <p:nvSpPr>
          <p:cNvPr id="14" name="矩形 13"/>
          <p:cNvSpPr/>
          <p:nvPr/>
        </p:nvSpPr>
        <p:spPr>
          <a:xfrm>
            <a:off x="971600" y="1038353"/>
            <a:ext cx="4801314" cy="400110"/>
          </a:xfrm>
          <a:prstGeom prst="rect">
            <a:avLst/>
          </a:prstGeom>
        </p:spPr>
        <p:txBody>
          <a:bodyPr wrap="none">
            <a:spAutoFit/>
          </a:bodyPr>
          <a:lstStyle/>
          <a:p>
            <a:r>
              <a:rPr lang="zh-CN" altLang="zh-CN" sz="2000" dirty="0">
                <a:solidFill>
                  <a:srgbClr val="002060"/>
                </a:solidFill>
                <a:ea typeface="等线" panose="02010600030101010101" pitchFamily="2" charset="-122"/>
                <a:cs typeface="Times New Roman" panose="02020603050405020304" pitchFamily="18" charset="0"/>
              </a:rPr>
              <a:t>在机器人的基座与手之间的总变换则</a:t>
            </a:r>
            <a:r>
              <a:rPr lang="zh-CN" altLang="zh-CN" sz="2000" dirty="0" smtClean="0">
                <a:solidFill>
                  <a:srgbClr val="002060"/>
                </a:solidFill>
                <a:ea typeface="等线" panose="02010600030101010101" pitchFamily="2" charset="-122"/>
                <a:cs typeface="Times New Roman" panose="02020603050405020304" pitchFamily="18" charset="0"/>
              </a:rPr>
              <a:t>为</a:t>
            </a:r>
            <a:r>
              <a:rPr lang="zh-CN" altLang="en-US" sz="2000" dirty="0" smtClean="0">
                <a:solidFill>
                  <a:srgbClr val="002060"/>
                </a:solidFill>
                <a:ea typeface="等线" panose="02010600030101010101" pitchFamily="2" charset="-122"/>
                <a:cs typeface="Times New Roman" panose="02020603050405020304" pitchFamily="18" charset="0"/>
              </a:rPr>
              <a:t>：</a:t>
            </a:r>
            <a:endParaRPr lang="zh-CN" altLang="en-US" sz="2000" dirty="0">
              <a:solidFill>
                <a:srgbClr val="002060"/>
              </a:solidFill>
            </a:endParaRPr>
          </a:p>
        </p:txBody>
      </p:sp>
    </p:spTree>
    <p:extLst>
      <p:ext uri="{BB962C8B-B14F-4D97-AF65-F5344CB8AC3E}">
        <p14:creationId xmlns:p14="http://schemas.microsoft.com/office/powerpoint/2010/main" val="299735331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36220" y="219075"/>
            <a:ext cx="5153660" cy="598805"/>
            <a:chOff x="-372" y="345"/>
            <a:chExt cx="8116" cy="943"/>
          </a:xfrm>
        </p:grpSpPr>
        <p:sp>
          <p:nvSpPr>
            <p:cNvPr id="9" name="矩形 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D-H </a:t>
              </a:r>
              <a:r>
                <a:rPr lang="en-US" altLang="zh-CN" sz="1000" dirty="0" smtClean="0">
                  <a:latin typeface="Arial" panose="020B0604020202020204" pitchFamily="34" charset="0"/>
                  <a:ea typeface="微软雅黑" panose="020B0503020204020204" charset="-122"/>
                  <a:sym typeface="+mn-ea"/>
                </a:rPr>
                <a:t>Notation in Robotics</a:t>
              </a:r>
              <a:endParaRPr lang="en-US" altLang="zh-CN" sz="1000" dirty="0">
                <a:latin typeface="Arial" panose="020B0604020202020204" pitchFamily="34" charset="0"/>
                <a:ea typeface="微软雅黑" panose="020B0503020204020204" charset="-122"/>
                <a:sym typeface="+mn-ea"/>
              </a:endParaRPr>
            </a:p>
          </p:txBody>
        </p:sp>
        <p:sp>
          <p:nvSpPr>
            <p:cNvPr id="10" name="文本框 9"/>
            <p:cNvSpPr txBox="1"/>
            <p:nvPr/>
          </p:nvSpPr>
          <p:spPr>
            <a:xfrm>
              <a:off x="443" y="363"/>
              <a:ext cx="7301" cy="628"/>
            </a:xfrm>
            <a:prstGeom prst="rect">
              <a:avLst/>
            </a:prstGeom>
            <a:noFill/>
          </p:spPr>
          <p:txBody>
            <a:bodyPr wrap="square" rtlCol="0" anchor="t">
              <a:spAutoFit/>
            </a:bodyPr>
            <a:lstStyle/>
            <a:p>
              <a:r>
                <a:rPr lang="en-US" altLang="zh-CN" sz="2000" b="1" dirty="0" smtClean="0">
                  <a:latin typeface="Arial" panose="020B0604020202020204" pitchFamily="34" charset="0"/>
                  <a:ea typeface="微软雅黑" panose="020B0503020204020204" charset="-122"/>
                  <a:sym typeface="+mn-ea"/>
                </a:rPr>
                <a:t>D-H</a:t>
              </a:r>
              <a:r>
                <a:rPr lang="zh-CN" altLang="en-US" sz="2000" b="1" dirty="0" smtClean="0">
                  <a:latin typeface="Arial" panose="020B0604020202020204" pitchFamily="34" charset="0"/>
                  <a:ea typeface="微软雅黑" panose="020B0503020204020204" charset="-122"/>
                  <a:sym typeface="+mn-ea"/>
                </a:rPr>
                <a:t>表示法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1" name="椭圆 1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矩形 4"/>
          <p:cNvSpPr/>
          <p:nvPr/>
        </p:nvSpPr>
        <p:spPr>
          <a:xfrm>
            <a:off x="2034595" y="608785"/>
            <a:ext cx="1607299" cy="400110"/>
          </a:xfrm>
          <a:prstGeom prst="rect">
            <a:avLst/>
          </a:prstGeom>
        </p:spPr>
        <p:txBody>
          <a:bodyPr wrap="none">
            <a:spAutoFit/>
          </a:bodyPr>
          <a:lstStyle/>
          <a:p>
            <a:r>
              <a:rPr lang="en-US" altLang="zh-CN" sz="2000" b="1" dirty="0">
                <a:solidFill>
                  <a:srgbClr val="002060"/>
                </a:solidFill>
              </a:rPr>
              <a:t>Standard D-H</a:t>
            </a:r>
            <a:endParaRPr lang="zh-CN" altLang="en-US" sz="2000" b="1" dirty="0">
              <a:solidFill>
                <a:srgbClr val="002060"/>
              </a:solidFill>
            </a:endParaRPr>
          </a:p>
        </p:txBody>
      </p:sp>
      <p:sp>
        <p:nvSpPr>
          <p:cNvPr id="6" name="矩形 5"/>
          <p:cNvSpPr/>
          <p:nvPr/>
        </p:nvSpPr>
        <p:spPr>
          <a:xfrm>
            <a:off x="6043350" y="595779"/>
            <a:ext cx="1619354" cy="400110"/>
          </a:xfrm>
          <a:prstGeom prst="rect">
            <a:avLst/>
          </a:prstGeom>
        </p:spPr>
        <p:txBody>
          <a:bodyPr wrap="none">
            <a:spAutoFit/>
          </a:bodyPr>
          <a:lstStyle/>
          <a:p>
            <a:r>
              <a:rPr lang="en-US" altLang="zh-CN" sz="2000" b="1" dirty="0">
                <a:solidFill>
                  <a:srgbClr val="002060"/>
                </a:solidFill>
              </a:rPr>
              <a:t>Modified D-H</a:t>
            </a:r>
            <a:endParaRPr lang="zh-CN" altLang="en-US" sz="2000" b="1" dirty="0">
              <a:solidFill>
                <a:srgbClr val="002060"/>
              </a:solidFill>
            </a:endParaRPr>
          </a:p>
        </p:txBody>
      </p:sp>
      <p:grpSp>
        <p:nvGrpSpPr>
          <p:cNvPr id="2" name="组合 1"/>
          <p:cNvGrpSpPr/>
          <p:nvPr/>
        </p:nvGrpSpPr>
        <p:grpSpPr>
          <a:xfrm>
            <a:off x="467544" y="1008895"/>
            <a:ext cx="8496944" cy="3737022"/>
            <a:chOff x="277719" y="817313"/>
            <a:chExt cx="8980983" cy="4123307"/>
          </a:xfrm>
        </p:grpSpPr>
        <p:pic>
          <p:nvPicPr>
            <p:cNvPr id="6146" name="Picture 2" descr="Parâmetros de Denavit-Hartenberg – Wikipédia, a enciclopédia livr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944" y="817313"/>
              <a:ext cx="4464496" cy="2845331"/>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p:cNvPicPr>
              <a:picLocks noChangeAspect="1"/>
            </p:cNvPicPr>
            <p:nvPr/>
          </p:nvPicPr>
          <p:blipFill>
            <a:blip r:embed="rId5"/>
            <a:stretch>
              <a:fillRect/>
            </a:stretch>
          </p:blipFill>
          <p:spPr>
            <a:xfrm>
              <a:off x="4917440" y="817313"/>
              <a:ext cx="3610579" cy="2845331"/>
            </a:xfrm>
            <a:prstGeom prst="rect">
              <a:avLst/>
            </a:prstGeom>
          </p:spPr>
        </p:pic>
        <mc:AlternateContent xmlns:mc="http://schemas.openxmlformats.org/markup-compatibility/2006" xmlns:a14="http://schemas.microsoft.com/office/drawing/2010/main">
          <mc:Choice Requires="a14">
            <p:sp>
              <p:nvSpPr>
                <p:cNvPr id="7" name="矩形 6"/>
                <p:cNvSpPr/>
                <p:nvPr/>
              </p:nvSpPr>
              <p:spPr>
                <a:xfrm>
                  <a:off x="277719" y="3730073"/>
                  <a:ext cx="4572001" cy="250261"/>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Sub>
                          <m:sSubPr>
                            <m:ctrlPr>
                              <a:rPr lang="zh-CN" altLang="en-US" sz="1000" i="1">
                                <a:latin typeface="Cambria Math" panose="02040503050406030204" pitchFamily="18" charset="0"/>
                              </a:rPr>
                            </m:ctrlPr>
                          </m:sSubPr>
                          <m:e>
                            <m:sPre>
                              <m:sPrePr>
                                <m:ctrlPr>
                                  <a:rPr lang="zh-CN" altLang="en-US" sz="1000" i="1">
                                    <a:latin typeface="Cambria Math" panose="02040503050406030204" pitchFamily="18" charset="0"/>
                                  </a:rPr>
                                </m:ctrlPr>
                              </m:sPrePr>
                              <m:sub/>
                              <m:sup>
                                <m:r>
                                  <a:rPr lang="zh-CN" altLang="en-US" sz="1000" i="1">
                                    <a:latin typeface="Cambria Math" panose="02040503050406030204" pitchFamily="18" charset="0"/>
                                  </a:rPr>
                                  <m:t>𝑛</m:t>
                                </m:r>
                              </m:sup>
                              <m:e>
                                <m:r>
                                  <a:rPr lang="zh-CN" altLang="en-US" sz="1000" i="1">
                                    <a:latin typeface="Cambria Math" panose="02040503050406030204" pitchFamily="18" charset="0"/>
                                  </a:rPr>
                                  <m:t>𝑇</m:t>
                                </m:r>
                              </m:e>
                            </m:sPre>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r>
                          <a:rPr lang="zh-CN" altLang="en-US" sz="1000" i="0">
                            <a:latin typeface="Cambria Math" panose="02040503050406030204" pitchFamily="18" charset="0"/>
                          </a:rPr>
                          <m:t>=</m:t>
                        </m:r>
                        <m:r>
                          <a:rPr lang="zh-CN" altLang="en-US" sz="1000" i="1">
                            <a:latin typeface="Cambria Math" panose="02040503050406030204" pitchFamily="18" charset="0"/>
                          </a:rPr>
                          <m:t>𝑅𝑜𝑡</m:t>
                        </m:r>
                        <m:d>
                          <m:dPr>
                            <m:ctrlPr>
                              <a:rPr lang="zh-CN" altLang="en-US" sz="1000" i="1">
                                <a:latin typeface="Cambria Math" panose="02040503050406030204" pitchFamily="18" charset="0"/>
                              </a:rPr>
                            </m:ctrlPr>
                          </m:dPr>
                          <m:e>
                            <m:r>
                              <a:rPr lang="zh-CN" altLang="en-US" sz="1000" i="1">
                                <a:latin typeface="Cambria Math" panose="02040503050406030204" pitchFamily="18" charset="0"/>
                              </a:rPr>
                              <m:t>𝑧</m:t>
                            </m:r>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e>
                        </m:d>
                        <m:r>
                          <a:rPr lang="zh-CN" altLang="en-US" sz="1000" i="0">
                            <a:latin typeface="Cambria Math" panose="02040503050406030204" pitchFamily="18" charset="0"/>
                          </a:rPr>
                          <m:t>×</m:t>
                        </m:r>
                        <m:r>
                          <a:rPr lang="zh-CN" altLang="en-US" sz="1000" i="1">
                            <a:latin typeface="Cambria Math" panose="02040503050406030204" pitchFamily="18" charset="0"/>
                          </a:rPr>
                          <m:t>𝑇𝑟𝑎𝑛</m:t>
                        </m:r>
                        <m:d>
                          <m:dPr>
                            <m:ctrlPr>
                              <a:rPr lang="zh-CN" altLang="en-US" sz="1000" i="1">
                                <a:latin typeface="Cambria Math" panose="02040503050406030204" pitchFamily="18" charset="0"/>
                              </a:rPr>
                            </m:ctrlPr>
                          </m:dPr>
                          <m:e>
                            <m:r>
                              <a:rPr lang="zh-CN" altLang="en-US" sz="1000" i="0">
                                <a:latin typeface="Cambria Math" panose="02040503050406030204" pitchFamily="18" charset="0"/>
                              </a:rPr>
                              <m:t>0,0,</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e>
                        </m:d>
                        <m:r>
                          <a:rPr lang="zh-CN" altLang="en-US" sz="1000" i="0">
                            <a:latin typeface="Cambria Math" panose="02040503050406030204" pitchFamily="18" charset="0"/>
                          </a:rPr>
                          <m:t>×</m:t>
                        </m:r>
                        <m:r>
                          <a:rPr lang="zh-CN" altLang="en-US" sz="1000" i="1">
                            <a:latin typeface="Cambria Math" panose="02040503050406030204" pitchFamily="18" charset="0"/>
                          </a:rPr>
                          <m:t>𝑇𝑟𝑎𝑛</m:t>
                        </m:r>
                        <m:d>
                          <m:dPr>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𝑎</m:t>
                                </m:r>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r>
                              <a:rPr lang="zh-CN" altLang="en-US" sz="1000" i="0">
                                <a:latin typeface="Cambria Math" panose="02040503050406030204" pitchFamily="18" charset="0"/>
                              </a:rPr>
                              <m:t>,0,0</m:t>
                            </m:r>
                          </m:e>
                        </m:d>
                        <m:r>
                          <a:rPr lang="zh-CN" altLang="en-US" sz="1000" i="0">
                            <a:latin typeface="Cambria Math" panose="02040503050406030204" pitchFamily="18" charset="0"/>
                          </a:rPr>
                          <m:t>×</m:t>
                        </m:r>
                        <m:r>
                          <a:rPr lang="zh-CN" altLang="en-US" sz="1000" i="1">
                            <a:latin typeface="Cambria Math" panose="02040503050406030204" pitchFamily="18" charset="0"/>
                          </a:rPr>
                          <m:t>𝑅𝑜𝑡</m:t>
                        </m:r>
                        <m:d>
                          <m:dPr>
                            <m:ctrlPr>
                              <a:rPr lang="zh-CN" altLang="en-US" sz="1000" i="1">
                                <a:latin typeface="Cambria Math" panose="02040503050406030204" pitchFamily="18" charset="0"/>
                              </a:rPr>
                            </m:ctrlPr>
                          </m:dPr>
                          <m:e>
                            <m:r>
                              <a:rPr lang="zh-CN" altLang="en-US" sz="1000" i="1">
                                <a:latin typeface="Cambria Math" panose="02040503050406030204" pitchFamily="18" charset="0"/>
                              </a:rPr>
                              <m:t>𝑥</m:t>
                            </m:r>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𝑎</m:t>
                                </m:r>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e>
                        </m:d>
                      </m:oMath>
                    </m:oMathPara>
                  </a14:m>
                  <a:endParaRPr lang="zh-CN" altLang="en-US" sz="1000" dirty="0"/>
                </a:p>
              </p:txBody>
            </p:sp>
          </mc:Choice>
          <mc:Fallback xmlns="">
            <p:sp>
              <p:nvSpPr>
                <p:cNvPr id="7" name="矩形 6"/>
                <p:cNvSpPr>
                  <a:spLocks noRot="1" noChangeAspect="1" noMove="1" noResize="1" noEditPoints="1" noAdjustHandles="1" noChangeArrowheads="1" noChangeShapeType="1" noTextEdit="1"/>
                </p:cNvSpPr>
                <p:nvPr/>
              </p:nvSpPr>
              <p:spPr>
                <a:xfrm>
                  <a:off x="277719" y="3730073"/>
                  <a:ext cx="4572001" cy="250261"/>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429939" y="4027448"/>
                  <a:ext cx="4420826" cy="7827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𝑛</m:t>
                                </m:r>
                              </m:sup>
                              <m:e>
                                <m:r>
                                  <a:rPr lang="zh-CN" altLang="en-US" sz="1200" i="1">
                                    <a:latin typeface="Cambria Math" panose="02040503050406030204" pitchFamily="18" charset="0"/>
                                  </a:rPr>
                                  <m:t>𝑇</m:t>
                                </m:r>
                              </m:e>
                            </m:sPre>
                          </m:e>
                          <m:sub>
                            <m:r>
                              <a:rPr lang="zh-CN" altLang="en-US" sz="1200" i="1">
                                <a:latin typeface="Cambria Math" panose="02040503050406030204" pitchFamily="18" charset="0"/>
                              </a:rPr>
                              <m:t>𝑛</m:t>
                            </m:r>
                            <m:r>
                              <a:rPr lang="zh-CN" altLang="en-US" sz="1200">
                                <a:latin typeface="Cambria Math" panose="02040503050406030204" pitchFamily="18" charset="0"/>
                              </a:rPr>
                              <m:t>+1</m:t>
                            </m:r>
                          </m:sub>
                        </m:sSub>
                        <m:r>
                          <a:rPr lang="zh-CN" altLang="en-US" sz="120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4"/>
                                      <m:mcJc m:val="center"/>
                                    </m:mcPr>
                                  </m:mc>
                                </m:mcs>
                                <m:ctrlPr>
                                  <a:rPr lang="zh-CN" altLang="en-US" sz="1200" i="1">
                                    <a:latin typeface="Cambria Math" panose="02040503050406030204" pitchFamily="18" charset="0"/>
                                  </a:rPr>
                                </m:ctrlPr>
                              </m:mPr>
                              <m:mr>
                                <m:e>
                                  <m:r>
                                    <a:rPr lang="zh-CN" altLang="en-US" sz="1200" i="1">
                                      <a:latin typeface="Cambria Math" panose="02040503050406030204" pitchFamily="18" charset="0"/>
                                    </a:rPr>
                                    <m:t>𝐶</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e>
                                <m:e>
                                  <m:r>
                                    <a:rPr lang="zh-CN" altLang="en-US" sz="1200" i="0">
                                      <a:latin typeface="Cambria Math" panose="02040503050406030204" pitchFamily="18" charset="0"/>
                                    </a:rPr>
                                    <m:t>−</m:t>
                                  </m:r>
                                  <m:r>
                                    <a:rPr lang="zh-CN" altLang="en-US" sz="1200" i="1">
                                      <a:latin typeface="Cambria Math" panose="02040503050406030204" pitchFamily="18" charset="0"/>
                                    </a:rPr>
                                    <m:t>𝑆</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r>
                                    <a:rPr lang="zh-CN" altLang="en-US" sz="1200" i="1">
                                      <a:latin typeface="Cambria Math" panose="02040503050406030204" pitchFamily="18" charset="0"/>
                                    </a:rPr>
                                    <m:t>𝐶</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e>
                                <m:e>
                                  <m:r>
                                    <a:rPr lang="zh-CN" altLang="en-US" sz="1200" i="1">
                                      <a:latin typeface="Cambria Math" panose="02040503050406030204" pitchFamily="18" charset="0"/>
                                    </a:rPr>
                                    <m:t>𝑆</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r>
                                    <a:rPr lang="zh-CN" altLang="en-US" sz="1200" i="1">
                                      <a:latin typeface="Cambria Math" panose="02040503050406030204" pitchFamily="18" charset="0"/>
                                    </a:rPr>
                                    <m:t>𝑆</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𝑎</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r>
                                    <a:rPr lang="zh-CN" altLang="en-US" sz="1200" i="1">
                                      <a:latin typeface="Cambria Math" panose="02040503050406030204" pitchFamily="18" charset="0"/>
                                    </a:rPr>
                                    <m:t>𝐶</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e>
                              </m:mr>
                              <m:mr>
                                <m:e>
                                  <m:r>
                                    <a:rPr lang="zh-CN" altLang="en-US" sz="1200" i="1">
                                      <a:latin typeface="Cambria Math" panose="02040503050406030204" pitchFamily="18" charset="0"/>
                                    </a:rPr>
                                    <m:t>𝑆</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e>
                                <m:e>
                                  <m:r>
                                    <a:rPr lang="zh-CN" altLang="en-US" sz="1200" i="1">
                                      <a:latin typeface="Cambria Math" panose="02040503050406030204" pitchFamily="18" charset="0"/>
                                    </a:rPr>
                                    <m:t>𝐶</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r>
                                    <a:rPr lang="zh-CN" altLang="en-US" sz="1200" i="1">
                                      <a:latin typeface="Cambria Math" panose="02040503050406030204" pitchFamily="18" charset="0"/>
                                    </a:rPr>
                                    <m:t>𝐶</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e>
                                <m:e>
                                  <m:r>
                                    <a:rPr lang="zh-CN" altLang="en-US" sz="1200" i="0">
                                      <a:latin typeface="Cambria Math" panose="02040503050406030204" pitchFamily="18" charset="0"/>
                                    </a:rPr>
                                    <m:t>−</m:t>
                                  </m:r>
                                  <m:r>
                                    <a:rPr lang="zh-CN" altLang="en-US" sz="1200" i="1">
                                      <a:latin typeface="Cambria Math" panose="02040503050406030204" pitchFamily="18" charset="0"/>
                                    </a:rPr>
                                    <m:t>𝐶</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r>
                                    <a:rPr lang="zh-CN" altLang="en-US" sz="1200" i="1">
                                      <a:latin typeface="Cambria Math" panose="02040503050406030204" pitchFamily="18" charset="0"/>
                                    </a:rPr>
                                    <m:t>𝑆</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𝑎</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r>
                                    <a:rPr lang="zh-CN" altLang="en-US" sz="1200" i="1">
                                      <a:latin typeface="Cambria Math" panose="02040503050406030204" pitchFamily="18" charset="0"/>
                                    </a:rPr>
                                    <m:t>𝑆</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e>
                              </m:mr>
                              <m:mr>
                                <m:e>
                                  <m:r>
                                    <a:rPr lang="zh-CN" altLang="en-US" sz="1200" i="0">
                                      <a:latin typeface="Cambria Math" panose="02040503050406030204" pitchFamily="18" charset="0"/>
                                    </a:rPr>
                                    <m:t>0</m:t>
                                  </m:r>
                                </m:e>
                                <m:e>
                                  <m:r>
                                    <a:rPr lang="zh-CN" altLang="en-US" sz="1200" i="1">
                                      <a:latin typeface="Cambria Math" panose="02040503050406030204" pitchFamily="18" charset="0"/>
                                    </a:rPr>
                                    <m:t>𝑆</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e>
                                <m:e>
                                  <m:r>
                                    <a:rPr lang="zh-CN" altLang="en-US" sz="1200" i="1">
                                      <a:latin typeface="Cambria Math" panose="02040503050406030204" pitchFamily="18" charset="0"/>
                                    </a:rPr>
                                    <m:t>𝐶</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e>
                              </m:mr>
                              <m:mr>
                                <m:e>
                                  <m:r>
                                    <a:rPr lang="zh-CN" altLang="en-US" sz="1200" i="0">
                                      <a:latin typeface="Cambria Math" panose="02040503050406030204" pitchFamily="18" charset="0"/>
                                    </a:rPr>
                                    <m:t>0</m:t>
                                  </m:r>
                                </m:e>
                                <m:e>
                                  <m:r>
                                    <a:rPr lang="zh-CN" altLang="en-US" sz="1200" i="0">
                                      <a:latin typeface="Cambria Math" panose="02040503050406030204" pitchFamily="18" charset="0"/>
                                    </a:rPr>
                                    <m:t>0</m:t>
                                  </m:r>
                                </m:e>
                                <m:e>
                                  <m:r>
                                    <a:rPr lang="zh-CN" altLang="en-US" sz="1200" i="0">
                                      <a:latin typeface="Cambria Math" panose="02040503050406030204" pitchFamily="18" charset="0"/>
                                    </a:rPr>
                                    <m:t>0</m:t>
                                  </m:r>
                                </m:e>
                                <m:e>
                                  <m:r>
                                    <a:rPr lang="zh-CN" altLang="en-US" sz="1200" i="0">
                                      <a:latin typeface="Cambria Math" panose="02040503050406030204" pitchFamily="18" charset="0"/>
                                    </a:rPr>
                                    <m:t>1</m:t>
                                  </m:r>
                                </m:e>
                              </m:mr>
                            </m:m>
                          </m:e>
                        </m:d>
                      </m:oMath>
                    </m:oMathPara>
                  </a14:m>
                  <a:endParaRPr lang="zh-CN" altLang="en-US" sz="1200" dirty="0"/>
                </a:p>
              </p:txBody>
            </p:sp>
          </mc:Choice>
          <mc:Fallback xmlns="">
            <p:sp>
              <p:nvSpPr>
                <p:cNvPr id="15" name="矩形 14"/>
                <p:cNvSpPr>
                  <a:spLocks noRot="1" noChangeAspect="1" noMove="1" noResize="1" noEditPoints="1" noAdjustHandles="1" noChangeArrowheads="1" noChangeShapeType="1" noTextEdit="1"/>
                </p:cNvSpPr>
                <p:nvPr/>
              </p:nvSpPr>
              <p:spPr>
                <a:xfrm>
                  <a:off x="429939" y="4027448"/>
                  <a:ext cx="4420826" cy="782715"/>
                </a:xfrm>
                <a:prstGeom prst="rect">
                  <a:avLst/>
                </a:prstGeom>
                <a:blipFill>
                  <a:blip r:embed="rId7"/>
                  <a:stretch>
                    <a:fillRect r="-1458" b="-34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4686703" y="3730073"/>
                  <a:ext cx="4571999" cy="267446"/>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d>
                          <m:dPr>
                            <m:begChr m:val=""/>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sPre>
                                  <m:sPrePr>
                                    <m:ctrlPr>
                                      <a:rPr lang="zh-CN" altLang="en-US" sz="1000" i="1">
                                        <a:latin typeface="Cambria Math" panose="02040503050406030204" pitchFamily="18" charset="0"/>
                                      </a:rPr>
                                    </m:ctrlPr>
                                  </m:sPrePr>
                                  <m:sub/>
                                  <m:sup>
                                    <m:r>
                                      <a:rPr lang="zh-CN" altLang="en-US" sz="1000" i="1">
                                        <a:latin typeface="Cambria Math" panose="02040503050406030204" pitchFamily="18" charset="0"/>
                                      </a:rPr>
                                      <m:t>𝑛</m:t>
                                    </m:r>
                                    <m:r>
                                      <a:rPr lang="zh-CN" altLang="en-US" sz="1000" i="0">
                                        <a:latin typeface="Cambria Math" panose="02040503050406030204" pitchFamily="18" charset="0"/>
                                      </a:rPr>
                                      <m:t>−1</m:t>
                                    </m:r>
                                  </m:sup>
                                  <m:e>
                                    <m:r>
                                      <a:rPr lang="zh-CN" altLang="en-US" sz="1000" i="1">
                                        <a:latin typeface="Cambria Math" panose="02040503050406030204" pitchFamily="18" charset="0"/>
                                      </a:rPr>
                                      <m:t>𝑇</m:t>
                                    </m:r>
                                  </m:e>
                                </m:sPre>
                              </m:e>
                              <m:sub>
                                <m:r>
                                  <a:rPr lang="zh-CN" altLang="en-US" sz="1000" i="1">
                                    <a:latin typeface="Cambria Math" panose="02040503050406030204" pitchFamily="18" charset="0"/>
                                  </a:rPr>
                                  <m:t>𝑛</m:t>
                                </m:r>
                              </m:sub>
                            </m:sSub>
                            <m:r>
                              <a:rPr lang="zh-CN" altLang="en-US" sz="1000" i="0">
                                <a:latin typeface="Cambria Math" panose="02040503050406030204" pitchFamily="18" charset="0"/>
                              </a:rPr>
                              <m:t>=</m:t>
                            </m:r>
                            <m:r>
                              <a:rPr lang="zh-CN" altLang="en-US" sz="1000" i="1">
                                <a:latin typeface="Cambria Math" panose="02040503050406030204" pitchFamily="18" charset="0"/>
                              </a:rPr>
                              <m:t>𝑅𝑜𝑡</m:t>
                            </m:r>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𝑥</m:t>
                                </m:r>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𝛼</m:t>
                                </m:r>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r>
                              <a:rPr lang="zh-CN" altLang="en-US" sz="1000" i="0">
                                <a:latin typeface="Cambria Math" panose="02040503050406030204" pitchFamily="18" charset="0"/>
                              </a:rPr>
                              <m:t>)∙</m:t>
                            </m:r>
                            <m:r>
                              <a:rPr lang="zh-CN" altLang="en-US" sz="1000" i="1">
                                <a:latin typeface="Cambria Math" panose="02040503050406030204" pitchFamily="18" charset="0"/>
                              </a:rPr>
                              <m:t>𝑇𝑟𝑎𝑛𝑠</m:t>
                            </m:r>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𝑥</m:t>
                                </m:r>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𝑎</m:t>
                                </m:r>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r>
                              <a:rPr lang="zh-CN" altLang="en-US" sz="1000" i="0">
                                <a:latin typeface="Cambria Math" panose="02040503050406030204" pitchFamily="18" charset="0"/>
                              </a:rPr>
                              <m:t>)∙</m:t>
                            </m:r>
                            <m:r>
                              <a:rPr lang="zh-CN" altLang="en-US" sz="1000" i="1">
                                <a:latin typeface="Cambria Math" panose="02040503050406030204" pitchFamily="18" charset="0"/>
                              </a:rPr>
                              <m:t>𝑅𝑜𝑡</m:t>
                            </m:r>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𝑧</m:t>
                                </m:r>
                              </m:e>
                              <m:sub>
                                <m:r>
                                  <a:rPr lang="zh-CN" altLang="en-US" sz="1000" i="1">
                                    <a:latin typeface="Cambria Math" panose="02040503050406030204" pitchFamily="18" charset="0"/>
                                  </a:rPr>
                                  <m:t>𝑛</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1">
                                    <a:latin typeface="Cambria Math" panose="02040503050406030204" pitchFamily="18" charset="0"/>
                                  </a:rPr>
                                  <m:t>𝑛</m:t>
                                </m:r>
                              </m:sub>
                            </m:sSub>
                            <m:r>
                              <a:rPr lang="zh-CN" altLang="en-US" sz="1000" i="0">
                                <a:latin typeface="Cambria Math" panose="02040503050406030204" pitchFamily="18" charset="0"/>
                              </a:rPr>
                              <m:t>)∙</m:t>
                            </m:r>
                            <m:r>
                              <a:rPr lang="zh-CN" altLang="en-US" sz="1000" i="1">
                                <a:latin typeface="Cambria Math" panose="02040503050406030204" pitchFamily="18" charset="0"/>
                              </a:rPr>
                              <m:t>𝑇𝑟𝑎𝑛𝑠</m:t>
                            </m:r>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𝑧</m:t>
                                </m:r>
                              </m:e>
                              <m:sub>
                                <m:r>
                                  <a:rPr lang="zh-CN" altLang="en-US" sz="1000" i="1">
                                    <a:latin typeface="Cambria Math" panose="02040503050406030204" pitchFamily="18" charset="0"/>
                                  </a:rPr>
                                  <m:t>𝑛</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1">
                                    <a:latin typeface="Cambria Math" panose="02040503050406030204" pitchFamily="18" charset="0"/>
                                  </a:rPr>
                                  <m:t>𝑛</m:t>
                                </m:r>
                              </m:sub>
                            </m:sSub>
                          </m:e>
                        </m:d>
                      </m:oMath>
                    </m:oMathPara>
                  </a14:m>
                  <a:endParaRPr lang="zh-CN" altLang="en-US" sz="1000" dirty="0"/>
                </a:p>
              </p:txBody>
            </p:sp>
          </mc:Choice>
          <mc:Fallback xmlns="">
            <p:sp>
              <p:nvSpPr>
                <p:cNvPr id="16" name="矩形 15"/>
                <p:cNvSpPr>
                  <a:spLocks noRot="1" noChangeAspect="1" noMove="1" noResize="1" noEditPoints="1" noAdjustHandles="1" noChangeArrowheads="1" noChangeShapeType="1" noTextEdit="1"/>
                </p:cNvSpPr>
                <p:nvPr/>
              </p:nvSpPr>
              <p:spPr>
                <a:xfrm>
                  <a:off x="4686703" y="3730073"/>
                  <a:ext cx="4571999" cy="267446"/>
                </a:xfrm>
                <a:prstGeom prst="rect">
                  <a:avLst/>
                </a:prstGeom>
                <a:blipFill>
                  <a:blip r:embed="rId8"/>
                  <a:stretch>
                    <a:fillRect t="-141026" r="-6901" b="-2282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8" name="对象 17"/>
                <p:cNvGraphicFramePr>
                  <a:graphicFrameLocks noChangeAspect="1"/>
                </p:cNvGraphicFramePr>
                <p:nvPr>
                  <p:extLst>
                    <p:ext uri="{D42A27DB-BD31-4B8C-83A1-F6EECF244321}">
                      <p14:modId xmlns:p14="http://schemas.microsoft.com/office/powerpoint/2010/main" val="97883168"/>
                    </p:ext>
                  </p:extLst>
                </p:nvPr>
              </p:nvGraphicFramePr>
              <p:xfrm>
                <a:off x="5154147" y="4026220"/>
                <a:ext cx="3495675" cy="914400"/>
              </p:xfrm>
              <a:graphic>
                <a:graphicData uri="http://schemas.openxmlformats.org/presentationml/2006/ole">
                  <mc:AlternateContent>
                    <mc:Choice xmlns:v="urn:schemas-microsoft-com:vml" Requires="v">
                      <p:oleObj spid="_x0000_s6281" r:id="rId9" imgW="3924300" imgH="914400" progId="Equation.DSMT4">
                        <p:embed/>
                      </p:oleObj>
                    </mc:Choice>
                    <mc:Fallback>
                      <p:oleObj r:id="rId9" imgW="3924300" imgH="914400" progId="Equation.DSMT4">
                        <p:embed/>
                        <p:pic>
                          <p:nvPicPr>
                            <p:cNvPr id="0" name="Object 3"/>
                            <p:cNvPicPr>
                              <a:picLocks noChangeAspect="1" noChangeArrowheads="1"/>
                            </p:cNvPicPr>
                            <p:nvPr/>
                          </p:nvPicPr>
                          <p:blipFill>
                            <a:blip r:embed="rId10">
                              <a:extLst>
                                <a:ext uri="{28A0092B-C50C-407E-A947-70E740481C1C}">
                                  <a14:useLocalDpi val="0"/>
                                </a:ext>
                              </a:extLst>
                            </a:blip>
                            <a:srcRect/>
                            <a:stretch>
                              <a:fillRect/>
                            </a:stretch>
                          </p:blipFill>
                          <p:spPr bwMode="auto">
                            <a:xfrm>
                              <a:off x="5154147" y="4026220"/>
                              <a:ext cx="3495675" cy="914400"/>
                            </a:xfrm>
                            <a:prstGeom prst="rect">
                              <a:avLst/>
                            </a:prstGeom>
                            <a:noFill/>
                            <a:extLst>
                              <a:ext uri="{909E8E84-426E-40DD-AFC4-6F175D3DCCD1}">
                                <a14:hiddenFill>
                                  <a:solidFill>
                                    <a:srgbClr val="FFFFFF"/>
                                  </a:solidFill>
                                </a14:hiddenFill>
                              </a:ext>
                            </a:extLst>
                          </p:spPr>
                        </p:pic>
                      </p:oleObj>
                    </mc:Fallback>
                  </mc:AlternateContent>
                </a:graphicData>
              </a:graphic>
            </p:graphicFrame>
          </mc:Choice>
          <mc:Fallback xmlns="">
            <p:graphicFrame>
              <p:nvGraphicFramePr>
                <p:cNvPr id="18" name="对象 17"/>
                <p:cNvGraphicFramePr>
                  <a:graphicFrameLocks noChangeAspect="1"/>
                </p:cNvGraphicFramePr>
                <p:nvPr>
                  <p:extLst>
                    <p:ext uri="{D42A27DB-BD31-4B8C-83A1-F6EECF244321}">
                      <p14:modId xmlns:p14="http://schemas.microsoft.com/office/powerpoint/2010/main" val="97883168"/>
                    </p:ext>
                  </p:extLst>
                </p:nvPr>
              </p:nvGraphicFramePr>
              <p:xfrm>
                <a:off x="5154147" y="4026220"/>
                <a:ext cx="3495675" cy="914400"/>
              </p:xfrm>
              <a:graphic>
                <a:graphicData uri="http://schemas.openxmlformats.org/presentationml/2006/ole">
                  <mc:AlternateContent>
                    <mc:Choice xmlns:v="urn:schemas-microsoft-com:vml" Requires="v">
                      <p:oleObj spid="_x0000_s6278" r:id="rId11" imgW="3924300" imgH="914400" progId="Equation.DSMT4">
                        <p:embed/>
                      </p:oleObj>
                    </mc:Choice>
                    <mc:Fallback>
                      <p:oleObj r:id="rId11" imgW="3924300" imgH="914400" progId="Equation.DSMT4">
                        <p:embed/>
                        <p:pic>
                          <p:nvPicPr>
                            <p:cNvPr id="0"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54147" y="4026220"/>
                              <a:ext cx="3495675"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Fallback>
        </mc:AlternateContent>
      </p:grpSp>
      <p:sp>
        <p:nvSpPr>
          <p:cNvPr id="3" name="矩形 2"/>
          <p:cNvSpPr/>
          <p:nvPr/>
        </p:nvSpPr>
        <p:spPr>
          <a:xfrm>
            <a:off x="1764048" y="4745917"/>
            <a:ext cx="6186309" cy="369332"/>
          </a:xfrm>
          <a:prstGeom prst="rect">
            <a:avLst/>
          </a:prstGeom>
        </p:spPr>
        <p:txBody>
          <a:bodyPr wrap="none">
            <a:spAutoFit/>
          </a:bodyPr>
          <a:lstStyle/>
          <a:p>
            <a:r>
              <a:rPr lang="zh-CN" altLang="zh-CN" dirty="0">
                <a:solidFill>
                  <a:srgbClr val="FF0000"/>
                </a:solidFill>
              </a:rPr>
              <a:t>设想一下，如果一个连杆有两个</a:t>
            </a:r>
            <a:r>
              <a:rPr lang="zh-CN" altLang="zh-CN" dirty="0" smtClean="0">
                <a:solidFill>
                  <a:srgbClr val="FF0000"/>
                </a:solidFill>
              </a:rPr>
              <a:t>输出</a:t>
            </a:r>
            <a:r>
              <a:rPr lang="zh-CN" altLang="en-US" dirty="0" smtClean="0">
                <a:solidFill>
                  <a:srgbClr val="FF0000"/>
                </a:solidFill>
              </a:rPr>
              <a:t>，该采用哪种表示法？</a:t>
            </a:r>
            <a:endParaRPr lang="zh-CN" altLang="en-US" dirty="0">
              <a:solidFill>
                <a:srgbClr val="FF0000"/>
              </a:solidFill>
            </a:endParaRPr>
          </a:p>
        </p:txBody>
      </p:sp>
    </p:spTree>
    <p:extLst>
      <p:ext uri="{BB962C8B-B14F-4D97-AF65-F5344CB8AC3E}">
        <p14:creationId xmlns:p14="http://schemas.microsoft.com/office/powerpoint/2010/main" val="36867638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36220" y="219075"/>
            <a:ext cx="5153660" cy="598805"/>
            <a:chOff x="-372" y="345"/>
            <a:chExt cx="8116" cy="943"/>
          </a:xfrm>
        </p:grpSpPr>
        <p:sp>
          <p:nvSpPr>
            <p:cNvPr id="9" name="矩形 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D-H </a:t>
              </a:r>
              <a:r>
                <a:rPr lang="en-US" altLang="zh-CN" sz="1000" dirty="0" smtClean="0">
                  <a:latin typeface="Arial" panose="020B0604020202020204" pitchFamily="34" charset="0"/>
                  <a:ea typeface="微软雅黑" panose="020B0503020204020204" charset="-122"/>
                  <a:sym typeface="+mn-ea"/>
                </a:rPr>
                <a:t>Notation in Robotics</a:t>
              </a:r>
              <a:endParaRPr lang="en-US" altLang="zh-CN" sz="1000" dirty="0">
                <a:latin typeface="Arial" panose="020B0604020202020204" pitchFamily="34" charset="0"/>
                <a:ea typeface="微软雅黑" panose="020B0503020204020204" charset="-122"/>
                <a:sym typeface="+mn-ea"/>
              </a:endParaRPr>
            </a:p>
          </p:txBody>
        </p:sp>
        <p:sp>
          <p:nvSpPr>
            <p:cNvPr id="10" name="文本框 9"/>
            <p:cNvSpPr txBox="1"/>
            <p:nvPr/>
          </p:nvSpPr>
          <p:spPr>
            <a:xfrm>
              <a:off x="443" y="363"/>
              <a:ext cx="7301" cy="628"/>
            </a:xfrm>
            <a:prstGeom prst="rect">
              <a:avLst/>
            </a:prstGeom>
            <a:noFill/>
          </p:spPr>
          <p:txBody>
            <a:bodyPr wrap="square" rtlCol="0" anchor="t">
              <a:spAutoFit/>
            </a:bodyPr>
            <a:lstStyle/>
            <a:p>
              <a:r>
                <a:rPr lang="en-US" altLang="zh-CN" sz="2000" b="1" dirty="0" smtClean="0">
                  <a:latin typeface="Arial" panose="020B0604020202020204" pitchFamily="34" charset="0"/>
                  <a:ea typeface="微软雅黑" panose="020B0503020204020204" charset="-122"/>
                  <a:sym typeface="+mn-ea"/>
                </a:rPr>
                <a:t>D-H</a:t>
              </a:r>
              <a:r>
                <a:rPr lang="zh-CN" altLang="en-US" sz="2000" b="1" dirty="0" smtClean="0">
                  <a:latin typeface="Arial" panose="020B0604020202020204" pitchFamily="34" charset="0"/>
                  <a:ea typeface="微软雅黑" panose="020B0503020204020204" charset="-122"/>
                  <a:sym typeface="+mn-ea"/>
                </a:rPr>
                <a:t>表示法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1" name="椭圆 1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extLst>
                  <p:ext uri="{D42A27DB-BD31-4B8C-83A1-F6EECF244321}">
                    <p14:modId xmlns:p14="http://schemas.microsoft.com/office/powerpoint/2010/main" val="3131961114"/>
                  </p:ext>
                </p:extLst>
              </p:nvPr>
            </p:nvGraphicFramePr>
            <p:xfrm>
              <a:off x="683569" y="982418"/>
              <a:ext cx="7831152" cy="2559060"/>
            </p:xfrm>
            <a:graphic>
              <a:graphicData uri="http://schemas.openxmlformats.org/drawingml/2006/table">
                <a:tbl>
                  <a:tblPr firstRow="1" firstCol="1" bandRow="1">
                    <a:tableStyleId>{5C22544A-7EE6-4342-B048-85BDC9FD1C3A}</a:tableStyleId>
                  </a:tblPr>
                  <a:tblGrid>
                    <a:gridCol w="1578148">
                      <a:extLst>
                        <a:ext uri="{9D8B030D-6E8A-4147-A177-3AD203B41FA5}">
                          <a16:colId xmlns:a16="http://schemas.microsoft.com/office/drawing/2014/main" val="460786432"/>
                        </a:ext>
                      </a:extLst>
                    </a:gridCol>
                    <a:gridCol w="3170262">
                      <a:extLst>
                        <a:ext uri="{9D8B030D-6E8A-4147-A177-3AD203B41FA5}">
                          <a16:colId xmlns:a16="http://schemas.microsoft.com/office/drawing/2014/main" val="221183099"/>
                        </a:ext>
                      </a:extLst>
                    </a:gridCol>
                    <a:gridCol w="3082742">
                      <a:extLst>
                        <a:ext uri="{9D8B030D-6E8A-4147-A177-3AD203B41FA5}">
                          <a16:colId xmlns:a16="http://schemas.microsoft.com/office/drawing/2014/main" val="2267119621"/>
                        </a:ext>
                      </a:extLst>
                    </a:gridCol>
                  </a:tblGrid>
                  <a:tr h="229604">
                    <a:tc>
                      <a:txBody>
                        <a:bodyPr/>
                        <a:lstStyle/>
                        <a:p>
                          <a:pPr algn="just">
                            <a:lnSpc>
                              <a:spcPct val="125000"/>
                            </a:lnSpc>
                            <a:spcAft>
                              <a:spcPts val="600"/>
                            </a:spcAft>
                          </a:pPr>
                          <a:r>
                            <a:rPr lang="zh-CN" sz="1200" kern="100">
                              <a:effectLst/>
                            </a:rPr>
                            <a:t>不同</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en-US" sz="1200" kern="100">
                              <a:effectLst/>
                            </a:rPr>
                            <a:t>Standard D-H</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en-US" sz="1200" kern="100">
                              <a:effectLst/>
                            </a:rPr>
                            <a:t>Modified D-H</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17326587"/>
                      </a:ext>
                    </a:extLst>
                  </a:tr>
                  <a:tr h="473923">
                    <a:tc>
                      <a:txBody>
                        <a:bodyPr/>
                        <a:lstStyle/>
                        <a:p>
                          <a:pPr algn="just">
                            <a:lnSpc>
                              <a:spcPct val="125000"/>
                            </a:lnSpc>
                            <a:spcAft>
                              <a:spcPts val="600"/>
                            </a:spcAft>
                          </a:pPr>
                          <a:r>
                            <a:rPr lang="zh-CN" sz="1200" kern="100">
                              <a:effectLst/>
                            </a:rPr>
                            <a:t>连杆坐标系（原点）建立</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200" kern="100">
                              <a:effectLst/>
                            </a:rPr>
                            <a:t>以连杆输出端（后一个关节）为固连坐标系</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200" kern="100">
                              <a:effectLst/>
                            </a:rPr>
                            <a:t>以连杆输入端（前一个关节）为固连坐标系</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699318984"/>
                      </a:ext>
                    </a:extLst>
                  </a:tr>
                  <a:tr h="1381610">
                    <a:tc>
                      <a:txBody>
                        <a:bodyPr/>
                        <a:lstStyle/>
                        <a:p>
                          <a:pPr algn="just">
                            <a:lnSpc>
                              <a:spcPct val="125000"/>
                            </a:lnSpc>
                            <a:spcAft>
                              <a:spcPts val="600"/>
                            </a:spcAft>
                          </a:pPr>
                          <a:r>
                            <a:rPr lang="en-US" sz="1200" kern="100">
                              <a:effectLst/>
                            </a:rPr>
                            <a:t>X</a:t>
                          </a:r>
                          <a:r>
                            <a:rPr lang="zh-CN" sz="1200" kern="100">
                              <a:effectLst/>
                            </a:rPr>
                            <a:t>轴方向</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lnSpc>
                              <a:spcPct val="125000"/>
                            </a:lnSpc>
                            <a:spcAft>
                              <a:spcPts val="600"/>
                            </a:spcAft>
                          </a:pPr>
                          <a14:m>
                            <m:oMath xmlns:m="http://schemas.openxmlformats.org/officeDocument/2006/math">
                              <m:sSub>
                                <m:sSubPr>
                                  <m:ctrlPr>
                                    <a:rPr lang="zh-CN" sz="1200" i="1" kern="100">
                                      <a:effectLst/>
                                      <a:latin typeface="Cambria Math" panose="02040503050406030204" pitchFamily="18" charset="0"/>
                                    </a:rPr>
                                  </m:ctrlPr>
                                </m:sSubPr>
                                <m:e>
                                  <m:r>
                                    <m:rPr>
                                      <m:sty m:val="p"/>
                                    </m:rPr>
                                    <a:rPr lang="en-US" sz="1200" kern="100">
                                      <a:effectLst/>
                                      <a:latin typeface="Cambria Math" panose="02040503050406030204" pitchFamily="18" charset="0"/>
                                    </a:rPr>
                                    <m:t>Z</m:t>
                                  </m:r>
                                </m:e>
                                <m:sub>
                                  <m:r>
                                    <a:rPr lang="en-US" sz="1200" kern="100">
                                      <a:effectLst/>
                                      <a:latin typeface="Cambria Math" panose="02040503050406030204" pitchFamily="18" charset="0"/>
                                    </a:rPr>
                                    <m:t>𝑖</m:t>
                                  </m:r>
                                  <m:r>
                                    <a:rPr lang="zh-CN" altLang="en-US" sz="1200" kern="100">
                                      <a:effectLst/>
                                      <a:latin typeface="Cambria Math" panose="02040503050406030204" pitchFamily="18" charset="0"/>
                                    </a:rPr>
                                    <m:t>−</m:t>
                                  </m:r>
                                  <m:r>
                                    <a:rPr lang="en-US" sz="1200" kern="100">
                                      <a:effectLst/>
                                      <a:latin typeface="Cambria Math" panose="02040503050406030204" pitchFamily="18" charset="0"/>
                                    </a:rPr>
                                    <m:t>1</m:t>
                                  </m:r>
                                </m:sub>
                              </m:sSub>
                            </m:oMath>
                          </a14:m>
                          <a:r>
                            <a:rPr lang="zh-CN" sz="1200" kern="100">
                              <a:effectLst/>
                            </a:rPr>
                            <a:t>轴</a:t>
                          </a:r>
                          <a:r>
                            <a:rPr lang="en-US" sz="1200" kern="100">
                              <a:effectLst/>
                            </a:rPr>
                            <a:t>=</a:t>
                          </a:r>
                          <a:r>
                            <a:rPr lang="zh-CN" sz="1200" kern="100">
                              <a:effectLst/>
                            </a:rPr>
                            <a:t>关节</a:t>
                          </a:r>
                          <a:r>
                            <a:rPr lang="en-US" sz="1200" kern="100">
                              <a:effectLst/>
                            </a:rPr>
                            <a:t>i</a:t>
                          </a:r>
                          <a:r>
                            <a:rPr lang="zh-CN" sz="1200" kern="100">
                              <a:effectLst/>
                            </a:rPr>
                            <a:t>指向</a:t>
                          </a:r>
                        </a:p>
                        <a:p>
                          <a:pPr algn="just">
                            <a:lnSpc>
                              <a:spcPct val="125000"/>
                            </a:lnSpc>
                            <a:spcAft>
                              <a:spcPts val="600"/>
                            </a:spcAft>
                          </a:pPr>
                          <a14:m>
                            <m:oMath xmlns:m="http://schemas.openxmlformats.org/officeDocument/2006/math">
                              <m:sSub>
                                <m:sSubPr>
                                  <m:ctrlPr>
                                    <a:rPr lang="zh-CN" sz="1200" i="1" kern="100">
                                      <a:effectLst/>
                                      <a:latin typeface="Cambria Math" panose="02040503050406030204" pitchFamily="18" charset="0"/>
                                    </a:rPr>
                                  </m:ctrlPr>
                                </m:sSubPr>
                                <m:e>
                                  <m:r>
                                    <m:rPr>
                                      <m:sty m:val="p"/>
                                    </m:rPr>
                                    <a:rPr lang="en-US" sz="1200" kern="100">
                                      <a:effectLst/>
                                      <a:latin typeface="Cambria Math" panose="02040503050406030204" pitchFamily="18" charset="0"/>
                                    </a:rPr>
                                    <m:t>X</m:t>
                                  </m:r>
                                </m:e>
                                <m:sub>
                                  <m:r>
                                    <a:rPr lang="en-US" sz="1200" kern="100">
                                      <a:effectLst/>
                                      <a:latin typeface="Cambria Math" panose="02040503050406030204" pitchFamily="18" charset="0"/>
                                    </a:rPr>
                                    <m:t>𝑖</m:t>
                                  </m:r>
                                  <m:r>
                                    <a:rPr lang="zh-CN" altLang="en-US" sz="1200" kern="100">
                                      <a:effectLst/>
                                      <a:latin typeface="Cambria Math" panose="02040503050406030204" pitchFamily="18" charset="0"/>
                                    </a:rPr>
                                    <m:t>−</m:t>
                                  </m:r>
                                  <m:r>
                                    <a:rPr lang="en-US" sz="1200" kern="100">
                                      <a:effectLst/>
                                      <a:latin typeface="Cambria Math" panose="02040503050406030204" pitchFamily="18" charset="0"/>
                                    </a:rPr>
                                    <m:t>1</m:t>
                                  </m:r>
                                </m:sub>
                              </m:sSub>
                            </m:oMath>
                          </a14:m>
                          <a:r>
                            <a:rPr lang="zh-CN" sz="1200" kern="100">
                              <a:effectLst/>
                            </a:rPr>
                            <a:t>轴沿关节</a:t>
                          </a:r>
                          <a:r>
                            <a:rPr lang="en-US" sz="1200" kern="100">
                              <a:effectLst/>
                            </a:rPr>
                            <a:t>i</a:t>
                          </a:r>
                          <a:r>
                            <a:rPr lang="zh-CN" sz="1200" kern="100">
                              <a:effectLst/>
                            </a:rPr>
                            <a:t>和关节</a:t>
                          </a:r>
                          <a:r>
                            <a:rPr lang="en-US" sz="1200" kern="100">
                              <a:effectLst/>
                            </a:rPr>
                            <a:t>i+1</a:t>
                          </a:r>
                          <a:r>
                            <a:rPr lang="zh-CN" sz="1200" kern="100">
                              <a:effectLst/>
                            </a:rPr>
                            <a:t>公垂线，或者垂直于关节</a:t>
                          </a:r>
                          <a:r>
                            <a:rPr lang="en-US" sz="1200" kern="100">
                              <a:effectLst/>
                            </a:rPr>
                            <a:t>i</a:t>
                          </a:r>
                          <a:r>
                            <a:rPr lang="zh-CN" sz="1200" kern="100">
                              <a:effectLst/>
                            </a:rPr>
                            <a:t>和关节</a:t>
                          </a:r>
                          <a:r>
                            <a:rPr lang="en-US" sz="1200" kern="100">
                              <a:effectLst/>
                            </a:rPr>
                            <a:t>i+1</a:t>
                          </a:r>
                          <a:r>
                            <a:rPr lang="zh-CN" sz="1200" kern="100">
                              <a:effectLst/>
                            </a:rPr>
                            <a:t>所在的平面</a:t>
                          </a:r>
                        </a:p>
                        <a:p>
                          <a:pPr algn="just">
                            <a:lnSpc>
                              <a:spcPct val="125000"/>
                            </a:lnSpc>
                            <a:spcAft>
                              <a:spcPts val="600"/>
                            </a:spcAft>
                          </a:pPr>
                          <a:r>
                            <a:rPr lang="zh-CN" sz="1200" kern="100">
                              <a:effectLst/>
                            </a:rPr>
                            <a:t>右手法则确定</a:t>
                          </a:r>
                          <a:r>
                            <a:rPr lang="en-US" sz="1200" kern="100">
                              <a:effectLst/>
                            </a:rPr>
                            <a:t>Yi-1</a:t>
                          </a:r>
                          <a:r>
                            <a:rPr lang="zh-CN" sz="1200" kern="100">
                              <a:effectLst/>
                            </a:rPr>
                            <a:t>轴</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lnSpc>
                              <a:spcPct val="125000"/>
                            </a:lnSpc>
                            <a:spcAft>
                              <a:spcPts val="600"/>
                            </a:spcAft>
                          </a:pPr>
                          <a14:m>
                            <m:oMath xmlns:m="http://schemas.openxmlformats.org/officeDocument/2006/math">
                              <m:sSub>
                                <m:sSubPr>
                                  <m:ctrlPr>
                                    <a:rPr lang="zh-CN" sz="1200" i="1" kern="100">
                                      <a:effectLst/>
                                      <a:latin typeface="Cambria Math" panose="02040503050406030204" pitchFamily="18" charset="0"/>
                                    </a:rPr>
                                  </m:ctrlPr>
                                </m:sSubPr>
                                <m:e>
                                  <m:r>
                                    <m:rPr>
                                      <m:sty m:val="p"/>
                                    </m:rPr>
                                    <a:rPr lang="en-US" sz="1200" kern="100">
                                      <a:effectLst/>
                                      <a:latin typeface="Cambria Math" panose="02040503050406030204" pitchFamily="18" charset="0"/>
                                    </a:rPr>
                                    <m:t>Z</m:t>
                                  </m:r>
                                </m:e>
                                <m:sub>
                                  <m:r>
                                    <a:rPr lang="en-US" sz="1200" kern="100">
                                      <a:effectLst/>
                                      <a:latin typeface="Cambria Math" panose="02040503050406030204" pitchFamily="18" charset="0"/>
                                    </a:rPr>
                                    <m:t>𝑖</m:t>
                                  </m:r>
                                </m:sub>
                              </m:sSub>
                            </m:oMath>
                          </a14:m>
                          <a:r>
                            <a:rPr lang="zh-CN" sz="1200" kern="100">
                              <a:effectLst/>
                            </a:rPr>
                            <a:t>轴</a:t>
                          </a:r>
                          <a:r>
                            <a:rPr lang="en-US" sz="1200" kern="100">
                              <a:effectLst/>
                            </a:rPr>
                            <a:t>=</a:t>
                          </a:r>
                          <a:r>
                            <a:rPr lang="zh-CN" sz="1200" kern="100">
                              <a:effectLst/>
                            </a:rPr>
                            <a:t>关节</a:t>
                          </a:r>
                          <a:r>
                            <a:rPr lang="en-US" sz="1200" kern="100">
                              <a:effectLst/>
                            </a:rPr>
                            <a:t>i</a:t>
                          </a:r>
                          <a:r>
                            <a:rPr lang="zh-CN" sz="1200" kern="100">
                              <a:effectLst/>
                            </a:rPr>
                            <a:t>指向</a:t>
                          </a:r>
                        </a:p>
                        <a:p>
                          <a:pPr algn="just">
                            <a:lnSpc>
                              <a:spcPct val="125000"/>
                            </a:lnSpc>
                            <a:spcAft>
                              <a:spcPts val="600"/>
                            </a:spcAft>
                          </a:pPr>
                          <a14:m>
                            <m:oMath xmlns:m="http://schemas.openxmlformats.org/officeDocument/2006/math">
                              <m:sSub>
                                <m:sSubPr>
                                  <m:ctrlPr>
                                    <a:rPr lang="zh-CN" sz="1200" i="1" kern="100">
                                      <a:effectLst/>
                                      <a:latin typeface="Cambria Math" panose="02040503050406030204" pitchFamily="18" charset="0"/>
                                    </a:rPr>
                                  </m:ctrlPr>
                                </m:sSubPr>
                                <m:e>
                                  <m:r>
                                    <m:rPr>
                                      <m:sty m:val="p"/>
                                    </m:rPr>
                                    <a:rPr lang="en-US" sz="1200" kern="100">
                                      <a:effectLst/>
                                      <a:latin typeface="Cambria Math" panose="02040503050406030204" pitchFamily="18" charset="0"/>
                                    </a:rPr>
                                    <m:t>X</m:t>
                                  </m:r>
                                </m:e>
                                <m:sub>
                                  <m:r>
                                    <a:rPr lang="en-US" sz="1200" kern="100">
                                      <a:effectLst/>
                                      <a:latin typeface="Cambria Math" panose="02040503050406030204" pitchFamily="18" charset="0"/>
                                    </a:rPr>
                                    <m:t>𝑖</m:t>
                                  </m:r>
                                </m:sub>
                              </m:sSub>
                            </m:oMath>
                          </a14:m>
                          <a:r>
                            <a:rPr lang="zh-CN" sz="1200" kern="100">
                              <a:effectLst/>
                            </a:rPr>
                            <a:t>轴沿关节</a:t>
                          </a:r>
                          <a:r>
                            <a:rPr lang="en-US" sz="1200" kern="100">
                              <a:effectLst/>
                            </a:rPr>
                            <a:t>i</a:t>
                          </a:r>
                          <a:r>
                            <a:rPr lang="zh-CN" sz="1200" kern="100">
                              <a:effectLst/>
                            </a:rPr>
                            <a:t>和关节</a:t>
                          </a:r>
                          <a:r>
                            <a:rPr lang="en-US" sz="1200" kern="100">
                              <a:effectLst/>
                            </a:rPr>
                            <a:t>i+1</a:t>
                          </a:r>
                          <a:r>
                            <a:rPr lang="zh-CN" sz="1200" kern="100">
                              <a:effectLst/>
                            </a:rPr>
                            <a:t>公垂线，或者垂直于关节</a:t>
                          </a:r>
                          <a:r>
                            <a:rPr lang="en-US" sz="1200" kern="100">
                              <a:effectLst/>
                            </a:rPr>
                            <a:t>i</a:t>
                          </a:r>
                          <a:r>
                            <a:rPr lang="zh-CN" sz="1200" kern="100">
                              <a:effectLst/>
                            </a:rPr>
                            <a:t>和关节</a:t>
                          </a:r>
                          <a:r>
                            <a:rPr lang="en-US" sz="1200" kern="100">
                              <a:effectLst/>
                            </a:rPr>
                            <a:t>i+1</a:t>
                          </a:r>
                          <a:r>
                            <a:rPr lang="zh-CN" sz="1200" kern="100">
                              <a:effectLst/>
                            </a:rPr>
                            <a:t>所在的平面</a:t>
                          </a:r>
                        </a:p>
                        <a:p>
                          <a:pPr algn="just">
                            <a:lnSpc>
                              <a:spcPct val="125000"/>
                            </a:lnSpc>
                            <a:spcAft>
                              <a:spcPts val="600"/>
                            </a:spcAft>
                          </a:pPr>
                          <a:r>
                            <a:rPr lang="zh-CN" sz="1200" kern="100">
                              <a:effectLst/>
                            </a:rPr>
                            <a:t>右手法则确定</a:t>
                          </a:r>
                          <a:r>
                            <a:rPr lang="en-US" sz="1200" kern="100">
                              <a:effectLst/>
                            </a:rPr>
                            <a:t>Yi</a:t>
                          </a:r>
                          <a:r>
                            <a:rPr lang="zh-CN" sz="1200" kern="100">
                              <a:effectLst/>
                            </a:rPr>
                            <a:t>轴</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31002159"/>
                      </a:ext>
                    </a:extLst>
                  </a:tr>
                  <a:tr h="473923">
                    <a:tc>
                      <a:txBody>
                        <a:bodyPr/>
                        <a:lstStyle/>
                        <a:p>
                          <a:pPr algn="just">
                            <a:lnSpc>
                              <a:spcPct val="125000"/>
                            </a:lnSpc>
                            <a:spcAft>
                              <a:spcPts val="600"/>
                            </a:spcAft>
                          </a:pPr>
                          <a:r>
                            <a:rPr lang="zh-CN" sz="1200" kern="100">
                              <a:effectLst/>
                            </a:rPr>
                            <a:t>相连关节之间的变换顺序</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200" kern="100">
                              <a:effectLst/>
                            </a:rPr>
                            <a:t>θ，</a:t>
                          </a:r>
                          <a:r>
                            <a:rPr lang="en-US" sz="1200" kern="100">
                              <a:effectLst/>
                            </a:rPr>
                            <a:t>d</a:t>
                          </a:r>
                          <a:r>
                            <a:rPr lang="zh-CN" sz="1200" kern="100">
                              <a:effectLst/>
                            </a:rPr>
                            <a:t>，</a:t>
                          </a:r>
                          <a:r>
                            <a:rPr lang="en-US" sz="1200" kern="100">
                              <a:effectLst/>
                            </a:rPr>
                            <a:t>a</a:t>
                          </a:r>
                          <a:r>
                            <a:rPr lang="zh-CN" sz="1200" kern="100">
                              <a:effectLst/>
                            </a:rPr>
                            <a:t>，α</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200" kern="100" dirty="0">
                              <a:effectLst/>
                            </a:rPr>
                            <a:t>α，</a:t>
                          </a:r>
                          <a:r>
                            <a:rPr lang="en-US" sz="1200" kern="100" dirty="0">
                              <a:effectLst/>
                            </a:rPr>
                            <a:t>a, </a:t>
                          </a:r>
                          <a:r>
                            <a:rPr lang="zh-CN" sz="1200" kern="100" dirty="0">
                              <a:effectLst/>
                            </a:rPr>
                            <a:t>θ，</a:t>
                          </a:r>
                          <a:r>
                            <a:rPr lang="en-US" sz="1200" kern="100" dirty="0">
                              <a:effectLst/>
                            </a:rPr>
                            <a:t>d</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923530391"/>
                      </a:ext>
                    </a:extLst>
                  </a:tr>
                </a:tbl>
              </a:graphicData>
            </a:graphic>
          </p:graphicFrame>
        </mc:Choice>
        <mc:Fallback xmlns="">
          <p:graphicFrame>
            <p:nvGraphicFramePr>
              <p:cNvPr id="2" name="表格 1"/>
              <p:cNvGraphicFramePr>
                <a:graphicFrameLocks noGrp="1"/>
              </p:cNvGraphicFramePr>
              <p:nvPr>
                <p:extLst>
                  <p:ext uri="{D42A27DB-BD31-4B8C-83A1-F6EECF244321}">
                    <p14:modId xmlns:p14="http://schemas.microsoft.com/office/powerpoint/2010/main" val="3131961114"/>
                  </p:ext>
                </p:extLst>
              </p:nvPr>
            </p:nvGraphicFramePr>
            <p:xfrm>
              <a:off x="683569" y="982418"/>
              <a:ext cx="7831152" cy="2559060"/>
            </p:xfrm>
            <a:graphic>
              <a:graphicData uri="http://schemas.openxmlformats.org/drawingml/2006/table">
                <a:tbl>
                  <a:tblPr firstRow="1" firstCol="1" bandRow="1">
                    <a:tableStyleId>{5C22544A-7EE6-4342-B048-85BDC9FD1C3A}</a:tableStyleId>
                  </a:tblPr>
                  <a:tblGrid>
                    <a:gridCol w="1578148">
                      <a:extLst>
                        <a:ext uri="{9D8B030D-6E8A-4147-A177-3AD203B41FA5}">
                          <a16:colId xmlns:a16="http://schemas.microsoft.com/office/drawing/2014/main" val="460786432"/>
                        </a:ext>
                      </a:extLst>
                    </a:gridCol>
                    <a:gridCol w="3170262">
                      <a:extLst>
                        <a:ext uri="{9D8B030D-6E8A-4147-A177-3AD203B41FA5}">
                          <a16:colId xmlns:a16="http://schemas.microsoft.com/office/drawing/2014/main" val="221183099"/>
                        </a:ext>
                      </a:extLst>
                    </a:gridCol>
                    <a:gridCol w="3082742">
                      <a:extLst>
                        <a:ext uri="{9D8B030D-6E8A-4147-A177-3AD203B41FA5}">
                          <a16:colId xmlns:a16="http://schemas.microsoft.com/office/drawing/2014/main" val="2267119621"/>
                        </a:ext>
                      </a:extLst>
                    </a:gridCol>
                  </a:tblGrid>
                  <a:tr h="229604">
                    <a:tc>
                      <a:txBody>
                        <a:bodyPr/>
                        <a:lstStyle/>
                        <a:p>
                          <a:pPr algn="just">
                            <a:lnSpc>
                              <a:spcPct val="125000"/>
                            </a:lnSpc>
                            <a:spcAft>
                              <a:spcPts val="600"/>
                            </a:spcAft>
                          </a:pPr>
                          <a:r>
                            <a:rPr lang="zh-CN" sz="1200" kern="100">
                              <a:effectLst/>
                            </a:rPr>
                            <a:t>不同</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en-US" sz="1200" kern="100">
                              <a:effectLst/>
                            </a:rPr>
                            <a:t>Standard D-H</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en-US" sz="1200" kern="100">
                              <a:effectLst/>
                            </a:rPr>
                            <a:t>Modified D-H</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17326587"/>
                      </a:ext>
                    </a:extLst>
                  </a:tr>
                  <a:tr h="473923">
                    <a:tc>
                      <a:txBody>
                        <a:bodyPr/>
                        <a:lstStyle/>
                        <a:p>
                          <a:pPr algn="just">
                            <a:lnSpc>
                              <a:spcPct val="125000"/>
                            </a:lnSpc>
                            <a:spcAft>
                              <a:spcPts val="600"/>
                            </a:spcAft>
                          </a:pPr>
                          <a:r>
                            <a:rPr lang="zh-CN" sz="1200" kern="100">
                              <a:effectLst/>
                            </a:rPr>
                            <a:t>连杆坐标系（原点）建立</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200" kern="100">
                              <a:effectLst/>
                            </a:rPr>
                            <a:t>以连杆输出端（后一个关节）为固连坐标系</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200" kern="100">
                              <a:effectLst/>
                            </a:rPr>
                            <a:t>以连杆输入端（前一个关节）为固连坐标系</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699318984"/>
                      </a:ext>
                    </a:extLst>
                  </a:tr>
                  <a:tr h="1381610">
                    <a:tc>
                      <a:txBody>
                        <a:bodyPr/>
                        <a:lstStyle/>
                        <a:p>
                          <a:pPr algn="just">
                            <a:lnSpc>
                              <a:spcPct val="125000"/>
                            </a:lnSpc>
                            <a:spcAft>
                              <a:spcPts val="600"/>
                            </a:spcAft>
                          </a:pPr>
                          <a:r>
                            <a:rPr lang="en-US" sz="1200" kern="100">
                              <a:effectLst/>
                            </a:rPr>
                            <a:t>X</a:t>
                          </a:r>
                          <a:r>
                            <a:rPr lang="zh-CN" sz="1200" kern="100">
                              <a:effectLst/>
                            </a:rPr>
                            <a:t>轴方向</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endParaRPr lang="zh-CN"/>
                        </a:p>
                      </a:txBody>
                      <a:tcPr marL="68580" marR="68580" marT="0" marB="0">
                        <a:blipFill>
                          <a:blip r:embed="rId4"/>
                          <a:stretch>
                            <a:fillRect l="-50000" t="-52863" r="-98077" b="-38326"/>
                          </a:stretch>
                        </a:blipFill>
                      </a:tcPr>
                    </a:tc>
                    <a:tc>
                      <a:txBody>
                        <a:bodyPr/>
                        <a:lstStyle/>
                        <a:p>
                          <a:endParaRPr lang="zh-CN"/>
                        </a:p>
                      </a:txBody>
                      <a:tcPr marL="68580" marR="68580" marT="0" marB="0">
                        <a:blipFill>
                          <a:blip r:embed="rId4"/>
                          <a:stretch>
                            <a:fillRect l="-154150" t="-52863" r="-791" b="-38326"/>
                          </a:stretch>
                        </a:blipFill>
                      </a:tcPr>
                    </a:tc>
                    <a:extLst>
                      <a:ext uri="{0D108BD9-81ED-4DB2-BD59-A6C34878D82A}">
                        <a16:rowId xmlns:a16="http://schemas.microsoft.com/office/drawing/2014/main" val="4031002159"/>
                      </a:ext>
                    </a:extLst>
                  </a:tr>
                  <a:tr h="473923">
                    <a:tc>
                      <a:txBody>
                        <a:bodyPr/>
                        <a:lstStyle/>
                        <a:p>
                          <a:pPr algn="just">
                            <a:lnSpc>
                              <a:spcPct val="125000"/>
                            </a:lnSpc>
                            <a:spcAft>
                              <a:spcPts val="600"/>
                            </a:spcAft>
                          </a:pPr>
                          <a:r>
                            <a:rPr lang="zh-CN" sz="1200" kern="100">
                              <a:effectLst/>
                            </a:rPr>
                            <a:t>相连关节之间的变换顺序</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200" kern="100">
                              <a:effectLst/>
                            </a:rPr>
                            <a:t>θ，</a:t>
                          </a:r>
                          <a:r>
                            <a:rPr lang="en-US" sz="1200" kern="100">
                              <a:effectLst/>
                            </a:rPr>
                            <a:t>d</a:t>
                          </a:r>
                          <a:r>
                            <a:rPr lang="zh-CN" sz="1200" kern="100">
                              <a:effectLst/>
                            </a:rPr>
                            <a:t>，</a:t>
                          </a:r>
                          <a:r>
                            <a:rPr lang="en-US" sz="1200" kern="100">
                              <a:effectLst/>
                            </a:rPr>
                            <a:t>a</a:t>
                          </a:r>
                          <a:r>
                            <a:rPr lang="zh-CN" sz="1200" kern="100">
                              <a:effectLst/>
                            </a:rPr>
                            <a:t>，α</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200" kern="100" dirty="0">
                              <a:effectLst/>
                            </a:rPr>
                            <a:t>α，</a:t>
                          </a:r>
                          <a:r>
                            <a:rPr lang="en-US" sz="1200" kern="100" dirty="0">
                              <a:effectLst/>
                            </a:rPr>
                            <a:t>a, </a:t>
                          </a:r>
                          <a:r>
                            <a:rPr lang="zh-CN" sz="1200" kern="100" dirty="0">
                              <a:effectLst/>
                            </a:rPr>
                            <a:t>θ，</a:t>
                          </a:r>
                          <a:r>
                            <a:rPr lang="en-US" sz="1200" kern="100" dirty="0">
                              <a:effectLst/>
                            </a:rPr>
                            <a:t>d</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923530391"/>
                      </a:ext>
                    </a:extLst>
                  </a:tr>
                </a:tbl>
              </a:graphicData>
            </a:graphic>
          </p:graphicFrame>
        </mc:Fallback>
      </mc:AlternateContent>
      <mc:AlternateContent xmlns:mc="http://schemas.openxmlformats.org/markup-compatibility/2006" xmlns:a14="http://schemas.microsoft.com/office/drawing/2010/main">
        <mc:Choice Requires="a14">
          <p:sp>
            <p:nvSpPr>
              <p:cNvPr id="17" name="矩形 16"/>
              <p:cNvSpPr/>
              <p:nvPr/>
            </p:nvSpPr>
            <p:spPr>
              <a:xfrm>
                <a:off x="429939" y="3730073"/>
                <a:ext cx="4572000" cy="250261"/>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Sub>
                        <m:sSubPr>
                          <m:ctrlPr>
                            <a:rPr lang="zh-CN" altLang="en-US" sz="1000" i="1">
                              <a:latin typeface="Cambria Math" panose="02040503050406030204" pitchFamily="18" charset="0"/>
                            </a:rPr>
                          </m:ctrlPr>
                        </m:sSubPr>
                        <m:e>
                          <m:sPre>
                            <m:sPrePr>
                              <m:ctrlPr>
                                <a:rPr lang="zh-CN" altLang="en-US" sz="1000" i="1">
                                  <a:latin typeface="Cambria Math" panose="02040503050406030204" pitchFamily="18" charset="0"/>
                                </a:rPr>
                              </m:ctrlPr>
                            </m:sPrePr>
                            <m:sub/>
                            <m:sup>
                              <m:r>
                                <a:rPr lang="zh-CN" altLang="en-US" sz="1000" i="1">
                                  <a:latin typeface="Cambria Math" panose="02040503050406030204" pitchFamily="18" charset="0"/>
                                </a:rPr>
                                <m:t>𝑛</m:t>
                              </m:r>
                            </m:sup>
                            <m:e>
                              <m:r>
                                <a:rPr lang="zh-CN" altLang="en-US" sz="1000" i="1">
                                  <a:latin typeface="Cambria Math" panose="02040503050406030204" pitchFamily="18" charset="0"/>
                                </a:rPr>
                                <m:t>𝑇</m:t>
                              </m:r>
                            </m:e>
                          </m:sPre>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r>
                        <a:rPr lang="zh-CN" altLang="en-US" sz="1000" i="0">
                          <a:latin typeface="Cambria Math" panose="02040503050406030204" pitchFamily="18" charset="0"/>
                        </a:rPr>
                        <m:t>=</m:t>
                      </m:r>
                      <m:r>
                        <a:rPr lang="zh-CN" altLang="en-US" sz="1000" i="1">
                          <a:latin typeface="Cambria Math" panose="02040503050406030204" pitchFamily="18" charset="0"/>
                        </a:rPr>
                        <m:t>𝑅𝑜𝑡</m:t>
                      </m:r>
                      <m:d>
                        <m:dPr>
                          <m:ctrlPr>
                            <a:rPr lang="zh-CN" altLang="en-US" sz="1000" i="1">
                              <a:latin typeface="Cambria Math" panose="02040503050406030204" pitchFamily="18" charset="0"/>
                            </a:rPr>
                          </m:ctrlPr>
                        </m:dPr>
                        <m:e>
                          <m:r>
                            <a:rPr lang="zh-CN" altLang="en-US" sz="1000" i="1">
                              <a:latin typeface="Cambria Math" panose="02040503050406030204" pitchFamily="18" charset="0"/>
                            </a:rPr>
                            <m:t>𝑧</m:t>
                          </m:r>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e>
                      </m:d>
                      <m:r>
                        <a:rPr lang="zh-CN" altLang="en-US" sz="1000" i="0">
                          <a:latin typeface="Cambria Math" panose="02040503050406030204" pitchFamily="18" charset="0"/>
                        </a:rPr>
                        <m:t>×</m:t>
                      </m:r>
                      <m:r>
                        <a:rPr lang="zh-CN" altLang="en-US" sz="1000" i="1">
                          <a:latin typeface="Cambria Math" panose="02040503050406030204" pitchFamily="18" charset="0"/>
                        </a:rPr>
                        <m:t>𝑇𝑟𝑎𝑛</m:t>
                      </m:r>
                      <m:d>
                        <m:dPr>
                          <m:ctrlPr>
                            <a:rPr lang="zh-CN" altLang="en-US" sz="1000" i="1">
                              <a:latin typeface="Cambria Math" panose="02040503050406030204" pitchFamily="18" charset="0"/>
                            </a:rPr>
                          </m:ctrlPr>
                        </m:dPr>
                        <m:e>
                          <m:r>
                            <a:rPr lang="zh-CN" altLang="en-US" sz="1000" i="0">
                              <a:latin typeface="Cambria Math" panose="02040503050406030204" pitchFamily="18" charset="0"/>
                            </a:rPr>
                            <m:t>0,0,</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e>
                      </m:d>
                      <m:r>
                        <a:rPr lang="zh-CN" altLang="en-US" sz="1000" i="0">
                          <a:latin typeface="Cambria Math" panose="02040503050406030204" pitchFamily="18" charset="0"/>
                        </a:rPr>
                        <m:t>×</m:t>
                      </m:r>
                      <m:r>
                        <a:rPr lang="zh-CN" altLang="en-US" sz="1000" i="1">
                          <a:latin typeface="Cambria Math" panose="02040503050406030204" pitchFamily="18" charset="0"/>
                        </a:rPr>
                        <m:t>𝑇𝑟𝑎𝑛</m:t>
                      </m:r>
                      <m:d>
                        <m:dPr>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𝑎</m:t>
                              </m:r>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r>
                            <a:rPr lang="zh-CN" altLang="en-US" sz="1000" i="0">
                              <a:latin typeface="Cambria Math" panose="02040503050406030204" pitchFamily="18" charset="0"/>
                            </a:rPr>
                            <m:t>,0,0</m:t>
                          </m:r>
                        </m:e>
                      </m:d>
                      <m:r>
                        <a:rPr lang="zh-CN" altLang="en-US" sz="1000" i="0">
                          <a:latin typeface="Cambria Math" panose="02040503050406030204" pitchFamily="18" charset="0"/>
                        </a:rPr>
                        <m:t>×</m:t>
                      </m:r>
                      <m:r>
                        <a:rPr lang="zh-CN" altLang="en-US" sz="1000" i="1">
                          <a:latin typeface="Cambria Math" panose="02040503050406030204" pitchFamily="18" charset="0"/>
                        </a:rPr>
                        <m:t>𝑅𝑜𝑡</m:t>
                      </m:r>
                      <m:d>
                        <m:dPr>
                          <m:ctrlPr>
                            <a:rPr lang="zh-CN" altLang="en-US" sz="1000" i="1">
                              <a:latin typeface="Cambria Math" panose="02040503050406030204" pitchFamily="18" charset="0"/>
                            </a:rPr>
                          </m:ctrlPr>
                        </m:dPr>
                        <m:e>
                          <m:r>
                            <a:rPr lang="zh-CN" altLang="en-US" sz="1000" i="1">
                              <a:latin typeface="Cambria Math" panose="02040503050406030204" pitchFamily="18" charset="0"/>
                            </a:rPr>
                            <m:t>𝑥</m:t>
                          </m:r>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𝑎</m:t>
                              </m:r>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e>
                      </m:d>
                    </m:oMath>
                  </m:oMathPara>
                </a14:m>
                <a:endParaRPr lang="zh-CN" altLang="en-US" sz="1000" dirty="0"/>
              </a:p>
            </p:txBody>
          </p:sp>
        </mc:Choice>
        <mc:Fallback xmlns="">
          <p:sp>
            <p:nvSpPr>
              <p:cNvPr id="17" name="矩形 16"/>
              <p:cNvSpPr>
                <a:spLocks noRot="1" noChangeAspect="1" noMove="1" noResize="1" noEditPoints="1" noAdjustHandles="1" noChangeArrowheads="1" noChangeShapeType="1" noTextEdit="1"/>
              </p:cNvSpPr>
              <p:nvPr/>
            </p:nvSpPr>
            <p:spPr>
              <a:xfrm>
                <a:off x="429939" y="3730073"/>
                <a:ext cx="4572000" cy="25026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573058" y="4027448"/>
                <a:ext cx="4420826" cy="7827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𝑛</m:t>
                              </m:r>
                            </m:sup>
                            <m:e>
                              <m:r>
                                <a:rPr lang="zh-CN" altLang="en-US" sz="1200" i="1">
                                  <a:latin typeface="Cambria Math" panose="02040503050406030204" pitchFamily="18" charset="0"/>
                                </a:rPr>
                                <m:t>𝑇</m:t>
                              </m:r>
                            </m:e>
                          </m:sPre>
                        </m:e>
                        <m:sub>
                          <m:r>
                            <a:rPr lang="zh-CN" altLang="en-US" sz="1200" i="1">
                              <a:latin typeface="Cambria Math" panose="02040503050406030204" pitchFamily="18" charset="0"/>
                            </a:rPr>
                            <m:t>𝑛</m:t>
                          </m:r>
                          <m:r>
                            <a:rPr lang="zh-CN" altLang="en-US" sz="1200">
                              <a:latin typeface="Cambria Math" panose="02040503050406030204" pitchFamily="18" charset="0"/>
                            </a:rPr>
                            <m:t>+1</m:t>
                          </m:r>
                        </m:sub>
                      </m:sSub>
                      <m:r>
                        <a:rPr lang="zh-CN" altLang="en-US" sz="120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4"/>
                                    <m:mcJc m:val="center"/>
                                  </m:mcPr>
                                </m:mc>
                              </m:mcs>
                              <m:ctrlPr>
                                <a:rPr lang="zh-CN" altLang="en-US" sz="1200" i="1">
                                  <a:latin typeface="Cambria Math" panose="02040503050406030204" pitchFamily="18" charset="0"/>
                                </a:rPr>
                              </m:ctrlPr>
                            </m:mPr>
                            <m:mr>
                              <m:e>
                                <m:r>
                                  <a:rPr lang="zh-CN" altLang="en-US" sz="1200" i="1">
                                    <a:latin typeface="Cambria Math" panose="02040503050406030204" pitchFamily="18" charset="0"/>
                                  </a:rPr>
                                  <m:t>𝐶</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e>
                              <m:e>
                                <m:r>
                                  <a:rPr lang="zh-CN" altLang="en-US" sz="1200" i="0">
                                    <a:latin typeface="Cambria Math" panose="02040503050406030204" pitchFamily="18" charset="0"/>
                                  </a:rPr>
                                  <m:t>−</m:t>
                                </m:r>
                                <m:r>
                                  <a:rPr lang="zh-CN" altLang="en-US" sz="1200" i="1">
                                    <a:latin typeface="Cambria Math" panose="02040503050406030204" pitchFamily="18" charset="0"/>
                                  </a:rPr>
                                  <m:t>𝑆</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r>
                                  <a:rPr lang="zh-CN" altLang="en-US" sz="1200" i="1">
                                    <a:latin typeface="Cambria Math" panose="02040503050406030204" pitchFamily="18" charset="0"/>
                                  </a:rPr>
                                  <m:t>𝐶</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e>
                              <m:e>
                                <m:r>
                                  <a:rPr lang="zh-CN" altLang="en-US" sz="1200" i="1">
                                    <a:latin typeface="Cambria Math" panose="02040503050406030204" pitchFamily="18" charset="0"/>
                                  </a:rPr>
                                  <m:t>𝑆</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r>
                                  <a:rPr lang="zh-CN" altLang="en-US" sz="1200" i="1">
                                    <a:latin typeface="Cambria Math" panose="02040503050406030204" pitchFamily="18" charset="0"/>
                                  </a:rPr>
                                  <m:t>𝑆</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𝑎</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r>
                                  <a:rPr lang="zh-CN" altLang="en-US" sz="1200" i="1">
                                    <a:latin typeface="Cambria Math" panose="02040503050406030204" pitchFamily="18" charset="0"/>
                                  </a:rPr>
                                  <m:t>𝐶</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e>
                            </m:mr>
                            <m:mr>
                              <m:e>
                                <m:r>
                                  <a:rPr lang="zh-CN" altLang="en-US" sz="1200" i="1">
                                    <a:latin typeface="Cambria Math" panose="02040503050406030204" pitchFamily="18" charset="0"/>
                                  </a:rPr>
                                  <m:t>𝑆</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e>
                              <m:e>
                                <m:r>
                                  <a:rPr lang="zh-CN" altLang="en-US" sz="1200" i="1">
                                    <a:latin typeface="Cambria Math" panose="02040503050406030204" pitchFamily="18" charset="0"/>
                                  </a:rPr>
                                  <m:t>𝐶</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r>
                                  <a:rPr lang="zh-CN" altLang="en-US" sz="1200" i="1">
                                    <a:latin typeface="Cambria Math" panose="02040503050406030204" pitchFamily="18" charset="0"/>
                                  </a:rPr>
                                  <m:t>𝐶</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e>
                              <m:e>
                                <m:r>
                                  <a:rPr lang="zh-CN" altLang="en-US" sz="1200" i="0">
                                    <a:latin typeface="Cambria Math" panose="02040503050406030204" pitchFamily="18" charset="0"/>
                                  </a:rPr>
                                  <m:t>−</m:t>
                                </m:r>
                                <m:r>
                                  <a:rPr lang="zh-CN" altLang="en-US" sz="1200" i="1">
                                    <a:latin typeface="Cambria Math" panose="02040503050406030204" pitchFamily="18" charset="0"/>
                                  </a:rPr>
                                  <m:t>𝐶</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r>
                                  <a:rPr lang="zh-CN" altLang="en-US" sz="1200" i="1">
                                    <a:latin typeface="Cambria Math" panose="02040503050406030204" pitchFamily="18" charset="0"/>
                                  </a:rPr>
                                  <m:t>𝑆</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𝑎</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r>
                                  <a:rPr lang="zh-CN" altLang="en-US" sz="1200" i="1">
                                    <a:latin typeface="Cambria Math" panose="02040503050406030204" pitchFamily="18" charset="0"/>
                                  </a:rPr>
                                  <m:t>𝑆</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e>
                            </m:mr>
                            <m:mr>
                              <m:e>
                                <m:r>
                                  <a:rPr lang="zh-CN" altLang="en-US" sz="1200" i="0">
                                    <a:latin typeface="Cambria Math" panose="02040503050406030204" pitchFamily="18" charset="0"/>
                                  </a:rPr>
                                  <m:t>0</m:t>
                                </m:r>
                              </m:e>
                              <m:e>
                                <m:r>
                                  <a:rPr lang="zh-CN" altLang="en-US" sz="1200" i="1">
                                    <a:latin typeface="Cambria Math" panose="02040503050406030204" pitchFamily="18" charset="0"/>
                                  </a:rPr>
                                  <m:t>𝑆</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e>
                              <m:e>
                                <m:r>
                                  <a:rPr lang="zh-CN" altLang="en-US" sz="1200" i="1">
                                    <a:latin typeface="Cambria Math" panose="02040503050406030204" pitchFamily="18" charset="0"/>
                                  </a:rPr>
                                  <m:t>𝐶</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e>
                            </m:mr>
                            <m:mr>
                              <m:e>
                                <m:r>
                                  <a:rPr lang="zh-CN" altLang="en-US" sz="1200" i="0">
                                    <a:latin typeface="Cambria Math" panose="02040503050406030204" pitchFamily="18" charset="0"/>
                                  </a:rPr>
                                  <m:t>0</m:t>
                                </m:r>
                              </m:e>
                              <m:e>
                                <m:r>
                                  <a:rPr lang="zh-CN" altLang="en-US" sz="1200" i="0">
                                    <a:latin typeface="Cambria Math" panose="02040503050406030204" pitchFamily="18" charset="0"/>
                                  </a:rPr>
                                  <m:t>0</m:t>
                                </m:r>
                              </m:e>
                              <m:e>
                                <m:r>
                                  <a:rPr lang="zh-CN" altLang="en-US" sz="1200" i="0">
                                    <a:latin typeface="Cambria Math" panose="02040503050406030204" pitchFamily="18" charset="0"/>
                                  </a:rPr>
                                  <m:t>0</m:t>
                                </m:r>
                              </m:e>
                              <m:e>
                                <m:r>
                                  <a:rPr lang="zh-CN" altLang="en-US" sz="1200" i="0">
                                    <a:latin typeface="Cambria Math" panose="02040503050406030204" pitchFamily="18" charset="0"/>
                                  </a:rPr>
                                  <m:t>1</m:t>
                                </m:r>
                              </m:e>
                            </m:mr>
                          </m:m>
                        </m:e>
                      </m:d>
                    </m:oMath>
                  </m:oMathPara>
                </a14:m>
                <a:endParaRPr lang="zh-CN" altLang="en-US" sz="1200" dirty="0"/>
              </a:p>
            </p:txBody>
          </p:sp>
        </mc:Choice>
        <mc:Fallback xmlns="">
          <p:sp>
            <p:nvSpPr>
              <p:cNvPr id="19" name="矩形 18"/>
              <p:cNvSpPr>
                <a:spLocks noRot="1" noChangeAspect="1" noMove="1" noResize="1" noEditPoints="1" noAdjustHandles="1" noChangeArrowheads="1" noChangeShapeType="1" noTextEdit="1"/>
              </p:cNvSpPr>
              <p:nvPr/>
            </p:nvSpPr>
            <p:spPr>
              <a:xfrm>
                <a:off x="573058" y="4027448"/>
                <a:ext cx="4420826" cy="78271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4572000" y="3730073"/>
                <a:ext cx="4572000" cy="267446"/>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d>
                        <m:dPr>
                          <m:begChr m:val=""/>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sPre>
                                <m:sPrePr>
                                  <m:ctrlPr>
                                    <a:rPr lang="zh-CN" altLang="en-US" sz="1000" i="1">
                                      <a:latin typeface="Cambria Math" panose="02040503050406030204" pitchFamily="18" charset="0"/>
                                    </a:rPr>
                                  </m:ctrlPr>
                                </m:sPrePr>
                                <m:sub/>
                                <m:sup>
                                  <m:r>
                                    <a:rPr lang="zh-CN" altLang="en-US" sz="1000" i="1">
                                      <a:latin typeface="Cambria Math" panose="02040503050406030204" pitchFamily="18" charset="0"/>
                                    </a:rPr>
                                    <m:t>𝑛</m:t>
                                  </m:r>
                                  <m:r>
                                    <a:rPr lang="zh-CN" altLang="en-US" sz="1000" i="0">
                                      <a:latin typeface="Cambria Math" panose="02040503050406030204" pitchFamily="18" charset="0"/>
                                    </a:rPr>
                                    <m:t>−1</m:t>
                                  </m:r>
                                </m:sup>
                                <m:e>
                                  <m:r>
                                    <a:rPr lang="zh-CN" altLang="en-US" sz="1000" i="1">
                                      <a:latin typeface="Cambria Math" panose="02040503050406030204" pitchFamily="18" charset="0"/>
                                    </a:rPr>
                                    <m:t>𝑇</m:t>
                                  </m:r>
                                </m:e>
                              </m:sPre>
                            </m:e>
                            <m:sub>
                              <m:r>
                                <a:rPr lang="zh-CN" altLang="en-US" sz="1000" i="1">
                                  <a:latin typeface="Cambria Math" panose="02040503050406030204" pitchFamily="18" charset="0"/>
                                </a:rPr>
                                <m:t>𝑛</m:t>
                              </m:r>
                            </m:sub>
                          </m:sSub>
                          <m:r>
                            <a:rPr lang="zh-CN" altLang="en-US" sz="1000" i="0">
                              <a:latin typeface="Cambria Math" panose="02040503050406030204" pitchFamily="18" charset="0"/>
                            </a:rPr>
                            <m:t>=</m:t>
                          </m:r>
                          <m:r>
                            <a:rPr lang="zh-CN" altLang="en-US" sz="1000" i="1">
                              <a:latin typeface="Cambria Math" panose="02040503050406030204" pitchFamily="18" charset="0"/>
                            </a:rPr>
                            <m:t>𝑅𝑜𝑡</m:t>
                          </m:r>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𝑥</m:t>
                              </m:r>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𝛼</m:t>
                              </m:r>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r>
                            <a:rPr lang="zh-CN" altLang="en-US" sz="1000" i="0">
                              <a:latin typeface="Cambria Math" panose="02040503050406030204" pitchFamily="18" charset="0"/>
                            </a:rPr>
                            <m:t>)∙</m:t>
                          </m:r>
                          <m:r>
                            <a:rPr lang="zh-CN" altLang="en-US" sz="1000" i="1">
                              <a:latin typeface="Cambria Math" panose="02040503050406030204" pitchFamily="18" charset="0"/>
                            </a:rPr>
                            <m:t>𝑇𝑟𝑎𝑛𝑠</m:t>
                          </m:r>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𝑥</m:t>
                              </m:r>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𝑎</m:t>
                              </m:r>
                            </m:e>
                            <m:sub>
                              <m:r>
                                <a:rPr lang="zh-CN" altLang="en-US" sz="1000" i="1">
                                  <a:latin typeface="Cambria Math" panose="02040503050406030204" pitchFamily="18" charset="0"/>
                                </a:rPr>
                                <m:t>𝑛</m:t>
                              </m:r>
                              <m:r>
                                <a:rPr lang="zh-CN" altLang="en-US" sz="1000" i="0">
                                  <a:latin typeface="Cambria Math" panose="02040503050406030204" pitchFamily="18" charset="0"/>
                                </a:rPr>
                                <m:t>−1</m:t>
                              </m:r>
                            </m:sub>
                          </m:sSub>
                          <m:r>
                            <a:rPr lang="zh-CN" altLang="en-US" sz="1000" i="0">
                              <a:latin typeface="Cambria Math" panose="02040503050406030204" pitchFamily="18" charset="0"/>
                            </a:rPr>
                            <m:t>)∙</m:t>
                          </m:r>
                          <m:r>
                            <a:rPr lang="zh-CN" altLang="en-US" sz="1000" i="1">
                              <a:latin typeface="Cambria Math" panose="02040503050406030204" pitchFamily="18" charset="0"/>
                            </a:rPr>
                            <m:t>𝑅𝑜𝑡</m:t>
                          </m:r>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𝑧</m:t>
                              </m:r>
                            </m:e>
                            <m:sub>
                              <m:r>
                                <a:rPr lang="zh-CN" altLang="en-US" sz="1000" i="1">
                                  <a:latin typeface="Cambria Math" panose="02040503050406030204" pitchFamily="18" charset="0"/>
                                </a:rPr>
                                <m:t>𝑛</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1">
                                  <a:latin typeface="Cambria Math" panose="02040503050406030204" pitchFamily="18" charset="0"/>
                                </a:rPr>
                                <m:t>𝑛</m:t>
                              </m:r>
                            </m:sub>
                          </m:sSub>
                          <m:r>
                            <a:rPr lang="zh-CN" altLang="en-US" sz="1000" i="0">
                              <a:latin typeface="Cambria Math" panose="02040503050406030204" pitchFamily="18" charset="0"/>
                            </a:rPr>
                            <m:t>)∙</m:t>
                          </m:r>
                          <m:r>
                            <a:rPr lang="zh-CN" altLang="en-US" sz="1000" i="1">
                              <a:latin typeface="Cambria Math" panose="02040503050406030204" pitchFamily="18" charset="0"/>
                            </a:rPr>
                            <m:t>𝑇𝑟𝑎𝑛𝑠</m:t>
                          </m:r>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𝑧</m:t>
                              </m:r>
                            </m:e>
                            <m:sub>
                              <m:r>
                                <a:rPr lang="zh-CN" altLang="en-US" sz="1000" i="1">
                                  <a:latin typeface="Cambria Math" panose="02040503050406030204" pitchFamily="18" charset="0"/>
                                </a:rPr>
                                <m:t>𝑛</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1">
                                  <a:latin typeface="Cambria Math" panose="02040503050406030204" pitchFamily="18" charset="0"/>
                                </a:rPr>
                                <m:t>𝑛</m:t>
                              </m:r>
                            </m:sub>
                          </m:sSub>
                        </m:e>
                      </m:d>
                    </m:oMath>
                  </m:oMathPara>
                </a14:m>
                <a:endParaRPr lang="zh-CN" altLang="en-US" sz="1000" dirty="0"/>
              </a:p>
            </p:txBody>
          </p:sp>
        </mc:Choice>
        <mc:Fallback xmlns="">
          <p:sp>
            <p:nvSpPr>
              <p:cNvPr id="20" name="矩形 19"/>
              <p:cNvSpPr>
                <a:spLocks noRot="1" noChangeAspect="1" noMove="1" noResize="1" noEditPoints="1" noAdjustHandles="1" noChangeArrowheads="1" noChangeShapeType="1" noTextEdit="1"/>
              </p:cNvSpPr>
              <p:nvPr/>
            </p:nvSpPr>
            <p:spPr>
              <a:xfrm>
                <a:off x="4572000" y="3730073"/>
                <a:ext cx="4572000" cy="267446"/>
              </a:xfrm>
              <a:prstGeom prst="rect">
                <a:avLst/>
              </a:prstGeom>
              <a:blipFill>
                <a:blip r:embed="rId7"/>
                <a:stretch>
                  <a:fillRect t="-125000" r="-3867" b="-190909"/>
                </a:stretch>
              </a:blipFill>
            </p:spPr>
            <p:txBody>
              <a:bodyPr/>
              <a:lstStyle/>
              <a:p>
                <a:r>
                  <a:rPr lang="zh-CN" altLang="en-US">
                    <a:noFill/>
                  </a:rPr>
                  <a:t> </a:t>
                </a:r>
              </a:p>
            </p:txBody>
          </p:sp>
        </mc:Fallback>
      </mc:AlternateContent>
      <p:graphicFrame>
        <p:nvGraphicFramePr>
          <p:cNvPr id="21" name="对象 20"/>
          <p:cNvGraphicFramePr>
            <a:graphicFrameLocks noChangeAspect="1"/>
          </p:cNvGraphicFramePr>
          <p:nvPr>
            <p:extLst>
              <p:ext uri="{D42A27DB-BD31-4B8C-83A1-F6EECF244321}">
                <p14:modId xmlns:p14="http://schemas.microsoft.com/office/powerpoint/2010/main" val="665371813"/>
              </p:ext>
            </p:extLst>
          </p:nvPr>
        </p:nvGraphicFramePr>
        <p:xfrm>
          <a:off x="5019046" y="4026220"/>
          <a:ext cx="3495675" cy="914400"/>
        </p:xfrm>
        <a:graphic>
          <a:graphicData uri="http://schemas.openxmlformats.org/presentationml/2006/ole">
            <mc:AlternateContent xmlns:mc="http://schemas.openxmlformats.org/markup-compatibility/2006">
              <mc:Choice xmlns:v="urn:schemas-microsoft-com:vml" Requires="v">
                <p:oleObj spid="_x0000_s7300" r:id="rId8" imgW="3924300" imgH="914400" progId="Equation.DSMT4">
                  <p:embed/>
                </p:oleObj>
              </mc:Choice>
              <mc:Fallback>
                <p:oleObj r:id="rId8" imgW="3924300" imgH="914400" progId="Equation.DSMT4">
                  <p:embed/>
                  <p:pic>
                    <p:nvPicPr>
                      <p:cNvPr id="18" name="对象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19046" y="4026220"/>
                        <a:ext cx="3495675"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18457994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1444370"/>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对于三关节以上的机械臂，其连杆运动涉及三维空间的多个象限，几何关系较为复杂，采用几何法难以建模与求解。为了描述</a:t>
            </a:r>
            <a:r>
              <a:rPr lang="en-US" altLang="zh-CN" sz="1200" dirty="0">
                <a:latin typeface="Arial" panose="020B0604020202020204" pitchFamily="34" charset="0"/>
                <a:ea typeface="微软雅黑" panose="020B0503020204020204" charset="-122"/>
                <a:sym typeface="+mn-ea"/>
              </a:rPr>
              <a:t>SCARA</a:t>
            </a:r>
            <a:r>
              <a:rPr lang="zh-CN" altLang="en-US" sz="1200" dirty="0">
                <a:latin typeface="Arial" panose="020B0604020202020204" pitchFamily="34" charset="0"/>
                <a:ea typeface="微软雅黑" panose="020B0503020204020204" charset="-122"/>
                <a:sym typeface="+mn-ea"/>
              </a:rPr>
              <a:t>型机器人各连杆之间的数学关系，在此采用</a:t>
            </a:r>
            <a:r>
              <a:rPr lang="en-US" altLang="zh-CN" sz="1200" dirty="0" err="1">
                <a:latin typeface="Arial" panose="020B0604020202020204" pitchFamily="34" charset="0"/>
                <a:ea typeface="微软雅黑" panose="020B0503020204020204" charset="-122"/>
                <a:sym typeface="+mn-ea"/>
              </a:rPr>
              <a:t>Denavit</a:t>
            </a:r>
            <a:r>
              <a:rPr lang="zh-CN" altLang="en-US" sz="1200" dirty="0">
                <a:latin typeface="Arial" panose="020B0604020202020204" pitchFamily="34" charset="0"/>
                <a:ea typeface="微软雅黑" panose="020B0503020204020204" charset="-122"/>
                <a:sym typeface="+mn-ea"/>
              </a:rPr>
              <a:t>和</a:t>
            </a:r>
            <a:r>
              <a:rPr lang="en-US" altLang="zh-CN" sz="1200" dirty="0" err="1">
                <a:latin typeface="Arial" panose="020B0604020202020204" pitchFamily="34" charset="0"/>
                <a:ea typeface="微软雅黑" panose="020B0503020204020204" charset="-122"/>
                <a:sym typeface="+mn-ea"/>
              </a:rPr>
              <a:t>Hertenberg</a:t>
            </a:r>
            <a:r>
              <a:rPr lang="zh-CN" altLang="en-US" sz="1200" dirty="0">
                <a:latin typeface="Arial" panose="020B0604020202020204" pitchFamily="34" charset="0"/>
                <a:ea typeface="微软雅黑" panose="020B0503020204020204" charset="-122"/>
                <a:sym typeface="+mn-ea"/>
              </a:rPr>
              <a:t>提出的齐次变换矩阵的方法，即</a:t>
            </a:r>
            <a:r>
              <a:rPr lang="en-US" altLang="zh-CN" sz="1200" dirty="0">
                <a:latin typeface="Arial" panose="020B0604020202020204" pitchFamily="34" charset="0"/>
                <a:ea typeface="微软雅黑" panose="020B0503020204020204" charset="-122"/>
                <a:sym typeface="+mn-ea"/>
              </a:rPr>
              <a:t>D-H</a:t>
            </a:r>
            <a:r>
              <a:rPr lang="zh-CN" altLang="en-US" sz="1200" dirty="0">
                <a:latin typeface="Arial" panose="020B0604020202020204" pitchFamily="34" charset="0"/>
                <a:ea typeface="微软雅黑" panose="020B0503020204020204" charset="-122"/>
                <a:sym typeface="+mn-ea"/>
              </a:rPr>
              <a:t>法进行建模。</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7" name="文本框 6"/>
          <p:cNvSpPr txBox="1"/>
          <p:nvPr/>
        </p:nvSpPr>
        <p:spPr>
          <a:xfrm>
            <a:off x="4319270" y="1951355"/>
            <a:ext cx="3849370" cy="523220"/>
          </a:xfrm>
          <a:prstGeom prst="rect">
            <a:avLst/>
          </a:prstGeom>
          <a:noFill/>
        </p:spPr>
        <p:txBody>
          <a:bodyPr wrap="square" rtlCol="0" anchor="t">
            <a:spAutoFit/>
          </a:bodyPr>
          <a:lstStyle/>
          <a:p>
            <a:r>
              <a:rPr lang="en-US" altLang="zh-CN" sz="2800" b="1" dirty="0">
                <a:latin typeface="Arial" panose="020B0604020202020204" pitchFamily="34" charset="0"/>
                <a:ea typeface="微软雅黑" panose="020B0503020204020204" charset="-122"/>
                <a:sym typeface="+mn-ea"/>
              </a:rPr>
              <a:t>SCARA</a:t>
            </a:r>
            <a:r>
              <a:rPr lang="zh-CN" altLang="en-US" sz="2800" b="1" dirty="0">
                <a:latin typeface="Arial" panose="020B0604020202020204" pitchFamily="34" charset="0"/>
                <a:ea typeface="微软雅黑" panose="020B0503020204020204" charset="-122"/>
                <a:sym typeface="+mn-ea"/>
              </a:rPr>
              <a:t>机器人运动学</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a:solidFill>
                  <a:schemeClr val="bg1"/>
                </a:solidFill>
                <a:latin typeface="微软雅黑" panose="020B0503020204020204" charset="-122"/>
                <a:ea typeface="微软雅黑" panose="020B0503020204020204" charset="-122"/>
                <a:sym typeface="+mn-ea"/>
              </a:rPr>
              <a:t>03</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36220" y="219075"/>
            <a:ext cx="5153660" cy="598805"/>
            <a:chOff x="-372" y="345"/>
            <a:chExt cx="8116" cy="943"/>
          </a:xfrm>
        </p:grpSpPr>
        <p:sp>
          <p:nvSpPr>
            <p:cNvPr id="9" name="矩形 8"/>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Kinematics of SCARA Robots</a:t>
              </a:r>
              <a:endParaRPr lang="en-US" altLang="zh-CN" sz="1000" dirty="0">
                <a:latin typeface="Arial" panose="020B0604020202020204" pitchFamily="34" charset="0"/>
                <a:ea typeface="微软雅黑" panose="020B0503020204020204" charset="-122"/>
                <a:sym typeface="+mn-ea"/>
              </a:endParaRPr>
            </a:p>
          </p:txBody>
        </p:sp>
        <p:sp>
          <p:nvSpPr>
            <p:cNvPr id="10" name="文本框 9"/>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SCARA</a:t>
              </a:r>
              <a:r>
                <a:rPr lang="zh-CN" altLang="en-US" sz="2000" b="1" dirty="0">
                  <a:latin typeface="Arial" panose="020B0604020202020204" pitchFamily="34" charset="0"/>
                  <a:ea typeface="微软雅黑" panose="020B0503020204020204" charset="-122"/>
                  <a:sym typeface="+mn-ea"/>
                </a:rPr>
                <a:t>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1" name="椭圆 1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4" name="对象 3"/>
          <p:cNvGraphicFramePr>
            <a:graphicFrameLocks noChangeAspect="1"/>
          </p:cNvGraphicFramePr>
          <p:nvPr>
            <p:extLst>
              <p:ext uri="{D42A27DB-BD31-4B8C-83A1-F6EECF244321}">
                <p14:modId xmlns:p14="http://schemas.microsoft.com/office/powerpoint/2010/main" val="1939132758"/>
              </p:ext>
            </p:extLst>
          </p:nvPr>
        </p:nvGraphicFramePr>
        <p:xfrm>
          <a:off x="4981165" y="3726290"/>
          <a:ext cx="1095375" cy="238125"/>
        </p:xfrm>
        <a:graphic>
          <a:graphicData uri="http://schemas.openxmlformats.org/presentationml/2006/ole">
            <mc:AlternateContent xmlns:mc="http://schemas.openxmlformats.org/markup-compatibility/2006">
              <mc:Choice xmlns:v="urn:schemas-microsoft-com:vml" Requires="v">
                <p:oleObj spid="_x0000_s9021" r:id="rId4" imgW="1092674" imgH="241405" progId="Equation.DSMT4">
                  <p:embed/>
                </p:oleObj>
              </mc:Choice>
              <mc:Fallback>
                <p:oleObj r:id="rId4" imgW="1092674" imgH="241405" progId="Equation.DSMT4">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81165" y="3726290"/>
                        <a:ext cx="1095375" cy="238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385688633"/>
              </p:ext>
            </p:extLst>
          </p:nvPr>
        </p:nvGraphicFramePr>
        <p:xfrm>
          <a:off x="6804248" y="991183"/>
          <a:ext cx="1133475" cy="752475"/>
        </p:xfrm>
        <a:graphic>
          <a:graphicData uri="http://schemas.openxmlformats.org/presentationml/2006/ole">
            <mc:AlternateContent xmlns:mc="http://schemas.openxmlformats.org/markup-compatibility/2006">
              <mc:Choice xmlns:v="urn:schemas-microsoft-com:vml" Requires="v">
                <p:oleObj spid="_x0000_s9022" r:id="rId6" imgW="1372792" imgH="915194" progId="Equation.DSMT4">
                  <p:embed/>
                </p:oleObj>
              </mc:Choice>
              <mc:Fallback>
                <p:oleObj r:id="rId6" imgW="1372792" imgH="915194"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04248" y="991183"/>
                        <a:ext cx="1133475" cy="752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292477316"/>
              </p:ext>
            </p:extLst>
          </p:nvPr>
        </p:nvGraphicFramePr>
        <p:xfrm>
          <a:off x="6804247" y="2101478"/>
          <a:ext cx="1133475" cy="733425"/>
        </p:xfrm>
        <a:graphic>
          <a:graphicData uri="http://schemas.openxmlformats.org/presentationml/2006/ole">
            <mc:AlternateContent xmlns:mc="http://schemas.openxmlformats.org/markup-compatibility/2006">
              <mc:Choice xmlns:v="urn:schemas-microsoft-com:vml" Requires="v">
                <p:oleObj spid="_x0000_s9023" r:id="rId8" imgW="1423636" imgH="915194" progId="Equation.DSMT4">
                  <p:embed/>
                </p:oleObj>
              </mc:Choice>
              <mc:Fallback>
                <p:oleObj r:id="rId8" imgW="1423636" imgH="915194"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04247" y="2101478"/>
                        <a:ext cx="1133475" cy="733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50635195"/>
              </p:ext>
            </p:extLst>
          </p:nvPr>
        </p:nvGraphicFramePr>
        <p:xfrm>
          <a:off x="6885461" y="3082092"/>
          <a:ext cx="1047750" cy="742950"/>
        </p:xfrm>
        <a:graphic>
          <a:graphicData uri="http://schemas.openxmlformats.org/presentationml/2006/ole">
            <mc:AlternateContent xmlns:mc="http://schemas.openxmlformats.org/markup-compatibility/2006">
              <mc:Choice xmlns:v="urn:schemas-microsoft-com:vml" Requires="v">
                <p:oleObj spid="_x0000_s9024" r:id="rId10" imgW="1385503" imgH="915194" progId="Equation.DSMT4">
                  <p:embed/>
                </p:oleObj>
              </mc:Choice>
              <mc:Fallback>
                <p:oleObj r:id="rId10" imgW="1385503" imgH="915194" progId="Equation.DSMT4">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85461" y="3082092"/>
                        <a:ext cx="1047750"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2151384097"/>
              </p:ext>
            </p:extLst>
          </p:nvPr>
        </p:nvGraphicFramePr>
        <p:xfrm>
          <a:off x="6885461" y="4024156"/>
          <a:ext cx="1085850" cy="781050"/>
        </p:xfrm>
        <a:graphic>
          <a:graphicData uri="http://schemas.openxmlformats.org/presentationml/2006/ole">
            <mc:AlternateContent xmlns:mc="http://schemas.openxmlformats.org/markup-compatibility/2006">
              <mc:Choice xmlns:v="urn:schemas-microsoft-com:vml" Requires="v">
                <p:oleObj spid="_x0000_s9025" r:id="rId12" imgW="1423636" imgH="915194" progId="Equation.DSMT4">
                  <p:embed/>
                </p:oleObj>
              </mc:Choice>
              <mc:Fallback>
                <p:oleObj r:id="rId12" imgW="1423636" imgH="915194" progId="Equation.DSMT4">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885461" y="4024156"/>
                        <a:ext cx="1085850" cy="781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4159403580"/>
              </p:ext>
            </p:extLst>
          </p:nvPr>
        </p:nvGraphicFramePr>
        <p:xfrm>
          <a:off x="7596336" y="4872256"/>
          <a:ext cx="1333500" cy="228600"/>
        </p:xfrm>
        <a:graphic>
          <a:graphicData uri="http://schemas.openxmlformats.org/presentationml/2006/ole">
            <mc:AlternateContent xmlns:mc="http://schemas.openxmlformats.org/markup-compatibility/2006">
              <mc:Choice xmlns:v="urn:schemas-microsoft-com:vml" Requires="v">
                <p:oleObj spid="_x0000_s9026" r:id="rId14" imgW="1334659" imgH="228799" progId="Equation.DSMT4">
                  <p:embed/>
                </p:oleObj>
              </mc:Choice>
              <mc:Fallback>
                <p:oleObj r:id="rId14" imgW="1334659" imgH="228799" progId="Equation.DSMT4">
                  <p:embed/>
                  <p:pic>
                    <p:nvPicPr>
                      <p:cNvPr id="0" name="Object 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596336" y="4872256"/>
                        <a:ext cx="13335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p:cNvGraphicFramePr>
            <a:graphicFrameLocks/>
          </p:cNvGraphicFramePr>
          <p:nvPr>
            <p:extLst>
              <p:ext uri="{D42A27DB-BD31-4B8C-83A1-F6EECF244321}">
                <p14:modId xmlns:p14="http://schemas.microsoft.com/office/powerpoint/2010/main" val="1320019264"/>
              </p:ext>
            </p:extLst>
          </p:nvPr>
        </p:nvGraphicFramePr>
        <p:xfrm>
          <a:off x="827584" y="919722"/>
          <a:ext cx="5616624" cy="3405351"/>
        </p:xfrm>
        <a:graphic>
          <a:graphicData uri="http://schemas.openxmlformats.org/presentationml/2006/ole">
            <mc:AlternateContent xmlns:mc="http://schemas.openxmlformats.org/markup-compatibility/2006">
              <mc:Choice xmlns:v="urn:schemas-microsoft-com:vml" Requires="v">
                <p:oleObj spid="_x0000_s9027" name="Visio" r:id="rId16" imgW="2903114" imgH="2003950" progId="Visio.Drawing.15">
                  <p:embed/>
                </p:oleObj>
              </mc:Choice>
              <mc:Fallback>
                <p:oleObj name="Visio" r:id="rId16" imgW="2903114" imgH="2003950" progId="Visio.Drawing.15">
                  <p:embed/>
                  <p:pic>
                    <p:nvPicPr>
                      <p:cNvPr id="0" name="Object 624"/>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27584" y="919722"/>
                        <a:ext cx="5616624" cy="3405351"/>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5" name="矩形 4"/>
              <p:cNvSpPr/>
              <p:nvPr/>
            </p:nvSpPr>
            <p:spPr>
              <a:xfrm>
                <a:off x="904195" y="4353366"/>
                <a:ext cx="5760640" cy="738664"/>
              </a:xfrm>
              <a:prstGeom prst="rect">
                <a:avLst/>
              </a:prstGeom>
            </p:spPr>
            <p:txBody>
              <a:bodyPr wrap="square">
                <a:spAutoFit/>
              </a:bodyPr>
              <a:lstStyle/>
              <a:p>
                <a:r>
                  <a:rPr lang="zh-CN" altLang="zh-CN" sz="1400" kern="100" dirty="0" smtClean="0">
                    <a:solidFill>
                      <a:srgbClr val="FF0000"/>
                    </a:solidFill>
                    <a:ea typeface="等线" panose="02010600030101010101" pitchFamily="2" charset="-122"/>
                    <a:cs typeface="Times New Roman" panose="02020603050405020304" pitchFamily="18" charset="0"/>
                  </a:rPr>
                  <a:t>注意</a:t>
                </a:r>
                <a:r>
                  <a:rPr lang="zh-CN" altLang="en-US" sz="1400" kern="100" dirty="0">
                    <a:solidFill>
                      <a:srgbClr val="FF0000"/>
                    </a:solidFill>
                    <a:ea typeface="等线" panose="02010600030101010101" pitchFamily="2" charset="-122"/>
                    <a:cs typeface="Times New Roman" panose="02020603050405020304" pitchFamily="18" charset="0"/>
                  </a:rPr>
                  <a:t>：</a:t>
                </a:r>
                <a:r>
                  <a:rPr lang="zh-CN" altLang="zh-CN" sz="1400" kern="100" dirty="0" smtClean="0">
                    <a:solidFill>
                      <a:srgbClr val="FF0000"/>
                    </a:solidFill>
                    <a:ea typeface="等线" panose="02010600030101010101" pitchFamily="2" charset="-122"/>
                    <a:cs typeface="Times New Roman" panose="02020603050405020304" pitchFamily="18" charset="0"/>
                  </a:rPr>
                  <a:t>本</a:t>
                </a:r>
                <a:r>
                  <a:rPr lang="zh-CN" altLang="zh-CN" sz="1400" kern="100" dirty="0">
                    <a:solidFill>
                      <a:srgbClr val="FF0000"/>
                    </a:solidFill>
                    <a:ea typeface="等线" panose="02010600030101010101" pitchFamily="2" charset="-122"/>
                    <a:cs typeface="Times New Roman" panose="02020603050405020304" pitchFamily="18" charset="0"/>
                  </a:rPr>
                  <a:t>例中，基坐标系（零坐标系）与第一个杆件坐标系重合，忽略了基座的高度，基坐标系与第一根杆件（长度为</a:t>
                </a:r>
                <a14:m>
                  <m:oMath xmlns:m="http://schemas.openxmlformats.org/officeDocument/2006/math">
                    <m:sSub>
                      <m:sSubPr>
                        <m:ctrlPr>
                          <a:rPr lang="zh-CN" altLang="zh-CN" sz="1400" i="1">
                            <a:solidFill>
                              <a:srgbClr val="FF0000"/>
                            </a:solidFill>
                            <a:effectLst/>
                            <a:latin typeface="Cambria Math" panose="02040503050406030204" pitchFamily="18" charset="0"/>
                            <a:ea typeface="Cambria Math" panose="02040503050406030204" pitchFamily="18" charset="0"/>
                          </a:rPr>
                        </m:ctrlPr>
                      </m:sSubPr>
                      <m:e>
                        <m:r>
                          <a:rPr lang="en-US" altLang="zh-CN" sz="1400" i="1" kern="100">
                            <a:solidFill>
                              <a:srgbClr val="FF0000"/>
                            </a:solidFill>
                            <a:latin typeface="Cambria Math" panose="02040503050406030204" pitchFamily="18" charset="0"/>
                            <a:ea typeface="等线" panose="02010600030101010101" pitchFamily="2" charset="-122"/>
                            <a:cs typeface="Times New Roman" panose="02020603050405020304" pitchFamily="18" charset="0"/>
                          </a:rPr>
                          <m:t>𝑙</m:t>
                        </m:r>
                      </m:e>
                      <m:sub>
                        <m:r>
                          <a:rPr lang="en-US" altLang="zh-CN" sz="1400" i="1" kern="100">
                            <a:solidFill>
                              <a:srgbClr val="FF0000"/>
                            </a:solidFill>
                            <a:latin typeface="Cambria Math" panose="02040503050406030204" pitchFamily="18" charset="0"/>
                            <a:ea typeface="等线" panose="02010600030101010101" pitchFamily="2" charset="-122"/>
                            <a:cs typeface="Times New Roman" panose="02020603050405020304" pitchFamily="18" charset="0"/>
                          </a:rPr>
                          <m:t>1</m:t>
                        </m:r>
                      </m:sub>
                    </m:sSub>
                  </m:oMath>
                </a14:m>
                <a:r>
                  <a:rPr lang="zh-CN" altLang="zh-CN" sz="1400" kern="100" dirty="0">
                    <a:solidFill>
                      <a:srgbClr val="FF0000"/>
                    </a:solidFill>
                    <a:ea typeface="等线" panose="02010600030101010101" pitchFamily="2" charset="-122"/>
                    <a:cs typeface="Times New Roman" panose="02020603050405020304" pitchFamily="18" charset="0"/>
                  </a:rPr>
                  <a:t>）坐标系原点建立在第一根杆件的输入端，也就是第一个旋转关节上</a:t>
                </a:r>
                <a:endParaRPr lang="zh-CN" altLang="en-US" sz="1400" dirty="0">
                  <a:solidFill>
                    <a:srgbClr val="FF0000"/>
                  </a:solidFill>
                </a:endParaRPr>
              </a:p>
            </p:txBody>
          </p:sp>
        </mc:Choice>
        <mc:Fallback xmlns="">
          <p:sp>
            <p:nvSpPr>
              <p:cNvPr id="5" name="矩形 4"/>
              <p:cNvSpPr>
                <a:spLocks noRot="1" noChangeAspect="1" noMove="1" noResize="1" noEditPoints="1" noAdjustHandles="1" noChangeArrowheads="1" noChangeShapeType="1" noTextEdit="1"/>
              </p:cNvSpPr>
              <p:nvPr/>
            </p:nvSpPr>
            <p:spPr>
              <a:xfrm>
                <a:off x="904195" y="4353366"/>
                <a:ext cx="5760640" cy="738664"/>
              </a:xfrm>
              <a:prstGeom prst="rect">
                <a:avLst/>
              </a:prstGeom>
              <a:blipFill>
                <a:blip r:embed="rId18"/>
                <a:stretch>
                  <a:fillRect l="-317" t="-1653" b="-8264"/>
                </a:stretch>
              </a:blipFill>
            </p:spPr>
            <p:txBody>
              <a:bodyPr/>
              <a:lstStyle/>
              <a:p>
                <a:r>
                  <a:rPr lang="zh-CN" altLang="en-US">
                    <a:noFill/>
                  </a:rPr>
                  <a:t> </a:t>
                </a:r>
              </a:p>
            </p:txBody>
          </p:sp>
        </mc:Fallback>
      </mc:AlternateContent>
      <p:sp>
        <p:nvSpPr>
          <p:cNvPr id="7" name="圆角矩形 6"/>
          <p:cNvSpPr/>
          <p:nvPr/>
        </p:nvSpPr>
        <p:spPr>
          <a:xfrm>
            <a:off x="827584" y="4353366"/>
            <a:ext cx="5837251" cy="73866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4" name="椭圆形标注 13"/>
          <p:cNvSpPr/>
          <p:nvPr/>
        </p:nvSpPr>
        <p:spPr>
          <a:xfrm>
            <a:off x="2960339" y="3271033"/>
            <a:ext cx="1800200" cy="910514"/>
          </a:xfrm>
          <a:prstGeom prst="wedgeEllipseCallou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2"/>
                </a:solidFill>
              </a:rPr>
              <a:t>思考一下，这样做的好处是什么？</a:t>
            </a:r>
          </a:p>
        </p:txBody>
      </p:sp>
    </p:spTree>
    <p:extLst>
      <p:ext uri="{BB962C8B-B14F-4D97-AF65-F5344CB8AC3E}">
        <p14:creationId xmlns:p14="http://schemas.microsoft.com/office/powerpoint/2010/main" val="139330456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36220" y="219075"/>
            <a:ext cx="5153660" cy="598805"/>
            <a:chOff x="-372" y="345"/>
            <a:chExt cx="8116" cy="943"/>
          </a:xfrm>
        </p:grpSpPr>
        <p:sp>
          <p:nvSpPr>
            <p:cNvPr id="9" name="矩形 8"/>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Kinematics of SCARA Robots</a:t>
              </a:r>
              <a:endParaRPr lang="en-US" altLang="zh-CN" sz="1000" dirty="0">
                <a:latin typeface="Arial" panose="020B0604020202020204" pitchFamily="34" charset="0"/>
                <a:ea typeface="微软雅黑" panose="020B0503020204020204" charset="-122"/>
                <a:sym typeface="+mn-ea"/>
              </a:endParaRPr>
            </a:p>
          </p:txBody>
        </p:sp>
        <p:sp>
          <p:nvSpPr>
            <p:cNvPr id="10" name="文本框 9"/>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SCARA</a:t>
              </a:r>
              <a:r>
                <a:rPr lang="zh-CN" altLang="en-US" sz="2000" b="1" dirty="0">
                  <a:latin typeface="Arial" panose="020B0604020202020204" pitchFamily="34" charset="0"/>
                  <a:ea typeface="微软雅黑" panose="020B0503020204020204" charset="-122"/>
                  <a:sym typeface="+mn-ea"/>
                </a:rPr>
                <a:t>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1" name="椭圆 1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2" name="表格 1"/>
          <p:cNvGraphicFramePr>
            <a:graphicFrameLocks noGrp="1"/>
          </p:cNvGraphicFramePr>
          <p:nvPr>
            <p:extLst>
              <p:ext uri="{D42A27DB-BD31-4B8C-83A1-F6EECF244321}">
                <p14:modId xmlns:p14="http://schemas.microsoft.com/office/powerpoint/2010/main" val="581986809"/>
              </p:ext>
            </p:extLst>
          </p:nvPr>
        </p:nvGraphicFramePr>
        <p:xfrm>
          <a:off x="1691679" y="1548095"/>
          <a:ext cx="5688634" cy="1618153"/>
        </p:xfrm>
        <a:graphic>
          <a:graphicData uri="http://schemas.openxmlformats.org/drawingml/2006/table">
            <a:tbl>
              <a:tblPr>
                <a:tableStyleId>{5C22544A-7EE6-4342-B048-85BDC9FD1C3A}</a:tableStyleId>
              </a:tblPr>
              <a:tblGrid>
                <a:gridCol w="812662">
                  <a:extLst>
                    <a:ext uri="{9D8B030D-6E8A-4147-A177-3AD203B41FA5}">
                      <a16:colId xmlns:a16="http://schemas.microsoft.com/office/drawing/2014/main" val="3275635824"/>
                    </a:ext>
                  </a:extLst>
                </a:gridCol>
                <a:gridCol w="812662">
                  <a:extLst>
                    <a:ext uri="{9D8B030D-6E8A-4147-A177-3AD203B41FA5}">
                      <a16:colId xmlns:a16="http://schemas.microsoft.com/office/drawing/2014/main" val="159681261"/>
                    </a:ext>
                  </a:extLst>
                </a:gridCol>
                <a:gridCol w="812662">
                  <a:extLst>
                    <a:ext uri="{9D8B030D-6E8A-4147-A177-3AD203B41FA5}">
                      <a16:colId xmlns:a16="http://schemas.microsoft.com/office/drawing/2014/main" val="1600600573"/>
                    </a:ext>
                  </a:extLst>
                </a:gridCol>
                <a:gridCol w="812662">
                  <a:extLst>
                    <a:ext uri="{9D8B030D-6E8A-4147-A177-3AD203B41FA5}">
                      <a16:colId xmlns:a16="http://schemas.microsoft.com/office/drawing/2014/main" val="2295024842"/>
                    </a:ext>
                  </a:extLst>
                </a:gridCol>
                <a:gridCol w="812662">
                  <a:extLst>
                    <a:ext uri="{9D8B030D-6E8A-4147-A177-3AD203B41FA5}">
                      <a16:colId xmlns:a16="http://schemas.microsoft.com/office/drawing/2014/main" val="106764433"/>
                    </a:ext>
                  </a:extLst>
                </a:gridCol>
                <a:gridCol w="812662">
                  <a:extLst>
                    <a:ext uri="{9D8B030D-6E8A-4147-A177-3AD203B41FA5}">
                      <a16:colId xmlns:a16="http://schemas.microsoft.com/office/drawing/2014/main" val="2412724584"/>
                    </a:ext>
                  </a:extLst>
                </a:gridCol>
                <a:gridCol w="812662">
                  <a:extLst>
                    <a:ext uri="{9D8B030D-6E8A-4147-A177-3AD203B41FA5}">
                      <a16:colId xmlns:a16="http://schemas.microsoft.com/office/drawing/2014/main" val="2693624963"/>
                    </a:ext>
                  </a:extLst>
                </a:gridCol>
              </a:tblGrid>
              <a:tr h="525752">
                <a:tc>
                  <a:txBody>
                    <a:bodyPr/>
                    <a:lstStyle/>
                    <a:p>
                      <a:pPr indent="266700">
                        <a:spcBef>
                          <a:spcPts val="600"/>
                        </a:spcBef>
                        <a:spcAft>
                          <a:spcPts val="600"/>
                        </a:spcAft>
                      </a:pPr>
                      <a:r>
                        <a:rPr lang="zh-CN" sz="1600" kern="100">
                          <a:effectLst/>
                        </a:rPr>
                        <a:t>构件</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endParaRPr lang="en-US"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endParaRPr lang="en-US" sz="1600" kern="100" dirty="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endParaRPr lang="en-US"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endParaRPr lang="en-US"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endParaRPr lang="en-US"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endParaRPr lang="en-US"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1346173820"/>
                  </a:ext>
                </a:extLst>
              </a:tr>
              <a:tr h="286279">
                <a:tc>
                  <a:txBody>
                    <a:bodyPr/>
                    <a:lstStyle/>
                    <a:p>
                      <a:pPr indent="266700">
                        <a:spcBef>
                          <a:spcPts val="600"/>
                        </a:spcBef>
                        <a:spcAft>
                          <a:spcPts val="600"/>
                        </a:spcAft>
                      </a:pPr>
                      <a:r>
                        <a:rPr lang="en-US" sz="1600" kern="100">
                          <a:effectLst/>
                        </a:rPr>
                        <a:t>1</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r>
                        <a:rPr lang="en-US" sz="1600" kern="100">
                          <a:effectLst/>
                        </a:rPr>
                        <a:t>0</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r>
                        <a:rPr lang="en-US" sz="1600" kern="100">
                          <a:effectLst/>
                        </a:rPr>
                        <a:t>0</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r>
                        <a:rPr lang="en-US" sz="1600" kern="100">
                          <a:effectLst/>
                        </a:rPr>
                        <a:t>0</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endParaRPr lang="en-US"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r>
                        <a:rPr lang="en-US" sz="1600" kern="100">
                          <a:effectLst/>
                        </a:rPr>
                        <a:t>1</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r>
                        <a:rPr lang="en-US" sz="1600" kern="100">
                          <a:effectLst/>
                        </a:rPr>
                        <a:t>0</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2022321096"/>
                  </a:ext>
                </a:extLst>
              </a:tr>
              <a:tr h="276508">
                <a:tc>
                  <a:txBody>
                    <a:bodyPr/>
                    <a:lstStyle/>
                    <a:p>
                      <a:pPr indent="266700">
                        <a:spcBef>
                          <a:spcPts val="600"/>
                        </a:spcBef>
                        <a:spcAft>
                          <a:spcPts val="600"/>
                        </a:spcAft>
                      </a:pPr>
                      <a:r>
                        <a:rPr lang="en-US" sz="1600" kern="100">
                          <a:effectLst/>
                        </a:rPr>
                        <a:t>2</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endParaRPr lang="en-US"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r>
                        <a:rPr lang="en-US" sz="1600" kern="100">
                          <a:effectLst/>
                        </a:rPr>
                        <a:t>0</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r>
                        <a:rPr lang="en-US" sz="1600" kern="100">
                          <a:effectLst/>
                        </a:rPr>
                        <a:t>0</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endParaRPr lang="en-US"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r>
                        <a:rPr lang="en-US" sz="1600" kern="100">
                          <a:effectLst/>
                        </a:rPr>
                        <a:t>1</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r>
                        <a:rPr lang="en-US" sz="1600" kern="100">
                          <a:effectLst/>
                        </a:rPr>
                        <a:t>0</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2662054902"/>
                  </a:ext>
                </a:extLst>
              </a:tr>
              <a:tr h="266738">
                <a:tc>
                  <a:txBody>
                    <a:bodyPr/>
                    <a:lstStyle/>
                    <a:p>
                      <a:pPr indent="266700">
                        <a:spcBef>
                          <a:spcPts val="600"/>
                        </a:spcBef>
                        <a:spcAft>
                          <a:spcPts val="600"/>
                        </a:spcAft>
                      </a:pPr>
                      <a:r>
                        <a:rPr lang="en-US" sz="1600" kern="100">
                          <a:effectLst/>
                        </a:rPr>
                        <a:t>3</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endParaRPr lang="en-US"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r>
                        <a:rPr lang="en-US" sz="1600" kern="100">
                          <a:effectLst/>
                        </a:rPr>
                        <a:t>0</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endParaRPr lang="en-US"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r>
                        <a:rPr lang="en-US" sz="1600" kern="100">
                          <a:effectLst/>
                        </a:rPr>
                        <a:t>0</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r>
                        <a:rPr lang="en-US" sz="1600" kern="100">
                          <a:effectLst/>
                        </a:rPr>
                        <a:t>1</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r>
                        <a:rPr lang="en-US" sz="1600" kern="100">
                          <a:effectLst/>
                        </a:rPr>
                        <a:t>0</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2555159713"/>
                  </a:ext>
                </a:extLst>
              </a:tr>
              <a:tr h="262876">
                <a:tc>
                  <a:txBody>
                    <a:bodyPr/>
                    <a:lstStyle/>
                    <a:p>
                      <a:pPr indent="266700">
                        <a:spcBef>
                          <a:spcPts val="600"/>
                        </a:spcBef>
                        <a:spcAft>
                          <a:spcPts val="600"/>
                        </a:spcAft>
                      </a:pPr>
                      <a:r>
                        <a:rPr lang="en-US" sz="1600" kern="100">
                          <a:effectLst/>
                        </a:rPr>
                        <a:t>4</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r>
                        <a:rPr lang="en-US" sz="1600" kern="100">
                          <a:effectLst/>
                        </a:rPr>
                        <a:t>0</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r>
                        <a:rPr lang="en-US" sz="1600" kern="100">
                          <a:effectLst/>
                        </a:rPr>
                        <a:t>0</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r>
                        <a:rPr lang="en-US" sz="1600" kern="100">
                          <a:effectLst/>
                        </a:rPr>
                        <a:t>0</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endParaRPr lang="en-US"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r>
                        <a:rPr lang="en-US" sz="1600" kern="100">
                          <a:effectLst/>
                        </a:rPr>
                        <a:t>1</a:t>
                      </a:r>
                      <a:endParaRPr lang="zh-CN" sz="16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indent="266700">
                        <a:spcBef>
                          <a:spcPts val="600"/>
                        </a:spcBef>
                        <a:spcAft>
                          <a:spcPts val="600"/>
                        </a:spcAft>
                      </a:pPr>
                      <a:r>
                        <a:rPr lang="en-US" sz="1600" kern="100" dirty="0">
                          <a:effectLst/>
                        </a:rPr>
                        <a:t>0</a:t>
                      </a:r>
                      <a:endParaRPr lang="zh-CN" sz="1600" kern="100" dirty="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2968188178"/>
                  </a:ext>
                </a:extLst>
              </a:tr>
            </a:tbl>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05120089"/>
              </p:ext>
            </p:extLst>
          </p:nvPr>
        </p:nvGraphicFramePr>
        <p:xfrm>
          <a:off x="2787799" y="1649003"/>
          <a:ext cx="344041" cy="311275"/>
        </p:xfrm>
        <a:graphic>
          <a:graphicData uri="http://schemas.openxmlformats.org/presentationml/2006/ole">
            <mc:AlternateContent xmlns:mc="http://schemas.openxmlformats.org/markup-compatibility/2006">
              <mc:Choice xmlns:v="urn:schemas-microsoft-com:vml" Requires="v">
                <p:oleObj spid="_x0000_s43695" r:id="rId4" imgW="254442" imgH="228998" progId="Equation.DSMT4">
                  <p:embed/>
                </p:oleObj>
              </mc:Choice>
              <mc:Fallback>
                <p:oleObj r:id="rId4" imgW="254442" imgH="228998" progId="Equation.DSMT4">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7799" y="1649003"/>
                        <a:ext cx="344041" cy="311275"/>
                      </a:xfrm>
                      <a:prstGeom prst="rect">
                        <a:avLst/>
                      </a:prstGeom>
                      <a:no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74694027"/>
              </p:ext>
            </p:extLst>
          </p:nvPr>
        </p:nvGraphicFramePr>
        <p:xfrm>
          <a:off x="3491880" y="1615089"/>
          <a:ext cx="458913" cy="379102"/>
        </p:xfrm>
        <a:graphic>
          <a:graphicData uri="http://schemas.openxmlformats.org/presentationml/2006/ole">
            <mc:AlternateContent xmlns:mc="http://schemas.openxmlformats.org/markup-compatibility/2006">
              <mc:Choice xmlns:v="urn:schemas-microsoft-com:vml" Requires="v">
                <p:oleObj spid="_x0000_s43696" r:id="rId6" imgW="280130" imgH="229197" progId="Equation.DSMT4">
                  <p:embed/>
                </p:oleObj>
              </mc:Choice>
              <mc:Fallback>
                <p:oleObj r:id="rId6" imgW="280130" imgH="229197" progId="Equation.DSMT4">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91880" y="1615089"/>
                        <a:ext cx="458913" cy="379102"/>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018941202"/>
              </p:ext>
            </p:extLst>
          </p:nvPr>
        </p:nvGraphicFramePr>
        <p:xfrm>
          <a:off x="4348897" y="1626026"/>
          <a:ext cx="328613" cy="416243"/>
        </p:xfrm>
        <a:graphic>
          <a:graphicData uri="http://schemas.openxmlformats.org/presentationml/2006/ole">
            <mc:AlternateContent xmlns:mc="http://schemas.openxmlformats.org/markup-compatibility/2006">
              <mc:Choice xmlns:v="urn:schemas-microsoft-com:vml" Requires="v">
                <p:oleObj spid="_x0000_s43697" r:id="rId8" imgW="178032" imgH="228898" progId="Equation.DSMT4">
                  <p:embed/>
                </p:oleObj>
              </mc:Choice>
              <mc:Fallback>
                <p:oleObj r:id="rId8" imgW="178032" imgH="228898"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48897" y="1626026"/>
                        <a:ext cx="328613" cy="416243"/>
                      </a:xfrm>
                      <a:prstGeom prst="rect">
                        <a:avLst/>
                      </a:prstGeom>
                      <a:noFill/>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955562671"/>
              </p:ext>
            </p:extLst>
          </p:nvPr>
        </p:nvGraphicFramePr>
        <p:xfrm>
          <a:off x="5220072" y="1666074"/>
          <a:ext cx="241770" cy="328117"/>
        </p:xfrm>
        <a:graphic>
          <a:graphicData uri="http://schemas.openxmlformats.org/presentationml/2006/ole">
            <mc:AlternateContent xmlns:mc="http://schemas.openxmlformats.org/markup-compatibility/2006">
              <mc:Choice xmlns:v="urn:schemas-microsoft-com:vml" Requires="v">
                <p:oleObj spid="_x0000_s43698" r:id="rId10" imgW="165387" imgH="228998" progId="Equation.DSMT4">
                  <p:embed/>
                </p:oleObj>
              </mc:Choice>
              <mc:Fallback>
                <p:oleObj r:id="rId10" imgW="165387" imgH="228998" progId="Equation.DSMT4">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20072" y="1666074"/>
                        <a:ext cx="241770" cy="328117"/>
                      </a:xfrm>
                      <a:prstGeom prst="rect">
                        <a:avLst/>
                      </a:prstGeom>
                      <a:noFill/>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2262292380"/>
              </p:ext>
            </p:extLst>
          </p:nvPr>
        </p:nvGraphicFramePr>
        <p:xfrm>
          <a:off x="5899001" y="1714152"/>
          <a:ext cx="604295" cy="280039"/>
        </p:xfrm>
        <a:graphic>
          <a:graphicData uri="http://schemas.openxmlformats.org/presentationml/2006/ole">
            <mc:AlternateContent xmlns:mc="http://schemas.openxmlformats.org/markup-compatibility/2006">
              <mc:Choice xmlns:v="urn:schemas-microsoft-com:vml" Requires="v">
                <p:oleObj spid="_x0000_s43699" r:id="rId12" imgW="495730" imgH="228799" progId="Equation.DSMT4">
                  <p:embed/>
                </p:oleObj>
              </mc:Choice>
              <mc:Fallback>
                <p:oleObj r:id="rId12" imgW="495730" imgH="228799" progId="Equation.DSMT4">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99001" y="1714152"/>
                        <a:ext cx="604295" cy="280039"/>
                      </a:xfrm>
                      <a:prstGeom prst="rect">
                        <a:avLst/>
                      </a:prstGeom>
                      <a:noFill/>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4141424272"/>
              </p:ext>
            </p:extLst>
          </p:nvPr>
        </p:nvGraphicFramePr>
        <p:xfrm>
          <a:off x="6708551" y="1688110"/>
          <a:ext cx="574817" cy="280039"/>
        </p:xfrm>
        <a:graphic>
          <a:graphicData uri="http://schemas.openxmlformats.org/presentationml/2006/ole">
            <mc:AlternateContent xmlns:mc="http://schemas.openxmlformats.org/markup-compatibility/2006">
              <mc:Choice xmlns:v="urn:schemas-microsoft-com:vml" Requires="v">
                <p:oleObj spid="_x0000_s43700" r:id="rId14" imgW="470717" imgH="228998" progId="Equation.DSMT4">
                  <p:embed/>
                </p:oleObj>
              </mc:Choice>
              <mc:Fallback>
                <p:oleObj r:id="rId14" imgW="470717" imgH="228998" progId="Equation.DSMT4">
                  <p:embed/>
                  <p:pic>
                    <p:nvPicPr>
                      <p:cNvPr id="0" name="Object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708551" y="1688110"/>
                        <a:ext cx="574817" cy="280039"/>
                      </a:xfrm>
                      <a:prstGeom prst="rect">
                        <a:avLst/>
                      </a:prstGeom>
                      <a:noFill/>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1965803007"/>
              </p:ext>
            </p:extLst>
          </p:nvPr>
        </p:nvGraphicFramePr>
        <p:xfrm>
          <a:off x="5274282" y="2112170"/>
          <a:ext cx="187560" cy="254546"/>
        </p:xfrm>
        <a:graphic>
          <a:graphicData uri="http://schemas.openxmlformats.org/presentationml/2006/ole">
            <mc:AlternateContent xmlns:mc="http://schemas.openxmlformats.org/markup-compatibility/2006">
              <mc:Choice xmlns:v="urn:schemas-microsoft-com:vml" Requires="v">
                <p:oleObj spid="_x0000_s43701" r:id="rId16" imgW="152731" imgH="229097" progId="Equation.DSMT4">
                  <p:embed/>
                </p:oleObj>
              </mc:Choice>
              <mc:Fallback>
                <p:oleObj r:id="rId16" imgW="152731" imgH="229097" progId="Equation.DSMT4">
                  <p:embed/>
                  <p:pic>
                    <p:nvPicPr>
                      <p:cNvPr id="0" name="Object 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274282" y="2112170"/>
                        <a:ext cx="187560" cy="254546"/>
                      </a:xfrm>
                      <a:prstGeom prst="rect">
                        <a:avLst/>
                      </a:prstGeom>
                      <a:noFill/>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1689644166"/>
              </p:ext>
            </p:extLst>
          </p:nvPr>
        </p:nvGraphicFramePr>
        <p:xfrm>
          <a:off x="2787799" y="2327580"/>
          <a:ext cx="245856" cy="358191"/>
        </p:xfrm>
        <a:graphic>
          <a:graphicData uri="http://schemas.openxmlformats.org/presentationml/2006/ole">
            <mc:AlternateContent xmlns:mc="http://schemas.openxmlformats.org/markup-compatibility/2006">
              <mc:Choice xmlns:v="urn:schemas-microsoft-com:vml" Requires="v">
                <p:oleObj spid="_x0000_s43702" r:id="rId18" imgW="114449" imgH="228898" progId="Equation.DSMT4">
                  <p:embed/>
                </p:oleObj>
              </mc:Choice>
              <mc:Fallback>
                <p:oleObj r:id="rId18" imgW="114449" imgH="228898" progId="Equation.DSMT4">
                  <p:embed/>
                  <p:pic>
                    <p:nvPicPr>
                      <p:cNvPr id="0" name="Object 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787799" y="2327580"/>
                        <a:ext cx="245856" cy="358191"/>
                      </a:xfrm>
                      <a:prstGeom prst="rect">
                        <a:avLst/>
                      </a:prstGeom>
                      <a:noFill/>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3043958135"/>
              </p:ext>
            </p:extLst>
          </p:nvPr>
        </p:nvGraphicFramePr>
        <p:xfrm>
          <a:off x="5292080" y="2369734"/>
          <a:ext cx="198641" cy="269584"/>
        </p:xfrm>
        <a:graphic>
          <a:graphicData uri="http://schemas.openxmlformats.org/presentationml/2006/ole">
            <mc:AlternateContent xmlns:mc="http://schemas.openxmlformats.org/markup-compatibility/2006">
              <mc:Choice xmlns:v="urn:schemas-microsoft-com:vml" Requires="v">
                <p:oleObj spid="_x0000_s43703" r:id="rId20" imgW="165387" imgH="228998" progId="Equation.DSMT4">
                  <p:embed/>
                </p:oleObj>
              </mc:Choice>
              <mc:Fallback>
                <p:oleObj r:id="rId20" imgW="165387" imgH="228998" progId="Equation.DSMT4">
                  <p:embed/>
                  <p:pic>
                    <p:nvPicPr>
                      <p:cNvPr id="0" name="Object 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292080" y="2369734"/>
                        <a:ext cx="198641" cy="269584"/>
                      </a:xfrm>
                      <a:prstGeom prst="rect">
                        <a:avLst/>
                      </a:prstGeom>
                      <a:noFill/>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2731067611"/>
              </p:ext>
            </p:extLst>
          </p:nvPr>
        </p:nvGraphicFramePr>
        <p:xfrm>
          <a:off x="2815477" y="2567310"/>
          <a:ext cx="218178" cy="414538"/>
        </p:xfrm>
        <a:graphic>
          <a:graphicData uri="http://schemas.openxmlformats.org/presentationml/2006/ole">
            <mc:AlternateContent xmlns:mc="http://schemas.openxmlformats.org/markup-compatibility/2006">
              <mc:Choice xmlns:v="urn:schemas-microsoft-com:vml" Requires="v">
                <p:oleObj spid="_x0000_s43704" r:id="rId22" imgW="127110" imgH="228799" progId="Equation.DSMT4">
                  <p:embed/>
                </p:oleObj>
              </mc:Choice>
              <mc:Fallback>
                <p:oleObj r:id="rId22" imgW="127110" imgH="228799" progId="Equation.DSMT4">
                  <p:embed/>
                  <p:pic>
                    <p:nvPicPr>
                      <p:cNvPr id="0" name="Object 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815477" y="2567310"/>
                        <a:ext cx="218178" cy="414538"/>
                      </a:xfrm>
                      <a:prstGeom prst="rect">
                        <a:avLst/>
                      </a:prstGeom>
                      <a:noFill/>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3923811801"/>
              </p:ext>
            </p:extLst>
          </p:nvPr>
        </p:nvGraphicFramePr>
        <p:xfrm>
          <a:off x="4382234" y="2615717"/>
          <a:ext cx="261938" cy="331788"/>
        </p:xfrm>
        <a:graphic>
          <a:graphicData uri="http://schemas.openxmlformats.org/presentationml/2006/ole">
            <mc:AlternateContent xmlns:mc="http://schemas.openxmlformats.org/markup-compatibility/2006">
              <mc:Choice xmlns:v="urn:schemas-microsoft-com:vml" Requires="v">
                <p:oleObj spid="_x0000_s43705" r:id="rId24" imgW="178032" imgH="228898" progId="Equation.DSMT4">
                  <p:embed/>
                </p:oleObj>
              </mc:Choice>
              <mc:Fallback>
                <p:oleObj r:id="rId24" imgW="178032" imgH="228898" progId="Equation.DSMT4">
                  <p:embed/>
                  <p:pic>
                    <p:nvPicPr>
                      <p:cNvPr id="0" name="Object 2"/>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382234" y="2615717"/>
                        <a:ext cx="261938" cy="331788"/>
                      </a:xfrm>
                      <a:prstGeom prst="rect">
                        <a:avLst/>
                      </a:prstGeom>
                      <a:noFill/>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2963138384"/>
              </p:ext>
            </p:extLst>
          </p:nvPr>
        </p:nvGraphicFramePr>
        <p:xfrm>
          <a:off x="5208877" y="2890369"/>
          <a:ext cx="225845" cy="306504"/>
        </p:xfrm>
        <a:graphic>
          <a:graphicData uri="http://schemas.openxmlformats.org/presentationml/2006/ole">
            <mc:AlternateContent xmlns:mc="http://schemas.openxmlformats.org/markup-compatibility/2006">
              <mc:Choice xmlns:v="urn:schemas-microsoft-com:vml" Requires="v">
                <p:oleObj spid="_x0000_s43706" r:id="rId26" imgW="165387" imgH="228998" progId="Equation.DSMT4">
                  <p:embed/>
                </p:oleObj>
              </mc:Choice>
              <mc:Fallback>
                <p:oleObj r:id="rId26" imgW="165387" imgH="228998" progId="Equation.DSMT4">
                  <p:embed/>
                  <p:pic>
                    <p:nvPicPr>
                      <p:cNvPr id="0" name="Object 1"/>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208877" y="2890369"/>
                        <a:ext cx="225845" cy="306504"/>
                      </a:xfrm>
                      <a:prstGeom prst="rect">
                        <a:avLst/>
                      </a:prstGeom>
                      <a:noFill/>
                    </p:spPr>
                  </p:pic>
                </p:oleObj>
              </mc:Fallback>
            </mc:AlternateContent>
          </a:graphicData>
        </a:graphic>
      </p:graphicFrame>
      <p:sp>
        <p:nvSpPr>
          <p:cNvPr id="25" name="矩形 24"/>
          <p:cNvSpPr/>
          <p:nvPr/>
        </p:nvSpPr>
        <p:spPr>
          <a:xfrm>
            <a:off x="2489056" y="1059582"/>
            <a:ext cx="4596130" cy="369332"/>
          </a:xfrm>
          <a:prstGeom prst="rect">
            <a:avLst/>
          </a:prstGeom>
        </p:spPr>
        <p:txBody>
          <a:bodyPr wrap="none">
            <a:spAutoFit/>
          </a:bodyPr>
          <a:lstStyle/>
          <a:p>
            <a:r>
              <a:rPr lang="en-US" altLang="zh-CN" dirty="0">
                <a:solidFill>
                  <a:srgbClr val="002060"/>
                </a:solidFill>
                <a:latin typeface="等线" panose="02010600030101010101" pitchFamily="2" charset="-122"/>
                <a:cs typeface="Times New Roman" panose="02020603050405020304" pitchFamily="18" charset="0"/>
              </a:rPr>
              <a:t>Component Link </a:t>
            </a:r>
            <a:r>
              <a:rPr lang="en-US" altLang="zh-CN" dirty="0" smtClean="0">
                <a:solidFill>
                  <a:srgbClr val="002060"/>
                </a:solidFill>
                <a:latin typeface="等线" panose="02010600030101010101" pitchFamily="2" charset="-122"/>
                <a:cs typeface="Times New Roman" panose="02020603050405020304" pitchFamily="18" charset="0"/>
              </a:rPr>
              <a:t>MDH Parameters </a:t>
            </a:r>
            <a:r>
              <a:rPr lang="en-US" altLang="zh-CN" dirty="0">
                <a:solidFill>
                  <a:srgbClr val="002060"/>
                </a:solidFill>
                <a:latin typeface="等线" panose="02010600030101010101" pitchFamily="2" charset="-122"/>
                <a:cs typeface="Times New Roman" panose="02020603050405020304" pitchFamily="18" charset="0"/>
              </a:rPr>
              <a:t>of SCARA</a:t>
            </a:r>
            <a:endParaRPr lang="zh-CN" altLang="en-US" dirty="0">
              <a:solidFill>
                <a:srgbClr val="002060"/>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1698623662"/>
              </p:ext>
            </p:extLst>
          </p:nvPr>
        </p:nvGraphicFramePr>
        <p:xfrm>
          <a:off x="282481" y="3723878"/>
          <a:ext cx="3495675" cy="914400"/>
        </p:xfrm>
        <a:graphic>
          <a:graphicData uri="http://schemas.openxmlformats.org/presentationml/2006/ole">
            <mc:AlternateContent xmlns:mc="http://schemas.openxmlformats.org/markup-compatibility/2006">
              <mc:Choice xmlns:v="urn:schemas-microsoft-com:vml" Requires="v">
                <p:oleObj spid="_x0000_s43707" r:id="rId28" imgW="3924300" imgH="914400" progId="Equation.DSMT4">
                  <p:embed/>
                </p:oleObj>
              </mc:Choice>
              <mc:Fallback>
                <p:oleObj r:id="rId28" imgW="3924300" imgH="914400" progId="Equation.DSMT4">
                  <p:embed/>
                  <p:pic>
                    <p:nvPicPr>
                      <p:cNvPr id="0" name="Object 1225"/>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82481" y="3723878"/>
                        <a:ext cx="3495675"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222960853"/>
              </p:ext>
            </p:extLst>
          </p:nvPr>
        </p:nvGraphicFramePr>
        <p:xfrm>
          <a:off x="3802964" y="3882073"/>
          <a:ext cx="1133475" cy="752475"/>
        </p:xfrm>
        <a:graphic>
          <a:graphicData uri="http://schemas.openxmlformats.org/presentationml/2006/ole">
            <mc:AlternateContent xmlns:mc="http://schemas.openxmlformats.org/markup-compatibility/2006">
              <mc:Choice xmlns:v="urn:schemas-microsoft-com:vml" Requires="v">
                <p:oleObj spid="_x0000_s43708" r:id="rId30" imgW="1372792" imgH="915194" progId="Equation.DSMT4">
                  <p:embed/>
                </p:oleObj>
              </mc:Choice>
              <mc:Fallback>
                <p:oleObj r:id="rId30" imgW="1372792" imgH="915194" progId="Equation.DSMT4">
                  <p:embed/>
                  <p:pic>
                    <p:nvPicPr>
                      <p:cNvPr id="0" name="Object 1230"/>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3802964" y="3882073"/>
                        <a:ext cx="1133475" cy="752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272051664"/>
              </p:ext>
            </p:extLst>
          </p:nvPr>
        </p:nvGraphicFramePr>
        <p:xfrm>
          <a:off x="5020448" y="3838178"/>
          <a:ext cx="1133475" cy="733425"/>
        </p:xfrm>
        <a:graphic>
          <a:graphicData uri="http://schemas.openxmlformats.org/presentationml/2006/ole">
            <mc:AlternateContent xmlns:mc="http://schemas.openxmlformats.org/markup-compatibility/2006">
              <mc:Choice xmlns:v="urn:schemas-microsoft-com:vml" Requires="v">
                <p:oleObj spid="_x0000_s43709" r:id="rId32" imgW="1423636" imgH="915194" progId="Equation.DSMT4">
                  <p:embed/>
                </p:oleObj>
              </mc:Choice>
              <mc:Fallback>
                <p:oleObj r:id="rId32" imgW="1423636" imgH="915194" progId="Equation.DSMT4">
                  <p:embed/>
                  <p:pic>
                    <p:nvPicPr>
                      <p:cNvPr id="0" name="Object 1229"/>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5020448" y="3838178"/>
                        <a:ext cx="1133475" cy="733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4116654357"/>
              </p:ext>
            </p:extLst>
          </p:nvPr>
        </p:nvGraphicFramePr>
        <p:xfrm>
          <a:off x="6238595" y="3880260"/>
          <a:ext cx="1047750" cy="742950"/>
        </p:xfrm>
        <a:graphic>
          <a:graphicData uri="http://schemas.openxmlformats.org/presentationml/2006/ole">
            <mc:AlternateContent xmlns:mc="http://schemas.openxmlformats.org/markup-compatibility/2006">
              <mc:Choice xmlns:v="urn:schemas-microsoft-com:vml" Requires="v">
                <p:oleObj spid="_x0000_s43710" r:id="rId34" imgW="1385503" imgH="915194" progId="Equation.DSMT4">
                  <p:embed/>
                </p:oleObj>
              </mc:Choice>
              <mc:Fallback>
                <p:oleObj r:id="rId34" imgW="1385503" imgH="915194" progId="Equation.DSMT4">
                  <p:embed/>
                  <p:pic>
                    <p:nvPicPr>
                      <p:cNvPr id="0" name="Object 1228"/>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6238595" y="3880260"/>
                        <a:ext cx="1047750"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634943836"/>
              </p:ext>
            </p:extLst>
          </p:nvPr>
        </p:nvGraphicFramePr>
        <p:xfrm>
          <a:off x="7354254" y="3790553"/>
          <a:ext cx="1085850" cy="781050"/>
        </p:xfrm>
        <a:graphic>
          <a:graphicData uri="http://schemas.openxmlformats.org/presentationml/2006/ole">
            <mc:AlternateContent xmlns:mc="http://schemas.openxmlformats.org/markup-compatibility/2006">
              <mc:Choice xmlns:v="urn:schemas-microsoft-com:vml" Requires="v">
                <p:oleObj spid="_x0000_s43711" r:id="rId36" imgW="1423636" imgH="915194" progId="Equation.DSMT4">
                  <p:embed/>
                </p:oleObj>
              </mc:Choice>
              <mc:Fallback>
                <p:oleObj r:id="rId36" imgW="1423636" imgH="915194" progId="Equation.DSMT4">
                  <p:embed/>
                  <p:pic>
                    <p:nvPicPr>
                      <p:cNvPr id="0" name="Object 1227"/>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7354254" y="3790553"/>
                        <a:ext cx="1085850" cy="781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99678510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36220" y="219075"/>
            <a:ext cx="5153660" cy="598805"/>
            <a:chOff x="-372" y="345"/>
            <a:chExt cx="8116" cy="943"/>
          </a:xfrm>
        </p:grpSpPr>
        <p:sp>
          <p:nvSpPr>
            <p:cNvPr id="9" name="矩形 8"/>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Kinematics of SCARA Robots</a:t>
              </a:r>
              <a:endParaRPr lang="en-US" altLang="zh-CN" sz="1000" dirty="0">
                <a:latin typeface="Arial" panose="020B0604020202020204" pitchFamily="34" charset="0"/>
                <a:ea typeface="微软雅黑" panose="020B0503020204020204" charset="-122"/>
                <a:sym typeface="+mn-ea"/>
              </a:endParaRPr>
            </a:p>
          </p:txBody>
        </p:sp>
        <p:sp>
          <p:nvSpPr>
            <p:cNvPr id="10" name="文本框 9"/>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SCARA</a:t>
              </a:r>
              <a:r>
                <a:rPr lang="zh-CN" altLang="en-US" sz="2000" b="1" dirty="0">
                  <a:latin typeface="Arial" panose="020B0604020202020204" pitchFamily="34" charset="0"/>
                  <a:ea typeface="微软雅黑" panose="020B0503020204020204" charset="-122"/>
                  <a:sym typeface="+mn-ea"/>
                </a:rPr>
                <a:t>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1" name="椭圆 1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6" name="对象 5"/>
          <p:cNvGraphicFramePr>
            <a:graphicFrameLocks noChangeAspect="1"/>
          </p:cNvGraphicFramePr>
          <p:nvPr>
            <p:extLst>
              <p:ext uri="{D42A27DB-BD31-4B8C-83A1-F6EECF244321}">
                <p14:modId xmlns:p14="http://schemas.microsoft.com/office/powerpoint/2010/main" val="1938880209"/>
              </p:ext>
            </p:extLst>
          </p:nvPr>
        </p:nvGraphicFramePr>
        <p:xfrm>
          <a:off x="1043608" y="1923678"/>
          <a:ext cx="7004279" cy="2088232"/>
        </p:xfrm>
        <a:graphic>
          <a:graphicData uri="http://schemas.openxmlformats.org/presentationml/2006/ole">
            <mc:AlternateContent xmlns:mc="http://schemas.openxmlformats.org/markup-compatibility/2006">
              <mc:Choice xmlns:v="urn:schemas-microsoft-com:vml" Requires="v">
                <p:oleObj spid="_x0000_s10370" r:id="rId4" imgW="5461000" imgH="1854200" progId="Equation.DSMT4">
                  <p:embed/>
                </p:oleObj>
              </mc:Choice>
              <mc:Fallback>
                <p:oleObj r:id="rId4" imgW="5461000" imgH="1854200" progId="Equation.DSMT4">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3608" y="1923678"/>
                        <a:ext cx="7004279" cy="2088232"/>
                      </a:xfrm>
                      <a:prstGeom prst="rect">
                        <a:avLst/>
                      </a:prstGeom>
                      <a:noFill/>
                    </p:spPr>
                  </p:pic>
                </p:oleObj>
              </mc:Fallback>
            </mc:AlternateContent>
          </a:graphicData>
        </a:graphic>
      </p:graphicFrame>
      <p:sp>
        <p:nvSpPr>
          <p:cNvPr id="12" name="矩形 11"/>
          <p:cNvSpPr/>
          <p:nvPr/>
        </p:nvSpPr>
        <p:spPr>
          <a:xfrm>
            <a:off x="3563888" y="1365751"/>
            <a:ext cx="1723549" cy="400110"/>
          </a:xfrm>
          <a:prstGeom prst="rect">
            <a:avLst/>
          </a:prstGeom>
        </p:spPr>
        <p:txBody>
          <a:bodyPr wrap="none">
            <a:spAutoFit/>
          </a:bodyPr>
          <a:lstStyle/>
          <a:p>
            <a:r>
              <a:rPr lang="zh-CN" altLang="zh-CN" sz="2000">
                <a:solidFill>
                  <a:srgbClr val="002060"/>
                </a:solidFill>
                <a:ea typeface="等线" panose="02010600030101010101" pitchFamily="2" charset="-122"/>
                <a:cs typeface="Times New Roman" panose="02020603050405020304" pitchFamily="18" charset="0"/>
              </a:rPr>
              <a:t>正运动学方程</a:t>
            </a:r>
            <a:endParaRPr lang="zh-CN" altLang="en-US" sz="2000">
              <a:solidFill>
                <a:srgbClr val="002060"/>
              </a:solidFill>
            </a:endParaRPr>
          </a:p>
        </p:txBody>
      </p:sp>
    </p:spTree>
    <p:extLst>
      <p:ext uri="{BB962C8B-B14F-4D97-AF65-F5344CB8AC3E}">
        <p14:creationId xmlns:p14="http://schemas.microsoft.com/office/powerpoint/2010/main" val="386363490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36220" y="219075"/>
            <a:ext cx="5153660" cy="598805"/>
            <a:chOff x="-372" y="345"/>
            <a:chExt cx="8116" cy="943"/>
          </a:xfrm>
        </p:grpSpPr>
        <p:sp>
          <p:nvSpPr>
            <p:cNvPr id="9" name="矩形 8"/>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Kinematics of SCARA Robots</a:t>
              </a:r>
              <a:endParaRPr lang="en-US" altLang="zh-CN" sz="1000" dirty="0">
                <a:latin typeface="Arial" panose="020B0604020202020204" pitchFamily="34" charset="0"/>
                <a:ea typeface="微软雅黑" panose="020B0503020204020204" charset="-122"/>
                <a:sym typeface="+mn-ea"/>
              </a:endParaRPr>
            </a:p>
          </p:txBody>
        </p:sp>
        <p:sp>
          <p:nvSpPr>
            <p:cNvPr id="10" name="文本框 9"/>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SCARA</a:t>
              </a:r>
              <a:r>
                <a:rPr lang="zh-CN" altLang="en-US" sz="2000" b="1" dirty="0">
                  <a:latin typeface="Arial" panose="020B0604020202020204" pitchFamily="34" charset="0"/>
                  <a:ea typeface="微软雅黑" panose="020B0503020204020204" charset="-122"/>
                  <a:sym typeface="+mn-ea"/>
                </a:rPr>
                <a:t>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1" name="椭圆 1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p:nvSpPr>
        <p:spPr>
          <a:xfrm>
            <a:off x="3275856" y="697670"/>
            <a:ext cx="2650084" cy="400110"/>
          </a:xfrm>
          <a:prstGeom prst="rect">
            <a:avLst/>
          </a:prstGeom>
        </p:spPr>
        <p:txBody>
          <a:bodyPr wrap="none">
            <a:spAutoFit/>
          </a:bodyPr>
          <a:lstStyle/>
          <a:p>
            <a:r>
              <a:rPr lang="zh-CN" altLang="en-US" sz="2000" dirty="0" smtClean="0">
                <a:solidFill>
                  <a:srgbClr val="002060"/>
                </a:solidFill>
                <a:ea typeface="等线" panose="02010600030101010101" pitchFamily="2" charset="-122"/>
                <a:cs typeface="Times New Roman" panose="02020603050405020304" pitchFamily="18" charset="0"/>
              </a:rPr>
              <a:t>逆</a:t>
            </a:r>
            <a:r>
              <a:rPr lang="zh-CN" altLang="zh-CN" sz="2000" dirty="0" smtClean="0">
                <a:solidFill>
                  <a:srgbClr val="002060"/>
                </a:solidFill>
                <a:ea typeface="等线" panose="02010600030101010101" pitchFamily="2" charset="-122"/>
                <a:cs typeface="Times New Roman" panose="02020603050405020304" pitchFamily="18" charset="0"/>
              </a:rPr>
              <a:t>运动学</a:t>
            </a:r>
            <a:r>
              <a:rPr lang="zh-CN" altLang="en-US" sz="2000" dirty="0" smtClean="0">
                <a:solidFill>
                  <a:srgbClr val="002060"/>
                </a:solidFill>
                <a:ea typeface="等线" panose="02010600030101010101" pitchFamily="2" charset="-122"/>
                <a:cs typeface="Times New Roman" panose="02020603050405020304" pitchFamily="18" charset="0"/>
              </a:rPr>
              <a:t>求解</a:t>
            </a:r>
            <a:r>
              <a:rPr lang="en-US" altLang="zh-CN" sz="2000" dirty="0" smtClean="0">
                <a:solidFill>
                  <a:srgbClr val="002060"/>
                </a:solidFill>
                <a:ea typeface="等线" panose="02010600030101010101" pitchFamily="2" charset="-122"/>
                <a:cs typeface="Times New Roman" panose="02020603050405020304" pitchFamily="18" charset="0"/>
              </a:rPr>
              <a:t>(</a:t>
            </a:r>
            <a:r>
              <a:rPr lang="zh-CN" altLang="en-US" sz="2000" dirty="0" smtClean="0">
                <a:solidFill>
                  <a:srgbClr val="002060"/>
                </a:solidFill>
                <a:ea typeface="等线" panose="02010600030101010101" pitchFamily="2" charset="-122"/>
                <a:cs typeface="Times New Roman" panose="02020603050405020304" pitchFamily="18" charset="0"/>
              </a:rPr>
              <a:t>代数法</a:t>
            </a:r>
            <a:r>
              <a:rPr lang="en-US" altLang="zh-CN" sz="2000" dirty="0" smtClean="0">
                <a:solidFill>
                  <a:srgbClr val="002060"/>
                </a:solidFill>
                <a:ea typeface="等线" panose="02010600030101010101" pitchFamily="2" charset="-122"/>
                <a:cs typeface="Times New Roman" panose="02020603050405020304" pitchFamily="18" charset="0"/>
              </a:rPr>
              <a:t>)</a:t>
            </a:r>
            <a:endParaRPr lang="zh-CN" altLang="en-US" sz="2000" dirty="0">
              <a:solidFill>
                <a:srgbClr val="002060"/>
              </a:solidFill>
            </a:endParaRPr>
          </a:p>
        </p:txBody>
      </p:sp>
      <p:graphicFrame>
        <p:nvGraphicFramePr>
          <p:cNvPr id="16" name="对象 15"/>
          <p:cNvGraphicFramePr>
            <a:graphicFrameLocks noChangeAspect="1"/>
          </p:cNvGraphicFramePr>
          <p:nvPr>
            <p:extLst>
              <p:ext uri="{D42A27DB-BD31-4B8C-83A1-F6EECF244321}">
                <p14:modId xmlns:p14="http://schemas.microsoft.com/office/powerpoint/2010/main" val="596357171"/>
              </p:ext>
            </p:extLst>
          </p:nvPr>
        </p:nvGraphicFramePr>
        <p:xfrm>
          <a:off x="1860819" y="4361838"/>
          <a:ext cx="2497023" cy="743794"/>
        </p:xfrm>
        <a:graphic>
          <a:graphicData uri="http://schemas.openxmlformats.org/presentationml/2006/ole">
            <mc:AlternateContent xmlns:mc="http://schemas.openxmlformats.org/markup-compatibility/2006">
              <mc:Choice xmlns:v="urn:schemas-microsoft-com:vml" Requires="v">
                <p:oleObj spid="_x0000_s11930" r:id="rId4" imgW="1663700" imgH="533400" progId="Equation.DSMT4">
                  <p:embed/>
                </p:oleObj>
              </mc:Choice>
              <mc:Fallback>
                <p:oleObj r:id="rId4" imgW="1663700" imgH="53340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60819" y="4361838"/>
                        <a:ext cx="2497023" cy="743794"/>
                      </a:xfrm>
                      <a:prstGeom prst="rect">
                        <a:avLst/>
                      </a:prstGeom>
                      <a:noFill/>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4059153512"/>
              </p:ext>
            </p:extLst>
          </p:nvPr>
        </p:nvGraphicFramePr>
        <p:xfrm>
          <a:off x="4917440" y="4373047"/>
          <a:ext cx="2724962" cy="625401"/>
        </p:xfrm>
        <a:graphic>
          <a:graphicData uri="http://schemas.openxmlformats.org/presentationml/2006/ole">
            <mc:AlternateContent xmlns:mc="http://schemas.openxmlformats.org/markup-compatibility/2006">
              <mc:Choice xmlns:v="urn:schemas-microsoft-com:vml" Requires="v">
                <p:oleObj spid="_x0000_s11931" r:id="rId6" imgW="2324100" imgH="533400" progId="Equation.DSMT4">
                  <p:embed/>
                </p:oleObj>
              </mc:Choice>
              <mc:Fallback>
                <p:oleObj r:id="rId6" imgW="2324100" imgH="533400"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17440" y="4373047"/>
                        <a:ext cx="2724962" cy="625401"/>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20" name="文本框 19"/>
              <p:cNvSpPr txBox="1"/>
              <p:nvPr/>
            </p:nvSpPr>
            <p:spPr>
              <a:xfrm>
                <a:off x="683568" y="983745"/>
                <a:ext cx="950709" cy="369332"/>
              </a:xfrm>
              <a:prstGeom prst="rect">
                <a:avLst/>
              </a:prstGeom>
              <a:noFill/>
            </p:spPr>
            <p:txBody>
              <a:bodyPr wrap="none" rtlCol="0">
                <a:spAutoFit/>
              </a:bodyPr>
              <a:lstStyle/>
              <a:p>
                <a:r>
                  <a:rPr lang="en-US" altLang="zh-CN" dirty="0" smtClean="0"/>
                  <a:t>(1) </a:t>
                </a:r>
                <a:r>
                  <a:rPr lang="zh-CN" altLang="en-US" dirty="0" smtClean="0"/>
                  <a:t>求</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𝜃</m:t>
                        </m:r>
                      </m:e>
                      <m:sub>
                        <m:r>
                          <a:rPr lang="en-US" altLang="zh-CN" i="1">
                            <a:latin typeface="Cambria Math" panose="02040503050406030204" pitchFamily="18" charset="0"/>
                          </a:rPr>
                          <m:t>1</m:t>
                        </m:r>
                      </m:sub>
                    </m:sSub>
                  </m:oMath>
                </a14:m>
                <a:endParaRPr lang="zh-CN" altLang="en-US" dirty="0"/>
              </a:p>
            </p:txBody>
          </p:sp>
        </mc:Choice>
        <mc:Fallback xmlns="">
          <p:sp>
            <p:nvSpPr>
              <p:cNvPr id="20" name="文本框 19"/>
              <p:cNvSpPr txBox="1">
                <a:spLocks noRot="1" noChangeAspect="1" noMove="1" noResize="1" noEditPoints="1" noAdjustHandles="1" noChangeArrowheads="1" noChangeShapeType="1" noTextEdit="1"/>
              </p:cNvSpPr>
              <p:nvPr/>
            </p:nvSpPr>
            <p:spPr>
              <a:xfrm>
                <a:off x="683568" y="983745"/>
                <a:ext cx="950709" cy="369332"/>
              </a:xfrm>
              <a:prstGeom prst="rect">
                <a:avLst/>
              </a:prstGeom>
              <a:blipFill>
                <a:blip r:embed="rId8"/>
                <a:stretch>
                  <a:fillRect l="-5128" t="-13115" b="-26230"/>
                </a:stretch>
              </a:blipFill>
            </p:spPr>
            <p:txBody>
              <a:bodyPr/>
              <a:lstStyle/>
              <a:p>
                <a:r>
                  <a:rPr lang="zh-CN" altLang="en-US">
                    <a:noFill/>
                  </a:rPr>
                  <a:t> </a:t>
                </a:r>
              </a:p>
            </p:txBody>
          </p:sp>
        </mc:Fallback>
      </mc:AlternateContent>
      <p:grpSp>
        <p:nvGrpSpPr>
          <p:cNvPr id="17" name="组合 16"/>
          <p:cNvGrpSpPr/>
          <p:nvPr/>
        </p:nvGrpSpPr>
        <p:grpSpPr>
          <a:xfrm>
            <a:off x="281305" y="1418919"/>
            <a:ext cx="7747079" cy="1063323"/>
            <a:chOff x="281305" y="1418919"/>
            <a:chExt cx="7747079" cy="1063323"/>
          </a:xfrm>
        </p:grpSpPr>
        <p:graphicFrame>
          <p:nvGraphicFramePr>
            <p:cNvPr id="3" name="对象 2"/>
            <p:cNvGraphicFramePr>
              <a:graphicFrameLocks noChangeAspect="1"/>
            </p:cNvGraphicFramePr>
            <p:nvPr>
              <p:extLst>
                <p:ext uri="{D42A27DB-BD31-4B8C-83A1-F6EECF244321}">
                  <p14:modId xmlns:p14="http://schemas.microsoft.com/office/powerpoint/2010/main" val="3929237755"/>
                </p:ext>
              </p:extLst>
            </p:nvPr>
          </p:nvGraphicFramePr>
          <p:xfrm>
            <a:off x="345162" y="1799853"/>
            <a:ext cx="2314575" cy="247650"/>
          </p:xfrm>
          <a:graphic>
            <a:graphicData uri="http://schemas.openxmlformats.org/presentationml/2006/ole">
              <mc:AlternateContent xmlns:mc="http://schemas.openxmlformats.org/markup-compatibility/2006">
                <mc:Choice xmlns:v="urn:schemas-microsoft-com:vml" Requires="v">
                  <p:oleObj spid="_x0000_s11932" r:id="rId9" imgW="2310397" imgH="253890" progId="Equation.DSMT4">
                    <p:embed/>
                  </p:oleObj>
                </mc:Choice>
                <mc:Fallback>
                  <p:oleObj r:id="rId9" imgW="2310397" imgH="253890" progId="Equation.DSMT4">
                    <p:embed/>
                    <p:pic>
                      <p:nvPicPr>
                        <p:cNvPr id="0" name="Object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5162" y="1799853"/>
                          <a:ext cx="2314575" cy="247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63894964"/>
                </p:ext>
              </p:extLst>
            </p:nvPr>
          </p:nvGraphicFramePr>
          <p:xfrm>
            <a:off x="3094906" y="1466478"/>
            <a:ext cx="4781550" cy="914400"/>
          </p:xfrm>
          <a:graphic>
            <a:graphicData uri="http://schemas.openxmlformats.org/presentationml/2006/ole">
              <mc:AlternateContent xmlns:mc="http://schemas.openxmlformats.org/markup-compatibility/2006">
                <mc:Choice xmlns:v="urn:schemas-microsoft-com:vml" Requires="v">
                  <p:oleObj spid="_x0000_s11933" r:id="rId11" imgW="4775200" imgH="914400" progId="Equation.DSMT4">
                    <p:embed/>
                  </p:oleObj>
                </mc:Choice>
                <mc:Fallback>
                  <p:oleObj r:id="rId11" imgW="4775200" imgH="914400" progId="Equation.DSMT4">
                    <p:embed/>
                    <p:pic>
                      <p:nvPicPr>
                        <p:cNvPr id="0"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94906" y="1466478"/>
                          <a:ext cx="478155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右箭头 1"/>
            <p:cNvSpPr/>
            <p:nvPr/>
          </p:nvSpPr>
          <p:spPr>
            <a:xfrm>
              <a:off x="2805313" y="1861765"/>
              <a:ext cx="144016" cy="1238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对角圆角矩形 3"/>
            <p:cNvSpPr/>
            <p:nvPr/>
          </p:nvSpPr>
          <p:spPr>
            <a:xfrm>
              <a:off x="281305" y="1418919"/>
              <a:ext cx="7747079" cy="1063323"/>
            </a:xfrm>
            <a:prstGeom prst="round2DiagRect">
              <a:avLst>
                <a:gd name="adj1" fmla="val 50000"/>
                <a:gd name="adj2" fmla="val 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p:nvGrpSpPr>
        <p:grpSpPr>
          <a:xfrm>
            <a:off x="270085" y="2569331"/>
            <a:ext cx="7758299" cy="578483"/>
            <a:chOff x="270085" y="2569331"/>
            <a:chExt cx="7758299" cy="578483"/>
          </a:xfrm>
        </p:grpSpPr>
        <p:graphicFrame>
          <p:nvGraphicFramePr>
            <p:cNvPr id="13" name="对象 12"/>
            <p:cNvGraphicFramePr>
              <a:graphicFrameLocks noChangeAspect="1"/>
            </p:cNvGraphicFramePr>
            <p:nvPr>
              <p:extLst>
                <p:ext uri="{D42A27DB-BD31-4B8C-83A1-F6EECF244321}">
                  <p14:modId xmlns:p14="http://schemas.microsoft.com/office/powerpoint/2010/main" val="430456104"/>
                </p:ext>
              </p:extLst>
            </p:nvPr>
          </p:nvGraphicFramePr>
          <p:xfrm>
            <a:off x="5695231" y="2590031"/>
            <a:ext cx="2181225" cy="485775"/>
          </p:xfrm>
          <a:graphic>
            <a:graphicData uri="http://schemas.openxmlformats.org/presentationml/2006/ole">
              <mc:AlternateContent xmlns:mc="http://schemas.openxmlformats.org/markup-compatibility/2006">
                <mc:Choice xmlns:v="urn:schemas-microsoft-com:vml" Requires="v">
                  <p:oleObj spid="_x0000_s11934" r:id="rId13" imgW="2184400" imgH="482600" progId="Equation.DSMT4">
                    <p:embed/>
                  </p:oleObj>
                </mc:Choice>
                <mc:Fallback>
                  <p:oleObj r:id="rId13" imgW="2184400" imgH="482600" progId="Equation.DSMT4">
                    <p:embed/>
                    <p:pic>
                      <p:nvPicPr>
                        <p:cNvPr id="0" name="Object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95231" y="2590031"/>
                          <a:ext cx="2181225"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矩形 13"/>
            <p:cNvSpPr/>
            <p:nvPr/>
          </p:nvSpPr>
          <p:spPr>
            <a:xfrm>
              <a:off x="270085" y="2694418"/>
              <a:ext cx="5206375" cy="276999"/>
            </a:xfrm>
            <a:prstGeom prst="rect">
              <a:avLst/>
            </a:prstGeom>
          </p:spPr>
          <p:txBody>
            <a:bodyPr wrap="square">
              <a:spAutoFit/>
            </a:bodyPr>
            <a:lstStyle/>
            <a:p>
              <a:r>
                <a:rPr lang="zh-CN" altLang="zh-CN" sz="1200" dirty="0">
                  <a:ea typeface="等线" panose="02010600030101010101" pitchFamily="2" charset="-122"/>
                  <a:cs typeface="Times New Roman" panose="02020603050405020304" pitchFamily="18" charset="0"/>
                </a:rPr>
                <a:t>左右矩阵中的第一行第四个元素</a:t>
              </a:r>
              <a:r>
                <a:rPr lang="en-US" altLang="zh-CN" sz="1200" dirty="0">
                  <a:ea typeface="等线" panose="02010600030101010101" pitchFamily="2" charset="-122"/>
                  <a:cs typeface="Times New Roman" panose="02020603050405020304" pitchFamily="18" charset="0"/>
                </a:rPr>
                <a:t>(1.4)</a:t>
              </a:r>
              <a:r>
                <a:rPr lang="zh-CN" altLang="zh-CN" sz="1200" dirty="0">
                  <a:ea typeface="等线" panose="02010600030101010101" pitchFamily="2" charset="-122"/>
                  <a:cs typeface="Times New Roman" panose="02020603050405020304" pitchFamily="18" charset="0"/>
                </a:rPr>
                <a:t>，第二行第四个元素</a:t>
              </a:r>
              <a:r>
                <a:rPr lang="en-US" altLang="zh-CN" sz="1200" dirty="0">
                  <a:ea typeface="等线" panose="02010600030101010101" pitchFamily="2" charset="-122"/>
                  <a:cs typeface="Times New Roman" panose="02020603050405020304" pitchFamily="18" charset="0"/>
                </a:rPr>
                <a:t>(2.4)</a:t>
              </a:r>
              <a:r>
                <a:rPr lang="zh-CN" altLang="zh-CN" sz="1200" dirty="0">
                  <a:ea typeface="等线" panose="02010600030101010101" pitchFamily="2" charset="-122"/>
                  <a:cs typeface="Times New Roman" panose="02020603050405020304" pitchFamily="18" charset="0"/>
                </a:rPr>
                <a:t>分别相等。即</a:t>
              </a:r>
              <a:r>
                <a:rPr lang="en-US" altLang="zh-CN" sz="1200" dirty="0">
                  <a:ea typeface="等线" panose="02010600030101010101" pitchFamily="2" charset="-122"/>
                  <a:cs typeface="Times New Roman" panose="02020603050405020304" pitchFamily="18" charset="0"/>
                </a:rPr>
                <a:t>:</a:t>
              </a:r>
              <a:endParaRPr lang="zh-CN" altLang="en-US" sz="1200" dirty="0"/>
            </a:p>
          </p:txBody>
        </p:sp>
        <p:sp>
          <p:nvSpPr>
            <p:cNvPr id="15" name="右箭头 14"/>
            <p:cNvSpPr/>
            <p:nvPr/>
          </p:nvSpPr>
          <p:spPr>
            <a:xfrm>
              <a:off x="5491705" y="2765761"/>
              <a:ext cx="144016" cy="1238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81305" y="2569331"/>
              <a:ext cx="7747079" cy="57848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19" name="矩形 18"/>
              <p:cNvSpPr/>
              <p:nvPr/>
            </p:nvSpPr>
            <p:spPr>
              <a:xfrm>
                <a:off x="381048" y="3278159"/>
                <a:ext cx="1555747"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sz="1200" i="1">
                              <a:latin typeface="Cambria Math" panose="02040503050406030204" pitchFamily="18" charset="0"/>
                            </a:rPr>
                          </m:ctrlPr>
                        </m:sSupPr>
                        <m:e>
                          <m:r>
                            <m:rPr>
                              <m:sty m:val="p"/>
                            </m:rPr>
                            <a:rPr lang="zh-CN" altLang="en-US" sz="1200">
                              <a:latin typeface="Cambria Math" panose="02040503050406030204" pitchFamily="18" charset="0"/>
                            </a:rPr>
                            <m:t>s</m:t>
                          </m:r>
                          <m:r>
                            <m:rPr>
                              <m:sty m:val="p"/>
                            </m:rPr>
                            <a:rPr lang="zh-CN" altLang="en-US" sz="1200" i="0">
                              <a:latin typeface="Cambria Math" panose="02040503050406030204" pitchFamily="18" charset="0"/>
                            </a:rPr>
                            <m:t>in</m:t>
                          </m:r>
                        </m:e>
                        <m:sup>
                          <m:r>
                            <a:rPr lang="zh-CN" altLang="en-US" sz="1200" i="0">
                              <a:latin typeface="Cambria Math" panose="02040503050406030204" pitchFamily="18" charset="0"/>
                            </a:rPr>
                            <m:t>2</m:t>
                          </m:r>
                        </m:sup>
                      </m:sSup>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2</m:t>
                          </m:r>
                        </m:sub>
                      </m:sSub>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m:rPr>
                              <m:sty m:val="p"/>
                            </m:rPr>
                            <a:rPr lang="zh-CN" altLang="en-US" sz="1200" i="0">
                              <a:latin typeface="Cambria Math" panose="02040503050406030204" pitchFamily="18" charset="0"/>
                            </a:rPr>
                            <m:t>cos</m:t>
                          </m:r>
                        </m:e>
                        <m:sup>
                          <m:r>
                            <a:rPr lang="zh-CN" altLang="en-US" sz="1200" i="0">
                              <a:latin typeface="Cambria Math" panose="02040503050406030204" pitchFamily="18" charset="0"/>
                            </a:rPr>
                            <m:t>2</m:t>
                          </m:r>
                        </m:sup>
                      </m:sSup>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2</m:t>
                          </m:r>
                        </m:sub>
                      </m:sSub>
                      <m:r>
                        <a:rPr lang="zh-CN" altLang="en-US" sz="1200" i="0">
                          <a:latin typeface="Cambria Math" panose="02040503050406030204" pitchFamily="18" charset="0"/>
                        </a:rPr>
                        <m:t>=1</m:t>
                      </m:r>
                    </m:oMath>
                  </m:oMathPara>
                </a14:m>
                <a:endParaRPr lang="zh-CN" altLang="en-US" sz="1200" dirty="0"/>
              </a:p>
            </p:txBody>
          </p:sp>
        </mc:Choice>
        <mc:Fallback xmlns="">
          <p:sp>
            <p:nvSpPr>
              <p:cNvPr id="19" name="矩形 18"/>
              <p:cNvSpPr>
                <a:spLocks noRot="1" noChangeAspect="1" noMove="1" noResize="1" noEditPoints="1" noAdjustHandles="1" noChangeArrowheads="1" noChangeShapeType="1" noTextEdit="1"/>
              </p:cNvSpPr>
              <p:nvPr/>
            </p:nvSpPr>
            <p:spPr>
              <a:xfrm>
                <a:off x="381048" y="3278159"/>
                <a:ext cx="1555747" cy="276999"/>
              </a:xfrm>
              <a:prstGeom prst="rect">
                <a:avLst/>
              </a:prstGeom>
              <a:blipFill>
                <a:blip r:embed="rId15"/>
                <a:stretch>
                  <a:fillRect/>
                </a:stretch>
              </a:blipFill>
            </p:spPr>
            <p:txBody>
              <a:bodyPr/>
              <a:lstStyle/>
              <a:p>
                <a:r>
                  <a:rPr lang="zh-CN" altLang="en-US">
                    <a:noFill/>
                  </a:rPr>
                  <a:t> </a:t>
                </a:r>
              </a:p>
            </p:txBody>
          </p:sp>
        </mc:Fallback>
      </mc:AlternateContent>
      <p:sp>
        <p:nvSpPr>
          <p:cNvPr id="21" name="矩形 20"/>
          <p:cNvSpPr/>
          <p:nvPr/>
        </p:nvSpPr>
        <p:spPr>
          <a:xfrm>
            <a:off x="1874907" y="3278159"/>
            <a:ext cx="1569660" cy="276999"/>
          </a:xfrm>
          <a:prstGeom prst="rect">
            <a:avLst/>
          </a:prstGeom>
        </p:spPr>
        <p:txBody>
          <a:bodyPr wrap="none">
            <a:spAutoFit/>
          </a:bodyPr>
          <a:lstStyle/>
          <a:p>
            <a:r>
              <a:rPr lang="zh-CN" altLang="zh-CN" sz="1200" kern="100" dirty="0">
                <a:ea typeface="等线" panose="02010600030101010101" pitchFamily="2" charset="-122"/>
                <a:cs typeface="Times New Roman" panose="02020603050405020304" pitchFamily="18" charset="0"/>
              </a:rPr>
              <a:t>联立上面两式可得：</a:t>
            </a:r>
            <a:endParaRPr lang="zh-CN" altLang="en-US" sz="1200" dirty="0"/>
          </a:p>
        </p:txBody>
      </p:sp>
      <mc:AlternateContent xmlns:mc="http://schemas.openxmlformats.org/markup-compatibility/2006" xmlns:a14="http://schemas.microsoft.com/office/drawing/2010/main">
        <mc:Choice Requires="a14">
          <p:sp>
            <p:nvSpPr>
              <p:cNvPr id="22" name="矩形 21"/>
              <p:cNvSpPr/>
              <p:nvPr/>
            </p:nvSpPr>
            <p:spPr>
              <a:xfrm>
                <a:off x="3120010" y="3183593"/>
                <a:ext cx="3672407" cy="51475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𝑐𝑜𝑠</m:t>
                          </m:r>
                          <m:r>
                            <a:rPr lang="zh-CN" altLang="en-US" sz="1200" i="1">
                              <a:latin typeface="Cambria Math" panose="02040503050406030204" pitchFamily="18" charset="0"/>
                            </a:rPr>
                            <m:t>𝜃</m:t>
                          </m:r>
                        </m:e>
                        <m:sub>
                          <m:r>
                            <a:rPr lang="zh-CN" altLang="en-US" sz="1200" i="0">
                              <a:latin typeface="Cambria Math" panose="02040503050406030204" pitchFamily="18" charset="0"/>
                            </a:rPr>
                            <m:t>1</m:t>
                          </m:r>
                        </m:sub>
                      </m:sSub>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m:t>
                          </m:r>
                          <m:r>
                            <a:rPr lang="zh-CN" altLang="en-US" sz="1200" i="1">
                              <a:latin typeface="Cambria Math" panose="02040503050406030204" pitchFamily="18" charset="0"/>
                            </a:rPr>
                            <m:t>𝑝</m:t>
                          </m:r>
                        </m:e>
                        <m:sub>
                          <m:r>
                            <a:rPr lang="zh-CN" altLang="en-US" sz="1200" i="1">
                              <a:latin typeface="Cambria Math" panose="02040503050406030204" pitchFamily="18" charset="0"/>
                            </a:rPr>
                            <m:t>𝑥</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𝑠𝑖𝑛</m:t>
                          </m:r>
                          <m:r>
                            <a:rPr lang="zh-CN" altLang="en-US" sz="1200" i="1">
                              <a:latin typeface="Cambria Math" panose="02040503050406030204" pitchFamily="18" charset="0"/>
                            </a:rPr>
                            <m:t>𝜃</m:t>
                          </m:r>
                        </m:e>
                        <m:sub>
                          <m:r>
                            <a:rPr lang="zh-CN" altLang="en-US" sz="1200" i="0">
                              <a:latin typeface="Cambria Math" panose="02040503050406030204" pitchFamily="18" charset="0"/>
                            </a:rPr>
                            <m:t>1</m:t>
                          </m:r>
                        </m:sub>
                      </m:sSub>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m:t>
                          </m:r>
                          <m:r>
                            <a:rPr lang="zh-CN" altLang="en-US" sz="1200" i="1">
                              <a:latin typeface="Cambria Math" panose="02040503050406030204" pitchFamily="18" charset="0"/>
                            </a:rPr>
                            <m:t>𝑝</m:t>
                          </m:r>
                        </m:e>
                        <m:sub>
                          <m:r>
                            <a:rPr lang="zh-CN" altLang="en-US" sz="1200" i="1">
                              <a:latin typeface="Cambria Math" panose="02040503050406030204" pitchFamily="18" charset="0"/>
                            </a:rPr>
                            <m:t>𝑦</m:t>
                          </m:r>
                        </m:sub>
                      </m:sSub>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sSup>
                            <m:sSupPr>
                              <m:ctrlPr>
                                <a:rPr lang="zh-CN" altLang="en-US" sz="1200" i="1">
                                  <a:latin typeface="Cambria Math" panose="02040503050406030204" pitchFamily="18" charset="0"/>
                                </a:rPr>
                              </m:ctrlPr>
                            </m:sSup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𝑙</m:t>
                                  </m:r>
                                </m:e>
                                <m:sub>
                                  <m:r>
                                    <a:rPr lang="zh-CN" altLang="en-US" sz="1200" i="0">
                                      <a:latin typeface="Cambria Math" panose="02040503050406030204" pitchFamily="18" charset="0"/>
                                    </a:rPr>
                                    <m:t>1</m:t>
                                  </m:r>
                                </m:sub>
                              </m:sSub>
                            </m:e>
                            <m:sup>
                              <m:r>
                                <a:rPr lang="zh-CN" altLang="en-US" sz="1200" i="0">
                                  <a:latin typeface="Cambria Math" panose="02040503050406030204" pitchFamily="18" charset="0"/>
                                </a:rPr>
                                <m:t>2</m:t>
                              </m:r>
                            </m:sup>
                          </m:sSup>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𝑙</m:t>
                                  </m:r>
                                </m:e>
                                <m:sub>
                                  <m:r>
                                    <a:rPr lang="zh-CN" altLang="en-US" sz="1200" i="0">
                                      <a:latin typeface="Cambria Math" panose="02040503050406030204" pitchFamily="18" charset="0"/>
                                    </a:rPr>
                                    <m:t>2</m:t>
                                  </m:r>
                                </m:sub>
                              </m:sSub>
                            </m:e>
                            <m:sup>
                              <m:r>
                                <a:rPr lang="zh-CN" altLang="en-US" sz="1200" i="0">
                                  <a:latin typeface="Cambria Math" panose="02040503050406030204" pitchFamily="18" charset="0"/>
                                </a:rPr>
                                <m:t>2</m:t>
                              </m:r>
                            </m:sup>
                          </m:sSup>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𝑝</m:t>
                                  </m:r>
                                </m:e>
                                <m:sub>
                                  <m:r>
                                    <a:rPr lang="zh-CN" altLang="en-US" sz="1200" i="1">
                                      <a:latin typeface="Cambria Math" panose="02040503050406030204" pitchFamily="18" charset="0"/>
                                    </a:rPr>
                                    <m:t>𝑥</m:t>
                                  </m:r>
                                </m:sub>
                              </m:sSub>
                            </m:e>
                            <m:sup>
                              <m:r>
                                <a:rPr lang="zh-CN" altLang="en-US" sz="1200" i="0">
                                  <a:latin typeface="Cambria Math" panose="02040503050406030204" pitchFamily="18" charset="0"/>
                                </a:rPr>
                                <m:t>2</m:t>
                              </m:r>
                            </m:sup>
                          </m:sSup>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𝑝</m:t>
                                  </m:r>
                                </m:e>
                                <m:sub>
                                  <m:r>
                                    <a:rPr lang="zh-CN" altLang="en-US" sz="1200" i="1">
                                      <a:latin typeface="Cambria Math" panose="02040503050406030204" pitchFamily="18" charset="0"/>
                                    </a:rPr>
                                    <m:t>𝑦</m:t>
                                  </m:r>
                                </m:sub>
                              </m:sSub>
                            </m:e>
                            <m:sup>
                              <m:r>
                                <a:rPr lang="zh-CN" altLang="en-US" sz="1200" i="0">
                                  <a:latin typeface="Cambria Math" panose="02040503050406030204" pitchFamily="18" charset="0"/>
                                </a:rPr>
                                <m:t>2</m:t>
                              </m:r>
                            </m:sup>
                          </m:sSup>
                        </m:num>
                        <m:den>
                          <m:r>
                            <a:rPr lang="zh-CN" altLang="en-US" sz="1200" i="0">
                              <a:latin typeface="Cambria Math" panose="02040503050406030204" pitchFamily="18" charset="0"/>
                            </a:rPr>
                            <m:t>2</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𝑙</m:t>
                              </m:r>
                            </m:e>
                            <m:sub>
                              <m:r>
                                <a:rPr lang="zh-CN" altLang="en-US" sz="1200" i="0">
                                  <a:latin typeface="Cambria Math" panose="02040503050406030204" pitchFamily="18" charset="0"/>
                                </a:rPr>
                                <m:t>1</m:t>
                              </m:r>
                            </m:sub>
                          </m:sSub>
                        </m:den>
                      </m:f>
                    </m:oMath>
                  </m:oMathPara>
                </a14:m>
                <a:endParaRPr lang="zh-CN" altLang="en-US" sz="1200" dirty="0"/>
              </a:p>
            </p:txBody>
          </p:sp>
        </mc:Choice>
        <mc:Fallback xmlns="">
          <p:sp>
            <p:nvSpPr>
              <p:cNvPr id="22" name="矩形 21"/>
              <p:cNvSpPr>
                <a:spLocks noRot="1" noChangeAspect="1" noMove="1" noResize="1" noEditPoints="1" noAdjustHandles="1" noChangeArrowheads="1" noChangeShapeType="1" noTextEdit="1"/>
              </p:cNvSpPr>
              <p:nvPr/>
            </p:nvSpPr>
            <p:spPr>
              <a:xfrm>
                <a:off x="3120010" y="3183593"/>
                <a:ext cx="3672407" cy="514756"/>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3338465" y="3698349"/>
                <a:ext cx="2379626" cy="4417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m:rPr>
                              <m:sty m:val="p"/>
                            </m:rPr>
                            <a:rPr lang="zh-CN" altLang="en-US" sz="1200">
                              <a:latin typeface="Cambria Math" panose="02040503050406030204" pitchFamily="18" charset="0"/>
                            </a:rPr>
                            <m:t>c</m:t>
                          </m:r>
                          <m:r>
                            <m:rPr>
                              <m:sty m:val="p"/>
                            </m:rPr>
                            <a:rPr lang="zh-CN" altLang="en-US" sz="1200" i="0">
                              <a:latin typeface="Cambria Math" panose="02040503050406030204" pitchFamily="18" charset="0"/>
                            </a:rPr>
                            <m:t>o</m:t>
                          </m:r>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s</m:t>
                              </m:r>
                            </m:fName>
                            <m:e>
                              <m:r>
                                <a:rPr lang="zh-CN" altLang="en-US" sz="1200" i="1">
                                  <a:latin typeface="Cambria Math" panose="02040503050406030204" pitchFamily="18" charset="0"/>
                                </a:rPr>
                                <m:t>𝜃</m:t>
                              </m:r>
                            </m:e>
                          </m:func>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r>
                        <a:rPr lang="zh-CN" altLang="en-US" sz="1200" i="1">
                          <a:latin typeface="Cambria Math" panose="02040503050406030204" pitchFamily="18" charset="0"/>
                        </a:rPr>
                        <m:t>𝑐𝑜𝑠</m:t>
                      </m:r>
                      <m:r>
                        <a:rPr lang="zh-CN" altLang="en-US" sz="1200" i="1">
                          <a:latin typeface="Cambria Math" panose="02040503050406030204" pitchFamily="18" charset="0"/>
                        </a:rPr>
                        <m:t>𝜑</m:t>
                      </m:r>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si</m:t>
                          </m:r>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n</m:t>
                              </m:r>
                            </m:fName>
                            <m:e>
                              <m:r>
                                <a:rPr lang="zh-CN" altLang="en-US" sz="1200" i="1">
                                  <a:latin typeface="Cambria Math" panose="02040503050406030204" pitchFamily="18" charset="0"/>
                                </a:rPr>
                                <m:t>𝜃</m:t>
                              </m:r>
                            </m:e>
                          </m:func>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r>
                        <a:rPr lang="zh-CN" altLang="en-US" sz="1200" i="1">
                          <a:latin typeface="Cambria Math" panose="02040503050406030204" pitchFamily="18" charset="0"/>
                        </a:rPr>
                        <m:t>𝑠𝑖𝑛</m:t>
                      </m:r>
                      <m:r>
                        <a:rPr lang="zh-CN" altLang="en-US" sz="1200" i="1">
                          <a:latin typeface="Cambria Math" panose="02040503050406030204" pitchFamily="18" charset="0"/>
                        </a:rPr>
                        <m:t>𝜑</m:t>
                      </m:r>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𝑑</m:t>
                          </m:r>
                        </m:num>
                        <m:den>
                          <m:r>
                            <a:rPr lang="zh-CN" altLang="en-US" sz="1200" i="1">
                              <a:latin typeface="Cambria Math" panose="02040503050406030204" pitchFamily="18" charset="0"/>
                            </a:rPr>
                            <m:t>𝑟</m:t>
                          </m:r>
                        </m:den>
                      </m:f>
                    </m:oMath>
                  </m:oMathPara>
                </a14:m>
                <a:endParaRPr lang="zh-CN" altLang="en-US" sz="1200" dirty="0"/>
              </a:p>
            </p:txBody>
          </p:sp>
        </mc:Choice>
        <mc:Fallback xmlns="">
          <p:sp>
            <p:nvSpPr>
              <p:cNvPr id="23" name="矩形 22"/>
              <p:cNvSpPr>
                <a:spLocks noRot="1" noChangeAspect="1" noMove="1" noResize="1" noEditPoints="1" noAdjustHandles="1" noChangeArrowheads="1" noChangeShapeType="1" noTextEdit="1"/>
              </p:cNvSpPr>
              <p:nvPr/>
            </p:nvSpPr>
            <p:spPr>
              <a:xfrm>
                <a:off x="3338465" y="3698349"/>
                <a:ext cx="2379626" cy="441724"/>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273549" y="3797231"/>
                <a:ext cx="2992294" cy="276999"/>
              </a:xfrm>
              <a:prstGeom prst="rect">
                <a:avLst/>
              </a:prstGeom>
            </p:spPr>
            <p:txBody>
              <a:bodyPr wrap="none">
                <a:spAutoFit/>
              </a:bodyPr>
              <a:lstStyle/>
              <a:p>
                <a:r>
                  <a:rPr lang="zh-CN" altLang="zh-CN" sz="1200" kern="100" dirty="0">
                    <a:ea typeface="等线" panose="02010600030101010101" pitchFamily="2" charset="-122"/>
                    <a:cs typeface="Times New Roman" panose="02020603050405020304" pitchFamily="18" charset="0"/>
                  </a:rPr>
                  <a:t>两角和差的一般形式</a:t>
                </a:r>
                <a14:m>
                  <m:oMath xmlns:m="http://schemas.openxmlformats.org/officeDocument/2006/math">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𝑚𝑐𝑜</m:t>
                    </m:r>
                    <m:r>
                      <m:rPr>
                        <m:sty m:val="p"/>
                      </m:rPr>
                      <a:rPr lang="en-US" altLang="zh-CN" sz="1200" kern="100">
                        <a:latin typeface="Cambria Math" panose="02040503050406030204" pitchFamily="18" charset="0"/>
                        <a:ea typeface="等线" panose="02010600030101010101" pitchFamily="2" charset="-122"/>
                        <a:cs typeface="Times New Roman" panose="02020603050405020304" pitchFamily="18" charset="0"/>
                      </a:rPr>
                      <m:t>s</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𝑛𝑠𝑖𝑛</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1200" i="1" kern="100">
                        <a:latin typeface="Cambria Math" panose="02040503050406030204" pitchFamily="18" charset="0"/>
                        <a:ea typeface="等线" panose="02010600030101010101" pitchFamily="2" charset="-122"/>
                        <a:cs typeface="Times New Roman" panose="02020603050405020304" pitchFamily="18" charset="0"/>
                      </a:rPr>
                      <m:t>𝑑</m:t>
                    </m:r>
                  </m:oMath>
                </a14:m>
                <a:endParaRPr lang="zh-CN" altLang="en-US" sz="1200" dirty="0"/>
              </a:p>
            </p:txBody>
          </p:sp>
        </mc:Choice>
        <mc:Fallback xmlns="">
          <p:sp>
            <p:nvSpPr>
              <p:cNvPr id="24" name="矩形 23"/>
              <p:cNvSpPr>
                <a:spLocks noRot="1" noChangeAspect="1" noMove="1" noResize="1" noEditPoints="1" noAdjustHandles="1" noChangeArrowheads="1" noChangeShapeType="1" noTextEdit="1"/>
              </p:cNvSpPr>
              <p:nvPr/>
            </p:nvSpPr>
            <p:spPr>
              <a:xfrm>
                <a:off x="273549" y="3797231"/>
                <a:ext cx="2992294" cy="276999"/>
              </a:xfrm>
              <a:prstGeom prst="rect">
                <a:avLst/>
              </a:prstGeom>
              <a:blipFill>
                <a:blip r:embed="rId18"/>
                <a:stretch>
                  <a:fillRect l="-204" t="-2222" b="-1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p:cNvSpPr/>
              <p:nvPr/>
            </p:nvSpPr>
            <p:spPr>
              <a:xfrm>
                <a:off x="5800277" y="3723878"/>
                <a:ext cx="1310230" cy="4417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zh-CN" altLang="en-US" sz="1200" i="1">
                              <a:latin typeface="Cambria Math" panose="02040503050406030204" pitchFamily="18" charset="0"/>
                            </a:rPr>
                          </m:ctrlPr>
                        </m:funcPr>
                        <m:fName>
                          <m:r>
                            <a:rPr lang="zh-CN" altLang="en-US" sz="1200" i="1">
                              <a:latin typeface="Cambria Math" panose="02040503050406030204" pitchFamily="18" charset="0"/>
                            </a:rPr>
                            <m:t>𝑐𝑜𝑠</m:t>
                          </m:r>
                        </m:fName>
                        <m:e>
                          <m:d>
                            <m:dPr>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r>
                                <a:rPr lang="zh-CN" altLang="en-US" sz="1200" i="1">
                                  <a:latin typeface="Cambria Math" panose="02040503050406030204" pitchFamily="18" charset="0"/>
                                </a:rPr>
                                <m:t>𝜑</m:t>
                              </m:r>
                            </m:e>
                          </m:d>
                        </m:e>
                      </m:func>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𝑑</m:t>
                          </m:r>
                        </m:num>
                        <m:den>
                          <m:r>
                            <a:rPr lang="zh-CN" altLang="en-US" sz="1200" i="1">
                              <a:latin typeface="Cambria Math" panose="02040503050406030204" pitchFamily="18" charset="0"/>
                            </a:rPr>
                            <m:t>𝑟</m:t>
                          </m:r>
                        </m:den>
                      </m:f>
                    </m:oMath>
                  </m:oMathPara>
                </a14:m>
                <a:endParaRPr lang="zh-CN" altLang="en-US" sz="1200" dirty="0"/>
              </a:p>
            </p:txBody>
          </p:sp>
        </mc:Choice>
        <mc:Fallback xmlns="">
          <p:sp>
            <p:nvSpPr>
              <p:cNvPr id="25" name="矩形 24"/>
              <p:cNvSpPr>
                <a:spLocks noRot="1" noChangeAspect="1" noMove="1" noResize="1" noEditPoints="1" noAdjustHandles="1" noChangeArrowheads="1" noChangeShapeType="1" noTextEdit="1"/>
              </p:cNvSpPr>
              <p:nvPr/>
            </p:nvSpPr>
            <p:spPr>
              <a:xfrm>
                <a:off x="5800277" y="3723878"/>
                <a:ext cx="1310230" cy="441724"/>
              </a:xfrm>
              <a:prstGeom prst="rect">
                <a:avLst/>
              </a:prstGeom>
              <a:blipFill>
                <a:blip r:embed="rId19"/>
                <a:stretch>
                  <a:fillRect/>
                </a:stretch>
              </a:blipFill>
            </p:spPr>
            <p:txBody>
              <a:bodyPr/>
              <a:lstStyle/>
              <a:p>
                <a:r>
                  <a:rPr lang="zh-CN" altLang="en-US">
                    <a:noFill/>
                  </a:rPr>
                  <a:t> </a:t>
                </a:r>
              </a:p>
            </p:txBody>
          </p:sp>
        </mc:Fallback>
      </mc:AlternateContent>
      <p:sp>
        <p:nvSpPr>
          <p:cNvPr id="26" name="矩形 25"/>
          <p:cNvSpPr/>
          <p:nvPr/>
        </p:nvSpPr>
        <p:spPr>
          <a:xfrm>
            <a:off x="281305" y="3204062"/>
            <a:ext cx="7747079" cy="5190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右箭头 26"/>
          <p:cNvSpPr/>
          <p:nvPr/>
        </p:nvSpPr>
        <p:spPr>
          <a:xfrm>
            <a:off x="5718091" y="3919211"/>
            <a:ext cx="82186"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270085" y="3779520"/>
            <a:ext cx="7758299" cy="3605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下箭头 28"/>
          <p:cNvSpPr/>
          <p:nvPr/>
        </p:nvSpPr>
        <p:spPr>
          <a:xfrm>
            <a:off x="8244408" y="1466478"/>
            <a:ext cx="72008" cy="3219269"/>
          </a:xfrm>
          <a:prstGeom prst="downArrow">
            <a:avLst/>
          </a:prstGeom>
          <a:noFill/>
          <a:ln>
            <a:solidFill>
              <a:schemeClr val="tx2"/>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圆角矩形 29"/>
          <p:cNvSpPr/>
          <p:nvPr/>
        </p:nvSpPr>
        <p:spPr>
          <a:xfrm>
            <a:off x="1634277" y="4361838"/>
            <a:ext cx="2723565" cy="74379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6015535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36220" y="219075"/>
            <a:ext cx="5153660" cy="598805"/>
            <a:chOff x="-372" y="345"/>
            <a:chExt cx="8116" cy="943"/>
          </a:xfrm>
        </p:grpSpPr>
        <p:sp>
          <p:nvSpPr>
            <p:cNvPr id="9" name="矩形 8"/>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Kinematics of SCARA Robots</a:t>
              </a:r>
              <a:endParaRPr lang="en-US" altLang="zh-CN" sz="1000" dirty="0">
                <a:latin typeface="Arial" panose="020B0604020202020204" pitchFamily="34" charset="0"/>
                <a:ea typeface="微软雅黑" panose="020B0503020204020204" charset="-122"/>
                <a:sym typeface="+mn-ea"/>
              </a:endParaRPr>
            </a:p>
          </p:txBody>
        </p:sp>
        <p:sp>
          <p:nvSpPr>
            <p:cNvPr id="10" name="文本框 9"/>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SCARA</a:t>
              </a:r>
              <a:r>
                <a:rPr lang="zh-CN" altLang="en-US" sz="2000" b="1" dirty="0">
                  <a:latin typeface="Arial" panose="020B0604020202020204" pitchFamily="34" charset="0"/>
                  <a:ea typeface="微软雅黑" panose="020B0503020204020204" charset="-122"/>
                  <a:sym typeface="+mn-ea"/>
                </a:rPr>
                <a:t>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1" name="椭圆 1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p:nvSpPr>
        <p:spPr>
          <a:xfrm>
            <a:off x="3275856" y="697670"/>
            <a:ext cx="2650084" cy="400110"/>
          </a:xfrm>
          <a:prstGeom prst="rect">
            <a:avLst/>
          </a:prstGeom>
        </p:spPr>
        <p:txBody>
          <a:bodyPr wrap="none">
            <a:spAutoFit/>
          </a:bodyPr>
          <a:lstStyle/>
          <a:p>
            <a:r>
              <a:rPr lang="zh-CN" altLang="en-US" sz="2000" dirty="0" smtClean="0">
                <a:solidFill>
                  <a:srgbClr val="002060"/>
                </a:solidFill>
                <a:ea typeface="等线" panose="02010600030101010101" pitchFamily="2" charset="-122"/>
                <a:cs typeface="Times New Roman" panose="02020603050405020304" pitchFamily="18" charset="0"/>
              </a:rPr>
              <a:t>逆</a:t>
            </a:r>
            <a:r>
              <a:rPr lang="zh-CN" altLang="zh-CN" sz="2000" dirty="0" smtClean="0">
                <a:solidFill>
                  <a:srgbClr val="002060"/>
                </a:solidFill>
                <a:ea typeface="等线" panose="02010600030101010101" pitchFamily="2" charset="-122"/>
                <a:cs typeface="Times New Roman" panose="02020603050405020304" pitchFamily="18" charset="0"/>
              </a:rPr>
              <a:t>运动学</a:t>
            </a:r>
            <a:r>
              <a:rPr lang="zh-CN" altLang="en-US" sz="2000" dirty="0" smtClean="0">
                <a:solidFill>
                  <a:srgbClr val="002060"/>
                </a:solidFill>
                <a:ea typeface="等线" panose="02010600030101010101" pitchFamily="2" charset="-122"/>
                <a:cs typeface="Times New Roman" panose="02020603050405020304" pitchFamily="18" charset="0"/>
              </a:rPr>
              <a:t>求解</a:t>
            </a:r>
            <a:r>
              <a:rPr lang="en-US" altLang="zh-CN" sz="2000" dirty="0" smtClean="0">
                <a:solidFill>
                  <a:srgbClr val="002060"/>
                </a:solidFill>
                <a:ea typeface="等线" panose="02010600030101010101" pitchFamily="2" charset="-122"/>
                <a:cs typeface="Times New Roman" panose="02020603050405020304" pitchFamily="18" charset="0"/>
              </a:rPr>
              <a:t>(</a:t>
            </a:r>
            <a:r>
              <a:rPr lang="zh-CN" altLang="en-US" sz="2000" dirty="0" smtClean="0">
                <a:solidFill>
                  <a:srgbClr val="002060"/>
                </a:solidFill>
                <a:ea typeface="等线" panose="02010600030101010101" pitchFamily="2" charset="-122"/>
                <a:cs typeface="Times New Roman" panose="02020603050405020304" pitchFamily="18" charset="0"/>
              </a:rPr>
              <a:t>代数法</a:t>
            </a:r>
            <a:r>
              <a:rPr lang="en-US" altLang="zh-CN" sz="2000" dirty="0" smtClean="0">
                <a:solidFill>
                  <a:srgbClr val="002060"/>
                </a:solidFill>
                <a:ea typeface="等线" panose="02010600030101010101" pitchFamily="2" charset="-122"/>
                <a:cs typeface="Times New Roman" panose="02020603050405020304" pitchFamily="18" charset="0"/>
              </a:rPr>
              <a:t>)</a:t>
            </a:r>
            <a:endParaRPr lang="zh-CN" altLang="en-US" sz="2000" dirty="0">
              <a:solidFill>
                <a:srgbClr val="002060"/>
              </a:solidFill>
            </a:endParaRPr>
          </a:p>
        </p:txBody>
      </p:sp>
      <mc:AlternateContent xmlns:mc="http://schemas.openxmlformats.org/markup-compatibility/2006" xmlns:a14="http://schemas.microsoft.com/office/drawing/2010/main">
        <mc:Choice Requires="a14">
          <p:sp>
            <p:nvSpPr>
              <p:cNvPr id="20" name="文本框 19"/>
              <p:cNvSpPr txBox="1"/>
              <p:nvPr/>
            </p:nvSpPr>
            <p:spPr>
              <a:xfrm>
                <a:off x="755576" y="1347614"/>
                <a:ext cx="955518" cy="369332"/>
              </a:xfrm>
              <a:prstGeom prst="rect">
                <a:avLst/>
              </a:prstGeom>
              <a:noFill/>
            </p:spPr>
            <p:txBody>
              <a:bodyPr wrap="none" rtlCol="0">
                <a:spAutoFit/>
              </a:bodyPr>
              <a:lstStyle/>
              <a:p>
                <a:r>
                  <a:rPr lang="en-US" altLang="zh-CN" dirty="0" smtClean="0"/>
                  <a:t>(2) </a:t>
                </a:r>
                <a:r>
                  <a:rPr lang="zh-CN" altLang="en-US" dirty="0" smtClean="0"/>
                  <a:t>求</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𝜃</m:t>
                        </m:r>
                      </m:e>
                      <m:sub>
                        <m:r>
                          <a:rPr lang="en-US" altLang="zh-CN" b="0" i="1" smtClean="0">
                            <a:latin typeface="Cambria Math" panose="02040503050406030204" pitchFamily="18" charset="0"/>
                          </a:rPr>
                          <m:t>2</m:t>
                        </m:r>
                      </m:sub>
                    </m:sSub>
                  </m:oMath>
                </a14:m>
                <a:endParaRPr lang="zh-CN" altLang="en-US" dirty="0"/>
              </a:p>
            </p:txBody>
          </p:sp>
        </mc:Choice>
        <mc:Fallback xmlns="">
          <p:sp>
            <p:nvSpPr>
              <p:cNvPr id="20" name="文本框 19"/>
              <p:cNvSpPr txBox="1">
                <a:spLocks noRot="1" noChangeAspect="1" noMove="1" noResize="1" noEditPoints="1" noAdjustHandles="1" noChangeArrowheads="1" noChangeShapeType="1" noTextEdit="1"/>
              </p:cNvSpPr>
              <p:nvPr/>
            </p:nvSpPr>
            <p:spPr>
              <a:xfrm>
                <a:off x="755576" y="1347614"/>
                <a:ext cx="955518" cy="369332"/>
              </a:xfrm>
              <a:prstGeom prst="rect">
                <a:avLst/>
              </a:prstGeom>
              <a:blipFill>
                <a:blip r:embed="rId4"/>
                <a:stretch>
                  <a:fillRect l="-5732" t="-13115"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2089746" y="2821035"/>
                <a:ext cx="5022304"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𝜃</m:t>
                              </m:r>
                            </m:e>
                            <m:sub>
                              <m:r>
                                <a:rPr lang="zh-CN" altLang="en-US" i="0">
                                  <a:latin typeface="Cambria Math" panose="02040503050406030204" pitchFamily="18" charset="0"/>
                                </a:rPr>
                                <m:t>2</m:t>
                              </m:r>
                            </m:sub>
                          </m:sSub>
                          <m:r>
                            <a:rPr lang="zh-CN" altLang="en-US" i="0">
                              <a:latin typeface="Cambria Math" panose="02040503050406030204" pitchFamily="18" charset="0"/>
                            </a:rPr>
                            <m:t>=</m:t>
                          </m:r>
                          <m:r>
                            <a:rPr lang="zh-CN" altLang="en-US" i="1">
                              <a:latin typeface="Cambria Math" panose="02040503050406030204" pitchFamily="18" charset="0"/>
                            </a:rPr>
                            <m:t>𝑎𝑡𝑎𝑛</m:t>
                          </m:r>
                          <m:r>
                            <a:rPr lang="zh-CN" altLang="en-US" i="0">
                              <a:latin typeface="Cambria Math" panose="02040503050406030204" pitchFamily="18" charset="0"/>
                            </a:rPr>
                            <m:t>2(</m:t>
                          </m:r>
                          <m:r>
                            <a:rPr lang="zh-CN" altLang="en-US" i="1">
                              <a:latin typeface="Cambria Math" panose="02040503050406030204" pitchFamily="18" charset="0"/>
                            </a:rPr>
                            <m:t>𝑟𝑐𝑜𝑠</m:t>
                          </m:r>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𝜃</m:t>
                                  </m:r>
                                </m:e>
                                <m:sub>
                                  <m:r>
                                    <a:rPr lang="zh-CN" altLang="en-US" i="0">
                                      <a:latin typeface="Cambria Math" panose="02040503050406030204" pitchFamily="18" charset="0"/>
                                    </a:rPr>
                                    <m:t>1</m:t>
                                  </m:r>
                                </m:sub>
                              </m:sSub>
                              <m:r>
                                <a:rPr lang="zh-CN" altLang="en-US" i="0">
                                  <a:latin typeface="Cambria Math" panose="02040503050406030204" pitchFamily="18" charset="0"/>
                                </a:rPr>
                                <m:t>+</m:t>
                              </m:r>
                              <m:r>
                                <a:rPr lang="zh-CN" altLang="en-US" i="1">
                                  <a:latin typeface="Cambria Math" panose="02040503050406030204" pitchFamily="18" charset="0"/>
                                </a:rPr>
                                <m:t>𝜑</m:t>
                              </m:r>
                            </m:e>
                          </m:d>
                          <m:r>
                            <a:rPr lang="zh-CN" altLang="en-US" i="0">
                              <a:latin typeface="Cambria Math" panose="02040503050406030204" pitchFamily="18" charset="0"/>
                            </a:rPr>
                            <m:t>,</m:t>
                          </m:r>
                          <m:r>
                            <a:rPr lang="zh-CN" altLang="en-US" i="1">
                              <a:latin typeface="Cambria Math" panose="02040503050406030204" pitchFamily="18" charset="0"/>
                            </a:rPr>
                            <m:t>𝑟𝑠𝑖𝑛</m:t>
                          </m:r>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𝜃</m:t>
                                  </m:r>
                                </m:e>
                                <m:sub>
                                  <m:r>
                                    <a:rPr lang="zh-CN" altLang="en-US" i="0">
                                      <a:latin typeface="Cambria Math" panose="02040503050406030204" pitchFamily="18" charset="0"/>
                                    </a:rPr>
                                    <m:t>1</m:t>
                                  </m:r>
                                </m:sub>
                              </m:sSub>
                              <m:r>
                                <a:rPr lang="zh-CN" altLang="en-US" i="0">
                                  <a:latin typeface="Cambria Math" panose="02040503050406030204" pitchFamily="18" charset="0"/>
                                </a:rPr>
                                <m:t>+</m:t>
                              </m:r>
                              <m:r>
                                <a:rPr lang="zh-CN" altLang="en-US" i="1">
                                  <a:latin typeface="Cambria Math" panose="02040503050406030204" pitchFamily="18" charset="0"/>
                                </a:rPr>
                                <m:t>𝜑</m:t>
                              </m:r>
                            </m:e>
                          </m:d>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𝑙</m:t>
                              </m:r>
                            </m:e>
                            <m:sub>
                              <m:r>
                                <a:rPr lang="zh-CN" altLang="en-US" i="0">
                                  <a:latin typeface="Cambria Math" panose="02040503050406030204" pitchFamily="18" charset="0"/>
                                </a:rPr>
                                <m:t>1</m:t>
                              </m:r>
                            </m:sub>
                          </m:sSub>
                        </m:e>
                      </m:d>
                    </m:oMath>
                  </m:oMathPara>
                </a14:m>
                <a:endParaRPr lang="zh-CN" altLang="en-US" dirty="0"/>
              </a:p>
            </p:txBody>
          </p:sp>
        </mc:Choice>
        <mc:Fallback xmlns="">
          <p:sp>
            <p:nvSpPr>
              <p:cNvPr id="2" name="矩形 1"/>
              <p:cNvSpPr>
                <a:spLocks noRot="1" noChangeAspect="1" noMove="1" noResize="1" noEditPoints="1" noAdjustHandles="1" noChangeArrowheads="1" noChangeShapeType="1" noTextEdit="1"/>
              </p:cNvSpPr>
              <p:nvPr/>
            </p:nvSpPr>
            <p:spPr>
              <a:xfrm>
                <a:off x="2089746" y="2821035"/>
                <a:ext cx="5022304" cy="369332"/>
              </a:xfrm>
              <a:prstGeom prst="rect">
                <a:avLst/>
              </a:prstGeom>
              <a:blipFill>
                <a:blip r:embed="rId5"/>
                <a:stretch>
                  <a:fillRect t="-121667" r="-6432" b="-18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2848027" y="3406391"/>
                <a:ext cx="2069413" cy="4110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i="1">
                              <a:latin typeface="Cambria Math" panose="02040503050406030204" pitchFamily="18" charset="0"/>
                            </a:rPr>
                          </m:ctrlPr>
                        </m:dPr>
                        <m:e>
                          <m:r>
                            <a:rPr lang="zh-CN" altLang="en-US" i="1">
                              <a:latin typeface="Cambria Math" panose="02040503050406030204" pitchFamily="18" charset="0"/>
                            </a:rPr>
                            <m:t>𝜑</m:t>
                          </m:r>
                          <m:r>
                            <a:rPr lang="zh-CN" altLang="en-US" i="0">
                              <a:latin typeface="Cambria Math" panose="02040503050406030204" pitchFamily="18" charset="0"/>
                            </a:rPr>
                            <m:t>=</m:t>
                          </m:r>
                          <m:r>
                            <a:rPr lang="zh-CN" altLang="en-US" i="1">
                              <a:latin typeface="Cambria Math" panose="02040503050406030204" pitchFamily="18" charset="0"/>
                            </a:rPr>
                            <m:t>𝑎𝑡𝑎𝑛</m:t>
                          </m:r>
                          <m:r>
                            <a:rPr lang="zh-CN" altLang="en-US" i="0">
                              <a:latin typeface="Cambria Math" panose="02040503050406030204" pitchFamily="18" charset="0"/>
                            </a:rPr>
                            <m:t>2(</m:t>
                          </m:r>
                          <m:sSub>
                            <m:sSubPr>
                              <m:ctrlPr>
                                <a:rPr lang="zh-CN" altLang="en-US" i="1">
                                  <a:latin typeface="Cambria Math" panose="02040503050406030204" pitchFamily="18" charset="0"/>
                                </a:rPr>
                              </m:ctrlPr>
                            </m:sSubPr>
                            <m:e>
                              <m:r>
                                <a:rPr lang="zh-CN" altLang="en-US" i="1">
                                  <a:latin typeface="Cambria Math" panose="02040503050406030204" pitchFamily="18" charset="0"/>
                                </a:rPr>
                                <m:t>𝑝</m:t>
                              </m:r>
                            </m:e>
                            <m:sub>
                              <m:r>
                                <a:rPr lang="zh-CN" altLang="en-US" i="1">
                                  <a:latin typeface="Cambria Math" panose="02040503050406030204" pitchFamily="18" charset="0"/>
                                </a:rPr>
                                <m:t>𝑦</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𝑝</m:t>
                              </m:r>
                            </m:e>
                            <m:sub>
                              <m:r>
                                <a:rPr lang="zh-CN" altLang="en-US" i="1">
                                  <a:latin typeface="Cambria Math" panose="02040503050406030204" pitchFamily="18" charset="0"/>
                                </a:rPr>
                                <m:t>𝑥</m:t>
                              </m:r>
                            </m:sub>
                          </m:sSub>
                        </m:e>
                      </m:d>
                    </m:oMath>
                  </m:oMathPara>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2848027" y="3406391"/>
                <a:ext cx="2069413" cy="411010"/>
              </a:xfrm>
              <a:prstGeom prst="rect">
                <a:avLst/>
              </a:prstGeom>
              <a:blipFill>
                <a:blip r:embed="rId6"/>
                <a:stretch>
                  <a:fillRect t="-153731" r="-30588" b="-2283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4917440" y="3283889"/>
                <a:ext cx="1789529" cy="65601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𝑟</m:t>
                      </m:r>
                      <m:r>
                        <a:rPr lang="zh-CN" altLang="en-US" i="0">
                          <a:latin typeface="Cambria Math" panose="02040503050406030204" pitchFamily="18" charset="0"/>
                        </a:rPr>
                        <m:t>=</m:t>
                      </m:r>
                      <m:rad>
                        <m:radPr>
                          <m:degHide m:val="on"/>
                          <m:ctrlPr>
                            <a:rPr lang="zh-CN" altLang="en-US" i="1">
                              <a:latin typeface="Cambria Math" panose="02040503050406030204" pitchFamily="18" charset="0"/>
                            </a:rPr>
                          </m:ctrlPr>
                        </m:radPr>
                        <m:deg/>
                        <m:e>
                          <m:sSup>
                            <m:sSupPr>
                              <m:ctrlPr>
                                <a:rPr lang="zh-CN" altLang="en-US" i="1">
                                  <a:latin typeface="Cambria Math" panose="02040503050406030204" pitchFamily="18" charset="0"/>
                                </a:rPr>
                              </m:ctrlPr>
                            </m:sSupPr>
                            <m:e>
                              <m:sSub>
                                <m:sSubPr>
                                  <m:ctrlPr>
                                    <a:rPr lang="zh-CN" altLang="en-US" i="1">
                                      <a:latin typeface="Cambria Math" panose="02040503050406030204" pitchFamily="18" charset="0"/>
                                    </a:rPr>
                                  </m:ctrlPr>
                                </m:sSubPr>
                                <m:e>
                                  <m:r>
                                    <a:rPr lang="zh-CN" altLang="en-US" i="1">
                                      <a:latin typeface="Cambria Math" panose="02040503050406030204" pitchFamily="18" charset="0"/>
                                    </a:rPr>
                                    <m:t>𝑝</m:t>
                                  </m:r>
                                </m:e>
                                <m:sub>
                                  <m:r>
                                    <a:rPr lang="zh-CN" altLang="en-US" i="1">
                                      <a:latin typeface="Cambria Math" panose="02040503050406030204" pitchFamily="18" charset="0"/>
                                    </a:rPr>
                                    <m:t>𝑥</m:t>
                                  </m:r>
                                </m:sub>
                              </m:sSub>
                            </m:e>
                            <m:sup>
                              <m:r>
                                <a:rPr lang="zh-CN" altLang="en-US" i="0">
                                  <a:latin typeface="Cambria Math" panose="02040503050406030204" pitchFamily="18" charset="0"/>
                                </a:rPr>
                                <m:t>2</m:t>
                              </m:r>
                            </m:sup>
                          </m:sSup>
                          <m:r>
                            <a:rPr lang="zh-CN" altLang="en-US" i="0">
                              <a:latin typeface="Cambria Math" panose="02040503050406030204" pitchFamily="18" charset="0"/>
                            </a:rPr>
                            <m:t>+</m:t>
                          </m:r>
                          <m:sSup>
                            <m:sSupPr>
                              <m:ctrlPr>
                                <a:rPr lang="zh-CN" altLang="en-US" i="1">
                                  <a:latin typeface="Cambria Math" panose="02040503050406030204" pitchFamily="18" charset="0"/>
                                </a:rPr>
                              </m:ctrlPr>
                            </m:sSupPr>
                            <m:e>
                              <m:sSub>
                                <m:sSubPr>
                                  <m:ctrlPr>
                                    <a:rPr lang="zh-CN" altLang="en-US" i="1">
                                      <a:latin typeface="Cambria Math" panose="02040503050406030204" pitchFamily="18" charset="0"/>
                                    </a:rPr>
                                  </m:ctrlPr>
                                </m:sSubPr>
                                <m:e>
                                  <m:r>
                                    <a:rPr lang="zh-CN" altLang="en-US" i="1">
                                      <a:latin typeface="Cambria Math" panose="02040503050406030204" pitchFamily="18" charset="0"/>
                                    </a:rPr>
                                    <m:t>𝑝</m:t>
                                  </m:r>
                                </m:e>
                                <m:sub>
                                  <m:r>
                                    <a:rPr lang="zh-CN" altLang="en-US" i="1">
                                      <a:latin typeface="Cambria Math" panose="02040503050406030204" pitchFamily="18" charset="0"/>
                                    </a:rPr>
                                    <m:t>𝑦</m:t>
                                  </m:r>
                                </m:sub>
                              </m:sSub>
                            </m:e>
                            <m:sup>
                              <m:r>
                                <a:rPr lang="zh-CN" altLang="en-US" i="0">
                                  <a:latin typeface="Cambria Math" panose="02040503050406030204" pitchFamily="18" charset="0"/>
                                </a:rPr>
                                <m:t>2</m:t>
                              </m:r>
                            </m:sup>
                          </m:sSup>
                        </m:e>
                      </m:rad>
                    </m:oMath>
                  </m:oMathPara>
                </a14:m>
                <a:endParaRPr lang="zh-CN" altLang="en-US" dirty="0"/>
              </a:p>
            </p:txBody>
          </p:sp>
        </mc:Choice>
        <mc:Fallback xmlns="">
          <p:sp>
            <p:nvSpPr>
              <p:cNvPr id="5" name="矩形 4"/>
              <p:cNvSpPr>
                <a:spLocks noRot="1" noChangeAspect="1" noMove="1" noResize="1" noEditPoints="1" noAdjustHandles="1" noChangeArrowheads="1" noChangeShapeType="1" noTextEdit="1"/>
              </p:cNvSpPr>
              <p:nvPr/>
            </p:nvSpPr>
            <p:spPr>
              <a:xfrm>
                <a:off x="4917440" y="3283889"/>
                <a:ext cx="1789529" cy="656013"/>
              </a:xfrm>
              <a:prstGeom prst="rect">
                <a:avLst/>
              </a:prstGeom>
              <a:blipFill>
                <a:blip r:embed="rId7"/>
                <a:stretch>
                  <a:fillRect/>
                </a:stretch>
              </a:blipFill>
            </p:spPr>
            <p:txBody>
              <a:bodyPr/>
              <a:lstStyle/>
              <a:p>
                <a:r>
                  <a:rPr lang="zh-CN" altLang="en-US">
                    <a:noFill/>
                  </a:rPr>
                  <a:t> </a:t>
                </a:r>
              </a:p>
            </p:txBody>
          </p:sp>
        </mc:Fallback>
      </mc:AlternateContent>
      <p:graphicFrame>
        <p:nvGraphicFramePr>
          <p:cNvPr id="13" name="对象 12"/>
          <p:cNvGraphicFramePr>
            <a:graphicFrameLocks noChangeAspect="1"/>
          </p:cNvGraphicFramePr>
          <p:nvPr>
            <p:extLst>
              <p:ext uri="{D42A27DB-BD31-4B8C-83A1-F6EECF244321}">
                <p14:modId xmlns:p14="http://schemas.microsoft.com/office/powerpoint/2010/main" val="3848581424"/>
              </p:ext>
            </p:extLst>
          </p:nvPr>
        </p:nvGraphicFramePr>
        <p:xfrm>
          <a:off x="3457898" y="1520536"/>
          <a:ext cx="2286000" cy="485775"/>
        </p:xfrm>
        <a:graphic>
          <a:graphicData uri="http://schemas.openxmlformats.org/presentationml/2006/ole">
            <mc:AlternateContent xmlns:mc="http://schemas.openxmlformats.org/markup-compatibility/2006">
              <mc:Choice xmlns:v="urn:schemas-microsoft-com:vml" Requires="v">
                <p:oleObj spid="_x0000_s12523" r:id="rId8" imgW="2286000" imgH="482400" progId="Equation.DSMT4">
                  <p:embed/>
                </p:oleObj>
              </mc:Choice>
              <mc:Fallback>
                <p:oleObj r:id="rId8" imgW="2286000" imgH="482400" progId="Equation.DSMT4">
                  <p:embed/>
                  <p:pic>
                    <p:nvPicPr>
                      <p:cNvPr id="0" name="Object 20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57898" y="1520536"/>
                        <a:ext cx="2286000"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圆角矩形 13"/>
          <p:cNvSpPr/>
          <p:nvPr/>
        </p:nvSpPr>
        <p:spPr>
          <a:xfrm>
            <a:off x="3290068" y="1347614"/>
            <a:ext cx="2722092" cy="7920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下箭头 14"/>
          <p:cNvSpPr/>
          <p:nvPr/>
        </p:nvSpPr>
        <p:spPr>
          <a:xfrm>
            <a:off x="4427984" y="2283718"/>
            <a:ext cx="223130" cy="3600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15"/>
          <p:cNvSpPr/>
          <p:nvPr/>
        </p:nvSpPr>
        <p:spPr>
          <a:xfrm>
            <a:off x="2089746" y="2821035"/>
            <a:ext cx="4858518" cy="46285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2725175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36220" y="219075"/>
            <a:ext cx="5153660" cy="598805"/>
            <a:chOff x="-372" y="345"/>
            <a:chExt cx="8116" cy="943"/>
          </a:xfrm>
        </p:grpSpPr>
        <p:sp>
          <p:nvSpPr>
            <p:cNvPr id="9" name="矩形 8"/>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Kinematics of SCARA Robots</a:t>
              </a:r>
              <a:endParaRPr lang="en-US" altLang="zh-CN" sz="1000" dirty="0">
                <a:latin typeface="Arial" panose="020B0604020202020204" pitchFamily="34" charset="0"/>
                <a:ea typeface="微软雅黑" panose="020B0503020204020204" charset="-122"/>
                <a:sym typeface="+mn-ea"/>
              </a:endParaRPr>
            </a:p>
          </p:txBody>
        </p:sp>
        <p:sp>
          <p:nvSpPr>
            <p:cNvPr id="10" name="文本框 9"/>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SCARA</a:t>
              </a:r>
              <a:r>
                <a:rPr lang="zh-CN" altLang="en-US" sz="2000" b="1" dirty="0">
                  <a:latin typeface="Arial" panose="020B0604020202020204" pitchFamily="34" charset="0"/>
                  <a:ea typeface="微软雅黑" panose="020B0503020204020204" charset="-122"/>
                  <a:sym typeface="+mn-ea"/>
                </a:rPr>
                <a:t>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1" name="椭圆 1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p:nvSpPr>
        <p:spPr>
          <a:xfrm>
            <a:off x="3275856" y="697670"/>
            <a:ext cx="2650084" cy="400110"/>
          </a:xfrm>
          <a:prstGeom prst="rect">
            <a:avLst/>
          </a:prstGeom>
        </p:spPr>
        <p:txBody>
          <a:bodyPr wrap="none">
            <a:spAutoFit/>
          </a:bodyPr>
          <a:lstStyle/>
          <a:p>
            <a:r>
              <a:rPr lang="zh-CN" altLang="en-US" sz="2000" dirty="0" smtClean="0">
                <a:solidFill>
                  <a:srgbClr val="002060"/>
                </a:solidFill>
                <a:ea typeface="等线" panose="02010600030101010101" pitchFamily="2" charset="-122"/>
                <a:cs typeface="Times New Roman" panose="02020603050405020304" pitchFamily="18" charset="0"/>
              </a:rPr>
              <a:t>逆</a:t>
            </a:r>
            <a:r>
              <a:rPr lang="zh-CN" altLang="zh-CN" sz="2000" dirty="0" smtClean="0">
                <a:solidFill>
                  <a:srgbClr val="002060"/>
                </a:solidFill>
                <a:ea typeface="等线" panose="02010600030101010101" pitchFamily="2" charset="-122"/>
                <a:cs typeface="Times New Roman" panose="02020603050405020304" pitchFamily="18" charset="0"/>
              </a:rPr>
              <a:t>运动学</a:t>
            </a:r>
            <a:r>
              <a:rPr lang="zh-CN" altLang="en-US" sz="2000" dirty="0" smtClean="0">
                <a:solidFill>
                  <a:srgbClr val="002060"/>
                </a:solidFill>
                <a:ea typeface="等线" panose="02010600030101010101" pitchFamily="2" charset="-122"/>
                <a:cs typeface="Times New Roman" panose="02020603050405020304" pitchFamily="18" charset="0"/>
              </a:rPr>
              <a:t>求解</a:t>
            </a:r>
            <a:r>
              <a:rPr lang="en-US" altLang="zh-CN" sz="2000" dirty="0" smtClean="0">
                <a:solidFill>
                  <a:srgbClr val="002060"/>
                </a:solidFill>
                <a:ea typeface="等线" panose="02010600030101010101" pitchFamily="2" charset="-122"/>
                <a:cs typeface="Times New Roman" panose="02020603050405020304" pitchFamily="18" charset="0"/>
              </a:rPr>
              <a:t>(</a:t>
            </a:r>
            <a:r>
              <a:rPr lang="zh-CN" altLang="en-US" sz="2000" dirty="0" smtClean="0">
                <a:solidFill>
                  <a:srgbClr val="002060"/>
                </a:solidFill>
                <a:ea typeface="等线" panose="02010600030101010101" pitchFamily="2" charset="-122"/>
                <a:cs typeface="Times New Roman" panose="02020603050405020304" pitchFamily="18" charset="0"/>
              </a:rPr>
              <a:t>代数法</a:t>
            </a:r>
            <a:r>
              <a:rPr lang="en-US" altLang="zh-CN" sz="2000" dirty="0" smtClean="0">
                <a:solidFill>
                  <a:srgbClr val="002060"/>
                </a:solidFill>
                <a:ea typeface="等线" panose="02010600030101010101" pitchFamily="2" charset="-122"/>
                <a:cs typeface="Times New Roman" panose="02020603050405020304" pitchFamily="18" charset="0"/>
              </a:rPr>
              <a:t>)</a:t>
            </a:r>
            <a:endParaRPr lang="zh-CN" altLang="en-US" sz="2000" dirty="0">
              <a:solidFill>
                <a:srgbClr val="002060"/>
              </a:solidFill>
            </a:endParaRPr>
          </a:p>
        </p:txBody>
      </p:sp>
      <mc:AlternateContent xmlns:mc="http://schemas.openxmlformats.org/markup-compatibility/2006" xmlns:a14="http://schemas.microsoft.com/office/drawing/2010/main">
        <mc:Choice Requires="a14">
          <p:sp>
            <p:nvSpPr>
              <p:cNvPr id="20" name="文本框 19"/>
              <p:cNvSpPr txBox="1"/>
              <p:nvPr/>
            </p:nvSpPr>
            <p:spPr>
              <a:xfrm>
                <a:off x="755576" y="987574"/>
                <a:ext cx="1885388" cy="369332"/>
              </a:xfrm>
              <a:prstGeom prst="rect">
                <a:avLst/>
              </a:prstGeom>
              <a:noFill/>
            </p:spPr>
            <p:txBody>
              <a:bodyPr wrap="none" rtlCol="0">
                <a:spAutoFit/>
              </a:bodyPr>
              <a:lstStyle/>
              <a:p>
                <a:r>
                  <a:rPr lang="en-US" altLang="zh-CN" dirty="0" smtClean="0"/>
                  <a:t>(3) </a:t>
                </a:r>
                <a:r>
                  <a:rPr lang="zh-CN" altLang="zh-CN" dirty="0" smtClean="0"/>
                  <a:t>求</a:t>
                </a:r>
                <a:r>
                  <a:rPr lang="zh-CN" altLang="zh-CN" dirty="0"/>
                  <a:t>关节变量</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𝑑</m:t>
                        </m:r>
                      </m:e>
                      <m:sub>
                        <m:r>
                          <a:rPr lang="en-US" altLang="zh-CN" i="1">
                            <a:latin typeface="Cambria Math" panose="02040503050406030204" pitchFamily="18" charset="0"/>
                          </a:rPr>
                          <m:t>3</m:t>
                        </m:r>
                      </m:sub>
                    </m:sSub>
                  </m:oMath>
                </a14:m>
                <a:endParaRPr lang="zh-CN" altLang="en-US" dirty="0"/>
              </a:p>
            </p:txBody>
          </p:sp>
        </mc:Choice>
        <mc:Fallback xmlns="">
          <p:sp>
            <p:nvSpPr>
              <p:cNvPr id="20" name="文本框 19"/>
              <p:cNvSpPr txBox="1">
                <a:spLocks noRot="1" noChangeAspect="1" noMove="1" noResize="1" noEditPoints="1" noAdjustHandles="1" noChangeArrowheads="1" noChangeShapeType="1" noTextEdit="1"/>
              </p:cNvSpPr>
              <p:nvPr/>
            </p:nvSpPr>
            <p:spPr>
              <a:xfrm>
                <a:off x="755576" y="987574"/>
                <a:ext cx="1885388" cy="369332"/>
              </a:xfrm>
              <a:prstGeom prst="rect">
                <a:avLst/>
              </a:prstGeom>
              <a:blipFill>
                <a:blip r:embed="rId4"/>
                <a:stretch>
                  <a:fillRect l="-2913" t="-13115" b="-26230"/>
                </a:stretch>
              </a:blipFill>
            </p:spPr>
            <p:txBody>
              <a:bodyPr/>
              <a:lstStyle/>
              <a:p>
                <a:r>
                  <a:rPr lang="zh-CN" altLang="en-US">
                    <a:noFill/>
                  </a:rPr>
                  <a:t> </a:t>
                </a:r>
              </a:p>
            </p:txBody>
          </p:sp>
        </mc:Fallback>
      </mc:AlternateContent>
      <p:sp>
        <p:nvSpPr>
          <p:cNvPr id="2" name="矩形 1"/>
          <p:cNvSpPr/>
          <p:nvPr/>
        </p:nvSpPr>
        <p:spPr>
          <a:xfrm>
            <a:off x="2285682" y="2427734"/>
            <a:ext cx="4572000" cy="307777"/>
          </a:xfrm>
          <a:prstGeom prst="rect">
            <a:avLst/>
          </a:prstGeom>
        </p:spPr>
        <p:txBody>
          <a:bodyPr>
            <a:spAutoFit/>
          </a:bodyPr>
          <a:lstStyle/>
          <a:p>
            <a:r>
              <a:rPr lang="zh-CN" altLang="zh-CN" sz="1400" dirty="0">
                <a:ea typeface="等线" panose="02010600030101010101" pitchFamily="2" charset="-122"/>
                <a:cs typeface="Times New Roman" panose="02020603050405020304" pitchFamily="18" charset="0"/>
              </a:rPr>
              <a:t>再令左右矩阵中的第三行第四个元素</a:t>
            </a:r>
            <a:r>
              <a:rPr lang="en-US" altLang="zh-CN" sz="1400" dirty="0">
                <a:ea typeface="等线" panose="02010600030101010101" pitchFamily="2" charset="-122"/>
                <a:cs typeface="Times New Roman" panose="02020603050405020304" pitchFamily="18" charset="0"/>
              </a:rPr>
              <a:t>(3.4)</a:t>
            </a:r>
            <a:r>
              <a:rPr lang="zh-CN" altLang="zh-CN" sz="1400" dirty="0">
                <a:ea typeface="等线" panose="02010600030101010101" pitchFamily="2" charset="-122"/>
                <a:cs typeface="Times New Roman" panose="02020603050405020304" pitchFamily="18" charset="0"/>
              </a:rPr>
              <a:t>相等，可得</a:t>
            </a:r>
            <a:r>
              <a:rPr lang="en-US" altLang="zh-CN" sz="1400" dirty="0">
                <a:ea typeface="等线" panose="02010600030101010101" pitchFamily="2" charset="-122"/>
                <a:cs typeface="Times New Roman" panose="02020603050405020304" pitchFamily="18" charset="0"/>
              </a:rPr>
              <a:t>:</a:t>
            </a:r>
            <a:endParaRPr lang="zh-CN" altLang="en-US" sz="1400" dirty="0"/>
          </a:p>
        </p:txBody>
      </p:sp>
      <p:graphicFrame>
        <p:nvGraphicFramePr>
          <p:cNvPr id="5" name="对象 4"/>
          <p:cNvGraphicFramePr>
            <a:graphicFrameLocks noChangeAspect="1"/>
          </p:cNvGraphicFramePr>
          <p:nvPr>
            <p:extLst>
              <p:ext uri="{D42A27DB-BD31-4B8C-83A1-F6EECF244321}">
                <p14:modId xmlns:p14="http://schemas.microsoft.com/office/powerpoint/2010/main" val="1281225512"/>
              </p:ext>
            </p:extLst>
          </p:nvPr>
        </p:nvGraphicFramePr>
        <p:xfrm>
          <a:off x="1899285" y="1402590"/>
          <a:ext cx="4781550" cy="914400"/>
        </p:xfrm>
        <a:graphic>
          <a:graphicData uri="http://schemas.openxmlformats.org/presentationml/2006/ole">
            <mc:AlternateContent xmlns:mc="http://schemas.openxmlformats.org/markup-compatibility/2006">
              <mc:Choice xmlns:v="urn:schemas-microsoft-com:vml" Requires="v">
                <p:oleObj spid="_x0000_s13782" r:id="rId5" imgW="4775200" imgH="914400" progId="Equation.DSMT4">
                  <p:embed/>
                </p:oleObj>
              </mc:Choice>
              <mc:Fallback>
                <p:oleObj r:id="rId5" imgW="4775200" imgH="9144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99285" y="1402590"/>
                        <a:ext cx="478155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701601425"/>
              </p:ext>
            </p:extLst>
          </p:nvPr>
        </p:nvGraphicFramePr>
        <p:xfrm>
          <a:off x="3995936" y="2841107"/>
          <a:ext cx="1051583" cy="420633"/>
        </p:xfrm>
        <a:graphic>
          <a:graphicData uri="http://schemas.openxmlformats.org/presentationml/2006/ole">
            <mc:AlternateContent xmlns:mc="http://schemas.openxmlformats.org/markup-compatibility/2006">
              <mc:Choice xmlns:v="urn:schemas-microsoft-com:vml" Requires="v">
                <p:oleObj spid="_x0000_s13783" r:id="rId7" imgW="571997" imgH="228799" progId="Equation.DSMT4">
                  <p:embed/>
                </p:oleObj>
              </mc:Choice>
              <mc:Fallback>
                <p:oleObj r:id="rId7" imgW="571997" imgH="228799"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95936" y="2841107"/>
                        <a:ext cx="1051583" cy="420633"/>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14" name="矩形 13"/>
              <p:cNvSpPr/>
              <p:nvPr/>
            </p:nvSpPr>
            <p:spPr>
              <a:xfrm>
                <a:off x="767502" y="3259374"/>
                <a:ext cx="1873462" cy="369332"/>
              </a:xfrm>
              <a:prstGeom prst="rect">
                <a:avLst/>
              </a:prstGeom>
            </p:spPr>
            <p:txBody>
              <a:bodyPr wrap="none">
                <a:spAutoFit/>
              </a:bodyPr>
              <a:lstStyle/>
              <a:p>
                <a:r>
                  <a:rPr lang="en-US" altLang="zh-CN" dirty="0" smtClean="0">
                    <a:ea typeface="等线" panose="02010600030101010101" pitchFamily="2" charset="-122"/>
                    <a:cs typeface="Times New Roman" panose="02020603050405020304" pitchFamily="18" charset="0"/>
                  </a:rPr>
                  <a:t>(4) </a:t>
                </a:r>
                <a:r>
                  <a:rPr lang="zh-CN" altLang="zh-CN" dirty="0" smtClean="0">
                    <a:ea typeface="等线" panose="02010600030101010101" pitchFamily="2" charset="-122"/>
                    <a:cs typeface="Times New Roman" panose="02020603050405020304" pitchFamily="18" charset="0"/>
                  </a:rPr>
                  <a:t>求</a:t>
                </a:r>
                <a:r>
                  <a:rPr lang="zh-CN" altLang="zh-CN" dirty="0">
                    <a:ea typeface="等线" panose="02010600030101010101" pitchFamily="2" charset="-122"/>
                    <a:cs typeface="Times New Roman" panose="02020603050405020304" pitchFamily="18" charset="0"/>
                  </a:rPr>
                  <a:t>关节变量</a:t>
                </a:r>
                <a14:m>
                  <m:oMath xmlns:m="http://schemas.openxmlformats.org/officeDocument/2006/math">
                    <m:sSub>
                      <m:sSubPr>
                        <m:ctrlPr>
                          <a:rPr lang="zh-CN" altLang="zh-CN" i="1">
                            <a:effectLst/>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i="1">
                            <a:latin typeface="Cambria Math" panose="02040503050406030204" pitchFamily="18" charset="0"/>
                            <a:ea typeface="等线" panose="02010600030101010101" pitchFamily="2" charset="-122"/>
                            <a:cs typeface="Times New Roman" panose="02020603050405020304" pitchFamily="18" charset="0"/>
                          </a:rPr>
                          <m:t>4</m:t>
                        </m:r>
                      </m:sub>
                    </m:sSub>
                  </m:oMath>
                </a14:m>
                <a:endParaRPr lang="zh-CN" altLang="en-US" dirty="0"/>
              </a:p>
            </p:txBody>
          </p:sp>
        </mc:Choice>
        <mc:Fallback xmlns="">
          <p:sp>
            <p:nvSpPr>
              <p:cNvPr id="14" name="矩形 13"/>
              <p:cNvSpPr>
                <a:spLocks noRot="1" noChangeAspect="1" noMove="1" noResize="1" noEditPoints="1" noAdjustHandles="1" noChangeArrowheads="1" noChangeShapeType="1" noTextEdit="1"/>
              </p:cNvSpPr>
              <p:nvPr/>
            </p:nvSpPr>
            <p:spPr>
              <a:xfrm>
                <a:off x="767502" y="3259374"/>
                <a:ext cx="1873462" cy="369332"/>
              </a:xfrm>
              <a:prstGeom prst="rect">
                <a:avLst/>
              </a:prstGeom>
              <a:blipFill>
                <a:blip r:embed="rId9"/>
                <a:stretch>
                  <a:fillRect l="-2932" t="-10000" b="-26667"/>
                </a:stretch>
              </a:blipFill>
            </p:spPr>
            <p:txBody>
              <a:bodyPr/>
              <a:lstStyle/>
              <a:p>
                <a:r>
                  <a:rPr lang="zh-CN" altLang="en-US">
                    <a:noFill/>
                  </a:rPr>
                  <a:t> </a:t>
                </a:r>
              </a:p>
            </p:txBody>
          </p:sp>
        </mc:Fallback>
      </mc:AlternateContent>
      <p:sp>
        <p:nvSpPr>
          <p:cNvPr id="15" name="矩形 14"/>
          <p:cNvSpPr/>
          <p:nvPr/>
        </p:nvSpPr>
        <p:spPr>
          <a:xfrm>
            <a:off x="2592020" y="3370118"/>
            <a:ext cx="5292348" cy="523220"/>
          </a:xfrm>
          <a:prstGeom prst="rect">
            <a:avLst/>
          </a:prstGeom>
        </p:spPr>
        <p:txBody>
          <a:bodyPr wrap="square">
            <a:spAutoFit/>
          </a:bodyPr>
          <a:lstStyle/>
          <a:p>
            <a:r>
              <a:rPr lang="zh-CN" altLang="zh-CN" sz="1400" dirty="0">
                <a:ea typeface="等线" panose="02010600030101010101" pitchFamily="2" charset="-122"/>
                <a:cs typeface="Times New Roman" panose="02020603050405020304" pitchFamily="18" charset="0"/>
              </a:rPr>
              <a:t>再令左右矩阵中的第一行第一个元素、第二行第一个元素</a:t>
            </a:r>
            <a:r>
              <a:rPr lang="en-US" altLang="zh-CN" sz="1400" dirty="0">
                <a:ea typeface="等线" panose="02010600030101010101" pitchFamily="2" charset="-122"/>
                <a:cs typeface="Times New Roman" panose="02020603050405020304" pitchFamily="18" charset="0"/>
              </a:rPr>
              <a:t>(1.1</a:t>
            </a:r>
            <a:r>
              <a:rPr lang="zh-CN" altLang="zh-CN" sz="1400" dirty="0">
                <a:ea typeface="等线" panose="02010600030101010101" pitchFamily="2" charset="-122"/>
                <a:cs typeface="Times New Roman" panose="02020603050405020304" pitchFamily="18" charset="0"/>
              </a:rPr>
              <a:t>，</a:t>
            </a:r>
            <a:r>
              <a:rPr lang="en-US" altLang="zh-CN" sz="1400" dirty="0">
                <a:ea typeface="等线" panose="02010600030101010101" pitchFamily="2" charset="-122"/>
                <a:cs typeface="Times New Roman" panose="02020603050405020304" pitchFamily="18" charset="0"/>
              </a:rPr>
              <a:t>2.1)</a:t>
            </a:r>
            <a:r>
              <a:rPr lang="zh-CN" altLang="zh-CN" sz="1400" dirty="0">
                <a:ea typeface="等线" panose="02010600030101010101" pitchFamily="2" charset="-122"/>
                <a:cs typeface="Times New Roman" panose="02020603050405020304" pitchFamily="18" charset="0"/>
              </a:rPr>
              <a:t>分别相等，即：</a:t>
            </a:r>
            <a:endParaRPr lang="zh-CN" altLang="en-US" sz="1400" dirty="0"/>
          </a:p>
        </p:txBody>
      </p:sp>
      <mc:AlternateContent xmlns:mc="http://schemas.openxmlformats.org/markup-compatibility/2006" xmlns:a14="http://schemas.microsoft.com/office/drawing/2010/main">
        <mc:Choice Requires="a14">
          <p:sp>
            <p:nvSpPr>
              <p:cNvPr id="3" name="矩形 2"/>
              <p:cNvSpPr/>
              <p:nvPr/>
            </p:nvSpPr>
            <p:spPr>
              <a:xfrm>
                <a:off x="1475656" y="3893338"/>
                <a:ext cx="6552728" cy="29161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200" i="1">
                          <a:latin typeface="Cambria Math" panose="02040503050406030204" pitchFamily="18" charset="0"/>
                        </a:rPr>
                        <m:t>𝑐𝑜𝑠</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𝑛</m:t>
                          </m:r>
                        </m:e>
                        <m:sub>
                          <m:r>
                            <a:rPr lang="zh-CN" altLang="en-US" sz="1200" i="1">
                              <a:latin typeface="Cambria Math" panose="02040503050406030204" pitchFamily="18" charset="0"/>
                            </a:rPr>
                            <m:t>𝑥</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𝑠𝑖𝑛</m:t>
                          </m:r>
                          <m:r>
                            <a:rPr lang="zh-CN" altLang="en-US" sz="1200" i="1">
                              <a:latin typeface="Cambria Math" panose="02040503050406030204" pitchFamily="18" charset="0"/>
                            </a:rPr>
                            <m:t>𝜃</m:t>
                          </m:r>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𝑛</m:t>
                          </m:r>
                        </m:e>
                        <m:sub>
                          <m:r>
                            <a:rPr lang="zh-CN" altLang="en-US" sz="1200" i="1">
                              <a:latin typeface="Cambria Math" panose="02040503050406030204" pitchFamily="18" charset="0"/>
                            </a:rPr>
                            <m:t>𝑦</m:t>
                          </m:r>
                        </m:sub>
                      </m:sSub>
                      <m:r>
                        <a:rPr lang="zh-CN" altLang="en-US" sz="1200" i="0">
                          <a:latin typeface="Cambria Math" panose="02040503050406030204" pitchFamily="18" charset="0"/>
                        </a:rPr>
                        <m:t>=</m:t>
                      </m:r>
                      <m:r>
                        <a:rPr lang="zh-CN" altLang="en-US" sz="1200" i="1">
                          <a:latin typeface="Cambria Math" panose="02040503050406030204" pitchFamily="18" charset="0"/>
                        </a:rPr>
                        <m:t>𝑐𝑜𝑠</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2</m:t>
                          </m:r>
                        </m:sub>
                      </m:sSub>
                      <m:r>
                        <a:rPr lang="zh-CN" altLang="en-US" sz="1200" i="0">
                          <a:latin typeface="Cambria Math" panose="02040503050406030204" pitchFamily="18" charset="0"/>
                        </a:rPr>
                        <m:t>∙</m:t>
                      </m:r>
                      <m:r>
                        <a:rPr lang="zh-CN" altLang="en-US" sz="1200" i="1">
                          <a:latin typeface="Cambria Math" panose="02040503050406030204" pitchFamily="18" charset="0"/>
                        </a:rPr>
                        <m:t>𝑐𝑜𝑠</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4</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𝑠𝑖𝑛</m:t>
                          </m:r>
                          <m:r>
                            <a:rPr lang="zh-CN" altLang="en-US" sz="1200" i="1">
                              <a:latin typeface="Cambria Math" panose="02040503050406030204" pitchFamily="18" charset="0"/>
                            </a:rPr>
                            <m:t>𝜃</m:t>
                          </m:r>
                        </m:e>
                        <m:sub>
                          <m:r>
                            <a:rPr lang="zh-CN" altLang="en-US" sz="1200" i="0">
                              <a:latin typeface="Cambria Math" panose="02040503050406030204" pitchFamily="18" charset="0"/>
                            </a:rPr>
                            <m:t>2</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𝑠𝑖𝑛</m:t>
                          </m:r>
                          <m:r>
                            <a:rPr lang="zh-CN" altLang="en-US" sz="1200" i="1">
                              <a:latin typeface="Cambria Math" panose="02040503050406030204" pitchFamily="18" charset="0"/>
                            </a:rPr>
                            <m:t>𝜃</m:t>
                          </m:r>
                        </m:e>
                        <m:sub>
                          <m:r>
                            <a:rPr lang="zh-CN" altLang="en-US" sz="1200" i="0">
                              <a:latin typeface="Cambria Math" panose="02040503050406030204" pitchFamily="18" charset="0"/>
                            </a:rPr>
                            <m:t>4</m:t>
                          </m:r>
                        </m:sub>
                      </m:sSub>
                    </m:oMath>
                  </m:oMathPara>
                </a14:m>
                <a:endParaRPr lang="zh-CN" altLang="en-US" sz="1200" dirty="0"/>
              </a:p>
            </p:txBody>
          </p:sp>
        </mc:Choice>
        <mc:Fallback xmlns="">
          <p:sp>
            <p:nvSpPr>
              <p:cNvPr id="3" name="矩形 2"/>
              <p:cNvSpPr>
                <a:spLocks noRot="1" noChangeAspect="1" noMove="1" noResize="1" noEditPoints="1" noAdjustHandles="1" noChangeArrowheads="1" noChangeShapeType="1" noTextEdit="1"/>
              </p:cNvSpPr>
              <p:nvPr/>
            </p:nvSpPr>
            <p:spPr>
              <a:xfrm>
                <a:off x="1475656" y="3893338"/>
                <a:ext cx="6552728" cy="291618"/>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2466020" y="4117504"/>
                <a:ext cx="4572000" cy="291618"/>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r>
                        <a:rPr lang="zh-CN" altLang="en-US" sz="1200">
                          <a:latin typeface="Cambria Math" panose="02040503050406030204" pitchFamily="18" charset="0"/>
                        </a:rPr>
                        <m:t>−</m:t>
                      </m:r>
                      <m:r>
                        <a:rPr lang="zh-CN" altLang="en-US" sz="1200" i="1">
                          <a:latin typeface="Cambria Math" panose="02040503050406030204" pitchFamily="18" charset="0"/>
                        </a:rPr>
                        <m:t>𝑠𝑖𝑛</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𝑛</m:t>
                          </m:r>
                        </m:e>
                        <m:sub>
                          <m:r>
                            <a:rPr lang="zh-CN" altLang="en-US" sz="1200" i="1">
                              <a:latin typeface="Cambria Math" panose="02040503050406030204" pitchFamily="18" charset="0"/>
                            </a:rPr>
                            <m:t>𝑥</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𝑐𝑜𝑠</m:t>
                          </m:r>
                          <m:r>
                            <a:rPr lang="zh-CN" altLang="en-US" sz="1200" i="1">
                              <a:latin typeface="Cambria Math" panose="02040503050406030204" pitchFamily="18" charset="0"/>
                            </a:rPr>
                            <m:t>𝜃</m:t>
                          </m:r>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𝑛</m:t>
                          </m:r>
                        </m:e>
                        <m:sub>
                          <m:r>
                            <a:rPr lang="zh-CN" altLang="en-US" sz="1200" i="1">
                              <a:latin typeface="Cambria Math" panose="02040503050406030204" pitchFamily="18" charset="0"/>
                            </a:rPr>
                            <m:t>𝑦</m:t>
                          </m:r>
                        </m:sub>
                      </m:sSub>
                      <m:r>
                        <a:rPr lang="zh-CN" altLang="en-US" sz="1200" i="0">
                          <a:latin typeface="Cambria Math" panose="02040503050406030204" pitchFamily="18" charset="0"/>
                        </a:rPr>
                        <m:t>=</m:t>
                      </m:r>
                      <m:r>
                        <a:rPr lang="zh-CN" altLang="en-US" sz="1200" i="1">
                          <a:latin typeface="Cambria Math" panose="02040503050406030204" pitchFamily="18" charset="0"/>
                        </a:rPr>
                        <m:t>𝑠𝑖𝑛</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2</m:t>
                          </m:r>
                        </m:sub>
                      </m:sSub>
                      <m:r>
                        <a:rPr lang="zh-CN" altLang="en-US" sz="1200" i="0">
                          <a:latin typeface="Cambria Math" panose="02040503050406030204" pitchFamily="18" charset="0"/>
                        </a:rPr>
                        <m:t>∙</m:t>
                      </m:r>
                      <m:r>
                        <a:rPr lang="zh-CN" altLang="en-US" sz="1200" i="1">
                          <a:latin typeface="Cambria Math" panose="02040503050406030204" pitchFamily="18" charset="0"/>
                        </a:rPr>
                        <m:t>𝑐𝑜𝑠</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4</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𝑐𝑜𝑠</m:t>
                          </m:r>
                          <m:r>
                            <a:rPr lang="zh-CN" altLang="en-US" sz="1200" i="1">
                              <a:latin typeface="Cambria Math" panose="02040503050406030204" pitchFamily="18" charset="0"/>
                            </a:rPr>
                            <m:t>𝜃</m:t>
                          </m:r>
                        </m:e>
                        <m:sub>
                          <m:r>
                            <a:rPr lang="zh-CN" altLang="en-US" sz="1200" i="0">
                              <a:latin typeface="Cambria Math" panose="02040503050406030204" pitchFamily="18" charset="0"/>
                            </a:rPr>
                            <m:t>2</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𝑠𝑖𝑛</m:t>
                          </m:r>
                          <m:r>
                            <a:rPr lang="zh-CN" altLang="en-US" sz="1200" i="1">
                              <a:latin typeface="Cambria Math" panose="02040503050406030204" pitchFamily="18" charset="0"/>
                            </a:rPr>
                            <m:t>𝜃</m:t>
                          </m:r>
                        </m:e>
                        <m:sub>
                          <m:r>
                            <a:rPr lang="zh-CN" altLang="en-US" sz="1200" i="0">
                              <a:latin typeface="Cambria Math" panose="02040503050406030204" pitchFamily="18" charset="0"/>
                            </a:rPr>
                            <m:t>4</m:t>
                          </m:r>
                        </m:sub>
                      </m:sSub>
                    </m:oMath>
                  </m:oMathPara>
                </a14:m>
                <a:endParaRPr lang="zh-CN" altLang="en-US" sz="1200" dirty="0"/>
              </a:p>
            </p:txBody>
          </p:sp>
        </mc:Choice>
        <mc:Fallback xmlns="">
          <p:sp>
            <p:nvSpPr>
              <p:cNvPr id="4" name="矩形 3"/>
              <p:cNvSpPr>
                <a:spLocks noRot="1" noChangeAspect="1" noMove="1" noResize="1" noEditPoints="1" noAdjustHandles="1" noChangeArrowheads="1" noChangeShapeType="1" noTextEdit="1"/>
              </p:cNvSpPr>
              <p:nvPr/>
            </p:nvSpPr>
            <p:spPr>
              <a:xfrm>
                <a:off x="2466020" y="4117504"/>
                <a:ext cx="4572000" cy="291618"/>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1377049" y="4571090"/>
                <a:ext cx="6389266" cy="4608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4</m:t>
                          </m:r>
                        </m:sub>
                      </m:sSub>
                      <m:r>
                        <a:rPr lang="zh-CN" altLang="en-US" sz="1600" i="0">
                          <a:latin typeface="Cambria Math" panose="02040503050406030204" pitchFamily="18" charset="0"/>
                        </a:rPr>
                        <m:t>=</m:t>
                      </m:r>
                      <m:r>
                        <a:rPr lang="zh-CN" altLang="en-US" sz="1600" i="1">
                          <a:latin typeface="Cambria Math" panose="02040503050406030204" pitchFamily="18" charset="0"/>
                        </a:rPr>
                        <m:t>𝑎𝑡𝑎𝑛</m:t>
                      </m:r>
                      <m:r>
                        <a:rPr lang="zh-CN" altLang="en-US" sz="1600" i="0">
                          <a:latin typeface="Cambria Math" panose="02040503050406030204" pitchFamily="18" charset="0"/>
                        </a:rPr>
                        <m:t>2</m:t>
                      </m:r>
                      <m:d>
                        <m:dPr>
                          <m:ctrlPr>
                            <a:rPr lang="zh-CN" altLang="en-US" sz="1600" i="1">
                              <a:latin typeface="Cambria Math" panose="02040503050406030204" pitchFamily="18" charset="0"/>
                            </a:rPr>
                          </m:ctrlPr>
                        </m:dPr>
                        <m:e>
                          <m:d>
                            <m:dPr>
                              <m:ctrlPr>
                                <a:rPr lang="zh-CN" altLang="en-US" sz="1600" i="1">
                                  <a:latin typeface="Cambria Math" panose="02040503050406030204" pitchFamily="18" charset="0"/>
                                </a:rPr>
                              </m:ctrlPr>
                            </m:dPr>
                            <m:e>
                              <m:r>
                                <a:rPr lang="zh-CN" altLang="en-US" sz="1600" i="0">
                                  <a:latin typeface="Cambria Math" panose="02040503050406030204" pitchFamily="18" charset="0"/>
                                </a:rPr>
                                <m:t>−</m:t>
                              </m:r>
                              <m:r>
                                <a:rPr lang="zh-CN" altLang="en-US" sz="1600" i="1">
                                  <a:latin typeface="Cambria Math" panose="02040503050406030204" pitchFamily="18" charset="0"/>
                                </a:rPr>
                                <m:t>𝑠𝑖𝑛</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𝑛</m:t>
                                  </m:r>
                                </m:e>
                                <m:sub>
                                  <m:r>
                                    <a:rPr lang="zh-CN" altLang="en-US" sz="1600" i="1">
                                      <a:latin typeface="Cambria Math" panose="02040503050406030204" pitchFamily="18" charset="0"/>
                                    </a:rPr>
                                    <m:t>𝑥</m:t>
                                  </m:r>
                                </m:sub>
                              </m:sSub>
                              <m:r>
                                <a:rPr lang="zh-CN" altLang="en-US" sz="1600" i="0">
                                  <a:latin typeface="Cambria Math" panose="02040503050406030204" pitchFamily="18" charset="0"/>
                                </a:rPr>
                                <m:t>+</m:t>
                              </m:r>
                              <m:r>
                                <a:rPr lang="zh-CN" altLang="en-US" sz="1600" i="1">
                                  <a:latin typeface="Cambria Math" panose="02040503050406030204" pitchFamily="18" charset="0"/>
                                </a:rPr>
                                <m:t>𝑐𝑜𝑠</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𝑛</m:t>
                                  </m:r>
                                </m:e>
                                <m:sub>
                                  <m:d>
                                    <m:dPr>
                                      <m:begChr m:val=""/>
                                      <m:ctrlPr>
                                        <a:rPr lang="zh-CN" altLang="en-US" sz="1600" i="1">
                                          <a:latin typeface="Cambria Math" panose="02040503050406030204" pitchFamily="18" charset="0"/>
                                        </a:rPr>
                                      </m:ctrlPr>
                                    </m:dPr>
                                    <m:e>
                                      <m:r>
                                        <a:rPr lang="zh-CN" altLang="en-US" sz="1600" i="1">
                                          <a:latin typeface="Cambria Math" panose="02040503050406030204" pitchFamily="18" charset="0"/>
                                        </a:rPr>
                                        <m:t>𝑦</m:t>
                                      </m:r>
                                    </m:e>
                                  </m:d>
                                </m:sub>
                              </m:sSub>
                              <m:r>
                                <a:rPr lang="zh-CN" altLang="en-US" sz="1600" i="0">
                                  <a:latin typeface="Cambria Math" panose="02040503050406030204" pitchFamily="18" charset="0"/>
                                </a:rPr>
                                <m:t>, (</m:t>
                              </m:r>
                              <m:r>
                                <a:rPr lang="zh-CN" altLang="en-US" sz="1600" i="1">
                                  <a:latin typeface="Cambria Math" panose="02040503050406030204" pitchFamily="18" charset="0"/>
                                </a:rPr>
                                <m:t>𝑐𝑜𝑠</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𝑛</m:t>
                                  </m:r>
                                </m:e>
                                <m:sub>
                                  <m:r>
                                    <a:rPr lang="zh-CN" altLang="en-US" sz="1600" i="1">
                                      <a:latin typeface="Cambria Math" panose="02040503050406030204" pitchFamily="18" charset="0"/>
                                    </a:rPr>
                                    <m:t>𝑥</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𝑠𝑖𝑛</m:t>
                                  </m:r>
                                  <m:r>
                                    <a:rPr lang="zh-CN" altLang="en-US" sz="1600" i="1">
                                      <a:latin typeface="Cambria Math" panose="02040503050406030204" pitchFamily="18" charset="0"/>
                                    </a:rPr>
                                    <m:t>𝜃</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𝑛</m:t>
                                  </m:r>
                                </m:e>
                                <m:sub>
                                  <m:r>
                                    <a:rPr lang="zh-CN" altLang="en-US" sz="1600" i="1">
                                      <a:latin typeface="Cambria Math" panose="02040503050406030204" pitchFamily="18" charset="0"/>
                                    </a:rPr>
                                    <m:t>𝑦</m:t>
                                  </m:r>
                                </m:sub>
                              </m:sSub>
                            </m:e>
                          </m:d>
                        </m:e>
                      </m:d>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2</m:t>
                          </m:r>
                        </m:sub>
                      </m:sSub>
                    </m:oMath>
                  </m:oMathPara>
                </a14:m>
                <a:endParaRPr lang="zh-CN" altLang="en-US" sz="1600" dirty="0"/>
              </a:p>
            </p:txBody>
          </p:sp>
        </mc:Choice>
        <mc:Fallback xmlns="">
          <p:sp>
            <p:nvSpPr>
              <p:cNvPr id="6" name="矩形 5"/>
              <p:cNvSpPr>
                <a:spLocks noRot="1" noChangeAspect="1" noMove="1" noResize="1" noEditPoints="1" noAdjustHandles="1" noChangeArrowheads="1" noChangeShapeType="1" noTextEdit="1"/>
              </p:cNvSpPr>
              <p:nvPr/>
            </p:nvSpPr>
            <p:spPr>
              <a:xfrm>
                <a:off x="1377049" y="4571090"/>
                <a:ext cx="6389266" cy="460832"/>
              </a:xfrm>
              <a:prstGeom prst="rect">
                <a:avLst/>
              </a:prstGeom>
              <a:blipFill>
                <a:blip r:embed="rId12"/>
                <a:stretch>
                  <a:fillRect t="-22667" b="-84000"/>
                </a:stretch>
              </a:blipFill>
            </p:spPr>
            <p:txBody>
              <a:bodyPr/>
              <a:lstStyle/>
              <a:p>
                <a:r>
                  <a:rPr lang="zh-CN" altLang="en-US">
                    <a:noFill/>
                  </a:rPr>
                  <a:t> </a:t>
                </a:r>
              </a:p>
            </p:txBody>
          </p:sp>
        </mc:Fallback>
      </mc:AlternateContent>
      <p:sp>
        <p:nvSpPr>
          <p:cNvPr id="7" name="圆角矩形 6"/>
          <p:cNvSpPr/>
          <p:nvPr/>
        </p:nvSpPr>
        <p:spPr>
          <a:xfrm>
            <a:off x="3923928" y="2841107"/>
            <a:ext cx="1224136" cy="41826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15"/>
          <p:cNvSpPr/>
          <p:nvPr/>
        </p:nvSpPr>
        <p:spPr>
          <a:xfrm>
            <a:off x="1377049" y="4571090"/>
            <a:ext cx="6389266" cy="46083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5475303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1444370"/>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在三自由度链式坐标机器人的基础上，工业机器人为了实现更灵活的操作，链式坐标机器人出现了多自由度的机器人手腕（增加自由度）。后来，在三个大关节基础上，在机械臂末端设计三个小关节来模仿手腕的自由度，由此发展出通用的</a:t>
            </a:r>
            <a:r>
              <a:rPr lang="en-US" altLang="zh-CN" sz="1200" dirty="0">
                <a:latin typeface="Arial" panose="020B0604020202020204" pitchFamily="34" charset="0"/>
                <a:ea typeface="微软雅黑" panose="020B0503020204020204" charset="-122"/>
                <a:sym typeface="+mn-ea"/>
              </a:rPr>
              <a:t>6</a:t>
            </a:r>
            <a:r>
              <a:rPr lang="zh-CN" altLang="en-US" sz="1200" dirty="0">
                <a:latin typeface="Arial" panose="020B0604020202020204" pitchFamily="34" charset="0"/>
                <a:ea typeface="微软雅黑" panose="020B0503020204020204" charset="-122"/>
                <a:sym typeface="+mn-ea"/>
              </a:rPr>
              <a:t>自由度串联机械臂。</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7" name="文本框 6"/>
          <p:cNvSpPr txBox="1"/>
          <p:nvPr/>
        </p:nvSpPr>
        <p:spPr>
          <a:xfrm>
            <a:off x="4319270" y="1951355"/>
            <a:ext cx="3335655" cy="521970"/>
          </a:xfrm>
          <a:prstGeom prst="rect">
            <a:avLst/>
          </a:prstGeom>
          <a:noFill/>
        </p:spPr>
        <p:txBody>
          <a:bodyPr wrap="square" rtlCol="0" anchor="t">
            <a:spAutoFit/>
          </a:bodyPr>
          <a:lstStyle/>
          <a:p>
            <a:r>
              <a:rPr lang="zh-CN" altLang="en-US" sz="2800" b="1" dirty="0">
                <a:latin typeface="Arial" panose="020B0604020202020204" pitchFamily="34" charset="0"/>
                <a:ea typeface="微软雅黑" panose="020B0503020204020204" charset="-122"/>
                <a:sym typeface="+mn-ea"/>
              </a:rPr>
              <a:t>机器人腕部结构</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a:solidFill>
                  <a:schemeClr val="bg1"/>
                </a:solidFill>
                <a:latin typeface="微软雅黑" panose="020B0503020204020204" charset="-122"/>
                <a:ea typeface="微软雅黑" panose="020B0503020204020204" charset="-122"/>
                <a:sym typeface="+mn-ea"/>
              </a:rPr>
              <a:t>04</a:t>
            </a:r>
          </a:p>
        </p:txBody>
      </p:sp>
    </p:spTree>
    <p:extLst>
      <p:ext uri="{BB962C8B-B14F-4D97-AF65-F5344CB8AC3E}">
        <p14:creationId xmlns:p14="http://schemas.microsoft.com/office/powerpoint/2010/main" val="406650536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200430" y="186366"/>
            <a:ext cx="1723549" cy="400110"/>
          </a:xfrm>
          <a:prstGeom prst="rect">
            <a:avLst/>
          </a:prstGeom>
        </p:spPr>
        <p:txBody>
          <a:bodyPr wrap="none">
            <a:spAutoFit/>
          </a:bodyPr>
          <a:lstStyle/>
          <a:p>
            <a:r>
              <a:rPr lang="zh-CN" altLang="zh-CN" sz="2000" dirty="0">
                <a:solidFill>
                  <a:srgbClr val="002060"/>
                </a:solidFill>
                <a:ea typeface="等线" panose="02010600030101010101" pitchFamily="2" charset="-122"/>
                <a:cs typeface="Times New Roman" panose="02020603050405020304" pitchFamily="18" charset="0"/>
              </a:rPr>
              <a:t>单自由度手腕</a:t>
            </a:r>
            <a:endParaRPr lang="zh-CN" altLang="en-US" sz="2000" dirty="0">
              <a:solidFill>
                <a:srgbClr val="002060"/>
              </a:solidFill>
            </a:endParaRPr>
          </a:p>
        </p:txBody>
      </p:sp>
      <p:grpSp>
        <p:nvGrpSpPr>
          <p:cNvPr id="38" name="组合 37"/>
          <p:cNvGrpSpPr/>
          <p:nvPr/>
        </p:nvGrpSpPr>
        <p:grpSpPr>
          <a:xfrm>
            <a:off x="611560" y="4011864"/>
            <a:ext cx="7685075" cy="1003478"/>
            <a:chOff x="599262" y="4510794"/>
            <a:chExt cx="10245168" cy="1337761"/>
          </a:xfrm>
        </p:grpSpPr>
        <p:sp>
          <p:nvSpPr>
            <p:cNvPr id="39" name="矩形 38"/>
            <p:cNvSpPr/>
            <p:nvPr/>
          </p:nvSpPr>
          <p:spPr>
            <a:xfrm>
              <a:off x="599262" y="4920726"/>
              <a:ext cx="2691541" cy="843176"/>
            </a:xfrm>
            <a:prstGeom prst="rect">
              <a:avLst/>
            </a:prstGeom>
          </p:spPr>
          <p:txBody>
            <a:bodyPr wrap="square">
              <a:spAutoFit/>
            </a:bodyPr>
            <a:lstStyle/>
            <a:p>
              <a:pPr>
                <a:lnSpc>
                  <a:spcPct val="130000"/>
                </a:lnSpc>
                <a:defRPr/>
              </a:pPr>
              <a:r>
                <a:rPr lang="zh-CN" altLang="en-US" sz="900" kern="0" dirty="0">
                  <a:solidFill>
                    <a:schemeClr val="tx1">
                      <a:lumMod val="65000"/>
                      <a:lumOff val="35000"/>
                    </a:schemeClr>
                  </a:solidFill>
                  <a:latin typeface="微软雅黑" panose="020B0503020204020204" charset="-122"/>
                  <a:ea typeface="微软雅黑" panose="020B0503020204020204" charset="-122"/>
                </a:rPr>
                <a:t>一种回转</a:t>
              </a:r>
              <a:r>
                <a:rPr lang="en-US" altLang="zh-CN" sz="900" kern="0" dirty="0">
                  <a:solidFill>
                    <a:schemeClr val="tx1">
                      <a:lumMod val="65000"/>
                      <a:lumOff val="35000"/>
                    </a:schemeClr>
                  </a:solidFill>
                  <a:latin typeface="微软雅黑" panose="020B0503020204020204" charset="-122"/>
                  <a:ea typeface="微软雅黑" panose="020B0503020204020204" charset="-122"/>
                </a:rPr>
                <a:t>(roll)</a:t>
              </a:r>
              <a:r>
                <a:rPr lang="zh-CN" altLang="en-US" sz="900" kern="0" dirty="0">
                  <a:solidFill>
                    <a:schemeClr val="tx1">
                      <a:lumMod val="65000"/>
                      <a:lumOff val="35000"/>
                    </a:schemeClr>
                  </a:solidFill>
                  <a:latin typeface="微软雅黑" panose="020B0503020204020204" charset="-122"/>
                  <a:ea typeface="微软雅黑" panose="020B0503020204020204" charset="-122"/>
                </a:rPr>
                <a:t>关节</a:t>
              </a:r>
              <a:r>
                <a:rPr lang="en-US" altLang="zh-CN" sz="900" kern="0" dirty="0">
                  <a:solidFill>
                    <a:schemeClr val="tx1">
                      <a:lumMod val="65000"/>
                      <a:lumOff val="35000"/>
                    </a:schemeClr>
                  </a:solidFill>
                  <a:latin typeface="微软雅黑" panose="020B0503020204020204" charset="-122"/>
                  <a:ea typeface="微软雅黑" panose="020B0503020204020204" charset="-122"/>
                </a:rPr>
                <a:t>,</a:t>
              </a:r>
              <a:r>
                <a:rPr lang="zh-CN" altLang="en-US" sz="900" kern="0" dirty="0">
                  <a:solidFill>
                    <a:schemeClr val="tx1">
                      <a:lumMod val="65000"/>
                      <a:lumOff val="35000"/>
                    </a:schemeClr>
                  </a:solidFill>
                  <a:latin typeface="微软雅黑" panose="020B0503020204020204" charset="-122"/>
                  <a:ea typeface="微软雅黑" panose="020B0503020204020204" charset="-122"/>
                </a:rPr>
                <a:t>它使手臂纵轴线和手腕关节轴线构成共轴线形式，这种</a:t>
              </a:r>
              <a:r>
                <a:rPr lang="en-US" altLang="zh-CN" sz="900" kern="0" dirty="0">
                  <a:solidFill>
                    <a:schemeClr val="tx1">
                      <a:lumMod val="65000"/>
                      <a:lumOff val="35000"/>
                    </a:schemeClr>
                  </a:solidFill>
                  <a:latin typeface="微软雅黑" panose="020B0503020204020204" charset="-122"/>
                  <a:ea typeface="微软雅黑" panose="020B0503020204020204" charset="-122"/>
                </a:rPr>
                <a:t>R </a:t>
              </a:r>
              <a:r>
                <a:rPr lang="zh-CN" altLang="en-US" sz="900" kern="0" dirty="0">
                  <a:solidFill>
                    <a:schemeClr val="tx1">
                      <a:lumMod val="65000"/>
                      <a:lumOff val="35000"/>
                    </a:schemeClr>
                  </a:solidFill>
                  <a:latin typeface="微软雅黑" panose="020B0503020204020204" charset="-122"/>
                  <a:ea typeface="微软雅黑" panose="020B0503020204020204" charset="-122"/>
                </a:rPr>
                <a:t>关节旋转角度大</a:t>
              </a:r>
              <a:r>
                <a:rPr lang="en-US" altLang="zh-CN" sz="900" kern="0" dirty="0">
                  <a:solidFill>
                    <a:schemeClr val="tx1">
                      <a:lumMod val="65000"/>
                      <a:lumOff val="35000"/>
                    </a:schemeClr>
                  </a:solidFill>
                  <a:latin typeface="微软雅黑" panose="020B0503020204020204" charset="-122"/>
                  <a:ea typeface="微软雅黑" panose="020B0503020204020204" charset="-122"/>
                </a:rPr>
                <a:t>,</a:t>
              </a:r>
              <a:r>
                <a:rPr lang="zh-CN" altLang="en-US" sz="900" kern="0" dirty="0">
                  <a:solidFill>
                    <a:schemeClr val="tx1">
                      <a:lumMod val="65000"/>
                      <a:lumOff val="35000"/>
                    </a:schemeClr>
                  </a:solidFill>
                  <a:latin typeface="微软雅黑" panose="020B0503020204020204" charset="-122"/>
                  <a:ea typeface="微软雅黑" panose="020B0503020204020204" charset="-122"/>
                </a:rPr>
                <a:t>可达</a:t>
              </a:r>
              <a:r>
                <a:rPr lang="en-US" altLang="zh-CN" sz="900" kern="0" dirty="0">
                  <a:solidFill>
                    <a:schemeClr val="tx1">
                      <a:lumMod val="65000"/>
                      <a:lumOff val="35000"/>
                    </a:schemeClr>
                  </a:solidFill>
                  <a:latin typeface="微软雅黑" panose="020B0503020204020204" charset="-122"/>
                  <a:ea typeface="微软雅黑" panose="020B0503020204020204" charset="-122"/>
                </a:rPr>
                <a:t>360°</a:t>
              </a:r>
              <a:r>
                <a:rPr lang="zh-CN" altLang="en-US" sz="900" kern="0" dirty="0">
                  <a:solidFill>
                    <a:schemeClr val="tx1">
                      <a:lumMod val="65000"/>
                      <a:lumOff val="35000"/>
                    </a:schemeClr>
                  </a:solidFill>
                  <a:latin typeface="微软雅黑" panose="020B0503020204020204" charset="-122"/>
                  <a:ea typeface="微软雅黑" panose="020B0503020204020204" charset="-122"/>
                </a:rPr>
                <a:t>以上</a:t>
              </a:r>
            </a:p>
          </p:txBody>
        </p:sp>
        <p:sp>
          <p:nvSpPr>
            <p:cNvPr id="40" name="文本框 25"/>
            <p:cNvSpPr txBox="1"/>
            <p:nvPr>
              <p:custDataLst>
                <p:tags r:id="rId1"/>
              </p:custDataLst>
            </p:nvPr>
          </p:nvSpPr>
          <p:spPr>
            <a:xfrm>
              <a:off x="821691" y="4510794"/>
              <a:ext cx="2469112" cy="461080"/>
            </a:xfrm>
            <a:prstGeom prst="rect">
              <a:avLst/>
            </a:prstGeom>
            <a:noFill/>
          </p:spPr>
          <p:txBody>
            <a:bodyPr wrap="square" rtlCol="0">
              <a:spAutoFit/>
            </a:bodyPr>
            <a:lstStyle/>
            <a:p>
              <a:pPr algn="ctr">
                <a:lnSpc>
                  <a:spcPct val="120000"/>
                </a:lnSpc>
              </a:pPr>
              <a:r>
                <a:rPr lang="en-US" altLang="zh-CN" sz="1500" b="1" dirty="0" smtClean="0">
                  <a:latin typeface="微软雅黑" panose="020B0503020204020204" charset="-122"/>
                  <a:ea typeface="微软雅黑" panose="020B0503020204020204" charset="-122"/>
                </a:rPr>
                <a:t>R</a:t>
              </a:r>
              <a:r>
                <a:rPr lang="zh-CN" altLang="en-US" sz="1500" b="1" dirty="0" smtClean="0">
                  <a:latin typeface="微软雅黑" panose="020B0503020204020204" charset="-122"/>
                  <a:ea typeface="微软雅黑" panose="020B0503020204020204" charset="-122"/>
                </a:rPr>
                <a:t>关节</a:t>
              </a:r>
              <a:endParaRPr lang="zh-CN" sz="1500" b="1" dirty="0" smtClean="0">
                <a:solidFill>
                  <a:schemeClr val="tx1"/>
                </a:solidFill>
                <a:latin typeface="微软雅黑" panose="020B0503020204020204" charset="-122"/>
                <a:ea typeface="微软雅黑" panose="020B0503020204020204" charset="-122"/>
              </a:endParaRPr>
            </a:p>
          </p:txBody>
        </p:sp>
        <p:sp>
          <p:nvSpPr>
            <p:cNvPr id="41" name="矩形 40"/>
            <p:cNvSpPr/>
            <p:nvPr/>
          </p:nvSpPr>
          <p:spPr>
            <a:xfrm>
              <a:off x="3346683" y="5005379"/>
              <a:ext cx="2597388" cy="843176"/>
            </a:xfrm>
            <a:prstGeom prst="rect">
              <a:avLst/>
            </a:prstGeom>
          </p:spPr>
          <p:txBody>
            <a:bodyPr wrap="square">
              <a:spAutoFit/>
            </a:bodyPr>
            <a:lstStyle/>
            <a:p>
              <a:pPr>
                <a:lnSpc>
                  <a:spcPct val="130000"/>
                </a:lnSpc>
                <a:defRPr/>
              </a:pPr>
              <a:r>
                <a:rPr lang="zh-CN" altLang="en-US" sz="900" kern="0" dirty="0">
                  <a:solidFill>
                    <a:schemeClr val="tx1">
                      <a:lumMod val="65000"/>
                      <a:lumOff val="35000"/>
                    </a:schemeClr>
                  </a:solidFill>
                  <a:latin typeface="微软雅黑" panose="020B0503020204020204" charset="-122"/>
                  <a:ea typeface="微软雅黑" panose="020B0503020204020204" charset="-122"/>
                </a:rPr>
                <a:t>一种弯曲</a:t>
              </a:r>
              <a:r>
                <a:rPr lang="en-US" altLang="zh-CN" sz="900" kern="0" dirty="0">
                  <a:solidFill>
                    <a:schemeClr val="tx1">
                      <a:lumMod val="65000"/>
                      <a:lumOff val="35000"/>
                    </a:schemeClr>
                  </a:solidFill>
                  <a:latin typeface="微软雅黑" panose="020B0503020204020204" charset="-122"/>
                  <a:ea typeface="微软雅黑" panose="020B0503020204020204" charset="-122"/>
                </a:rPr>
                <a:t>(bend)</a:t>
              </a:r>
              <a:r>
                <a:rPr lang="zh-CN" altLang="en-US" sz="900" kern="0" dirty="0">
                  <a:solidFill>
                    <a:schemeClr val="tx1">
                      <a:lumMod val="65000"/>
                      <a:lumOff val="35000"/>
                    </a:schemeClr>
                  </a:solidFill>
                  <a:latin typeface="微软雅黑" panose="020B0503020204020204" charset="-122"/>
                  <a:ea typeface="微软雅黑" panose="020B0503020204020204" charset="-122"/>
                </a:rPr>
                <a:t>关节</a:t>
              </a:r>
              <a:r>
                <a:rPr lang="en-US" altLang="zh-CN" sz="900" kern="0" dirty="0">
                  <a:solidFill>
                    <a:schemeClr val="tx1">
                      <a:lumMod val="65000"/>
                      <a:lumOff val="35000"/>
                    </a:schemeClr>
                  </a:solidFill>
                  <a:latin typeface="微软雅黑" panose="020B0503020204020204" charset="-122"/>
                  <a:ea typeface="微软雅黑" panose="020B0503020204020204" charset="-122"/>
                </a:rPr>
                <a:t>,</a:t>
              </a:r>
              <a:r>
                <a:rPr lang="zh-CN" altLang="en-US" sz="900" kern="0" dirty="0">
                  <a:solidFill>
                    <a:schemeClr val="tx1">
                      <a:lumMod val="65000"/>
                      <a:lumOff val="35000"/>
                    </a:schemeClr>
                  </a:solidFill>
                  <a:latin typeface="微软雅黑" panose="020B0503020204020204" charset="-122"/>
                  <a:ea typeface="微软雅黑" panose="020B0503020204020204" charset="-122"/>
                </a:rPr>
                <a:t>也称</a:t>
              </a:r>
              <a:r>
                <a:rPr lang="en-US" altLang="zh-CN" sz="900" kern="0" dirty="0">
                  <a:solidFill>
                    <a:schemeClr val="tx1">
                      <a:lumMod val="65000"/>
                      <a:lumOff val="35000"/>
                    </a:schemeClr>
                  </a:solidFill>
                  <a:latin typeface="微软雅黑" panose="020B0503020204020204" charset="-122"/>
                  <a:ea typeface="微软雅黑" panose="020B0503020204020204" charset="-122"/>
                </a:rPr>
                <a:t>B</a:t>
              </a:r>
              <a:r>
                <a:rPr lang="zh-CN" altLang="en-US" sz="900" kern="0" dirty="0">
                  <a:solidFill>
                    <a:schemeClr val="tx1">
                      <a:lumMod val="65000"/>
                      <a:lumOff val="35000"/>
                    </a:schemeClr>
                  </a:solidFill>
                  <a:latin typeface="微软雅黑" panose="020B0503020204020204" charset="-122"/>
                  <a:ea typeface="微软雅黑" panose="020B0503020204020204" charset="-122"/>
                </a:rPr>
                <a:t>关节</a:t>
              </a:r>
              <a:r>
                <a:rPr lang="en-US" altLang="zh-CN" sz="900" kern="0" dirty="0">
                  <a:solidFill>
                    <a:schemeClr val="tx1">
                      <a:lumMod val="65000"/>
                      <a:lumOff val="35000"/>
                    </a:schemeClr>
                  </a:solidFill>
                  <a:latin typeface="微软雅黑" panose="020B0503020204020204" charset="-122"/>
                  <a:ea typeface="微软雅黑" panose="020B0503020204020204" charset="-122"/>
                </a:rPr>
                <a:t>,</a:t>
              </a:r>
              <a:r>
                <a:rPr lang="zh-CN" altLang="en-US" sz="900" kern="0" dirty="0">
                  <a:solidFill>
                    <a:schemeClr val="tx1">
                      <a:lumMod val="65000"/>
                      <a:lumOff val="35000"/>
                    </a:schemeClr>
                  </a:solidFill>
                  <a:latin typeface="微软雅黑" panose="020B0503020204020204" charset="-122"/>
                  <a:ea typeface="微软雅黑" panose="020B0503020204020204" charset="-122"/>
                </a:rPr>
                <a:t>关节轴线与前、后两个连接件的轴线相垂直</a:t>
              </a:r>
              <a:r>
                <a:rPr lang="zh-CN" altLang="en-US" sz="900" kern="0" dirty="0" smtClean="0">
                  <a:solidFill>
                    <a:schemeClr val="tx1">
                      <a:lumMod val="65000"/>
                      <a:lumOff val="35000"/>
                    </a:schemeClr>
                  </a:solidFill>
                  <a:latin typeface="微软雅黑" panose="020B0503020204020204" charset="-122"/>
                  <a:ea typeface="微软雅黑" panose="020B0503020204020204" charset="-122"/>
                </a:rPr>
                <a:t>。对应俯仰</a:t>
              </a:r>
              <a:r>
                <a:rPr lang="en-US" altLang="zh-CN" sz="900" kern="0" dirty="0" smtClean="0">
                  <a:solidFill>
                    <a:schemeClr val="tx1">
                      <a:lumMod val="65000"/>
                      <a:lumOff val="35000"/>
                    </a:schemeClr>
                  </a:solidFill>
                  <a:latin typeface="微软雅黑" panose="020B0503020204020204" charset="-122"/>
                  <a:ea typeface="微软雅黑" panose="020B0503020204020204" charset="-122"/>
                </a:rPr>
                <a:t>(pitch)</a:t>
              </a:r>
              <a:r>
                <a:rPr lang="zh-CN" altLang="en-US" sz="900" kern="0" dirty="0" smtClean="0">
                  <a:solidFill>
                    <a:schemeClr val="tx1">
                      <a:lumMod val="65000"/>
                      <a:lumOff val="35000"/>
                    </a:schemeClr>
                  </a:solidFill>
                  <a:latin typeface="微软雅黑" panose="020B0503020204020204" charset="-122"/>
                  <a:ea typeface="微软雅黑" panose="020B0503020204020204" charset="-122"/>
                </a:rPr>
                <a:t>角操作。</a:t>
              </a:r>
              <a:endParaRPr lang="zh-CN" altLang="en-US" sz="900" kern="0" dirty="0">
                <a:solidFill>
                  <a:schemeClr val="tx1">
                    <a:lumMod val="65000"/>
                    <a:lumOff val="35000"/>
                  </a:schemeClr>
                </a:solidFill>
                <a:latin typeface="微软雅黑" panose="020B0503020204020204" charset="-122"/>
                <a:ea typeface="微软雅黑" panose="020B0503020204020204" charset="-122"/>
              </a:endParaRPr>
            </a:p>
          </p:txBody>
        </p:sp>
        <p:sp>
          <p:nvSpPr>
            <p:cNvPr id="42" name="文本框 25"/>
            <p:cNvSpPr txBox="1"/>
            <p:nvPr>
              <p:custDataLst>
                <p:tags r:id="rId2"/>
              </p:custDataLst>
            </p:nvPr>
          </p:nvSpPr>
          <p:spPr>
            <a:xfrm>
              <a:off x="3458646" y="4595447"/>
              <a:ext cx="2469112" cy="461080"/>
            </a:xfrm>
            <a:prstGeom prst="rect">
              <a:avLst/>
            </a:prstGeom>
            <a:noFill/>
          </p:spPr>
          <p:txBody>
            <a:bodyPr wrap="square" rtlCol="0">
              <a:spAutoFit/>
            </a:bodyPr>
            <a:lstStyle/>
            <a:p>
              <a:pPr algn="ctr">
                <a:lnSpc>
                  <a:spcPct val="120000"/>
                </a:lnSpc>
              </a:pPr>
              <a:r>
                <a:rPr lang="en-US" altLang="zh-CN" sz="1500" b="1" dirty="0" smtClean="0">
                  <a:solidFill>
                    <a:schemeClr val="tx1"/>
                  </a:solidFill>
                  <a:latin typeface="微软雅黑" panose="020B0503020204020204" charset="-122"/>
                  <a:ea typeface="微软雅黑" panose="020B0503020204020204" charset="-122"/>
                </a:rPr>
                <a:t>B</a:t>
              </a:r>
              <a:r>
                <a:rPr lang="zh-CN" altLang="en-US" sz="1500" b="1" dirty="0" smtClean="0">
                  <a:solidFill>
                    <a:schemeClr val="tx1"/>
                  </a:solidFill>
                  <a:latin typeface="微软雅黑" panose="020B0503020204020204" charset="-122"/>
                  <a:ea typeface="微软雅黑" panose="020B0503020204020204" charset="-122"/>
                </a:rPr>
                <a:t>关节</a:t>
              </a:r>
              <a:endParaRPr lang="zh-CN" sz="1500" b="1" dirty="0" smtClean="0">
                <a:solidFill>
                  <a:schemeClr val="tx1"/>
                </a:solidFill>
                <a:latin typeface="微软雅黑" panose="020B0503020204020204" charset="-122"/>
                <a:ea typeface="微软雅黑" panose="020B0503020204020204" charset="-122"/>
              </a:endParaRPr>
            </a:p>
          </p:txBody>
        </p:sp>
        <p:sp>
          <p:nvSpPr>
            <p:cNvPr id="43" name="矩形 42"/>
            <p:cNvSpPr/>
            <p:nvPr/>
          </p:nvSpPr>
          <p:spPr>
            <a:xfrm>
              <a:off x="6249034" y="5001993"/>
              <a:ext cx="1915065" cy="603148"/>
            </a:xfrm>
            <a:prstGeom prst="rect">
              <a:avLst/>
            </a:prstGeom>
          </p:spPr>
          <p:txBody>
            <a:bodyPr wrap="square">
              <a:spAutoFit/>
            </a:bodyPr>
            <a:lstStyle/>
            <a:p>
              <a:pPr>
                <a:lnSpc>
                  <a:spcPct val="130000"/>
                </a:lnSpc>
                <a:defRPr/>
              </a:pPr>
              <a:r>
                <a:rPr lang="zh-CN" altLang="en-US" sz="900" kern="0" dirty="0" smtClean="0">
                  <a:solidFill>
                    <a:schemeClr val="tx1">
                      <a:lumMod val="65000"/>
                      <a:lumOff val="35000"/>
                    </a:schemeClr>
                  </a:solidFill>
                  <a:latin typeface="微软雅黑" panose="020B0503020204020204" charset="-122"/>
                  <a:ea typeface="微软雅黑" panose="020B0503020204020204" charset="-122"/>
                </a:rPr>
                <a:t>另一种</a:t>
              </a:r>
              <a:r>
                <a:rPr lang="en-US" altLang="zh-CN" sz="900" kern="0" dirty="0" smtClean="0">
                  <a:solidFill>
                    <a:schemeClr val="tx1">
                      <a:lumMod val="65000"/>
                      <a:lumOff val="35000"/>
                    </a:schemeClr>
                  </a:solidFill>
                  <a:latin typeface="微软雅黑" panose="020B0503020204020204" charset="-122"/>
                  <a:ea typeface="微软雅黑" panose="020B0503020204020204" charset="-122"/>
                </a:rPr>
                <a:t>B</a:t>
              </a:r>
              <a:r>
                <a:rPr lang="zh-CN" altLang="en-US" sz="900" kern="0" dirty="0" smtClean="0">
                  <a:solidFill>
                    <a:schemeClr val="tx1">
                      <a:lumMod val="65000"/>
                      <a:lumOff val="35000"/>
                    </a:schemeClr>
                  </a:solidFill>
                  <a:latin typeface="微软雅黑" panose="020B0503020204020204" charset="-122"/>
                  <a:ea typeface="微软雅黑" panose="020B0503020204020204" charset="-122"/>
                </a:rPr>
                <a:t>关节，对应偏转</a:t>
              </a:r>
              <a:r>
                <a:rPr lang="en-US" altLang="zh-CN" sz="900" kern="0" dirty="0" smtClean="0">
                  <a:solidFill>
                    <a:schemeClr val="tx1">
                      <a:lumMod val="65000"/>
                      <a:lumOff val="35000"/>
                    </a:schemeClr>
                  </a:solidFill>
                  <a:latin typeface="微软雅黑" panose="020B0503020204020204" charset="-122"/>
                  <a:ea typeface="微软雅黑" panose="020B0503020204020204" charset="-122"/>
                </a:rPr>
                <a:t>(yaw)</a:t>
              </a:r>
              <a:r>
                <a:rPr lang="zh-CN" altLang="en-US" sz="900" kern="0" dirty="0" smtClean="0">
                  <a:solidFill>
                    <a:schemeClr val="tx1">
                      <a:lumMod val="65000"/>
                      <a:lumOff val="35000"/>
                    </a:schemeClr>
                  </a:solidFill>
                  <a:latin typeface="微软雅黑" panose="020B0503020204020204" charset="-122"/>
                  <a:ea typeface="微软雅黑" panose="020B0503020204020204" charset="-122"/>
                </a:rPr>
                <a:t>角操作。</a:t>
              </a:r>
              <a:endParaRPr lang="zh-CN" altLang="en-US" sz="900" kern="0" dirty="0">
                <a:solidFill>
                  <a:schemeClr val="tx1">
                    <a:lumMod val="65000"/>
                    <a:lumOff val="35000"/>
                  </a:schemeClr>
                </a:solidFill>
                <a:latin typeface="微软雅黑" panose="020B0503020204020204" charset="-122"/>
                <a:ea typeface="微软雅黑" panose="020B0503020204020204" charset="-122"/>
              </a:endParaRPr>
            </a:p>
          </p:txBody>
        </p:sp>
        <p:sp>
          <p:nvSpPr>
            <p:cNvPr id="44" name="文本框 25"/>
            <p:cNvSpPr txBox="1"/>
            <p:nvPr>
              <p:custDataLst>
                <p:tags r:id="rId3"/>
              </p:custDataLst>
            </p:nvPr>
          </p:nvSpPr>
          <p:spPr>
            <a:xfrm>
              <a:off x="5944071" y="4592061"/>
              <a:ext cx="2469112" cy="461080"/>
            </a:xfrm>
            <a:prstGeom prst="rect">
              <a:avLst/>
            </a:prstGeom>
            <a:noFill/>
          </p:spPr>
          <p:txBody>
            <a:bodyPr wrap="square" rtlCol="0">
              <a:spAutoFit/>
            </a:bodyPr>
            <a:lstStyle/>
            <a:p>
              <a:pPr algn="ctr">
                <a:lnSpc>
                  <a:spcPct val="120000"/>
                </a:lnSpc>
              </a:pPr>
              <a:r>
                <a:rPr lang="en-US" altLang="zh-CN" sz="1500" b="1" dirty="0" smtClean="0">
                  <a:solidFill>
                    <a:schemeClr val="tx1"/>
                  </a:solidFill>
                  <a:latin typeface="微软雅黑" panose="020B0503020204020204" charset="-122"/>
                  <a:ea typeface="微软雅黑" panose="020B0503020204020204" charset="-122"/>
                </a:rPr>
                <a:t>B</a:t>
              </a:r>
              <a:r>
                <a:rPr lang="zh-CN" altLang="en-US" sz="1500" b="1" dirty="0" smtClean="0">
                  <a:solidFill>
                    <a:schemeClr val="tx1"/>
                  </a:solidFill>
                  <a:latin typeface="微软雅黑" panose="020B0503020204020204" charset="-122"/>
                  <a:ea typeface="微软雅黑" panose="020B0503020204020204" charset="-122"/>
                </a:rPr>
                <a:t>关节</a:t>
              </a:r>
              <a:endParaRPr lang="zh-CN" sz="1500" b="1" dirty="0" smtClean="0">
                <a:solidFill>
                  <a:schemeClr val="tx1"/>
                </a:solidFill>
                <a:latin typeface="微软雅黑" panose="020B0503020204020204" charset="-122"/>
                <a:ea typeface="微软雅黑" panose="020B0503020204020204" charset="-122"/>
              </a:endParaRPr>
            </a:p>
          </p:txBody>
        </p:sp>
        <p:sp>
          <p:nvSpPr>
            <p:cNvPr id="45" name="矩形 44"/>
            <p:cNvSpPr/>
            <p:nvPr/>
          </p:nvSpPr>
          <p:spPr>
            <a:xfrm>
              <a:off x="8680281" y="4920726"/>
              <a:ext cx="1915065" cy="579727"/>
            </a:xfrm>
            <a:prstGeom prst="rect">
              <a:avLst/>
            </a:prstGeom>
          </p:spPr>
          <p:txBody>
            <a:bodyPr wrap="square">
              <a:spAutoFit/>
            </a:bodyPr>
            <a:lstStyle/>
            <a:p>
              <a:pPr>
                <a:lnSpc>
                  <a:spcPct val="130000"/>
                </a:lnSpc>
                <a:defRPr/>
              </a:pPr>
              <a:r>
                <a:rPr lang="zh-CN" altLang="en-US" sz="900" kern="0" dirty="0">
                  <a:solidFill>
                    <a:schemeClr val="tx1">
                      <a:lumMod val="65000"/>
                      <a:lumOff val="35000"/>
                    </a:schemeClr>
                  </a:solidFill>
                  <a:latin typeface="微软雅黑" panose="020B0503020204020204" charset="-122"/>
                  <a:ea typeface="微软雅黑" panose="020B0503020204020204" charset="-122"/>
                </a:rPr>
                <a:t>移动</a:t>
              </a:r>
              <a:r>
                <a:rPr lang="en-US" altLang="zh-CN" sz="900" kern="0" dirty="0">
                  <a:solidFill>
                    <a:schemeClr val="tx1">
                      <a:lumMod val="65000"/>
                      <a:lumOff val="35000"/>
                    </a:schemeClr>
                  </a:solidFill>
                  <a:latin typeface="微软雅黑" panose="020B0503020204020204" charset="-122"/>
                  <a:ea typeface="微软雅黑" panose="020B0503020204020204" charset="-122"/>
                </a:rPr>
                <a:t>(translate)</a:t>
              </a:r>
              <a:r>
                <a:rPr lang="zh-CN" altLang="en-US" sz="900" kern="0" dirty="0">
                  <a:solidFill>
                    <a:schemeClr val="tx1">
                      <a:lumMod val="65000"/>
                      <a:lumOff val="35000"/>
                    </a:schemeClr>
                  </a:solidFill>
                  <a:latin typeface="微软雅黑" panose="020B0503020204020204" charset="-122"/>
                  <a:ea typeface="微软雅黑" panose="020B0503020204020204" charset="-122"/>
                </a:rPr>
                <a:t>关节</a:t>
              </a:r>
              <a:r>
                <a:rPr lang="en-US" altLang="zh-CN" sz="900" kern="0" dirty="0">
                  <a:solidFill>
                    <a:schemeClr val="tx1">
                      <a:lumMod val="65000"/>
                      <a:lumOff val="35000"/>
                    </a:schemeClr>
                  </a:solidFill>
                  <a:latin typeface="微软雅黑" panose="020B0503020204020204" charset="-122"/>
                  <a:ea typeface="微软雅黑" panose="020B0503020204020204" charset="-122"/>
                </a:rPr>
                <a:t>,</a:t>
              </a:r>
              <a:r>
                <a:rPr lang="zh-CN" altLang="en-US" sz="900" kern="0" dirty="0">
                  <a:solidFill>
                    <a:schemeClr val="tx1">
                      <a:lumMod val="65000"/>
                      <a:lumOff val="35000"/>
                    </a:schemeClr>
                  </a:solidFill>
                  <a:latin typeface="微软雅黑" panose="020B0503020204020204" charset="-122"/>
                  <a:ea typeface="微软雅黑" panose="020B0503020204020204" charset="-122"/>
                </a:rPr>
                <a:t>也称</a:t>
              </a:r>
              <a:r>
                <a:rPr lang="en-US" altLang="zh-CN" sz="900" kern="0" dirty="0">
                  <a:solidFill>
                    <a:schemeClr val="tx1">
                      <a:lumMod val="65000"/>
                      <a:lumOff val="35000"/>
                    </a:schemeClr>
                  </a:solidFill>
                  <a:latin typeface="微软雅黑" panose="020B0503020204020204" charset="-122"/>
                  <a:ea typeface="微软雅黑" panose="020B0503020204020204" charset="-122"/>
                </a:rPr>
                <a:t>T</a:t>
              </a:r>
              <a:r>
                <a:rPr lang="zh-CN" altLang="en-US" sz="900" kern="0" dirty="0">
                  <a:solidFill>
                    <a:schemeClr val="tx1">
                      <a:lumMod val="65000"/>
                      <a:lumOff val="35000"/>
                    </a:schemeClr>
                  </a:solidFill>
                  <a:latin typeface="微软雅黑" panose="020B0503020204020204" charset="-122"/>
                  <a:ea typeface="微软雅黑" panose="020B0503020204020204" charset="-122"/>
                </a:rPr>
                <a:t>关节。</a:t>
              </a:r>
            </a:p>
          </p:txBody>
        </p:sp>
        <p:sp>
          <p:nvSpPr>
            <p:cNvPr id="46" name="文本框 25"/>
            <p:cNvSpPr txBox="1"/>
            <p:nvPr>
              <p:custDataLst>
                <p:tags r:id="rId4"/>
              </p:custDataLst>
            </p:nvPr>
          </p:nvSpPr>
          <p:spPr>
            <a:xfrm>
              <a:off x="8375318" y="4510794"/>
              <a:ext cx="2469112" cy="461080"/>
            </a:xfrm>
            <a:prstGeom prst="rect">
              <a:avLst/>
            </a:prstGeom>
            <a:noFill/>
          </p:spPr>
          <p:txBody>
            <a:bodyPr wrap="square" rtlCol="0">
              <a:spAutoFit/>
            </a:bodyPr>
            <a:lstStyle/>
            <a:p>
              <a:pPr algn="ctr">
                <a:lnSpc>
                  <a:spcPct val="120000"/>
                </a:lnSpc>
              </a:pPr>
              <a:r>
                <a:rPr lang="en-US" altLang="zh-CN" sz="1500" b="1" dirty="0" smtClean="0">
                  <a:solidFill>
                    <a:schemeClr val="tx1"/>
                  </a:solidFill>
                  <a:latin typeface="微软雅黑" panose="020B0503020204020204" charset="-122"/>
                  <a:ea typeface="微软雅黑" panose="020B0503020204020204" charset="-122"/>
                </a:rPr>
                <a:t>T</a:t>
              </a:r>
              <a:r>
                <a:rPr lang="zh-CN" altLang="en-US" sz="1500" b="1" dirty="0" smtClean="0">
                  <a:solidFill>
                    <a:schemeClr val="tx1"/>
                  </a:solidFill>
                  <a:latin typeface="微软雅黑" panose="020B0503020204020204" charset="-122"/>
                  <a:ea typeface="微软雅黑" panose="020B0503020204020204" charset="-122"/>
                </a:rPr>
                <a:t>关节</a:t>
              </a:r>
              <a:endParaRPr lang="zh-CN" sz="1500" b="1" dirty="0" smtClean="0">
                <a:solidFill>
                  <a:schemeClr val="tx1"/>
                </a:solidFill>
                <a:latin typeface="微软雅黑" panose="020B0503020204020204" charset="-122"/>
                <a:ea typeface="微软雅黑" panose="020B0503020204020204" charset="-122"/>
              </a:endParaRPr>
            </a:p>
          </p:txBody>
        </p:sp>
      </p:grpSp>
      <p:sp>
        <p:nvSpPr>
          <p:cNvPr id="47" name="圆角矩形 46"/>
          <p:cNvSpPr/>
          <p:nvPr/>
        </p:nvSpPr>
        <p:spPr>
          <a:xfrm>
            <a:off x="850900" y="1769689"/>
            <a:ext cx="1793240" cy="1647825"/>
          </a:xfrm>
          <a:prstGeom prst="roundRect">
            <a:avLst/>
          </a:prstGeom>
          <a:blipFill dpi="0" rotWithShape="1">
            <a:blip r:embed="rId7"/>
            <a:srcRect/>
            <a:stretch>
              <a:fillRect/>
            </a:stretch>
          </a:blipFill>
          <a:ln w="381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48" name="组合 47"/>
          <p:cNvGrpSpPr/>
          <p:nvPr/>
        </p:nvGrpSpPr>
        <p:grpSpPr>
          <a:xfrm>
            <a:off x="940391" y="3686521"/>
            <a:ext cx="1540797" cy="271328"/>
            <a:chOff x="4951664" y="2276872"/>
            <a:chExt cx="1717673" cy="216024"/>
          </a:xfrm>
          <a:solidFill>
            <a:srgbClr val="558ED5"/>
          </a:solidFill>
        </p:grpSpPr>
        <p:sp>
          <p:nvSpPr>
            <p:cNvPr id="49" name="矩形 48"/>
            <p:cNvSpPr/>
            <p:nvPr/>
          </p:nvSpPr>
          <p:spPr>
            <a:xfrm>
              <a:off x="4951664" y="2276872"/>
              <a:ext cx="1717673" cy="7200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0" name="等腰三角形 49"/>
            <p:cNvSpPr/>
            <p:nvPr/>
          </p:nvSpPr>
          <p:spPr>
            <a:xfrm rot="10800000">
              <a:off x="5660851" y="2302769"/>
              <a:ext cx="334117" cy="19012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51" name="组合 50"/>
          <p:cNvGrpSpPr/>
          <p:nvPr/>
        </p:nvGrpSpPr>
        <p:grpSpPr>
          <a:xfrm>
            <a:off x="2933133" y="3686520"/>
            <a:ext cx="1540797" cy="271328"/>
            <a:chOff x="4951664" y="2276872"/>
            <a:chExt cx="1717673" cy="216024"/>
          </a:xfrm>
          <a:solidFill>
            <a:srgbClr val="558ED5"/>
          </a:solidFill>
        </p:grpSpPr>
        <p:sp>
          <p:nvSpPr>
            <p:cNvPr id="52" name="矩形 51"/>
            <p:cNvSpPr/>
            <p:nvPr/>
          </p:nvSpPr>
          <p:spPr>
            <a:xfrm>
              <a:off x="4951664" y="2276872"/>
              <a:ext cx="1717673" cy="7200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3" name="等腰三角形 52"/>
            <p:cNvSpPr/>
            <p:nvPr/>
          </p:nvSpPr>
          <p:spPr>
            <a:xfrm rot="10800000">
              <a:off x="5660851" y="2302769"/>
              <a:ext cx="334117" cy="19012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54" name="组合 53"/>
          <p:cNvGrpSpPr/>
          <p:nvPr/>
        </p:nvGrpSpPr>
        <p:grpSpPr>
          <a:xfrm>
            <a:off x="4781743" y="3686521"/>
            <a:ext cx="1540797" cy="271328"/>
            <a:chOff x="4951664" y="2276872"/>
            <a:chExt cx="1717673" cy="216024"/>
          </a:xfrm>
          <a:solidFill>
            <a:srgbClr val="558ED5"/>
          </a:solidFill>
        </p:grpSpPr>
        <p:sp>
          <p:nvSpPr>
            <p:cNvPr id="55" name="矩形 54"/>
            <p:cNvSpPr/>
            <p:nvPr/>
          </p:nvSpPr>
          <p:spPr>
            <a:xfrm>
              <a:off x="4951664" y="2276872"/>
              <a:ext cx="1717673" cy="7200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6" name="等腰三角形 55"/>
            <p:cNvSpPr/>
            <p:nvPr/>
          </p:nvSpPr>
          <p:spPr>
            <a:xfrm rot="10800000">
              <a:off x="5660851" y="2302769"/>
              <a:ext cx="334117" cy="19012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57" name="组合 56"/>
          <p:cNvGrpSpPr/>
          <p:nvPr/>
        </p:nvGrpSpPr>
        <p:grpSpPr>
          <a:xfrm>
            <a:off x="6621297" y="3686519"/>
            <a:ext cx="1540797" cy="271328"/>
            <a:chOff x="4951664" y="2276872"/>
            <a:chExt cx="1717673" cy="216024"/>
          </a:xfrm>
          <a:solidFill>
            <a:srgbClr val="558ED5"/>
          </a:solidFill>
        </p:grpSpPr>
        <p:sp>
          <p:nvSpPr>
            <p:cNvPr id="58" name="矩形 57"/>
            <p:cNvSpPr/>
            <p:nvPr/>
          </p:nvSpPr>
          <p:spPr>
            <a:xfrm>
              <a:off x="4951664" y="2276872"/>
              <a:ext cx="1717673" cy="7200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9" name="等腰三角形 58"/>
            <p:cNvSpPr/>
            <p:nvPr/>
          </p:nvSpPr>
          <p:spPr>
            <a:xfrm rot="10800000">
              <a:off x="5660851" y="2302769"/>
              <a:ext cx="334117" cy="19012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60" name="圆角矩形 59"/>
          <p:cNvSpPr/>
          <p:nvPr/>
        </p:nvSpPr>
        <p:spPr>
          <a:xfrm>
            <a:off x="2734945" y="1769689"/>
            <a:ext cx="1793240" cy="1647825"/>
          </a:xfrm>
          <a:prstGeom prst="roundRect">
            <a:avLst/>
          </a:prstGeom>
          <a:blipFill dpi="0" rotWithShape="1">
            <a:blip r:embed="rId8"/>
            <a:srcRect/>
            <a:stretch>
              <a:fillRect/>
            </a:stretch>
          </a:blipFill>
          <a:ln w="381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1" name="圆角矩形 60"/>
          <p:cNvSpPr/>
          <p:nvPr/>
        </p:nvSpPr>
        <p:spPr>
          <a:xfrm>
            <a:off x="4671060" y="1769689"/>
            <a:ext cx="1793240" cy="1647825"/>
          </a:xfrm>
          <a:prstGeom prst="roundRect">
            <a:avLst/>
          </a:prstGeom>
          <a:blipFill dpi="0" rotWithShape="1">
            <a:blip r:embed="rId9"/>
            <a:srcRect/>
            <a:stretch>
              <a:fillRect/>
            </a:stretch>
          </a:blipFill>
          <a:ln w="381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2" name="圆角矩形 61"/>
          <p:cNvSpPr/>
          <p:nvPr/>
        </p:nvSpPr>
        <p:spPr>
          <a:xfrm>
            <a:off x="6621145" y="1769689"/>
            <a:ext cx="1793240" cy="1647825"/>
          </a:xfrm>
          <a:prstGeom prst="roundRect">
            <a:avLst/>
          </a:prstGeom>
          <a:blipFill dpi="0" rotWithShape="1">
            <a:blip r:embed="rId10"/>
            <a:srcRect/>
            <a:stretch>
              <a:fillRect/>
            </a:stretch>
          </a:blipFill>
          <a:ln w="381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pic>
        <p:nvPicPr>
          <p:cNvPr id="14" name="图片 13"/>
          <p:cNvPicPr>
            <a:picLocks noChangeAspect="1"/>
          </p:cNvPicPr>
          <p:nvPr/>
        </p:nvPicPr>
        <p:blipFill>
          <a:blip r:embed="rId11"/>
          <a:stretch>
            <a:fillRect/>
          </a:stretch>
        </p:blipFill>
        <p:spPr>
          <a:xfrm>
            <a:off x="4668882" y="736600"/>
            <a:ext cx="1862357" cy="1033089"/>
          </a:xfrm>
          <a:prstGeom prst="rect">
            <a:avLst/>
          </a:prstGeom>
        </p:spPr>
      </p:pic>
      <p:pic>
        <p:nvPicPr>
          <p:cNvPr id="15" name="图片 14"/>
          <p:cNvPicPr>
            <a:picLocks noChangeAspect="1"/>
          </p:cNvPicPr>
          <p:nvPr/>
        </p:nvPicPr>
        <p:blipFill>
          <a:blip r:embed="rId12"/>
          <a:stretch>
            <a:fillRect/>
          </a:stretch>
        </p:blipFill>
        <p:spPr>
          <a:xfrm>
            <a:off x="2800529" y="743160"/>
            <a:ext cx="1761126" cy="1026530"/>
          </a:xfrm>
          <a:prstGeom prst="rect">
            <a:avLst/>
          </a:prstGeom>
        </p:spPr>
      </p:pic>
      <p:pic>
        <p:nvPicPr>
          <p:cNvPr id="16" name="图片 15"/>
          <p:cNvPicPr>
            <a:picLocks noChangeAspect="1"/>
          </p:cNvPicPr>
          <p:nvPr/>
        </p:nvPicPr>
        <p:blipFill>
          <a:blip r:embed="rId13"/>
          <a:stretch>
            <a:fillRect/>
          </a:stretch>
        </p:blipFill>
        <p:spPr>
          <a:xfrm>
            <a:off x="810587" y="750559"/>
            <a:ext cx="1833553" cy="1019130"/>
          </a:xfrm>
          <a:prstGeom prst="rect">
            <a:avLst/>
          </a:prstGeom>
        </p:spPr>
      </p:pic>
      <p:grpSp>
        <p:nvGrpSpPr>
          <p:cNvPr id="67" name="组合 66"/>
          <p:cNvGrpSpPr/>
          <p:nvPr/>
        </p:nvGrpSpPr>
        <p:grpSpPr>
          <a:xfrm>
            <a:off x="-236220" y="219075"/>
            <a:ext cx="5153660" cy="598805"/>
            <a:chOff x="-372" y="345"/>
            <a:chExt cx="8116" cy="943"/>
          </a:xfrm>
        </p:grpSpPr>
        <p:sp>
          <p:nvSpPr>
            <p:cNvPr id="68" name="矩形 67"/>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robotic wrist</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9" name="文本框 68"/>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机器人腕部结构</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0" name="椭圆 69"/>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7" name="图片 16"/>
          <p:cNvPicPr>
            <a:picLocks noChangeAspect="1"/>
          </p:cNvPicPr>
          <p:nvPr/>
        </p:nvPicPr>
        <p:blipFill>
          <a:blip r:embed="rId14"/>
          <a:stretch>
            <a:fillRect/>
          </a:stretch>
        </p:blipFill>
        <p:spPr>
          <a:xfrm>
            <a:off x="6914261" y="462756"/>
            <a:ext cx="1207007" cy="1219323"/>
          </a:xfrm>
          <a:prstGeom prst="rect">
            <a:avLst/>
          </a:prstGeom>
        </p:spPr>
      </p:pic>
    </p:spTree>
    <p:extLst>
      <p:ext uri="{BB962C8B-B14F-4D97-AF65-F5344CB8AC3E}">
        <p14:creationId xmlns:p14="http://schemas.microsoft.com/office/powerpoint/2010/main" val="21353720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p:cTn id="7" dur="500" decel="50000" fill="hold">
                                          <p:stCondLst>
                                            <p:cond delay="0"/>
                                          </p:stCondLst>
                                        </p:cTn>
                                        <p:tgtEl>
                                          <p:spTgt spid="47"/>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7"/>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7"/>
                                        </p:tgtEl>
                                        <p:attrNameLst>
                                          <p:attrName>ppt_w</p:attrName>
                                        </p:attrNameLst>
                                      </p:cBhvr>
                                      <p:tavLst>
                                        <p:tav tm="0">
                                          <p:val>
                                            <p:strVal val="#ppt_w*.05"/>
                                          </p:val>
                                        </p:tav>
                                        <p:tav tm="100000">
                                          <p:val>
                                            <p:strVal val="#ppt_w"/>
                                          </p:val>
                                        </p:tav>
                                      </p:tavLst>
                                    </p:anim>
                                    <p:anim calcmode="lin" valueType="num">
                                      <p:cBhvr>
                                        <p:cTn id="10" dur="1000" fill="hold"/>
                                        <p:tgtEl>
                                          <p:spTgt spid="47"/>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7"/>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7"/>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7"/>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7"/>
                                        </p:tgtEl>
                                      </p:cBhvr>
                                    </p:animEffect>
                                  </p:childTnLst>
                                </p:cTn>
                              </p:par>
                            </p:childTnLst>
                          </p:cTn>
                        </p:par>
                        <p:par>
                          <p:cTn id="15" fill="hold">
                            <p:stCondLst>
                              <p:cond delay="1000"/>
                            </p:stCondLst>
                            <p:childTnLst>
                              <p:par>
                                <p:cTn id="16" presetID="12" presetClass="entr" presetSubtype="1" fill="hold" nodeType="afterEffect">
                                  <p:stCondLst>
                                    <p:cond delay="0"/>
                                  </p:stCondLst>
                                  <p:childTnLst>
                                    <p:set>
                                      <p:cBhvr>
                                        <p:cTn id="17" dur="1" fill="hold">
                                          <p:stCondLst>
                                            <p:cond delay="0"/>
                                          </p:stCondLst>
                                        </p:cTn>
                                        <p:tgtEl>
                                          <p:spTgt spid="48"/>
                                        </p:tgtEl>
                                        <p:attrNameLst>
                                          <p:attrName>style.visibility</p:attrName>
                                        </p:attrNameLst>
                                      </p:cBhvr>
                                      <p:to>
                                        <p:strVal val="visible"/>
                                      </p:to>
                                    </p:set>
                                    <p:anim calcmode="lin" valueType="num">
                                      <p:cBhvr additive="base">
                                        <p:cTn id="18" dur="500"/>
                                        <p:tgtEl>
                                          <p:spTgt spid="48"/>
                                        </p:tgtEl>
                                        <p:attrNameLst>
                                          <p:attrName>ppt_y</p:attrName>
                                        </p:attrNameLst>
                                      </p:cBhvr>
                                      <p:tavLst>
                                        <p:tav tm="0">
                                          <p:val>
                                            <p:strVal val="#ppt_y-#ppt_h*1.125000"/>
                                          </p:val>
                                        </p:tav>
                                        <p:tav tm="100000">
                                          <p:val>
                                            <p:strVal val="#ppt_y"/>
                                          </p:val>
                                        </p:tav>
                                      </p:tavLst>
                                    </p:anim>
                                    <p:animEffect transition="in" filter="wipe(down)">
                                      <p:cBhvr>
                                        <p:cTn id="19" dur="500"/>
                                        <p:tgtEl>
                                          <p:spTgt spid="48"/>
                                        </p:tgtEl>
                                      </p:cBhvr>
                                    </p:animEffect>
                                  </p:childTnLst>
                                </p:cTn>
                              </p:par>
                              <p:par>
                                <p:cTn id="20" presetID="12" presetClass="entr" presetSubtype="4" fill="hold" nodeType="withEffect">
                                  <p:stCondLst>
                                    <p:cond delay="0"/>
                                  </p:stCondLst>
                                  <p:childTnLst>
                                    <p:set>
                                      <p:cBhvr>
                                        <p:cTn id="21" dur="1" fill="hold">
                                          <p:stCondLst>
                                            <p:cond delay="0"/>
                                          </p:stCondLst>
                                        </p:cTn>
                                        <p:tgtEl>
                                          <p:spTgt spid="38"/>
                                        </p:tgtEl>
                                        <p:attrNameLst>
                                          <p:attrName>style.visibility</p:attrName>
                                        </p:attrNameLst>
                                      </p:cBhvr>
                                      <p:to>
                                        <p:strVal val="visible"/>
                                      </p:to>
                                    </p:set>
                                    <p:anim calcmode="lin" valueType="num">
                                      <p:cBhvr additive="base">
                                        <p:cTn id="22" dur="500"/>
                                        <p:tgtEl>
                                          <p:spTgt spid="38"/>
                                        </p:tgtEl>
                                        <p:attrNameLst>
                                          <p:attrName>ppt_y</p:attrName>
                                        </p:attrNameLst>
                                      </p:cBhvr>
                                      <p:tavLst>
                                        <p:tav tm="0">
                                          <p:val>
                                            <p:strVal val="#ppt_y+#ppt_h*1.125000"/>
                                          </p:val>
                                        </p:tav>
                                        <p:tav tm="100000">
                                          <p:val>
                                            <p:strVal val="#ppt_y"/>
                                          </p:val>
                                        </p:tav>
                                      </p:tavLst>
                                    </p:anim>
                                    <p:animEffect transition="in" filter="wipe(up)">
                                      <p:cBhvr>
                                        <p:cTn id="23" dur="500"/>
                                        <p:tgtEl>
                                          <p:spTgt spid="38"/>
                                        </p:tgtEl>
                                      </p:cBhvr>
                                    </p:animEffect>
                                  </p:childTnLst>
                                </p:cTn>
                              </p:par>
                            </p:childTnLst>
                          </p:cTn>
                        </p:par>
                        <p:par>
                          <p:cTn id="24" fill="hold">
                            <p:stCondLst>
                              <p:cond delay="1500"/>
                            </p:stCondLst>
                            <p:childTnLst>
                              <p:par>
                                <p:cTn id="25" presetID="12" presetClass="entr" presetSubtype="1" fill="hold" nodeType="afterEffect">
                                  <p:stCondLst>
                                    <p:cond delay="0"/>
                                  </p:stCondLst>
                                  <p:childTnLst>
                                    <p:set>
                                      <p:cBhvr>
                                        <p:cTn id="26" dur="1" fill="hold">
                                          <p:stCondLst>
                                            <p:cond delay="0"/>
                                          </p:stCondLst>
                                        </p:cTn>
                                        <p:tgtEl>
                                          <p:spTgt spid="51"/>
                                        </p:tgtEl>
                                        <p:attrNameLst>
                                          <p:attrName>style.visibility</p:attrName>
                                        </p:attrNameLst>
                                      </p:cBhvr>
                                      <p:to>
                                        <p:strVal val="visible"/>
                                      </p:to>
                                    </p:set>
                                    <p:anim calcmode="lin" valueType="num">
                                      <p:cBhvr additive="base">
                                        <p:cTn id="27" dur="500"/>
                                        <p:tgtEl>
                                          <p:spTgt spid="51"/>
                                        </p:tgtEl>
                                        <p:attrNameLst>
                                          <p:attrName>ppt_y</p:attrName>
                                        </p:attrNameLst>
                                      </p:cBhvr>
                                      <p:tavLst>
                                        <p:tav tm="0">
                                          <p:val>
                                            <p:strVal val="#ppt_y-#ppt_h*1.125000"/>
                                          </p:val>
                                        </p:tav>
                                        <p:tav tm="100000">
                                          <p:val>
                                            <p:strVal val="#ppt_y"/>
                                          </p:val>
                                        </p:tav>
                                      </p:tavLst>
                                    </p:anim>
                                    <p:animEffect transition="in" filter="wipe(down)">
                                      <p:cBhvr>
                                        <p:cTn id="28" dur="500"/>
                                        <p:tgtEl>
                                          <p:spTgt spid="51"/>
                                        </p:tgtEl>
                                      </p:cBhvr>
                                    </p:animEffect>
                                  </p:childTnLst>
                                </p:cTn>
                              </p:par>
                            </p:childTnLst>
                          </p:cTn>
                        </p:par>
                        <p:par>
                          <p:cTn id="29" fill="hold">
                            <p:stCondLst>
                              <p:cond delay="2000"/>
                            </p:stCondLst>
                            <p:childTnLst>
                              <p:par>
                                <p:cTn id="30" presetID="12" presetClass="entr" presetSubtype="1" fill="hold" nodeType="afterEffect">
                                  <p:stCondLst>
                                    <p:cond delay="0"/>
                                  </p:stCondLst>
                                  <p:childTnLst>
                                    <p:set>
                                      <p:cBhvr>
                                        <p:cTn id="31" dur="1" fill="hold">
                                          <p:stCondLst>
                                            <p:cond delay="0"/>
                                          </p:stCondLst>
                                        </p:cTn>
                                        <p:tgtEl>
                                          <p:spTgt spid="54"/>
                                        </p:tgtEl>
                                        <p:attrNameLst>
                                          <p:attrName>style.visibility</p:attrName>
                                        </p:attrNameLst>
                                      </p:cBhvr>
                                      <p:to>
                                        <p:strVal val="visible"/>
                                      </p:to>
                                    </p:set>
                                    <p:anim calcmode="lin" valueType="num">
                                      <p:cBhvr additive="base">
                                        <p:cTn id="32" dur="500"/>
                                        <p:tgtEl>
                                          <p:spTgt spid="54"/>
                                        </p:tgtEl>
                                        <p:attrNameLst>
                                          <p:attrName>ppt_y</p:attrName>
                                        </p:attrNameLst>
                                      </p:cBhvr>
                                      <p:tavLst>
                                        <p:tav tm="0">
                                          <p:val>
                                            <p:strVal val="#ppt_y-#ppt_h*1.125000"/>
                                          </p:val>
                                        </p:tav>
                                        <p:tav tm="100000">
                                          <p:val>
                                            <p:strVal val="#ppt_y"/>
                                          </p:val>
                                        </p:tav>
                                      </p:tavLst>
                                    </p:anim>
                                    <p:animEffect transition="in" filter="wipe(down)">
                                      <p:cBhvr>
                                        <p:cTn id="33" dur="500"/>
                                        <p:tgtEl>
                                          <p:spTgt spid="54"/>
                                        </p:tgtEl>
                                      </p:cBhvr>
                                    </p:animEffect>
                                  </p:childTnLst>
                                </p:cTn>
                              </p:par>
                            </p:childTnLst>
                          </p:cTn>
                        </p:par>
                        <p:par>
                          <p:cTn id="34" fill="hold">
                            <p:stCondLst>
                              <p:cond delay="2500"/>
                            </p:stCondLst>
                            <p:childTnLst>
                              <p:par>
                                <p:cTn id="35" presetID="12" presetClass="entr" presetSubtype="1" fill="hold" nodeType="afterEffect">
                                  <p:stCondLst>
                                    <p:cond delay="0"/>
                                  </p:stCondLst>
                                  <p:childTnLst>
                                    <p:set>
                                      <p:cBhvr>
                                        <p:cTn id="36" dur="1" fill="hold">
                                          <p:stCondLst>
                                            <p:cond delay="0"/>
                                          </p:stCondLst>
                                        </p:cTn>
                                        <p:tgtEl>
                                          <p:spTgt spid="57"/>
                                        </p:tgtEl>
                                        <p:attrNameLst>
                                          <p:attrName>style.visibility</p:attrName>
                                        </p:attrNameLst>
                                      </p:cBhvr>
                                      <p:to>
                                        <p:strVal val="visible"/>
                                      </p:to>
                                    </p:set>
                                    <p:anim calcmode="lin" valueType="num">
                                      <p:cBhvr additive="base">
                                        <p:cTn id="37" dur="500"/>
                                        <p:tgtEl>
                                          <p:spTgt spid="57"/>
                                        </p:tgtEl>
                                        <p:attrNameLst>
                                          <p:attrName>ppt_y</p:attrName>
                                        </p:attrNameLst>
                                      </p:cBhvr>
                                      <p:tavLst>
                                        <p:tav tm="0">
                                          <p:val>
                                            <p:strVal val="#ppt_y-#ppt_h*1.125000"/>
                                          </p:val>
                                        </p:tav>
                                        <p:tav tm="100000">
                                          <p:val>
                                            <p:strVal val="#ppt_y"/>
                                          </p:val>
                                        </p:tav>
                                      </p:tavLst>
                                    </p:anim>
                                    <p:animEffect transition="in" filter="wipe(down)">
                                      <p:cBhvr>
                                        <p:cTn id="38" dur="500"/>
                                        <p:tgtEl>
                                          <p:spTgt spid="57"/>
                                        </p:tgtEl>
                                      </p:cBhvr>
                                    </p:animEffect>
                                  </p:childTnLst>
                                </p:cTn>
                              </p:par>
                            </p:childTnLst>
                          </p:cTn>
                        </p:par>
                        <p:par>
                          <p:cTn id="39" fill="hold">
                            <p:stCondLst>
                              <p:cond delay="3000"/>
                            </p:stCondLst>
                            <p:childTnLst>
                              <p:par>
                                <p:cTn id="40" presetID="25" presetClass="entr" presetSubtype="0" fill="hold" grpId="0" nodeType="afterEffect">
                                  <p:stCondLst>
                                    <p:cond delay="0"/>
                                  </p:stCondLst>
                                  <p:childTnLst>
                                    <p:set>
                                      <p:cBhvr>
                                        <p:cTn id="41" dur="1" fill="hold">
                                          <p:stCondLst>
                                            <p:cond delay="0"/>
                                          </p:stCondLst>
                                        </p:cTn>
                                        <p:tgtEl>
                                          <p:spTgt spid="60"/>
                                        </p:tgtEl>
                                        <p:attrNameLst>
                                          <p:attrName>style.visibility</p:attrName>
                                        </p:attrNameLst>
                                      </p:cBhvr>
                                      <p:to>
                                        <p:strVal val="visible"/>
                                      </p:to>
                                    </p:set>
                                    <p:anim calcmode="lin" valueType="num">
                                      <p:cBhvr>
                                        <p:cTn id="42" dur="500" decel="50000" fill="hold">
                                          <p:stCondLst>
                                            <p:cond delay="0"/>
                                          </p:stCondLst>
                                        </p:cTn>
                                        <p:tgtEl>
                                          <p:spTgt spid="60"/>
                                        </p:tgtEl>
                                        <p:attrNameLst>
                                          <p:attrName>style.rotation</p:attrName>
                                        </p:attrNameLst>
                                      </p:cBhvr>
                                      <p:tavLst>
                                        <p:tav tm="0">
                                          <p:val>
                                            <p:fltVal val="-90"/>
                                          </p:val>
                                        </p:tav>
                                        <p:tav tm="100000">
                                          <p:val>
                                            <p:fltVal val="0"/>
                                          </p:val>
                                        </p:tav>
                                      </p:tavLst>
                                    </p:anim>
                                    <p:anim calcmode="lin" valueType="num">
                                      <p:cBhvr>
                                        <p:cTn id="43" dur="500" decel="50000" fill="hold">
                                          <p:stCondLst>
                                            <p:cond delay="0"/>
                                          </p:stCondLst>
                                        </p:cTn>
                                        <p:tgtEl>
                                          <p:spTgt spid="60"/>
                                        </p:tgtEl>
                                        <p:attrNameLst>
                                          <p:attrName>ppt_w</p:attrName>
                                        </p:attrNameLst>
                                      </p:cBhvr>
                                      <p:tavLst>
                                        <p:tav tm="0">
                                          <p:val>
                                            <p:strVal val="#ppt_w"/>
                                          </p:val>
                                        </p:tav>
                                        <p:tav tm="100000">
                                          <p:val>
                                            <p:strVal val="#ppt_w*.05"/>
                                          </p:val>
                                        </p:tav>
                                      </p:tavLst>
                                    </p:anim>
                                    <p:anim calcmode="lin" valueType="num">
                                      <p:cBhvr>
                                        <p:cTn id="44" dur="500" accel="50000" fill="hold">
                                          <p:stCondLst>
                                            <p:cond delay="500"/>
                                          </p:stCondLst>
                                        </p:cTn>
                                        <p:tgtEl>
                                          <p:spTgt spid="60"/>
                                        </p:tgtEl>
                                        <p:attrNameLst>
                                          <p:attrName>ppt_w</p:attrName>
                                        </p:attrNameLst>
                                      </p:cBhvr>
                                      <p:tavLst>
                                        <p:tav tm="0">
                                          <p:val>
                                            <p:strVal val="#ppt_w*.05"/>
                                          </p:val>
                                        </p:tav>
                                        <p:tav tm="100000">
                                          <p:val>
                                            <p:strVal val="#ppt_w"/>
                                          </p:val>
                                        </p:tav>
                                      </p:tavLst>
                                    </p:anim>
                                    <p:anim calcmode="lin" valueType="num">
                                      <p:cBhvr>
                                        <p:cTn id="45" dur="1000" fill="hold"/>
                                        <p:tgtEl>
                                          <p:spTgt spid="60"/>
                                        </p:tgtEl>
                                        <p:attrNameLst>
                                          <p:attrName>ppt_h</p:attrName>
                                        </p:attrNameLst>
                                      </p:cBhvr>
                                      <p:tavLst>
                                        <p:tav tm="0">
                                          <p:val>
                                            <p:strVal val="#ppt_h"/>
                                          </p:val>
                                        </p:tav>
                                        <p:tav tm="100000">
                                          <p:val>
                                            <p:strVal val="#ppt_h"/>
                                          </p:val>
                                        </p:tav>
                                      </p:tavLst>
                                    </p:anim>
                                    <p:anim calcmode="lin" valueType="num">
                                      <p:cBhvr>
                                        <p:cTn id="46" dur="500" decel="50000" fill="hold">
                                          <p:stCondLst>
                                            <p:cond delay="0"/>
                                          </p:stCondLst>
                                        </p:cTn>
                                        <p:tgtEl>
                                          <p:spTgt spid="60"/>
                                        </p:tgtEl>
                                        <p:attrNameLst>
                                          <p:attrName>ppt_x</p:attrName>
                                        </p:attrNameLst>
                                      </p:cBhvr>
                                      <p:tavLst>
                                        <p:tav tm="0">
                                          <p:val>
                                            <p:strVal val="#ppt_x+.4"/>
                                          </p:val>
                                        </p:tav>
                                        <p:tav tm="100000">
                                          <p:val>
                                            <p:strVal val="#ppt_x"/>
                                          </p:val>
                                        </p:tav>
                                      </p:tavLst>
                                    </p:anim>
                                    <p:anim calcmode="lin" valueType="num">
                                      <p:cBhvr>
                                        <p:cTn id="47" dur="500" decel="50000" fill="hold">
                                          <p:stCondLst>
                                            <p:cond delay="0"/>
                                          </p:stCondLst>
                                        </p:cTn>
                                        <p:tgtEl>
                                          <p:spTgt spid="60"/>
                                        </p:tgtEl>
                                        <p:attrNameLst>
                                          <p:attrName>ppt_y</p:attrName>
                                        </p:attrNameLst>
                                      </p:cBhvr>
                                      <p:tavLst>
                                        <p:tav tm="0">
                                          <p:val>
                                            <p:strVal val="#ppt_y-.2"/>
                                          </p:val>
                                        </p:tav>
                                        <p:tav tm="100000">
                                          <p:val>
                                            <p:strVal val="#ppt_y+.1"/>
                                          </p:val>
                                        </p:tav>
                                      </p:tavLst>
                                    </p:anim>
                                    <p:anim calcmode="lin" valueType="num">
                                      <p:cBhvr>
                                        <p:cTn id="48" dur="500" accel="50000" fill="hold">
                                          <p:stCondLst>
                                            <p:cond delay="500"/>
                                          </p:stCondLst>
                                        </p:cTn>
                                        <p:tgtEl>
                                          <p:spTgt spid="60"/>
                                        </p:tgtEl>
                                        <p:attrNameLst>
                                          <p:attrName>ppt_y</p:attrName>
                                        </p:attrNameLst>
                                      </p:cBhvr>
                                      <p:tavLst>
                                        <p:tav tm="0">
                                          <p:val>
                                            <p:strVal val="#ppt_y+.1"/>
                                          </p:val>
                                        </p:tav>
                                        <p:tav tm="100000">
                                          <p:val>
                                            <p:strVal val="#ppt_y"/>
                                          </p:val>
                                        </p:tav>
                                      </p:tavLst>
                                    </p:anim>
                                    <p:animEffect transition="in" filter="fade">
                                      <p:cBhvr>
                                        <p:cTn id="49" dur="1000" decel="50000">
                                          <p:stCondLst>
                                            <p:cond delay="0"/>
                                          </p:stCondLst>
                                        </p:cTn>
                                        <p:tgtEl>
                                          <p:spTgt spid="60"/>
                                        </p:tgtEl>
                                      </p:cBhvr>
                                    </p:animEffect>
                                  </p:childTnLst>
                                </p:cTn>
                              </p:par>
                            </p:childTnLst>
                          </p:cTn>
                        </p:par>
                        <p:par>
                          <p:cTn id="50" fill="hold">
                            <p:stCondLst>
                              <p:cond delay="4000"/>
                            </p:stCondLst>
                            <p:childTnLst>
                              <p:par>
                                <p:cTn id="51" presetID="25" presetClass="entr" presetSubtype="0" fill="hold" grpId="0" nodeType="afterEffect">
                                  <p:stCondLst>
                                    <p:cond delay="0"/>
                                  </p:stCondLst>
                                  <p:childTnLst>
                                    <p:set>
                                      <p:cBhvr>
                                        <p:cTn id="52" dur="1" fill="hold">
                                          <p:stCondLst>
                                            <p:cond delay="0"/>
                                          </p:stCondLst>
                                        </p:cTn>
                                        <p:tgtEl>
                                          <p:spTgt spid="61"/>
                                        </p:tgtEl>
                                        <p:attrNameLst>
                                          <p:attrName>style.visibility</p:attrName>
                                        </p:attrNameLst>
                                      </p:cBhvr>
                                      <p:to>
                                        <p:strVal val="visible"/>
                                      </p:to>
                                    </p:set>
                                    <p:anim calcmode="lin" valueType="num">
                                      <p:cBhvr>
                                        <p:cTn id="53" dur="500" decel="50000" fill="hold">
                                          <p:stCondLst>
                                            <p:cond delay="0"/>
                                          </p:stCondLst>
                                        </p:cTn>
                                        <p:tgtEl>
                                          <p:spTgt spid="61"/>
                                        </p:tgtEl>
                                        <p:attrNameLst>
                                          <p:attrName>style.rotation</p:attrName>
                                        </p:attrNameLst>
                                      </p:cBhvr>
                                      <p:tavLst>
                                        <p:tav tm="0">
                                          <p:val>
                                            <p:fltVal val="-90"/>
                                          </p:val>
                                        </p:tav>
                                        <p:tav tm="100000">
                                          <p:val>
                                            <p:fltVal val="0"/>
                                          </p:val>
                                        </p:tav>
                                      </p:tavLst>
                                    </p:anim>
                                    <p:anim calcmode="lin" valueType="num">
                                      <p:cBhvr>
                                        <p:cTn id="54" dur="500" decel="50000" fill="hold">
                                          <p:stCondLst>
                                            <p:cond delay="0"/>
                                          </p:stCondLst>
                                        </p:cTn>
                                        <p:tgtEl>
                                          <p:spTgt spid="61"/>
                                        </p:tgtEl>
                                        <p:attrNameLst>
                                          <p:attrName>ppt_w</p:attrName>
                                        </p:attrNameLst>
                                      </p:cBhvr>
                                      <p:tavLst>
                                        <p:tav tm="0">
                                          <p:val>
                                            <p:strVal val="#ppt_w"/>
                                          </p:val>
                                        </p:tav>
                                        <p:tav tm="100000">
                                          <p:val>
                                            <p:strVal val="#ppt_w*.05"/>
                                          </p:val>
                                        </p:tav>
                                      </p:tavLst>
                                    </p:anim>
                                    <p:anim calcmode="lin" valueType="num">
                                      <p:cBhvr>
                                        <p:cTn id="55" dur="500" accel="50000" fill="hold">
                                          <p:stCondLst>
                                            <p:cond delay="500"/>
                                          </p:stCondLst>
                                        </p:cTn>
                                        <p:tgtEl>
                                          <p:spTgt spid="61"/>
                                        </p:tgtEl>
                                        <p:attrNameLst>
                                          <p:attrName>ppt_w</p:attrName>
                                        </p:attrNameLst>
                                      </p:cBhvr>
                                      <p:tavLst>
                                        <p:tav tm="0">
                                          <p:val>
                                            <p:strVal val="#ppt_w*.05"/>
                                          </p:val>
                                        </p:tav>
                                        <p:tav tm="100000">
                                          <p:val>
                                            <p:strVal val="#ppt_w"/>
                                          </p:val>
                                        </p:tav>
                                      </p:tavLst>
                                    </p:anim>
                                    <p:anim calcmode="lin" valueType="num">
                                      <p:cBhvr>
                                        <p:cTn id="56" dur="1000" fill="hold"/>
                                        <p:tgtEl>
                                          <p:spTgt spid="61"/>
                                        </p:tgtEl>
                                        <p:attrNameLst>
                                          <p:attrName>ppt_h</p:attrName>
                                        </p:attrNameLst>
                                      </p:cBhvr>
                                      <p:tavLst>
                                        <p:tav tm="0">
                                          <p:val>
                                            <p:strVal val="#ppt_h"/>
                                          </p:val>
                                        </p:tav>
                                        <p:tav tm="100000">
                                          <p:val>
                                            <p:strVal val="#ppt_h"/>
                                          </p:val>
                                        </p:tav>
                                      </p:tavLst>
                                    </p:anim>
                                    <p:anim calcmode="lin" valueType="num">
                                      <p:cBhvr>
                                        <p:cTn id="57" dur="500" decel="50000" fill="hold">
                                          <p:stCondLst>
                                            <p:cond delay="0"/>
                                          </p:stCondLst>
                                        </p:cTn>
                                        <p:tgtEl>
                                          <p:spTgt spid="61"/>
                                        </p:tgtEl>
                                        <p:attrNameLst>
                                          <p:attrName>ppt_x</p:attrName>
                                        </p:attrNameLst>
                                      </p:cBhvr>
                                      <p:tavLst>
                                        <p:tav tm="0">
                                          <p:val>
                                            <p:strVal val="#ppt_x+.4"/>
                                          </p:val>
                                        </p:tav>
                                        <p:tav tm="100000">
                                          <p:val>
                                            <p:strVal val="#ppt_x"/>
                                          </p:val>
                                        </p:tav>
                                      </p:tavLst>
                                    </p:anim>
                                    <p:anim calcmode="lin" valueType="num">
                                      <p:cBhvr>
                                        <p:cTn id="58" dur="500" decel="50000" fill="hold">
                                          <p:stCondLst>
                                            <p:cond delay="0"/>
                                          </p:stCondLst>
                                        </p:cTn>
                                        <p:tgtEl>
                                          <p:spTgt spid="61"/>
                                        </p:tgtEl>
                                        <p:attrNameLst>
                                          <p:attrName>ppt_y</p:attrName>
                                        </p:attrNameLst>
                                      </p:cBhvr>
                                      <p:tavLst>
                                        <p:tav tm="0">
                                          <p:val>
                                            <p:strVal val="#ppt_y-.2"/>
                                          </p:val>
                                        </p:tav>
                                        <p:tav tm="100000">
                                          <p:val>
                                            <p:strVal val="#ppt_y+.1"/>
                                          </p:val>
                                        </p:tav>
                                      </p:tavLst>
                                    </p:anim>
                                    <p:anim calcmode="lin" valueType="num">
                                      <p:cBhvr>
                                        <p:cTn id="59" dur="500" accel="50000" fill="hold">
                                          <p:stCondLst>
                                            <p:cond delay="500"/>
                                          </p:stCondLst>
                                        </p:cTn>
                                        <p:tgtEl>
                                          <p:spTgt spid="61"/>
                                        </p:tgtEl>
                                        <p:attrNameLst>
                                          <p:attrName>ppt_y</p:attrName>
                                        </p:attrNameLst>
                                      </p:cBhvr>
                                      <p:tavLst>
                                        <p:tav tm="0">
                                          <p:val>
                                            <p:strVal val="#ppt_y+.1"/>
                                          </p:val>
                                        </p:tav>
                                        <p:tav tm="100000">
                                          <p:val>
                                            <p:strVal val="#ppt_y"/>
                                          </p:val>
                                        </p:tav>
                                      </p:tavLst>
                                    </p:anim>
                                    <p:animEffect transition="in" filter="fade">
                                      <p:cBhvr>
                                        <p:cTn id="60" dur="1000" decel="50000">
                                          <p:stCondLst>
                                            <p:cond delay="0"/>
                                          </p:stCondLst>
                                        </p:cTn>
                                        <p:tgtEl>
                                          <p:spTgt spid="61"/>
                                        </p:tgtEl>
                                      </p:cBhvr>
                                    </p:animEffect>
                                  </p:childTnLst>
                                </p:cTn>
                              </p:par>
                            </p:childTnLst>
                          </p:cTn>
                        </p:par>
                        <p:par>
                          <p:cTn id="61" fill="hold">
                            <p:stCondLst>
                              <p:cond delay="5000"/>
                            </p:stCondLst>
                            <p:childTnLst>
                              <p:par>
                                <p:cTn id="62" presetID="25" presetClass="entr" presetSubtype="0" fill="hold" grpId="0" nodeType="afterEffect">
                                  <p:stCondLst>
                                    <p:cond delay="0"/>
                                  </p:stCondLst>
                                  <p:childTnLst>
                                    <p:set>
                                      <p:cBhvr>
                                        <p:cTn id="63" dur="1" fill="hold">
                                          <p:stCondLst>
                                            <p:cond delay="0"/>
                                          </p:stCondLst>
                                        </p:cTn>
                                        <p:tgtEl>
                                          <p:spTgt spid="62"/>
                                        </p:tgtEl>
                                        <p:attrNameLst>
                                          <p:attrName>style.visibility</p:attrName>
                                        </p:attrNameLst>
                                      </p:cBhvr>
                                      <p:to>
                                        <p:strVal val="visible"/>
                                      </p:to>
                                    </p:set>
                                    <p:anim calcmode="lin" valueType="num">
                                      <p:cBhvr>
                                        <p:cTn id="64" dur="500" decel="50000" fill="hold">
                                          <p:stCondLst>
                                            <p:cond delay="0"/>
                                          </p:stCondLst>
                                        </p:cTn>
                                        <p:tgtEl>
                                          <p:spTgt spid="62"/>
                                        </p:tgtEl>
                                        <p:attrNameLst>
                                          <p:attrName>style.rotation</p:attrName>
                                        </p:attrNameLst>
                                      </p:cBhvr>
                                      <p:tavLst>
                                        <p:tav tm="0">
                                          <p:val>
                                            <p:fltVal val="-90"/>
                                          </p:val>
                                        </p:tav>
                                        <p:tav tm="100000">
                                          <p:val>
                                            <p:fltVal val="0"/>
                                          </p:val>
                                        </p:tav>
                                      </p:tavLst>
                                    </p:anim>
                                    <p:anim calcmode="lin" valueType="num">
                                      <p:cBhvr>
                                        <p:cTn id="65" dur="500" decel="50000" fill="hold">
                                          <p:stCondLst>
                                            <p:cond delay="0"/>
                                          </p:stCondLst>
                                        </p:cTn>
                                        <p:tgtEl>
                                          <p:spTgt spid="62"/>
                                        </p:tgtEl>
                                        <p:attrNameLst>
                                          <p:attrName>ppt_w</p:attrName>
                                        </p:attrNameLst>
                                      </p:cBhvr>
                                      <p:tavLst>
                                        <p:tav tm="0">
                                          <p:val>
                                            <p:strVal val="#ppt_w"/>
                                          </p:val>
                                        </p:tav>
                                        <p:tav tm="100000">
                                          <p:val>
                                            <p:strVal val="#ppt_w*.05"/>
                                          </p:val>
                                        </p:tav>
                                      </p:tavLst>
                                    </p:anim>
                                    <p:anim calcmode="lin" valueType="num">
                                      <p:cBhvr>
                                        <p:cTn id="66" dur="500" accel="50000" fill="hold">
                                          <p:stCondLst>
                                            <p:cond delay="500"/>
                                          </p:stCondLst>
                                        </p:cTn>
                                        <p:tgtEl>
                                          <p:spTgt spid="62"/>
                                        </p:tgtEl>
                                        <p:attrNameLst>
                                          <p:attrName>ppt_w</p:attrName>
                                        </p:attrNameLst>
                                      </p:cBhvr>
                                      <p:tavLst>
                                        <p:tav tm="0">
                                          <p:val>
                                            <p:strVal val="#ppt_w*.05"/>
                                          </p:val>
                                        </p:tav>
                                        <p:tav tm="100000">
                                          <p:val>
                                            <p:strVal val="#ppt_w"/>
                                          </p:val>
                                        </p:tav>
                                      </p:tavLst>
                                    </p:anim>
                                    <p:anim calcmode="lin" valueType="num">
                                      <p:cBhvr>
                                        <p:cTn id="67" dur="1000" fill="hold"/>
                                        <p:tgtEl>
                                          <p:spTgt spid="62"/>
                                        </p:tgtEl>
                                        <p:attrNameLst>
                                          <p:attrName>ppt_h</p:attrName>
                                        </p:attrNameLst>
                                      </p:cBhvr>
                                      <p:tavLst>
                                        <p:tav tm="0">
                                          <p:val>
                                            <p:strVal val="#ppt_h"/>
                                          </p:val>
                                        </p:tav>
                                        <p:tav tm="100000">
                                          <p:val>
                                            <p:strVal val="#ppt_h"/>
                                          </p:val>
                                        </p:tav>
                                      </p:tavLst>
                                    </p:anim>
                                    <p:anim calcmode="lin" valueType="num">
                                      <p:cBhvr>
                                        <p:cTn id="68" dur="500" decel="50000" fill="hold">
                                          <p:stCondLst>
                                            <p:cond delay="0"/>
                                          </p:stCondLst>
                                        </p:cTn>
                                        <p:tgtEl>
                                          <p:spTgt spid="62"/>
                                        </p:tgtEl>
                                        <p:attrNameLst>
                                          <p:attrName>ppt_x</p:attrName>
                                        </p:attrNameLst>
                                      </p:cBhvr>
                                      <p:tavLst>
                                        <p:tav tm="0">
                                          <p:val>
                                            <p:strVal val="#ppt_x+.4"/>
                                          </p:val>
                                        </p:tav>
                                        <p:tav tm="100000">
                                          <p:val>
                                            <p:strVal val="#ppt_x"/>
                                          </p:val>
                                        </p:tav>
                                      </p:tavLst>
                                    </p:anim>
                                    <p:anim calcmode="lin" valueType="num">
                                      <p:cBhvr>
                                        <p:cTn id="69" dur="500" decel="50000" fill="hold">
                                          <p:stCondLst>
                                            <p:cond delay="0"/>
                                          </p:stCondLst>
                                        </p:cTn>
                                        <p:tgtEl>
                                          <p:spTgt spid="62"/>
                                        </p:tgtEl>
                                        <p:attrNameLst>
                                          <p:attrName>ppt_y</p:attrName>
                                        </p:attrNameLst>
                                      </p:cBhvr>
                                      <p:tavLst>
                                        <p:tav tm="0">
                                          <p:val>
                                            <p:strVal val="#ppt_y-.2"/>
                                          </p:val>
                                        </p:tav>
                                        <p:tav tm="100000">
                                          <p:val>
                                            <p:strVal val="#ppt_y+.1"/>
                                          </p:val>
                                        </p:tav>
                                      </p:tavLst>
                                    </p:anim>
                                    <p:anim calcmode="lin" valueType="num">
                                      <p:cBhvr>
                                        <p:cTn id="70" dur="500" accel="50000" fill="hold">
                                          <p:stCondLst>
                                            <p:cond delay="500"/>
                                          </p:stCondLst>
                                        </p:cTn>
                                        <p:tgtEl>
                                          <p:spTgt spid="62"/>
                                        </p:tgtEl>
                                        <p:attrNameLst>
                                          <p:attrName>ppt_y</p:attrName>
                                        </p:attrNameLst>
                                      </p:cBhvr>
                                      <p:tavLst>
                                        <p:tav tm="0">
                                          <p:val>
                                            <p:strVal val="#ppt_y+.1"/>
                                          </p:val>
                                        </p:tav>
                                        <p:tav tm="100000">
                                          <p:val>
                                            <p:strVal val="#ppt_y"/>
                                          </p:val>
                                        </p:tav>
                                      </p:tavLst>
                                    </p:anim>
                                    <p:animEffect transition="in" filter="fade">
                                      <p:cBhvr>
                                        <p:cTn id="71" dur="1000" decel="50000">
                                          <p:stCondLst>
                                            <p:cond delay="0"/>
                                          </p:stCondLst>
                                        </p:cTn>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bldLvl="0" animBg="1"/>
      <p:bldP spid="60" grpId="0" bldLvl="0" animBg="1"/>
      <p:bldP spid="61" grpId="0" bldLvl="0" animBg="1"/>
      <p:bldP spid="62"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451703" y="1338241"/>
            <a:ext cx="1701669" cy="1670708"/>
            <a:chOff x="3032012" y="1199038"/>
            <a:chExt cx="2268537" cy="2227263"/>
          </a:xfrm>
        </p:grpSpPr>
        <p:sp>
          <p:nvSpPr>
            <p:cNvPr id="3" name="椭圆 2"/>
            <p:cNvSpPr/>
            <p:nvPr/>
          </p:nvSpPr>
          <p:spPr bwMode="auto">
            <a:xfrm>
              <a:off x="3032012" y="1199038"/>
              <a:ext cx="2268537" cy="2227263"/>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sz="1350">
                <a:solidFill>
                  <a:srgbClr val="7EBEA7"/>
                </a:solidFill>
              </a:endParaRPr>
            </a:p>
          </p:txBody>
        </p:sp>
        <p:sp>
          <p:nvSpPr>
            <p:cNvPr id="4" name="椭圆 3"/>
            <p:cNvSpPr/>
            <p:nvPr/>
          </p:nvSpPr>
          <p:spPr bwMode="auto">
            <a:xfrm>
              <a:off x="3223594" y="1387313"/>
              <a:ext cx="1885372" cy="1850711"/>
            </a:xfrm>
            <a:prstGeom prst="ellipse">
              <a:avLst/>
            </a:prstGeom>
            <a:blipFill dpi="0" rotWithShape="1">
              <a:blip r:embed="rId3"/>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sz="1350">
                <a:solidFill>
                  <a:srgbClr val="7EBEA7"/>
                </a:solidFill>
              </a:endParaRPr>
            </a:p>
          </p:txBody>
        </p:sp>
      </p:grpSp>
      <p:grpSp>
        <p:nvGrpSpPr>
          <p:cNvPr id="5" name="组合 4"/>
          <p:cNvGrpSpPr/>
          <p:nvPr/>
        </p:nvGrpSpPr>
        <p:grpSpPr>
          <a:xfrm>
            <a:off x="6111569" y="1317017"/>
            <a:ext cx="1774283" cy="1700495"/>
            <a:chOff x="6754924" y="1199038"/>
            <a:chExt cx="2268537" cy="2227263"/>
          </a:xfrm>
        </p:grpSpPr>
        <p:sp>
          <p:nvSpPr>
            <p:cNvPr id="6" name="椭圆 5"/>
            <p:cNvSpPr/>
            <p:nvPr/>
          </p:nvSpPr>
          <p:spPr bwMode="auto">
            <a:xfrm>
              <a:off x="6754924" y="1199038"/>
              <a:ext cx="2268537" cy="2227263"/>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sz="1350"/>
            </a:p>
          </p:txBody>
        </p:sp>
        <p:sp>
          <p:nvSpPr>
            <p:cNvPr id="7" name="椭圆 6"/>
            <p:cNvSpPr/>
            <p:nvPr/>
          </p:nvSpPr>
          <p:spPr bwMode="auto">
            <a:xfrm>
              <a:off x="6902239" y="1345992"/>
              <a:ext cx="1973906" cy="1937619"/>
            </a:xfrm>
            <a:prstGeom prst="ellipse">
              <a:avLst/>
            </a:prstGeom>
            <a:blipFill dpi="0" rotWithShape="1">
              <a:blip r:embed="rId4"/>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sz="1350">
                <a:solidFill>
                  <a:srgbClr val="7EBEA7"/>
                </a:solidFill>
              </a:endParaRPr>
            </a:p>
          </p:txBody>
        </p:sp>
      </p:grpSp>
      <p:cxnSp>
        <p:nvCxnSpPr>
          <p:cNvPr id="8" name="直接连接符 7"/>
          <p:cNvCxnSpPr>
            <a:endCxn id="11" idx="1"/>
          </p:cNvCxnSpPr>
          <p:nvPr/>
        </p:nvCxnSpPr>
        <p:spPr bwMode="auto">
          <a:xfrm flipV="1">
            <a:off x="2192883" y="3651601"/>
            <a:ext cx="4303590" cy="13099"/>
          </a:xfrm>
          <a:prstGeom prst="line">
            <a:avLst/>
          </a:prstGeom>
          <a:ln w="57150">
            <a:solidFill>
              <a:srgbClr val="558ED5"/>
            </a:solidFill>
          </a:ln>
        </p:spPr>
        <p:style>
          <a:lnRef idx="1">
            <a:schemeClr val="accent1"/>
          </a:lnRef>
          <a:fillRef idx="0">
            <a:schemeClr val="accent1"/>
          </a:fillRef>
          <a:effectRef idx="0">
            <a:schemeClr val="accent1"/>
          </a:effectRef>
          <a:fontRef idx="minor">
            <a:schemeClr val="tx1"/>
          </a:fontRef>
        </p:style>
      </p:cxnSp>
      <p:sp>
        <p:nvSpPr>
          <p:cNvPr id="9" name="圆角矩形 8"/>
          <p:cNvSpPr/>
          <p:nvPr/>
        </p:nvSpPr>
        <p:spPr bwMode="auto">
          <a:xfrm>
            <a:off x="1790384" y="3389624"/>
            <a:ext cx="1048510" cy="484656"/>
          </a:xfrm>
          <a:prstGeom prst="roundRect">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r>
              <a:rPr lang="en-US" altLang="zh-CN" sz="1500" b="1" dirty="0">
                <a:solidFill>
                  <a:schemeClr val="bg1"/>
                </a:solidFill>
                <a:latin typeface="宋体" panose="02010600030101010101" pitchFamily="2" charset="-122"/>
                <a:sym typeface="+mn-ea"/>
              </a:rPr>
              <a:t>BR</a:t>
            </a:r>
            <a:r>
              <a:rPr lang="zh-CN" altLang="en-US" sz="1500" b="1" dirty="0">
                <a:solidFill>
                  <a:schemeClr val="bg1"/>
                </a:solidFill>
                <a:latin typeface="宋体" panose="02010600030101010101" pitchFamily="2" charset="-122"/>
                <a:sym typeface="+mn-ea"/>
              </a:rPr>
              <a:t>手腕</a:t>
            </a:r>
            <a:endParaRPr lang="zh-CN" altLang="en-US" sz="1500" b="1" dirty="0" smtClean="0">
              <a:solidFill>
                <a:schemeClr val="bg1"/>
              </a:solidFill>
              <a:latin typeface="宋体" panose="02010600030101010101" pitchFamily="2" charset="-122"/>
              <a:ea typeface="宋体" panose="02010600030101010101" pitchFamily="2" charset="-122"/>
              <a:sym typeface="+mn-ea"/>
            </a:endParaRPr>
          </a:p>
        </p:txBody>
      </p:sp>
      <p:sp>
        <p:nvSpPr>
          <p:cNvPr id="10" name="圆角矩形 9"/>
          <p:cNvSpPr/>
          <p:nvPr/>
        </p:nvSpPr>
        <p:spPr bwMode="auto">
          <a:xfrm>
            <a:off x="4024179" y="3389624"/>
            <a:ext cx="1046533" cy="484656"/>
          </a:xfrm>
          <a:prstGeom prst="roundRect">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r>
              <a:rPr lang="en-US" altLang="zh-CN" sz="1500" b="1" dirty="0">
                <a:solidFill>
                  <a:schemeClr val="bg1"/>
                </a:solidFill>
                <a:latin typeface="宋体" panose="02010600030101010101" pitchFamily="2" charset="-122"/>
                <a:sym typeface="+mn-ea"/>
              </a:rPr>
              <a:t>BB</a:t>
            </a:r>
            <a:r>
              <a:rPr lang="zh-CN" altLang="en-US" sz="1500" b="1" dirty="0">
                <a:solidFill>
                  <a:schemeClr val="bg1"/>
                </a:solidFill>
                <a:latin typeface="宋体" panose="02010600030101010101" pitchFamily="2" charset="-122"/>
                <a:sym typeface="+mn-ea"/>
              </a:rPr>
              <a:t>手腕</a:t>
            </a:r>
            <a:endParaRPr lang="zh-CN" altLang="en-US" sz="1500" b="1" dirty="0" smtClean="0">
              <a:solidFill>
                <a:schemeClr val="bg1"/>
              </a:solidFill>
              <a:latin typeface="宋体" panose="02010600030101010101" pitchFamily="2" charset="-122"/>
              <a:ea typeface="宋体" panose="02010600030101010101" pitchFamily="2" charset="-122"/>
              <a:sym typeface="+mn-ea"/>
            </a:endParaRPr>
          </a:p>
        </p:txBody>
      </p:sp>
      <p:sp>
        <p:nvSpPr>
          <p:cNvPr id="11" name="圆角矩形 10"/>
          <p:cNvSpPr/>
          <p:nvPr/>
        </p:nvSpPr>
        <p:spPr bwMode="auto">
          <a:xfrm>
            <a:off x="6496473" y="3408677"/>
            <a:ext cx="1048510" cy="485847"/>
          </a:xfrm>
          <a:prstGeom prst="roundRect">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r>
              <a:rPr lang="en-US" altLang="zh-CN" sz="1500" b="1" dirty="0">
                <a:solidFill>
                  <a:srgbClr val="FF0000"/>
                </a:solidFill>
                <a:latin typeface="宋体" panose="02010600030101010101" pitchFamily="2" charset="-122"/>
                <a:sym typeface="+mn-ea"/>
              </a:rPr>
              <a:t>RR</a:t>
            </a:r>
            <a:r>
              <a:rPr lang="zh-CN" altLang="en-US" sz="1500" b="1" dirty="0">
                <a:solidFill>
                  <a:srgbClr val="FF0000"/>
                </a:solidFill>
                <a:latin typeface="宋体" panose="02010600030101010101" pitchFamily="2" charset="-122"/>
                <a:sym typeface="+mn-ea"/>
              </a:rPr>
              <a:t>手腕</a:t>
            </a:r>
            <a:endParaRPr lang="zh-CN" altLang="en-US" sz="1500" b="1" dirty="0" smtClean="0">
              <a:solidFill>
                <a:srgbClr val="FF0000"/>
              </a:solidFill>
              <a:latin typeface="宋体" panose="02010600030101010101" pitchFamily="2" charset="-122"/>
              <a:ea typeface="宋体" panose="02010600030101010101" pitchFamily="2" charset="-122"/>
              <a:sym typeface="+mn-ea"/>
            </a:endParaRPr>
          </a:p>
        </p:txBody>
      </p:sp>
      <p:cxnSp>
        <p:nvCxnSpPr>
          <p:cNvPr id="12" name="直接连接符 11"/>
          <p:cNvCxnSpPr/>
          <p:nvPr/>
        </p:nvCxnSpPr>
        <p:spPr bwMode="auto">
          <a:xfrm flipV="1">
            <a:off x="4553065" y="3021666"/>
            <a:ext cx="1190" cy="367958"/>
          </a:xfrm>
          <a:prstGeom prst="line">
            <a:avLst/>
          </a:prstGeom>
          <a:ln w="57150">
            <a:solidFill>
              <a:srgbClr val="558ED5"/>
            </a:solidFill>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3636089" y="1284273"/>
            <a:ext cx="1822712" cy="1709364"/>
            <a:chOff x="4537868" y="829469"/>
            <a:chExt cx="2996729" cy="2941638"/>
          </a:xfrm>
        </p:grpSpPr>
        <p:sp>
          <p:nvSpPr>
            <p:cNvPr id="14" name="椭圆 13"/>
            <p:cNvSpPr/>
            <p:nvPr/>
          </p:nvSpPr>
          <p:spPr bwMode="auto">
            <a:xfrm>
              <a:off x="4537868" y="829469"/>
              <a:ext cx="2996729" cy="2941638"/>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sz="1350">
                <a:solidFill>
                  <a:srgbClr val="7EBEA7"/>
                </a:solidFill>
              </a:endParaRPr>
            </a:p>
          </p:txBody>
        </p:sp>
        <p:sp>
          <p:nvSpPr>
            <p:cNvPr id="15" name="椭圆 14"/>
            <p:cNvSpPr/>
            <p:nvPr/>
          </p:nvSpPr>
          <p:spPr bwMode="auto">
            <a:xfrm>
              <a:off x="4734827" y="1007346"/>
              <a:ext cx="2611900" cy="2563884"/>
            </a:xfrm>
            <a:prstGeom prst="ellipse">
              <a:avLst/>
            </a:prstGeom>
            <a:blipFill dpi="0" rotWithShape="1">
              <a:blip r:embed="rId5"/>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sz="1350">
                <a:solidFill>
                  <a:srgbClr val="7EBEA7"/>
                </a:solidFill>
              </a:endParaRPr>
            </a:p>
          </p:txBody>
        </p:sp>
      </p:grpSp>
      <p:sp>
        <p:nvSpPr>
          <p:cNvPr id="16" name="矩形 15"/>
          <p:cNvSpPr/>
          <p:nvPr/>
        </p:nvSpPr>
        <p:spPr>
          <a:xfrm>
            <a:off x="1497562" y="4000744"/>
            <a:ext cx="1664689" cy="408189"/>
          </a:xfrm>
          <a:prstGeom prst="rect">
            <a:avLst/>
          </a:prstGeom>
        </p:spPr>
        <p:txBody>
          <a:bodyPr wrap="square">
            <a:spAutoFit/>
          </a:bodyPr>
          <a:lstStyle/>
          <a:p>
            <a:pPr>
              <a:lnSpc>
                <a:spcPct val="120000"/>
              </a:lnSpc>
            </a:pPr>
            <a:r>
              <a:rPr lang="zh-CN" altLang="en-US" sz="900" dirty="0">
                <a:solidFill>
                  <a:schemeClr val="tx1">
                    <a:lumMod val="65000"/>
                    <a:lumOff val="35000"/>
                  </a:schemeClr>
                </a:solidFill>
                <a:latin typeface="Arial" panose="020B0604020202020204" pitchFamily="34" charset="0"/>
                <a:cs typeface="+mn-ea"/>
                <a:sym typeface="Arial" panose="020B0604020202020204" pitchFamily="34" charset="0"/>
              </a:rPr>
              <a:t>由一个</a:t>
            </a:r>
            <a:r>
              <a:rPr lang="en-US" altLang="zh-CN" sz="900" dirty="0">
                <a:solidFill>
                  <a:schemeClr val="tx1">
                    <a:lumMod val="65000"/>
                    <a:lumOff val="35000"/>
                  </a:schemeClr>
                </a:solidFill>
                <a:latin typeface="Arial" panose="020B0604020202020204" pitchFamily="34" charset="0"/>
                <a:cs typeface="+mn-ea"/>
                <a:sym typeface="Arial" panose="020B0604020202020204" pitchFamily="34" charset="0"/>
              </a:rPr>
              <a:t>R</a:t>
            </a:r>
            <a:r>
              <a:rPr lang="zh-CN" altLang="en-US" sz="900" dirty="0">
                <a:solidFill>
                  <a:schemeClr val="tx1">
                    <a:lumMod val="65000"/>
                    <a:lumOff val="35000"/>
                  </a:schemeClr>
                </a:solidFill>
                <a:latin typeface="Arial" panose="020B0604020202020204" pitchFamily="34" charset="0"/>
                <a:cs typeface="+mn-ea"/>
                <a:sym typeface="Arial" panose="020B0604020202020204" pitchFamily="34" charset="0"/>
              </a:rPr>
              <a:t>关节和一个</a:t>
            </a:r>
            <a:r>
              <a:rPr lang="en-US" altLang="zh-CN" sz="900" dirty="0">
                <a:solidFill>
                  <a:schemeClr val="tx1">
                    <a:lumMod val="65000"/>
                    <a:lumOff val="35000"/>
                  </a:schemeClr>
                </a:solidFill>
                <a:latin typeface="Arial" panose="020B0604020202020204" pitchFamily="34" charset="0"/>
                <a:cs typeface="+mn-ea"/>
                <a:sym typeface="Arial" panose="020B0604020202020204" pitchFamily="34" charset="0"/>
              </a:rPr>
              <a:t>B</a:t>
            </a:r>
            <a:r>
              <a:rPr lang="zh-CN" altLang="en-US" sz="900" dirty="0">
                <a:solidFill>
                  <a:schemeClr val="tx1">
                    <a:lumMod val="65000"/>
                    <a:lumOff val="35000"/>
                  </a:schemeClr>
                </a:solidFill>
                <a:latin typeface="Arial" panose="020B0604020202020204" pitchFamily="34" charset="0"/>
                <a:cs typeface="+mn-ea"/>
                <a:sym typeface="Arial" panose="020B0604020202020204" pitchFamily="34" charset="0"/>
              </a:rPr>
              <a:t>关节</a:t>
            </a:r>
            <a:r>
              <a:rPr lang="zh-CN" altLang="en-US" sz="900" dirty="0" smtClean="0">
                <a:solidFill>
                  <a:schemeClr val="tx1">
                    <a:lumMod val="65000"/>
                    <a:lumOff val="35000"/>
                  </a:schemeClr>
                </a:solidFill>
                <a:latin typeface="Arial" panose="020B0604020202020204" pitchFamily="34" charset="0"/>
                <a:cs typeface="+mn-ea"/>
                <a:sym typeface="Arial" panose="020B0604020202020204" pitchFamily="34" charset="0"/>
              </a:rPr>
              <a:t>组成。</a:t>
            </a:r>
            <a:endParaRPr lang="zh-CN" altLang="en-US" sz="900" dirty="0">
              <a:solidFill>
                <a:schemeClr val="tx1">
                  <a:lumMod val="65000"/>
                  <a:lumOff val="35000"/>
                </a:schemeClr>
              </a:solidFill>
              <a:latin typeface="Arial" panose="020B0604020202020204" pitchFamily="34" charset="0"/>
              <a:ea typeface="宋体" panose="02010600030101010101" pitchFamily="2" charset="-122"/>
              <a:cs typeface="+mn-ea"/>
              <a:sym typeface="Arial" panose="020B0604020202020204" pitchFamily="34" charset="0"/>
            </a:endParaRPr>
          </a:p>
        </p:txBody>
      </p:sp>
      <p:sp>
        <p:nvSpPr>
          <p:cNvPr id="17" name="矩形 16"/>
          <p:cNvSpPr/>
          <p:nvPr/>
        </p:nvSpPr>
        <p:spPr>
          <a:xfrm>
            <a:off x="3721911" y="4000744"/>
            <a:ext cx="1664689" cy="241989"/>
          </a:xfrm>
          <a:prstGeom prst="rect">
            <a:avLst/>
          </a:prstGeom>
        </p:spPr>
        <p:txBody>
          <a:bodyPr wrap="square">
            <a:spAutoFit/>
          </a:bodyPr>
          <a:lstStyle/>
          <a:p>
            <a:pPr>
              <a:lnSpc>
                <a:spcPct val="120000"/>
              </a:lnSpc>
            </a:pPr>
            <a:r>
              <a:rPr lang="zh-CN" altLang="en-US" sz="900" dirty="0">
                <a:solidFill>
                  <a:schemeClr val="tx1">
                    <a:lumMod val="65000"/>
                    <a:lumOff val="35000"/>
                  </a:schemeClr>
                </a:solidFill>
                <a:latin typeface="Arial" panose="020B0604020202020204" pitchFamily="34" charset="0"/>
                <a:cs typeface="+mn-ea"/>
                <a:sym typeface="Arial" panose="020B0604020202020204" pitchFamily="34" charset="0"/>
              </a:rPr>
              <a:t>由两个</a:t>
            </a:r>
            <a:r>
              <a:rPr lang="en-US" altLang="zh-CN" sz="900" dirty="0">
                <a:solidFill>
                  <a:schemeClr val="tx1">
                    <a:lumMod val="65000"/>
                    <a:lumOff val="35000"/>
                  </a:schemeClr>
                </a:solidFill>
                <a:latin typeface="Arial" panose="020B0604020202020204" pitchFamily="34" charset="0"/>
                <a:cs typeface="+mn-ea"/>
                <a:sym typeface="Arial" panose="020B0604020202020204" pitchFamily="34" charset="0"/>
              </a:rPr>
              <a:t>B</a:t>
            </a:r>
            <a:r>
              <a:rPr lang="zh-CN" altLang="en-US" sz="900" dirty="0">
                <a:solidFill>
                  <a:schemeClr val="tx1">
                    <a:lumMod val="65000"/>
                    <a:lumOff val="35000"/>
                  </a:schemeClr>
                </a:solidFill>
                <a:latin typeface="Arial" panose="020B0604020202020204" pitchFamily="34" charset="0"/>
                <a:cs typeface="+mn-ea"/>
                <a:sym typeface="Arial" panose="020B0604020202020204" pitchFamily="34" charset="0"/>
              </a:rPr>
              <a:t>关节组成的</a:t>
            </a:r>
            <a:r>
              <a:rPr lang="en-US" altLang="zh-CN" sz="900" dirty="0">
                <a:solidFill>
                  <a:schemeClr val="tx1">
                    <a:lumMod val="65000"/>
                    <a:lumOff val="35000"/>
                  </a:schemeClr>
                </a:solidFill>
                <a:latin typeface="Arial" panose="020B0604020202020204" pitchFamily="34" charset="0"/>
                <a:cs typeface="+mn-ea"/>
                <a:sym typeface="Arial" panose="020B0604020202020204" pitchFamily="34" charset="0"/>
              </a:rPr>
              <a:t>BB</a:t>
            </a:r>
            <a:r>
              <a:rPr lang="zh-CN" altLang="en-US" sz="900" dirty="0" smtClean="0">
                <a:solidFill>
                  <a:schemeClr val="tx1">
                    <a:lumMod val="65000"/>
                    <a:lumOff val="35000"/>
                  </a:schemeClr>
                </a:solidFill>
                <a:latin typeface="Arial" panose="020B0604020202020204" pitchFamily="34" charset="0"/>
                <a:cs typeface="+mn-ea"/>
                <a:sym typeface="Arial" panose="020B0604020202020204" pitchFamily="34" charset="0"/>
              </a:rPr>
              <a:t>手腕。</a:t>
            </a:r>
            <a:endParaRPr lang="zh-CN" altLang="en-US" sz="900" dirty="0">
              <a:solidFill>
                <a:schemeClr val="tx1">
                  <a:lumMod val="65000"/>
                  <a:lumOff val="35000"/>
                </a:schemeClr>
              </a:solidFill>
              <a:latin typeface="Arial" panose="020B0604020202020204" pitchFamily="34" charset="0"/>
              <a:ea typeface="宋体" panose="02010600030101010101" pitchFamily="2" charset="-122"/>
              <a:cs typeface="+mn-ea"/>
              <a:sym typeface="Arial" panose="020B0604020202020204" pitchFamily="34" charset="0"/>
            </a:endParaRPr>
          </a:p>
        </p:txBody>
      </p:sp>
      <p:sp>
        <p:nvSpPr>
          <p:cNvPr id="18" name="矩形 17"/>
          <p:cNvSpPr/>
          <p:nvPr/>
        </p:nvSpPr>
        <p:spPr>
          <a:xfrm>
            <a:off x="6188384" y="4005628"/>
            <a:ext cx="1664689" cy="241989"/>
          </a:xfrm>
          <a:prstGeom prst="rect">
            <a:avLst/>
          </a:prstGeom>
        </p:spPr>
        <p:txBody>
          <a:bodyPr wrap="square">
            <a:spAutoFit/>
          </a:bodyPr>
          <a:lstStyle/>
          <a:p>
            <a:pPr>
              <a:lnSpc>
                <a:spcPct val="120000"/>
              </a:lnSpc>
            </a:pPr>
            <a:r>
              <a:rPr lang="zh-CN" altLang="en-US" sz="900" dirty="0">
                <a:solidFill>
                  <a:srgbClr val="FF0000"/>
                </a:solidFill>
                <a:latin typeface="Arial" panose="020B0604020202020204" pitchFamily="34" charset="0"/>
                <a:cs typeface="+mn-ea"/>
                <a:sym typeface="Arial" panose="020B0604020202020204" pitchFamily="34" charset="0"/>
              </a:rPr>
              <a:t>由两个</a:t>
            </a:r>
            <a:r>
              <a:rPr lang="en-US" altLang="zh-CN" sz="900" dirty="0">
                <a:solidFill>
                  <a:srgbClr val="FF0000"/>
                </a:solidFill>
                <a:latin typeface="Arial" panose="020B0604020202020204" pitchFamily="34" charset="0"/>
                <a:cs typeface="+mn-ea"/>
                <a:sym typeface="Arial" panose="020B0604020202020204" pitchFamily="34" charset="0"/>
              </a:rPr>
              <a:t>RR</a:t>
            </a:r>
            <a:r>
              <a:rPr lang="zh-CN" altLang="en-US" sz="900" dirty="0">
                <a:solidFill>
                  <a:srgbClr val="FF0000"/>
                </a:solidFill>
                <a:latin typeface="Arial" panose="020B0604020202020204" pitchFamily="34" charset="0"/>
                <a:cs typeface="+mn-ea"/>
                <a:sym typeface="Arial" panose="020B0604020202020204" pitchFamily="34" charset="0"/>
              </a:rPr>
              <a:t>关节组成</a:t>
            </a:r>
            <a:r>
              <a:rPr lang="en-US" altLang="zh-CN" sz="900" dirty="0">
                <a:solidFill>
                  <a:srgbClr val="FF0000"/>
                </a:solidFill>
                <a:latin typeface="Arial" panose="020B0604020202020204" pitchFamily="34" charset="0"/>
                <a:cs typeface="+mn-ea"/>
                <a:sym typeface="Arial" panose="020B0604020202020204" pitchFamily="34" charset="0"/>
              </a:rPr>
              <a:t>RR</a:t>
            </a:r>
            <a:r>
              <a:rPr lang="zh-CN" altLang="en-US" sz="900" dirty="0" smtClean="0">
                <a:solidFill>
                  <a:srgbClr val="FF0000"/>
                </a:solidFill>
                <a:latin typeface="Arial" panose="020B0604020202020204" pitchFamily="34" charset="0"/>
                <a:cs typeface="+mn-ea"/>
                <a:sym typeface="Arial" panose="020B0604020202020204" pitchFamily="34" charset="0"/>
              </a:rPr>
              <a:t>手腕。</a:t>
            </a:r>
            <a:endParaRPr lang="zh-CN" altLang="en-US" sz="900" dirty="0">
              <a:solidFill>
                <a:srgbClr val="FF0000"/>
              </a:solidFill>
              <a:latin typeface="Arial" panose="020B0604020202020204" pitchFamily="34" charset="0"/>
              <a:ea typeface="宋体" panose="02010600030101010101" pitchFamily="2" charset="-122"/>
              <a:cs typeface="+mn-ea"/>
              <a:sym typeface="Arial" panose="020B0604020202020204" pitchFamily="34" charset="0"/>
            </a:endParaRPr>
          </a:p>
        </p:txBody>
      </p:sp>
      <p:grpSp>
        <p:nvGrpSpPr>
          <p:cNvPr id="23" name="组合 22"/>
          <p:cNvGrpSpPr/>
          <p:nvPr/>
        </p:nvGrpSpPr>
        <p:grpSpPr>
          <a:xfrm>
            <a:off x="-236220" y="219075"/>
            <a:ext cx="5153660" cy="598805"/>
            <a:chOff x="-372" y="345"/>
            <a:chExt cx="8116" cy="943"/>
          </a:xfrm>
        </p:grpSpPr>
        <p:sp>
          <p:nvSpPr>
            <p:cNvPr id="24" name="矩形 23"/>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robotic wrist</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5" name="文本框 24"/>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机器人腕部结构</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6" name="椭圆 25"/>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7" name="直接连接符 26"/>
          <p:cNvCxnSpPr/>
          <p:nvPr/>
        </p:nvCxnSpPr>
        <p:spPr bwMode="auto">
          <a:xfrm flipV="1">
            <a:off x="2302538" y="3017512"/>
            <a:ext cx="1190" cy="367958"/>
          </a:xfrm>
          <a:prstGeom prst="line">
            <a:avLst/>
          </a:prstGeom>
          <a:ln w="57150">
            <a:solidFill>
              <a:srgbClr val="558ED5"/>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bwMode="auto">
          <a:xfrm flipV="1">
            <a:off x="7020728" y="3039558"/>
            <a:ext cx="1190" cy="367958"/>
          </a:xfrm>
          <a:prstGeom prst="line">
            <a:avLst/>
          </a:prstGeom>
          <a:ln w="57150">
            <a:solidFill>
              <a:srgbClr val="558ED5"/>
            </a:solidFill>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7171478" y="691910"/>
            <a:ext cx="1787288" cy="646331"/>
          </a:xfrm>
          <a:prstGeom prst="rect">
            <a:avLst/>
          </a:prstGeom>
        </p:spPr>
        <p:txBody>
          <a:bodyPr wrap="square">
            <a:spAutoFit/>
          </a:bodyPr>
          <a:lstStyle/>
          <a:p>
            <a:r>
              <a:rPr lang="zh-CN" altLang="zh-CN" sz="1200" dirty="0">
                <a:solidFill>
                  <a:srgbClr val="002060"/>
                </a:solidFill>
              </a:rPr>
              <a:t>两个</a:t>
            </a:r>
            <a:r>
              <a:rPr lang="en-US" altLang="zh-CN" sz="1200" dirty="0">
                <a:solidFill>
                  <a:srgbClr val="002060"/>
                </a:solidFill>
              </a:rPr>
              <a:t>R</a:t>
            </a:r>
            <a:r>
              <a:rPr lang="zh-CN" altLang="zh-CN" sz="1200" dirty="0">
                <a:solidFill>
                  <a:srgbClr val="002060"/>
                </a:solidFill>
              </a:rPr>
              <a:t>关节共轴线</a:t>
            </a:r>
            <a:r>
              <a:rPr lang="en-US" altLang="zh-CN" sz="1200" dirty="0">
                <a:solidFill>
                  <a:srgbClr val="002060"/>
                </a:solidFill>
              </a:rPr>
              <a:t>,</a:t>
            </a:r>
            <a:r>
              <a:rPr lang="zh-CN" altLang="zh-CN" sz="1200" dirty="0">
                <a:solidFill>
                  <a:srgbClr val="002060"/>
                </a:solidFill>
              </a:rPr>
              <a:t>所以退化了一个自由度</a:t>
            </a:r>
            <a:r>
              <a:rPr lang="en-US" altLang="zh-CN" sz="1200" dirty="0">
                <a:solidFill>
                  <a:srgbClr val="002060"/>
                </a:solidFill>
              </a:rPr>
              <a:t>,</a:t>
            </a:r>
            <a:r>
              <a:rPr lang="zh-CN" altLang="zh-CN" sz="1200" dirty="0">
                <a:solidFill>
                  <a:srgbClr val="002060"/>
                </a:solidFill>
              </a:rPr>
              <a:t>实际只构成单自由度手腕</a:t>
            </a:r>
            <a:endParaRPr lang="zh-CN" altLang="en-US" sz="1200" dirty="0">
              <a:solidFill>
                <a:srgbClr val="002060"/>
              </a:solidFill>
            </a:endParaRPr>
          </a:p>
        </p:txBody>
      </p:sp>
    </p:spTree>
    <p:extLst>
      <p:ext uri="{BB962C8B-B14F-4D97-AF65-F5344CB8AC3E}">
        <p14:creationId xmlns:p14="http://schemas.microsoft.com/office/powerpoint/2010/main" val="369670119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heel(1)">
                                      <p:cBhvr>
                                        <p:cTn id="7" dur="500"/>
                                        <p:tgtEl>
                                          <p:spTgt spid="13"/>
                                        </p:tgtEl>
                                      </p:cBhvr>
                                    </p:animEffect>
                                  </p:childTnLst>
                                </p:cTn>
                              </p:par>
                            </p:childTnLst>
                          </p:cTn>
                        </p:par>
                        <p:par>
                          <p:cTn id="8" fill="hold">
                            <p:stCondLst>
                              <p:cond delay="500"/>
                            </p:stCondLst>
                            <p:childTnLst>
                              <p:par>
                                <p:cTn id="9" presetID="12" presetClass="entr" presetSubtype="2"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1000"/>
                                        <p:tgtEl>
                                          <p:spTgt spid="2"/>
                                        </p:tgtEl>
                                        <p:attrNameLst>
                                          <p:attrName>ppt_x</p:attrName>
                                        </p:attrNameLst>
                                      </p:cBhvr>
                                      <p:tavLst>
                                        <p:tav tm="0">
                                          <p:val>
                                            <p:strVal val="#ppt_x+#ppt_w*1.125000"/>
                                          </p:val>
                                        </p:tav>
                                        <p:tav tm="100000">
                                          <p:val>
                                            <p:strVal val="#ppt_x"/>
                                          </p:val>
                                        </p:tav>
                                      </p:tavLst>
                                    </p:anim>
                                    <p:animEffect transition="in" filter="wipe(left)">
                                      <p:cBhvr>
                                        <p:cTn id="12" dur="1000"/>
                                        <p:tgtEl>
                                          <p:spTgt spid="2"/>
                                        </p:tgtEl>
                                      </p:cBhvr>
                                    </p:animEffect>
                                  </p:childTnLst>
                                </p:cTn>
                              </p:par>
                              <p:par>
                                <p:cTn id="13" presetID="12" presetClass="entr" presetSubtype="8"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1000"/>
                                        <p:tgtEl>
                                          <p:spTgt spid="5"/>
                                        </p:tgtEl>
                                        <p:attrNameLst>
                                          <p:attrName>ppt_x</p:attrName>
                                        </p:attrNameLst>
                                      </p:cBhvr>
                                      <p:tavLst>
                                        <p:tav tm="0">
                                          <p:val>
                                            <p:strVal val="#ppt_x-#ppt_w*1.125000"/>
                                          </p:val>
                                        </p:tav>
                                        <p:tav tm="100000">
                                          <p:val>
                                            <p:strVal val="#ppt_x"/>
                                          </p:val>
                                        </p:tav>
                                      </p:tavLst>
                                    </p:anim>
                                    <p:animEffect transition="in" filter="wipe(right)">
                                      <p:cBhvr>
                                        <p:cTn id="16" dur="1000"/>
                                        <p:tgtEl>
                                          <p:spTgt spid="5"/>
                                        </p:tgtEl>
                                      </p:cBhvr>
                                    </p:animEffect>
                                  </p:childTnLst>
                                </p:cTn>
                              </p:par>
                            </p:childTnLst>
                          </p:cTn>
                        </p:par>
                        <p:par>
                          <p:cTn id="17" fill="hold">
                            <p:stCondLst>
                              <p:cond delay="1500"/>
                            </p:stCondLst>
                            <p:childTnLst>
                              <p:par>
                                <p:cTn id="18" presetID="22" presetClass="entr" presetSubtype="1" fill="hold"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wipe(up)">
                                      <p:cBhvr>
                                        <p:cTn id="20" dur="500"/>
                                        <p:tgtEl>
                                          <p:spTgt spid="12"/>
                                        </p:tgtEl>
                                      </p:cBhvr>
                                    </p:animEffect>
                                  </p:childTnLst>
                                </p:cTn>
                              </p:par>
                            </p:childTnLst>
                          </p:cTn>
                        </p:par>
                        <p:par>
                          <p:cTn id="21" fill="hold">
                            <p:stCondLst>
                              <p:cond delay="2000"/>
                            </p:stCondLst>
                            <p:childTnLst>
                              <p:par>
                                <p:cTn id="22" presetID="16" presetClass="entr" presetSubtype="37"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arn(outVertical)">
                                      <p:cBhvr>
                                        <p:cTn id="24" dur="500"/>
                                        <p:tgtEl>
                                          <p:spTgt spid="10"/>
                                        </p:tgtEl>
                                      </p:cBhvr>
                                    </p:animEffect>
                                  </p:childTnLst>
                                </p:cTn>
                              </p:par>
                            </p:childTnLst>
                          </p:cTn>
                        </p:par>
                        <p:par>
                          <p:cTn id="25" fill="hold">
                            <p:stCondLst>
                              <p:cond delay="2500"/>
                            </p:stCondLst>
                            <p:childTnLst>
                              <p:par>
                                <p:cTn id="26" presetID="16" presetClass="entr" presetSubtype="37" fill="hold"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barn(outVertical)">
                                      <p:cBhvr>
                                        <p:cTn id="28" dur="500"/>
                                        <p:tgtEl>
                                          <p:spTgt spid="8"/>
                                        </p:tgtEl>
                                      </p:cBhvr>
                                    </p:animEffect>
                                  </p:childTnLst>
                                </p:cTn>
                              </p:par>
                            </p:childTnLst>
                          </p:cTn>
                        </p:par>
                        <p:par>
                          <p:cTn id="29" fill="hold">
                            <p:stCondLst>
                              <p:cond delay="3000"/>
                            </p:stCondLst>
                            <p:childTnLst>
                              <p:par>
                                <p:cTn id="30" presetID="22" presetClass="entr" presetSubtype="2" fill="hold" grpId="0" nodeType="after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right)">
                                      <p:cBhvr>
                                        <p:cTn id="32" dur="500"/>
                                        <p:tgtEl>
                                          <p:spTgt spid="9"/>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500"/>
                                        <p:tgtEl>
                                          <p:spTgt spid="11"/>
                                        </p:tgtEl>
                                      </p:cBhvr>
                                    </p:animEffect>
                                  </p:childTnLst>
                                </p:cTn>
                              </p:par>
                            </p:childTnLst>
                          </p:cTn>
                        </p:par>
                        <p:par>
                          <p:cTn id="36" fill="hold">
                            <p:stCondLst>
                              <p:cond delay="3500"/>
                            </p:stCondLst>
                            <p:childTnLst>
                              <p:par>
                                <p:cTn id="37" presetID="2" presetClass="entr" presetSubtype="4"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childTnLst>
                          </p:cTn>
                        </p:par>
                        <p:par>
                          <p:cTn id="41" fill="hold">
                            <p:stCondLst>
                              <p:cond delay="4000"/>
                            </p:stCondLst>
                            <p:childTnLst>
                              <p:par>
                                <p:cTn id="42" presetID="2" presetClass="entr" presetSubtype="4" fill="hold" grpId="0" nodeType="afterEffect">
                                  <p:stCondLst>
                                    <p:cond delay="0"/>
                                  </p:stCondLst>
                                  <p:childTnLst>
                                    <p:set>
                                      <p:cBhvr>
                                        <p:cTn id="43" dur="1" fill="hold">
                                          <p:stCondLst>
                                            <p:cond delay="0"/>
                                          </p:stCondLst>
                                        </p:cTn>
                                        <p:tgtEl>
                                          <p:spTgt spid="17"/>
                                        </p:tgtEl>
                                        <p:attrNameLst>
                                          <p:attrName>style.visibility</p:attrName>
                                        </p:attrNameLst>
                                      </p:cBhvr>
                                      <p:to>
                                        <p:strVal val="visible"/>
                                      </p:to>
                                    </p:set>
                                    <p:anim calcmode="lin" valueType="num">
                                      <p:cBhvr additive="base">
                                        <p:cTn id="44" dur="500" fill="hold"/>
                                        <p:tgtEl>
                                          <p:spTgt spid="17"/>
                                        </p:tgtEl>
                                        <p:attrNameLst>
                                          <p:attrName>ppt_x</p:attrName>
                                        </p:attrNameLst>
                                      </p:cBhvr>
                                      <p:tavLst>
                                        <p:tav tm="0">
                                          <p:val>
                                            <p:strVal val="#ppt_x"/>
                                          </p:val>
                                        </p:tav>
                                        <p:tav tm="100000">
                                          <p:val>
                                            <p:strVal val="#ppt_x"/>
                                          </p:val>
                                        </p:tav>
                                      </p:tavLst>
                                    </p:anim>
                                    <p:anim calcmode="lin" valueType="num">
                                      <p:cBhvr additive="base">
                                        <p:cTn id="45" dur="500" fill="hold"/>
                                        <p:tgtEl>
                                          <p:spTgt spid="17"/>
                                        </p:tgtEl>
                                        <p:attrNameLst>
                                          <p:attrName>ppt_y</p:attrName>
                                        </p:attrNameLst>
                                      </p:cBhvr>
                                      <p:tavLst>
                                        <p:tav tm="0">
                                          <p:val>
                                            <p:strVal val="1+#ppt_h/2"/>
                                          </p:val>
                                        </p:tav>
                                        <p:tav tm="100000">
                                          <p:val>
                                            <p:strVal val="#ppt_y"/>
                                          </p:val>
                                        </p:tav>
                                      </p:tavLst>
                                    </p:anim>
                                  </p:childTnLst>
                                </p:cTn>
                              </p:par>
                            </p:childTnLst>
                          </p:cTn>
                        </p:par>
                        <p:par>
                          <p:cTn id="46" fill="hold">
                            <p:stCondLst>
                              <p:cond delay="4500"/>
                            </p:stCondLst>
                            <p:childTnLst>
                              <p:par>
                                <p:cTn id="47" presetID="2" presetClass="entr" presetSubtype="4" fill="hold" grpId="0" nodeType="afterEffect">
                                  <p:stCondLst>
                                    <p:cond delay="0"/>
                                  </p:stCondLst>
                                  <p:childTnLst>
                                    <p:set>
                                      <p:cBhvr>
                                        <p:cTn id="48" dur="1" fill="hold">
                                          <p:stCondLst>
                                            <p:cond delay="0"/>
                                          </p:stCondLst>
                                        </p:cTn>
                                        <p:tgtEl>
                                          <p:spTgt spid="18"/>
                                        </p:tgtEl>
                                        <p:attrNameLst>
                                          <p:attrName>style.visibility</p:attrName>
                                        </p:attrNameLst>
                                      </p:cBhvr>
                                      <p:to>
                                        <p:strVal val="visible"/>
                                      </p:to>
                                    </p:set>
                                    <p:anim calcmode="lin" valueType="num">
                                      <p:cBhvr additive="base">
                                        <p:cTn id="49" dur="500" fill="hold"/>
                                        <p:tgtEl>
                                          <p:spTgt spid="18"/>
                                        </p:tgtEl>
                                        <p:attrNameLst>
                                          <p:attrName>ppt_x</p:attrName>
                                        </p:attrNameLst>
                                      </p:cBhvr>
                                      <p:tavLst>
                                        <p:tav tm="0">
                                          <p:val>
                                            <p:strVal val="#ppt_x"/>
                                          </p:val>
                                        </p:tav>
                                        <p:tav tm="100000">
                                          <p:val>
                                            <p:strVal val="#ppt_x"/>
                                          </p:val>
                                        </p:tav>
                                      </p:tavLst>
                                    </p:anim>
                                    <p:anim calcmode="lin" valueType="num">
                                      <p:cBhvr additive="base">
                                        <p:cTn id="50" dur="500" fill="hold"/>
                                        <p:tgtEl>
                                          <p:spTgt spid="18"/>
                                        </p:tgtEl>
                                        <p:attrNameLst>
                                          <p:attrName>ppt_y</p:attrName>
                                        </p:attrNameLst>
                                      </p:cBhvr>
                                      <p:tavLst>
                                        <p:tav tm="0">
                                          <p:val>
                                            <p:strVal val="1+#ppt_h/2"/>
                                          </p:val>
                                        </p:tav>
                                        <p:tav tm="100000">
                                          <p:val>
                                            <p:strVal val="#ppt_y"/>
                                          </p:val>
                                        </p:tav>
                                      </p:tavLst>
                                    </p:anim>
                                  </p:childTnLst>
                                </p:cTn>
                              </p:par>
                            </p:childTnLst>
                          </p:cTn>
                        </p:par>
                        <p:par>
                          <p:cTn id="51" fill="hold">
                            <p:stCondLst>
                              <p:cond delay="5000"/>
                            </p:stCondLst>
                            <p:childTnLst>
                              <p:par>
                                <p:cTn id="52" presetID="22" presetClass="entr" presetSubtype="1" fill="hold" nodeType="after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wipe(up)">
                                      <p:cBhvr>
                                        <p:cTn id="54" dur="500"/>
                                        <p:tgtEl>
                                          <p:spTgt spid="27"/>
                                        </p:tgtEl>
                                      </p:cBhvr>
                                    </p:animEffect>
                                  </p:childTnLst>
                                </p:cTn>
                              </p:par>
                            </p:childTnLst>
                          </p:cTn>
                        </p:par>
                        <p:par>
                          <p:cTn id="55" fill="hold">
                            <p:stCondLst>
                              <p:cond delay="5500"/>
                            </p:stCondLst>
                            <p:childTnLst>
                              <p:par>
                                <p:cTn id="56" presetID="22" presetClass="entr" presetSubtype="1" fill="hold" nodeType="after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wipe(up)">
                                      <p:cBhvr>
                                        <p:cTn id="5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bldLvl="0" animBg="1"/>
      <p:bldP spid="11" grpId="0" bldLvl="0" animBg="1"/>
      <p:bldP spid="16" grpId="0"/>
      <p:bldP spid="17" grpId="0"/>
      <p:bldP spid="1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838946" y="1349700"/>
            <a:ext cx="1701669" cy="1670708"/>
            <a:chOff x="3032012" y="1199038"/>
            <a:chExt cx="2268537" cy="2227263"/>
          </a:xfrm>
        </p:grpSpPr>
        <p:sp>
          <p:nvSpPr>
            <p:cNvPr id="3" name="椭圆 2"/>
            <p:cNvSpPr/>
            <p:nvPr/>
          </p:nvSpPr>
          <p:spPr bwMode="auto">
            <a:xfrm>
              <a:off x="3032012" y="1199038"/>
              <a:ext cx="2268537" cy="2227263"/>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sz="1350">
                <a:solidFill>
                  <a:srgbClr val="7EBEA7"/>
                </a:solidFill>
              </a:endParaRPr>
            </a:p>
          </p:txBody>
        </p:sp>
        <p:sp>
          <p:nvSpPr>
            <p:cNvPr id="4" name="椭圆 3"/>
            <p:cNvSpPr/>
            <p:nvPr/>
          </p:nvSpPr>
          <p:spPr bwMode="auto">
            <a:xfrm>
              <a:off x="3223594" y="1387313"/>
              <a:ext cx="1885372" cy="1850711"/>
            </a:xfrm>
            <a:prstGeom prst="ellipse">
              <a:avLst/>
            </a:prstGeom>
            <a:blipFill dpi="0" rotWithShape="1">
              <a:blip r:embed="rId3"/>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sz="1350">
                <a:solidFill>
                  <a:srgbClr val="7EBEA7"/>
                </a:solidFill>
              </a:endParaRPr>
            </a:p>
          </p:txBody>
        </p:sp>
      </p:grpSp>
      <p:cxnSp>
        <p:nvCxnSpPr>
          <p:cNvPr id="8" name="直接连接符 7"/>
          <p:cNvCxnSpPr>
            <a:endCxn id="11" idx="1"/>
          </p:cNvCxnSpPr>
          <p:nvPr/>
        </p:nvCxnSpPr>
        <p:spPr bwMode="auto">
          <a:xfrm flipV="1">
            <a:off x="2041554" y="3651983"/>
            <a:ext cx="4834702" cy="1"/>
          </a:xfrm>
          <a:prstGeom prst="line">
            <a:avLst/>
          </a:prstGeom>
          <a:ln w="57150">
            <a:solidFill>
              <a:srgbClr val="558ED5"/>
            </a:solidFill>
          </a:ln>
        </p:spPr>
        <p:style>
          <a:lnRef idx="1">
            <a:schemeClr val="accent1"/>
          </a:lnRef>
          <a:fillRef idx="0">
            <a:schemeClr val="accent1"/>
          </a:fillRef>
          <a:effectRef idx="0">
            <a:schemeClr val="accent1"/>
          </a:effectRef>
          <a:fontRef idx="minor">
            <a:schemeClr val="tx1"/>
          </a:fontRef>
        </p:style>
      </p:cxnSp>
      <p:sp>
        <p:nvSpPr>
          <p:cNvPr id="9" name="圆角矩形 8"/>
          <p:cNvSpPr/>
          <p:nvPr/>
        </p:nvSpPr>
        <p:spPr bwMode="auto">
          <a:xfrm>
            <a:off x="1145563" y="3389624"/>
            <a:ext cx="1048510" cy="484656"/>
          </a:xfrm>
          <a:prstGeom prst="roundRect">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r>
              <a:rPr lang="en-US" altLang="zh-CN" sz="1500" b="1" dirty="0" smtClean="0">
                <a:solidFill>
                  <a:schemeClr val="bg1"/>
                </a:solidFill>
                <a:latin typeface="宋体" panose="02010600030101010101" pitchFamily="2" charset="-122"/>
                <a:sym typeface="+mn-ea"/>
              </a:rPr>
              <a:t>BBR</a:t>
            </a:r>
            <a:r>
              <a:rPr lang="zh-CN" altLang="en-US" sz="1500" b="1" dirty="0">
                <a:solidFill>
                  <a:schemeClr val="bg1"/>
                </a:solidFill>
                <a:latin typeface="宋体" panose="02010600030101010101" pitchFamily="2" charset="-122"/>
                <a:sym typeface="+mn-ea"/>
              </a:rPr>
              <a:t>手腕</a:t>
            </a:r>
            <a:endParaRPr lang="zh-CN" altLang="en-US" sz="1500" b="1" dirty="0" smtClean="0">
              <a:solidFill>
                <a:schemeClr val="bg1"/>
              </a:solidFill>
              <a:latin typeface="宋体" panose="02010600030101010101" pitchFamily="2" charset="-122"/>
              <a:ea typeface="宋体" panose="02010600030101010101" pitchFamily="2" charset="-122"/>
              <a:sym typeface="+mn-ea"/>
            </a:endParaRPr>
          </a:p>
        </p:txBody>
      </p:sp>
      <p:sp>
        <p:nvSpPr>
          <p:cNvPr id="10" name="圆角矩形 9"/>
          <p:cNvSpPr/>
          <p:nvPr/>
        </p:nvSpPr>
        <p:spPr bwMode="auto">
          <a:xfrm>
            <a:off x="4955591" y="3388366"/>
            <a:ext cx="1046533" cy="484656"/>
          </a:xfrm>
          <a:prstGeom prst="roundRect">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r>
              <a:rPr lang="en-US" altLang="zh-CN" sz="1500" b="1" dirty="0" smtClean="0">
                <a:solidFill>
                  <a:schemeClr val="bg1"/>
                </a:solidFill>
                <a:latin typeface="宋体" panose="02010600030101010101" pitchFamily="2" charset="-122"/>
                <a:sym typeface="+mn-ea"/>
              </a:rPr>
              <a:t>RRR</a:t>
            </a:r>
            <a:r>
              <a:rPr lang="zh-CN" altLang="en-US" sz="1500" b="1" dirty="0" smtClean="0">
                <a:solidFill>
                  <a:schemeClr val="bg1"/>
                </a:solidFill>
                <a:latin typeface="宋体" panose="02010600030101010101" pitchFamily="2" charset="-122"/>
                <a:sym typeface="+mn-ea"/>
              </a:rPr>
              <a:t>手腕</a:t>
            </a:r>
            <a:endParaRPr lang="zh-CN" altLang="en-US" sz="1500" b="1" dirty="0" smtClean="0">
              <a:solidFill>
                <a:schemeClr val="bg1"/>
              </a:solidFill>
              <a:latin typeface="宋体" panose="02010600030101010101" pitchFamily="2" charset="-122"/>
              <a:ea typeface="宋体" panose="02010600030101010101" pitchFamily="2" charset="-122"/>
              <a:sym typeface="+mn-ea"/>
            </a:endParaRPr>
          </a:p>
        </p:txBody>
      </p:sp>
      <p:sp>
        <p:nvSpPr>
          <p:cNvPr id="11" name="圆角矩形 10"/>
          <p:cNvSpPr/>
          <p:nvPr/>
        </p:nvSpPr>
        <p:spPr bwMode="auto">
          <a:xfrm>
            <a:off x="6876256" y="3409059"/>
            <a:ext cx="1048510" cy="485847"/>
          </a:xfrm>
          <a:prstGeom prst="roundRect">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r>
              <a:rPr lang="en-US" altLang="zh-CN" sz="1500" b="1" dirty="0">
                <a:solidFill>
                  <a:schemeClr val="bg1"/>
                </a:solidFill>
                <a:latin typeface="宋体" panose="02010600030101010101" pitchFamily="2" charset="-122"/>
                <a:sym typeface="+mn-ea"/>
              </a:rPr>
              <a:t>BBB</a:t>
            </a:r>
            <a:r>
              <a:rPr lang="zh-CN" altLang="en-US" sz="1500" b="1" dirty="0">
                <a:solidFill>
                  <a:schemeClr val="bg1"/>
                </a:solidFill>
                <a:latin typeface="宋体" panose="02010600030101010101" pitchFamily="2" charset="-122"/>
                <a:sym typeface="+mn-ea"/>
              </a:rPr>
              <a:t>手腕</a:t>
            </a:r>
          </a:p>
        </p:txBody>
      </p:sp>
      <p:cxnSp>
        <p:nvCxnSpPr>
          <p:cNvPr id="12" name="直接连接符 11"/>
          <p:cNvCxnSpPr/>
          <p:nvPr/>
        </p:nvCxnSpPr>
        <p:spPr bwMode="auto">
          <a:xfrm flipV="1">
            <a:off x="5478857" y="3075806"/>
            <a:ext cx="1190" cy="367958"/>
          </a:xfrm>
          <a:prstGeom prst="line">
            <a:avLst/>
          </a:prstGeom>
          <a:ln w="57150">
            <a:solidFill>
              <a:srgbClr val="558ED5"/>
            </a:solidFill>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2668100" y="1311044"/>
            <a:ext cx="1822712" cy="1709364"/>
            <a:chOff x="4537868" y="829469"/>
            <a:chExt cx="2996729" cy="2941638"/>
          </a:xfrm>
        </p:grpSpPr>
        <p:sp>
          <p:nvSpPr>
            <p:cNvPr id="14" name="椭圆 13"/>
            <p:cNvSpPr/>
            <p:nvPr/>
          </p:nvSpPr>
          <p:spPr bwMode="auto">
            <a:xfrm>
              <a:off x="4537868" y="829469"/>
              <a:ext cx="2996729" cy="2941638"/>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sz="1350">
                <a:solidFill>
                  <a:srgbClr val="7EBEA7"/>
                </a:solidFill>
              </a:endParaRPr>
            </a:p>
          </p:txBody>
        </p:sp>
        <p:sp>
          <p:nvSpPr>
            <p:cNvPr id="15" name="椭圆 14"/>
            <p:cNvSpPr/>
            <p:nvPr/>
          </p:nvSpPr>
          <p:spPr bwMode="auto">
            <a:xfrm>
              <a:off x="4734827" y="1007346"/>
              <a:ext cx="2611900" cy="2563884"/>
            </a:xfrm>
            <a:prstGeom prst="ellipse">
              <a:avLst/>
            </a:prstGeom>
            <a:blipFill dpi="0" rotWithShape="1">
              <a:blip r:embed="rId4"/>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sz="1350">
                <a:solidFill>
                  <a:srgbClr val="7EBEA7"/>
                </a:solidFill>
              </a:endParaRPr>
            </a:p>
          </p:txBody>
        </p:sp>
      </p:grpSp>
      <p:grpSp>
        <p:nvGrpSpPr>
          <p:cNvPr id="23" name="组合 22"/>
          <p:cNvGrpSpPr/>
          <p:nvPr/>
        </p:nvGrpSpPr>
        <p:grpSpPr>
          <a:xfrm>
            <a:off x="-236220" y="219075"/>
            <a:ext cx="5153660" cy="598805"/>
            <a:chOff x="-372" y="345"/>
            <a:chExt cx="8116" cy="943"/>
          </a:xfrm>
        </p:grpSpPr>
        <p:sp>
          <p:nvSpPr>
            <p:cNvPr id="24" name="矩形 23"/>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robotic wrist</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5" name="文本框 24"/>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机器人腕部结构</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6" name="椭圆 25"/>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7" name="直接连接符 26"/>
          <p:cNvCxnSpPr/>
          <p:nvPr/>
        </p:nvCxnSpPr>
        <p:spPr bwMode="auto">
          <a:xfrm flipV="1">
            <a:off x="1669818" y="3024864"/>
            <a:ext cx="1190" cy="367958"/>
          </a:xfrm>
          <a:prstGeom prst="line">
            <a:avLst/>
          </a:prstGeom>
          <a:ln w="57150">
            <a:solidFill>
              <a:srgbClr val="558ED5"/>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bwMode="auto">
          <a:xfrm flipV="1">
            <a:off x="7414824" y="3082201"/>
            <a:ext cx="1190" cy="367958"/>
          </a:xfrm>
          <a:prstGeom prst="line">
            <a:avLst/>
          </a:prstGeom>
          <a:ln w="57150">
            <a:solidFill>
              <a:srgbClr val="558ED5"/>
            </a:solidFill>
          </a:ln>
        </p:spPr>
        <p:style>
          <a:lnRef idx="1">
            <a:schemeClr val="accent1"/>
          </a:lnRef>
          <a:fillRef idx="0">
            <a:schemeClr val="accent1"/>
          </a:fillRef>
          <a:effectRef idx="0">
            <a:schemeClr val="accent1"/>
          </a:effectRef>
          <a:fontRef idx="minor">
            <a:schemeClr val="tx1"/>
          </a:fontRef>
        </p:style>
      </p:cxnSp>
      <p:grpSp>
        <p:nvGrpSpPr>
          <p:cNvPr id="29" name="组合 28"/>
          <p:cNvGrpSpPr/>
          <p:nvPr/>
        </p:nvGrpSpPr>
        <p:grpSpPr>
          <a:xfrm>
            <a:off x="4580776" y="1347614"/>
            <a:ext cx="1822712" cy="1709364"/>
            <a:chOff x="4537868" y="829469"/>
            <a:chExt cx="2996729" cy="2941638"/>
          </a:xfrm>
        </p:grpSpPr>
        <p:sp>
          <p:nvSpPr>
            <p:cNvPr id="30" name="椭圆 29"/>
            <p:cNvSpPr/>
            <p:nvPr/>
          </p:nvSpPr>
          <p:spPr bwMode="auto">
            <a:xfrm>
              <a:off x="4537868" y="829469"/>
              <a:ext cx="2996729" cy="2941638"/>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sz="1350">
                <a:solidFill>
                  <a:srgbClr val="7EBEA7"/>
                </a:solidFill>
              </a:endParaRPr>
            </a:p>
          </p:txBody>
        </p:sp>
        <p:sp>
          <p:nvSpPr>
            <p:cNvPr id="31" name="椭圆 30"/>
            <p:cNvSpPr/>
            <p:nvPr/>
          </p:nvSpPr>
          <p:spPr bwMode="auto">
            <a:xfrm>
              <a:off x="4734827" y="1007346"/>
              <a:ext cx="2611900" cy="2563884"/>
            </a:xfrm>
            <a:prstGeom prst="ellipse">
              <a:avLst/>
            </a:prstGeom>
            <a:blipFill dpi="0" rotWithShape="1">
              <a:blip r:embed="rId5"/>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sz="1350">
                <a:solidFill>
                  <a:srgbClr val="7EBEA7"/>
                </a:solidFill>
              </a:endParaRPr>
            </a:p>
          </p:txBody>
        </p:sp>
      </p:grpSp>
      <p:sp>
        <p:nvSpPr>
          <p:cNvPr id="32" name="圆角矩形 31"/>
          <p:cNvSpPr/>
          <p:nvPr/>
        </p:nvSpPr>
        <p:spPr bwMode="auto">
          <a:xfrm>
            <a:off x="3019624" y="3388366"/>
            <a:ext cx="1046533" cy="484656"/>
          </a:xfrm>
          <a:prstGeom prst="roundRect">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r>
              <a:rPr lang="en-US" altLang="zh-CN" sz="1500" b="1" dirty="0" smtClean="0">
                <a:solidFill>
                  <a:schemeClr val="bg1"/>
                </a:solidFill>
                <a:latin typeface="宋体" panose="02010600030101010101" pitchFamily="2" charset="-122"/>
                <a:sym typeface="+mn-ea"/>
              </a:rPr>
              <a:t>BRR</a:t>
            </a:r>
            <a:r>
              <a:rPr lang="zh-CN" altLang="en-US" sz="1500" b="1" dirty="0" smtClean="0">
                <a:solidFill>
                  <a:schemeClr val="bg1"/>
                </a:solidFill>
                <a:latin typeface="宋体" panose="02010600030101010101" pitchFamily="2" charset="-122"/>
                <a:sym typeface="+mn-ea"/>
              </a:rPr>
              <a:t>手腕</a:t>
            </a:r>
            <a:endParaRPr lang="zh-CN" altLang="en-US" sz="1500" b="1" dirty="0" smtClean="0">
              <a:solidFill>
                <a:schemeClr val="bg1"/>
              </a:solidFill>
              <a:latin typeface="宋体" panose="02010600030101010101" pitchFamily="2" charset="-122"/>
              <a:ea typeface="宋体" panose="02010600030101010101" pitchFamily="2" charset="-122"/>
              <a:sym typeface="+mn-ea"/>
            </a:endParaRPr>
          </a:p>
        </p:txBody>
      </p:sp>
      <p:grpSp>
        <p:nvGrpSpPr>
          <p:cNvPr id="33" name="组合 32"/>
          <p:cNvGrpSpPr/>
          <p:nvPr/>
        </p:nvGrpSpPr>
        <p:grpSpPr>
          <a:xfrm>
            <a:off x="6493452" y="1341222"/>
            <a:ext cx="1822712" cy="1709364"/>
            <a:chOff x="4537868" y="829469"/>
            <a:chExt cx="2996729" cy="2941638"/>
          </a:xfrm>
        </p:grpSpPr>
        <p:sp>
          <p:nvSpPr>
            <p:cNvPr id="34" name="椭圆 33"/>
            <p:cNvSpPr/>
            <p:nvPr/>
          </p:nvSpPr>
          <p:spPr bwMode="auto">
            <a:xfrm>
              <a:off x="4537868" y="829469"/>
              <a:ext cx="2996729" cy="2941638"/>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sz="1350">
                <a:solidFill>
                  <a:srgbClr val="7EBEA7"/>
                </a:solidFill>
              </a:endParaRPr>
            </a:p>
          </p:txBody>
        </p:sp>
        <p:sp>
          <p:nvSpPr>
            <p:cNvPr id="35" name="椭圆 34"/>
            <p:cNvSpPr/>
            <p:nvPr/>
          </p:nvSpPr>
          <p:spPr bwMode="auto">
            <a:xfrm>
              <a:off x="4734827" y="1007346"/>
              <a:ext cx="2611900" cy="2563884"/>
            </a:xfrm>
            <a:prstGeom prst="ellipse">
              <a:avLst/>
            </a:prstGeom>
            <a:blipFill dpi="0" rotWithShape="1">
              <a:blip r:embed="rId6"/>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defRPr/>
              </a:pPr>
              <a:endParaRPr lang="zh-CN" altLang="en-US" sz="1350">
                <a:solidFill>
                  <a:srgbClr val="7EBEA7"/>
                </a:solidFill>
              </a:endParaRPr>
            </a:p>
          </p:txBody>
        </p:sp>
      </p:grpSp>
      <p:cxnSp>
        <p:nvCxnSpPr>
          <p:cNvPr id="36" name="直接连接符 35"/>
          <p:cNvCxnSpPr/>
          <p:nvPr/>
        </p:nvCxnSpPr>
        <p:spPr bwMode="auto">
          <a:xfrm flipV="1">
            <a:off x="3583724" y="3020408"/>
            <a:ext cx="1190" cy="367958"/>
          </a:xfrm>
          <a:prstGeom prst="line">
            <a:avLst/>
          </a:prstGeom>
          <a:ln w="57150">
            <a:solidFill>
              <a:srgbClr val="558ED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300667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heel(1)">
                                      <p:cBhvr>
                                        <p:cTn id="7" dur="500"/>
                                        <p:tgtEl>
                                          <p:spTgt spid="13"/>
                                        </p:tgtEl>
                                      </p:cBhvr>
                                    </p:animEffect>
                                  </p:childTnLst>
                                </p:cTn>
                              </p:par>
                            </p:childTnLst>
                          </p:cTn>
                        </p:par>
                        <p:par>
                          <p:cTn id="8" fill="hold">
                            <p:stCondLst>
                              <p:cond delay="500"/>
                            </p:stCondLst>
                            <p:childTnLst>
                              <p:par>
                                <p:cTn id="9" presetID="12" presetClass="entr" presetSubtype="2"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1000"/>
                                        <p:tgtEl>
                                          <p:spTgt spid="2"/>
                                        </p:tgtEl>
                                        <p:attrNameLst>
                                          <p:attrName>ppt_x</p:attrName>
                                        </p:attrNameLst>
                                      </p:cBhvr>
                                      <p:tavLst>
                                        <p:tav tm="0">
                                          <p:val>
                                            <p:strVal val="#ppt_x+#ppt_w*1.125000"/>
                                          </p:val>
                                        </p:tav>
                                        <p:tav tm="100000">
                                          <p:val>
                                            <p:strVal val="#ppt_x"/>
                                          </p:val>
                                        </p:tav>
                                      </p:tavLst>
                                    </p:anim>
                                    <p:animEffect transition="in" filter="wipe(left)">
                                      <p:cBhvr>
                                        <p:cTn id="12" dur="1000"/>
                                        <p:tgtEl>
                                          <p:spTgt spid="2"/>
                                        </p:tgtEl>
                                      </p:cBhvr>
                                    </p:animEffect>
                                  </p:childTnLst>
                                </p:cTn>
                              </p:par>
                            </p:childTnLst>
                          </p:cTn>
                        </p:par>
                        <p:par>
                          <p:cTn id="13" fill="hold">
                            <p:stCondLst>
                              <p:cond delay="1500"/>
                            </p:stCondLst>
                            <p:childTnLst>
                              <p:par>
                                <p:cTn id="14" presetID="22" presetClass="entr" presetSubtype="1" fill="hold"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up)">
                                      <p:cBhvr>
                                        <p:cTn id="16" dur="500"/>
                                        <p:tgtEl>
                                          <p:spTgt spid="12"/>
                                        </p:tgtEl>
                                      </p:cBhvr>
                                    </p:animEffect>
                                  </p:childTnLst>
                                </p:cTn>
                              </p:par>
                            </p:childTnLst>
                          </p:cTn>
                        </p:par>
                        <p:par>
                          <p:cTn id="17" fill="hold">
                            <p:stCondLst>
                              <p:cond delay="2000"/>
                            </p:stCondLst>
                            <p:childTnLst>
                              <p:par>
                                <p:cTn id="18" presetID="16" presetClass="entr" presetSubtype="37"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barn(outVertical)">
                                      <p:cBhvr>
                                        <p:cTn id="20" dur="500"/>
                                        <p:tgtEl>
                                          <p:spTgt spid="10"/>
                                        </p:tgtEl>
                                      </p:cBhvr>
                                    </p:animEffect>
                                  </p:childTnLst>
                                </p:cTn>
                              </p:par>
                            </p:childTnLst>
                          </p:cTn>
                        </p:par>
                        <p:par>
                          <p:cTn id="21" fill="hold">
                            <p:stCondLst>
                              <p:cond delay="2500"/>
                            </p:stCondLst>
                            <p:childTnLst>
                              <p:par>
                                <p:cTn id="22" presetID="16" presetClass="entr" presetSubtype="37"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barn(outVertical)">
                                      <p:cBhvr>
                                        <p:cTn id="24" dur="500"/>
                                        <p:tgtEl>
                                          <p:spTgt spid="8"/>
                                        </p:tgtEl>
                                      </p:cBhvr>
                                    </p:animEffect>
                                  </p:childTnLst>
                                </p:cTn>
                              </p:par>
                            </p:childTnLst>
                          </p:cTn>
                        </p:par>
                        <p:par>
                          <p:cTn id="25" fill="hold">
                            <p:stCondLst>
                              <p:cond delay="3000"/>
                            </p:stCondLst>
                            <p:childTnLst>
                              <p:par>
                                <p:cTn id="26" presetID="22" presetClass="entr" presetSubtype="2"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right)">
                                      <p:cBhvr>
                                        <p:cTn id="28" dur="500"/>
                                        <p:tgtEl>
                                          <p:spTgt spid="9"/>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childTnLst>
                          </p:cTn>
                        </p:par>
                        <p:par>
                          <p:cTn id="32" fill="hold">
                            <p:stCondLst>
                              <p:cond delay="3500"/>
                            </p:stCondLst>
                            <p:childTnLst>
                              <p:par>
                                <p:cTn id="33" presetID="22" presetClass="entr" presetSubtype="1" fill="hold"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wipe(up)">
                                      <p:cBhvr>
                                        <p:cTn id="35" dur="500"/>
                                        <p:tgtEl>
                                          <p:spTgt spid="27"/>
                                        </p:tgtEl>
                                      </p:cBhvr>
                                    </p:animEffect>
                                  </p:childTnLst>
                                </p:cTn>
                              </p:par>
                            </p:childTnLst>
                          </p:cTn>
                        </p:par>
                        <p:par>
                          <p:cTn id="36" fill="hold">
                            <p:stCondLst>
                              <p:cond delay="4000"/>
                            </p:stCondLst>
                            <p:childTnLst>
                              <p:par>
                                <p:cTn id="37" presetID="22" presetClass="entr" presetSubtype="1" fill="hold" nodeType="after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wipe(up)">
                                      <p:cBhvr>
                                        <p:cTn id="39" dur="500"/>
                                        <p:tgtEl>
                                          <p:spTgt spid="28"/>
                                        </p:tgtEl>
                                      </p:cBhvr>
                                    </p:animEffect>
                                  </p:childTnLst>
                                </p:cTn>
                              </p:par>
                            </p:childTnLst>
                          </p:cTn>
                        </p:par>
                        <p:par>
                          <p:cTn id="40" fill="hold">
                            <p:stCondLst>
                              <p:cond delay="4500"/>
                            </p:stCondLst>
                            <p:childTnLst>
                              <p:par>
                                <p:cTn id="41" presetID="21" presetClass="entr" presetSubtype="1" fill="hold" nodeType="after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wheel(1)">
                                      <p:cBhvr>
                                        <p:cTn id="43" dur="500"/>
                                        <p:tgtEl>
                                          <p:spTgt spid="29"/>
                                        </p:tgtEl>
                                      </p:cBhvr>
                                    </p:animEffect>
                                  </p:childTnLst>
                                </p:cTn>
                              </p:par>
                            </p:childTnLst>
                          </p:cTn>
                        </p:par>
                        <p:par>
                          <p:cTn id="44" fill="hold">
                            <p:stCondLst>
                              <p:cond delay="5000"/>
                            </p:stCondLst>
                            <p:childTnLst>
                              <p:par>
                                <p:cTn id="45" presetID="16" presetClass="entr" presetSubtype="37"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barn(outVertical)">
                                      <p:cBhvr>
                                        <p:cTn id="47" dur="500"/>
                                        <p:tgtEl>
                                          <p:spTgt spid="32"/>
                                        </p:tgtEl>
                                      </p:cBhvr>
                                    </p:animEffect>
                                  </p:childTnLst>
                                </p:cTn>
                              </p:par>
                            </p:childTnLst>
                          </p:cTn>
                        </p:par>
                        <p:par>
                          <p:cTn id="48" fill="hold">
                            <p:stCondLst>
                              <p:cond delay="5500"/>
                            </p:stCondLst>
                            <p:childTnLst>
                              <p:par>
                                <p:cTn id="49" presetID="21" presetClass="entr" presetSubtype="1" fill="hold" nodeType="after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wheel(1)">
                                      <p:cBhvr>
                                        <p:cTn id="51" dur="500"/>
                                        <p:tgtEl>
                                          <p:spTgt spid="33"/>
                                        </p:tgtEl>
                                      </p:cBhvr>
                                    </p:animEffect>
                                  </p:childTnLst>
                                </p:cTn>
                              </p:par>
                            </p:childTnLst>
                          </p:cTn>
                        </p:par>
                        <p:par>
                          <p:cTn id="52" fill="hold">
                            <p:stCondLst>
                              <p:cond delay="6000"/>
                            </p:stCondLst>
                            <p:childTnLst>
                              <p:par>
                                <p:cTn id="53" presetID="22" presetClass="entr" presetSubtype="1" fill="hold" nodeType="after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wipe(up)">
                                      <p:cBhvr>
                                        <p:cTn id="55"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bldLvl="0" animBg="1"/>
      <p:bldP spid="11" grpId="0" bldLvl="0" animBg="1"/>
      <p:bldP spid="32"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5353" y="709361"/>
            <a:ext cx="3456384" cy="2504211"/>
          </a:xfrm>
          <a:prstGeom prst="rect">
            <a:avLst/>
          </a:prstGeom>
          <a:noFill/>
          <a:ln>
            <a:noFill/>
          </a:ln>
        </p:spPr>
      </p:pic>
      <p:sp>
        <p:nvSpPr>
          <p:cNvPr id="3" name="矩形 2"/>
          <p:cNvSpPr/>
          <p:nvPr/>
        </p:nvSpPr>
        <p:spPr>
          <a:xfrm>
            <a:off x="538810" y="299432"/>
            <a:ext cx="2749471" cy="400110"/>
          </a:xfrm>
          <a:prstGeom prst="rect">
            <a:avLst/>
          </a:prstGeom>
        </p:spPr>
        <p:txBody>
          <a:bodyPr wrap="none">
            <a:spAutoFit/>
          </a:bodyPr>
          <a:lstStyle/>
          <a:p>
            <a:r>
              <a:rPr lang="zh-CN" altLang="zh-CN" sz="2000" b="1" dirty="0">
                <a:solidFill>
                  <a:srgbClr val="002060"/>
                </a:solidFill>
                <a:ea typeface="等线" panose="02010600030101010101" pitchFamily="2" charset="-122"/>
                <a:cs typeface="Times New Roman" panose="02020603050405020304" pitchFamily="18" charset="0"/>
              </a:rPr>
              <a:t>通用型六轴工业机械臂</a:t>
            </a:r>
            <a:endParaRPr lang="zh-CN" altLang="en-US" sz="2000" b="1" dirty="0">
              <a:solidFill>
                <a:srgbClr val="002060"/>
              </a:solidFill>
            </a:endParaRPr>
          </a:p>
        </p:txBody>
      </p:sp>
      <p:pic>
        <p:nvPicPr>
          <p:cNvPr id="5" name="图片 4"/>
          <p:cNvPicPr>
            <a:picLocks noChangeAspect="1"/>
          </p:cNvPicPr>
          <p:nvPr/>
        </p:nvPicPr>
        <p:blipFill rotWithShape="1">
          <a:blip r:embed="rId4"/>
          <a:srcRect b="14128"/>
          <a:stretch/>
        </p:blipFill>
        <p:spPr>
          <a:xfrm>
            <a:off x="3641737" y="709361"/>
            <a:ext cx="5342316" cy="2150421"/>
          </a:xfrm>
          <a:prstGeom prst="rect">
            <a:avLst/>
          </a:prstGeom>
        </p:spPr>
      </p:pic>
      <p:grpSp>
        <p:nvGrpSpPr>
          <p:cNvPr id="9" name="组合 8"/>
          <p:cNvGrpSpPr/>
          <p:nvPr/>
        </p:nvGrpSpPr>
        <p:grpSpPr>
          <a:xfrm>
            <a:off x="5738058" y="3253335"/>
            <a:ext cx="3245995" cy="1766687"/>
            <a:chOff x="200111" y="3223391"/>
            <a:chExt cx="3441626" cy="1703731"/>
          </a:xfrm>
        </p:grpSpPr>
        <p:pic>
          <p:nvPicPr>
            <p:cNvPr id="7" name="图片 6"/>
            <p:cNvPicPr>
              <a:picLocks noChangeAspect="1"/>
            </p:cNvPicPr>
            <p:nvPr/>
          </p:nvPicPr>
          <p:blipFill>
            <a:blip r:embed="rId5"/>
            <a:stretch>
              <a:fillRect/>
            </a:stretch>
          </p:blipFill>
          <p:spPr>
            <a:xfrm>
              <a:off x="1625513" y="3223391"/>
              <a:ext cx="2016224" cy="1703731"/>
            </a:xfrm>
            <a:prstGeom prst="rect">
              <a:avLst/>
            </a:prstGeom>
          </p:spPr>
        </p:pic>
        <p:pic>
          <p:nvPicPr>
            <p:cNvPr id="8" name="图片 7"/>
            <p:cNvPicPr>
              <a:picLocks noChangeAspect="1"/>
            </p:cNvPicPr>
            <p:nvPr/>
          </p:nvPicPr>
          <p:blipFill>
            <a:blip r:embed="rId6"/>
            <a:stretch>
              <a:fillRect/>
            </a:stretch>
          </p:blipFill>
          <p:spPr>
            <a:xfrm>
              <a:off x="200111" y="3229164"/>
              <a:ext cx="1469754" cy="1691553"/>
            </a:xfrm>
            <a:prstGeom prst="rect">
              <a:avLst/>
            </a:prstGeom>
          </p:spPr>
        </p:pic>
      </p:grpSp>
      <p:pic>
        <p:nvPicPr>
          <p:cNvPr id="11" name="图片 10"/>
          <p:cNvPicPr>
            <a:picLocks noChangeAspect="1"/>
          </p:cNvPicPr>
          <p:nvPr/>
        </p:nvPicPr>
        <p:blipFill>
          <a:blip r:embed="rId7"/>
          <a:stretch>
            <a:fillRect/>
          </a:stretch>
        </p:blipFill>
        <p:spPr>
          <a:xfrm>
            <a:off x="3580308" y="3223391"/>
            <a:ext cx="2157750" cy="1910779"/>
          </a:xfrm>
          <a:prstGeom prst="rect">
            <a:avLst/>
          </a:prstGeom>
        </p:spPr>
      </p:pic>
      <p:pic>
        <p:nvPicPr>
          <p:cNvPr id="12" name="图片 11"/>
          <p:cNvPicPr>
            <a:picLocks noChangeAspect="1"/>
          </p:cNvPicPr>
          <p:nvPr/>
        </p:nvPicPr>
        <p:blipFill>
          <a:blip r:embed="rId8"/>
          <a:stretch>
            <a:fillRect/>
          </a:stretch>
        </p:blipFill>
        <p:spPr>
          <a:xfrm>
            <a:off x="168533" y="3208440"/>
            <a:ext cx="3411775" cy="622681"/>
          </a:xfrm>
          <a:prstGeom prst="rect">
            <a:avLst/>
          </a:prstGeom>
        </p:spPr>
      </p:pic>
      <p:grpSp>
        <p:nvGrpSpPr>
          <p:cNvPr id="19" name="组合 18"/>
          <p:cNvGrpSpPr/>
          <p:nvPr/>
        </p:nvGrpSpPr>
        <p:grpSpPr>
          <a:xfrm>
            <a:off x="906974" y="3295399"/>
            <a:ext cx="432048" cy="428479"/>
            <a:chOff x="4355976" y="3295399"/>
            <a:chExt cx="432048" cy="428479"/>
          </a:xfrm>
        </p:grpSpPr>
        <p:cxnSp>
          <p:nvCxnSpPr>
            <p:cNvPr id="14" name="直接连接符 13"/>
            <p:cNvCxnSpPr/>
            <p:nvPr/>
          </p:nvCxnSpPr>
          <p:spPr>
            <a:xfrm>
              <a:off x="4355976" y="3507854"/>
              <a:ext cx="432048"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572000" y="3295399"/>
              <a:ext cx="0" cy="428479"/>
            </a:xfrm>
            <a:prstGeom prst="line">
              <a:avLst/>
            </a:prstGeom>
            <a:ln w="76200"/>
          </p:spPr>
          <p:style>
            <a:lnRef idx="1">
              <a:schemeClr val="accent1"/>
            </a:lnRef>
            <a:fillRef idx="0">
              <a:schemeClr val="accent1"/>
            </a:fillRef>
            <a:effectRef idx="0">
              <a:schemeClr val="accent1"/>
            </a:effectRef>
            <a:fontRef idx="minor">
              <a:schemeClr val="tx1"/>
            </a:fontRef>
          </p:style>
        </p:cxnSp>
      </p:grpSp>
      <p:sp>
        <p:nvSpPr>
          <p:cNvPr id="20" name="右箭头 19"/>
          <p:cNvSpPr/>
          <p:nvPr/>
        </p:nvSpPr>
        <p:spPr>
          <a:xfrm>
            <a:off x="2434020" y="3364159"/>
            <a:ext cx="432048"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p:cNvPicPr>
            <a:picLocks noChangeAspect="1"/>
          </p:cNvPicPr>
          <p:nvPr/>
        </p:nvPicPr>
        <p:blipFill>
          <a:blip r:embed="rId9"/>
          <a:stretch>
            <a:fillRect/>
          </a:stretch>
        </p:blipFill>
        <p:spPr>
          <a:xfrm>
            <a:off x="179512" y="3831121"/>
            <a:ext cx="3367423" cy="1303049"/>
          </a:xfrm>
          <a:prstGeom prst="rect">
            <a:avLst/>
          </a:prstGeom>
        </p:spPr>
      </p:pic>
      <p:sp>
        <p:nvSpPr>
          <p:cNvPr id="22" name="圆角矩形 21"/>
          <p:cNvSpPr/>
          <p:nvPr/>
        </p:nvSpPr>
        <p:spPr>
          <a:xfrm>
            <a:off x="168533" y="3147814"/>
            <a:ext cx="5483587" cy="199568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2345075" y="2815897"/>
            <a:ext cx="1145250" cy="369332"/>
          </a:xfrm>
          <a:prstGeom prst="rect">
            <a:avLst/>
          </a:prstGeom>
          <a:noFill/>
        </p:spPr>
        <p:txBody>
          <a:bodyPr wrap="none" rtlCol="0">
            <a:spAutoFit/>
          </a:bodyPr>
          <a:lstStyle/>
          <a:p>
            <a:r>
              <a:rPr lang="en-US" altLang="zh-CN" b="1" dirty="0" smtClean="0">
                <a:solidFill>
                  <a:srgbClr val="002060"/>
                </a:solidFill>
              </a:rPr>
              <a:t>RV</a:t>
            </a:r>
            <a:r>
              <a:rPr lang="zh-CN" altLang="en-US" b="1" dirty="0" smtClean="0">
                <a:solidFill>
                  <a:srgbClr val="002060"/>
                </a:solidFill>
              </a:rPr>
              <a:t>减速机</a:t>
            </a:r>
            <a:endParaRPr lang="zh-CN" altLang="en-US" b="1" dirty="0">
              <a:solidFill>
                <a:srgbClr val="002060"/>
              </a:solidFill>
            </a:endParaRPr>
          </a:p>
        </p:txBody>
      </p:sp>
      <p:sp>
        <p:nvSpPr>
          <p:cNvPr id="24" name="圆角矩形 23"/>
          <p:cNvSpPr/>
          <p:nvPr/>
        </p:nvSpPr>
        <p:spPr>
          <a:xfrm>
            <a:off x="5738058" y="3185229"/>
            <a:ext cx="3245995" cy="183479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6694416" y="2833965"/>
            <a:ext cx="1338828" cy="369332"/>
          </a:xfrm>
          <a:prstGeom prst="rect">
            <a:avLst/>
          </a:prstGeom>
          <a:noFill/>
        </p:spPr>
        <p:txBody>
          <a:bodyPr wrap="none" rtlCol="0">
            <a:spAutoFit/>
          </a:bodyPr>
          <a:lstStyle/>
          <a:p>
            <a:r>
              <a:rPr lang="zh-CN" altLang="en-US" b="1" dirty="0" smtClean="0">
                <a:solidFill>
                  <a:srgbClr val="FF0000"/>
                </a:solidFill>
              </a:rPr>
              <a:t>谐波减速机</a:t>
            </a:r>
            <a:endParaRPr lang="zh-CN" altLang="en-US" b="1" dirty="0">
              <a:solidFill>
                <a:srgbClr val="FF0000"/>
              </a:solidFill>
            </a:endParaRPr>
          </a:p>
        </p:txBody>
      </p:sp>
      <p:sp>
        <p:nvSpPr>
          <p:cNvPr id="26" name="文本框 25"/>
          <p:cNvSpPr txBox="1"/>
          <p:nvPr/>
        </p:nvSpPr>
        <p:spPr>
          <a:xfrm>
            <a:off x="5101672" y="421329"/>
            <a:ext cx="2852063" cy="338554"/>
          </a:xfrm>
          <a:prstGeom prst="rect">
            <a:avLst/>
          </a:prstGeom>
          <a:noFill/>
        </p:spPr>
        <p:txBody>
          <a:bodyPr wrap="none" rtlCol="0">
            <a:spAutoFit/>
          </a:bodyPr>
          <a:lstStyle/>
          <a:p>
            <a:r>
              <a:rPr lang="zh-CN" altLang="en-US" sz="1600" dirty="0" smtClean="0">
                <a:solidFill>
                  <a:srgbClr val="002060"/>
                </a:solidFill>
              </a:rPr>
              <a:t>四大工业机器人厂家命名习惯</a:t>
            </a:r>
            <a:endParaRPr lang="zh-CN" altLang="en-US" sz="1600" dirty="0">
              <a:solidFill>
                <a:srgbClr val="002060"/>
              </a:solidFill>
            </a:endParaRPr>
          </a:p>
        </p:txBody>
      </p:sp>
    </p:spTree>
    <p:extLst>
      <p:ext uri="{BB962C8B-B14F-4D97-AF65-F5344CB8AC3E}">
        <p14:creationId xmlns:p14="http://schemas.microsoft.com/office/powerpoint/2010/main" val="272817599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814814" y="267494"/>
            <a:ext cx="3416320" cy="369332"/>
          </a:xfrm>
          <a:prstGeom prst="rect">
            <a:avLst/>
          </a:prstGeom>
          <a:noFill/>
        </p:spPr>
        <p:txBody>
          <a:bodyPr wrap="none" rtlCol="0">
            <a:spAutoFit/>
          </a:bodyPr>
          <a:lstStyle/>
          <a:p>
            <a:r>
              <a:rPr lang="zh-CN" altLang="en-US" dirty="0" smtClean="0"/>
              <a:t>不同类型工业机器人的手腕选型</a:t>
            </a:r>
            <a:endParaRPr lang="zh-CN" altLang="en-US" dirty="0"/>
          </a:p>
        </p:txBody>
      </p:sp>
      <p:pic>
        <p:nvPicPr>
          <p:cNvPr id="4" name="图片 3"/>
          <p:cNvPicPr>
            <a:picLocks noChangeAspect="1"/>
          </p:cNvPicPr>
          <p:nvPr/>
        </p:nvPicPr>
        <p:blipFill>
          <a:blip r:embed="rId2"/>
          <a:stretch>
            <a:fillRect/>
          </a:stretch>
        </p:blipFill>
        <p:spPr>
          <a:xfrm>
            <a:off x="1927736" y="699542"/>
            <a:ext cx="5190476" cy="4238095"/>
          </a:xfrm>
          <a:prstGeom prst="rect">
            <a:avLst/>
          </a:prstGeom>
        </p:spPr>
      </p:pic>
    </p:spTree>
    <p:extLst>
      <p:ext uri="{BB962C8B-B14F-4D97-AF65-F5344CB8AC3E}">
        <p14:creationId xmlns:p14="http://schemas.microsoft.com/office/powerpoint/2010/main" val="427393114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2031325"/>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机器人运动学包括正运动学求解和逆运动学求解。运动学求解的难点一般在于如何快速求取运动学逆解。</a:t>
            </a:r>
          </a:p>
          <a:p>
            <a:pPr>
              <a:lnSpc>
                <a:spcPct val="150000"/>
              </a:lnSpc>
            </a:pPr>
            <a:r>
              <a:rPr lang="zh-CN" altLang="en-US" sz="1200" dirty="0">
                <a:latin typeface="Arial" panose="020B0604020202020204" pitchFamily="34" charset="0"/>
                <a:ea typeface="微软雅黑" panose="020B0503020204020204" charset="-122"/>
                <a:sym typeface="+mn-ea"/>
              </a:rPr>
              <a:t>机械臂的正运动学有多种建模方法，包括</a:t>
            </a:r>
            <a:r>
              <a:rPr lang="zh-CN" altLang="en-US" sz="1200" b="1" dirty="0">
                <a:solidFill>
                  <a:srgbClr val="002060"/>
                </a:solidFill>
                <a:latin typeface="Arial" panose="020B0604020202020204" pitchFamily="34" charset="0"/>
                <a:ea typeface="微软雅黑" panose="020B0503020204020204" charset="-122"/>
                <a:sym typeface="+mn-ea"/>
              </a:rPr>
              <a:t>几何建模方法</a:t>
            </a:r>
            <a:r>
              <a:rPr lang="zh-CN" altLang="en-US" sz="1200" dirty="0">
                <a:latin typeface="Arial" panose="020B0604020202020204" pitchFamily="34" charset="0"/>
                <a:ea typeface="微软雅黑" panose="020B0503020204020204" charset="-122"/>
                <a:sym typeface="+mn-ea"/>
              </a:rPr>
              <a:t>、</a:t>
            </a:r>
            <a:r>
              <a:rPr lang="en-US" altLang="zh-CN" sz="1200" b="1" dirty="0">
                <a:solidFill>
                  <a:srgbClr val="002060"/>
                </a:solidFill>
                <a:latin typeface="Arial" panose="020B0604020202020204" pitchFamily="34" charset="0"/>
                <a:ea typeface="微软雅黑" panose="020B0503020204020204" charset="-122"/>
                <a:sym typeface="+mn-ea"/>
              </a:rPr>
              <a:t>D-H</a:t>
            </a:r>
            <a:r>
              <a:rPr lang="zh-CN" altLang="en-US" sz="1200" b="1" dirty="0">
                <a:solidFill>
                  <a:srgbClr val="002060"/>
                </a:solidFill>
                <a:latin typeface="Arial" panose="020B0604020202020204" pitchFamily="34" charset="0"/>
                <a:ea typeface="微软雅黑" panose="020B0503020204020204" charset="-122"/>
                <a:sym typeface="+mn-ea"/>
              </a:rPr>
              <a:t>表示法模型</a:t>
            </a:r>
            <a:r>
              <a:rPr lang="zh-CN" altLang="en-US" sz="1200" dirty="0">
                <a:latin typeface="Arial" panose="020B0604020202020204" pitchFamily="34" charset="0"/>
                <a:ea typeface="微软雅黑" panose="020B0503020204020204" charset="-122"/>
                <a:sym typeface="+mn-ea"/>
              </a:rPr>
              <a:t>（包含</a:t>
            </a:r>
            <a:r>
              <a:rPr lang="en-US" altLang="zh-CN" sz="1200" dirty="0">
                <a:latin typeface="Arial" panose="020B0604020202020204" pitchFamily="34" charset="0"/>
                <a:ea typeface="微软雅黑" panose="020B0503020204020204" charset="-122"/>
                <a:sym typeface="+mn-ea"/>
              </a:rPr>
              <a:t>SDH</a:t>
            </a:r>
            <a:r>
              <a:rPr lang="zh-CN" altLang="en-US" sz="1200" dirty="0">
                <a:latin typeface="Arial" panose="020B0604020202020204" pitchFamily="34" charset="0"/>
                <a:ea typeface="微软雅黑" panose="020B0503020204020204" charset="-122"/>
                <a:sym typeface="+mn-ea"/>
              </a:rPr>
              <a:t>和</a:t>
            </a:r>
            <a:r>
              <a:rPr lang="en-US" altLang="zh-CN" sz="1200" dirty="0">
                <a:latin typeface="Arial" panose="020B0604020202020204" pitchFamily="34" charset="0"/>
                <a:ea typeface="微软雅黑" panose="020B0503020204020204" charset="-122"/>
                <a:sym typeface="+mn-ea"/>
              </a:rPr>
              <a:t>MDH</a:t>
            </a:r>
            <a:r>
              <a:rPr lang="zh-CN" altLang="en-US" sz="1200" dirty="0">
                <a:latin typeface="Arial" panose="020B0604020202020204" pitchFamily="34" charset="0"/>
                <a:ea typeface="微软雅黑" panose="020B0503020204020204" charset="-122"/>
                <a:sym typeface="+mn-ea"/>
              </a:rPr>
              <a:t>模型）、</a:t>
            </a:r>
            <a:r>
              <a:rPr lang="zh-CN" altLang="en-US" sz="1200" b="1" dirty="0">
                <a:solidFill>
                  <a:srgbClr val="002060"/>
                </a:solidFill>
                <a:latin typeface="Arial" panose="020B0604020202020204" pitchFamily="34" charset="0"/>
                <a:ea typeface="微软雅黑" panose="020B0503020204020204" charset="-122"/>
                <a:sym typeface="+mn-ea"/>
              </a:rPr>
              <a:t>旋量法</a:t>
            </a:r>
            <a:r>
              <a:rPr lang="zh-CN" altLang="en-US" sz="1200" dirty="0">
                <a:latin typeface="Arial" panose="020B0604020202020204" pitchFamily="34" charset="0"/>
                <a:ea typeface="微软雅黑" panose="020B0503020204020204" charset="-122"/>
                <a:sym typeface="+mn-ea"/>
              </a:rPr>
              <a:t>、</a:t>
            </a:r>
            <a:r>
              <a:rPr lang="zh-CN" altLang="en-US" sz="1200" b="1" dirty="0" smtClean="0">
                <a:solidFill>
                  <a:srgbClr val="002060"/>
                </a:solidFill>
                <a:latin typeface="Arial" panose="020B0604020202020204" pitchFamily="34" charset="0"/>
                <a:ea typeface="微软雅黑" panose="020B0503020204020204" charset="-122"/>
                <a:sym typeface="+mn-ea"/>
              </a:rPr>
              <a:t>四元数法</a:t>
            </a:r>
            <a:r>
              <a:rPr lang="zh-CN" altLang="en-US" sz="1200" dirty="0">
                <a:latin typeface="Arial" panose="020B0604020202020204" pitchFamily="34" charset="0"/>
                <a:ea typeface="微软雅黑" panose="020B0503020204020204" charset="-122"/>
                <a:sym typeface="+mn-ea"/>
              </a:rPr>
              <a:t>、</a:t>
            </a:r>
            <a:r>
              <a:rPr lang="zh-CN" altLang="en-US" sz="1200" b="1" dirty="0">
                <a:solidFill>
                  <a:srgbClr val="002060"/>
                </a:solidFill>
                <a:latin typeface="Arial" panose="020B0604020202020204" pitchFamily="34" charset="0"/>
                <a:ea typeface="微软雅黑" panose="020B0503020204020204" charset="-122"/>
                <a:sym typeface="+mn-ea"/>
              </a:rPr>
              <a:t>罗德里格斯参数法</a:t>
            </a:r>
            <a:r>
              <a:rPr lang="zh-CN" altLang="en-US" sz="1200" dirty="0">
                <a:latin typeface="Arial" panose="020B0604020202020204" pitchFamily="34" charset="0"/>
                <a:ea typeface="微软雅黑" panose="020B0503020204020204" charset="-122"/>
                <a:sym typeface="+mn-ea"/>
              </a:rPr>
              <a:t>、</a:t>
            </a:r>
            <a:r>
              <a:rPr lang="zh-CN" altLang="en-US" sz="1200" b="1" dirty="0">
                <a:solidFill>
                  <a:srgbClr val="002060"/>
                </a:solidFill>
                <a:latin typeface="Arial" panose="020B0604020202020204" pitchFamily="34" charset="0"/>
                <a:ea typeface="微软雅黑" panose="020B0503020204020204" charset="-122"/>
                <a:sym typeface="+mn-ea"/>
              </a:rPr>
              <a:t>对偶四元数法</a:t>
            </a:r>
            <a:r>
              <a:rPr lang="zh-CN" altLang="en-US" sz="1200" dirty="0">
                <a:latin typeface="Arial" panose="020B0604020202020204" pitchFamily="34" charset="0"/>
                <a:ea typeface="微软雅黑" panose="020B0503020204020204" charset="-122"/>
                <a:sym typeface="+mn-ea"/>
              </a:rPr>
              <a:t>等。</a:t>
            </a:r>
          </a:p>
          <a:p>
            <a:pPr>
              <a:lnSpc>
                <a:spcPct val="150000"/>
              </a:lnSpc>
            </a:pPr>
            <a:r>
              <a:rPr lang="zh-CN" altLang="en-US" sz="1200" dirty="0">
                <a:latin typeface="Arial" panose="020B0604020202020204" pitchFamily="34" charset="0"/>
                <a:ea typeface="微软雅黑" panose="020B0503020204020204" charset="-122"/>
                <a:sym typeface="+mn-ea"/>
              </a:rPr>
              <a:t>机械臂运动学逆解方法可分为</a:t>
            </a:r>
            <a:r>
              <a:rPr lang="zh-CN" altLang="en-US" sz="1200" b="1" dirty="0">
                <a:solidFill>
                  <a:srgbClr val="002060"/>
                </a:solidFill>
                <a:latin typeface="Arial" panose="020B0604020202020204" pitchFamily="34" charset="0"/>
                <a:ea typeface="微软雅黑" panose="020B0503020204020204" charset="-122"/>
                <a:sym typeface="+mn-ea"/>
              </a:rPr>
              <a:t>封闭解法</a:t>
            </a:r>
            <a:r>
              <a:rPr lang="zh-CN" altLang="en-US" sz="1200" dirty="0">
                <a:latin typeface="Arial" panose="020B0604020202020204" pitchFamily="34" charset="0"/>
                <a:ea typeface="微软雅黑" panose="020B0503020204020204" charset="-122"/>
                <a:sym typeface="+mn-ea"/>
              </a:rPr>
              <a:t>和</a:t>
            </a:r>
            <a:r>
              <a:rPr lang="zh-CN" altLang="en-US" sz="1200" b="1" dirty="0">
                <a:solidFill>
                  <a:srgbClr val="002060"/>
                </a:solidFill>
                <a:latin typeface="Arial" panose="020B0604020202020204" pitchFamily="34" charset="0"/>
                <a:ea typeface="微软雅黑" panose="020B0503020204020204" charset="-122"/>
                <a:sym typeface="+mn-ea"/>
              </a:rPr>
              <a:t>数值解法</a:t>
            </a:r>
            <a:r>
              <a:rPr lang="zh-CN" altLang="en-US" sz="1200" dirty="0">
                <a:latin typeface="Arial" panose="020B0604020202020204" pitchFamily="34" charset="0"/>
                <a:ea typeface="微软雅黑" panose="020B0503020204020204" charset="-122"/>
                <a:sym typeface="+mn-ea"/>
              </a:rPr>
              <a:t>两大类。</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7" name="文本框 6"/>
          <p:cNvSpPr txBox="1"/>
          <p:nvPr/>
        </p:nvSpPr>
        <p:spPr>
          <a:xfrm>
            <a:off x="4319270" y="1951355"/>
            <a:ext cx="4501202" cy="523220"/>
          </a:xfrm>
          <a:prstGeom prst="rect">
            <a:avLst/>
          </a:prstGeom>
          <a:noFill/>
        </p:spPr>
        <p:txBody>
          <a:bodyPr wrap="square" rtlCol="0" anchor="t">
            <a:spAutoFit/>
          </a:bodyPr>
          <a:lstStyle/>
          <a:p>
            <a:r>
              <a:rPr lang="zh-CN" altLang="en-US" sz="2800" b="1" dirty="0">
                <a:latin typeface="Arial" panose="020B0604020202020204" pitchFamily="34" charset="0"/>
                <a:ea typeface="微软雅黑" panose="020B0503020204020204" charset="-122"/>
                <a:sym typeface="+mn-ea"/>
              </a:rPr>
              <a:t>多轴</a:t>
            </a:r>
            <a:r>
              <a:rPr lang="zh-CN" altLang="en-US" sz="2800" b="1" dirty="0" smtClean="0">
                <a:latin typeface="Arial" panose="020B0604020202020204" pitchFamily="34" charset="0"/>
                <a:ea typeface="微软雅黑" panose="020B0503020204020204" charset="-122"/>
                <a:sym typeface="+mn-ea"/>
              </a:rPr>
              <a:t>串联</a:t>
            </a:r>
            <a:r>
              <a:rPr lang="zh-CN" altLang="en-US" sz="2800" b="1" dirty="0">
                <a:latin typeface="Arial" panose="020B0604020202020204" pitchFamily="34" charset="0"/>
                <a:ea typeface="微软雅黑" panose="020B0503020204020204" charset="-122"/>
                <a:sym typeface="+mn-ea"/>
              </a:rPr>
              <a:t>机器人运动学分类</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05</a:t>
            </a:r>
            <a:endParaRPr lang="en-US" altLang="zh-CN" sz="6600" b="1" dirty="0">
              <a:solidFill>
                <a:schemeClr val="bg1"/>
              </a:solidFill>
              <a:latin typeface="微软雅黑" panose="020B0503020204020204" charset="-122"/>
              <a:ea typeface="微软雅黑" panose="020B0503020204020204" charset="-122"/>
              <a:sym typeface="+mn-ea"/>
            </a:endParaRPr>
          </a:p>
        </p:txBody>
      </p:sp>
    </p:spTree>
    <p:extLst>
      <p:ext uri="{BB962C8B-B14F-4D97-AF65-F5344CB8AC3E}">
        <p14:creationId xmlns:p14="http://schemas.microsoft.com/office/powerpoint/2010/main" val="351087685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任意多边形 37"/>
          <p:cNvSpPr/>
          <p:nvPr>
            <p:custDataLst>
              <p:tags r:id="rId1"/>
            </p:custDataLst>
          </p:nvPr>
        </p:nvSpPr>
        <p:spPr>
          <a:xfrm flipH="1">
            <a:off x="4559299" y="1720967"/>
            <a:ext cx="1184342" cy="1186064"/>
          </a:xfrm>
          <a:custGeom>
            <a:avLst/>
            <a:gdLst>
              <a:gd name="connsiteX0" fmla="*/ 651443 w 1055744"/>
              <a:gd name="connsiteY0" fmla="*/ 0 h 1057279"/>
              <a:gd name="connsiteX1" fmla="*/ 614774 w 1055744"/>
              <a:gd name="connsiteY1" fmla="*/ 13421 h 1057279"/>
              <a:gd name="connsiteX2" fmla="*/ 34573 w 1055744"/>
              <a:gd name="connsiteY2" fmla="*/ 566126 h 1057279"/>
              <a:gd name="connsiteX3" fmla="*/ 0 w 1055744"/>
              <a:gd name="connsiteY3" fmla="*/ 653872 h 1057279"/>
              <a:gd name="connsiteX4" fmla="*/ 67649 w 1055744"/>
              <a:gd name="connsiteY4" fmla="*/ 660692 h 1057279"/>
              <a:gd name="connsiteX5" fmla="*/ 390877 w 1055744"/>
              <a:gd name="connsiteY5" fmla="*/ 1057279 h 1057279"/>
              <a:gd name="connsiteX6" fmla="*/ 1055744 w 1055744"/>
              <a:gd name="connsiteY6" fmla="*/ 1057279 h 1057279"/>
              <a:gd name="connsiteX7" fmla="*/ 1055744 w 1055744"/>
              <a:gd name="connsiteY7" fmla="*/ 399748 h 1057279"/>
              <a:gd name="connsiteX8" fmla="*/ 659157 w 1055744"/>
              <a:gd name="connsiteY8" fmla="*/ 76520 h 1057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5744" h="1057279">
                <a:moveTo>
                  <a:pt x="651443" y="0"/>
                </a:moveTo>
                <a:lnTo>
                  <a:pt x="614774" y="13421"/>
                </a:lnTo>
                <a:cubicBezTo>
                  <a:pt x="360642" y="120909"/>
                  <a:pt x="153896" y="318491"/>
                  <a:pt x="34573" y="566126"/>
                </a:cubicBezTo>
                <a:lnTo>
                  <a:pt x="0" y="653872"/>
                </a:lnTo>
                <a:lnTo>
                  <a:pt x="67649" y="660692"/>
                </a:lnTo>
                <a:cubicBezTo>
                  <a:pt x="252115" y="698439"/>
                  <a:pt x="390877" y="861654"/>
                  <a:pt x="390877" y="1057279"/>
                </a:cubicBezTo>
                <a:lnTo>
                  <a:pt x="1055744" y="1057279"/>
                </a:lnTo>
                <a:lnTo>
                  <a:pt x="1055744" y="399748"/>
                </a:lnTo>
                <a:cubicBezTo>
                  <a:pt x="860120" y="399748"/>
                  <a:pt x="696904" y="260985"/>
                  <a:pt x="659157" y="76520"/>
                </a:cubicBezTo>
                <a:close/>
              </a:path>
            </a:pathLst>
          </a:custGeom>
          <a:solidFill>
            <a:srgbClr val="0065B0"/>
          </a:solidFill>
          <a:ln w="12700" cap="flat" cmpd="sng" algn="ctr">
            <a:noFill/>
            <a:prstDash val="solid"/>
            <a:miter lim="800000"/>
          </a:ln>
          <a:effectLst/>
        </p:spPr>
        <p:txBody>
          <a:bodyPr wrap="square" lIns="68580" tIns="34290" rIns="68580" bIns="34290" anchor="ctr">
            <a:normAutofit/>
          </a:bodyPr>
          <a:lstStyle/>
          <a:p>
            <a:pPr algn="ctr"/>
            <a:endParaRPr sz="1350"/>
          </a:p>
        </p:txBody>
      </p:sp>
      <p:sp>
        <p:nvSpPr>
          <p:cNvPr id="39" name="任意多边形 38"/>
          <p:cNvSpPr/>
          <p:nvPr>
            <p:custDataLst>
              <p:tags r:id="rId2"/>
            </p:custDataLst>
          </p:nvPr>
        </p:nvSpPr>
        <p:spPr>
          <a:xfrm>
            <a:off x="3374959" y="1334630"/>
            <a:ext cx="1184342" cy="1186064"/>
          </a:xfrm>
          <a:custGeom>
            <a:avLst/>
            <a:gdLst>
              <a:gd name="connsiteX0" fmla="*/ 651443 w 1055744"/>
              <a:gd name="connsiteY0" fmla="*/ 0 h 1057279"/>
              <a:gd name="connsiteX1" fmla="*/ 614774 w 1055744"/>
              <a:gd name="connsiteY1" fmla="*/ 13421 h 1057279"/>
              <a:gd name="connsiteX2" fmla="*/ 34573 w 1055744"/>
              <a:gd name="connsiteY2" fmla="*/ 566126 h 1057279"/>
              <a:gd name="connsiteX3" fmla="*/ 0 w 1055744"/>
              <a:gd name="connsiteY3" fmla="*/ 653872 h 1057279"/>
              <a:gd name="connsiteX4" fmla="*/ 67649 w 1055744"/>
              <a:gd name="connsiteY4" fmla="*/ 660692 h 1057279"/>
              <a:gd name="connsiteX5" fmla="*/ 390877 w 1055744"/>
              <a:gd name="connsiteY5" fmla="*/ 1057279 h 1057279"/>
              <a:gd name="connsiteX6" fmla="*/ 1055744 w 1055744"/>
              <a:gd name="connsiteY6" fmla="*/ 1057279 h 1057279"/>
              <a:gd name="connsiteX7" fmla="*/ 1055744 w 1055744"/>
              <a:gd name="connsiteY7" fmla="*/ 399748 h 1057279"/>
              <a:gd name="connsiteX8" fmla="*/ 659157 w 1055744"/>
              <a:gd name="connsiteY8" fmla="*/ 76520 h 1057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5744" h="1057279">
                <a:moveTo>
                  <a:pt x="651443" y="0"/>
                </a:moveTo>
                <a:lnTo>
                  <a:pt x="614774" y="13421"/>
                </a:lnTo>
                <a:cubicBezTo>
                  <a:pt x="360642" y="120909"/>
                  <a:pt x="153896" y="318491"/>
                  <a:pt x="34573" y="566126"/>
                </a:cubicBezTo>
                <a:lnTo>
                  <a:pt x="0" y="653872"/>
                </a:lnTo>
                <a:lnTo>
                  <a:pt x="67649" y="660692"/>
                </a:lnTo>
                <a:cubicBezTo>
                  <a:pt x="252115" y="698439"/>
                  <a:pt x="390877" y="861654"/>
                  <a:pt x="390877" y="1057279"/>
                </a:cubicBezTo>
                <a:lnTo>
                  <a:pt x="1055744" y="1057279"/>
                </a:lnTo>
                <a:lnTo>
                  <a:pt x="1055744" y="399748"/>
                </a:lnTo>
                <a:cubicBezTo>
                  <a:pt x="860120" y="399748"/>
                  <a:pt x="696904" y="260985"/>
                  <a:pt x="659157" y="76520"/>
                </a:cubicBezTo>
                <a:close/>
              </a:path>
            </a:pathLst>
          </a:custGeom>
          <a:solidFill>
            <a:srgbClr val="558ED5"/>
          </a:solidFill>
          <a:ln w="12700" cap="flat" cmpd="sng" algn="ctr">
            <a:noFill/>
            <a:prstDash val="solid"/>
            <a:miter lim="800000"/>
          </a:ln>
          <a:effectLst/>
        </p:spPr>
        <p:txBody>
          <a:bodyPr wrap="square" lIns="68580" tIns="34290" rIns="68580" bIns="34290" anchor="ctr">
            <a:normAutofit/>
          </a:bodyPr>
          <a:lstStyle/>
          <a:p>
            <a:pPr algn="ctr"/>
            <a:endParaRPr sz="1350"/>
          </a:p>
        </p:txBody>
      </p:sp>
      <p:sp>
        <p:nvSpPr>
          <p:cNvPr id="40" name="任意多边形 39"/>
          <p:cNvSpPr/>
          <p:nvPr>
            <p:custDataLst>
              <p:tags r:id="rId3"/>
            </p:custDataLst>
          </p:nvPr>
        </p:nvSpPr>
        <p:spPr>
          <a:xfrm flipH="1" flipV="1">
            <a:off x="4559299" y="2835275"/>
            <a:ext cx="1184342" cy="1186064"/>
          </a:xfrm>
          <a:custGeom>
            <a:avLst/>
            <a:gdLst>
              <a:gd name="connsiteX0" fmla="*/ 651443 w 1055744"/>
              <a:gd name="connsiteY0" fmla="*/ 0 h 1057279"/>
              <a:gd name="connsiteX1" fmla="*/ 614774 w 1055744"/>
              <a:gd name="connsiteY1" fmla="*/ 13421 h 1057279"/>
              <a:gd name="connsiteX2" fmla="*/ 34573 w 1055744"/>
              <a:gd name="connsiteY2" fmla="*/ 566126 h 1057279"/>
              <a:gd name="connsiteX3" fmla="*/ 0 w 1055744"/>
              <a:gd name="connsiteY3" fmla="*/ 653872 h 1057279"/>
              <a:gd name="connsiteX4" fmla="*/ 67649 w 1055744"/>
              <a:gd name="connsiteY4" fmla="*/ 660692 h 1057279"/>
              <a:gd name="connsiteX5" fmla="*/ 390877 w 1055744"/>
              <a:gd name="connsiteY5" fmla="*/ 1057279 h 1057279"/>
              <a:gd name="connsiteX6" fmla="*/ 1055744 w 1055744"/>
              <a:gd name="connsiteY6" fmla="*/ 1057279 h 1057279"/>
              <a:gd name="connsiteX7" fmla="*/ 1055744 w 1055744"/>
              <a:gd name="connsiteY7" fmla="*/ 399748 h 1057279"/>
              <a:gd name="connsiteX8" fmla="*/ 659157 w 1055744"/>
              <a:gd name="connsiteY8" fmla="*/ 76520 h 1057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5744" h="1057279">
                <a:moveTo>
                  <a:pt x="651443" y="0"/>
                </a:moveTo>
                <a:lnTo>
                  <a:pt x="614774" y="13421"/>
                </a:lnTo>
                <a:cubicBezTo>
                  <a:pt x="360642" y="120909"/>
                  <a:pt x="153896" y="318491"/>
                  <a:pt x="34573" y="566126"/>
                </a:cubicBezTo>
                <a:lnTo>
                  <a:pt x="0" y="653872"/>
                </a:lnTo>
                <a:lnTo>
                  <a:pt x="67649" y="660692"/>
                </a:lnTo>
                <a:cubicBezTo>
                  <a:pt x="252115" y="698439"/>
                  <a:pt x="390877" y="861654"/>
                  <a:pt x="390877" y="1057279"/>
                </a:cubicBezTo>
                <a:lnTo>
                  <a:pt x="1055744" y="1057279"/>
                </a:lnTo>
                <a:lnTo>
                  <a:pt x="1055744" y="399748"/>
                </a:lnTo>
                <a:cubicBezTo>
                  <a:pt x="860120" y="399748"/>
                  <a:pt x="696904" y="260985"/>
                  <a:pt x="659157" y="76520"/>
                </a:cubicBezTo>
                <a:close/>
              </a:path>
            </a:pathLst>
          </a:custGeom>
          <a:solidFill>
            <a:srgbClr val="0065B0"/>
          </a:solidFill>
          <a:ln w="12700" cap="flat" cmpd="sng" algn="ctr">
            <a:noFill/>
            <a:prstDash val="solid"/>
            <a:miter lim="800000"/>
          </a:ln>
          <a:effectLst/>
        </p:spPr>
        <p:txBody>
          <a:bodyPr wrap="square" lIns="68580" tIns="34290" rIns="68580" bIns="34290" anchor="ctr">
            <a:normAutofit/>
          </a:bodyPr>
          <a:lstStyle/>
          <a:p>
            <a:pPr algn="ctr"/>
            <a:endParaRPr sz="1350"/>
          </a:p>
        </p:txBody>
      </p:sp>
      <p:sp>
        <p:nvSpPr>
          <p:cNvPr id="41" name="任意多边形 40"/>
          <p:cNvSpPr/>
          <p:nvPr>
            <p:custDataLst>
              <p:tags r:id="rId4"/>
            </p:custDataLst>
          </p:nvPr>
        </p:nvSpPr>
        <p:spPr>
          <a:xfrm flipV="1">
            <a:off x="3374959" y="2520694"/>
            <a:ext cx="1184342" cy="1186064"/>
          </a:xfrm>
          <a:custGeom>
            <a:avLst/>
            <a:gdLst>
              <a:gd name="connsiteX0" fmla="*/ 651443 w 1055744"/>
              <a:gd name="connsiteY0" fmla="*/ 0 h 1057279"/>
              <a:gd name="connsiteX1" fmla="*/ 614774 w 1055744"/>
              <a:gd name="connsiteY1" fmla="*/ 13421 h 1057279"/>
              <a:gd name="connsiteX2" fmla="*/ 34573 w 1055744"/>
              <a:gd name="connsiteY2" fmla="*/ 566126 h 1057279"/>
              <a:gd name="connsiteX3" fmla="*/ 0 w 1055744"/>
              <a:gd name="connsiteY3" fmla="*/ 653872 h 1057279"/>
              <a:gd name="connsiteX4" fmla="*/ 67649 w 1055744"/>
              <a:gd name="connsiteY4" fmla="*/ 660692 h 1057279"/>
              <a:gd name="connsiteX5" fmla="*/ 390877 w 1055744"/>
              <a:gd name="connsiteY5" fmla="*/ 1057279 h 1057279"/>
              <a:gd name="connsiteX6" fmla="*/ 1055744 w 1055744"/>
              <a:gd name="connsiteY6" fmla="*/ 1057279 h 1057279"/>
              <a:gd name="connsiteX7" fmla="*/ 1055744 w 1055744"/>
              <a:gd name="connsiteY7" fmla="*/ 399748 h 1057279"/>
              <a:gd name="connsiteX8" fmla="*/ 659157 w 1055744"/>
              <a:gd name="connsiteY8" fmla="*/ 76520 h 1057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5744" h="1057279">
                <a:moveTo>
                  <a:pt x="651443" y="0"/>
                </a:moveTo>
                <a:lnTo>
                  <a:pt x="614774" y="13421"/>
                </a:lnTo>
                <a:cubicBezTo>
                  <a:pt x="360642" y="120909"/>
                  <a:pt x="153896" y="318491"/>
                  <a:pt x="34573" y="566126"/>
                </a:cubicBezTo>
                <a:lnTo>
                  <a:pt x="0" y="653872"/>
                </a:lnTo>
                <a:lnTo>
                  <a:pt x="67649" y="660692"/>
                </a:lnTo>
                <a:cubicBezTo>
                  <a:pt x="252115" y="698439"/>
                  <a:pt x="390877" y="861654"/>
                  <a:pt x="390877" y="1057279"/>
                </a:cubicBezTo>
                <a:lnTo>
                  <a:pt x="1055744" y="1057279"/>
                </a:lnTo>
                <a:lnTo>
                  <a:pt x="1055744" y="399748"/>
                </a:lnTo>
                <a:cubicBezTo>
                  <a:pt x="860120" y="399748"/>
                  <a:pt x="696904" y="260985"/>
                  <a:pt x="659157" y="76520"/>
                </a:cubicBezTo>
                <a:close/>
              </a:path>
            </a:pathLst>
          </a:custGeom>
          <a:solidFill>
            <a:srgbClr val="558ED5"/>
          </a:solidFill>
          <a:ln w="12700" cap="flat" cmpd="sng" algn="ctr">
            <a:noFill/>
            <a:prstDash val="solid"/>
            <a:miter lim="800000"/>
          </a:ln>
          <a:effectLst/>
        </p:spPr>
        <p:txBody>
          <a:bodyPr wrap="square" lIns="68580" tIns="34290" rIns="68580" bIns="34290" anchor="ctr">
            <a:normAutofit/>
          </a:bodyPr>
          <a:lstStyle/>
          <a:p>
            <a:pPr algn="ctr"/>
            <a:endParaRPr sz="1350"/>
          </a:p>
        </p:txBody>
      </p:sp>
      <p:sp>
        <p:nvSpPr>
          <p:cNvPr id="42" name="任意多边形 41"/>
          <p:cNvSpPr/>
          <p:nvPr>
            <p:custDataLst>
              <p:tags r:id="rId5"/>
            </p:custDataLst>
          </p:nvPr>
        </p:nvSpPr>
        <p:spPr>
          <a:xfrm>
            <a:off x="4809252" y="2689015"/>
            <a:ext cx="358169" cy="379913"/>
          </a:xfrm>
          <a:custGeom>
            <a:avLst/>
            <a:gdLst>
              <a:gd name="connsiteX0" fmla="*/ 459431 w 571597"/>
              <a:gd name="connsiteY0" fmla="*/ 368750 h 606298"/>
              <a:gd name="connsiteX1" fmla="*/ 407567 w 571597"/>
              <a:gd name="connsiteY1" fmla="*/ 390187 h 606298"/>
              <a:gd name="connsiteX2" fmla="*/ 407567 w 571597"/>
              <a:gd name="connsiteY2" fmla="*/ 493782 h 606298"/>
              <a:gd name="connsiteX3" fmla="*/ 459431 w 571597"/>
              <a:gd name="connsiteY3" fmla="*/ 515095 h 606298"/>
              <a:gd name="connsiteX4" fmla="*/ 511296 w 571597"/>
              <a:gd name="connsiteY4" fmla="*/ 493782 h 606298"/>
              <a:gd name="connsiteX5" fmla="*/ 532761 w 571597"/>
              <a:gd name="connsiteY5" fmla="*/ 441985 h 606298"/>
              <a:gd name="connsiteX6" fmla="*/ 511296 w 571597"/>
              <a:gd name="connsiteY6" fmla="*/ 390187 h 606298"/>
              <a:gd name="connsiteX7" fmla="*/ 459431 w 571597"/>
              <a:gd name="connsiteY7" fmla="*/ 368750 h 606298"/>
              <a:gd name="connsiteX8" fmla="*/ 459431 w 571597"/>
              <a:gd name="connsiteY8" fmla="*/ 329964 h 606298"/>
              <a:gd name="connsiteX9" fmla="*/ 538717 w 571597"/>
              <a:gd name="connsiteY9" fmla="*/ 362678 h 606298"/>
              <a:gd name="connsiteX10" fmla="*/ 571597 w 571597"/>
              <a:gd name="connsiteY10" fmla="*/ 441985 h 606298"/>
              <a:gd name="connsiteX11" fmla="*/ 538717 w 571597"/>
              <a:gd name="connsiteY11" fmla="*/ 521167 h 606298"/>
              <a:gd name="connsiteX12" fmla="*/ 459431 w 571597"/>
              <a:gd name="connsiteY12" fmla="*/ 553881 h 606298"/>
              <a:gd name="connsiteX13" fmla="*/ 404093 w 571597"/>
              <a:gd name="connsiteY13" fmla="*/ 539383 h 606298"/>
              <a:gd name="connsiteX14" fmla="*/ 400246 w 571597"/>
              <a:gd name="connsiteY14" fmla="*/ 537276 h 606298"/>
              <a:gd name="connsiteX15" fmla="*/ 338580 w 571597"/>
              <a:gd name="connsiteY15" fmla="*/ 598863 h 606298"/>
              <a:gd name="connsiteX16" fmla="*/ 320465 w 571597"/>
              <a:gd name="connsiteY16" fmla="*/ 606298 h 606298"/>
              <a:gd name="connsiteX17" fmla="*/ 302350 w 571597"/>
              <a:gd name="connsiteY17" fmla="*/ 598863 h 606298"/>
              <a:gd name="connsiteX18" fmla="*/ 302350 w 571597"/>
              <a:gd name="connsiteY18" fmla="*/ 562679 h 606298"/>
              <a:gd name="connsiteX19" fmla="*/ 364016 w 571597"/>
              <a:gd name="connsiteY19" fmla="*/ 500969 h 606298"/>
              <a:gd name="connsiteX20" fmla="*/ 361783 w 571597"/>
              <a:gd name="connsiteY20" fmla="*/ 497251 h 606298"/>
              <a:gd name="connsiteX21" fmla="*/ 380022 w 571597"/>
              <a:gd name="connsiteY21" fmla="*/ 362678 h 606298"/>
              <a:gd name="connsiteX22" fmla="*/ 459431 w 571597"/>
              <a:gd name="connsiteY22" fmla="*/ 329964 h 606298"/>
              <a:gd name="connsiteX23" fmla="*/ 164803 w 571597"/>
              <a:gd name="connsiteY23" fmla="*/ 311798 h 606298"/>
              <a:gd name="connsiteX24" fmla="*/ 174979 w 571597"/>
              <a:gd name="connsiteY24" fmla="*/ 312665 h 606298"/>
              <a:gd name="connsiteX25" fmla="*/ 223998 w 571597"/>
              <a:gd name="connsiteY25" fmla="*/ 336327 h 606298"/>
              <a:gd name="connsiteX26" fmla="*/ 230699 w 571597"/>
              <a:gd name="connsiteY26" fmla="*/ 342149 h 606298"/>
              <a:gd name="connsiteX27" fmla="*/ 248445 w 571597"/>
              <a:gd name="connsiteY27" fmla="*/ 388853 h 606298"/>
              <a:gd name="connsiteX28" fmla="*/ 266192 w 571597"/>
              <a:gd name="connsiteY28" fmla="*/ 342149 h 606298"/>
              <a:gd name="connsiteX29" fmla="*/ 272893 w 571597"/>
              <a:gd name="connsiteY29" fmla="*/ 336327 h 606298"/>
              <a:gd name="connsiteX30" fmla="*/ 321788 w 571597"/>
              <a:gd name="connsiteY30" fmla="*/ 312665 h 606298"/>
              <a:gd name="connsiteX31" fmla="*/ 332088 w 571597"/>
              <a:gd name="connsiteY31" fmla="*/ 311798 h 606298"/>
              <a:gd name="connsiteX32" fmla="*/ 332585 w 571597"/>
              <a:gd name="connsiteY32" fmla="*/ 312170 h 606298"/>
              <a:gd name="connsiteX33" fmla="*/ 380859 w 571597"/>
              <a:gd name="connsiteY33" fmla="*/ 338061 h 606298"/>
              <a:gd name="connsiteX34" fmla="*/ 367208 w 571597"/>
              <a:gd name="connsiteY34" fmla="*/ 349954 h 606298"/>
              <a:gd name="connsiteX35" fmla="*/ 341520 w 571597"/>
              <a:gd name="connsiteY35" fmla="*/ 497744 h 606298"/>
              <a:gd name="connsiteX36" fmla="*/ 289398 w 571597"/>
              <a:gd name="connsiteY36" fmla="*/ 549775 h 606298"/>
              <a:gd name="connsiteX37" fmla="*/ 276740 w 571597"/>
              <a:gd name="connsiteY37" fmla="*/ 577276 h 606298"/>
              <a:gd name="connsiteX38" fmla="*/ 248445 w 571597"/>
              <a:gd name="connsiteY38" fmla="*/ 577648 h 606298"/>
              <a:gd name="connsiteX39" fmla="*/ 496 w 571597"/>
              <a:gd name="connsiteY39" fmla="*/ 497497 h 606298"/>
              <a:gd name="connsiteX40" fmla="*/ 124 w 571597"/>
              <a:gd name="connsiteY40" fmla="*/ 492913 h 606298"/>
              <a:gd name="connsiteX41" fmla="*/ 49267 w 571597"/>
              <a:gd name="connsiteY41" fmla="*/ 376464 h 606298"/>
              <a:gd name="connsiteX42" fmla="*/ 164803 w 571597"/>
              <a:gd name="connsiteY42" fmla="*/ 311798 h 606298"/>
              <a:gd name="connsiteX43" fmla="*/ 248478 w 571597"/>
              <a:gd name="connsiteY43" fmla="*/ 114259 h 606298"/>
              <a:gd name="connsiteX44" fmla="*/ 152788 w 571597"/>
              <a:gd name="connsiteY44" fmla="*/ 155526 h 606298"/>
              <a:gd name="connsiteX45" fmla="*/ 134544 w 571597"/>
              <a:gd name="connsiteY45" fmla="*/ 138053 h 606298"/>
              <a:gd name="connsiteX46" fmla="*/ 134171 w 571597"/>
              <a:gd name="connsiteY46" fmla="*/ 162962 h 606298"/>
              <a:gd name="connsiteX47" fmla="*/ 179844 w 571597"/>
              <a:gd name="connsiteY47" fmla="*/ 273256 h 606298"/>
              <a:gd name="connsiteX48" fmla="*/ 248478 w 571597"/>
              <a:gd name="connsiteY48" fmla="*/ 306344 h 606298"/>
              <a:gd name="connsiteX49" fmla="*/ 317112 w 571597"/>
              <a:gd name="connsiteY49" fmla="*/ 273256 h 606298"/>
              <a:gd name="connsiteX50" fmla="*/ 362785 w 571597"/>
              <a:gd name="connsiteY50" fmla="*/ 162962 h 606298"/>
              <a:gd name="connsiteX51" fmla="*/ 362288 w 571597"/>
              <a:gd name="connsiteY51" fmla="*/ 138053 h 606298"/>
              <a:gd name="connsiteX52" fmla="*/ 344168 w 571597"/>
              <a:gd name="connsiteY52" fmla="*/ 155526 h 606298"/>
              <a:gd name="connsiteX53" fmla="*/ 248478 w 571597"/>
              <a:gd name="connsiteY53" fmla="*/ 114259 h 606298"/>
              <a:gd name="connsiteX54" fmla="*/ 248478 w 571597"/>
              <a:gd name="connsiteY54" fmla="*/ 52575 h 606298"/>
              <a:gd name="connsiteX55" fmla="*/ 204791 w 571597"/>
              <a:gd name="connsiteY55" fmla="*/ 59732 h 606298"/>
              <a:gd name="connsiteX56" fmla="*/ 214471 w 571597"/>
              <a:gd name="connsiteY56" fmla="*/ 84269 h 606298"/>
              <a:gd name="connsiteX57" fmla="*/ 282360 w 571597"/>
              <a:gd name="connsiteY57" fmla="*/ 84269 h 606298"/>
              <a:gd name="connsiteX58" fmla="*/ 292165 w 571597"/>
              <a:gd name="connsiteY58" fmla="*/ 59732 h 606298"/>
              <a:gd name="connsiteX59" fmla="*/ 248478 w 571597"/>
              <a:gd name="connsiteY59" fmla="*/ 52575 h 606298"/>
              <a:gd name="connsiteX60" fmla="*/ 248478 w 571597"/>
              <a:gd name="connsiteY60" fmla="*/ 0 h 606298"/>
              <a:gd name="connsiteX61" fmla="*/ 357696 w 571597"/>
              <a:gd name="connsiteY61" fmla="*/ 42878 h 606298"/>
              <a:gd name="connsiteX62" fmla="*/ 380533 w 571597"/>
              <a:gd name="connsiteY62" fmla="*/ 116738 h 606298"/>
              <a:gd name="connsiteX63" fmla="*/ 382270 w 571597"/>
              <a:gd name="connsiteY63" fmla="*/ 162962 h 606298"/>
              <a:gd name="connsiteX64" fmla="*/ 248478 w 571597"/>
              <a:gd name="connsiteY64" fmla="*/ 325800 h 606298"/>
              <a:gd name="connsiteX65" fmla="*/ 114686 w 571597"/>
              <a:gd name="connsiteY65" fmla="*/ 162962 h 606298"/>
              <a:gd name="connsiteX66" fmla="*/ 116423 w 571597"/>
              <a:gd name="connsiteY66" fmla="*/ 116738 h 606298"/>
              <a:gd name="connsiteX67" fmla="*/ 139136 w 571597"/>
              <a:gd name="connsiteY67" fmla="*/ 42878 h 606298"/>
              <a:gd name="connsiteX68" fmla="*/ 248478 w 571597"/>
              <a:gd name="connsiteY68" fmla="*/ 0 h 60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71597" h="606298">
                <a:moveTo>
                  <a:pt x="459431" y="368750"/>
                </a:moveTo>
                <a:cubicBezTo>
                  <a:pt x="439827" y="368750"/>
                  <a:pt x="421340" y="376309"/>
                  <a:pt x="407567" y="390187"/>
                </a:cubicBezTo>
                <a:cubicBezTo>
                  <a:pt x="379029" y="418688"/>
                  <a:pt x="379029" y="465157"/>
                  <a:pt x="407567" y="493782"/>
                </a:cubicBezTo>
                <a:cubicBezTo>
                  <a:pt x="421340" y="507536"/>
                  <a:pt x="439827" y="515095"/>
                  <a:pt x="459431" y="515095"/>
                </a:cubicBezTo>
                <a:cubicBezTo>
                  <a:pt x="479036" y="515095"/>
                  <a:pt x="497399" y="507536"/>
                  <a:pt x="511296" y="493782"/>
                </a:cubicBezTo>
                <a:cubicBezTo>
                  <a:pt x="525068" y="479903"/>
                  <a:pt x="532761" y="461563"/>
                  <a:pt x="532761" y="441985"/>
                </a:cubicBezTo>
                <a:cubicBezTo>
                  <a:pt x="532761" y="422406"/>
                  <a:pt x="525068" y="403942"/>
                  <a:pt x="511296" y="390187"/>
                </a:cubicBezTo>
                <a:cubicBezTo>
                  <a:pt x="497399" y="376309"/>
                  <a:pt x="479036" y="368750"/>
                  <a:pt x="459431" y="368750"/>
                </a:cubicBezTo>
                <a:close/>
                <a:moveTo>
                  <a:pt x="459431" y="329964"/>
                </a:moveTo>
                <a:cubicBezTo>
                  <a:pt x="489458" y="329964"/>
                  <a:pt x="517624" y="341612"/>
                  <a:pt x="538717" y="362678"/>
                </a:cubicBezTo>
                <a:cubicBezTo>
                  <a:pt x="559934" y="383868"/>
                  <a:pt x="571597" y="411997"/>
                  <a:pt x="571597" y="441985"/>
                </a:cubicBezTo>
                <a:cubicBezTo>
                  <a:pt x="571597" y="471849"/>
                  <a:pt x="559934" y="500102"/>
                  <a:pt x="538717" y="521167"/>
                </a:cubicBezTo>
                <a:cubicBezTo>
                  <a:pt x="517624" y="542357"/>
                  <a:pt x="489458" y="553881"/>
                  <a:pt x="459431" y="553881"/>
                </a:cubicBezTo>
                <a:cubicBezTo>
                  <a:pt x="439951" y="553881"/>
                  <a:pt x="420843" y="548925"/>
                  <a:pt x="404093" y="539383"/>
                </a:cubicBezTo>
                <a:lnTo>
                  <a:pt x="400246" y="537276"/>
                </a:lnTo>
                <a:lnTo>
                  <a:pt x="338580" y="598863"/>
                </a:lnTo>
                <a:cubicBezTo>
                  <a:pt x="333741" y="603696"/>
                  <a:pt x="327289" y="606298"/>
                  <a:pt x="320465" y="606298"/>
                </a:cubicBezTo>
                <a:cubicBezTo>
                  <a:pt x="313641" y="606298"/>
                  <a:pt x="307189" y="603696"/>
                  <a:pt x="302350" y="598863"/>
                </a:cubicBezTo>
                <a:cubicBezTo>
                  <a:pt x="292299" y="588826"/>
                  <a:pt x="292299" y="572593"/>
                  <a:pt x="302350" y="562679"/>
                </a:cubicBezTo>
                <a:lnTo>
                  <a:pt x="364016" y="500969"/>
                </a:lnTo>
                <a:lnTo>
                  <a:pt x="361783" y="497251"/>
                </a:lnTo>
                <a:cubicBezTo>
                  <a:pt x="336967" y="453509"/>
                  <a:pt x="344536" y="398242"/>
                  <a:pt x="380022" y="362678"/>
                </a:cubicBezTo>
                <a:cubicBezTo>
                  <a:pt x="401239" y="341612"/>
                  <a:pt x="429405" y="329964"/>
                  <a:pt x="459431" y="329964"/>
                </a:cubicBezTo>
                <a:close/>
                <a:moveTo>
                  <a:pt x="164803" y="311798"/>
                </a:moveTo>
                <a:cubicBezTo>
                  <a:pt x="168029" y="310064"/>
                  <a:pt x="172125" y="310436"/>
                  <a:pt x="174979" y="312665"/>
                </a:cubicBezTo>
                <a:cubicBezTo>
                  <a:pt x="189995" y="324434"/>
                  <a:pt x="206500" y="332487"/>
                  <a:pt x="223998" y="336327"/>
                </a:cubicBezTo>
                <a:cubicBezTo>
                  <a:pt x="226976" y="336946"/>
                  <a:pt x="229582" y="339176"/>
                  <a:pt x="230699" y="342149"/>
                </a:cubicBezTo>
                <a:lnTo>
                  <a:pt x="248445" y="388853"/>
                </a:lnTo>
                <a:lnTo>
                  <a:pt x="266192" y="342149"/>
                </a:lnTo>
                <a:cubicBezTo>
                  <a:pt x="267308" y="339176"/>
                  <a:pt x="269790" y="336946"/>
                  <a:pt x="272893" y="336327"/>
                </a:cubicBezTo>
                <a:cubicBezTo>
                  <a:pt x="290391" y="332487"/>
                  <a:pt x="306772" y="324434"/>
                  <a:pt x="321788" y="312665"/>
                </a:cubicBezTo>
                <a:cubicBezTo>
                  <a:pt x="324767" y="310436"/>
                  <a:pt x="328738" y="310064"/>
                  <a:pt x="332088" y="311798"/>
                </a:cubicBezTo>
                <a:lnTo>
                  <a:pt x="332585" y="312170"/>
                </a:lnTo>
                <a:cubicBezTo>
                  <a:pt x="344250" y="318364"/>
                  <a:pt x="362244" y="327903"/>
                  <a:pt x="380859" y="338061"/>
                </a:cubicBezTo>
                <a:cubicBezTo>
                  <a:pt x="376019" y="341654"/>
                  <a:pt x="371428" y="345618"/>
                  <a:pt x="367208" y="349954"/>
                </a:cubicBezTo>
                <a:cubicBezTo>
                  <a:pt x="327621" y="389348"/>
                  <a:pt x="318189" y="448687"/>
                  <a:pt x="341520" y="497744"/>
                </a:cubicBezTo>
                <a:lnTo>
                  <a:pt x="289398" y="549775"/>
                </a:lnTo>
                <a:cubicBezTo>
                  <a:pt x="281704" y="557455"/>
                  <a:pt x="277485" y="567242"/>
                  <a:pt x="276740" y="577276"/>
                </a:cubicBezTo>
                <a:cubicBezTo>
                  <a:pt x="267681" y="577524"/>
                  <a:pt x="258249" y="577648"/>
                  <a:pt x="248445" y="577648"/>
                </a:cubicBezTo>
                <a:cubicBezTo>
                  <a:pt x="31397" y="577648"/>
                  <a:pt x="1613" y="500718"/>
                  <a:pt x="496" y="497497"/>
                </a:cubicBezTo>
                <a:cubicBezTo>
                  <a:pt x="0" y="496010"/>
                  <a:pt x="-124" y="494400"/>
                  <a:pt x="124" y="492913"/>
                </a:cubicBezTo>
                <a:cubicBezTo>
                  <a:pt x="2606" y="477304"/>
                  <a:pt x="16753" y="398268"/>
                  <a:pt x="49267" y="376464"/>
                </a:cubicBezTo>
                <a:cubicBezTo>
                  <a:pt x="68378" y="363581"/>
                  <a:pt x="136384" y="326912"/>
                  <a:pt x="164803" y="311798"/>
                </a:cubicBezTo>
                <a:close/>
                <a:moveTo>
                  <a:pt x="248478" y="114259"/>
                </a:moveTo>
                <a:cubicBezTo>
                  <a:pt x="183816" y="114259"/>
                  <a:pt x="164454" y="156890"/>
                  <a:pt x="152788" y="155526"/>
                </a:cubicBezTo>
                <a:cubicBezTo>
                  <a:pt x="142611" y="154287"/>
                  <a:pt x="136157" y="141399"/>
                  <a:pt x="134544" y="138053"/>
                </a:cubicBezTo>
                <a:cubicBezTo>
                  <a:pt x="134295" y="146232"/>
                  <a:pt x="134171" y="154535"/>
                  <a:pt x="134171" y="162962"/>
                </a:cubicBezTo>
                <a:cubicBezTo>
                  <a:pt x="134171" y="219100"/>
                  <a:pt x="158993" y="253923"/>
                  <a:pt x="179844" y="273256"/>
                </a:cubicBezTo>
                <a:cubicBezTo>
                  <a:pt x="206156" y="297545"/>
                  <a:pt x="235322" y="306344"/>
                  <a:pt x="248478" y="306344"/>
                </a:cubicBezTo>
                <a:cubicBezTo>
                  <a:pt x="261634" y="306344"/>
                  <a:pt x="290800" y="297545"/>
                  <a:pt x="317112" y="273256"/>
                </a:cubicBezTo>
                <a:cubicBezTo>
                  <a:pt x="337963" y="253923"/>
                  <a:pt x="362785" y="219100"/>
                  <a:pt x="362785" y="162962"/>
                </a:cubicBezTo>
                <a:cubicBezTo>
                  <a:pt x="362785" y="154659"/>
                  <a:pt x="362661" y="146232"/>
                  <a:pt x="362288" y="138053"/>
                </a:cubicBezTo>
                <a:cubicBezTo>
                  <a:pt x="360799" y="141399"/>
                  <a:pt x="354221" y="154287"/>
                  <a:pt x="344168" y="155526"/>
                </a:cubicBezTo>
                <a:cubicBezTo>
                  <a:pt x="332502" y="156890"/>
                  <a:pt x="313140" y="114259"/>
                  <a:pt x="248478" y="114259"/>
                </a:cubicBezTo>
                <a:close/>
                <a:moveTo>
                  <a:pt x="248478" y="52575"/>
                </a:moveTo>
                <a:cubicBezTo>
                  <a:pt x="234515" y="52575"/>
                  <a:pt x="220553" y="54961"/>
                  <a:pt x="204791" y="59732"/>
                </a:cubicBezTo>
                <a:cubicBezTo>
                  <a:pt x="208638" y="69522"/>
                  <a:pt x="210624" y="74479"/>
                  <a:pt x="214471" y="84269"/>
                </a:cubicBezTo>
                <a:cubicBezTo>
                  <a:pt x="239666" y="77206"/>
                  <a:pt x="257166" y="77206"/>
                  <a:pt x="282360" y="84269"/>
                </a:cubicBezTo>
                <a:cubicBezTo>
                  <a:pt x="286332" y="74479"/>
                  <a:pt x="288193" y="69522"/>
                  <a:pt x="292165" y="59732"/>
                </a:cubicBezTo>
                <a:cubicBezTo>
                  <a:pt x="276403" y="54961"/>
                  <a:pt x="262440" y="52575"/>
                  <a:pt x="248478" y="52575"/>
                </a:cubicBezTo>
                <a:close/>
                <a:moveTo>
                  <a:pt x="248478" y="0"/>
                </a:moveTo>
                <a:cubicBezTo>
                  <a:pt x="305818" y="0"/>
                  <a:pt x="338831" y="16234"/>
                  <a:pt x="357696" y="42878"/>
                </a:cubicBezTo>
                <a:cubicBezTo>
                  <a:pt x="372465" y="62458"/>
                  <a:pt x="378299" y="87987"/>
                  <a:pt x="380533" y="116738"/>
                </a:cubicBezTo>
                <a:cubicBezTo>
                  <a:pt x="381898" y="131361"/>
                  <a:pt x="382270" y="146852"/>
                  <a:pt x="382270" y="162962"/>
                </a:cubicBezTo>
                <a:cubicBezTo>
                  <a:pt x="382270" y="277841"/>
                  <a:pt x="288317" y="325800"/>
                  <a:pt x="248478" y="325800"/>
                </a:cubicBezTo>
                <a:cubicBezTo>
                  <a:pt x="208514" y="325800"/>
                  <a:pt x="114686" y="277841"/>
                  <a:pt x="114686" y="162962"/>
                </a:cubicBezTo>
                <a:cubicBezTo>
                  <a:pt x="114686" y="146852"/>
                  <a:pt x="115058" y="131361"/>
                  <a:pt x="116423" y="116738"/>
                </a:cubicBezTo>
                <a:cubicBezTo>
                  <a:pt x="118533" y="87987"/>
                  <a:pt x="124491" y="62458"/>
                  <a:pt x="139136" y="42878"/>
                </a:cubicBezTo>
                <a:cubicBezTo>
                  <a:pt x="158001" y="16234"/>
                  <a:pt x="191014" y="0"/>
                  <a:pt x="248478" y="0"/>
                </a:cubicBezTo>
                <a:close/>
              </a:path>
            </a:pathLst>
          </a:custGeom>
          <a:solidFill>
            <a:sysClr val="window" lastClr="FFFFFF"/>
          </a:solidFill>
          <a:ln w="12700" cap="flat" cmpd="sng" algn="ctr">
            <a:noFill/>
            <a:prstDash val="solid"/>
            <a:miter lim="800000"/>
          </a:ln>
          <a:effectLst/>
        </p:spPr>
        <p:txBody>
          <a:bodyPr rot="0" spcFirstLastPara="0" vert="horz" wrap="square" lIns="68580" tIns="34290" rIns="68580" bIns="34290" numCol="1" spcCol="0" rtlCol="0" fromWordArt="0" anchor="ctr" anchorCtr="0" forceAA="0" compatLnSpc="1">
            <a:normAutofit/>
          </a:bodyPr>
          <a:lstStyle>
            <a:defPPr>
              <a:defRPr lang="zh-CN"/>
            </a:defPPr>
            <a:lvl1pPr marL="0" algn="l" defTabSz="914400" rtl="0" eaLnBrk="1" latinLnBrk="0" hangingPunct="1">
              <a:defRPr sz="1800" kern="1200">
                <a:solidFill>
                  <a:sysClr val="window" lastClr="FFFFFF"/>
                </a:solidFill>
              </a:defRPr>
            </a:lvl1pPr>
            <a:lvl2pPr marL="457200" algn="l" defTabSz="914400" rtl="0" eaLnBrk="1" latinLnBrk="0" hangingPunct="1">
              <a:defRPr sz="1800" kern="1200">
                <a:solidFill>
                  <a:sysClr val="window" lastClr="FFFFFF"/>
                </a:solidFill>
              </a:defRPr>
            </a:lvl2pPr>
            <a:lvl3pPr marL="914400" algn="l" defTabSz="914400" rtl="0" eaLnBrk="1" latinLnBrk="0" hangingPunct="1">
              <a:defRPr sz="1800" kern="1200">
                <a:solidFill>
                  <a:sysClr val="window" lastClr="FFFFFF"/>
                </a:solidFill>
              </a:defRPr>
            </a:lvl3pPr>
            <a:lvl4pPr marL="1371600" algn="l" defTabSz="914400" rtl="0" eaLnBrk="1" latinLnBrk="0" hangingPunct="1">
              <a:defRPr sz="1800" kern="1200">
                <a:solidFill>
                  <a:sysClr val="window" lastClr="FFFFFF"/>
                </a:solidFill>
              </a:defRPr>
            </a:lvl4pPr>
            <a:lvl5pPr marL="1828800" algn="l" defTabSz="914400" rtl="0" eaLnBrk="1" latinLnBrk="0" hangingPunct="1">
              <a:defRPr sz="1800" kern="1200">
                <a:solidFill>
                  <a:sysClr val="window" lastClr="FFFFFF"/>
                </a:solidFill>
              </a:defRPr>
            </a:lvl5pPr>
            <a:lvl6pPr marL="2286000" algn="l" defTabSz="914400" rtl="0" eaLnBrk="1" latinLnBrk="0" hangingPunct="1">
              <a:defRPr sz="1800" kern="1200">
                <a:solidFill>
                  <a:sysClr val="window" lastClr="FFFFFF"/>
                </a:solidFill>
              </a:defRPr>
            </a:lvl6pPr>
            <a:lvl7pPr marL="2743200" algn="l" defTabSz="914400" rtl="0" eaLnBrk="1" latinLnBrk="0" hangingPunct="1">
              <a:defRPr sz="1800" kern="1200">
                <a:solidFill>
                  <a:sysClr val="window" lastClr="FFFFFF"/>
                </a:solidFill>
              </a:defRPr>
            </a:lvl7pPr>
            <a:lvl8pPr marL="3200400" algn="l" defTabSz="914400" rtl="0" eaLnBrk="1" latinLnBrk="0" hangingPunct="1">
              <a:defRPr sz="1800" kern="1200">
                <a:solidFill>
                  <a:sysClr val="window" lastClr="FFFFFF"/>
                </a:solidFill>
              </a:defRPr>
            </a:lvl8pPr>
            <a:lvl9pPr marL="3657600" algn="l" defTabSz="914400" rtl="0" eaLnBrk="1" latinLnBrk="0" hangingPunct="1">
              <a:defRPr sz="1800" kern="1200">
                <a:solidFill>
                  <a:sysClr val="window" lastClr="FFFFFF"/>
                </a:solidFill>
              </a:defRPr>
            </a:lvl9pPr>
          </a:lstStyle>
          <a:p>
            <a:pPr algn="ctr"/>
            <a:endParaRPr lang="zh-CN" altLang="en-US" sz="1350"/>
          </a:p>
        </p:txBody>
      </p:sp>
      <p:sp>
        <p:nvSpPr>
          <p:cNvPr id="43" name="任意多边形 42"/>
          <p:cNvSpPr/>
          <p:nvPr>
            <p:custDataLst>
              <p:tags r:id="rId6"/>
            </p:custDataLst>
          </p:nvPr>
        </p:nvSpPr>
        <p:spPr>
          <a:xfrm>
            <a:off x="4022045" y="2330738"/>
            <a:ext cx="358169" cy="379913"/>
          </a:xfrm>
          <a:custGeom>
            <a:avLst/>
            <a:gdLst>
              <a:gd name="connsiteX0" fmla="*/ 459431 w 571597"/>
              <a:gd name="connsiteY0" fmla="*/ 368750 h 606298"/>
              <a:gd name="connsiteX1" fmla="*/ 407567 w 571597"/>
              <a:gd name="connsiteY1" fmla="*/ 390187 h 606298"/>
              <a:gd name="connsiteX2" fmla="*/ 407567 w 571597"/>
              <a:gd name="connsiteY2" fmla="*/ 493782 h 606298"/>
              <a:gd name="connsiteX3" fmla="*/ 459431 w 571597"/>
              <a:gd name="connsiteY3" fmla="*/ 515095 h 606298"/>
              <a:gd name="connsiteX4" fmla="*/ 511296 w 571597"/>
              <a:gd name="connsiteY4" fmla="*/ 493782 h 606298"/>
              <a:gd name="connsiteX5" fmla="*/ 532761 w 571597"/>
              <a:gd name="connsiteY5" fmla="*/ 441985 h 606298"/>
              <a:gd name="connsiteX6" fmla="*/ 511296 w 571597"/>
              <a:gd name="connsiteY6" fmla="*/ 390187 h 606298"/>
              <a:gd name="connsiteX7" fmla="*/ 459431 w 571597"/>
              <a:gd name="connsiteY7" fmla="*/ 368750 h 606298"/>
              <a:gd name="connsiteX8" fmla="*/ 459431 w 571597"/>
              <a:gd name="connsiteY8" fmla="*/ 329964 h 606298"/>
              <a:gd name="connsiteX9" fmla="*/ 538717 w 571597"/>
              <a:gd name="connsiteY9" fmla="*/ 362678 h 606298"/>
              <a:gd name="connsiteX10" fmla="*/ 571597 w 571597"/>
              <a:gd name="connsiteY10" fmla="*/ 441985 h 606298"/>
              <a:gd name="connsiteX11" fmla="*/ 538717 w 571597"/>
              <a:gd name="connsiteY11" fmla="*/ 521167 h 606298"/>
              <a:gd name="connsiteX12" fmla="*/ 459431 w 571597"/>
              <a:gd name="connsiteY12" fmla="*/ 553881 h 606298"/>
              <a:gd name="connsiteX13" fmla="*/ 404093 w 571597"/>
              <a:gd name="connsiteY13" fmla="*/ 539383 h 606298"/>
              <a:gd name="connsiteX14" fmla="*/ 400246 w 571597"/>
              <a:gd name="connsiteY14" fmla="*/ 537276 h 606298"/>
              <a:gd name="connsiteX15" fmla="*/ 338580 w 571597"/>
              <a:gd name="connsiteY15" fmla="*/ 598863 h 606298"/>
              <a:gd name="connsiteX16" fmla="*/ 320465 w 571597"/>
              <a:gd name="connsiteY16" fmla="*/ 606298 h 606298"/>
              <a:gd name="connsiteX17" fmla="*/ 302350 w 571597"/>
              <a:gd name="connsiteY17" fmla="*/ 598863 h 606298"/>
              <a:gd name="connsiteX18" fmla="*/ 302350 w 571597"/>
              <a:gd name="connsiteY18" fmla="*/ 562679 h 606298"/>
              <a:gd name="connsiteX19" fmla="*/ 364016 w 571597"/>
              <a:gd name="connsiteY19" fmla="*/ 500969 h 606298"/>
              <a:gd name="connsiteX20" fmla="*/ 361783 w 571597"/>
              <a:gd name="connsiteY20" fmla="*/ 497251 h 606298"/>
              <a:gd name="connsiteX21" fmla="*/ 380022 w 571597"/>
              <a:gd name="connsiteY21" fmla="*/ 362678 h 606298"/>
              <a:gd name="connsiteX22" fmla="*/ 459431 w 571597"/>
              <a:gd name="connsiteY22" fmla="*/ 329964 h 606298"/>
              <a:gd name="connsiteX23" fmla="*/ 164803 w 571597"/>
              <a:gd name="connsiteY23" fmla="*/ 311798 h 606298"/>
              <a:gd name="connsiteX24" fmla="*/ 174979 w 571597"/>
              <a:gd name="connsiteY24" fmla="*/ 312665 h 606298"/>
              <a:gd name="connsiteX25" fmla="*/ 223998 w 571597"/>
              <a:gd name="connsiteY25" fmla="*/ 336327 h 606298"/>
              <a:gd name="connsiteX26" fmla="*/ 230699 w 571597"/>
              <a:gd name="connsiteY26" fmla="*/ 342149 h 606298"/>
              <a:gd name="connsiteX27" fmla="*/ 248445 w 571597"/>
              <a:gd name="connsiteY27" fmla="*/ 388853 h 606298"/>
              <a:gd name="connsiteX28" fmla="*/ 266192 w 571597"/>
              <a:gd name="connsiteY28" fmla="*/ 342149 h 606298"/>
              <a:gd name="connsiteX29" fmla="*/ 272893 w 571597"/>
              <a:gd name="connsiteY29" fmla="*/ 336327 h 606298"/>
              <a:gd name="connsiteX30" fmla="*/ 321788 w 571597"/>
              <a:gd name="connsiteY30" fmla="*/ 312665 h 606298"/>
              <a:gd name="connsiteX31" fmla="*/ 332088 w 571597"/>
              <a:gd name="connsiteY31" fmla="*/ 311798 h 606298"/>
              <a:gd name="connsiteX32" fmla="*/ 332585 w 571597"/>
              <a:gd name="connsiteY32" fmla="*/ 312170 h 606298"/>
              <a:gd name="connsiteX33" fmla="*/ 380859 w 571597"/>
              <a:gd name="connsiteY33" fmla="*/ 338061 h 606298"/>
              <a:gd name="connsiteX34" fmla="*/ 367208 w 571597"/>
              <a:gd name="connsiteY34" fmla="*/ 349954 h 606298"/>
              <a:gd name="connsiteX35" fmla="*/ 341520 w 571597"/>
              <a:gd name="connsiteY35" fmla="*/ 497744 h 606298"/>
              <a:gd name="connsiteX36" fmla="*/ 289398 w 571597"/>
              <a:gd name="connsiteY36" fmla="*/ 549775 h 606298"/>
              <a:gd name="connsiteX37" fmla="*/ 276740 w 571597"/>
              <a:gd name="connsiteY37" fmla="*/ 577276 h 606298"/>
              <a:gd name="connsiteX38" fmla="*/ 248445 w 571597"/>
              <a:gd name="connsiteY38" fmla="*/ 577648 h 606298"/>
              <a:gd name="connsiteX39" fmla="*/ 496 w 571597"/>
              <a:gd name="connsiteY39" fmla="*/ 497497 h 606298"/>
              <a:gd name="connsiteX40" fmla="*/ 124 w 571597"/>
              <a:gd name="connsiteY40" fmla="*/ 492913 h 606298"/>
              <a:gd name="connsiteX41" fmla="*/ 49267 w 571597"/>
              <a:gd name="connsiteY41" fmla="*/ 376464 h 606298"/>
              <a:gd name="connsiteX42" fmla="*/ 164803 w 571597"/>
              <a:gd name="connsiteY42" fmla="*/ 311798 h 606298"/>
              <a:gd name="connsiteX43" fmla="*/ 248478 w 571597"/>
              <a:gd name="connsiteY43" fmla="*/ 114259 h 606298"/>
              <a:gd name="connsiteX44" fmla="*/ 152788 w 571597"/>
              <a:gd name="connsiteY44" fmla="*/ 155526 h 606298"/>
              <a:gd name="connsiteX45" fmla="*/ 134544 w 571597"/>
              <a:gd name="connsiteY45" fmla="*/ 138053 h 606298"/>
              <a:gd name="connsiteX46" fmla="*/ 134171 w 571597"/>
              <a:gd name="connsiteY46" fmla="*/ 162962 h 606298"/>
              <a:gd name="connsiteX47" fmla="*/ 179844 w 571597"/>
              <a:gd name="connsiteY47" fmla="*/ 273256 h 606298"/>
              <a:gd name="connsiteX48" fmla="*/ 248478 w 571597"/>
              <a:gd name="connsiteY48" fmla="*/ 306344 h 606298"/>
              <a:gd name="connsiteX49" fmla="*/ 317112 w 571597"/>
              <a:gd name="connsiteY49" fmla="*/ 273256 h 606298"/>
              <a:gd name="connsiteX50" fmla="*/ 362785 w 571597"/>
              <a:gd name="connsiteY50" fmla="*/ 162962 h 606298"/>
              <a:gd name="connsiteX51" fmla="*/ 362288 w 571597"/>
              <a:gd name="connsiteY51" fmla="*/ 138053 h 606298"/>
              <a:gd name="connsiteX52" fmla="*/ 344168 w 571597"/>
              <a:gd name="connsiteY52" fmla="*/ 155526 h 606298"/>
              <a:gd name="connsiteX53" fmla="*/ 248478 w 571597"/>
              <a:gd name="connsiteY53" fmla="*/ 114259 h 606298"/>
              <a:gd name="connsiteX54" fmla="*/ 248478 w 571597"/>
              <a:gd name="connsiteY54" fmla="*/ 52575 h 606298"/>
              <a:gd name="connsiteX55" fmla="*/ 204791 w 571597"/>
              <a:gd name="connsiteY55" fmla="*/ 59732 h 606298"/>
              <a:gd name="connsiteX56" fmla="*/ 214471 w 571597"/>
              <a:gd name="connsiteY56" fmla="*/ 84269 h 606298"/>
              <a:gd name="connsiteX57" fmla="*/ 282360 w 571597"/>
              <a:gd name="connsiteY57" fmla="*/ 84269 h 606298"/>
              <a:gd name="connsiteX58" fmla="*/ 292165 w 571597"/>
              <a:gd name="connsiteY58" fmla="*/ 59732 h 606298"/>
              <a:gd name="connsiteX59" fmla="*/ 248478 w 571597"/>
              <a:gd name="connsiteY59" fmla="*/ 52575 h 606298"/>
              <a:gd name="connsiteX60" fmla="*/ 248478 w 571597"/>
              <a:gd name="connsiteY60" fmla="*/ 0 h 606298"/>
              <a:gd name="connsiteX61" fmla="*/ 357696 w 571597"/>
              <a:gd name="connsiteY61" fmla="*/ 42878 h 606298"/>
              <a:gd name="connsiteX62" fmla="*/ 380533 w 571597"/>
              <a:gd name="connsiteY62" fmla="*/ 116738 h 606298"/>
              <a:gd name="connsiteX63" fmla="*/ 382270 w 571597"/>
              <a:gd name="connsiteY63" fmla="*/ 162962 h 606298"/>
              <a:gd name="connsiteX64" fmla="*/ 248478 w 571597"/>
              <a:gd name="connsiteY64" fmla="*/ 325800 h 606298"/>
              <a:gd name="connsiteX65" fmla="*/ 114686 w 571597"/>
              <a:gd name="connsiteY65" fmla="*/ 162962 h 606298"/>
              <a:gd name="connsiteX66" fmla="*/ 116423 w 571597"/>
              <a:gd name="connsiteY66" fmla="*/ 116738 h 606298"/>
              <a:gd name="connsiteX67" fmla="*/ 139136 w 571597"/>
              <a:gd name="connsiteY67" fmla="*/ 42878 h 606298"/>
              <a:gd name="connsiteX68" fmla="*/ 248478 w 571597"/>
              <a:gd name="connsiteY68" fmla="*/ 0 h 60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71597" h="606298">
                <a:moveTo>
                  <a:pt x="459431" y="368750"/>
                </a:moveTo>
                <a:cubicBezTo>
                  <a:pt x="439827" y="368750"/>
                  <a:pt x="421340" y="376309"/>
                  <a:pt x="407567" y="390187"/>
                </a:cubicBezTo>
                <a:cubicBezTo>
                  <a:pt x="379029" y="418688"/>
                  <a:pt x="379029" y="465157"/>
                  <a:pt x="407567" y="493782"/>
                </a:cubicBezTo>
                <a:cubicBezTo>
                  <a:pt x="421340" y="507536"/>
                  <a:pt x="439827" y="515095"/>
                  <a:pt x="459431" y="515095"/>
                </a:cubicBezTo>
                <a:cubicBezTo>
                  <a:pt x="479036" y="515095"/>
                  <a:pt x="497399" y="507536"/>
                  <a:pt x="511296" y="493782"/>
                </a:cubicBezTo>
                <a:cubicBezTo>
                  <a:pt x="525068" y="479903"/>
                  <a:pt x="532761" y="461563"/>
                  <a:pt x="532761" y="441985"/>
                </a:cubicBezTo>
                <a:cubicBezTo>
                  <a:pt x="532761" y="422406"/>
                  <a:pt x="525068" y="403942"/>
                  <a:pt x="511296" y="390187"/>
                </a:cubicBezTo>
                <a:cubicBezTo>
                  <a:pt x="497399" y="376309"/>
                  <a:pt x="479036" y="368750"/>
                  <a:pt x="459431" y="368750"/>
                </a:cubicBezTo>
                <a:close/>
                <a:moveTo>
                  <a:pt x="459431" y="329964"/>
                </a:moveTo>
                <a:cubicBezTo>
                  <a:pt x="489458" y="329964"/>
                  <a:pt x="517624" y="341612"/>
                  <a:pt x="538717" y="362678"/>
                </a:cubicBezTo>
                <a:cubicBezTo>
                  <a:pt x="559934" y="383868"/>
                  <a:pt x="571597" y="411997"/>
                  <a:pt x="571597" y="441985"/>
                </a:cubicBezTo>
                <a:cubicBezTo>
                  <a:pt x="571597" y="471849"/>
                  <a:pt x="559934" y="500102"/>
                  <a:pt x="538717" y="521167"/>
                </a:cubicBezTo>
                <a:cubicBezTo>
                  <a:pt x="517624" y="542357"/>
                  <a:pt x="489458" y="553881"/>
                  <a:pt x="459431" y="553881"/>
                </a:cubicBezTo>
                <a:cubicBezTo>
                  <a:pt x="439951" y="553881"/>
                  <a:pt x="420843" y="548925"/>
                  <a:pt x="404093" y="539383"/>
                </a:cubicBezTo>
                <a:lnTo>
                  <a:pt x="400246" y="537276"/>
                </a:lnTo>
                <a:lnTo>
                  <a:pt x="338580" y="598863"/>
                </a:lnTo>
                <a:cubicBezTo>
                  <a:pt x="333741" y="603696"/>
                  <a:pt x="327289" y="606298"/>
                  <a:pt x="320465" y="606298"/>
                </a:cubicBezTo>
                <a:cubicBezTo>
                  <a:pt x="313641" y="606298"/>
                  <a:pt x="307189" y="603696"/>
                  <a:pt x="302350" y="598863"/>
                </a:cubicBezTo>
                <a:cubicBezTo>
                  <a:pt x="292299" y="588826"/>
                  <a:pt x="292299" y="572593"/>
                  <a:pt x="302350" y="562679"/>
                </a:cubicBezTo>
                <a:lnTo>
                  <a:pt x="364016" y="500969"/>
                </a:lnTo>
                <a:lnTo>
                  <a:pt x="361783" y="497251"/>
                </a:lnTo>
                <a:cubicBezTo>
                  <a:pt x="336967" y="453509"/>
                  <a:pt x="344536" y="398242"/>
                  <a:pt x="380022" y="362678"/>
                </a:cubicBezTo>
                <a:cubicBezTo>
                  <a:pt x="401239" y="341612"/>
                  <a:pt x="429405" y="329964"/>
                  <a:pt x="459431" y="329964"/>
                </a:cubicBezTo>
                <a:close/>
                <a:moveTo>
                  <a:pt x="164803" y="311798"/>
                </a:moveTo>
                <a:cubicBezTo>
                  <a:pt x="168029" y="310064"/>
                  <a:pt x="172125" y="310436"/>
                  <a:pt x="174979" y="312665"/>
                </a:cubicBezTo>
                <a:cubicBezTo>
                  <a:pt x="189995" y="324434"/>
                  <a:pt x="206500" y="332487"/>
                  <a:pt x="223998" y="336327"/>
                </a:cubicBezTo>
                <a:cubicBezTo>
                  <a:pt x="226976" y="336946"/>
                  <a:pt x="229582" y="339176"/>
                  <a:pt x="230699" y="342149"/>
                </a:cubicBezTo>
                <a:lnTo>
                  <a:pt x="248445" y="388853"/>
                </a:lnTo>
                <a:lnTo>
                  <a:pt x="266192" y="342149"/>
                </a:lnTo>
                <a:cubicBezTo>
                  <a:pt x="267308" y="339176"/>
                  <a:pt x="269790" y="336946"/>
                  <a:pt x="272893" y="336327"/>
                </a:cubicBezTo>
                <a:cubicBezTo>
                  <a:pt x="290391" y="332487"/>
                  <a:pt x="306772" y="324434"/>
                  <a:pt x="321788" y="312665"/>
                </a:cubicBezTo>
                <a:cubicBezTo>
                  <a:pt x="324767" y="310436"/>
                  <a:pt x="328738" y="310064"/>
                  <a:pt x="332088" y="311798"/>
                </a:cubicBezTo>
                <a:lnTo>
                  <a:pt x="332585" y="312170"/>
                </a:lnTo>
                <a:cubicBezTo>
                  <a:pt x="344250" y="318364"/>
                  <a:pt x="362244" y="327903"/>
                  <a:pt x="380859" y="338061"/>
                </a:cubicBezTo>
                <a:cubicBezTo>
                  <a:pt x="376019" y="341654"/>
                  <a:pt x="371428" y="345618"/>
                  <a:pt x="367208" y="349954"/>
                </a:cubicBezTo>
                <a:cubicBezTo>
                  <a:pt x="327621" y="389348"/>
                  <a:pt x="318189" y="448687"/>
                  <a:pt x="341520" y="497744"/>
                </a:cubicBezTo>
                <a:lnTo>
                  <a:pt x="289398" y="549775"/>
                </a:lnTo>
                <a:cubicBezTo>
                  <a:pt x="281704" y="557455"/>
                  <a:pt x="277485" y="567242"/>
                  <a:pt x="276740" y="577276"/>
                </a:cubicBezTo>
                <a:cubicBezTo>
                  <a:pt x="267681" y="577524"/>
                  <a:pt x="258249" y="577648"/>
                  <a:pt x="248445" y="577648"/>
                </a:cubicBezTo>
                <a:cubicBezTo>
                  <a:pt x="31397" y="577648"/>
                  <a:pt x="1613" y="500718"/>
                  <a:pt x="496" y="497497"/>
                </a:cubicBezTo>
                <a:cubicBezTo>
                  <a:pt x="0" y="496010"/>
                  <a:pt x="-124" y="494400"/>
                  <a:pt x="124" y="492913"/>
                </a:cubicBezTo>
                <a:cubicBezTo>
                  <a:pt x="2606" y="477304"/>
                  <a:pt x="16753" y="398268"/>
                  <a:pt x="49267" y="376464"/>
                </a:cubicBezTo>
                <a:cubicBezTo>
                  <a:pt x="68378" y="363581"/>
                  <a:pt x="136384" y="326912"/>
                  <a:pt x="164803" y="311798"/>
                </a:cubicBezTo>
                <a:close/>
                <a:moveTo>
                  <a:pt x="248478" y="114259"/>
                </a:moveTo>
                <a:cubicBezTo>
                  <a:pt x="183816" y="114259"/>
                  <a:pt x="164454" y="156890"/>
                  <a:pt x="152788" y="155526"/>
                </a:cubicBezTo>
                <a:cubicBezTo>
                  <a:pt x="142611" y="154287"/>
                  <a:pt x="136157" y="141399"/>
                  <a:pt x="134544" y="138053"/>
                </a:cubicBezTo>
                <a:cubicBezTo>
                  <a:pt x="134295" y="146232"/>
                  <a:pt x="134171" y="154535"/>
                  <a:pt x="134171" y="162962"/>
                </a:cubicBezTo>
                <a:cubicBezTo>
                  <a:pt x="134171" y="219100"/>
                  <a:pt x="158993" y="253923"/>
                  <a:pt x="179844" y="273256"/>
                </a:cubicBezTo>
                <a:cubicBezTo>
                  <a:pt x="206156" y="297545"/>
                  <a:pt x="235322" y="306344"/>
                  <a:pt x="248478" y="306344"/>
                </a:cubicBezTo>
                <a:cubicBezTo>
                  <a:pt x="261634" y="306344"/>
                  <a:pt x="290800" y="297545"/>
                  <a:pt x="317112" y="273256"/>
                </a:cubicBezTo>
                <a:cubicBezTo>
                  <a:pt x="337963" y="253923"/>
                  <a:pt x="362785" y="219100"/>
                  <a:pt x="362785" y="162962"/>
                </a:cubicBezTo>
                <a:cubicBezTo>
                  <a:pt x="362785" y="154659"/>
                  <a:pt x="362661" y="146232"/>
                  <a:pt x="362288" y="138053"/>
                </a:cubicBezTo>
                <a:cubicBezTo>
                  <a:pt x="360799" y="141399"/>
                  <a:pt x="354221" y="154287"/>
                  <a:pt x="344168" y="155526"/>
                </a:cubicBezTo>
                <a:cubicBezTo>
                  <a:pt x="332502" y="156890"/>
                  <a:pt x="313140" y="114259"/>
                  <a:pt x="248478" y="114259"/>
                </a:cubicBezTo>
                <a:close/>
                <a:moveTo>
                  <a:pt x="248478" y="52575"/>
                </a:moveTo>
                <a:cubicBezTo>
                  <a:pt x="234515" y="52575"/>
                  <a:pt x="220553" y="54961"/>
                  <a:pt x="204791" y="59732"/>
                </a:cubicBezTo>
                <a:cubicBezTo>
                  <a:pt x="208638" y="69522"/>
                  <a:pt x="210624" y="74479"/>
                  <a:pt x="214471" y="84269"/>
                </a:cubicBezTo>
                <a:cubicBezTo>
                  <a:pt x="239666" y="77206"/>
                  <a:pt x="257166" y="77206"/>
                  <a:pt x="282360" y="84269"/>
                </a:cubicBezTo>
                <a:cubicBezTo>
                  <a:pt x="286332" y="74479"/>
                  <a:pt x="288193" y="69522"/>
                  <a:pt x="292165" y="59732"/>
                </a:cubicBezTo>
                <a:cubicBezTo>
                  <a:pt x="276403" y="54961"/>
                  <a:pt x="262440" y="52575"/>
                  <a:pt x="248478" y="52575"/>
                </a:cubicBezTo>
                <a:close/>
                <a:moveTo>
                  <a:pt x="248478" y="0"/>
                </a:moveTo>
                <a:cubicBezTo>
                  <a:pt x="305818" y="0"/>
                  <a:pt x="338831" y="16234"/>
                  <a:pt x="357696" y="42878"/>
                </a:cubicBezTo>
                <a:cubicBezTo>
                  <a:pt x="372465" y="62458"/>
                  <a:pt x="378299" y="87987"/>
                  <a:pt x="380533" y="116738"/>
                </a:cubicBezTo>
                <a:cubicBezTo>
                  <a:pt x="381898" y="131361"/>
                  <a:pt x="382270" y="146852"/>
                  <a:pt x="382270" y="162962"/>
                </a:cubicBezTo>
                <a:cubicBezTo>
                  <a:pt x="382270" y="277841"/>
                  <a:pt x="288317" y="325800"/>
                  <a:pt x="248478" y="325800"/>
                </a:cubicBezTo>
                <a:cubicBezTo>
                  <a:pt x="208514" y="325800"/>
                  <a:pt x="114686" y="277841"/>
                  <a:pt x="114686" y="162962"/>
                </a:cubicBezTo>
                <a:cubicBezTo>
                  <a:pt x="114686" y="146852"/>
                  <a:pt x="115058" y="131361"/>
                  <a:pt x="116423" y="116738"/>
                </a:cubicBezTo>
                <a:cubicBezTo>
                  <a:pt x="118533" y="87987"/>
                  <a:pt x="124491" y="62458"/>
                  <a:pt x="139136" y="42878"/>
                </a:cubicBezTo>
                <a:cubicBezTo>
                  <a:pt x="158001" y="16234"/>
                  <a:pt x="191014" y="0"/>
                  <a:pt x="248478" y="0"/>
                </a:cubicBezTo>
                <a:close/>
              </a:path>
            </a:pathLst>
          </a:custGeom>
          <a:solidFill>
            <a:sysClr val="window" lastClr="FFFFFF"/>
          </a:solidFill>
          <a:ln w="12700" cap="flat" cmpd="sng" algn="ctr">
            <a:noFill/>
            <a:prstDash val="solid"/>
            <a:miter lim="800000"/>
          </a:ln>
          <a:effectLst/>
        </p:spPr>
        <p:txBody>
          <a:bodyPr rot="0" spcFirstLastPara="0" vert="horz" wrap="square" lIns="68580" tIns="34290" rIns="68580" bIns="34290" numCol="1" spcCol="0" rtlCol="0" fromWordArt="0" anchor="ctr" anchorCtr="0" forceAA="0" compatLnSpc="1">
            <a:normAutofit/>
          </a:bodyPr>
          <a:lstStyle>
            <a:defPPr>
              <a:defRPr lang="zh-CN"/>
            </a:defPPr>
            <a:lvl1pPr marL="0" algn="l" defTabSz="914400" rtl="0" eaLnBrk="1" latinLnBrk="0" hangingPunct="1">
              <a:defRPr sz="1800" kern="1200">
                <a:solidFill>
                  <a:sysClr val="window" lastClr="FFFFFF"/>
                </a:solidFill>
              </a:defRPr>
            </a:lvl1pPr>
            <a:lvl2pPr marL="457200" algn="l" defTabSz="914400" rtl="0" eaLnBrk="1" latinLnBrk="0" hangingPunct="1">
              <a:defRPr sz="1800" kern="1200">
                <a:solidFill>
                  <a:sysClr val="window" lastClr="FFFFFF"/>
                </a:solidFill>
              </a:defRPr>
            </a:lvl2pPr>
            <a:lvl3pPr marL="914400" algn="l" defTabSz="914400" rtl="0" eaLnBrk="1" latinLnBrk="0" hangingPunct="1">
              <a:defRPr sz="1800" kern="1200">
                <a:solidFill>
                  <a:sysClr val="window" lastClr="FFFFFF"/>
                </a:solidFill>
              </a:defRPr>
            </a:lvl3pPr>
            <a:lvl4pPr marL="1371600" algn="l" defTabSz="914400" rtl="0" eaLnBrk="1" latinLnBrk="0" hangingPunct="1">
              <a:defRPr sz="1800" kern="1200">
                <a:solidFill>
                  <a:sysClr val="window" lastClr="FFFFFF"/>
                </a:solidFill>
              </a:defRPr>
            </a:lvl4pPr>
            <a:lvl5pPr marL="1828800" algn="l" defTabSz="914400" rtl="0" eaLnBrk="1" latinLnBrk="0" hangingPunct="1">
              <a:defRPr sz="1800" kern="1200">
                <a:solidFill>
                  <a:sysClr val="window" lastClr="FFFFFF"/>
                </a:solidFill>
              </a:defRPr>
            </a:lvl5pPr>
            <a:lvl6pPr marL="2286000" algn="l" defTabSz="914400" rtl="0" eaLnBrk="1" latinLnBrk="0" hangingPunct="1">
              <a:defRPr sz="1800" kern="1200">
                <a:solidFill>
                  <a:sysClr val="window" lastClr="FFFFFF"/>
                </a:solidFill>
              </a:defRPr>
            </a:lvl6pPr>
            <a:lvl7pPr marL="2743200" algn="l" defTabSz="914400" rtl="0" eaLnBrk="1" latinLnBrk="0" hangingPunct="1">
              <a:defRPr sz="1800" kern="1200">
                <a:solidFill>
                  <a:sysClr val="window" lastClr="FFFFFF"/>
                </a:solidFill>
              </a:defRPr>
            </a:lvl7pPr>
            <a:lvl8pPr marL="3200400" algn="l" defTabSz="914400" rtl="0" eaLnBrk="1" latinLnBrk="0" hangingPunct="1">
              <a:defRPr sz="1800" kern="1200">
                <a:solidFill>
                  <a:sysClr val="window" lastClr="FFFFFF"/>
                </a:solidFill>
              </a:defRPr>
            </a:lvl8pPr>
            <a:lvl9pPr marL="3657600" algn="l" defTabSz="914400" rtl="0" eaLnBrk="1" latinLnBrk="0" hangingPunct="1">
              <a:defRPr sz="1800" kern="1200">
                <a:solidFill>
                  <a:sysClr val="window" lastClr="FFFFFF"/>
                </a:solidFill>
              </a:defRPr>
            </a:lvl9pPr>
          </a:lstStyle>
          <a:p>
            <a:pPr algn="ctr"/>
            <a:endParaRPr lang="zh-CN" altLang="en-US" sz="1350"/>
          </a:p>
        </p:txBody>
      </p:sp>
      <p:sp>
        <p:nvSpPr>
          <p:cNvPr id="44" name="矩形 43"/>
          <p:cNvSpPr/>
          <p:nvPr>
            <p:custDataLst>
              <p:tags r:id="rId7"/>
            </p:custDataLst>
          </p:nvPr>
        </p:nvSpPr>
        <p:spPr>
          <a:xfrm>
            <a:off x="837107" y="1523064"/>
            <a:ext cx="2358148" cy="305454"/>
          </a:xfrm>
          <a:prstGeom prst="rect">
            <a:avLst/>
          </a:prstGeom>
        </p:spPr>
        <p:txBody>
          <a:bodyPr wrap="square" lIns="68580" tIns="34290" rIns="68580" bIns="0" anchor="b" anchorCtr="0">
            <a:normAutofit lnSpcReduction="10000"/>
          </a:bodyPr>
          <a:lstStyle/>
          <a:p>
            <a:pPr lvl="0" algn="r">
              <a:lnSpc>
                <a:spcPct val="120000"/>
              </a:lnSpc>
            </a:pPr>
            <a:r>
              <a:rPr lang="zh-CN" altLang="en-US" sz="1500" b="1" spc="300" dirty="0" smtClean="0">
                <a:latin typeface="微软雅黑" panose="020B0503020204020204" charset="-122"/>
                <a:ea typeface="微软雅黑" panose="020B0503020204020204" charset="-122"/>
              </a:rPr>
              <a:t>正解</a:t>
            </a:r>
            <a:endParaRPr lang="zh-CN" altLang="en-US" sz="1500" b="1" spc="300" dirty="0">
              <a:latin typeface="微软雅黑" panose="020B0503020204020204" charset="-122"/>
              <a:ea typeface="微软雅黑" panose="020B0503020204020204" charset="-122"/>
            </a:endParaRPr>
          </a:p>
        </p:txBody>
      </p:sp>
      <p:sp>
        <p:nvSpPr>
          <p:cNvPr id="45" name="文本框 44"/>
          <p:cNvSpPr txBox="1"/>
          <p:nvPr>
            <p:custDataLst>
              <p:tags r:id="rId8"/>
            </p:custDataLst>
          </p:nvPr>
        </p:nvSpPr>
        <p:spPr>
          <a:xfrm>
            <a:off x="683568" y="3622244"/>
            <a:ext cx="2499914" cy="893722"/>
          </a:xfrm>
          <a:prstGeom prst="rect">
            <a:avLst/>
          </a:prstGeom>
          <a:noFill/>
          <a:ln>
            <a:noFill/>
          </a:ln>
        </p:spPr>
        <p:txBody>
          <a:bodyPr wrap="square" lIns="68580" tIns="0" rIns="68580" bIns="34290" anchor="t" anchorCtr="0">
            <a:noAutofit/>
          </a:bodyPr>
          <a:lstStyle/>
          <a:p>
            <a:pPr algn="r">
              <a:lnSpc>
                <a:spcPct val="120000"/>
              </a:lnSpc>
            </a:pPr>
            <a:r>
              <a:rPr lang="zh-CN" altLang="en-US" sz="900" spc="150" dirty="0">
                <a:latin typeface="微软雅黑" panose="020B0503020204020204" charset="-122"/>
                <a:ea typeface="微软雅黑" panose="020B0503020204020204" charset="-122"/>
              </a:rPr>
              <a:t>机械臂的正运动学有多种建模方法，包括</a:t>
            </a:r>
            <a:r>
              <a:rPr lang="zh-CN" altLang="en-US" sz="900" b="1" spc="150" dirty="0">
                <a:solidFill>
                  <a:srgbClr val="FF0000"/>
                </a:solidFill>
                <a:latin typeface="微软雅黑" panose="020B0503020204020204" charset="-122"/>
                <a:ea typeface="微软雅黑" panose="020B0503020204020204" charset="-122"/>
              </a:rPr>
              <a:t>几何建模方法</a:t>
            </a:r>
            <a:r>
              <a:rPr lang="zh-CN" altLang="en-US" sz="900" spc="150" dirty="0">
                <a:latin typeface="微软雅黑" panose="020B0503020204020204" charset="-122"/>
                <a:ea typeface="微软雅黑" panose="020B0503020204020204" charset="-122"/>
              </a:rPr>
              <a:t>、</a:t>
            </a:r>
            <a:r>
              <a:rPr lang="en-US" altLang="zh-CN" sz="900" b="1" spc="150" dirty="0">
                <a:solidFill>
                  <a:srgbClr val="FF0000"/>
                </a:solidFill>
                <a:latin typeface="微软雅黑" panose="020B0503020204020204" charset="-122"/>
                <a:ea typeface="微软雅黑" panose="020B0503020204020204" charset="-122"/>
              </a:rPr>
              <a:t>D-H</a:t>
            </a:r>
            <a:r>
              <a:rPr lang="zh-CN" altLang="en-US" sz="900" b="1" spc="150" dirty="0">
                <a:solidFill>
                  <a:srgbClr val="FF0000"/>
                </a:solidFill>
                <a:latin typeface="微软雅黑" panose="020B0503020204020204" charset="-122"/>
                <a:ea typeface="微软雅黑" panose="020B0503020204020204" charset="-122"/>
              </a:rPr>
              <a:t>表示法</a:t>
            </a:r>
            <a:r>
              <a:rPr lang="zh-CN" altLang="en-US" sz="900" spc="150" dirty="0">
                <a:latin typeface="微软雅黑" panose="020B0503020204020204" charset="-122"/>
                <a:ea typeface="微软雅黑" panose="020B0503020204020204" charset="-122"/>
              </a:rPr>
              <a:t>模型（包含</a:t>
            </a:r>
            <a:r>
              <a:rPr lang="en-US" altLang="zh-CN" sz="900" spc="150" dirty="0">
                <a:latin typeface="微软雅黑" panose="020B0503020204020204" charset="-122"/>
                <a:ea typeface="微软雅黑" panose="020B0503020204020204" charset="-122"/>
              </a:rPr>
              <a:t>SDH</a:t>
            </a:r>
            <a:r>
              <a:rPr lang="zh-CN" altLang="en-US" sz="900" spc="150" dirty="0">
                <a:latin typeface="微软雅黑" panose="020B0503020204020204" charset="-122"/>
                <a:ea typeface="微软雅黑" panose="020B0503020204020204" charset="-122"/>
              </a:rPr>
              <a:t>和</a:t>
            </a:r>
            <a:r>
              <a:rPr lang="en-US" altLang="zh-CN" sz="900" spc="150" dirty="0">
                <a:latin typeface="微软雅黑" panose="020B0503020204020204" charset="-122"/>
                <a:ea typeface="微软雅黑" panose="020B0503020204020204" charset="-122"/>
              </a:rPr>
              <a:t>MDH</a:t>
            </a:r>
            <a:r>
              <a:rPr lang="zh-CN" altLang="en-US" sz="900" spc="150" dirty="0">
                <a:latin typeface="微软雅黑" panose="020B0503020204020204" charset="-122"/>
                <a:ea typeface="微软雅黑" panose="020B0503020204020204" charset="-122"/>
              </a:rPr>
              <a:t>模型）、</a:t>
            </a:r>
            <a:r>
              <a:rPr lang="zh-CN" altLang="en-US" sz="900" b="1" spc="150" dirty="0">
                <a:solidFill>
                  <a:srgbClr val="FF0000"/>
                </a:solidFill>
                <a:latin typeface="微软雅黑" panose="020B0503020204020204" charset="-122"/>
                <a:ea typeface="微软雅黑" panose="020B0503020204020204" charset="-122"/>
              </a:rPr>
              <a:t>旋量法</a:t>
            </a:r>
            <a:r>
              <a:rPr lang="zh-CN" altLang="en-US" sz="900" spc="150" dirty="0">
                <a:latin typeface="微软雅黑" panose="020B0503020204020204" charset="-122"/>
                <a:ea typeface="微软雅黑" panose="020B0503020204020204" charset="-122"/>
              </a:rPr>
              <a:t>、</a:t>
            </a:r>
            <a:r>
              <a:rPr lang="zh-CN" altLang="en-US" sz="900" b="1" spc="150" dirty="0">
                <a:solidFill>
                  <a:srgbClr val="FF0000"/>
                </a:solidFill>
                <a:latin typeface="微软雅黑" panose="020B0503020204020204" charset="-122"/>
                <a:ea typeface="微软雅黑" panose="020B0503020204020204" charset="-122"/>
              </a:rPr>
              <a:t>四元素法</a:t>
            </a:r>
            <a:r>
              <a:rPr lang="zh-CN" altLang="en-US" sz="900" spc="150" dirty="0">
                <a:latin typeface="微软雅黑" panose="020B0503020204020204" charset="-122"/>
                <a:ea typeface="微软雅黑" panose="020B0503020204020204" charset="-122"/>
              </a:rPr>
              <a:t>、</a:t>
            </a:r>
            <a:r>
              <a:rPr lang="zh-CN" altLang="en-US" sz="900" b="1" spc="150" dirty="0">
                <a:solidFill>
                  <a:srgbClr val="FF0000"/>
                </a:solidFill>
                <a:latin typeface="微软雅黑" panose="020B0503020204020204" charset="-122"/>
                <a:ea typeface="微软雅黑" panose="020B0503020204020204" charset="-122"/>
              </a:rPr>
              <a:t>罗德里格斯参数法</a:t>
            </a:r>
            <a:r>
              <a:rPr lang="zh-CN" altLang="en-US" sz="900" spc="150" dirty="0">
                <a:latin typeface="微软雅黑" panose="020B0503020204020204" charset="-122"/>
                <a:ea typeface="微软雅黑" panose="020B0503020204020204" charset="-122"/>
              </a:rPr>
              <a:t>、</a:t>
            </a:r>
            <a:r>
              <a:rPr lang="zh-CN" altLang="en-US" sz="900" b="1" spc="150" dirty="0">
                <a:solidFill>
                  <a:srgbClr val="FF0000"/>
                </a:solidFill>
                <a:latin typeface="微软雅黑" panose="020B0503020204020204" charset="-122"/>
                <a:ea typeface="微软雅黑" panose="020B0503020204020204" charset="-122"/>
              </a:rPr>
              <a:t>对偶四元数法</a:t>
            </a:r>
            <a:r>
              <a:rPr lang="zh-CN" altLang="en-US" sz="900" spc="150" dirty="0">
                <a:latin typeface="微软雅黑" panose="020B0503020204020204" charset="-122"/>
                <a:ea typeface="微软雅黑" panose="020B0503020204020204" charset="-122"/>
              </a:rPr>
              <a:t>等。</a:t>
            </a:r>
          </a:p>
        </p:txBody>
      </p:sp>
      <p:sp>
        <p:nvSpPr>
          <p:cNvPr id="46" name="文本框 45"/>
          <p:cNvSpPr txBox="1"/>
          <p:nvPr>
            <p:custDataLst>
              <p:tags r:id="rId9"/>
            </p:custDataLst>
          </p:nvPr>
        </p:nvSpPr>
        <p:spPr>
          <a:xfrm>
            <a:off x="5911572" y="3866208"/>
            <a:ext cx="2358148" cy="505742"/>
          </a:xfrm>
          <a:prstGeom prst="rect">
            <a:avLst/>
          </a:prstGeom>
          <a:noFill/>
          <a:ln>
            <a:noFill/>
          </a:ln>
        </p:spPr>
        <p:txBody>
          <a:bodyPr wrap="square" lIns="68580" tIns="0" rIns="68580" bIns="34290" anchor="t" anchorCtr="0">
            <a:noAutofit/>
          </a:bodyPr>
          <a:lstStyle/>
          <a:p>
            <a:pPr>
              <a:lnSpc>
                <a:spcPct val="120000"/>
              </a:lnSpc>
            </a:pPr>
            <a:r>
              <a:rPr lang="zh-CN" altLang="en-US" sz="1050" spc="150" dirty="0">
                <a:latin typeface="微软雅黑" panose="020B0503020204020204" charset="-122"/>
                <a:ea typeface="微软雅黑" panose="020B0503020204020204" charset="-122"/>
              </a:rPr>
              <a:t>对于一个</a:t>
            </a:r>
            <a:r>
              <a:rPr lang="en-US" altLang="zh-CN" sz="1050" spc="150" dirty="0">
                <a:latin typeface="微软雅黑" panose="020B0503020204020204" charset="-122"/>
                <a:ea typeface="微软雅黑" panose="020B0503020204020204" charset="-122"/>
              </a:rPr>
              <a:t>6R</a:t>
            </a:r>
            <a:r>
              <a:rPr lang="zh-CN" altLang="en-US" sz="1050" spc="150" dirty="0">
                <a:latin typeface="微软雅黑" panose="020B0503020204020204" charset="-122"/>
                <a:ea typeface="微软雅黑" panose="020B0503020204020204" charset="-122"/>
              </a:rPr>
              <a:t>机器人，仅当其几何结构满足如下</a:t>
            </a:r>
            <a:r>
              <a:rPr lang="en-US" altLang="zh-CN" sz="1050" spc="150" dirty="0">
                <a:latin typeface="微软雅黑" panose="020B0503020204020204" charset="-122"/>
                <a:ea typeface="微软雅黑" panose="020B0503020204020204" charset="-122"/>
              </a:rPr>
              <a:t>Pieper</a:t>
            </a:r>
            <a:r>
              <a:rPr lang="zh-CN" altLang="en-US" sz="1050" spc="150" dirty="0">
                <a:latin typeface="微软雅黑" panose="020B0503020204020204" charset="-122"/>
                <a:ea typeface="微软雅黑" panose="020B0503020204020204" charset="-122"/>
              </a:rPr>
              <a:t>准则时，才可以求得其封闭解。</a:t>
            </a:r>
          </a:p>
        </p:txBody>
      </p:sp>
      <p:sp>
        <p:nvSpPr>
          <p:cNvPr id="47" name="文本框 46"/>
          <p:cNvSpPr txBox="1"/>
          <p:nvPr>
            <p:custDataLst>
              <p:tags r:id="rId10"/>
            </p:custDataLst>
          </p:nvPr>
        </p:nvSpPr>
        <p:spPr>
          <a:xfrm>
            <a:off x="683568" y="2773718"/>
            <a:ext cx="2499914" cy="505741"/>
          </a:xfrm>
          <a:prstGeom prst="rect">
            <a:avLst/>
          </a:prstGeom>
          <a:noFill/>
          <a:ln>
            <a:noFill/>
          </a:ln>
        </p:spPr>
        <p:txBody>
          <a:bodyPr wrap="square" lIns="68580" tIns="0" rIns="68580" bIns="34290" anchor="t" anchorCtr="0">
            <a:noAutofit/>
          </a:bodyPr>
          <a:lstStyle/>
          <a:p>
            <a:pPr algn="r">
              <a:lnSpc>
                <a:spcPct val="120000"/>
              </a:lnSpc>
            </a:pPr>
            <a:r>
              <a:rPr lang="zh-CN" altLang="en-US" sz="900" spc="150" dirty="0">
                <a:latin typeface="微软雅黑" panose="020B0503020204020204" charset="-122"/>
                <a:ea typeface="微软雅黑" panose="020B0503020204020204" charset="-122"/>
              </a:rPr>
              <a:t>对于三自由度以上的空间机构来说，由于其连杆运动涉及三维空间的多个象限，几何关系太复杂，单纯采用几何法来进行机器人的建模是不可能完成的。</a:t>
            </a:r>
          </a:p>
        </p:txBody>
      </p:sp>
      <p:sp>
        <p:nvSpPr>
          <p:cNvPr id="48" name="文本框 47"/>
          <p:cNvSpPr txBox="1"/>
          <p:nvPr>
            <p:custDataLst>
              <p:tags r:id="rId11"/>
            </p:custDataLst>
          </p:nvPr>
        </p:nvSpPr>
        <p:spPr>
          <a:xfrm>
            <a:off x="5911572" y="2677043"/>
            <a:ext cx="2358148" cy="686795"/>
          </a:xfrm>
          <a:prstGeom prst="rect">
            <a:avLst/>
          </a:prstGeom>
          <a:noFill/>
          <a:ln>
            <a:noFill/>
          </a:ln>
        </p:spPr>
        <p:txBody>
          <a:bodyPr wrap="square" lIns="68580" tIns="0" rIns="68580" bIns="34290" anchor="t" anchorCtr="0">
            <a:noAutofit/>
          </a:bodyPr>
          <a:lstStyle/>
          <a:p>
            <a:pPr>
              <a:lnSpc>
                <a:spcPct val="120000"/>
              </a:lnSpc>
            </a:pPr>
            <a:r>
              <a:rPr lang="zh-CN" altLang="en-US" sz="1050" spc="150" dirty="0">
                <a:latin typeface="微软雅黑" panose="020B0503020204020204" charset="-122"/>
                <a:ea typeface="微软雅黑" panose="020B0503020204020204" charset="-122"/>
              </a:rPr>
              <a:t>机械臂逆运动学的解析解通常被称为封闭解法</a:t>
            </a:r>
            <a:r>
              <a:rPr lang="en-US" altLang="zh-CN" sz="1050" spc="150" dirty="0">
                <a:latin typeface="微软雅黑" panose="020B0503020204020204" charset="-122"/>
                <a:ea typeface="微软雅黑" panose="020B0503020204020204" charset="-122"/>
              </a:rPr>
              <a:t>(Closed Form Solution)</a:t>
            </a:r>
            <a:r>
              <a:rPr lang="zh-CN" altLang="en-US" sz="1050" spc="150" dirty="0">
                <a:latin typeface="微软雅黑" panose="020B0503020204020204" charset="-122"/>
                <a:ea typeface="微软雅黑" panose="020B0503020204020204" charset="-122"/>
              </a:rPr>
              <a:t>，包含几何法和代数法，其特点是计算速度快，并且可以找到所有可能的逆</a:t>
            </a:r>
            <a:r>
              <a:rPr lang="zh-CN" altLang="en-US" sz="1050" spc="150" dirty="0" smtClean="0">
                <a:latin typeface="微软雅黑" panose="020B0503020204020204" charset="-122"/>
                <a:ea typeface="微软雅黑" panose="020B0503020204020204" charset="-122"/>
              </a:rPr>
              <a:t>解。</a:t>
            </a:r>
            <a:endParaRPr lang="zh-CN" altLang="en-US" sz="1050" spc="150" dirty="0">
              <a:latin typeface="微软雅黑" panose="020B0503020204020204" charset="-122"/>
              <a:ea typeface="微软雅黑" panose="020B0503020204020204" charset="-122"/>
            </a:endParaRPr>
          </a:p>
        </p:txBody>
      </p:sp>
      <p:sp>
        <p:nvSpPr>
          <p:cNvPr id="49" name="矩形 48"/>
          <p:cNvSpPr/>
          <p:nvPr>
            <p:custDataLst>
              <p:tags r:id="rId12"/>
            </p:custDataLst>
          </p:nvPr>
        </p:nvSpPr>
        <p:spPr>
          <a:xfrm>
            <a:off x="5923345" y="1523064"/>
            <a:ext cx="2358148" cy="305454"/>
          </a:xfrm>
          <a:prstGeom prst="rect">
            <a:avLst/>
          </a:prstGeom>
        </p:spPr>
        <p:txBody>
          <a:bodyPr wrap="square" lIns="68580" tIns="34290" rIns="68580" bIns="0" anchor="b" anchorCtr="0">
            <a:normAutofit lnSpcReduction="10000"/>
          </a:bodyPr>
          <a:lstStyle/>
          <a:p>
            <a:pPr lvl="0">
              <a:lnSpc>
                <a:spcPct val="120000"/>
              </a:lnSpc>
            </a:pPr>
            <a:r>
              <a:rPr lang="zh-CN" altLang="en-US" sz="1500" b="1" spc="300" dirty="0" smtClean="0">
                <a:latin typeface="微软雅黑" panose="020B0503020204020204" charset="-122"/>
                <a:ea typeface="微软雅黑" panose="020B0503020204020204" charset="-122"/>
              </a:rPr>
              <a:t>逆解</a:t>
            </a:r>
            <a:endParaRPr lang="zh-CN" altLang="en-US" sz="1500" b="1" spc="300" dirty="0">
              <a:latin typeface="微软雅黑" panose="020B0503020204020204" charset="-122"/>
              <a:ea typeface="微软雅黑" panose="020B0503020204020204" charset="-122"/>
            </a:endParaRPr>
          </a:p>
        </p:txBody>
      </p:sp>
      <p:sp>
        <p:nvSpPr>
          <p:cNvPr id="50" name="文本框 49"/>
          <p:cNvSpPr txBox="1"/>
          <p:nvPr>
            <p:custDataLst>
              <p:tags r:id="rId13"/>
            </p:custDataLst>
          </p:nvPr>
        </p:nvSpPr>
        <p:spPr>
          <a:xfrm>
            <a:off x="539552" y="1925191"/>
            <a:ext cx="2655703" cy="659931"/>
          </a:xfrm>
          <a:prstGeom prst="rect">
            <a:avLst/>
          </a:prstGeom>
          <a:noFill/>
          <a:ln>
            <a:noFill/>
          </a:ln>
        </p:spPr>
        <p:txBody>
          <a:bodyPr wrap="square" lIns="68580" tIns="0" rIns="68580" bIns="34290" anchor="t" anchorCtr="0">
            <a:noAutofit/>
          </a:bodyPr>
          <a:lstStyle/>
          <a:p>
            <a:pPr algn="r">
              <a:lnSpc>
                <a:spcPct val="120000"/>
              </a:lnSpc>
            </a:pPr>
            <a:r>
              <a:rPr lang="zh-CN" altLang="en-US" sz="900" spc="150" dirty="0" smtClean="0">
                <a:latin typeface="微软雅黑" panose="020B0503020204020204" charset="-122"/>
                <a:ea typeface="微软雅黑" panose="020B0503020204020204" charset="-122"/>
              </a:rPr>
              <a:t>前面介绍了通过</a:t>
            </a:r>
            <a:r>
              <a:rPr lang="zh-CN" altLang="en-US" sz="900" spc="150" dirty="0">
                <a:latin typeface="微软雅黑" panose="020B0503020204020204" charset="-122"/>
                <a:ea typeface="微软雅黑" panose="020B0503020204020204" charset="-122"/>
              </a:rPr>
              <a:t>三角几何法进行平面二维坐标下两连杆机构的运动学求解，以及采用几何法建模，利用齐次坐标变换进行的三关节机器人的正运动学</a:t>
            </a:r>
            <a:r>
              <a:rPr lang="zh-CN" altLang="en-US" sz="900" spc="150" dirty="0" smtClean="0">
                <a:latin typeface="微软雅黑" panose="020B0503020204020204" charset="-122"/>
                <a:ea typeface="微软雅黑" panose="020B0503020204020204" charset="-122"/>
              </a:rPr>
              <a:t>求解。</a:t>
            </a:r>
            <a:endParaRPr lang="zh-CN" altLang="en-US" sz="900" spc="150" dirty="0">
              <a:latin typeface="微软雅黑" panose="020B0503020204020204" charset="-122"/>
              <a:ea typeface="微软雅黑" panose="020B0503020204020204" charset="-122"/>
            </a:endParaRPr>
          </a:p>
        </p:txBody>
      </p:sp>
      <p:sp>
        <p:nvSpPr>
          <p:cNvPr id="51" name="文本框 50"/>
          <p:cNvSpPr txBox="1"/>
          <p:nvPr>
            <p:custDataLst>
              <p:tags r:id="rId14"/>
            </p:custDataLst>
          </p:nvPr>
        </p:nvSpPr>
        <p:spPr>
          <a:xfrm>
            <a:off x="5923345" y="1925192"/>
            <a:ext cx="2358148" cy="505742"/>
          </a:xfrm>
          <a:prstGeom prst="rect">
            <a:avLst/>
          </a:prstGeom>
          <a:noFill/>
          <a:ln>
            <a:noFill/>
          </a:ln>
        </p:spPr>
        <p:txBody>
          <a:bodyPr wrap="square" lIns="68580" tIns="0" rIns="68580" bIns="34290" anchor="t" anchorCtr="0">
            <a:normAutofit/>
          </a:bodyPr>
          <a:lstStyle/>
          <a:p>
            <a:pPr>
              <a:lnSpc>
                <a:spcPct val="120000"/>
              </a:lnSpc>
            </a:pPr>
            <a:r>
              <a:rPr lang="zh-CN" altLang="en-US" sz="1050" spc="150" dirty="0">
                <a:latin typeface="微软雅黑" panose="020B0503020204020204" charset="-122"/>
                <a:ea typeface="微软雅黑" panose="020B0503020204020204" charset="-122"/>
              </a:rPr>
              <a:t>机械臂运动学逆解方法可分为封闭解法和数值解法两大类。</a:t>
            </a:r>
          </a:p>
        </p:txBody>
      </p:sp>
      <p:cxnSp>
        <p:nvCxnSpPr>
          <p:cNvPr id="52" name="直接连接符 51"/>
          <p:cNvCxnSpPr/>
          <p:nvPr>
            <p:custDataLst>
              <p:tags r:id="rId15"/>
            </p:custDataLst>
          </p:nvPr>
        </p:nvCxnSpPr>
        <p:spPr>
          <a:xfrm>
            <a:off x="837107" y="3450851"/>
            <a:ext cx="2334602" cy="0"/>
          </a:xfrm>
          <a:prstGeom prst="line">
            <a:avLst/>
          </a:prstGeom>
          <a:noFill/>
          <a:ln w="3175" cap="rnd" cmpd="sng" algn="ctr">
            <a:solidFill>
              <a:sysClr val="window" lastClr="FFFFFF">
                <a:lumMod val="75000"/>
              </a:sysClr>
            </a:solidFill>
            <a:prstDash val="solid"/>
            <a:round/>
          </a:ln>
          <a:effectLst/>
        </p:spPr>
      </p:cxnSp>
      <p:cxnSp>
        <p:nvCxnSpPr>
          <p:cNvPr id="53" name="直接连接符 52"/>
          <p:cNvCxnSpPr/>
          <p:nvPr>
            <p:custDataLst>
              <p:tags r:id="rId16"/>
            </p:custDataLst>
          </p:nvPr>
        </p:nvCxnSpPr>
        <p:spPr>
          <a:xfrm>
            <a:off x="5923345" y="3723878"/>
            <a:ext cx="2334602" cy="0"/>
          </a:xfrm>
          <a:prstGeom prst="line">
            <a:avLst/>
          </a:prstGeom>
          <a:noFill/>
          <a:ln w="3175" cap="rnd" cmpd="sng" algn="ctr">
            <a:solidFill>
              <a:sysClr val="window" lastClr="FFFFFF">
                <a:lumMod val="75000"/>
              </a:sysClr>
            </a:solidFill>
            <a:prstDash val="solid"/>
            <a:round/>
          </a:ln>
          <a:effectLst/>
        </p:spPr>
      </p:cxnSp>
      <p:cxnSp>
        <p:nvCxnSpPr>
          <p:cNvPr id="54" name="直接连接符 53"/>
          <p:cNvCxnSpPr/>
          <p:nvPr>
            <p:custDataLst>
              <p:tags r:id="rId17"/>
            </p:custDataLst>
          </p:nvPr>
        </p:nvCxnSpPr>
        <p:spPr>
          <a:xfrm>
            <a:off x="837107" y="2602325"/>
            <a:ext cx="2334602" cy="0"/>
          </a:xfrm>
          <a:prstGeom prst="line">
            <a:avLst/>
          </a:prstGeom>
          <a:noFill/>
          <a:ln w="3175" cap="rnd" cmpd="sng" algn="ctr">
            <a:solidFill>
              <a:sysClr val="window" lastClr="FFFFFF">
                <a:lumMod val="75000"/>
              </a:sysClr>
            </a:solidFill>
            <a:prstDash val="solid"/>
            <a:round/>
          </a:ln>
          <a:effectLst/>
        </p:spPr>
      </p:cxnSp>
      <p:cxnSp>
        <p:nvCxnSpPr>
          <p:cNvPr id="55" name="直接连接符 54"/>
          <p:cNvCxnSpPr/>
          <p:nvPr>
            <p:custDataLst>
              <p:tags r:id="rId18"/>
            </p:custDataLst>
          </p:nvPr>
        </p:nvCxnSpPr>
        <p:spPr>
          <a:xfrm>
            <a:off x="5923345" y="2602325"/>
            <a:ext cx="2334602" cy="0"/>
          </a:xfrm>
          <a:prstGeom prst="line">
            <a:avLst/>
          </a:prstGeom>
          <a:noFill/>
          <a:ln w="3175" cap="rnd" cmpd="sng" algn="ctr">
            <a:solidFill>
              <a:sysClr val="window" lastClr="FFFFFF">
                <a:lumMod val="75000"/>
              </a:sysClr>
            </a:solidFill>
            <a:prstDash val="solid"/>
            <a:round/>
          </a:ln>
          <a:effectLst/>
        </p:spPr>
      </p:cxnSp>
      <p:grpSp>
        <p:nvGrpSpPr>
          <p:cNvPr id="107" name="组合 106"/>
          <p:cNvGrpSpPr/>
          <p:nvPr/>
        </p:nvGrpSpPr>
        <p:grpSpPr>
          <a:xfrm>
            <a:off x="-236220" y="219075"/>
            <a:ext cx="5153660" cy="598805"/>
            <a:chOff x="-372" y="345"/>
            <a:chExt cx="8116" cy="943"/>
          </a:xfrm>
        </p:grpSpPr>
        <p:sp>
          <p:nvSpPr>
            <p:cNvPr id="3" name="矩形 2"/>
            <p:cNvSpPr/>
            <p:nvPr/>
          </p:nvSpPr>
          <p:spPr>
            <a:xfrm>
              <a:off x="443" y="824"/>
              <a:ext cx="6313" cy="464"/>
            </a:xfrm>
            <a:prstGeom prst="rect">
              <a:avLst/>
            </a:prstGeom>
          </p:spPr>
          <p:txBody>
            <a:bodyPr wrap="square">
              <a:spAutoFit/>
            </a:bodyPr>
            <a:lstStyle/>
            <a:p>
              <a:pPr algn="l">
                <a:lnSpc>
                  <a:spcPct val="150000"/>
                </a:lnSpc>
              </a:pPr>
              <a:r>
                <a:rPr lang="en-US" altLang="zh-CN" sz="1000" dirty="0" err="1" smtClean="0">
                  <a:solidFill>
                    <a:schemeClr val="tx1"/>
                  </a:solidFill>
                  <a:latin typeface="Arial" panose="020B0604020202020204" pitchFamily="34" charset="0"/>
                  <a:ea typeface="微软雅黑" panose="020B0503020204020204" charset="-122"/>
                  <a:sym typeface="+mn-ea"/>
                </a:rPr>
                <a:t>Kenematics</a:t>
              </a:r>
              <a:r>
                <a:rPr lang="en-US" altLang="zh-CN" sz="1000" dirty="0" smtClean="0">
                  <a:solidFill>
                    <a:schemeClr val="tx1"/>
                  </a:solidFill>
                  <a:latin typeface="Arial" panose="020B0604020202020204" pitchFamily="34" charset="0"/>
                  <a:ea typeface="微软雅黑" panose="020B0503020204020204" charset="-122"/>
                  <a:sym typeface="+mn-ea"/>
                </a:rPr>
                <a:t> </a:t>
              </a:r>
              <a:r>
                <a:rPr lang="en-US" altLang="zh-CN" sz="1000" dirty="0" smtClean="0">
                  <a:latin typeface="Arial" panose="020B0604020202020204" pitchFamily="34" charset="0"/>
                  <a:ea typeface="微软雅黑" panose="020B0503020204020204" charset="-122"/>
                  <a:sym typeface="+mn-ea"/>
                </a:rPr>
                <a:t>of 6R </a:t>
              </a:r>
              <a:r>
                <a:rPr lang="en-US" altLang="zh-CN" sz="1000" dirty="0">
                  <a:latin typeface="Arial" panose="020B0604020202020204" pitchFamily="34" charset="0"/>
                  <a:ea typeface="微软雅黑" panose="020B0503020204020204" charset="-122"/>
                  <a:sym typeface="+mn-ea"/>
                </a:rPr>
                <a:t>S</a:t>
              </a:r>
              <a:r>
                <a:rPr lang="en-US" altLang="zh-CN" sz="1000" dirty="0" smtClean="0">
                  <a:latin typeface="Arial" panose="020B0604020202020204" pitchFamily="34" charset="0"/>
                  <a:ea typeface="微软雅黑" panose="020B0503020204020204" charset="-122"/>
                  <a:sym typeface="+mn-ea"/>
                </a:rPr>
                <a:t>erial </a:t>
              </a:r>
              <a:r>
                <a:rPr lang="en-US" altLang="zh-CN" sz="1000" dirty="0">
                  <a:latin typeface="Arial" panose="020B0604020202020204" pitchFamily="34" charset="0"/>
                  <a:ea typeface="微软雅黑" panose="020B0503020204020204" charset="-122"/>
                  <a:sym typeface="+mn-ea"/>
                </a:rPr>
                <a:t>R</a:t>
              </a:r>
              <a:r>
                <a:rPr lang="en-US" altLang="zh-CN" sz="1000" dirty="0" smtClean="0">
                  <a:latin typeface="Arial" panose="020B0604020202020204" pitchFamily="34" charset="0"/>
                  <a:ea typeface="微软雅黑" panose="020B0503020204020204" charset="-122"/>
                  <a:sym typeface="+mn-ea"/>
                </a:rPr>
                <a:t>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4" name="文本框 3"/>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多轴</a:t>
              </a:r>
              <a:r>
                <a:rPr lang="zh-CN" altLang="en-US" sz="2000" b="1" dirty="0" smtClean="0">
                  <a:latin typeface="Arial" panose="020B0604020202020204" pitchFamily="34" charset="0"/>
                  <a:ea typeface="微软雅黑" panose="020B0503020204020204" charset="-122"/>
                  <a:sym typeface="+mn-ea"/>
                </a:rPr>
                <a:t>串联</a:t>
              </a:r>
              <a:r>
                <a:rPr lang="zh-CN" altLang="en-US" sz="2000" b="1" dirty="0">
                  <a:latin typeface="Arial" panose="020B0604020202020204" pitchFamily="34" charset="0"/>
                  <a:ea typeface="微软雅黑" panose="020B0503020204020204" charset="-122"/>
                  <a:sym typeface="+mn-ea"/>
                </a:rPr>
                <a:t>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678952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219075"/>
            <a:ext cx="5153660" cy="598805"/>
            <a:chOff x="-372" y="345"/>
            <a:chExt cx="8116" cy="943"/>
          </a:xfrm>
        </p:grpSpPr>
        <p:sp>
          <p:nvSpPr>
            <p:cNvPr id="3" name="矩形 2"/>
            <p:cNvSpPr/>
            <p:nvPr/>
          </p:nvSpPr>
          <p:spPr>
            <a:xfrm>
              <a:off x="443" y="824"/>
              <a:ext cx="6313" cy="464"/>
            </a:xfrm>
            <a:prstGeom prst="rect">
              <a:avLst/>
            </a:prstGeom>
          </p:spPr>
          <p:txBody>
            <a:bodyPr wrap="square">
              <a:spAutoFit/>
            </a:bodyPr>
            <a:lstStyle/>
            <a:p>
              <a:pPr algn="l">
                <a:lnSpc>
                  <a:spcPct val="150000"/>
                </a:lnSpc>
              </a:pPr>
              <a:r>
                <a:rPr lang="en-US" altLang="zh-CN" sz="1000" dirty="0" err="1" smtClean="0">
                  <a:solidFill>
                    <a:schemeClr val="tx1"/>
                  </a:solidFill>
                  <a:latin typeface="Arial" panose="020B0604020202020204" pitchFamily="34" charset="0"/>
                  <a:ea typeface="微软雅黑" panose="020B0503020204020204" charset="-122"/>
                  <a:sym typeface="+mn-ea"/>
                </a:rPr>
                <a:t>Kenematics</a:t>
              </a:r>
              <a:r>
                <a:rPr lang="en-US" altLang="zh-CN" sz="1000" dirty="0" smtClean="0">
                  <a:solidFill>
                    <a:schemeClr val="tx1"/>
                  </a:solidFill>
                  <a:latin typeface="Arial" panose="020B0604020202020204" pitchFamily="34" charset="0"/>
                  <a:ea typeface="微软雅黑" panose="020B0503020204020204" charset="-122"/>
                  <a:sym typeface="+mn-ea"/>
                </a:rPr>
                <a:t> </a:t>
              </a:r>
              <a:r>
                <a:rPr lang="en-US" altLang="zh-CN" sz="1000" dirty="0" smtClean="0">
                  <a:latin typeface="Arial" panose="020B0604020202020204" pitchFamily="34" charset="0"/>
                  <a:ea typeface="微软雅黑" panose="020B0503020204020204" charset="-122"/>
                  <a:sym typeface="+mn-ea"/>
                </a:rPr>
                <a:t>of 6R </a:t>
              </a:r>
              <a:r>
                <a:rPr lang="en-US" altLang="zh-CN" sz="1000" dirty="0">
                  <a:latin typeface="Arial" panose="020B0604020202020204" pitchFamily="34" charset="0"/>
                  <a:ea typeface="微软雅黑" panose="020B0503020204020204" charset="-122"/>
                  <a:sym typeface="+mn-ea"/>
                </a:rPr>
                <a:t>S</a:t>
              </a:r>
              <a:r>
                <a:rPr lang="en-US" altLang="zh-CN" sz="1000" dirty="0" smtClean="0">
                  <a:latin typeface="Arial" panose="020B0604020202020204" pitchFamily="34" charset="0"/>
                  <a:ea typeface="微软雅黑" panose="020B0503020204020204" charset="-122"/>
                  <a:sym typeface="+mn-ea"/>
                </a:rPr>
                <a:t>erial </a:t>
              </a:r>
              <a:r>
                <a:rPr lang="en-US" altLang="zh-CN" sz="1000" dirty="0">
                  <a:latin typeface="Arial" panose="020B0604020202020204" pitchFamily="34" charset="0"/>
                  <a:ea typeface="微软雅黑" panose="020B0503020204020204" charset="-122"/>
                  <a:sym typeface="+mn-ea"/>
                </a:rPr>
                <a:t>R</a:t>
              </a:r>
              <a:r>
                <a:rPr lang="en-US" altLang="zh-CN" sz="1000" dirty="0" smtClean="0">
                  <a:latin typeface="Arial" panose="020B0604020202020204" pitchFamily="34" charset="0"/>
                  <a:ea typeface="微软雅黑" panose="020B0503020204020204" charset="-122"/>
                  <a:sym typeface="+mn-ea"/>
                </a:rPr>
                <a:t>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4" name="文本框 3"/>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多轴</a:t>
              </a:r>
              <a:r>
                <a:rPr lang="zh-CN" altLang="en-US" sz="2000" b="1" dirty="0" smtClean="0">
                  <a:latin typeface="Arial" panose="020B0604020202020204" pitchFamily="34" charset="0"/>
                  <a:ea typeface="微软雅黑" panose="020B0503020204020204" charset="-122"/>
                  <a:sym typeface="+mn-ea"/>
                </a:rPr>
                <a:t>串联</a:t>
              </a:r>
              <a:r>
                <a:rPr lang="zh-CN" altLang="en-US" sz="2000" b="1" dirty="0">
                  <a:latin typeface="Arial" panose="020B0604020202020204" pitchFamily="34" charset="0"/>
                  <a:ea typeface="微软雅黑" panose="020B0503020204020204" charset="-122"/>
                  <a:sym typeface="+mn-ea"/>
                </a:rPr>
                <a:t>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2837398" y="2211710"/>
            <a:ext cx="4572000" cy="723275"/>
          </a:xfrm>
          <a:prstGeom prst="rect">
            <a:avLst/>
          </a:prstGeom>
        </p:spPr>
        <p:txBody>
          <a:bodyPr>
            <a:spAutoFit/>
          </a:bodyPr>
          <a:lstStyle/>
          <a:p>
            <a:pPr marL="285750" lvl="0" indent="-285750">
              <a:spcBef>
                <a:spcPts val="600"/>
              </a:spcBef>
              <a:spcAft>
                <a:spcPts val="600"/>
              </a:spcAft>
              <a:buFont typeface="Wingdings" panose="05000000000000000000" pitchFamily="2" charset="2"/>
              <a:buChar char="Ø"/>
            </a:pPr>
            <a:r>
              <a:rPr lang="zh-CN" altLang="zh-CN" dirty="0" smtClean="0">
                <a:latin typeface="宋体" panose="02010600030101010101" pitchFamily="2" charset="-122"/>
                <a:cs typeface="宋体" panose="02010600030101010101" pitchFamily="2" charset="-122"/>
              </a:rPr>
              <a:t>三</a:t>
            </a:r>
            <a:r>
              <a:rPr lang="zh-CN" altLang="zh-CN" dirty="0">
                <a:latin typeface="宋体" panose="02010600030101010101" pitchFamily="2" charset="-122"/>
                <a:cs typeface="宋体" panose="02010600030101010101" pitchFamily="2" charset="-122"/>
              </a:rPr>
              <a:t>个相邻关节轴线相交于一点；</a:t>
            </a:r>
          </a:p>
          <a:p>
            <a:pPr marL="285750" indent="-285750">
              <a:buFont typeface="Wingdings" panose="05000000000000000000" pitchFamily="2" charset="2"/>
              <a:buChar char="Ø"/>
            </a:pPr>
            <a:r>
              <a:rPr lang="zh-CN" altLang="zh-CN" dirty="0">
                <a:latin typeface="宋体" panose="02010600030101010101" pitchFamily="2" charset="-122"/>
                <a:cs typeface="宋体" panose="02010600030101010101" pitchFamily="2" charset="-122"/>
              </a:rPr>
              <a:t>三个相邻关节轴线互相</a:t>
            </a:r>
            <a:r>
              <a:rPr lang="zh-CN" altLang="zh-CN" dirty="0" smtClean="0">
                <a:latin typeface="宋体" panose="02010600030101010101" pitchFamily="2" charset="-122"/>
                <a:cs typeface="宋体" panose="02010600030101010101" pitchFamily="2" charset="-122"/>
              </a:rPr>
              <a:t>平行</a:t>
            </a:r>
            <a:endParaRPr lang="zh-CN" altLang="en-US" dirty="0">
              <a:latin typeface="宋体" panose="02010600030101010101" pitchFamily="2" charset="-122"/>
              <a:cs typeface="宋体" panose="02010600030101010101" pitchFamily="2" charset="-122"/>
            </a:endParaRPr>
          </a:p>
        </p:txBody>
      </p:sp>
      <p:sp>
        <p:nvSpPr>
          <p:cNvPr id="7" name="矩形 6"/>
          <p:cNvSpPr/>
          <p:nvPr/>
        </p:nvSpPr>
        <p:spPr>
          <a:xfrm>
            <a:off x="2555776" y="3573385"/>
            <a:ext cx="5400600" cy="369332"/>
          </a:xfrm>
          <a:prstGeom prst="rect">
            <a:avLst/>
          </a:prstGeom>
        </p:spPr>
        <p:txBody>
          <a:bodyPr wrap="square">
            <a:spAutoFit/>
          </a:bodyPr>
          <a:lstStyle/>
          <a:p>
            <a:r>
              <a:rPr lang="zh-CN" altLang="zh-CN" dirty="0"/>
              <a:t>数值解法主要包括消元法、延拓法和迭代计算法</a:t>
            </a:r>
            <a:endParaRPr lang="zh-CN" altLang="en-US" dirty="0"/>
          </a:p>
        </p:txBody>
      </p:sp>
      <p:sp>
        <p:nvSpPr>
          <p:cNvPr id="8" name="矩形 7"/>
          <p:cNvSpPr/>
          <p:nvPr/>
        </p:nvSpPr>
        <p:spPr>
          <a:xfrm>
            <a:off x="1438241" y="1944630"/>
            <a:ext cx="877163" cy="369332"/>
          </a:xfrm>
          <a:prstGeom prst="rect">
            <a:avLst/>
          </a:prstGeom>
        </p:spPr>
        <p:txBody>
          <a:bodyPr wrap="none">
            <a:spAutoFit/>
          </a:bodyPr>
          <a:lstStyle/>
          <a:p>
            <a:r>
              <a:rPr lang="zh-CN" altLang="zh-CN" dirty="0">
                <a:latin typeface="宋体" panose="02010600030101010101" pitchFamily="2" charset="-122"/>
                <a:cs typeface="宋体" panose="02010600030101010101" pitchFamily="2" charset="-122"/>
              </a:rPr>
              <a:t>封闭解</a:t>
            </a:r>
            <a:endParaRPr lang="zh-CN" altLang="en-US" dirty="0"/>
          </a:p>
        </p:txBody>
      </p:sp>
      <p:sp>
        <p:nvSpPr>
          <p:cNvPr id="9" name="矩形 8"/>
          <p:cNvSpPr/>
          <p:nvPr/>
        </p:nvSpPr>
        <p:spPr>
          <a:xfrm>
            <a:off x="1438240" y="3573385"/>
            <a:ext cx="877163" cy="369332"/>
          </a:xfrm>
          <a:prstGeom prst="rect">
            <a:avLst/>
          </a:prstGeom>
        </p:spPr>
        <p:txBody>
          <a:bodyPr wrap="none">
            <a:spAutoFit/>
          </a:bodyPr>
          <a:lstStyle/>
          <a:p>
            <a:r>
              <a:rPr lang="zh-CN" altLang="zh-CN" dirty="0"/>
              <a:t>数值解</a:t>
            </a:r>
            <a:endParaRPr lang="zh-CN" altLang="en-US" dirty="0"/>
          </a:p>
        </p:txBody>
      </p:sp>
      <p:sp>
        <p:nvSpPr>
          <p:cNvPr id="10" name="矩形 9"/>
          <p:cNvSpPr/>
          <p:nvPr/>
        </p:nvSpPr>
        <p:spPr>
          <a:xfrm>
            <a:off x="2806934" y="1259050"/>
            <a:ext cx="4572000" cy="923330"/>
          </a:xfrm>
          <a:prstGeom prst="rect">
            <a:avLst/>
          </a:prstGeom>
        </p:spPr>
        <p:txBody>
          <a:bodyPr>
            <a:spAutoFit/>
          </a:bodyPr>
          <a:lstStyle/>
          <a:p>
            <a:r>
              <a:rPr lang="zh-CN" altLang="en-US" dirty="0"/>
              <a:t>根据Donald Lee Pieper的研究，串联机械臂在结构上满足如下两个充分条件中的一个，就可以求得封闭解, Pieper准则如下：</a:t>
            </a:r>
          </a:p>
        </p:txBody>
      </p:sp>
      <p:sp>
        <p:nvSpPr>
          <p:cNvPr id="11" name="圆角矩形 10"/>
          <p:cNvSpPr/>
          <p:nvPr/>
        </p:nvSpPr>
        <p:spPr>
          <a:xfrm>
            <a:off x="1235284" y="1059582"/>
            <a:ext cx="6336704" cy="208823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a:off x="1235284" y="3435846"/>
            <a:ext cx="6336704" cy="72008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827584" y="4240708"/>
            <a:ext cx="7560840" cy="369332"/>
          </a:xfrm>
          <a:prstGeom prst="rect">
            <a:avLst/>
          </a:prstGeom>
        </p:spPr>
        <p:txBody>
          <a:bodyPr wrap="square">
            <a:spAutoFit/>
          </a:bodyPr>
          <a:lstStyle/>
          <a:p>
            <a:r>
              <a:rPr lang="zh-CN" altLang="zh-CN" kern="100" dirty="0">
                <a:ea typeface="等线" panose="02010600030101010101" pitchFamily="2" charset="-122"/>
                <a:cs typeface="Times New Roman" panose="02020603050405020304" pitchFamily="18" charset="0"/>
              </a:rPr>
              <a:t>工业机器人的</a:t>
            </a:r>
            <a:r>
              <a:rPr lang="zh-CN" altLang="zh-CN" b="1" kern="100" dirty="0">
                <a:ea typeface="等线" panose="02010600030101010101" pitchFamily="2" charset="-122"/>
                <a:cs typeface="Times New Roman" panose="02020603050405020304" pitchFamily="18" charset="0"/>
              </a:rPr>
              <a:t>定位精度</a:t>
            </a:r>
            <a:r>
              <a:rPr lang="zh-CN" altLang="zh-CN" kern="100" dirty="0">
                <a:ea typeface="等线" panose="02010600030101010101" pitchFamily="2" charset="-122"/>
                <a:cs typeface="Times New Roman" panose="02020603050405020304" pitchFamily="18" charset="0"/>
              </a:rPr>
              <a:t>包含两个指标：</a:t>
            </a:r>
            <a:r>
              <a:rPr lang="zh-CN" altLang="zh-CN" b="1" kern="100" dirty="0">
                <a:ea typeface="等线" panose="02010600030101010101" pitchFamily="2" charset="-122"/>
                <a:cs typeface="Times New Roman" panose="02020603050405020304" pitchFamily="18" charset="0"/>
              </a:rPr>
              <a:t>重复定位精度</a:t>
            </a:r>
            <a:r>
              <a:rPr lang="zh-CN" altLang="zh-CN" kern="100" dirty="0">
                <a:ea typeface="等线" panose="02010600030101010101" pitchFamily="2" charset="-122"/>
                <a:cs typeface="Times New Roman" panose="02020603050405020304" pitchFamily="18" charset="0"/>
              </a:rPr>
              <a:t>以及</a:t>
            </a:r>
            <a:r>
              <a:rPr lang="zh-CN" altLang="zh-CN" b="1" kern="100" dirty="0">
                <a:ea typeface="等线" panose="02010600030101010101" pitchFamily="2" charset="-122"/>
                <a:cs typeface="Times New Roman" panose="02020603050405020304" pitchFamily="18" charset="0"/>
              </a:rPr>
              <a:t>绝对定位精度</a:t>
            </a:r>
            <a:endParaRPr lang="zh-CN" altLang="en-US" dirty="0"/>
          </a:p>
        </p:txBody>
      </p:sp>
      <p:sp>
        <p:nvSpPr>
          <p:cNvPr id="14" name="矩形 13"/>
          <p:cNvSpPr/>
          <p:nvPr/>
        </p:nvSpPr>
        <p:spPr>
          <a:xfrm>
            <a:off x="1653208" y="4667743"/>
            <a:ext cx="5952316" cy="369332"/>
          </a:xfrm>
          <a:prstGeom prst="rect">
            <a:avLst/>
          </a:prstGeom>
        </p:spPr>
        <p:txBody>
          <a:bodyPr wrap="square">
            <a:spAutoFit/>
          </a:bodyPr>
          <a:lstStyle/>
          <a:p>
            <a:r>
              <a:rPr lang="zh-CN" altLang="en-US" dirty="0">
                <a:solidFill>
                  <a:srgbClr val="FF0000"/>
                </a:solidFill>
              </a:rPr>
              <a:t>思考一下，这两个定位精度和正逆解的精度有什么关系？</a:t>
            </a:r>
          </a:p>
        </p:txBody>
      </p:sp>
    </p:spTree>
    <p:extLst>
      <p:ext uri="{BB962C8B-B14F-4D97-AF65-F5344CB8AC3E}">
        <p14:creationId xmlns:p14="http://schemas.microsoft.com/office/powerpoint/2010/main" val="328872292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236220" y="219075"/>
            <a:ext cx="5153660" cy="598805"/>
            <a:chOff x="-372" y="345"/>
            <a:chExt cx="8116" cy="943"/>
          </a:xfrm>
        </p:grpSpPr>
        <p:sp>
          <p:nvSpPr>
            <p:cNvPr id="3" name="矩形 2"/>
            <p:cNvSpPr/>
            <p:nvPr/>
          </p:nvSpPr>
          <p:spPr>
            <a:xfrm>
              <a:off x="443" y="824"/>
              <a:ext cx="6313" cy="464"/>
            </a:xfrm>
            <a:prstGeom prst="rect">
              <a:avLst/>
            </a:prstGeom>
          </p:spPr>
          <p:txBody>
            <a:bodyPr wrap="square">
              <a:spAutoFit/>
            </a:bodyPr>
            <a:lstStyle/>
            <a:p>
              <a:pPr algn="l">
                <a:lnSpc>
                  <a:spcPct val="150000"/>
                </a:lnSpc>
              </a:pPr>
              <a:r>
                <a:rPr lang="en-US" altLang="zh-CN" sz="1000" dirty="0" err="1" smtClean="0">
                  <a:solidFill>
                    <a:schemeClr val="tx1"/>
                  </a:solidFill>
                  <a:latin typeface="Arial" panose="020B0604020202020204" pitchFamily="34" charset="0"/>
                  <a:ea typeface="微软雅黑" panose="020B0503020204020204" charset="-122"/>
                  <a:sym typeface="+mn-ea"/>
                </a:rPr>
                <a:t>Kenematics</a:t>
              </a:r>
              <a:r>
                <a:rPr lang="en-US" altLang="zh-CN" sz="1000" dirty="0" smtClean="0">
                  <a:solidFill>
                    <a:schemeClr val="tx1"/>
                  </a:solidFill>
                  <a:latin typeface="Arial" panose="020B0604020202020204" pitchFamily="34" charset="0"/>
                  <a:ea typeface="微软雅黑" panose="020B0503020204020204" charset="-122"/>
                  <a:sym typeface="+mn-ea"/>
                </a:rPr>
                <a:t> </a:t>
              </a:r>
              <a:r>
                <a:rPr lang="en-US" altLang="zh-CN" sz="1000" dirty="0" smtClean="0">
                  <a:latin typeface="Arial" panose="020B0604020202020204" pitchFamily="34" charset="0"/>
                  <a:ea typeface="微软雅黑" panose="020B0503020204020204" charset="-122"/>
                  <a:sym typeface="+mn-ea"/>
                </a:rPr>
                <a:t>of 6R </a:t>
              </a:r>
              <a:r>
                <a:rPr lang="en-US" altLang="zh-CN" sz="1000" dirty="0">
                  <a:latin typeface="Arial" panose="020B0604020202020204" pitchFamily="34" charset="0"/>
                  <a:ea typeface="微软雅黑" panose="020B0503020204020204" charset="-122"/>
                  <a:sym typeface="+mn-ea"/>
                </a:rPr>
                <a:t>S</a:t>
              </a:r>
              <a:r>
                <a:rPr lang="en-US" altLang="zh-CN" sz="1000" dirty="0" smtClean="0">
                  <a:latin typeface="Arial" panose="020B0604020202020204" pitchFamily="34" charset="0"/>
                  <a:ea typeface="微软雅黑" panose="020B0503020204020204" charset="-122"/>
                  <a:sym typeface="+mn-ea"/>
                </a:rPr>
                <a:t>erial </a:t>
              </a:r>
              <a:r>
                <a:rPr lang="en-US" altLang="zh-CN" sz="1000" dirty="0">
                  <a:latin typeface="Arial" panose="020B0604020202020204" pitchFamily="34" charset="0"/>
                  <a:ea typeface="微软雅黑" panose="020B0503020204020204" charset="-122"/>
                  <a:sym typeface="+mn-ea"/>
                </a:rPr>
                <a:t>R</a:t>
              </a:r>
              <a:r>
                <a:rPr lang="en-US" altLang="zh-CN" sz="1000" dirty="0" smtClean="0">
                  <a:latin typeface="Arial" panose="020B0604020202020204" pitchFamily="34" charset="0"/>
                  <a:ea typeface="微软雅黑" panose="020B0503020204020204" charset="-122"/>
                  <a:sym typeface="+mn-ea"/>
                </a:rPr>
                <a:t>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4" name="文本框 3"/>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6R</a:t>
              </a:r>
              <a:r>
                <a:rPr lang="zh-CN" altLang="en-US" sz="2000" b="1" dirty="0">
                  <a:latin typeface="Arial" panose="020B0604020202020204" pitchFamily="34" charset="0"/>
                  <a:ea typeface="微软雅黑" panose="020B0503020204020204" charset="-122"/>
                  <a:sym typeface="+mn-ea"/>
                </a:rPr>
                <a:t>串联机器人运动学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 name="椭圆 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4" name="图片 23">
            <a:extLst>
              <a:ext uri="{FF2B5EF4-FFF2-40B4-BE49-F238E27FC236}">
                <a16:creationId xmlns:a16="http://schemas.microsoft.com/office/drawing/2014/main" id="{4F2CCF43-EF0B-4617-A640-AC9359CCC0DC}"/>
              </a:ext>
            </a:extLst>
          </p:cNvPr>
          <p:cNvPicPr/>
          <p:nvPr/>
        </p:nvPicPr>
        <p:blipFill rotWithShape="1">
          <a:blip r:embed="rId3" cstate="print">
            <a:extLst>
              <a:ext uri="{28A0092B-C50C-407E-A947-70E740481C1C}">
                <a14:useLocalDpi xmlns:a14="http://schemas.microsoft.com/office/drawing/2010/main" val="0"/>
              </a:ext>
            </a:extLst>
          </a:blip>
          <a:srcRect l="17774" r="32435"/>
          <a:stretch/>
        </p:blipFill>
        <p:spPr>
          <a:xfrm>
            <a:off x="1763688" y="1144988"/>
            <a:ext cx="2659380" cy="3004185"/>
          </a:xfrm>
          <a:prstGeom prst="rect">
            <a:avLst/>
          </a:prstGeom>
          <a:effectLst>
            <a:outerShdw blurRad="50800" dist="38100" dir="10800000" algn="r" rotWithShape="0">
              <a:prstClr val="black">
                <a:alpha val="40000"/>
              </a:prstClr>
            </a:outerShdw>
          </a:effectLst>
        </p:spPr>
      </p:pic>
      <p:pic>
        <p:nvPicPr>
          <p:cNvPr id="25" name="图片 24"/>
          <p:cNvPicPr/>
          <p:nvPr/>
        </p:nvPicPr>
        <p:blipFill>
          <a:blip r:embed="rId4"/>
          <a:stretch>
            <a:fillRect/>
          </a:stretch>
        </p:blipFill>
        <p:spPr>
          <a:xfrm>
            <a:off x="5436096" y="1276521"/>
            <a:ext cx="1504950" cy="2905125"/>
          </a:xfrm>
          <a:prstGeom prst="rect">
            <a:avLst/>
          </a:prstGeom>
        </p:spPr>
      </p:pic>
      <p:sp>
        <p:nvSpPr>
          <p:cNvPr id="2" name="矩形 1"/>
          <p:cNvSpPr/>
          <p:nvPr/>
        </p:nvSpPr>
        <p:spPr>
          <a:xfrm>
            <a:off x="2530796" y="4476281"/>
            <a:ext cx="4516236" cy="369332"/>
          </a:xfrm>
          <a:prstGeom prst="rect">
            <a:avLst/>
          </a:prstGeom>
        </p:spPr>
        <p:txBody>
          <a:bodyPr wrap="none">
            <a:spAutoFit/>
          </a:bodyPr>
          <a:lstStyle/>
          <a:p>
            <a:r>
              <a:rPr lang="en-US" altLang="zh-CN" dirty="0" smtClean="0">
                <a:ea typeface="等线" panose="02010600030101010101" pitchFamily="2" charset="-122"/>
                <a:cs typeface="Times New Roman" panose="02020603050405020304" pitchFamily="18" charset="0"/>
              </a:rPr>
              <a:t>Examples: </a:t>
            </a:r>
            <a:r>
              <a:rPr lang="zh-CN" altLang="zh-CN" dirty="0" smtClean="0">
                <a:ea typeface="等线" panose="02010600030101010101" pitchFamily="2" charset="-122"/>
                <a:cs typeface="Times New Roman" panose="02020603050405020304" pitchFamily="18" charset="0"/>
              </a:rPr>
              <a:t>通用型</a:t>
            </a:r>
            <a:r>
              <a:rPr lang="zh-CN" altLang="zh-CN" dirty="0">
                <a:ea typeface="等线" panose="02010600030101010101" pitchFamily="2" charset="-122"/>
                <a:cs typeface="Times New Roman" panose="02020603050405020304" pitchFamily="18" charset="0"/>
              </a:rPr>
              <a:t>协作机械臂</a:t>
            </a:r>
            <a:r>
              <a:rPr lang="en-US" altLang="zh-CN" dirty="0">
                <a:ea typeface="等线" panose="02010600030101010101" pitchFamily="2" charset="-122"/>
                <a:cs typeface="Times New Roman" panose="02020603050405020304" pitchFamily="18" charset="0"/>
              </a:rPr>
              <a:t>AUBO-i5</a:t>
            </a:r>
            <a:r>
              <a:rPr lang="zh-CN" altLang="zh-CN" dirty="0">
                <a:ea typeface="等线" panose="02010600030101010101" pitchFamily="2" charset="-122"/>
                <a:cs typeface="Times New Roman" panose="02020603050405020304" pitchFamily="18" charset="0"/>
              </a:rPr>
              <a:t>机器人</a:t>
            </a:r>
            <a:endParaRPr lang="zh-CN" altLang="en-US" dirty="0"/>
          </a:p>
        </p:txBody>
      </p:sp>
    </p:spTree>
    <p:extLst>
      <p:ext uri="{BB962C8B-B14F-4D97-AF65-F5344CB8AC3E}">
        <p14:creationId xmlns:p14="http://schemas.microsoft.com/office/powerpoint/2010/main" val="248581656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923330"/>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本节以图</a:t>
            </a:r>
            <a:r>
              <a:rPr lang="en-US" altLang="zh-CN" sz="1200" dirty="0" smtClean="0">
                <a:latin typeface="Arial" panose="020B0604020202020204" pitchFamily="34" charset="0"/>
                <a:ea typeface="微软雅黑" panose="020B0503020204020204" charset="-122"/>
                <a:sym typeface="+mn-ea"/>
              </a:rPr>
              <a:t>3.18</a:t>
            </a:r>
            <a:r>
              <a:rPr lang="zh-CN" altLang="en-US" sz="1200" dirty="0" smtClean="0">
                <a:latin typeface="Arial" panose="020B0604020202020204" pitchFamily="34" charset="0"/>
                <a:ea typeface="微软雅黑" panose="020B0503020204020204" charset="-122"/>
                <a:sym typeface="+mn-ea"/>
              </a:rPr>
              <a:t>所</a:t>
            </a:r>
            <a:r>
              <a:rPr lang="zh-CN" altLang="en-US" sz="1200" dirty="0">
                <a:latin typeface="Arial" panose="020B0604020202020204" pitchFamily="34" charset="0"/>
                <a:ea typeface="微软雅黑" panose="020B0503020204020204" charset="-122"/>
                <a:sym typeface="+mn-ea"/>
              </a:rPr>
              <a:t>示的</a:t>
            </a:r>
            <a:r>
              <a:rPr lang="en-US" altLang="zh-CN" sz="1200" dirty="0">
                <a:latin typeface="Arial" panose="020B0604020202020204" pitchFamily="34" charset="0"/>
                <a:ea typeface="微软雅黑" panose="020B0503020204020204" charset="-122"/>
                <a:sym typeface="+mn-ea"/>
              </a:rPr>
              <a:t>6R</a:t>
            </a:r>
            <a:r>
              <a:rPr lang="zh-CN" altLang="en-US" sz="1200" dirty="0">
                <a:latin typeface="Arial" panose="020B0604020202020204" pitchFamily="34" charset="0"/>
                <a:ea typeface="微软雅黑" panose="020B0503020204020204" charset="-122"/>
                <a:sym typeface="+mn-ea"/>
              </a:rPr>
              <a:t>机器人为例，介绍</a:t>
            </a:r>
            <a:r>
              <a:rPr lang="en-US" altLang="zh-CN" sz="1200" dirty="0">
                <a:latin typeface="Arial" panose="020B0604020202020204" pitchFamily="34" charset="0"/>
                <a:ea typeface="微软雅黑" panose="020B0503020204020204" charset="-122"/>
                <a:sym typeface="+mn-ea"/>
              </a:rPr>
              <a:t>MDH</a:t>
            </a:r>
            <a:r>
              <a:rPr lang="zh-CN" altLang="en-US" sz="1200" dirty="0">
                <a:latin typeface="Arial" panose="020B0604020202020204" pitchFamily="34" charset="0"/>
                <a:ea typeface="微软雅黑" panose="020B0503020204020204" charset="-122"/>
                <a:sym typeface="+mn-ea"/>
              </a:rPr>
              <a:t>表示法、旋量法、四元素法以及对偶四元数法等正运动学求解算法。</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7" name="文本框 6"/>
          <p:cNvSpPr txBox="1"/>
          <p:nvPr/>
        </p:nvSpPr>
        <p:spPr>
          <a:xfrm>
            <a:off x="4319270" y="1951355"/>
            <a:ext cx="4213170" cy="523220"/>
          </a:xfrm>
          <a:prstGeom prst="rect">
            <a:avLst/>
          </a:prstGeom>
          <a:noFill/>
        </p:spPr>
        <p:txBody>
          <a:bodyPr wrap="square" rtlCol="0" anchor="t">
            <a:spAutoFit/>
          </a:bodyPr>
          <a:lstStyle/>
          <a:p>
            <a:r>
              <a:rPr lang="en-US" altLang="zh-CN" sz="2800" b="1" dirty="0">
                <a:latin typeface="Arial" panose="020B0604020202020204" pitchFamily="34" charset="0"/>
                <a:ea typeface="微软雅黑" panose="020B0503020204020204" charset="-122"/>
                <a:sym typeface="+mn-ea"/>
              </a:rPr>
              <a:t>6R</a:t>
            </a:r>
            <a:r>
              <a:rPr lang="zh-CN" altLang="en-US" sz="2800" b="1" dirty="0">
                <a:latin typeface="Arial" panose="020B0604020202020204" pitchFamily="34" charset="0"/>
                <a:ea typeface="微软雅黑" panose="020B0503020204020204" charset="-122"/>
                <a:sym typeface="+mn-ea"/>
              </a:rPr>
              <a:t>串联机器人正运动学</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06</a:t>
            </a:r>
            <a:endParaRPr lang="en-US" altLang="zh-CN" sz="6600" b="1" dirty="0">
              <a:solidFill>
                <a:schemeClr val="bg1"/>
              </a:solidFill>
              <a:latin typeface="微软雅黑" panose="020B0503020204020204" charset="-122"/>
              <a:ea typeface="微软雅黑" panose="020B0503020204020204" charset="-122"/>
              <a:sym typeface="+mn-ea"/>
            </a:endParaRPr>
          </a:p>
        </p:txBody>
      </p:sp>
    </p:spTree>
    <p:extLst>
      <p:ext uri="{BB962C8B-B14F-4D97-AF65-F5344CB8AC3E}">
        <p14:creationId xmlns:p14="http://schemas.microsoft.com/office/powerpoint/2010/main" val="402654881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1305" y="1347614"/>
            <a:ext cx="3240360" cy="2667453"/>
          </a:xfrm>
          <a:prstGeom prst="rect">
            <a:avLst/>
          </a:prstGeom>
        </p:spPr>
      </p:pic>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D-H Notation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en-US" altLang="zh-CN" sz="2000" b="1" dirty="0" smtClean="0">
                  <a:latin typeface="Arial" panose="020B0604020202020204" pitchFamily="34" charset="0"/>
                  <a:ea typeface="微软雅黑" panose="020B0503020204020204" charset="-122"/>
                  <a:sym typeface="+mn-ea"/>
                </a:rPr>
                <a:t>D-H</a:t>
              </a:r>
              <a:r>
                <a:rPr lang="zh-CN" altLang="en-US" sz="2000" b="1" dirty="0" smtClean="0">
                  <a:latin typeface="Arial" panose="020B0604020202020204" pitchFamily="34" charset="0"/>
                  <a:ea typeface="微软雅黑" panose="020B0503020204020204" charset="-122"/>
                  <a:sym typeface="+mn-ea"/>
                </a:rPr>
                <a:t>表示法</a:t>
              </a:r>
              <a:r>
                <a:rPr lang="en-US" altLang="zh-CN" sz="2000" b="1" dirty="0" smtClean="0">
                  <a:latin typeface="Arial" panose="020B0604020202020204" pitchFamily="34" charset="0"/>
                  <a:ea typeface="微软雅黑" panose="020B0503020204020204" charset="-122"/>
                  <a:sym typeface="+mn-ea"/>
                </a:rPr>
                <a:t>(MDH)</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矩形 7"/>
          <p:cNvSpPr/>
          <p:nvPr/>
        </p:nvSpPr>
        <p:spPr>
          <a:xfrm>
            <a:off x="1961478" y="790307"/>
            <a:ext cx="5304244" cy="369332"/>
          </a:xfrm>
          <a:prstGeom prst="rect">
            <a:avLst/>
          </a:prstGeom>
        </p:spPr>
        <p:txBody>
          <a:bodyPr wrap="square">
            <a:spAutoFit/>
          </a:bodyPr>
          <a:lstStyle/>
          <a:p>
            <a:r>
              <a:rPr lang="zh-CN" altLang="zh-CN" dirty="0">
                <a:cs typeface="Times New Roman" panose="02020603050405020304" pitchFamily="18" charset="0"/>
              </a:rPr>
              <a:t>第</a:t>
            </a:r>
            <a:r>
              <a:rPr lang="en-US" altLang="zh-CN" dirty="0">
                <a:cs typeface="Times New Roman" panose="02020603050405020304" pitchFamily="18" charset="0"/>
              </a:rPr>
              <a:t>1</a:t>
            </a:r>
            <a:r>
              <a:rPr lang="zh-CN" altLang="zh-CN" dirty="0">
                <a:cs typeface="Times New Roman" panose="02020603050405020304" pitchFamily="18" charset="0"/>
              </a:rPr>
              <a:t>步，</a:t>
            </a:r>
            <a:r>
              <a:rPr lang="zh-CN" altLang="zh-CN" dirty="0" smtClean="0">
                <a:cs typeface="Times New Roman" panose="02020603050405020304" pitchFamily="18" charset="0"/>
              </a:rPr>
              <a:t>根据</a:t>
            </a:r>
            <a:r>
              <a:rPr lang="zh-CN" altLang="en-US" dirty="0" smtClean="0">
                <a:cs typeface="Times New Roman" panose="02020603050405020304" pitchFamily="18" charset="0"/>
              </a:rPr>
              <a:t>左</a:t>
            </a:r>
            <a:r>
              <a:rPr lang="zh-CN" altLang="zh-CN" dirty="0" smtClean="0">
                <a:cs typeface="Times New Roman" panose="02020603050405020304" pitchFamily="18" charset="0"/>
              </a:rPr>
              <a:t>图的</a:t>
            </a:r>
            <a:r>
              <a:rPr lang="zh-CN" altLang="zh-CN" dirty="0">
                <a:cs typeface="Times New Roman" panose="02020603050405020304" pitchFamily="18" charset="0"/>
              </a:rPr>
              <a:t>结构，画连杆和关节简化图</a:t>
            </a:r>
            <a:endParaRPr lang="zh-CN" altLang="en-US" dirty="0"/>
          </a:p>
        </p:txBody>
      </p:sp>
      <p:pic>
        <p:nvPicPr>
          <p:cNvPr id="9" name="图片 8"/>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21665" y="1339954"/>
            <a:ext cx="5226799" cy="2675113"/>
          </a:xfrm>
          <a:prstGeom prst="rect">
            <a:avLst/>
          </a:prstGeom>
          <a:noFill/>
          <a:ln>
            <a:noFill/>
          </a:ln>
        </p:spPr>
      </p:pic>
    </p:spTree>
    <p:extLst>
      <p:ext uri="{BB962C8B-B14F-4D97-AF65-F5344CB8AC3E}">
        <p14:creationId xmlns:p14="http://schemas.microsoft.com/office/powerpoint/2010/main" val="315536027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1305" y="1347614"/>
            <a:ext cx="3240360" cy="2667453"/>
          </a:xfrm>
          <a:prstGeom prst="rect">
            <a:avLst/>
          </a:prstGeom>
        </p:spPr>
      </p:pic>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D-H Notation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en-US" altLang="zh-CN" sz="2000" b="1" dirty="0" smtClean="0">
                  <a:latin typeface="Arial" panose="020B0604020202020204" pitchFamily="34" charset="0"/>
                  <a:ea typeface="微软雅黑" panose="020B0503020204020204" charset="-122"/>
                  <a:sym typeface="+mn-ea"/>
                </a:rPr>
                <a:t>D-H</a:t>
              </a:r>
              <a:r>
                <a:rPr lang="zh-CN" altLang="en-US" sz="2000" b="1" dirty="0" smtClean="0">
                  <a:latin typeface="Arial" panose="020B0604020202020204" pitchFamily="34" charset="0"/>
                  <a:ea typeface="微软雅黑" panose="020B0503020204020204" charset="-122"/>
                  <a:sym typeface="+mn-ea"/>
                </a:rPr>
                <a:t>表示法</a:t>
              </a:r>
              <a:r>
                <a:rPr lang="en-US" altLang="zh-CN" sz="2000" b="1" dirty="0" smtClean="0">
                  <a:latin typeface="Arial" panose="020B0604020202020204" pitchFamily="34" charset="0"/>
                  <a:ea typeface="微软雅黑" panose="020B0503020204020204" charset="-122"/>
                  <a:sym typeface="+mn-ea"/>
                </a:rPr>
                <a:t>(MDH)</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矩形 7"/>
          <p:cNvSpPr/>
          <p:nvPr/>
        </p:nvSpPr>
        <p:spPr>
          <a:xfrm>
            <a:off x="1961478" y="790307"/>
            <a:ext cx="5304244" cy="369332"/>
          </a:xfrm>
          <a:prstGeom prst="rect">
            <a:avLst/>
          </a:prstGeom>
        </p:spPr>
        <p:txBody>
          <a:bodyPr wrap="square">
            <a:spAutoFit/>
          </a:bodyPr>
          <a:lstStyle/>
          <a:p>
            <a:r>
              <a:rPr lang="zh-CN" altLang="zh-CN" dirty="0"/>
              <a:t>第</a:t>
            </a:r>
            <a:r>
              <a:rPr lang="en-US" altLang="zh-CN" dirty="0"/>
              <a:t>2</a:t>
            </a:r>
            <a:r>
              <a:rPr lang="zh-CN" altLang="zh-CN" dirty="0"/>
              <a:t>步，画第一个坐标系</a:t>
            </a:r>
            <a:endParaRPr lang="zh-CN" altLang="en-US" dirty="0"/>
          </a:p>
        </p:txBody>
      </p:sp>
      <p:pic>
        <p:nvPicPr>
          <p:cNvPr id="10" name="图片 9"/>
          <p:cNvPicPr>
            <a:picLocks noChangeAspect="1"/>
          </p:cNvPicPr>
          <p:nvPr/>
        </p:nvPicPr>
        <p:blipFill>
          <a:blip r:embed="rId4"/>
          <a:stretch>
            <a:fillRect/>
          </a:stretch>
        </p:blipFill>
        <p:spPr>
          <a:xfrm>
            <a:off x="3521665" y="1347614"/>
            <a:ext cx="4875755" cy="2667453"/>
          </a:xfrm>
          <a:prstGeom prst="rect">
            <a:avLst/>
          </a:prstGeom>
        </p:spPr>
      </p:pic>
    </p:spTree>
    <p:extLst>
      <p:ext uri="{BB962C8B-B14F-4D97-AF65-F5344CB8AC3E}">
        <p14:creationId xmlns:p14="http://schemas.microsoft.com/office/powerpoint/2010/main" val="23180925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1305" y="1347614"/>
            <a:ext cx="3240360" cy="2667453"/>
          </a:xfrm>
          <a:prstGeom prst="rect">
            <a:avLst/>
          </a:prstGeom>
        </p:spPr>
      </p:pic>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D-H Notation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en-US" altLang="zh-CN" sz="2000" b="1" dirty="0" smtClean="0">
                  <a:latin typeface="Arial" panose="020B0604020202020204" pitchFamily="34" charset="0"/>
                  <a:ea typeface="微软雅黑" panose="020B0503020204020204" charset="-122"/>
                  <a:sym typeface="+mn-ea"/>
                </a:rPr>
                <a:t>D-H</a:t>
              </a:r>
              <a:r>
                <a:rPr lang="zh-CN" altLang="en-US" sz="2000" b="1" dirty="0" smtClean="0">
                  <a:latin typeface="Arial" panose="020B0604020202020204" pitchFamily="34" charset="0"/>
                  <a:ea typeface="微软雅黑" panose="020B0503020204020204" charset="-122"/>
                  <a:sym typeface="+mn-ea"/>
                </a:rPr>
                <a:t>表示法</a:t>
              </a:r>
              <a:r>
                <a:rPr lang="en-US" altLang="zh-CN" sz="2000" b="1" dirty="0" smtClean="0">
                  <a:latin typeface="Arial" panose="020B0604020202020204" pitchFamily="34" charset="0"/>
                  <a:ea typeface="微软雅黑" panose="020B0503020204020204" charset="-122"/>
                  <a:sym typeface="+mn-ea"/>
                </a:rPr>
                <a:t>(MDH)</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矩形 7"/>
          <p:cNvSpPr/>
          <p:nvPr/>
        </p:nvSpPr>
        <p:spPr>
          <a:xfrm>
            <a:off x="1961478" y="790307"/>
            <a:ext cx="5304244" cy="369332"/>
          </a:xfrm>
          <a:prstGeom prst="rect">
            <a:avLst/>
          </a:prstGeom>
        </p:spPr>
        <p:txBody>
          <a:bodyPr wrap="square">
            <a:spAutoFit/>
          </a:bodyPr>
          <a:lstStyle/>
          <a:p>
            <a:r>
              <a:rPr lang="zh-CN" altLang="zh-CN" dirty="0" smtClean="0"/>
              <a:t>第</a:t>
            </a:r>
            <a:r>
              <a:rPr lang="en-US" altLang="zh-CN" dirty="0"/>
              <a:t>3</a:t>
            </a:r>
            <a:r>
              <a:rPr lang="zh-CN" altLang="zh-CN" dirty="0" smtClean="0"/>
              <a:t>步</a:t>
            </a:r>
            <a:r>
              <a:rPr lang="zh-CN" altLang="zh-CN" dirty="0"/>
              <a:t>，</a:t>
            </a:r>
            <a:r>
              <a:rPr lang="zh-CN" altLang="zh-CN" dirty="0" smtClean="0"/>
              <a:t>画</a:t>
            </a:r>
            <a:r>
              <a:rPr lang="zh-CN" altLang="en-US" dirty="0" smtClean="0"/>
              <a:t>出所有</a:t>
            </a:r>
            <a:r>
              <a:rPr lang="zh-CN" altLang="zh-CN" dirty="0" smtClean="0"/>
              <a:t>坐标系</a:t>
            </a:r>
            <a:endParaRPr lang="zh-CN" altLang="en-US" dirty="0"/>
          </a:p>
        </p:txBody>
      </p:sp>
      <p:graphicFrame>
        <p:nvGraphicFramePr>
          <p:cNvPr id="9" name="对象 8"/>
          <p:cNvGraphicFramePr>
            <a:graphicFrameLocks noChangeAspect="1"/>
          </p:cNvGraphicFramePr>
          <p:nvPr>
            <p:extLst>
              <p:ext uri="{D42A27DB-BD31-4B8C-83A1-F6EECF244321}">
                <p14:modId xmlns:p14="http://schemas.microsoft.com/office/powerpoint/2010/main" val="803637604"/>
              </p:ext>
            </p:extLst>
          </p:nvPr>
        </p:nvGraphicFramePr>
        <p:xfrm>
          <a:off x="3521665" y="1329415"/>
          <a:ext cx="4506719" cy="2696244"/>
        </p:xfrm>
        <a:graphic>
          <a:graphicData uri="http://schemas.openxmlformats.org/presentationml/2006/ole">
            <mc:AlternateContent xmlns:mc="http://schemas.openxmlformats.org/markup-compatibility/2006">
              <mc:Choice xmlns:v="urn:schemas-microsoft-com:vml" Requires="v">
                <p:oleObj spid="_x0000_s14452" name="Visio" r:id="rId5" imgW="6447330" imgH="3857086" progId="Visio.Drawing.11">
                  <p:embed/>
                </p:oleObj>
              </mc:Choice>
              <mc:Fallback>
                <p:oleObj name="Visio" r:id="rId5" imgW="6447330" imgH="3857086" progId="Visio.Drawing.11">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21665" y="1329415"/>
                        <a:ext cx="4506719" cy="2696244"/>
                      </a:xfrm>
                      <a:prstGeom prst="rect">
                        <a:avLst/>
                      </a:prstGeom>
                      <a:noFill/>
                    </p:spPr>
                  </p:pic>
                </p:oleObj>
              </mc:Fallback>
            </mc:AlternateContent>
          </a:graphicData>
        </a:graphic>
      </p:graphicFrame>
      <p:sp>
        <p:nvSpPr>
          <p:cNvPr id="2" name="矩形 1"/>
          <p:cNvSpPr/>
          <p:nvPr/>
        </p:nvSpPr>
        <p:spPr>
          <a:xfrm>
            <a:off x="281305" y="4195435"/>
            <a:ext cx="8251135" cy="923330"/>
          </a:xfrm>
          <a:prstGeom prst="rect">
            <a:avLst/>
          </a:prstGeom>
        </p:spPr>
        <p:txBody>
          <a:bodyPr wrap="square">
            <a:spAutoFit/>
          </a:bodyPr>
          <a:lstStyle/>
          <a:p>
            <a:r>
              <a:rPr lang="zh-CN" altLang="en-US" dirty="0">
                <a:solidFill>
                  <a:srgbClr val="FF0000"/>
                </a:solidFill>
              </a:rPr>
              <a:t>注意为了简化DH参数，这里的MDH建模并未严格意义上将坐标原点建立在连杆的输入起点</a:t>
            </a:r>
            <a:r>
              <a:rPr lang="zh-CN" altLang="en-US" dirty="0" smtClean="0">
                <a:solidFill>
                  <a:srgbClr val="FF0000"/>
                </a:solidFill>
              </a:rPr>
              <a:t>上，例如这里</a:t>
            </a:r>
            <a:r>
              <a:rPr lang="en-US" altLang="zh-CN" dirty="0">
                <a:solidFill>
                  <a:srgbClr val="FF0000"/>
                </a:solidFill>
              </a:rPr>
              <a:t>{1}{2}{3}</a:t>
            </a:r>
            <a:r>
              <a:rPr lang="zh-CN" altLang="zh-CN" dirty="0" smtClean="0">
                <a:solidFill>
                  <a:srgbClr val="FF0000"/>
                </a:solidFill>
              </a:rPr>
              <a:t>坐标系</a:t>
            </a:r>
            <a:r>
              <a:rPr lang="zh-CN" altLang="en-US" dirty="0" smtClean="0">
                <a:solidFill>
                  <a:srgbClr val="FF0000"/>
                </a:solidFill>
              </a:rPr>
              <a:t>，</a:t>
            </a:r>
            <a:r>
              <a:rPr lang="en-US" altLang="zh-CN" dirty="0" smtClean="0">
                <a:solidFill>
                  <a:srgbClr val="FF0000"/>
                </a:solidFill>
              </a:rPr>
              <a:t>X</a:t>
            </a:r>
            <a:r>
              <a:rPr lang="zh-CN" altLang="en-US" dirty="0" smtClean="0">
                <a:solidFill>
                  <a:srgbClr val="FF0000"/>
                </a:solidFill>
              </a:rPr>
              <a:t>轴重合，</a:t>
            </a:r>
            <a:r>
              <a:rPr lang="en-US" altLang="zh-CN" dirty="0" smtClean="0">
                <a:solidFill>
                  <a:srgbClr val="FF0000"/>
                </a:solidFill>
              </a:rPr>
              <a:t>Z</a:t>
            </a:r>
            <a:r>
              <a:rPr lang="zh-CN" altLang="en-US" dirty="0" smtClean="0">
                <a:solidFill>
                  <a:srgbClr val="FF0000"/>
                </a:solidFill>
              </a:rPr>
              <a:t>轴平行，思考：这么做的好处是什么？</a:t>
            </a:r>
            <a:endParaRPr lang="zh-CN" altLang="en-US" dirty="0">
              <a:solidFill>
                <a:srgbClr val="FF0000"/>
              </a:solidFill>
            </a:endParaRPr>
          </a:p>
        </p:txBody>
      </p:sp>
      <p:sp>
        <p:nvSpPr>
          <p:cNvPr id="10" name="圆角矩形 9"/>
          <p:cNvSpPr/>
          <p:nvPr/>
        </p:nvSpPr>
        <p:spPr>
          <a:xfrm>
            <a:off x="281305" y="4195435"/>
            <a:ext cx="8035111" cy="94806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4822981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D-H Notation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en-US" altLang="zh-CN" sz="2000" b="1" dirty="0" smtClean="0">
                  <a:latin typeface="Arial" panose="020B0604020202020204" pitchFamily="34" charset="0"/>
                  <a:ea typeface="微软雅黑" panose="020B0503020204020204" charset="-122"/>
                  <a:sym typeface="+mn-ea"/>
                </a:rPr>
                <a:t>D-H</a:t>
              </a:r>
              <a:r>
                <a:rPr lang="zh-CN" altLang="en-US" sz="2000" b="1" dirty="0" smtClean="0">
                  <a:latin typeface="Arial" panose="020B0604020202020204" pitchFamily="34" charset="0"/>
                  <a:ea typeface="微软雅黑" panose="020B0503020204020204" charset="-122"/>
                  <a:sym typeface="+mn-ea"/>
                </a:rPr>
                <a:t>表示法</a:t>
              </a:r>
              <a:r>
                <a:rPr lang="en-US" altLang="zh-CN" sz="2000" b="1" dirty="0" smtClean="0">
                  <a:latin typeface="Arial" panose="020B0604020202020204" pitchFamily="34" charset="0"/>
                  <a:ea typeface="微软雅黑" panose="020B0503020204020204" charset="-122"/>
                  <a:sym typeface="+mn-ea"/>
                </a:rPr>
                <a:t>(MDH)</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矩形 7"/>
          <p:cNvSpPr/>
          <p:nvPr/>
        </p:nvSpPr>
        <p:spPr>
          <a:xfrm>
            <a:off x="1961478" y="790307"/>
            <a:ext cx="5304244" cy="369332"/>
          </a:xfrm>
          <a:prstGeom prst="rect">
            <a:avLst/>
          </a:prstGeom>
        </p:spPr>
        <p:txBody>
          <a:bodyPr wrap="square">
            <a:spAutoFit/>
          </a:bodyPr>
          <a:lstStyle/>
          <a:p>
            <a:r>
              <a:rPr lang="zh-CN" altLang="zh-CN" dirty="0" smtClean="0"/>
              <a:t>第</a:t>
            </a:r>
            <a:r>
              <a:rPr lang="en-US" altLang="zh-CN" dirty="0"/>
              <a:t>4</a:t>
            </a:r>
            <a:r>
              <a:rPr lang="zh-CN" altLang="zh-CN" dirty="0" smtClean="0"/>
              <a:t>步，</a:t>
            </a:r>
            <a:r>
              <a:rPr lang="zh-CN" altLang="en-US" dirty="0" smtClean="0"/>
              <a:t>计算</a:t>
            </a:r>
            <a:r>
              <a:rPr lang="en-US" altLang="zh-CN" dirty="0" smtClean="0"/>
              <a:t>MDH</a:t>
            </a:r>
            <a:r>
              <a:rPr lang="zh-CN" altLang="en-US" dirty="0" smtClean="0"/>
              <a:t>参数</a:t>
            </a:r>
            <a:endParaRPr lang="zh-CN" altLang="en-US" dirty="0"/>
          </a:p>
        </p:txBody>
      </p:sp>
      <p:graphicFrame>
        <p:nvGraphicFramePr>
          <p:cNvPr id="9" name="对象 8"/>
          <p:cNvGraphicFramePr>
            <a:graphicFrameLocks noChangeAspect="1"/>
          </p:cNvGraphicFramePr>
          <p:nvPr>
            <p:extLst>
              <p:ext uri="{D42A27DB-BD31-4B8C-83A1-F6EECF244321}">
                <p14:modId xmlns:p14="http://schemas.microsoft.com/office/powerpoint/2010/main" val="1075367103"/>
              </p:ext>
            </p:extLst>
          </p:nvPr>
        </p:nvGraphicFramePr>
        <p:xfrm>
          <a:off x="289585" y="1851670"/>
          <a:ext cx="3274303" cy="1958924"/>
        </p:xfrm>
        <a:graphic>
          <a:graphicData uri="http://schemas.openxmlformats.org/presentationml/2006/ole">
            <mc:AlternateContent xmlns:mc="http://schemas.openxmlformats.org/markup-compatibility/2006">
              <mc:Choice xmlns:v="urn:schemas-microsoft-com:vml" Requires="v">
                <p:oleObj spid="_x0000_s15473" name="Visio" r:id="rId4" imgW="6447330" imgH="3857086" progId="Visio.Drawing.11">
                  <p:embed/>
                </p:oleObj>
              </mc:Choice>
              <mc:Fallback>
                <p:oleObj name="Visio" r:id="rId4" imgW="6447330" imgH="3857086" progId="Visio.Drawing.11">
                  <p:embed/>
                  <p:pic>
                    <p:nvPicPr>
                      <p:cNvPr id="9" name="对象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585" y="1851670"/>
                        <a:ext cx="3274303" cy="1958924"/>
                      </a:xfrm>
                      <a:prstGeom prst="rect">
                        <a:avLst/>
                      </a:prstGeom>
                      <a:noFill/>
                    </p:spPr>
                  </p:pic>
                </p:oleObj>
              </mc:Fallback>
            </mc:AlternateContent>
          </a:graphicData>
        </a:graphic>
      </p:graphicFrame>
      <p:sp>
        <p:nvSpPr>
          <p:cNvPr id="10" name="文本框 9"/>
          <p:cNvSpPr txBox="1"/>
          <p:nvPr/>
        </p:nvSpPr>
        <p:spPr>
          <a:xfrm>
            <a:off x="3601410" y="4451747"/>
            <a:ext cx="1614545" cy="369332"/>
          </a:xfrm>
          <a:prstGeom prst="rect">
            <a:avLst/>
          </a:prstGeom>
          <a:noFill/>
        </p:spPr>
        <p:txBody>
          <a:bodyPr wrap="none" rtlCol="0">
            <a:spAutoFit/>
          </a:bodyPr>
          <a:lstStyle/>
          <a:p>
            <a:r>
              <a:rPr lang="zh-CN" altLang="en-US" dirty="0">
                <a:solidFill>
                  <a:srgbClr val="FF0000"/>
                </a:solidFill>
              </a:rPr>
              <a:t>和</a:t>
            </a:r>
            <a:r>
              <a:rPr lang="en-US" altLang="zh-CN" dirty="0" smtClean="0">
                <a:solidFill>
                  <a:srgbClr val="FF0000"/>
                </a:solidFill>
              </a:rPr>
              <a:t>SDH</a:t>
            </a:r>
            <a:r>
              <a:rPr lang="zh-CN" altLang="en-US" dirty="0" smtClean="0">
                <a:solidFill>
                  <a:srgbClr val="FF0000"/>
                </a:solidFill>
              </a:rPr>
              <a:t>的区别</a:t>
            </a:r>
            <a:r>
              <a:rPr lang="en-US" altLang="zh-CN" dirty="0" smtClean="0">
                <a:solidFill>
                  <a:srgbClr val="FF0000"/>
                </a:solidFill>
              </a:rPr>
              <a:t>?</a:t>
            </a:r>
            <a:endParaRPr lang="zh-CN" altLang="en-US" dirty="0">
              <a:solidFill>
                <a:srgbClr val="FF0000"/>
              </a:solidFill>
            </a:endParaRPr>
          </a:p>
        </p:txBody>
      </p:sp>
      <mc:AlternateContent xmlns:mc="http://schemas.openxmlformats.org/markup-compatibility/2006" xmlns:a14="http://schemas.microsoft.com/office/drawing/2010/main">
        <mc:Choice Requires="a14">
          <p:graphicFrame>
            <p:nvGraphicFramePr>
              <p:cNvPr id="11" name="表格 10"/>
              <p:cNvGraphicFramePr>
                <a:graphicFrameLocks noGrp="1"/>
              </p:cNvGraphicFramePr>
              <p:nvPr>
                <p:extLst>
                  <p:ext uri="{D42A27DB-BD31-4B8C-83A1-F6EECF244321}">
                    <p14:modId xmlns:p14="http://schemas.microsoft.com/office/powerpoint/2010/main" val="1469031185"/>
                  </p:ext>
                </p:extLst>
              </p:nvPr>
            </p:nvGraphicFramePr>
            <p:xfrm>
              <a:off x="3607522" y="1635646"/>
              <a:ext cx="5192395" cy="2666365"/>
            </p:xfrm>
            <a:graphic>
              <a:graphicData uri="http://schemas.openxmlformats.org/drawingml/2006/table">
                <a:tbl>
                  <a:tblPr firstRow="1" firstCol="1" bandRow="1">
                    <a:tableStyleId>{5C22544A-7EE6-4342-B048-85BDC9FD1C3A}</a:tableStyleId>
                  </a:tblPr>
                  <a:tblGrid>
                    <a:gridCol w="900430">
                      <a:extLst>
                        <a:ext uri="{9D8B030D-6E8A-4147-A177-3AD203B41FA5}">
                          <a16:colId xmlns:a16="http://schemas.microsoft.com/office/drawing/2014/main" val="838197372"/>
                        </a:ext>
                      </a:extLst>
                    </a:gridCol>
                    <a:gridCol w="723900">
                      <a:extLst>
                        <a:ext uri="{9D8B030D-6E8A-4147-A177-3AD203B41FA5}">
                          <a16:colId xmlns:a16="http://schemas.microsoft.com/office/drawing/2014/main" val="3602064967"/>
                        </a:ext>
                      </a:extLst>
                    </a:gridCol>
                    <a:gridCol w="723900">
                      <a:extLst>
                        <a:ext uri="{9D8B030D-6E8A-4147-A177-3AD203B41FA5}">
                          <a16:colId xmlns:a16="http://schemas.microsoft.com/office/drawing/2014/main" val="857507853"/>
                        </a:ext>
                      </a:extLst>
                    </a:gridCol>
                    <a:gridCol w="723900">
                      <a:extLst>
                        <a:ext uri="{9D8B030D-6E8A-4147-A177-3AD203B41FA5}">
                          <a16:colId xmlns:a16="http://schemas.microsoft.com/office/drawing/2014/main" val="15506373"/>
                        </a:ext>
                      </a:extLst>
                    </a:gridCol>
                    <a:gridCol w="1350010">
                      <a:extLst>
                        <a:ext uri="{9D8B030D-6E8A-4147-A177-3AD203B41FA5}">
                          <a16:colId xmlns:a16="http://schemas.microsoft.com/office/drawing/2014/main" val="1715290295"/>
                        </a:ext>
                      </a:extLst>
                    </a:gridCol>
                    <a:gridCol w="770255">
                      <a:extLst>
                        <a:ext uri="{9D8B030D-6E8A-4147-A177-3AD203B41FA5}">
                          <a16:colId xmlns:a16="http://schemas.microsoft.com/office/drawing/2014/main" val="3888283543"/>
                        </a:ext>
                      </a:extLst>
                    </a:gridCol>
                  </a:tblGrid>
                  <a:tr h="315595">
                    <a:tc>
                      <a:txBody>
                        <a:bodyPr/>
                        <a:lstStyle/>
                        <a:p>
                          <a:pPr algn="ctr">
                            <a:lnSpc>
                              <a:spcPct val="125000"/>
                            </a:lnSpc>
                            <a:spcAft>
                              <a:spcPts val="600"/>
                            </a:spcAft>
                          </a:pPr>
                          <a:r>
                            <a:rPr lang="zh-CN" sz="1200" kern="100">
                              <a:effectLst/>
                            </a:rPr>
                            <a:t>连杆坐标系</a:t>
                          </a:r>
                          <a:r>
                            <a:rPr lang="en-US" sz="1200" kern="100">
                              <a:effectLst/>
                            </a:rPr>
                            <a:t>{i}</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14:m>
                            <m:oMathPara xmlns:m="http://schemas.openxmlformats.org/officeDocument/2006/math">
                              <m:oMathParaPr>
                                <m:jc m:val="centerGroup"/>
                              </m:oMathParaPr>
                              <m:oMath xmlns:m="http://schemas.openxmlformats.org/officeDocument/2006/math">
                                <m:sSub>
                                  <m:sSubPr>
                                    <m:ctrlPr>
                                      <a:rPr lang="zh-CN" sz="1200" i="1" kern="100">
                                        <a:effectLst/>
                                        <a:latin typeface="Cambria Math" panose="02040503050406030204" pitchFamily="18" charset="0"/>
                                      </a:rPr>
                                    </m:ctrlPr>
                                  </m:sSubPr>
                                  <m:e>
                                    <m:r>
                                      <m:rPr>
                                        <m:sty m:val="p"/>
                                      </m:rPr>
                                      <a:rPr lang="en-US" sz="1200" kern="100">
                                        <a:effectLst/>
                                        <a:latin typeface="Cambria Math" panose="02040503050406030204" pitchFamily="18" charset="0"/>
                                      </a:rPr>
                                      <m:t>α</m:t>
                                    </m:r>
                                  </m:e>
                                  <m:sub>
                                    <m:r>
                                      <a:rPr lang="en-US" sz="1200" kern="100">
                                        <a:effectLst/>
                                        <a:latin typeface="Cambria Math" panose="02040503050406030204" pitchFamily="18" charset="0"/>
                                      </a:rPr>
                                      <m:t>𝑛</m:t>
                                    </m:r>
                                    <m:r>
                                      <a:rPr lang="en-US" sz="1200" kern="100">
                                        <a:effectLst/>
                                        <a:latin typeface="Cambria Math" panose="02040503050406030204" pitchFamily="18" charset="0"/>
                                      </a:rPr>
                                      <m:t>−1</m:t>
                                    </m:r>
                                  </m:sub>
                                </m:sSub>
                              </m:oMath>
                            </m:oMathPara>
                          </a14:m>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14:m>
                            <m:oMathPara xmlns:m="http://schemas.openxmlformats.org/officeDocument/2006/math">
                              <m:oMathParaPr>
                                <m:jc m:val="centerGroup"/>
                              </m:oMathParaPr>
                              <m:oMath xmlns:m="http://schemas.openxmlformats.org/officeDocument/2006/math">
                                <m:sSub>
                                  <m:sSubPr>
                                    <m:ctrlPr>
                                      <a:rPr lang="zh-CN" sz="1200" i="1" kern="100" baseline="-25000">
                                        <a:effectLst/>
                                        <a:latin typeface="Cambria Math" panose="02040503050406030204" pitchFamily="18" charset="0"/>
                                      </a:rPr>
                                    </m:ctrlPr>
                                  </m:sSubPr>
                                  <m:e>
                                    <m:r>
                                      <a:rPr lang="en-US" sz="1200" kern="100" baseline="-25000">
                                        <a:effectLst/>
                                        <a:latin typeface="Cambria Math" panose="02040503050406030204" pitchFamily="18" charset="0"/>
                                      </a:rPr>
                                      <m:t>𝑎</m:t>
                                    </m:r>
                                  </m:e>
                                  <m:sub>
                                    <m:r>
                                      <a:rPr lang="en-US" sz="1200" kern="100" baseline="-25000">
                                        <a:effectLst/>
                                        <a:latin typeface="Cambria Math" panose="02040503050406030204" pitchFamily="18" charset="0"/>
                                      </a:rPr>
                                      <m:t>𝑛</m:t>
                                    </m:r>
                                    <m:r>
                                      <a:rPr lang="en-US" sz="1200" kern="100" baseline="-25000">
                                        <a:effectLst/>
                                        <a:latin typeface="Cambria Math" panose="02040503050406030204" pitchFamily="18" charset="0"/>
                                      </a:rPr>
                                      <m:t>−1</m:t>
                                    </m:r>
                                  </m:sub>
                                </m:sSub>
                              </m:oMath>
                            </m:oMathPara>
                          </a14:m>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14:m>
                            <m:oMathPara xmlns:m="http://schemas.openxmlformats.org/officeDocument/2006/math">
                              <m:oMathParaPr>
                                <m:jc m:val="centerGroup"/>
                              </m:oMathParaPr>
                              <m:oMath xmlns:m="http://schemas.openxmlformats.org/officeDocument/2006/math">
                                <m:sSub>
                                  <m:sSubPr>
                                    <m:ctrlPr>
                                      <a:rPr lang="zh-CN" sz="1200" i="1" kern="100" baseline="-25000">
                                        <a:effectLst/>
                                        <a:latin typeface="Cambria Math" panose="02040503050406030204" pitchFamily="18" charset="0"/>
                                      </a:rPr>
                                    </m:ctrlPr>
                                  </m:sSubPr>
                                  <m:e>
                                    <m:r>
                                      <a:rPr lang="en-US" sz="1200" kern="100" baseline="-25000">
                                        <a:effectLst/>
                                        <a:latin typeface="Cambria Math" panose="02040503050406030204" pitchFamily="18" charset="0"/>
                                      </a:rPr>
                                      <m:t>𝑑</m:t>
                                    </m:r>
                                  </m:e>
                                  <m:sub>
                                    <m:r>
                                      <a:rPr lang="en-US" sz="1200" kern="100" baseline="-25000">
                                        <a:effectLst/>
                                        <a:latin typeface="Cambria Math" panose="02040503050406030204" pitchFamily="18" charset="0"/>
                                      </a:rPr>
                                      <m:t>𝑛</m:t>
                                    </m:r>
                                  </m:sub>
                                </m:sSub>
                              </m:oMath>
                            </m:oMathPara>
                          </a14:m>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14:m>
                            <m:oMath xmlns:m="http://schemas.openxmlformats.org/officeDocument/2006/math">
                              <m:sSub>
                                <m:sSubPr>
                                  <m:ctrlPr>
                                    <a:rPr lang="zh-CN" sz="1200" i="1" kern="100">
                                      <a:effectLst/>
                                      <a:latin typeface="Cambria Math" panose="02040503050406030204" pitchFamily="18" charset="0"/>
                                    </a:rPr>
                                  </m:ctrlPr>
                                </m:sSubPr>
                                <m:e>
                                  <m:r>
                                    <m:rPr>
                                      <m:sty m:val="p"/>
                                    </m:rPr>
                                    <a:rPr lang="en-US" sz="1200" kern="100">
                                      <a:effectLst/>
                                      <a:latin typeface="Cambria Math" panose="02040503050406030204" pitchFamily="18" charset="0"/>
                                    </a:rPr>
                                    <m:t>θ</m:t>
                                  </m:r>
                                </m:e>
                                <m:sub>
                                  <m:r>
                                    <a:rPr lang="en-US" sz="1200" kern="100">
                                      <a:effectLst/>
                                      <a:latin typeface="Cambria Math" panose="02040503050406030204" pitchFamily="18" charset="0"/>
                                    </a:rPr>
                                    <m:t>𝑛</m:t>
                                  </m:r>
                                </m:sub>
                              </m:sSub>
                            </m:oMath>
                          </a14:m>
                          <a:r>
                            <a:rPr lang="zh-CN" sz="1200" kern="100">
                              <a:effectLst/>
                            </a:rPr>
                            <a:t>限制</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offset</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687791359"/>
                      </a:ext>
                    </a:extLst>
                  </a:tr>
                  <a:tr h="315595">
                    <a:tc>
                      <a:txBody>
                        <a:bodyPr/>
                        <a:lstStyle/>
                        <a:p>
                          <a:pPr algn="ctr">
                            <a:lnSpc>
                              <a:spcPct val="125000"/>
                            </a:lnSpc>
                            <a:spcAft>
                              <a:spcPts val="600"/>
                            </a:spcAft>
                          </a:pPr>
                          <a:r>
                            <a:rPr lang="en-US" sz="1200" kern="10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219669981"/>
                      </a:ext>
                    </a:extLst>
                  </a:tr>
                  <a:tr h="315595">
                    <a:tc>
                      <a:txBody>
                        <a:bodyPr/>
                        <a:lstStyle/>
                        <a:p>
                          <a:pPr algn="ctr">
                            <a:lnSpc>
                              <a:spcPct val="125000"/>
                            </a:lnSpc>
                            <a:spcAft>
                              <a:spcPts val="600"/>
                            </a:spcAft>
                          </a:pPr>
                          <a:r>
                            <a:rPr lang="en-US" sz="1200" kern="100">
                              <a:effectLst/>
                            </a:rPr>
                            <a:t>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zh-CN" sz="1200" kern="100">
                              <a:effectLst/>
                            </a:rPr>
                            <a:t>π</a:t>
                          </a:r>
                          <a:r>
                            <a:rPr lang="en-US" sz="1200" kern="100">
                              <a:effectLst/>
                            </a:rPr>
                            <a:t>/2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0.0985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zh-CN" sz="1200" kern="100">
                              <a:effectLst/>
                            </a:rPr>
                            <a:t>θ</a:t>
                          </a:r>
                          <a:r>
                            <a:rPr lang="en-US" sz="1200" kern="100" baseline="-25000">
                              <a:effectLst/>
                            </a:rPr>
                            <a:t>1</a:t>
                          </a:r>
                          <a:r>
                            <a:rPr lang="en-US" sz="1200" kern="100">
                              <a:effectLst/>
                            </a:rPr>
                            <a:t>: -175</a:t>
                          </a:r>
                          <a:r>
                            <a:rPr lang="en-US" sz="1200" kern="100" baseline="30000">
                              <a:effectLst/>
                            </a:rPr>
                            <a:t>o</a:t>
                          </a:r>
                          <a:r>
                            <a:rPr lang="zh-CN" sz="1200" kern="100">
                              <a:effectLst/>
                            </a:rPr>
                            <a:t>至</a:t>
                          </a:r>
                          <a:r>
                            <a:rPr lang="en-US" sz="1200" kern="100">
                              <a:effectLst/>
                            </a:rPr>
                            <a:t>175</a:t>
                          </a:r>
                          <a:r>
                            <a:rPr lang="en-US" sz="1200" kern="100" baseline="30000">
                              <a:effectLst/>
                            </a:rPr>
                            <a:t> o</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610288655"/>
                      </a:ext>
                    </a:extLst>
                  </a:tr>
                  <a:tr h="315595">
                    <a:tc>
                      <a:txBody>
                        <a:bodyPr/>
                        <a:lstStyle/>
                        <a:p>
                          <a:pPr algn="ctr">
                            <a:lnSpc>
                              <a:spcPct val="125000"/>
                            </a:lnSpc>
                            <a:spcAft>
                              <a:spcPts val="600"/>
                            </a:spcAft>
                          </a:pPr>
                          <a:r>
                            <a:rPr lang="en-US" sz="1200" kern="100">
                              <a:effectLst/>
                            </a:rPr>
                            <a:t>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-0.408</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zh-CN" sz="1200" kern="100">
                              <a:effectLst/>
                            </a:rPr>
                            <a:t>θ</a:t>
                          </a:r>
                          <a:r>
                            <a:rPr lang="en-US" sz="1200" kern="100" baseline="-25000">
                              <a:effectLst/>
                            </a:rPr>
                            <a:t>2</a:t>
                          </a:r>
                          <a:r>
                            <a:rPr lang="en-US" sz="1200" kern="100">
                              <a:effectLst/>
                            </a:rPr>
                            <a:t>: -175</a:t>
                          </a:r>
                          <a:r>
                            <a:rPr lang="en-US" sz="1200" kern="100" baseline="30000">
                              <a:effectLst/>
                            </a:rPr>
                            <a:t>o</a:t>
                          </a:r>
                          <a:r>
                            <a:rPr lang="zh-CN" sz="1200" kern="100">
                              <a:effectLst/>
                            </a:rPr>
                            <a:t>至</a:t>
                          </a:r>
                          <a:r>
                            <a:rPr lang="en-US" sz="1200" kern="100">
                              <a:effectLst/>
                            </a:rPr>
                            <a:t>175</a:t>
                          </a:r>
                          <a:r>
                            <a:rPr lang="en-US" sz="1200" kern="100" baseline="30000">
                              <a:effectLst/>
                            </a:rPr>
                            <a:t> o</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90</a:t>
                          </a:r>
                          <a:r>
                            <a:rPr lang="en-US" sz="1200" kern="100" baseline="30000">
                              <a:effectLst/>
                            </a:rPr>
                            <a:t> o</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001517183"/>
                      </a:ext>
                    </a:extLst>
                  </a:tr>
                  <a:tr h="315595">
                    <a:tc>
                      <a:txBody>
                        <a:bodyPr/>
                        <a:lstStyle/>
                        <a:p>
                          <a:pPr algn="ctr">
                            <a:lnSpc>
                              <a:spcPct val="125000"/>
                            </a:lnSpc>
                            <a:spcAft>
                              <a:spcPts val="600"/>
                            </a:spcAft>
                          </a:pPr>
                          <a:r>
                            <a:rPr lang="en-US" sz="1200" kern="100">
                              <a:effectLst/>
                            </a:rPr>
                            <a:t>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-0.376</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zh-CN" sz="1200" kern="100">
                              <a:effectLst/>
                            </a:rPr>
                            <a:t>θ</a:t>
                          </a:r>
                          <a:r>
                            <a:rPr lang="en-US" sz="1200" kern="100" baseline="-25000">
                              <a:effectLst/>
                            </a:rPr>
                            <a:t>3</a:t>
                          </a:r>
                          <a:r>
                            <a:rPr lang="en-US" sz="1200" kern="100">
                              <a:effectLst/>
                            </a:rPr>
                            <a:t>: -175</a:t>
                          </a:r>
                          <a:r>
                            <a:rPr lang="en-US" sz="1200" kern="100" baseline="30000">
                              <a:effectLst/>
                            </a:rPr>
                            <a:t>o</a:t>
                          </a:r>
                          <a:r>
                            <a:rPr lang="zh-CN" sz="1200" kern="100">
                              <a:effectLst/>
                            </a:rPr>
                            <a:t>至</a:t>
                          </a:r>
                          <a:r>
                            <a:rPr lang="en-US" sz="1200" kern="100">
                              <a:effectLst/>
                            </a:rPr>
                            <a:t>175</a:t>
                          </a:r>
                          <a:r>
                            <a:rPr lang="en-US" sz="1200" kern="100" baseline="30000">
                              <a:effectLst/>
                            </a:rPr>
                            <a:t> o</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322903173"/>
                      </a:ext>
                    </a:extLst>
                  </a:tr>
                  <a:tr h="315595">
                    <a:tc>
                      <a:txBody>
                        <a:bodyPr/>
                        <a:lstStyle/>
                        <a:p>
                          <a:pPr algn="ctr">
                            <a:lnSpc>
                              <a:spcPct val="125000"/>
                            </a:lnSpc>
                            <a:spcAft>
                              <a:spcPts val="600"/>
                            </a:spcAft>
                          </a:pPr>
                          <a:r>
                            <a:rPr lang="en-US" sz="1200" kern="100">
                              <a:effectLst/>
                            </a:rPr>
                            <a:t>4</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zh-CN" sz="1200" kern="100">
                              <a:effectLst/>
                            </a:rPr>
                            <a:t>π</a:t>
                          </a:r>
                          <a:r>
                            <a:rPr lang="en-US" sz="1200" kern="100">
                              <a:effectLst/>
                            </a:rPr>
                            <a:t>/2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0.1215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zh-CN" sz="1200" kern="100">
                              <a:effectLst/>
                            </a:rPr>
                            <a:t>θ</a:t>
                          </a:r>
                          <a:r>
                            <a:rPr lang="en-US" sz="1200" kern="100" baseline="-25000">
                              <a:effectLst/>
                            </a:rPr>
                            <a:t>4</a:t>
                          </a:r>
                          <a:r>
                            <a:rPr lang="en-US" sz="1200" kern="100">
                              <a:effectLst/>
                            </a:rPr>
                            <a:t>: -175</a:t>
                          </a:r>
                          <a:r>
                            <a:rPr lang="en-US" sz="1200" kern="100" baseline="30000">
                              <a:effectLst/>
                            </a:rPr>
                            <a:t>o</a:t>
                          </a:r>
                          <a:r>
                            <a:rPr lang="zh-CN" sz="1200" kern="100">
                              <a:effectLst/>
                            </a:rPr>
                            <a:t>至</a:t>
                          </a:r>
                          <a:r>
                            <a:rPr lang="en-US" sz="1200" kern="100">
                              <a:effectLst/>
                            </a:rPr>
                            <a:t>175</a:t>
                          </a:r>
                          <a:r>
                            <a:rPr lang="en-US" sz="1200" kern="100" baseline="30000">
                              <a:effectLst/>
                            </a:rPr>
                            <a:t> o</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90</a:t>
                          </a:r>
                          <a:r>
                            <a:rPr lang="en-US" sz="1200" kern="100" baseline="30000">
                              <a:effectLst/>
                            </a:rPr>
                            <a:t> o</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709407275"/>
                      </a:ext>
                    </a:extLst>
                  </a:tr>
                  <a:tr h="315595">
                    <a:tc>
                      <a:txBody>
                        <a:bodyPr/>
                        <a:lstStyle/>
                        <a:p>
                          <a:pPr algn="ctr">
                            <a:lnSpc>
                              <a:spcPct val="125000"/>
                            </a:lnSpc>
                            <a:spcAft>
                              <a:spcPts val="600"/>
                            </a:spcAft>
                          </a:pPr>
                          <a:r>
                            <a:rPr lang="en-US" sz="1200" kern="100">
                              <a:effectLst/>
                            </a:rPr>
                            <a:t>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a:t>
                          </a:r>
                          <a:r>
                            <a:rPr lang="zh-CN" sz="1200" kern="100">
                              <a:effectLst/>
                            </a:rPr>
                            <a:t>π</a:t>
                          </a:r>
                          <a:r>
                            <a:rPr lang="en-US" sz="1200" kern="100">
                              <a:effectLst/>
                            </a:rPr>
                            <a:t>/2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0.1025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zh-CN" sz="1200" kern="100">
                              <a:effectLst/>
                            </a:rPr>
                            <a:t>θ</a:t>
                          </a:r>
                          <a:r>
                            <a:rPr lang="en-US" sz="1200" kern="100" baseline="-25000">
                              <a:effectLst/>
                            </a:rPr>
                            <a:t>5</a:t>
                          </a:r>
                          <a:r>
                            <a:rPr lang="en-US" sz="1200" kern="100">
                              <a:effectLst/>
                            </a:rPr>
                            <a:t>: -175</a:t>
                          </a:r>
                          <a:r>
                            <a:rPr lang="en-US" sz="1200" kern="100" baseline="30000">
                              <a:effectLst/>
                            </a:rPr>
                            <a:t>o</a:t>
                          </a:r>
                          <a:r>
                            <a:rPr lang="zh-CN" sz="1200" kern="100">
                              <a:effectLst/>
                            </a:rPr>
                            <a:t>至</a:t>
                          </a:r>
                          <a:r>
                            <a:rPr lang="en-US" sz="1200" kern="100">
                              <a:effectLst/>
                            </a:rPr>
                            <a:t>175</a:t>
                          </a:r>
                          <a:r>
                            <a:rPr lang="en-US" sz="1200" kern="100" baseline="30000">
                              <a:effectLst/>
                            </a:rPr>
                            <a:t> o</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702977303"/>
                      </a:ext>
                    </a:extLst>
                  </a:tr>
                  <a:tr h="315595">
                    <a:tc>
                      <a:txBody>
                        <a:bodyPr/>
                        <a:lstStyle/>
                        <a:p>
                          <a:pPr algn="ctr">
                            <a:lnSpc>
                              <a:spcPct val="125000"/>
                            </a:lnSpc>
                            <a:spcAft>
                              <a:spcPts val="600"/>
                            </a:spcAft>
                          </a:pPr>
                          <a:r>
                            <a:rPr lang="en-US" sz="1200" kern="100">
                              <a:effectLst/>
                            </a:rPr>
                            <a:t>6</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0.094</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zh-CN" sz="1200" kern="100">
                              <a:effectLst/>
                            </a:rPr>
                            <a:t>θ</a:t>
                          </a:r>
                          <a:r>
                            <a:rPr lang="en-US" sz="1200" kern="100" baseline="-25000">
                              <a:effectLst/>
                            </a:rPr>
                            <a:t>6</a:t>
                          </a:r>
                          <a:r>
                            <a:rPr lang="en-US" sz="1200" kern="100">
                              <a:effectLst/>
                            </a:rPr>
                            <a:t>: -175</a:t>
                          </a:r>
                          <a:r>
                            <a:rPr lang="en-US" sz="1200" kern="100" baseline="30000">
                              <a:effectLst/>
                            </a:rPr>
                            <a:t>o</a:t>
                          </a:r>
                          <a:r>
                            <a:rPr lang="zh-CN" sz="1200" kern="100">
                              <a:effectLst/>
                            </a:rPr>
                            <a:t>至</a:t>
                          </a:r>
                          <a:r>
                            <a:rPr lang="en-US" sz="1200" kern="100">
                              <a:effectLst/>
                            </a:rPr>
                            <a:t>175</a:t>
                          </a:r>
                          <a:r>
                            <a:rPr lang="en-US" sz="1200" kern="100" baseline="30000">
                              <a:effectLst/>
                            </a:rPr>
                            <a:t> o</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dirty="0">
                              <a:effectLst/>
                            </a:rPr>
                            <a:t>0</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23122518"/>
                      </a:ext>
                    </a:extLst>
                  </a:tr>
                </a:tbl>
              </a:graphicData>
            </a:graphic>
          </p:graphicFrame>
        </mc:Choice>
        <mc:Fallback xmlns="">
          <p:graphicFrame>
            <p:nvGraphicFramePr>
              <p:cNvPr id="11" name="表格 10"/>
              <p:cNvGraphicFramePr>
                <a:graphicFrameLocks noGrp="1"/>
              </p:cNvGraphicFramePr>
              <p:nvPr>
                <p:extLst>
                  <p:ext uri="{D42A27DB-BD31-4B8C-83A1-F6EECF244321}">
                    <p14:modId xmlns:p14="http://schemas.microsoft.com/office/powerpoint/2010/main" val="1469031185"/>
                  </p:ext>
                </p:extLst>
              </p:nvPr>
            </p:nvGraphicFramePr>
            <p:xfrm>
              <a:off x="3607522" y="1635646"/>
              <a:ext cx="5192395" cy="2666365"/>
            </p:xfrm>
            <a:graphic>
              <a:graphicData uri="http://schemas.openxmlformats.org/drawingml/2006/table">
                <a:tbl>
                  <a:tblPr firstRow="1" firstCol="1" bandRow="1">
                    <a:tableStyleId>{5C22544A-7EE6-4342-B048-85BDC9FD1C3A}</a:tableStyleId>
                  </a:tblPr>
                  <a:tblGrid>
                    <a:gridCol w="900430">
                      <a:extLst>
                        <a:ext uri="{9D8B030D-6E8A-4147-A177-3AD203B41FA5}">
                          <a16:colId xmlns:a16="http://schemas.microsoft.com/office/drawing/2014/main" val="838197372"/>
                        </a:ext>
                      </a:extLst>
                    </a:gridCol>
                    <a:gridCol w="723900">
                      <a:extLst>
                        <a:ext uri="{9D8B030D-6E8A-4147-A177-3AD203B41FA5}">
                          <a16:colId xmlns:a16="http://schemas.microsoft.com/office/drawing/2014/main" val="3602064967"/>
                        </a:ext>
                      </a:extLst>
                    </a:gridCol>
                    <a:gridCol w="723900">
                      <a:extLst>
                        <a:ext uri="{9D8B030D-6E8A-4147-A177-3AD203B41FA5}">
                          <a16:colId xmlns:a16="http://schemas.microsoft.com/office/drawing/2014/main" val="857507853"/>
                        </a:ext>
                      </a:extLst>
                    </a:gridCol>
                    <a:gridCol w="723900">
                      <a:extLst>
                        <a:ext uri="{9D8B030D-6E8A-4147-A177-3AD203B41FA5}">
                          <a16:colId xmlns:a16="http://schemas.microsoft.com/office/drawing/2014/main" val="15506373"/>
                        </a:ext>
                      </a:extLst>
                    </a:gridCol>
                    <a:gridCol w="1350010">
                      <a:extLst>
                        <a:ext uri="{9D8B030D-6E8A-4147-A177-3AD203B41FA5}">
                          <a16:colId xmlns:a16="http://schemas.microsoft.com/office/drawing/2014/main" val="1715290295"/>
                        </a:ext>
                      </a:extLst>
                    </a:gridCol>
                    <a:gridCol w="770255">
                      <a:extLst>
                        <a:ext uri="{9D8B030D-6E8A-4147-A177-3AD203B41FA5}">
                          <a16:colId xmlns:a16="http://schemas.microsoft.com/office/drawing/2014/main" val="3888283543"/>
                        </a:ext>
                      </a:extLst>
                    </a:gridCol>
                  </a:tblGrid>
                  <a:tr h="457200">
                    <a:tc>
                      <a:txBody>
                        <a:bodyPr/>
                        <a:lstStyle/>
                        <a:p>
                          <a:pPr algn="ctr">
                            <a:lnSpc>
                              <a:spcPct val="125000"/>
                            </a:lnSpc>
                            <a:spcAft>
                              <a:spcPts val="600"/>
                            </a:spcAft>
                          </a:pPr>
                          <a:r>
                            <a:rPr lang="zh-CN" sz="1200" kern="100">
                              <a:effectLst/>
                            </a:rPr>
                            <a:t>连杆坐标系</a:t>
                          </a:r>
                          <a:r>
                            <a:rPr lang="en-US" sz="1200" kern="100">
                              <a:effectLst/>
                            </a:rPr>
                            <a:t>{i}</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endParaRPr lang="zh-CN"/>
                        </a:p>
                      </a:txBody>
                      <a:tcPr marL="68580" marR="68580" marT="0" marB="0">
                        <a:blipFill>
                          <a:blip r:embed="rId6"/>
                          <a:stretch>
                            <a:fillRect l="-125210" t="-6667" r="-495798" b="-486667"/>
                          </a:stretch>
                        </a:blipFill>
                      </a:tcPr>
                    </a:tc>
                    <a:tc>
                      <a:txBody>
                        <a:bodyPr/>
                        <a:lstStyle/>
                        <a:p>
                          <a:endParaRPr lang="zh-CN"/>
                        </a:p>
                      </a:txBody>
                      <a:tcPr marL="68580" marR="68580" marT="0" marB="0">
                        <a:blipFill>
                          <a:blip r:embed="rId6"/>
                          <a:stretch>
                            <a:fillRect l="-225210" t="-6667" r="-395798" b="-486667"/>
                          </a:stretch>
                        </a:blipFill>
                      </a:tcPr>
                    </a:tc>
                    <a:tc>
                      <a:txBody>
                        <a:bodyPr/>
                        <a:lstStyle/>
                        <a:p>
                          <a:endParaRPr lang="zh-CN"/>
                        </a:p>
                      </a:txBody>
                      <a:tcPr marL="68580" marR="68580" marT="0" marB="0">
                        <a:blipFill>
                          <a:blip r:embed="rId6"/>
                          <a:stretch>
                            <a:fillRect l="-325210" t="-6667" r="-295798" b="-486667"/>
                          </a:stretch>
                        </a:blipFill>
                      </a:tcPr>
                    </a:tc>
                    <a:tc>
                      <a:txBody>
                        <a:bodyPr/>
                        <a:lstStyle/>
                        <a:p>
                          <a:endParaRPr lang="zh-CN"/>
                        </a:p>
                      </a:txBody>
                      <a:tcPr marL="68580" marR="68580" marT="0" marB="0">
                        <a:blipFill>
                          <a:blip r:embed="rId6"/>
                          <a:stretch>
                            <a:fillRect l="-228959" t="-6667" r="-59276" b="-486667"/>
                          </a:stretch>
                        </a:blipFill>
                      </a:tcPr>
                    </a:tc>
                    <a:tc>
                      <a:txBody>
                        <a:bodyPr/>
                        <a:lstStyle/>
                        <a:p>
                          <a:pPr algn="ctr">
                            <a:lnSpc>
                              <a:spcPct val="125000"/>
                            </a:lnSpc>
                            <a:spcAft>
                              <a:spcPts val="600"/>
                            </a:spcAft>
                          </a:pPr>
                          <a:r>
                            <a:rPr lang="en-US" sz="1200" kern="100">
                              <a:effectLst/>
                            </a:rPr>
                            <a:t>offset</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687791359"/>
                      </a:ext>
                    </a:extLst>
                  </a:tr>
                  <a:tr h="315595">
                    <a:tc>
                      <a:txBody>
                        <a:bodyPr/>
                        <a:lstStyle/>
                        <a:p>
                          <a:pPr algn="ctr">
                            <a:lnSpc>
                              <a:spcPct val="125000"/>
                            </a:lnSpc>
                            <a:spcAft>
                              <a:spcPts val="600"/>
                            </a:spcAft>
                          </a:pPr>
                          <a:r>
                            <a:rPr lang="en-US" sz="1200" kern="10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219669981"/>
                      </a:ext>
                    </a:extLst>
                  </a:tr>
                  <a:tr h="315595">
                    <a:tc>
                      <a:txBody>
                        <a:bodyPr/>
                        <a:lstStyle/>
                        <a:p>
                          <a:pPr algn="ctr">
                            <a:lnSpc>
                              <a:spcPct val="125000"/>
                            </a:lnSpc>
                            <a:spcAft>
                              <a:spcPts val="600"/>
                            </a:spcAft>
                          </a:pPr>
                          <a:r>
                            <a:rPr lang="en-US" sz="1200" kern="100">
                              <a:effectLst/>
                            </a:rPr>
                            <a:t>1</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zh-CN" sz="1200" kern="100">
                              <a:effectLst/>
                            </a:rPr>
                            <a:t>π</a:t>
                          </a:r>
                          <a:r>
                            <a:rPr lang="en-US" sz="1200" kern="100">
                              <a:effectLst/>
                            </a:rPr>
                            <a:t>/2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0.0985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zh-CN" sz="1200" kern="100">
                              <a:effectLst/>
                            </a:rPr>
                            <a:t>θ</a:t>
                          </a:r>
                          <a:r>
                            <a:rPr lang="en-US" sz="1200" kern="100" baseline="-25000">
                              <a:effectLst/>
                            </a:rPr>
                            <a:t>1</a:t>
                          </a:r>
                          <a:r>
                            <a:rPr lang="en-US" sz="1200" kern="100">
                              <a:effectLst/>
                            </a:rPr>
                            <a:t>: -175</a:t>
                          </a:r>
                          <a:r>
                            <a:rPr lang="en-US" sz="1200" kern="100" baseline="30000">
                              <a:effectLst/>
                            </a:rPr>
                            <a:t>o</a:t>
                          </a:r>
                          <a:r>
                            <a:rPr lang="zh-CN" sz="1200" kern="100">
                              <a:effectLst/>
                            </a:rPr>
                            <a:t>至</a:t>
                          </a:r>
                          <a:r>
                            <a:rPr lang="en-US" sz="1200" kern="100">
                              <a:effectLst/>
                            </a:rPr>
                            <a:t>175</a:t>
                          </a:r>
                          <a:r>
                            <a:rPr lang="en-US" sz="1200" kern="100" baseline="30000">
                              <a:effectLst/>
                            </a:rPr>
                            <a:t> o</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610288655"/>
                      </a:ext>
                    </a:extLst>
                  </a:tr>
                  <a:tr h="315595">
                    <a:tc>
                      <a:txBody>
                        <a:bodyPr/>
                        <a:lstStyle/>
                        <a:p>
                          <a:pPr algn="ctr">
                            <a:lnSpc>
                              <a:spcPct val="125000"/>
                            </a:lnSpc>
                            <a:spcAft>
                              <a:spcPts val="600"/>
                            </a:spcAft>
                          </a:pPr>
                          <a:r>
                            <a:rPr lang="en-US" sz="1200" kern="100">
                              <a:effectLst/>
                            </a:rPr>
                            <a:t>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-0.408</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zh-CN" sz="1200" kern="100">
                              <a:effectLst/>
                            </a:rPr>
                            <a:t>θ</a:t>
                          </a:r>
                          <a:r>
                            <a:rPr lang="en-US" sz="1200" kern="100" baseline="-25000">
                              <a:effectLst/>
                            </a:rPr>
                            <a:t>2</a:t>
                          </a:r>
                          <a:r>
                            <a:rPr lang="en-US" sz="1200" kern="100">
                              <a:effectLst/>
                            </a:rPr>
                            <a:t>: -175</a:t>
                          </a:r>
                          <a:r>
                            <a:rPr lang="en-US" sz="1200" kern="100" baseline="30000">
                              <a:effectLst/>
                            </a:rPr>
                            <a:t>o</a:t>
                          </a:r>
                          <a:r>
                            <a:rPr lang="zh-CN" sz="1200" kern="100">
                              <a:effectLst/>
                            </a:rPr>
                            <a:t>至</a:t>
                          </a:r>
                          <a:r>
                            <a:rPr lang="en-US" sz="1200" kern="100">
                              <a:effectLst/>
                            </a:rPr>
                            <a:t>175</a:t>
                          </a:r>
                          <a:r>
                            <a:rPr lang="en-US" sz="1200" kern="100" baseline="30000">
                              <a:effectLst/>
                            </a:rPr>
                            <a:t> o</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90</a:t>
                          </a:r>
                          <a:r>
                            <a:rPr lang="en-US" sz="1200" kern="100" baseline="30000">
                              <a:effectLst/>
                            </a:rPr>
                            <a:t> o</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001517183"/>
                      </a:ext>
                    </a:extLst>
                  </a:tr>
                  <a:tr h="315595">
                    <a:tc>
                      <a:txBody>
                        <a:bodyPr/>
                        <a:lstStyle/>
                        <a:p>
                          <a:pPr algn="ctr">
                            <a:lnSpc>
                              <a:spcPct val="125000"/>
                            </a:lnSpc>
                            <a:spcAft>
                              <a:spcPts val="600"/>
                            </a:spcAft>
                          </a:pPr>
                          <a:r>
                            <a:rPr lang="en-US" sz="1200" kern="100">
                              <a:effectLst/>
                            </a:rPr>
                            <a:t>3</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-0.376</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zh-CN" sz="1200" kern="100">
                              <a:effectLst/>
                            </a:rPr>
                            <a:t>θ</a:t>
                          </a:r>
                          <a:r>
                            <a:rPr lang="en-US" sz="1200" kern="100" baseline="-25000">
                              <a:effectLst/>
                            </a:rPr>
                            <a:t>3</a:t>
                          </a:r>
                          <a:r>
                            <a:rPr lang="en-US" sz="1200" kern="100">
                              <a:effectLst/>
                            </a:rPr>
                            <a:t>: -175</a:t>
                          </a:r>
                          <a:r>
                            <a:rPr lang="en-US" sz="1200" kern="100" baseline="30000">
                              <a:effectLst/>
                            </a:rPr>
                            <a:t>o</a:t>
                          </a:r>
                          <a:r>
                            <a:rPr lang="zh-CN" sz="1200" kern="100">
                              <a:effectLst/>
                            </a:rPr>
                            <a:t>至</a:t>
                          </a:r>
                          <a:r>
                            <a:rPr lang="en-US" sz="1200" kern="100">
                              <a:effectLst/>
                            </a:rPr>
                            <a:t>175</a:t>
                          </a:r>
                          <a:r>
                            <a:rPr lang="en-US" sz="1200" kern="100" baseline="30000">
                              <a:effectLst/>
                            </a:rPr>
                            <a:t> o</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322903173"/>
                      </a:ext>
                    </a:extLst>
                  </a:tr>
                  <a:tr h="315595">
                    <a:tc>
                      <a:txBody>
                        <a:bodyPr/>
                        <a:lstStyle/>
                        <a:p>
                          <a:pPr algn="ctr">
                            <a:lnSpc>
                              <a:spcPct val="125000"/>
                            </a:lnSpc>
                            <a:spcAft>
                              <a:spcPts val="600"/>
                            </a:spcAft>
                          </a:pPr>
                          <a:r>
                            <a:rPr lang="en-US" sz="1200" kern="100">
                              <a:effectLst/>
                            </a:rPr>
                            <a:t>4</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zh-CN" sz="1200" kern="100">
                              <a:effectLst/>
                            </a:rPr>
                            <a:t>π</a:t>
                          </a:r>
                          <a:r>
                            <a:rPr lang="en-US" sz="1200" kern="100">
                              <a:effectLst/>
                            </a:rPr>
                            <a:t>/2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0.1215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zh-CN" sz="1200" kern="100">
                              <a:effectLst/>
                            </a:rPr>
                            <a:t>θ</a:t>
                          </a:r>
                          <a:r>
                            <a:rPr lang="en-US" sz="1200" kern="100" baseline="-25000">
                              <a:effectLst/>
                            </a:rPr>
                            <a:t>4</a:t>
                          </a:r>
                          <a:r>
                            <a:rPr lang="en-US" sz="1200" kern="100">
                              <a:effectLst/>
                            </a:rPr>
                            <a:t>: -175</a:t>
                          </a:r>
                          <a:r>
                            <a:rPr lang="en-US" sz="1200" kern="100" baseline="30000">
                              <a:effectLst/>
                            </a:rPr>
                            <a:t>o</a:t>
                          </a:r>
                          <a:r>
                            <a:rPr lang="zh-CN" sz="1200" kern="100">
                              <a:effectLst/>
                            </a:rPr>
                            <a:t>至</a:t>
                          </a:r>
                          <a:r>
                            <a:rPr lang="en-US" sz="1200" kern="100">
                              <a:effectLst/>
                            </a:rPr>
                            <a:t>175</a:t>
                          </a:r>
                          <a:r>
                            <a:rPr lang="en-US" sz="1200" kern="100" baseline="30000">
                              <a:effectLst/>
                            </a:rPr>
                            <a:t> o</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90</a:t>
                          </a:r>
                          <a:r>
                            <a:rPr lang="en-US" sz="1200" kern="100" baseline="30000">
                              <a:effectLst/>
                            </a:rPr>
                            <a:t> o</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709407275"/>
                      </a:ext>
                    </a:extLst>
                  </a:tr>
                  <a:tr h="315595">
                    <a:tc>
                      <a:txBody>
                        <a:bodyPr/>
                        <a:lstStyle/>
                        <a:p>
                          <a:pPr algn="ctr">
                            <a:lnSpc>
                              <a:spcPct val="125000"/>
                            </a:lnSpc>
                            <a:spcAft>
                              <a:spcPts val="600"/>
                            </a:spcAft>
                          </a:pPr>
                          <a:r>
                            <a:rPr lang="en-US" sz="1200" kern="100">
                              <a:effectLst/>
                            </a:rPr>
                            <a:t>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a:t>
                          </a:r>
                          <a:r>
                            <a:rPr lang="zh-CN" sz="1200" kern="100">
                              <a:effectLst/>
                            </a:rPr>
                            <a:t>π</a:t>
                          </a:r>
                          <a:r>
                            <a:rPr lang="en-US" sz="1200" kern="100">
                              <a:effectLst/>
                            </a:rPr>
                            <a:t>/2</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0.1025</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zh-CN" sz="1200" kern="100">
                              <a:effectLst/>
                            </a:rPr>
                            <a:t>θ</a:t>
                          </a:r>
                          <a:r>
                            <a:rPr lang="en-US" sz="1200" kern="100" baseline="-25000">
                              <a:effectLst/>
                            </a:rPr>
                            <a:t>5</a:t>
                          </a:r>
                          <a:r>
                            <a:rPr lang="en-US" sz="1200" kern="100">
                              <a:effectLst/>
                            </a:rPr>
                            <a:t>: -175</a:t>
                          </a:r>
                          <a:r>
                            <a:rPr lang="en-US" sz="1200" kern="100" baseline="30000">
                              <a:effectLst/>
                            </a:rPr>
                            <a:t>o</a:t>
                          </a:r>
                          <a:r>
                            <a:rPr lang="zh-CN" sz="1200" kern="100">
                              <a:effectLst/>
                            </a:rPr>
                            <a:t>至</a:t>
                          </a:r>
                          <a:r>
                            <a:rPr lang="en-US" sz="1200" kern="100">
                              <a:effectLst/>
                            </a:rPr>
                            <a:t>175</a:t>
                          </a:r>
                          <a:r>
                            <a:rPr lang="en-US" sz="1200" kern="100" baseline="30000">
                              <a:effectLst/>
                            </a:rPr>
                            <a:t> o</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702977303"/>
                      </a:ext>
                    </a:extLst>
                  </a:tr>
                  <a:tr h="315595">
                    <a:tc>
                      <a:txBody>
                        <a:bodyPr/>
                        <a:lstStyle/>
                        <a:p>
                          <a:pPr algn="ctr">
                            <a:lnSpc>
                              <a:spcPct val="125000"/>
                            </a:lnSpc>
                            <a:spcAft>
                              <a:spcPts val="600"/>
                            </a:spcAft>
                          </a:pPr>
                          <a:r>
                            <a:rPr lang="en-US" sz="1200" kern="100">
                              <a:effectLst/>
                            </a:rPr>
                            <a:t>6</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a:effectLst/>
                            </a:rPr>
                            <a:t>0.094</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zh-CN" sz="1200" kern="100">
                              <a:effectLst/>
                            </a:rPr>
                            <a:t>θ</a:t>
                          </a:r>
                          <a:r>
                            <a:rPr lang="en-US" sz="1200" kern="100" baseline="-25000">
                              <a:effectLst/>
                            </a:rPr>
                            <a:t>6</a:t>
                          </a:r>
                          <a:r>
                            <a:rPr lang="en-US" sz="1200" kern="100">
                              <a:effectLst/>
                            </a:rPr>
                            <a:t>: -175</a:t>
                          </a:r>
                          <a:r>
                            <a:rPr lang="en-US" sz="1200" kern="100" baseline="30000">
                              <a:effectLst/>
                            </a:rPr>
                            <a:t>o</a:t>
                          </a:r>
                          <a:r>
                            <a:rPr lang="zh-CN" sz="1200" kern="100">
                              <a:effectLst/>
                            </a:rPr>
                            <a:t>至</a:t>
                          </a:r>
                          <a:r>
                            <a:rPr lang="en-US" sz="1200" kern="100">
                              <a:effectLst/>
                            </a:rPr>
                            <a:t>175</a:t>
                          </a:r>
                          <a:r>
                            <a:rPr lang="en-US" sz="1200" kern="100" baseline="30000">
                              <a:effectLst/>
                            </a:rPr>
                            <a:t> o</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600"/>
                            </a:spcAft>
                          </a:pPr>
                          <a:r>
                            <a:rPr lang="en-US" sz="1200" kern="100" dirty="0">
                              <a:effectLst/>
                            </a:rPr>
                            <a:t>0</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23122518"/>
                      </a:ext>
                    </a:extLst>
                  </a:tr>
                </a:tbl>
              </a:graphicData>
            </a:graphic>
          </p:graphicFrame>
        </mc:Fallback>
      </mc:AlternateContent>
      <p:sp>
        <p:nvSpPr>
          <p:cNvPr id="12" name="矩形 11"/>
          <p:cNvSpPr/>
          <p:nvPr/>
        </p:nvSpPr>
        <p:spPr>
          <a:xfrm>
            <a:off x="5364088" y="1203454"/>
            <a:ext cx="2784352" cy="369332"/>
          </a:xfrm>
          <a:prstGeom prst="rect">
            <a:avLst/>
          </a:prstGeom>
        </p:spPr>
        <p:txBody>
          <a:bodyPr wrap="none">
            <a:spAutoFit/>
          </a:bodyPr>
          <a:lstStyle/>
          <a:p>
            <a:r>
              <a:rPr lang="zh-CN" altLang="zh-CN" kern="100" dirty="0">
                <a:ea typeface="等线" panose="02010600030101010101" pitchFamily="2" charset="-122"/>
                <a:cs typeface="Times New Roman" panose="02020603050405020304" pitchFamily="18" charset="0"/>
              </a:rPr>
              <a:t>表</a:t>
            </a:r>
            <a:r>
              <a:rPr lang="en-US" altLang="zh-CN" kern="100" dirty="0">
                <a:ea typeface="等线" panose="02010600030101010101" pitchFamily="2" charset="-122"/>
                <a:cs typeface="Times New Roman" panose="02020603050405020304" pitchFamily="18" charset="0"/>
              </a:rPr>
              <a:t>3.4 AUBO-i5 MDH</a:t>
            </a:r>
            <a:r>
              <a:rPr lang="zh-CN" altLang="zh-CN" kern="100" dirty="0">
                <a:ea typeface="等线" panose="02010600030101010101" pitchFamily="2" charset="-122"/>
                <a:cs typeface="Times New Roman" panose="02020603050405020304" pitchFamily="18" charset="0"/>
              </a:rPr>
              <a:t>参数表</a:t>
            </a:r>
            <a:endParaRPr lang="zh-CN" altLang="en-US" dirty="0"/>
          </a:p>
        </p:txBody>
      </p:sp>
    </p:spTree>
    <p:extLst>
      <p:ext uri="{BB962C8B-B14F-4D97-AF65-F5344CB8AC3E}">
        <p14:creationId xmlns:p14="http://schemas.microsoft.com/office/powerpoint/2010/main" val="64742438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D-H Notation</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en-US" altLang="zh-CN" sz="2000" b="1" dirty="0" smtClean="0">
                  <a:latin typeface="Arial" panose="020B0604020202020204" pitchFamily="34" charset="0"/>
                  <a:ea typeface="微软雅黑" panose="020B0503020204020204" charset="-122"/>
                  <a:sym typeface="+mn-ea"/>
                </a:rPr>
                <a:t>D-H</a:t>
              </a:r>
              <a:r>
                <a:rPr lang="zh-CN" altLang="en-US" sz="2000" b="1" dirty="0" smtClean="0">
                  <a:latin typeface="Arial" panose="020B0604020202020204" pitchFamily="34" charset="0"/>
                  <a:ea typeface="微软雅黑" panose="020B0503020204020204" charset="-122"/>
                  <a:sym typeface="+mn-ea"/>
                </a:rPr>
                <a:t>表示法</a:t>
              </a:r>
              <a:r>
                <a:rPr lang="en-US" altLang="zh-CN" sz="2000" b="1" dirty="0" smtClean="0">
                  <a:latin typeface="Arial" panose="020B0604020202020204" pitchFamily="34" charset="0"/>
                  <a:ea typeface="微软雅黑" panose="020B0503020204020204" charset="-122"/>
                  <a:sym typeface="+mn-ea"/>
                </a:rPr>
                <a:t>(MDH)</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11" name="矩形 10"/>
              <p:cNvSpPr/>
              <p:nvPr/>
            </p:nvSpPr>
            <p:spPr>
              <a:xfrm>
                <a:off x="2922633" y="2974302"/>
                <a:ext cx="2734851" cy="4031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sPre>
                            <m:sPrePr>
                              <m:ctrlPr>
                                <a:rPr lang="zh-CN" altLang="en-US" i="1">
                                  <a:latin typeface="Cambria Math" panose="02040503050406030204" pitchFamily="18" charset="0"/>
                                </a:rPr>
                              </m:ctrlPr>
                            </m:sPrePr>
                            <m:sub/>
                            <m:sup>
                              <m:r>
                                <a:rPr lang="zh-CN" altLang="en-US" i="0">
                                  <a:latin typeface="Cambria Math" panose="02040503050406030204" pitchFamily="18" charset="0"/>
                                </a:rPr>
                                <m:t>0</m:t>
                              </m:r>
                            </m:sup>
                            <m:e>
                              <m:r>
                                <a:rPr lang="zh-CN" altLang="en-US" i="1">
                                  <a:latin typeface="Cambria Math" panose="02040503050406030204" pitchFamily="18" charset="0"/>
                                </a:rPr>
                                <m:t>𝑇</m:t>
                              </m:r>
                            </m:e>
                          </m:sPre>
                        </m:e>
                        <m:sub>
                          <m:r>
                            <a:rPr lang="zh-CN" altLang="en-US" i="0">
                              <a:latin typeface="Cambria Math" panose="02040503050406030204" pitchFamily="18" charset="0"/>
                            </a:rPr>
                            <m:t>6</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sPre>
                            <m:sPrePr>
                              <m:ctrlPr>
                                <a:rPr lang="zh-CN" altLang="en-US" i="1">
                                  <a:latin typeface="Cambria Math" panose="02040503050406030204" pitchFamily="18" charset="0"/>
                                </a:rPr>
                              </m:ctrlPr>
                            </m:sPrePr>
                            <m:sub/>
                            <m:sup>
                              <m:r>
                                <a:rPr lang="zh-CN" altLang="en-US" i="0">
                                  <a:latin typeface="Cambria Math" panose="02040503050406030204" pitchFamily="18" charset="0"/>
                                </a:rPr>
                                <m:t>0</m:t>
                              </m:r>
                            </m:sup>
                            <m:e>
                              <m:r>
                                <a:rPr lang="zh-CN" altLang="en-US" i="1">
                                  <a:latin typeface="Cambria Math" panose="02040503050406030204" pitchFamily="18" charset="0"/>
                                </a:rPr>
                                <m:t>𝑇</m:t>
                              </m:r>
                            </m:e>
                          </m:sPre>
                        </m:e>
                        <m:sub>
                          <m:r>
                            <a:rPr lang="zh-CN" altLang="en-US" i="0">
                              <a:latin typeface="Cambria Math" panose="02040503050406030204" pitchFamily="18" charset="0"/>
                            </a:rPr>
                            <m:t>1</m:t>
                          </m:r>
                        </m:sub>
                      </m:sSub>
                      <m:sSub>
                        <m:sSubPr>
                          <m:ctrlPr>
                            <a:rPr lang="zh-CN" altLang="en-US" i="1">
                              <a:latin typeface="Cambria Math" panose="02040503050406030204" pitchFamily="18" charset="0"/>
                            </a:rPr>
                          </m:ctrlPr>
                        </m:sSubPr>
                        <m:e>
                          <m:sPre>
                            <m:sPrePr>
                              <m:ctrlPr>
                                <a:rPr lang="zh-CN" altLang="en-US" i="1">
                                  <a:latin typeface="Cambria Math" panose="02040503050406030204" pitchFamily="18" charset="0"/>
                                </a:rPr>
                              </m:ctrlPr>
                            </m:sPrePr>
                            <m:sub/>
                            <m:sup>
                              <m:r>
                                <a:rPr lang="zh-CN" altLang="en-US" i="0">
                                  <a:latin typeface="Cambria Math" panose="02040503050406030204" pitchFamily="18" charset="0"/>
                                </a:rPr>
                                <m:t>1</m:t>
                              </m:r>
                            </m:sup>
                            <m:e>
                              <m:r>
                                <a:rPr lang="zh-CN" altLang="en-US" i="1">
                                  <a:latin typeface="Cambria Math" panose="02040503050406030204" pitchFamily="18" charset="0"/>
                                </a:rPr>
                                <m:t>𝑇</m:t>
                              </m:r>
                            </m:e>
                          </m:sPre>
                        </m:e>
                        <m:sub>
                          <m:r>
                            <a:rPr lang="zh-CN" altLang="en-US" i="0">
                              <a:latin typeface="Cambria Math" panose="02040503050406030204" pitchFamily="18" charset="0"/>
                            </a:rPr>
                            <m:t>2</m:t>
                          </m:r>
                        </m:sub>
                      </m:sSub>
                      <m:sSub>
                        <m:sSubPr>
                          <m:ctrlPr>
                            <a:rPr lang="zh-CN" altLang="en-US" i="1">
                              <a:latin typeface="Cambria Math" panose="02040503050406030204" pitchFamily="18" charset="0"/>
                            </a:rPr>
                          </m:ctrlPr>
                        </m:sSubPr>
                        <m:e>
                          <m:sPre>
                            <m:sPrePr>
                              <m:ctrlPr>
                                <a:rPr lang="zh-CN" altLang="en-US" i="1">
                                  <a:latin typeface="Cambria Math" panose="02040503050406030204" pitchFamily="18" charset="0"/>
                                </a:rPr>
                              </m:ctrlPr>
                            </m:sPrePr>
                            <m:sub/>
                            <m:sup>
                              <m:r>
                                <a:rPr lang="zh-CN" altLang="en-US" i="0">
                                  <a:latin typeface="Cambria Math" panose="02040503050406030204" pitchFamily="18" charset="0"/>
                                </a:rPr>
                                <m:t>2</m:t>
                              </m:r>
                            </m:sup>
                            <m:e>
                              <m:r>
                                <a:rPr lang="zh-CN" altLang="en-US" i="1">
                                  <a:latin typeface="Cambria Math" panose="02040503050406030204" pitchFamily="18" charset="0"/>
                                </a:rPr>
                                <m:t>𝑇</m:t>
                              </m:r>
                            </m:e>
                          </m:sPre>
                        </m:e>
                        <m:sub>
                          <m:r>
                            <a:rPr lang="zh-CN" altLang="en-US" i="0">
                              <a:latin typeface="Cambria Math" panose="02040503050406030204" pitchFamily="18" charset="0"/>
                            </a:rPr>
                            <m:t>3</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sPre>
                            <m:sPrePr>
                              <m:ctrlPr>
                                <a:rPr lang="zh-CN" altLang="en-US" i="1">
                                  <a:latin typeface="Cambria Math" panose="02040503050406030204" pitchFamily="18" charset="0"/>
                                </a:rPr>
                              </m:ctrlPr>
                            </m:sPrePr>
                            <m:sub/>
                            <m:sup>
                              <m:r>
                                <a:rPr lang="zh-CN" altLang="en-US" i="0">
                                  <a:latin typeface="Cambria Math" panose="02040503050406030204" pitchFamily="18" charset="0"/>
                                </a:rPr>
                                <m:t>5</m:t>
                              </m:r>
                            </m:sup>
                            <m:e>
                              <m:r>
                                <a:rPr lang="zh-CN" altLang="en-US" i="1">
                                  <a:latin typeface="Cambria Math" panose="02040503050406030204" pitchFamily="18" charset="0"/>
                                </a:rPr>
                                <m:t>𝑇</m:t>
                              </m:r>
                            </m:e>
                          </m:sPre>
                        </m:e>
                        <m:sub>
                          <m:r>
                            <a:rPr lang="zh-CN" altLang="en-US" i="0">
                              <a:latin typeface="Cambria Math" panose="02040503050406030204" pitchFamily="18" charset="0"/>
                            </a:rPr>
                            <m:t>6</m:t>
                          </m:r>
                        </m:sub>
                      </m:sSub>
                    </m:oMath>
                  </m:oMathPara>
                </a14:m>
                <a:endParaRPr lang="zh-CN" altLang="en-US" dirty="0"/>
              </a:p>
            </p:txBody>
          </p:sp>
        </mc:Choice>
        <mc:Fallback xmlns="">
          <p:sp>
            <p:nvSpPr>
              <p:cNvPr id="11" name="矩形 10"/>
              <p:cNvSpPr>
                <a:spLocks noRot="1" noChangeAspect="1" noMove="1" noResize="1" noEditPoints="1" noAdjustHandles="1" noChangeArrowheads="1" noChangeShapeType="1" noTextEdit="1"/>
              </p:cNvSpPr>
              <p:nvPr/>
            </p:nvSpPr>
            <p:spPr>
              <a:xfrm>
                <a:off x="2922633" y="2974302"/>
                <a:ext cx="2734851" cy="40318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292990" y="3958418"/>
                <a:ext cx="8953285" cy="371127"/>
              </a:xfrm>
              <a:prstGeom prst="rect">
                <a:avLst/>
              </a:prstGeom>
              <a:noFill/>
            </p:spPr>
            <p:txBody>
              <a:bodyPr wrap="none" rtlCol="0">
                <a:spAutoFit/>
              </a:bodyPr>
              <a:lstStyle/>
              <a:p>
                <a:r>
                  <a:rPr lang="en-US" altLang="zh-CN" sz="1600" b="1" dirty="0" smtClean="0">
                    <a:solidFill>
                      <a:srgbClr val="002060"/>
                    </a:solidFill>
                  </a:rPr>
                  <a:t>Forward Kinematics: </a:t>
                </a:r>
                <a:r>
                  <a:rPr lang="zh-CN" altLang="en-US" sz="1600" b="1" dirty="0" smtClean="0">
                    <a:solidFill>
                      <a:srgbClr val="002060"/>
                    </a:solidFill>
                  </a:rPr>
                  <a:t>已知</a:t>
                </a:r>
                <a:r>
                  <a:rPr lang="en-US" altLang="zh-CN" sz="1600" b="1" dirty="0" smtClean="0">
                    <a:solidFill>
                      <a:srgbClr val="002060"/>
                    </a:solidFill>
                  </a:rPr>
                  <a:t>{</a:t>
                </a:r>
                <a14:m>
                  <m:oMath xmlns:m="http://schemas.openxmlformats.org/officeDocument/2006/math">
                    <m:sSub>
                      <m:sSubPr>
                        <m:ctrlPr>
                          <a:rPr lang="zh-CN" altLang="zh-CN" sz="1600" b="1" i="1">
                            <a:solidFill>
                              <a:srgbClr val="002060"/>
                            </a:solidFill>
                            <a:latin typeface="Cambria Math" panose="02040503050406030204" pitchFamily="18" charset="0"/>
                          </a:rPr>
                        </m:ctrlPr>
                      </m:sSubPr>
                      <m:e>
                        <m:r>
                          <a:rPr lang="en-US" altLang="zh-CN" sz="1600" b="1" i="1">
                            <a:solidFill>
                              <a:srgbClr val="002060"/>
                            </a:solidFill>
                            <a:latin typeface="Cambria Math" panose="02040503050406030204" pitchFamily="18" charset="0"/>
                          </a:rPr>
                          <m:t>𝜽</m:t>
                        </m:r>
                      </m:e>
                      <m:sub>
                        <m:r>
                          <a:rPr lang="en-US" altLang="zh-CN" sz="1600" b="1" i="1" smtClean="0">
                            <a:solidFill>
                              <a:srgbClr val="002060"/>
                            </a:solidFill>
                            <a:latin typeface="Cambria Math" panose="02040503050406030204" pitchFamily="18" charset="0"/>
                          </a:rPr>
                          <m:t>𝟏</m:t>
                        </m:r>
                      </m:sub>
                    </m:sSub>
                    <m:r>
                      <a:rPr lang="en-US" altLang="zh-CN" sz="1600" b="1" i="1" smtClean="0">
                        <a:solidFill>
                          <a:srgbClr val="002060"/>
                        </a:solidFill>
                        <a:latin typeface="Cambria Math" panose="02040503050406030204" pitchFamily="18" charset="0"/>
                      </a:rPr>
                      <m:t>,</m:t>
                    </m:r>
                    <m:sSub>
                      <m:sSubPr>
                        <m:ctrlPr>
                          <a:rPr lang="zh-CN" altLang="zh-CN" sz="1600" b="1" i="1">
                            <a:solidFill>
                              <a:srgbClr val="002060"/>
                            </a:solidFill>
                            <a:latin typeface="Cambria Math" panose="02040503050406030204" pitchFamily="18" charset="0"/>
                          </a:rPr>
                        </m:ctrlPr>
                      </m:sSubPr>
                      <m:e>
                        <m:r>
                          <a:rPr lang="en-US" altLang="zh-CN" sz="1600" b="1" i="1">
                            <a:solidFill>
                              <a:srgbClr val="002060"/>
                            </a:solidFill>
                            <a:latin typeface="Cambria Math" panose="02040503050406030204" pitchFamily="18" charset="0"/>
                          </a:rPr>
                          <m:t>𝜽</m:t>
                        </m:r>
                      </m:e>
                      <m:sub>
                        <m:r>
                          <a:rPr lang="en-US" altLang="zh-CN" sz="1600" b="1" i="1" smtClean="0">
                            <a:solidFill>
                              <a:srgbClr val="002060"/>
                            </a:solidFill>
                            <a:latin typeface="Cambria Math" panose="02040503050406030204" pitchFamily="18" charset="0"/>
                          </a:rPr>
                          <m:t>𝟐</m:t>
                        </m:r>
                      </m:sub>
                    </m:sSub>
                    <m:r>
                      <a:rPr lang="en-US" altLang="zh-CN" sz="1600" b="1" i="1" smtClean="0">
                        <a:solidFill>
                          <a:srgbClr val="002060"/>
                        </a:solidFill>
                        <a:latin typeface="Cambria Math" panose="02040503050406030204" pitchFamily="18" charset="0"/>
                      </a:rPr>
                      <m:t>,</m:t>
                    </m:r>
                    <m:sSub>
                      <m:sSubPr>
                        <m:ctrlPr>
                          <a:rPr lang="zh-CN" altLang="zh-CN" sz="1600" b="1" i="1">
                            <a:solidFill>
                              <a:srgbClr val="002060"/>
                            </a:solidFill>
                            <a:latin typeface="Cambria Math" panose="02040503050406030204" pitchFamily="18" charset="0"/>
                          </a:rPr>
                        </m:ctrlPr>
                      </m:sSubPr>
                      <m:e>
                        <m:r>
                          <a:rPr lang="en-US" altLang="zh-CN" sz="1600" b="1" i="1">
                            <a:solidFill>
                              <a:srgbClr val="002060"/>
                            </a:solidFill>
                            <a:latin typeface="Cambria Math" panose="02040503050406030204" pitchFamily="18" charset="0"/>
                          </a:rPr>
                          <m:t>𝜽</m:t>
                        </m:r>
                      </m:e>
                      <m:sub>
                        <m:r>
                          <a:rPr lang="en-US" altLang="zh-CN" sz="1600" b="1" i="1" smtClean="0">
                            <a:solidFill>
                              <a:srgbClr val="002060"/>
                            </a:solidFill>
                            <a:latin typeface="Cambria Math" panose="02040503050406030204" pitchFamily="18" charset="0"/>
                          </a:rPr>
                          <m:t>𝟑</m:t>
                        </m:r>
                      </m:sub>
                    </m:sSub>
                    <m:r>
                      <a:rPr lang="en-US" altLang="zh-CN" sz="1600" b="1" i="1" smtClean="0">
                        <a:solidFill>
                          <a:srgbClr val="002060"/>
                        </a:solidFill>
                        <a:latin typeface="Cambria Math" panose="02040503050406030204" pitchFamily="18" charset="0"/>
                      </a:rPr>
                      <m:t>,</m:t>
                    </m:r>
                    <m:sSub>
                      <m:sSubPr>
                        <m:ctrlPr>
                          <a:rPr lang="zh-CN" altLang="zh-CN" sz="1600" b="1" i="1">
                            <a:solidFill>
                              <a:srgbClr val="002060"/>
                            </a:solidFill>
                            <a:latin typeface="Cambria Math" panose="02040503050406030204" pitchFamily="18" charset="0"/>
                          </a:rPr>
                        </m:ctrlPr>
                      </m:sSubPr>
                      <m:e>
                        <m:r>
                          <a:rPr lang="en-US" altLang="zh-CN" sz="1600" b="1" i="1">
                            <a:solidFill>
                              <a:srgbClr val="002060"/>
                            </a:solidFill>
                            <a:latin typeface="Cambria Math" panose="02040503050406030204" pitchFamily="18" charset="0"/>
                          </a:rPr>
                          <m:t>𝜽</m:t>
                        </m:r>
                      </m:e>
                      <m:sub>
                        <m:r>
                          <a:rPr lang="en-US" altLang="zh-CN" sz="1600" b="1" i="1" smtClean="0">
                            <a:solidFill>
                              <a:srgbClr val="002060"/>
                            </a:solidFill>
                            <a:latin typeface="Cambria Math" panose="02040503050406030204" pitchFamily="18" charset="0"/>
                          </a:rPr>
                          <m:t>𝟒</m:t>
                        </m:r>
                      </m:sub>
                    </m:sSub>
                  </m:oMath>
                </a14:m>
                <a:r>
                  <a:rPr lang="en-US" altLang="zh-CN" sz="1600" b="1" dirty="0" smtClean="0">
                    <a:solidFill>
                      <a:srgbClr val="002060"/>
                    </a:solidFill>
                  </a:rPr>
                  <a:t>, </a:t>
                </a:r>
                <a14:m>
                  <m:oMath xmlns:m="http://schemas.openxmlformats.org/officeDocument/2006/math">
                    <m:sSub>
                      <m:sSubPr>
                        <m:ctrlPr>
                          <a:rPr lang="zh-CN" altLang="zh-CN" sz="1600" b="1" i="1">
                            <a:solidFill>
                              <a:srgbClr val="002060"/>
                            </a:solidFill>
                            <a:latin typeface="Cambria Math" panose="02040503050406030204" pitchFamily="18" charset="0"/>
                          </a:rPr>
                        </m:ctrlPr>
                      </m:sSubPr>
                      <m:e>
                        <m:r>
                          <a:rPr lang="en-US" altLang="zh-CN" sz="1600" b="1" i="1">
                            <a:solidFill>
                              <a:srgbClr val="002060"/>
                            </a:solidFill>
                            <a:latin typeface="Cambria Math" panose="02040503050406030204" pitchFamily="18" charset="0"/>
                          </a:rPr>
                          <m:t>𝜽</m:t>
                        </m:r>
                      </m:e>
                      <m:sub>
                        <m:r>
                          <a:rPr lang="en-US" altLang="zh-CN" sz="1600" b="1" i="1" smtClean="0">
                            <a:solidFill>
                              <a:srgbClr val="002060"/>
                            </a:solidFill>
                            <a:latin typeface="Cambria Math" panose="02040503050406030204" pitchFamily="18" charset="0"/>
                          </a:rPr>
                          <m:t>𝟓</m:t>
                        </m:r>
                      </m:sub>
                    </m:sSub>
                    <m:r>
                      <a:rPr lang="en-US" altLang="zh-CN" sz="1600" b="1" i="1" smtClean="0">
                        <a:solidFill>
                          <a:srgbClr val="002060"/>
                        </a:solidFill>
                        <a:latin typeface="Cambria Math" panose="02040503050406030204" pitchFamily="18" charset="0"/>
                      </a:rPr>
                      <m:t>,</m:t>
                    </m:r>
                    <m:sSub>
                      <m:sSubPr>
                        <m:ctrlPr>
                          <a:rPr lang="zh-CN" altLang="zh-CN" sz="1600" b="1" i="1">
                            <a:solidFill>
                              <a:srgbClr val="002060"/>
                            </a:solidFill>
                            <a:latin typeface="Cambria Math" panose="02040503050406030204" pitchFamily="18" charset="0"/>
                          </a:rPr>
                        </m:ctrlPr>
                      </m:sSubPr>
                      <m:e>
                        <m:r>
                          <a:rPr lang="en-US" altLang="zh-CN" sz="1600" b="1" i="1">
                            <a:solidFill>
                              <a:srgbClr val="002060"/>
                            </a:solidFill>
                            <a:latin typeface="Cambria Math" panose="02040503050406030204" pitchFamily="18" charset="0"/>
                          </a:rPr>
                          <m:t>𝜽</m:t>
                        </m:r>
                      </m:e>
                      <m:sub>
                        <m:r>
                          <a:rPr lang="en-US" altLang="zh-CN" sz="1600" b="1" i="1" smtClean="0">
                            <a:solidFill>
                              <a:srgbClr val="002060"/>
                            </a:solidFill>
                            <a:latin typeface="Cambria Math" panose="02040503050406030204" pitchFamily="18" charset="0"/>
                          </a:rPr>
                          <m:t>𝟔</m:t>
                        </m:r>
                      </m:sub>
                    </m:sSub>
                  </m:oMath>
                </a14:m>
                <a:r>
                  <a:rPr lang="en-US" altLang="zh-CN" sz="1600" b="1" dirty="0" smtClean="0">
                    <a:solidFill>
                      <a:srgbClr val="002060"/>
                    </a:solidFill>
                  </a:rPr>
                  <a:t>}</a:t>
                </a:r>
                <a:r>
                  <a:rPr lang="zh-CN" altLang="en-US" sz="1600" b="1" dirty="0" smtClean="0">
                    <a:solidFill>
                      <a:srgbClr val="002060"/>
                    </a:solidFill>
                  </a:rPr>
                  <a:t>，求</a:t>
                </a:r>
                <a14:m>
                  <m:oMath xmlns:m="http://schemas.openxmlformats.org/officeDocument/2006/math">
                    <m:sSub>
                      <m:sSubPr>
                        <m:ctrlPr>
                          <a:rPr lang="zh-CN" altLang="en-US" sz="1600" b="1" i="1">
                            <a:solidFill>
                              <a:srgbClr val="002060"/>
                            </a:solidFill>
                            <a:latin typeface="Cambria Math" panose="02040503050406030204" pitchFamily="18" charset="0"/>
                          </a:rPr>
                        </m:ctrlPr>
                      </m:sSubPr>
                      <m:e>
                        <m:sPre>
                          <m:sPrePr>
                            <m:ctrlPr>
                              <a:rPr lang="zh-CN" altLang="en-US" sz="1600" b="1" i="1">
                                <a:solidFill>
                                  <a:srgbClr val="002060"/>
                                </a:solidFill>
                                <a:latin typeface="Cambria Math" panose="02040503050406030204" pitchFamily="18" charset="0"/>
                              </a:rPr>
                            </m:ctrlPr>
                          </m:sPrePr>
                          <m:sub/>
                          <m:sup>
                            <m:r>
                              <a:rPr lang="zh-CN" altLang="en-US" sz="1600" b="1" i="1">
                                <a:solidFill>
                                  <a:srgbClr val="002060"/>
                                </a:solidFill>
                                <a:latin typeface="Cambria Math" panose="02040503050406030204" pitchFamily="18" charset="0"/>
                              </a:rPr>
                              <m:t>𝟎</m:t>
                            </m:r>
                          </m:sup>
                          <m:e>
                            <m:r>
                              <a:rPr lang="zh-CN" altLang="en-US" sz="1600" b="1" i="1">
                                <a:solidFill>
                                  <a:srgbClr val="002060"/>
                                </a:solidFill>
                                <a:latin typeface="Cambria Math" panose="02040503050406030204" pitchFamily="18" charset="0"/>
                              </a:rPr>
                              <m:t>𝑻</m:t>
                            </m:r>
                          </m:e>
                        </m:sPre>
                      </m:e>
                      <m:sub>
                        <m:r>
                          <a:rPr lang="zh-CN" altLang="en-US" sz="1600" b="1" i="1">
                            <a:solidFill>
                              <a:srgbClr val="002060"/>
                            </a:solidFill>
                            <a:latin typeface="Cambria Math" panose="02040503050406030204" pitchFamily="18" charset="0"/>
                          </a:rPr>
                          <m:t>𝟔</m:t>
                        </m:r>
                      </m:sub>
                    </m:sSub>
                  </m:oMath>
                </a14:m>
                <a:r>
                  <a:rPr lang="zh-CN" altLang="en-US" sz="1600" b="1" dirty="0" smtClean="0">
                    <a:solidFill>
                      <a:srgbClr val="002060"/>
                    </a:solidFill>
                  </a:rPr>
                  <a:t>即为</a:t>
                </a:r>
                <a:r>
                  <a:rPr lang="en-US" altLang="zh-CN" sz="1600" b="1" dirty="0" smtClean="0">
                    <a:solidFill>
                      <a:srgbClr val="002060"/>
                    </a:solidFill>
                  </a:rPr>
                  <a:t>TCP</a:t>
                </a:r>
                <a:r>
                  <a:rPr lang="zh-CN" altLang="en-US" sz="1600" b="1" dirty="0" smtClean="0">
                    <a:solidFill>
                      <a:srgbClr val="002060"/>
                    </a:solidFill>
                  </a:rPr>
                  <a:t>末端相对全局坐标系的位姿矩阵。 </a:t>
                </a:r>
                <a:endParaRPr lang="zh-CN" altLang="en-US" sz="1600" b="1" dirty="0">
                  <a:solidFill>
                    <a:srgbClr val="002060"/>
                  </a:solidFill>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292990" y="3958418"/>
                <a:ext cx="8953285" cy="371127"/>
              </a:xfrm>
              <a:prstGeom prst="rect">
                <a:avLst/>
              </a:prstGeom>
              <a:blipFill>
                <a:blip r:embed="rId4"/>
                <a:stretch>
                  <a:fillRect l="-340" t="-1639" b="-19672"/>
                </a:stretch>
              </a:blipFill>
            </p:spPr>
            <p:txBody>
              <a:bodyPr/>
              <a:lstStyle/>
              <a:p>
                <a:r>
                  <a:rPr lang="zh-CN" altLang="en-US">
                    <a:noFill/>
                  </a:rPr>
                  <a:t> </a:t>
                </a:r>
              </a:p>
            </p:txBody>
          </p:sp>
        </mc:Fallback>
      </mc:AlternateContent>
      <p:sp>
        <p:nvSpPr>
          <p:cNvPr id="13" name="文本框 12"/>
          <p:cNvSpPr txBox="1"/>
          <p:nvPr/>
        </p:nvSpPr>
        <p:spPr>
          <a:xfrm>
            <a:off x="6804248" y="1543817"/>
            <a:ext cx="1614545" cy="369332"/>
          </a:xfrm>
          <a:prstGeom prst="rect">
            <a:avLst/>
          </a:prstGeom>
          <a:noFill/>
        </p:spPr>
        <p:txBody>
          <a:bodyPr wrap="none" rtlCol="0">
            <a:spAutoFit/>
          </a:bodyPr>
          <a:lstStyle/>
          <a:p>
            <a:r>
              <a:rPr lang="zh-CN" altLang="en-US" dirty="0">
                <a:solidFill>
                  <a:srgbClr val="FF0000"/>
                </a:solidFill>
              </a:rPr>
              <a:t>和</a:t>
            </a:r>
            <a:r>
              <a:rPr lang="en-US" altLang="zh-CN" dirty="0" smtClean="0">
                <a:solidFill>
                  <a:srgbClr val="FF0000"/>
                </a:solidFill>
              </a:rPr>
              <a:t>SDH</a:t>
            </a:r>
            <a:r>
              <a:rPr lang="zh-CN" altLang="en-US" dirty="0" smtClean="0">
                <a:solidFill>
                  <a:srgbClr val="FF0000"/>
                </a:solidFill>
              </a:rPr>
              <a:t>的区别</a:t>
            </a:r>
            <a:r>
              <a:rPr lang="en-US" altLang="zh-CN" dirty="0" smtClean="0">
                <a:solidFill>
                  <a:srgbClr val="FF0000"/>
                </a:solidFill>
              </a:rPr>
              <a:t>?</a:t>
            </a:r>
            <a:endParaRPr lang="zh-CN" altLang="en-US" dirty="0">
              <a:solidFill>
                <a:srgbClr val="FF0000"/>
              </a:solidFill>
            </a:endParaRPr>
          </a:p>
        </p:txBody>
      </p:sp>
      <mc:AlternateContent xmlns:mc="http://schemas.openxmlformats.org/markup-compatibility/2006" xmlns:a14="http://schemas.microsoft.com/office/drawing/2010/main">
        <mc:Choice Requires="a14">
          <p:sp>
            <p:nvSpPr>
              <p:cNvPr id="2" name="矩形 1"/>
              <p:cNvSpPr/>
              <p:nvPr/>
            </p:nvSpPr>
            <p:spPr>
              <a:xfrm>
                <a:off x="1331640" y="1698410"/>
                <a:ext cx="5400600" cy="89793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Pre>
                        <m:sPrePr>
                          <m:ctrlPr>
                            <a:rPr lang="zh-CN" altLang="en-US" sz="1400" i="1">
                              <a:latin typeface="Cambria Math" panose="02040503050406030204" pitchFamily="18" charset="0"/>
                            </a:rPr>
                          </m:ctrlPr>
                        </m:sPrePr>
                        <m:sub/>
                        <m:sup>
                          <m:r>
                            <a:rPr lang="zh-CN" altLang="en-US" sz="1400" i="1">
                              <a:latin typeface="Cambria Math" panose="02040503050406030204" pitchFamily="18" charset="0"/>
                            </a:rPr>
                            <m:t>𝑖</m:t>
                          </m:r>
                          <m:r>
                            <a:rPr lang="zh-CN" altLang="en-US" sz="1400" i="0">
                              <a:latin typeface="Cambria Math" panose="02040503050406030204" pitchFamily="18" charset="0"/>
                            </a:rPr>
                            <m:t>−1</m:t>
                          </m:r>
                        </m:sup>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𝑇</m:t>
                              </m:r>
                            </m:e>
                            <m:sub>
                              <m:r>
                                <a:rPr lang="zh-CN" altLang="en-US" sz="1400" i="1">
                                  <a:latin typeface="Cambria Math" panose="02040503050406030204" pitchFamily="18" charset="0"/>
                                </a:rPr>
                                <m:t>𝑖</m:t>
                              </m:r>
                            </m:sub>
                          </m:sSub>
                        </m:e>
                      </m:sPre>
                      <m:r>
                        <a:rPr lang="zh-CN" altLang="en-US" sz="1400" i="0">
                          <a:latin typeface="Cambria Math" panose="02040503050406030204" pitchFamily="18" charset="0"/>
                        </a:rPr>
                        <m:t>=</m:t>
                      </m:r>
                      <m:d>
                        <m:dPr>
                          <m:ctrlPr>
                            <a:rPr lang="zh-CN" altLang="en-US" sz="1400" i="1">
                              <a:latin typeface="Cambria Math" panose="02040503050406030204" pitchFamily="18" charset="0"/>
                            </a:rPr>
                          </m:ctrlPr>
                        </m:dPr>
                        <m:e>
                          <m:m>
                            <m:mPr>
                              <m:mcs>
                                <m:mc>
                                  <m:mcPr>
                                    <m:count m:val="2"/>
                                    <m:mcJc m:val="center"/>
                                  </m:mcPr>
                                </m:mc>
                              </m:mcs>
                              <m:ctrlPr>
                                <a:rPr lang="zh-CN" altLang="en-US" sz="1400" i="1">
                                  <a:latin typeface="Cambria Math" panose="02040503050406030204" pitchFamily="18" charset="0"/>
                                </a:rPr>
                              </m:ctrlPr>
                            </m:mPr>
                            <m:mr>
                              <m:e>
                                <m:m>
                                  <m:mPr>
                                    <m:mcs>
                                      <m:mc>
                                        <m:mcPr>
                                          <m:count m:val="2"/>
                                          <m:mcJc m:val="center"/>
                                        </m:mcPr>
                                      </m:mc>
                                    </m:mcs>
                                    <m:ctrlPr>
                                      <a:rPr lang="zh-CN" altLang="en-US" sz="1400" i="1">
                                        <a:latin typeface="Cambria Math" panose="02040503050406030204" pitchFamily="18" charset="0"/>
                                      </a:rPr>
                                    </m:ctrlPr>
                                  </m:mPr>
                                  <m:mr>
                                    <m:e>
                                      <m:func>
                                        <m:funcPr>
                                          <m:ctrlPr>
                                            <a:rPr lang="zh-CN" altLang="en-US" sz="1400" i="1">
                                              <a:latin typeface="Cambria Math" panose="02040503050406030204" pitchFamily="18" charset="0"/>
                                            </a:rPr>
                                          </m:ctrlPr>
                                        </m:funcPr>
                                        <m:fName>
                                          <m:r>
                                            <m:rPr>
                                              <m:sty m:val="p"/>
                                            </m:rPr>
                                            <a:rPr lang="zh-CN" altLang="en-US" sz="1400" i="0">
                                              <a:latin typeface="Cambria Math" panose="02040503050406030204" pitchFamily="18" charset="0"/>
                                            </a:rPr>
                                            <m:t>cos</m:t>
                                          </m:r>
                                        </m:fName>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i="1">
                                                  <a:latin typeface="Cambria Math" panose="02040503050406030204" pitchFamily="18" charset="0"/>
                                                </a:rPr>
                                                <m:t>𝑖</m:t>
                                              </m:r>
                                            </m:sub>
                                          </m:sSub>
                                        </m:e>
                                      </m:func>
                                    </m:e>
                                    <m:e>
                                      <m:r>
                                        <a:rPr lang="zh-CN" altLang="en-US" sz="1400" i="0">
                                          <a:latin typeface="Cambria Math" panose="02040503050406030204" pitchFamily="18" charset="0"/>
                                        </a:rPr>
                                        <m:t>−</m:t>
                                      </m:r>
                                      <m:func>
                                        <m:funcPr>
                                          <m:ctrlPr>
                                            <a:rPr lang="zh-CN" altLang="en-US" sz="1400" i="1">
                                              <a:latin typeface="Cambria Math" panose="02040503050406030204" pitchFamily="18" charset="0"/>
                                            </a:rPr>
                                          </m:ctrlPr>
                                        </m:funcPr>
                                        <m:fName>
                                          <m:r>
                                            <m:rPr>
                                              <m:sty m:val="p"/>
                                            </m:rPr>
                                            <a:rPr lang="zh-CN" altLang="en-US" sz="1400" i="0">
                                              <a:latin typeface="Cambria Math" panose="02040503050406030204" pitchFamily="18" charset="0"/>
                                            </a:rPr>
                                            <m:t>sin</m:t>
                                          </m:r>
                                        </m:fName>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i="1">
                                                  <a:latin typeface="Cambria Math" panose="02040503050406030204" pitchFamily="18" charset="0"/>
                                                </a:rPr>
                                                <m:t>𝑖</m:t>
                                              </m:r>
                                            </m:sub>
                                          </m:sSub>
                                        </m:e>
                                      </m:func>
                                    </m:e>
                                  </m:mr>
                                  <m:mr>
                                    <m:e>
                                      <m:func>
                                        <m:funcPr>
                                          <m:ctrlPr>
                                            <a:rPr lang="zh-CN" altLang="en-US" sz="1400" i="1">
                                              <a:latin typeface="Cambria Math" panose="02040503050406030204" pitchFamily="18" charset="0"/>
                                            </a:rPr>
                                          </m:ctrlPr>
                                        </m:funcPr>
                                        <m:fName>
                                          <m:r>
                                            <m:rPr>
                                              <m:sty m:val="p"/>
                                            </m:rPr>
                                            <a:rPr lang="zh-CN" altLang="en-US" sz="1400" i="0">
                                              <a:latin typeface="Cambria Math" panose="02040503050406030204" pitchFamily="18" charset="0"/>
                                            </a:rPr>
                                            <m:t>sin</m:t>
                                          </m:r>
                                        </m:fName>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i="1">
                                                  <a:latin typeface="Cambria Math" panose="02040503050406030204" pitchFamily="18" charset="0"/>
                                                </a:rPr>
                                                <m:t>𝑖</m:t>
                                              </m:r>
                                            </m:sub>
                                          </m:sSub>
                                        </m:e>
                                      </m:func>
                                      <m:func>
                                        <m:funcPr>
                                          <m:ctrlPr>
                                            <a:rPr lang="zh-CN" altLang="en-US" sz="1400" i="1">
                                              <a:latin typeface="Cambria Math" panose="02040503050406030204" pitchFamily="18" charset="0"/>
                                            </a:rPr>
                                          </m:ctrlPr>
                                        </m:funcPr>
                                        <m:fName>
                                          <m:r>
                                            <m:rPr>
                                              <m:sty m:val="p"/>
                                            </m:rPr>
                                            <a:rPr lang="zh-CN" altLang="en-US" sz="1400" i="0">
                                              <a:latin typeface="Cambria Math" panose="02040503050406030204" pitchFamily="18" charset="0"/>
                                            </a:rPr>
                                            <m:t>cos</m:t>
                                          </m:r>
                                        </m:fName>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𝛼</m:t>
                                              </m:r>
                                            </m:e>
                                            <m:sub>
                                              <m:r>
                                                <a:rPr lang="zh-CN" altLang="en-US" sz="1400" i="1">
                                                  <a:latin typeface="Cambria Math" panose="02040503050406030204" pitchFamily="18" charset="0"/>
                                                </a:rPr>
                                                <m:t>𝑖</m:t>
                                              </m:r>
                                              <m:r>
                                                <a:rPr lang="zh-CN" altLang="en-US" sz="1400" i="0">
                                                  <a:latin typeface="Cambria Math" panose="02040503050406030204" pitchFamily="18" charset="0"/>
                                                </a:rPr>
                                                <m:t>−1</m:t>
                                              </m:r>
                                            </m:sub>
                                          </m:sSub>
                                        </m:e>
                                      </m:func>
                                    </m:e>
                                    <m:e>
                                      <m:func>
                                        <m:funcPr>
                                          <m:ctrlPr>
                                            <a:rPr lang="zh-CN" altLang="en-US" sz="1400" i="1">
                                              <a:latin typeface="Cambria Math" panose="02040503050406030204" pitchFamily="18" charset="0"/>
                                            </a:rPr>
                                          </m:ctrlPr>
                                        </m:funcPr>
                                        <m:fName>
                                          <m:r>
                                            <m:rPr>
                                              <m:sty m:val="p"/>
                                            </m:rPr>
                                            <a:rPr lang="zh-CN" altLang="en-US" sz="1400" i="0">
                                              <a:latin typeface="Cambria Math" panose="02040503050406030204" pitchFamily="18" charset="0"/>
                                            </a:rPr>
                                            <m:t>cos</m:t>
                                          </m:r>
                                        </m:fName>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i="1">
                                                  <a:latin typeface="Cambria Math" panose="02040503050406030204" pitchFamily="18" charset="0"/>
                                                </a:rPr>
                                                <m:t>𝑖</m:t>
                                              </m:r>
                                            </m:sub>
                                          </m:sSub>
                                        </m:e>
                                      </m:func>
                                      <m:func>
                                        <m:funcPr>
                                          <m:ctrlPr>
                                            <a:rPr lang="zh-CN" altLang="en-US" sz="1400" i="1">
                                              <a:latin typeface="Cambria Math" panose="02040503050406030204" pitchFamily="18" charset="0"/>
                                            </a:rPr>
                                          </m:ctrlPr>
                                        </m:funcPr>
                                        <m:fName>
                                          <m:r>
                                            <m:rPr>
                                              <m:sty m:val="p"/>
                                            </m:rPr>
                                            <a:rPr lang="zh-CN" altLang="en-US" sz="1400" i="0">
                                              <a:latin typeface="Cambria Math" panose="02040503050406030204" pitchFamily="18" charset="0"/>
                                            </a:rPr>
                                            <m:t>cos</m:t>
                                          </m:r>
                                        </m:fName>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𝛼</m:t>
                                              </m:r>
                                            </m:e>
                                            <m:sub>
                                              <m:r>
                                                <a:rPr lang="zh-CN" altLang="en-US" sz="1400" i="1">
                                                  <a:latin typeface="Cambria Math" panose="02040503050406030204" pitchFamily="18" charset="0"/>
                                                </a:rPr>
                                                <m:t>𝑖</m:t>
                                              </m:r>
                                              <m:r>
                                                <a:rPr lang="zh-CN" altLang="en-US" sz="1400" i="0">
                                                  <a:latin typeface="Cambria Math" panose="02040503050406030204" pitchFamily="18" charset="0"/>
                                                </a:rPr>
                                                <m:t>−1</m:t>
                                              </m:r>
                                            </m:sub>
                                          </m:sSub>
                                        </m:e>
                                      </m:func>
                                    </m:e>
                                  </m:mr>
                                </m:m>
                              </m:e>
                              <m:e>
                                <m:m>
                                  <m:mPr>
                                    <m:mcs>
                                      <m:mc>
                                        <m:mcPr>
                                          <m:count m:val="2"/>
                                          <m:mcJc m:val="center"/>
                                        </m:mcPr>
                                      </m:mc>
                                    </m:mcs>
                                    <m:ctrlPr>
                                      <a:rPr lang="zh-CN" altLang="en-US" sz="1400" i="1">
                                        <a:latin typeface="Cambria Math" panose="02040503050406030204" pitchFamily="18" charset="0"/>
                                      </a:rPr>
                                    </m:ctrlPr>
                                  </m:mPr>
                                  <m:mr>
                                    <m:e>
                                      <m:r>
                                        <a:rPr lang="zh-CN" altLang="en-US" sz="1400" i="0">
                                          <a:latin typeface="Cambria Math" panose="02040503050406030204" pitchFamily="18" charset="0"/>
                                        </a:rPr>
                                        <m:t>0</m:t>
                                      </m:r>
                                    </m:e>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𝑎</m:t>
                                          </m:r>
                                        </m:e>
                                        <m:sub>
                                          <m:r>
                                            <a:rPr lang="zh-CN" altLang="en-US" sz="1400" i="1">
                                              <a:latin typeface="Cambria Math" panose="02040503050406030204" pitchFamily="18" charset="0"/>
                                            </a:rPr>
                                            <m:t>𝑖</m:t>
                                          </m:r>
                                          <m:r>
                                            <a:rPr lang="zh-CN" altLang="en-US" sz="1400" i="0">
                                              <a:latin typeface="Cambria Math" panose="02040503050406030204" pitchFamily="18" charset="0"/>
                                            </a:rPr>
                                            <m:t>−1</m:t>
                                          </m:r>
                                        </m:sub>
                                      </m:sSub>
                                    </m:e>
                                  </m:mr>
                                  <m:mr>
                                    <m:e>
                                      <m:r>
                                        <a:rPr lang="zh-CN" altLang="en-US" sz="1400" i="0">
                                          <a:latin typeface="Cambria Math" panose="02040503050406030204" pitchFamily="18" charset="0"/>
                                        </a:rPr>
                                        <m:t>−</m:t>
                                      </m:r>
                                      <m:func>
                                        <m:funcPr>
                                          <m:ctrlPr>
                                            <a:rPr lang="zh-CN" altLang="en-US" sz="1400" i="1">
                                              <a:latin typeface="Cambria Math" panose="02040503050406030204" pitchFamily="18" charset="0"/>
                                            </a:rPr>
                                          </m:ctrlPr>
                                        </m:funcPr>
                                        <m:fName>
                                          <m:r>
                                            <m:rPr>
                                              <m:sty m:val="p"/>
                                            </m:rPr>
                                            <a:rPr lang="zh-CN" altLang="en-US" sz="1400" i="0">
                                              <a:latin typeface="Cambria Math" panose="02040503050406030204" pitchFamily="18" charset="0"/>
                                            </a:rPr>
                                            <m:t>sin</m:t>
                                          </m:r>
                                        </m:fName>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𝛼</m:t>
                                              </m:r>
                                            </m:e>
                                            <m:sub>
                                              <m:r>
                                                <a:rPr lang="zh-CN" altLang="en-US" sz="1400" i="1">
                                                  <a:latin typeface="Cambria Math" panose="02040503050406030204" pitchFamily="18" charset="0"/>
                                                </a:rPr>
                                                <m:t>𝑖</m:t>
                                              </m:r>
                                              <m:r>
                                                <a:rPr lang="zh-CN" altLang="en-US" sz="1400" i="0">
                                                  <a:latin typeface="Cambria Math" panose="02040503050406030204" pitchFamily="18" charset="0"/>
                                                </a:rPr>
                                                <m:t>−1</m:t>
                                              </m:r>
                                            </m:sub>
                                          </m:sSub>
                                        </m:e>
                                      </m:func>
                                    </m:e>
                                    <m:e>
                                      <m:r>
                                        <a:rPr lang="zh-CN" altLang="en-US" sz="1400" i="0">
                                          <a:latin typeface="Cambria Math" panose="02040503050406030204" pitchFamily="18" charset="0"/>
                                        </a:rPr>
                                        <m:t>−</m:t>
                                      </m:r>
                                      <m:func>
                                        <m:funcPr>
                                          <m:ctrlPr>
                                            <a:rPr lang="zh-CN" altLang="en-US" sz="1400" i="1">
                                              <a:latin typeface="Cambria Math" panose="02040503050406030204" pitchFamily="18" charset="0"/>
                                            </a:rPr>
                                          </m:ctrlPr>
                                        </m:funcPr>
                                        <m:fName>
                                          <m:r>
                                            <m:rPr>
                                              <m:sty m:val="p"/>
                                            </m:rPr>
                                            <a:rPr lang="zh-CN" altLang="en-US" sz="1400" i="0">
                                              <a:latin typeface="Cambria Math" panose="02040503050406030204" pitchFamily="18" charset="0"/>
                                            </a:rPr>
                                            <m:t>sin</m:t>
                                          </m:r>
                                        </m:fName>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𝛼</m:t>
                                              </m:r>
                                            </m:e>
                                            <m:sub>
                                              <m:r>
                                                <a:rPr lang="zh-CN" altLang="en-US" sz="1400" i="1">
                                                  <a:latin typeface="Cambria Math" panose="02040503050406030204" pitchFamily="18" charset="0"/>
                                                </a:rPr>
                                                <m:t>𝑖</m:t>
                                              </m:r>
                                              <m:r>
                                                <a:rPr lang="zh-CN" altLang="en-US" sz="1400" i="0">
                                                  <a:latin typeface="Cambria Math" panose="02040503050406030204" pitchFamily="18" charset="0"/>
                                                </a:rPr>
                                                <m:t>−1</m:t>
                                              </m:r>
                                            </m:sub>
                                          </m:sSub>
                                        </m:e>
                                      </m:func>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𝑑</m:t>
                                          </m:r>
                                        </m:e>
                                        <m:sub>
                                          <m:r>
                                            <a:rPr lang="zh-CN" altLang="en-US" sz="1400" i="1">
                                              <a:latin typeface="Cambria Math" panose="02040503050406030204" pitchFamily="18" charset="0"/>
                                            </a:rPr>
                                            <m:t>𝑖</m:t>
                                          </m:r>
                                        </m:sub>
                                      </m:sSub>
                                    </m:e>
                                  </m:mr>
                                </m:m>
                              </m:e>
                            </m:mr>
                            <m:mr>
                              <m:e>
                                <m:m>
                                  <m:mPr>
                                    <m:mcs>
                                      <m:mc>
                                        <m:mcPr>
                                          <m:count m:val="2"/>
                                          <m:mcJc m:val="center"/>
                                        </m:mcPr>
                                      </m:mc>
                                    </m:mcs>
                                    <m:ctrlPr>
                                      <a:rPr lang="zh-CN" altLang="en-US" sz="1400" i="1">
                                        <a:latin typeface="Cambria Math" panose="02040503050406030204" pitchFamily="18" charset="0"/>
                                      </a:rPr>
                                    </m:ctrlPr>
                                  </m:mPr>
                                  <m:mr>
                                    <m:e>
                                      <m:func>
                                        <m:funcPr>
                                          <m:ctrlPr>
                                            <a:rPr lang="zh-CN" altLang="en-US" sz="1400" i="1">
                                              <a:latin typeface="Cambria Math" panose="02040503050406030204" pitchFamily="18" charset="0"/>
                                            </a:rPr>
                                          </m:ctrlPr>
                                        </m:funcPr>
                                        <m:fName>
                                          <m:r>
                                            <m:rPr>
                                              <m:sty m:val="p"/>
                                            </m:rPr>
                                            <a:rPr lang="zh-CN" altLang="en-US" sz="1400" i="0">
                                              <a:latin typeface="Cambria Math" panose="02040503050406030204" pitchFamily="18" charset="0"/>
                                            </a:rPr>
                                            <m:t>sin</m:t>
                                          </m:r>
                                        </m:fName>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i="1">
                                                  <a:latin typeface="Cambria Math" panose="02040503050406030204" pitchFamily="18" charset="0"/>
                                                </a:rPr>
                                                <m:t>𝑖</m:t>
                                              </m:r>
                                            </m:sub>
                                          </m:sSub>
                                        </m:e>
                                      </m:func>
                                      <m:func>
                                        <m:funcPr>
                                          <m:ctrlPr>
                                            <a:rPr lang="zh-CN" altLang="en-US" sz="1400" i="1">
                                              <a:latin typeface="Cambria Math" panose="02040503050406030204" pitchFamily="18" charset="0"/>
                                            </a:rPr>
                                          </m:ctrlPr>
                                        </m:funcPr>
                                        <m:fName>
                                          <m:r>
                                            <m:rPr>
                                              <m:sty m:val="p"/>
                                            </m:rPr>
                                            <a:rPr lang="zh-CN" altLang="en-US" sz="1400" i="0">
                                              <a:latin typeface="Cambria Math" panose="02040503050406030204" pitchFamily="18" charset="0"/>
                                            </a:rPr>
                                            <m:t>sin</m:t>
                                          </m:r>
                                        </m:fName>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𝛼</m:t>
                                              </m:r>
                                            </m:e>
                                            <m:sub>
                                              <m:r>
                                                <a:rPr lang="zh-CN" altLang="en-US" sz="1400" i="1">
                                                  <a:latin typeface="Cambria Math" panose="02040503050406030204" pitchFamily="18" charset="0"/>
                                                </a:rPr>
                                                <m:t>𝑖</m:t>
                                              </m:r>
                                              <m:r>
                                                <a:rPr lang="zh-CN" altLang="en-US" sz="1400" i="0">
                                                  <a:latin typeface="Cambria Math" panose="02040503050406030204" pitchFamily="18" charset="0"/>
                                                </a:rPr>
                                                <m:t>−1</m:t>
                                              </m:r>
                                            </m:sub>
                                          </m:sSub>
                                        </m:e>
                                      </m:func>
                                    </m:e>
                                    <m:e>
                                      <m:func>
                                        <m:funcPr>
                                          <m:ctrlPr>
                                            <a:rPr lang="zh-CN" altLang="en-US" sz="1400" i="1">
                                              <a:latin typeface="Cambria Math" panose="02040503050406030204" pitchFamily="18" charset="0"/>
                                            </a:rPr>
                                          </m:ctrlPr>
                                        </m:funcPr>
                                        <m:fName>
                                          <m:func>
                                            <m:funcPr>
                                              <m:ctrlPr>
                                                <a:rPr lang="zh-CN" altLang="en-US" sz="1400" i="1">
                                                  <a:latin typeface="Cambria Math" panose="02040503050406030204" pitchFamily="18" charset="0"/>
                                                </a:rPr>
                                              </m:ctrlPr>
                                            </m:funcPr>
                                            <m:fName>
                                              <m:r>
                                                <m:rPr>
                                                  <m:sty m:val="p"/>
                                                </m:rPr>
                                                <a:rPr lang="zh-CN" altLang="en-US" sz="1400" i="0">
                                                  <a:latin typeface="Cambria Math" panose="02040503050406030204" pitchFamily="18" charset="0"/>
                                                </a:rPr>
                                                <m:t>cos</m:t>
                                              </m:r>
                                            </m:fName>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i="1">
                                                      <a:latin typeface="Cambria Math" panose="02040503050406030204" pitchFamily="18" charset="0"/>
                                                    </a:rPr>
                                                    <m:t>𝑖</m:t>
                                                  </m:r>
                                                </m:sub>
                                              </m:sSub>
                                            </m:e>
                                          </m:func>
                                          <m:r>
                                            <m:rPr>
                                              <m:sty m:val="p"/>
                                            </m:rPr>
                                            <a:rPr lang="zh-CN" altLang="en-US" sz="1400" i="0">
                                              <a:latin typeface="Cambria Math" panose="02040503050406030204" pitchFamily="18" charset="0"/>
                                            </a:rPr>
                                            <m:t>sin</m:t>
                                          </m:r>
                                        </m:fName>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𝛼</m:t>
                                              </m:r>
                                            </m:e>
                                            <m:sub>
                                              <m:r>
                                                <a:rPr lang="zh-CN" altLang="en-US" sz="1400" i="1">
                                                  <a:latin typeface="Cambria Math" panose="02040503050406030204" pitchFamily="18" charset="0"/>
                                                </a:rPr>
                                                <m:t>𝑖</m:t>
                                              </m:r>
                                              <m:r>
                                                <a:rPr lang="zh-CN" altLang="en-US" sz="1400" i="0">
                                                  <a:latin typeface="Cambria Math" panose="02040503050406030204" pitchFamily="18" charset="0"/>
                                                </a:rPr>
                                                <m:t>−1</m:t>
                                              </m:r>
                                            </m:sub>
                                          </m:sSub>
                                        </m:e>
                                      </m:func>
                                    </m:e>
                                  </m:mr>
                                  <m:mr>
                                    <m:e>
                                      <m:r>
                                        <a:rPr lang="zh-CN" altLang="en-US" sz="1400" i="0">
                                          <a:latin typeface="Cambria Math" panose="02040503050406030204" pitchFamily="18" charset="0"/>
                                        </a:rPr>
                                        <m:t>0</m:t>
                                      </m:r>
                                    </m:e>
                                    <m:e>
                                      <m:r>
                                        <a:rPr lang="zh-CN" altLang="en-US" sz="1400" i="0">
                                          <a:latin typeface="Cambria Math" panose="02040503050406030204" pitchFamily="18" charset="0"/>
                                        </a:rPr>
                                        <m:t>0</m:t>
                                      </m:r>
                                    </m:e>
                                  </m:mr>
                                </m:m>
                              </m:e>
                              <m:e>
                                <m:m>
                                  <m:mPr>
                                    <m:mcs>
                                      <m:mc>
                                        <m:mcPr>
                                          <m:count m:val="2"/>
                                          <m:mcJc m:val="center"/>
                                        </m:mcPr>
                                      </m:mc>
                                    </m:mcs>
                                    <m:ctrlPr>
                                      <a:rPr lang="zh-CN" altLang="en-US" sz="1400" i="1">
                                        <a:latin typeface="Cambria Math" panose="02040503050406030204" pitchFamily="18" charset="0"/>
                                      </a:rPr>
                                    </m:ctrlPr>
                                  </m:mPr>
                                  <m:mr>
                                    <m:e>
                                      <m:func>
                                        <m:funcPr>
                                          <m:ctrlPr>
                                            <a:rPr lang="zh-CN" altLang="en-US" sz="1400" i="1">
                                              <a:latin typeface="Cambria Math" panose="02040503050406030204" pitchFamily="18" charset="0"/>
                                            </a:rPr>
                                          </m:ctrlPr>
                                        </m:funcPr>
                                        <m:fName>
                                          <m:r>
                                            <m:rPr>
                                              <m:sty m:val="p"/>
                                            </m:rPr>
                                            <a:rPr lang="zh-CN" altLang="en-US" sz="1400" i="0">
                                              <a:latin typeface="Cambria Math" panose="02040503050406030204" pitchFamily="18" charset="0"/>
                                            </a:rPr>
                                            <m:t>cos</m:t>
                                          </m:r>
                                        </m:fName>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𝛼</m:t>
                                              </m:r>
                                            </m:e>
                                            <m:sub>
                                              <m:r>
                                                <a:rPr lang="zh-CN" altLang="en-US" sz="1400" i="1">
                                                  <a:latin typeface="Cambria Math" panose="02040503050406030204" pitchFamily="18" charset="0"/>
                                                </a:rPr>
                                                <m:t>𝑖</m:t>
                                              </m:r>
                                              <m:r>
                                                <a:rPr lang="zh-CN" altLang="en-US" sz="1400" i="0">
                                                  <a:latin typeface="Cambria Math" panose="02040503050406030204" pitchFamily="18" charset="0"/>
                                                </a:rPr>
                                                <m:t>−1</m:t>
                                              </m:r>
                                            </m:sub>
                                          </m:sSub>
                                        </m:e>
                                      </m:func>
                                    </m:e>
                                    <m:e>
                                      <m:sSub>
                                        <m:sSubPr>
                                          <m:ctrlPr>
                                            <a:rPr lang="zh-CN" altLang="en-US" sz="1400" i="1">
                                              <a:latin typeface="Cambria Math" panose="02040503050406030204" pitchFamily="18" charset="0"/>
                                            </a:rPr>
                                          </m:ctrlPr>
                                        </m:sSubPr>
                                        <m:e>
                                          <m:func>
                                            <m:funcPr>
                                              <m:ctrlPr>
                                                <a:rPr lang="zh-CN" altLang="en-US" sz="1400" i="1">
                                                  <a:latin typeface="Cambria Math" panose="02040503050406030204" pitchFamily="18" charset="0"/>
                                                </a:rPr>
                                              </m:ctrlPr>
                                            </m:funcPr>
                                            <m:fName>
                                              <m:r>
                                                <m:rPr>
                                                  <m:sty m:val="p"/>
                                                </m:rPr>
                                                <a:rPr lang="zh-CN" altLang="en-US" sz="1400" i="0">
                                                  <a:latin typeface="Cambria Math" panose="02040503050406030204" pitchFamily="18" charset="0"/>
                                                </a:rPr>
                                                <m:t>cos</m:t>
                                              </m:r>
                                            </m:fName>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𝛼</m:t>
                                                  </m:r>
                                                </m:e>
                                                <m:sub>
                                                  <m:r>
                                                    <a:rPr lang="zh-CN" altLang="en-US" sz="1400" i="1">
                                                      <a:latin typeface="Cambria Math" panose="02040503050406030204" pitchFamily="18" charset="0"/>
                                                    </a:rPr>
                                                    <m:t>𝑖</m:t>
                                                  </m:r>
                                                  <m:r>
                                                    <a:rPr lang="zh-CN" altLang="en-US" sz="1400" i="0">
                                                      <a:latin typeface="Cambria Math" panose="02040503050406030204" pitchFamily="18" charset="0"/>
                                                    </a:rPr>
                                                    <m:t>−1</m:t>
                                                  </m:r>
                                                </m:sub>
                                              </m:sSub>
                                            </m:e>
                                          </m:func>
                                          <m:r>
                                            <a:rPr lang="zh-CN" altLang="en-US" sz="1400" i="1">
                                              <a:latin typeface="Cambria Math" panose="02040503050406030204" pitchFamily="18" charset="0"/>
                                            </a:rPr>
                                            <m:t>𝑑</m:t>
                                          </m:r>
                                        </m:e>
                                        <m:sub>
                                          <m:r>
                                            <a:rPr lang="zh-CN" altLang="en-US" sz="1400" i="1">
                                              <a:latin typeface="Cambria Math" panose="02040503050406030204" pitchFamily="18" charset="0"/>
                                            </a:rPr>
                                            <m:t>𝑖</m:t>
                                          </m:r>
                                        </m:sub>
                                      </m:sSub>
                                    </m:e>
                                  </m:mr>
                                  <m:mr>
                                    <m:e>
                                      <m:r>
                                        <a:rPr lang="zh-CN" altLang="en-US" sz="1400" i="0">
                                          <a:latin typeface="Cambria Math" panose="02040503050406030204" pitchFamily="18" charset="0"/>
                                        </a:rPr>
                                        <m:t>0</m:t>
                                      </m:r>
                                    </m:e>
                                    <m:e>
                                      <m:r>
                                        <a:rPr lang="zh-CN" altLang="en-US" sz="1400" i="0">
                                          <a:latin typeface="Cambria Math" panose="02040503050406030204" pitchFamily="18" charset="0"/>
                                        </a:rPr>
                                        <m:t>1</m:t>
                                      </m:r>
                                    </m:e>
                                  </m:mr>
                                </m:m>
                              </m:e>
                            </m:mr>
                          </m:m>
                        </m:e>
                      </m:d>
                    </m:oMath>
                  </m:oMathPara>
                </a14:m>
                <a:endParaRPr lang="zh-CN" altLang="en-US" sz="1400" dirty="0"/>
              </a:p>
            </p:txBody>
          </p:sp>
        </mc:Choice>
        <mc:Fallback xmlns="">
          <p:sp>
            <p:nvSpPr>
              <p:cNvPr id="2" name="矩形 1"/>
              <p:cNvSpPr>
                <a:spLocks noRot="1" noChangeAspect="1" noMove="1" noResize="1" noEditPoints="1" noAdjustHandles="1" noChangeArrowheads="1" noChangeShapeType="1" noTextEdit="1"/>
              </p:cNvSpPr>
              <p:nvPr/>
            </p:nvSpPr>
            <p:spPr>
              <a:xfrm>
                <a:off x="1331640" y="1698410"/>
                <a:ext cx="5400600" cy="897938"/>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1409739" y="987574"/>
                <a:ext cx="5760640" cy="34464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400" i="1">
                              <a:latin typeface="Cambria Math" panose="02040503050406030204" pitchFamily="18" charset="0"/>
                            </a:rPr>
                          </m:ctrlPr>
                        </m:dPr>
                        <m:e>
                          <m:sSub>
                            <m:sSubPr>
                              <m:ctrlPr>
                                <a:rPr lang="zh-CN" altLang="en-US" sz="1400" i="1">
                                  <a:latin typeface="Cambria Math" panose="02040503050406030204" pitchFamily="18" charset="0"/>
                                </a:rPr>
                              </m:ctrlPr>
                            </m:sSubPr>
                            <m:e>
                              <m:sPre>
                                <m:sPrePr>
                                  <m:ctrlPr>
                                    <a:rPr lang="zh-CN" altLang="en-US" sz="1400" i="1">
                                      <a:latin typeface="Cambria Math" panose="02040503050406030204" pitchFamily="18" charset="0"/>
                                    </a:rPr>
                                  </m:ctrlPr>
                                </m:sPrePr>
                                <m:sub/>
                                <m:sup>
                                  <m:r>
                                    <a:rPr lang="zh-CN" altLang="en-US" sz="1400" i="1">
                                      <a:latin typeface="Cambria Math" panose="02040503050406030204" pitchFamily="18" charset="0"/>
                                    </a:rPr>
                                    <m:t>𝑛</m:t>
                                  </m:r>
                                  <m:r>
                                    <a:rPr lang="zh-CN" altLang="en-US" sz="1400" i="0">
                                      <a:latin typeface="Cambria Math" panose="02040503050406030204" pitchFamily="18" charset="0"/>
                                    </a:rPr>
                                    <m:t>−1</m:t>
                                  </m:r>
                                </m:sup>
                                <m:e>
                                  <m:r>
                                    <a:rPr lang="zh-CN" altLang="en-US" sz="1400" i="1">
                                      <a:latin typeface="Cambria Math" panose="02040503050406030204" pitchFamily="18" charset="0"/>
                                    </a:rPr>
                                    <m:t>𝑇</m:t>
                                  </m:r>
                                </m:e>
                              </m:sPre>
                            </m:e>
                            <m:sub>
                              <m:r>
                                <a:rPr lang="zh-CN" altLang="en-US" sz="1400" i="1">
                                  <a:latin typeface="Cambria Math" panose="02040503050406030204" pitchFamily="18" charset="0"/>
                                </a:rPr>
                                <m:t>𝑛</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𝑅𝑜𝑡</m:t>
                              </m:r>
                            </m:e>
                            <m:sub>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𝑋</m:t>
                                  </m:r>
                                </m:e>
                                <m:sub>
                                  <m:r>
                                    <a:rPr lang="zh-CN" altLang="en-US" sz="1400" i="1">
                                      <a:latin typeface="Cambria Math" panose="02040503050406030204" pitchFamily="18" charset="0"/>
                                    </a:rPr>
                                    <m:t>𝑛</m:t>
                                  </m:r>
                                  <m:r>
                                    <a:rPr lang="zh-CN" altLang="en-US" sz="1400" i="0">
                                      <a:latin typeface="Cambria Math" panose="02040503050406030204" pitchFamily="18" charset="0"/>
                                    </a:rPr>
                                    <m:t>−1</m:t>
                                  </m:r>
                                </m:sub>
                              </m:sSub>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𝛼</m:t>
                              </m:r>
                            </m:e>
                            <m:sub>
                              <m:r>
                                <a:rPr lang="zh-CN" altLang="en-US" sz="1400" i="1">
                                  <a:latin typeface="Cambria Math" panose="02040503050406030204" pitchFamily="18" charset="0"/>
                                </a:rPr>
                                <m:t>𝑛</m:t>
                              </m:r>
                              <m:r>
                                <a:rPr lang="zh-CN" altLang="en-US" sz="1400" i="0">
                                  <a:latin typeface="Cambria Math" panose="02040503050406030204" pitchFamily="18" charset="0"/>
                                </a:rPr>
                                <m:t>−1</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𝑇𝑟𝑎𝑛𝑠</m:t>
                              </m:r>
                            </m:e>
                            <m:sub>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𝑋</m:t>
                                  </m:r>
                                </m:e>
                                <m:sub>
                                  <m:r>
                                    <a:rPr lang="zh-CN" altLang="en-US" sz="1400" i="1">
                                      <a:latin typeface="Cambria Math" panose="02040503050406030204" pitchFamily="18" charset="0"/>
                                    </a:rPr>
                                    <m:t>𝑛</m:t>
                                  </m:r>
                                  <m:r>
                                    <a:rPr lang="zh-CN" altLang="en-US" sz="1400" i="0">
                                      <a:latin typeface="Cambria Math" panose="02040503050406030204" pitchFamily="18" charset="0"/>
                                    </a:rPr>
                                    <m:t>−1</m:t>
                                  </m:r>
                                </m:sub>
                              </m:sSub>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𝑎</m:t>
                              </m:r>
                            </m:e>
                            <m:sub>
                              <m:r>
                                <a:rPr lang="zh-CN" altLang="en-US" sz="1400" i="1">
                                  <a:latin typeface="Cambria Math" panose="02040503050406030204" pitchFamily="18" charset="0"/>
                                </a:rPr>
                                <m:t>𝑛</m:t>
                              </m:r>
                              <m:r>
                                <a:rPr lang="zh-CN" altLang="en-US" sz="1400" i="0">
                                  <a:latin typeface="Cambria Math" panose="02040503050406030204" pitchFamily="18" charset="0"/>
                                </a:rPr>
                                <m:t>−1</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𝑅𝑜𝑡</m:t>
                              </m:r>
                            </m:e>
                            <m:sub>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𝑧</m:t>
                                  </m:r>
                                </m:e>
                                <m:sub>
                                  <m:r>
                                    <a:rPr lang="zh-CN" altLang="en-US" sz="1400" i="1">
                                      <a:latin typeface="Cambria Math" panose="02040503050406030204" pitchFamily="18" charset="0"/>
                                    </a:rPr>
                                    <m:t>𝑛</m:t>
                                  </m:r>
                                </m:sub>
                              </m:sSub>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i="1">
                                  <a:latin typeface="Cambria Math" panose="02040503050406030204" pitchFamily="18" charset="0"/>
                                </a:rPr>
                                <m:t>𝑛</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𝑇𝑟𝑎𝑛𝑠</m:t>
                              </m:r>
                            </m:e>
                            <m:sub>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𝑧</m:t>
                                  </m:r>
                                </m:e>
                                <m:sub>
                                  <m:r>
                                    <a:rPr lang="zh-CN" altLang="en-US" sz="1400" i="1">
                                      <a:latin typeface="Cambria Math" panose="02040503050406030204" pitchFamily="18" charset="0"/>
                                    </a:rPr>
                                    <m:t>𝑛</m:t>
                                  </m:r>
                                </m:sub>
                              </m:sSub>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𝑑</m:t>
                              </m:r>
                            </m:e>
                            <m:sub>
                              <m:r>
                                <a:rPr lang="zh-CN" altLang="en-US" sz="1400" i="1">
                                  <a:latin typeface="Cambria Math" panose="02040503050406030204" pitchFamily="18" charset="0"/>
                                </a:rPr>
                                <m:t>𝑛</m:t>
                              </m:r>
                            </m:sub>
                          </m:sSub>
                        </m:e>
                      </m:d>
                    </m:oMath>
                  </m:oMathPara>
                </a14:m>
                <a:endParaRPr lang="zh-CN" altLang="en-US" sz="1400" dirty="0"/>
              </a:p>
            </p:txBody>
          </p:sp>
        </mc:Choice>
        <mc:Fallback xmlns="">
          <p:sp>
            <p:nvSpPr>
              <p:cNvPr id="8" name="矩形 7"/>
              <p:cNvSpPr>
                <a:spLocks noRot="1" noChangeAspect="1" noMove="1" noResize="1" noEditPoints="1" noAdjustHandles="1" noChangeArrowheads="1" noChangeShapeType="1" noTextEdit="1"/>
              </p:cNvSpPr>
              <p:nvPr/>
            </p:nvSpPr>
            <p:spPr>
              <a:xfrm>
                <a:off x="1409739" y="987574"/>
                <a:ext cx="5760640" cy="344646"/>
              </a:xfrm>
              <a:prstGeom prst="rect">
                <a:avLst/>
              </a:prstGeom>
              <a:blipFill>
                <a:blip r:embed="rId6"/>
                <a:stretch>
                  <a:fillRect t="-129825" r="-5185" b="-2017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3318413" y="3489523"/>
                <a:ext cx="1599027" cy="3992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𝑇</m:t>
                      </m:r>
                      <m:r>
                        <a:rPr lang="zh-CN" altLang="en-US" i="0">
                          <a:latin typeface="Cambria Math" panose="02040503050406030204" pitchFamily="18" charset="0"/>
                        </a:rPr>
                        <m:t>(</m:t>
                      </m:r>
                      <m:r>
                        <a:rPr lang="zh-CN" altLang="en-US" i="1">
                          <a:latin typeface="Cambria Math" panose="02040503050406030204" pitchFamily="18" charset="0"/>
                        </a:rPr>
                        <m:t>𝜃</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sPre>
                            <m:sPrePr>
                              <m:ctrlPr>
                                <a:rPr lang="zh-CN" altLang="en-US" i="1">
                                  <a:latin typeface="Cambria Math" panose="02040503050406030204" pitchFamily="18" charset="0"/>
                                </a:rPr>
                              </m:ctrlPr>
                            </m:sPrePr>
                            <m:sub/>
                            <m:sup>
                              <m:r>
                                <a:rPr lang="zh-CN" altLang="en-US" i="0">
                                  <a:latin typeface="Cambria Math" panose="02040503050406030204" pitchFamily="18" charset="0"/>
                                </a:rPr>
                                <m:t>0</m:t>
                              </m:r>
                            </m:sup>
                            <m:e>
                              <m:r>
                                <a:rPr lang="zh-CN" altLang="en-US" i="1">
                                  <a:latin typeface="Cambria Math" panose="02040503050406030204" pitchFamily="18" charset="0"/>
                                </a:rPr>
                                <m:t>𝑇</m:t>
                              </m:r>
                            </m:e>
                          </m:sPre>
                        </m:e>
                        <m:sub>
                          <m:r>
                            <a:rPr lang="zh-CN" altLang="en-US" i="0">
                              <a:latin typeface="Cambria Math" panose="02040503050406030204" pitchFamily="18" charset="0"/>
                            </a:rPr>
                            <m:t>6</m:t>
                          </m:r>
                        </m:sub>
                      </m:sSub>
                      <m:r>
                        <a:rPr lang="zh-CN" altLang="en-US" i="1">
                          <a:latin typeface="Cambria Math" panose="02040503050406030204" pitchFamily="18" charset="0"/>
                        </a:rPr>
                        <m:t>𝑀</m:t>
                      </m:r>
                    </m:oMath>
                  </m:oMathPara>
                </a14:m>
                <a:endParaRPr lang="zh-CN" altLang="en-US" dirty="0"/>
              </a:p>
            </p:txBody>
          </p:sp>
        </mc:Choice>
        <mc:Fallback xmlns="">
          <p:sp>
            <p:nvSpPr>
              <p:cNvPr id="9" name="矩形 8"/>
              <p:cNvSpPr>
                <a:spLocks noRot="1" noChangeAspect="1" noMove="1" noResize="1" noEditPoints="1" noAdjustHandles="1" noChangeArrowheads="1" noChangeShapeType="1" noTextEdit="1"/>
              </p:cNvSpPr>
              <p:nvPr/>
            </p:nvSpPr>
            <p:spPr>
              <a:xfrm>
                <a:off x="3318413" y="3489523"/>
                <a:ext cx="1599027" cy="399276"/>
              </a:xfrm>
              <a:prstGeom prst="rect">
                <a:avLst/>
              </a:prstGeom>
              <a:blipFill>
                <a:blip r:embed="rId7"/>
                <a:stretch>
                  <a:fillRect b="-10606"/>
                </a:stretch>
              </a:blipFill>
            </p:spPr>
            <p:txBody>
              <a:bodyPr/>
              <a:lstStyle/>
              <a:p>
                <a:r>
                  <a:rPr lang="zh-CN" altLang="en-US">
                    <a:noFill/>
                  </a:rPr>
                  <a:t> </a:t>
                </a:r>
              </a:p>
            </p:txBody>
          </p:sp>
        </mc:Fallback>
      </mc:AlternateContent>
      <p:sp>
        <p:nvSpPr>
          <p:cNvPr id="15" name="矩形 14"/>
          <p:cNvSpPr/>
          <p:nvPr/>
        </p:nvSpPr>
        <p:spPr>
          <a:xfrm>
            <a:off x="273329" y="4541142"/>
            <a:ext cx="8599490" cy="338554"/>
          </a:xfrm>
          <a:prstGeom prst="rect">
            <a:avLst/>
          </a:prstGeom>
        </p:spPr>
        <p:txBody>
          <a:bodyPr wrap="square">
            <a:spAutoFit/>
          </a:bodyPr>
          <a:lstStyle/>
          <a:p>
            <a:r>
              <a:rPr lang="zh-CN" altLang="en-US" sz="1600" dirty="0" smtClean="0">
                <a:solidFill>
                  <a:schemeClr val="tx2"/>
                </a:solidFill>
              </a:rPr>
              <a:t>参考代码 https</a:t>
            </a:r>
            <a:r>
              <a:rPr lang="zh-CN" altLang="en-US" sz="1600" dirty="0">
                <a:solidFill>
                  <a:schemeClr val="tx2"/>
                </a:solidFill>
              </a:rPr>
              <a:t>://github.com/mhuasong/Basics-of-Robotics-Theory-and-Technology/tree/main/ch3</a:t>
            </a:r>
          </a:p>
        </p:txBody>
      </p:sp>
    </p:spTree>
    <p:extLst>
      <p:ext uri="{BB962C8B-B14F-4D97-AF65-F5344CB8AC3E}">
        <p14:creationId xmlns:p14="http://schemas.microsoft.com/office/powerpoint/2010/main" val="299731038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圆角矩形标注 14"/>
          <p:cNvSpPr/>
          <p:nvPr/>
        </p:nvSpPr>
        <p:spPr>
          <a:xfrm>
            <a:off x="3277216" y="3800962"/>
            <a:ext cx="646712" cy="498980"/>
          </a:xfrm>
          <a:prstGeom prst="wedgeRound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Twist Method</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旋量法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2" name="矩形 1"/>
              <p:cNvSpPr/>
              <p:nvPr/>
            </p:nvSpPr>
            <p:spPr>
              <a:xfrm>
                <a:off x="827584" y="1078327"/>
                <a:ext cx="6696744" cy="338554"/>
              </a:xfrm>
              <a:prstGeom prst="rect">
                <a:avLst/>
              </a:prstGeom>
            </p:spPr>
            <p:txBody>
              <a:bodyPr wrap="square">
                <a:spAutoFit/>
              </a:bodyPr>
              <a:lstStyle/>
              <a:p>
                <a:r>
                  <a:rPr lang="zh-CN" altLang="zh-CN" sz="1600" dirty="0">
                    <a:ea typeface="等线" panose="02010600030101010101" pitchFamily="2" charset="-122"/>
                    <a:cs typeface="Times New Roman" panose="02020603050405020304" pitchFamily="18" charset="0"/>
                  </a:rPr>
                  <a:t>给定参考坐标系，</a:t>
                </a:r>
                <a:r>
                  <a:rPr lang="zh-CN" altLang="zh-CN" sz="1600" dirty="0">
                    <a:latin typeface="Cambria Math" panose="02040503050406030204" pitchFamily="18" charset="0"/>
                    <a:ea typeface="等线" panose="02010600030101010101" pitchFamily="2" charset="-122"/>
                    <a:cs typeface="Times New Roman" panose="02020603050405020304" pitchFamily="18" charset="0"/>
                  </a:rPr>
                  <a:t>螺旋轴</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𝑆</m:t>
                    </m:r>
                  </m:oMath>
                </a14:m>
                <a:r>
                  <a:rPr lang="zh-CN" altLang="zh-CN" sz="1600" dirty="0">
                    <a:latin typeface="Cambria Math" panose="02040503050406030204" pitchFamily="18" charset="0"/>
                    <a:ea typeface="等线" panose="02010600030101010101" pitchFamily="2" charset="-122"/>
                    <a:cs typeface="Times New Roman" panose="02020603050405020304" pitchFamily="18" charset="0"/>
                  </a:rPr>
                  <a:t>可写成一个</a:t>
                </a:r>
                <a:r>
                  <a:rPr lang="zh-CN" altLang="zh-CN" sz="1600" dirty="0">
                    <a:ea typeface="等线" panose="02010600030101010101" pitchFamily="2" charset="-122"/>
                    <a:cs typeface="Times New Roman" panose="02020603050405020304" pitchFamily="18" charset="0"/>
                  </a:rPr>
                  <a:t>六维向量，又称运动旋量</a:t>
                </a:r>
                <a:r>
                  <a:rPr lang="en-US" altLang="zh-CN" sz="1600" dirty="0">
                    <a:ea typeface="等线" panose="02010600030101010101" pitchFamily="2" charset="-122"/>
                    <a:cs typeface="Times New Roman" panose="02020603050405020304" pitchFamily="18" charset="0"/>
                  </a:rPr>
                  <a:t>(twist)</a:t>
                </a:r>
                <a:endParaRPr lang="zh-CN" altLang="en-US" sz="1600" dirty="0"/>
              </a:p>
            </p:txBody>
          </p:sp>
        </mc:Choice>
        <mc:Fallback xmlns="">
          <p:sp>
            <p:nvSpPr>
              <p:cNvPr id="2" name="矩形 1"/>
              <p:cNvSpPr>
                <a:spLocks noRot="1" noChangeAspect="1" noMove="1" noResize="1" noEditPoints="1" noAdjustHandles="1" noChangeArrowheads="1" noChangeShapeType="1" noTextEdit="1"/>
              </p:cNvSpPr>
              <p:nvPr/>
            </p:nvSpPr>
            <p:spPr>
              <a:xfrm>
                <a:off x="827584" y="1078327"/>
                <a:ext cx="6696744" cy="338554"/>
              </a:xfrm>
              <a:prstGeom prst="rect">
                <a:avLst/>
              </a:prstGeom>
              <a:blipFill>
                <a:blip r:embed="rId3"/>
                <a:stretch>
                  <a:fillRect l="-546" t="-5455" b="-2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3277216" y="1857092"/>
                <a:ext cx="1797480" cy="5081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𝑆</m:t>
                      </m:r>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m>
                            <m:mPr>
                              <m:mcs>
                                <m:mc>
                                  <m:mcPr>
                                    <m:count m:val="1"/>
                                    <m:mcJc m:val="center"/>
                                  </m:mcPr>
                                </m:mc>
                              </m:mcs>
                              <m:ctrlPr>
                                <a:rPr lang="zh-CN" altLang="en-US" i="1">
                                  <a:latin typeface="Cambria Math" panose="02040503050406030204" pitchFamily="18" charset="0"/>
                                </a:rPr>
                              </m:ctrlPr>
                            </m:mPr>
                            <m:mr>
                              <m:e>
                                <m:r>
                                  <a:rPr lang="zh-CN" altLang="en-US" i="1">
                                    <a:latin typeface="Cambria Math" panose="02040503050406030204" pitchFamily="18" charset="0"/>
                                  </a:rPr>
                                  <m:t>𝜐</m:t>
                                </m:r>
                              </m:e>
                            </m:mr>
                            <m:mr>
                              <m:e>
                                <m:r>
                                  <a:rPr lang="zh-CN" altLang="en-US" i="1">
                                    <a:latin typeface="Cambria Math" panose="02040503050406030204" pitchFamily="18" charset="0"/>
                                  </a:rPr>
                                  <m:t>𝜔</m:t>
                                </m:r>
                              </m:e>
                            </m:mr>
                          </m:m>
                        </m:e>
                      </m:d>
                      <m:r>
                        <a:rPr lang="zh-CN" altLang="en-US" i="0">
                          <a:latin typeface="Cambria Math" panose="02040503050406030204" pitchFamily="18" charset="0"/>
                        </a:rPr>
                        <m:t> ∈</m:t>
                      </m:r>
                      <m:sSup>
                        <m:sSupPr>
                          <m:ctrlPr>
                            <a:rPr lang="zh-CN" altLang="en-US" i="1">
                              <a:latin typeface="Cambria Math" panose="02040503050406030204" pitchFamily="18" charset="0"/>
                            </a:rPr>
                          </m:ctrlPr>
                        </m:sSupPr>
                        <m:e>
                          <m:r>
                            <m:rPr>
                              <m:sty m:val="p"/>
                            </m:rPr>
                            <a:rPr lang="zh-CN" altLang="en-US" i="0">
                              <a:latin typeface="Cambria Math" panose="02040503050406030204" pitchFamily="18" charset="0"/>
                            </a:rPr>
                            <m:t>R</m:t>
                          </m:r>
                        </m:e>
                        <m:sup>
                          <m:r>
                            <a:rPr lang="zh-CN" altLang="en-US" i="0">
                              <a:latin typeface="Cambria Math" panose="02040503050406030204" pitchFamily="18" charset="0"/>
                            </a:rPr>
                            <m:t>6×1</m:t>
                          </m:r>
                        </m:sup>
                      </m:sSup>
                    </m:oMath>
                  </m:oMathPara>
                </a14:m>
                <a:endParaRPr lang="zh-CN" altLang="en-US" dirty="0"/>
              </a:p>
            </p:txBody>
          </p:sp>
        </mc:Choice>
        <mc:Fallback xmlns="">
          <p:sp>
            <p:nvSpPr>
              <p:cNvPr id="11" name="矩形 10"/>
              <p:cNvSpPr>
                <a:spLocks noRot="1" noChangeAspect="1" noMove="1" noResize="1" noEditPoints="1" noAdjustHandles="1" noChangeArrowheads="1" noChangeShapeType="1" noTextEdit="1"/>
              </p:cNvSpPr>
              <p:nvPr/>
            </p:nvSpPr>
            <p:spPr>
              <a:xfrm>
                <a:off x="3277216" y="1857092"/>
                <a:ext cx="1797480" cy="508152"/>
              </a:xfrm>
              <a:prstGeom prst="rect">
                <a:avLst/>
              </a:prstGeom>
              <a:blipFill>
                <a:blip r:embed="rId4"/>
                <a:stretch>
                  <a:fillRect b="-12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2383223" y="3800962"/>
                <a:ext cx="3813673" cy="38831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𝑇</m:t>
                      </m:r>
                      <m:r>
                        <a:rPr lang="zh-CN" altLang="en-US" i="0">
                          <a:latin typeface="Cambria Math" panose="02040503050406030204" pitchFamily="18" charset="0"/>
                        </a:rPr>
                        <m:t>(</m:t>
                      </m:r>
                      <m:r>
                        <a:rPr lang="zh-CN" altLang="en-US" i="1">
                          <a:latin typeface="Cambria Math" panose="02040503050406030204" pitchFamily="18" charset="0"/>
                        </a:rPr>
                        <m:t>𝜃</m:t>
                      </m:r>
                      <m:r>
                        <a:rPr lang="zh-CN" altLang="en-US" i="0">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𝑒</m:t>
                          </m:r>
                        </m:e>
                        <m:sup>
                          <m:d>
                            <m:dPr>
                              <m:begChr m:val="["/>
                              <m:endChr m:val="]"/>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S</m:t>
                                  </m:r>
                                </m:e>
                                <m:sub>
                                  <m:r>
                                    <a:rPr lang="zh-CN" altLang="en-US" i="0">
                                      <a:latin typeface="Cambria Math" panose="02040503050406030204" pitchFamily="18" charset="0"/>
                                    </a:rPr>
                                    <m:t>1</m:t>
                                  </m:r>
                                </m:sub>
                              </m:sSub>
                            </m:e>
                          </m:d>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θ</m:t>
                              </m:r>
                            </m:e>
                            <m:sub>
                              <m:r>
                                <a:rPr lang="zh-CN" altLang="en-US" i="0">
                                  <a:latin typeface="Cambria Math" panose="02040503050406030204" pitchFamily="18" charset="0"/>
                                </a:rPr>
                                <m:t>1</m:t>
                              </m:r>
                            </m:sub>
                          </m:sSub>
                        </m:sup>
                      </m:sSup>
                      <m:r>
                        <a:rPr lang="zh-CN" altLang="en-US" i="0">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𝑒</m:t>
                          </m:r>
                        </m:e>
                        <m:sup>
                          <m:d>
                            <m:dPr>
                              <m:begChr m:val="["/>
                              <m:endChr m:val="]"/>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S</m:t>
                                  </m:r>
                                </m:e>
                                <m:sub>
                                  <m:r>
                                    <a:rPr lang="zh-CN" altLang="en-US" i="1">
                                      <a:latin typeface="Cambria Math" panose="02040503050406030204" pitchFamily="18" charset="0"/>
                                    </a:rPr>
                                    <m:t>𝑛</m:t>
                                  </m:r>
                                  <m:r>
                                    <a:rPr lang="zh-CN" altLang="en-US" i="0">
                                      <a:latin typeface="Cambria Math" panose="02040503050406030204" pitchFamily="18" charset="0"/>
                                    </a:rPr>
                                    <m:t>−1</m:t>
                                  </m:r>
                                </m:sub>
                              </m:sSub>
                            </m:e>
                          </m:d>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θ</m:t>
                              </m:r>
                            </m:e>
                            <m:sub>
                              <m:r>
                                <a:rPr lang="zh-CN" altLang="en-US" i="1">
                                  <a:latin typeface="Cambria Math" panose="02040503050406030204" pitchFamily="18" charset="0"/>
                                </a:rPr>
                                <m:t>𝑛</m:t>
                              </m:r>
                              <m:r>
                                <a:rPr lang="zh-CN" altLang="en-US" i="0">
                                  <a:latin typeface="Cambria Math" panose="02040503050406030204" pitchFamily="18" charset="0"/>
                                </a:rPr>
                                <m:t>−1</m:t>
                              </m:r>
                            </m:sub>
                          </m:sSub>
                        </m:sup>
                      </m:sSup>
                      <m:sSup>
                        <m:sSupPr>
                          <m:ctrlPr>
                            <a:rPr lang="zh-CN" altLang="en-US" i="1">
                              <a:latin typeface="Cambria Math" panose="02040503050406030204" pitchFamily="18" charset="0"/>
                            </a:rPr>
                          </m:ctrlPr>
                        </m:sSupPr>
                        <m:e>
                          <m:r>
                            <a:rPr lang="zh-CN" altLang="en-US" i="1">
                              <a:latin typeface="Cambria Math" panose="02040503050406030204" pitchFamily="18" charset="0"/>
                            </a:rPr>
                            <m:t>𝑒</m:t>
                          </m:r>
                        </m:e>
                        <m:sup>
                          <m:d>
                            <m:dPr>
                              <m:begChr m:val="["/>
                              <m:endChr m:val="]"/>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S</m:t>
                                  </m:r>
                                </m:e>
                                <m:sub>
                                  <m:r>
                                    <a:rPr lang="zh-CN" altLang="en-US" i="1">
                                      <a:latin typeface="Cambria Math" panose="02040503050406030204" pitchFamily="18" charset="0"/>
                                    </a:rPr>
                                    <m:t>𝑛</m:t>
                                  </m:r>
                                </m:sub>
                              </m:sSub>
                            </m:e>
                          </m:d>
                          <m:sSub>
                            <m:sSubPr>
                              <m:ctrlPr>
                                <a:rPr lang="zh-CN" altLang="en-US" i="1">
                                  <a:latin typeface="Cambria Math" panose="02040503050406030204" pitchFamily="18" charset="0"/>
                                </a:rPr>
                              </m:ctrlPr>
                            </m:sSubPr>
                            <m:e>
                              <m:r>
                                <m:rPr>
                                  <m:sty m:val="p"/>
                                </m:rPr>
                                <a:rPr lang="zh-CN" altLang="en-US" i="0">
                                  <a:latin typeface="Cambria Math" panose="02040503050406030204" pitchFamily="18" charset="0"/>
                                </a:rPr>
                                <m:t>θ</m:t>
                              </m:r>
                            </m:e>
                            <m:sub>
                              <m:r>
                                <a:rPr lang="zh-CN" altLang="en-US" i="1">
                                  <a:latin typeface="Cambria Math" panose="02040503050406030204" pitchFamily="18" charset="0"/>
                                </a:rPr>
                                <m:t>𝑛</m:t>
                              </m:r>
                            </m:sub>
                          </m:sSub>
                        </m:sup>
                      </m:sSup>
                      <m:r>
                        <a:rPr lang="zh-CN" altLang="en-US" i="1">
                          <a:latin typeface="Cambria Math" panose="02040503050406030204" pitchFamily="18" charset="0"/>
                        </a:rPr>
                        <m:t>𝑀</m:t>
                      </m:r>
                    </m:oMath>
                  </m:oMathPara>
                </a14:m>
                <a:endParaRPr lang="zh-CN" altLang="en-US" dirty="0"/>
              </a:p>
            </p:txBody>
          </p:sp>
        </mc:Choice>
        <mc:Fallback xmlns="">
          <p:sp>
            <p:nvSpPr>
              <p:cNvPr id="12" name="矩形 11"/>
              <p:cNvSpPr>
                <a:spLocks noRot="1" noChangeAspect="1" noMove="1" noResize="1" noEditPoints="1" noAdjustHandles="1" noChangeArrowheads="1" noChangeShapeType="1" noTextEdit="1"/>
              </p:cNvSpPr>
              <p:nvPr/>
            </p:nvSpPr>
            <p:spPr>
              <a:xfrm>
                <a:off x="2383223" y="3800962"/>
                <a:ext cx="3813673" cy="388311"/>
              </a:xfrm>
              <a:prstGeom prst="rect">
                <a:avLst/>
              </a:prstGeom>
              <a:blipFill>
                <a:blip r:embed="rId5"/>
                <a:stretch>
                  <a:fillRect b="-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611560" y="2805456"/>
                <a:ext cx="7848872" cy="584775"/>
              </a:xfrm>
              <a:prstGeom prst="rect">
                <a:avLst/>
              </a:prstGeom>
            </p:spPr>
            <p:txBody>
              <a:bodyPr wrap="square">
                <a:spAutoFit/>
              </a:bodyPr>
              <a:lstStyle/>
              <a:p>
                <a:r>
                  <a:rPr lang="zh-CN" altLang="zh-CN" sz="1600" dirty="0">
                    <a:ea typeface="等线" panose="02010600030101010101" pitchFamily="2" charset="-122"/>
                    <a:cs typeface="Times New Roman" panose="02020603050405020304" pitchFamily="18" charset="0"/>
                  </a:rPr>
                  <a:t>已知</a:t>
                </a:r>
                <a:r>
                  <a:rPr lang="zh-CN" altLang="zh-CN" sz="1600" dirty="0" smtClean="0">
                    <a:ea typeface="等线" panose="02010600030101010101" pitchFamily="2" charset="-122"/>
                    <a:cs typeface="Times New Roman" panose="02020603050405020304" pitchFamily="18" charset="0"/>
                  </a:rPr>
                  <a:t>末端</a:t>
                </a:r>
                <a:r>
                  <a:rPr lang="en-US" altLang="zh-CN" sz="1600" dirty="0" smtClean="0">
                    <a:ea typeface="等线" panose="02010600030101010101" pitchFamily="2" charset="-122"/>
                    <a:cs typeface="Times New Roman" panose="02020603050405020304" pitchFamily="18" charset="0"/>
                  </a:rPr>
                  <a:t>TCP</a:t>
                </a:r>
                <a:r>
                  <a:rPr lang="zh-CN" altLang="zh-CN" sz="1600" dirty="0" smtClean="0">
                    <a:ea typeface="等线" panose="02010600030101010101" pitchFamily="2" charset="-122"/>
                    <a:cs typeface="Times New Roman" panose="02020603050405020304" pitchFamily="18" charset="0"/>
                  </a:rPr>
                  <a:t>的</a:t>
                </a:r>
                <a:r>
                  <a:rPr lang="zh-CN" altLang="zh-CN" sz="1600" dirty="0">
                    <a:ea typeface="等线" panose="02010600030101010101" pitchFamily="2" charset="-122"/>
                    <a:cs typeface="Times New Roman" panose="02020603050405020304" pitchFamily="18" charset="0"/>
                  </a:rPr>
                  <a:t>初始位形为</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𝑀</m:t>
                    </m:r>
                  </m:oMath>
                </a14:m>
                <a:r>
                  <a:rPr lang="zh-CN" altLang="zh-CN" sz="1600" dirty="0">
                    <a:ea typeface="等线" panose="02010600030101010101" pitchFamily="2" charset="-122"/>
                    <a:cs typeface="Times New Roman" panose="02020603050405020304" pitchFamily="18" charset="0"/>
                  </a:rPr>
                  <a:t>，当得到所有关节变量</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1600" dirty="0">
                    <a:ea typeface="等线" panose="02010600030101010101" pitchFamily="2" charset="-122"/>
                    <a:cs typeface="Times New Roman" panose="02020603050405020304" pitchFamily="18" charset="0"/>
                  </a:rPr>
                  <a:t>时，则该</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oMath>
                </a14:m>
                <a:r>
                  <a:rPr lang="zh-CN" altLang="zh-CN" sz="1600" dirty="0">
                    <a:ea typeface="等线" panose="02010600030101010101" pitchFamily="2" charset="-122"/>
                    <a:cs typeface="Times New Roman" panose="02020603050405020304" pitchFamily="18" charset="0"/>
                  </a:rPr>
                  <a:t>个关节串联机器人末端的新位形可以</a:t>
                </a:r>
                <a:r>
                  <a:rPr lang="zh-CN" altLang="zh-CN" sz="1600" dirty="0">
                    <a:solidFill>
                      <a:srgbClr val="FF0000"/>
                    </a:solidFill>
                    <a:ea typeface="等线" panose="02010600030101010101" pitchFamily="2" charset="-122"/>
                    <a:cs typeface="Times New Roman" panose="02020603050405020304" pitchFamily="18" charset="0"/>
                  </a:rPr>
                  <a:t>指数积公式</a:t>
                </a:r>
                <a:r>
                  <a:rPr lang="zh-CN" altLang="zh-CN" sz="1600" dirty="0">
                    <a:ea typeface="等线" panose="02010600030101010101" pitchFamily="2" charset="-122"/>
                    <a:cs typeface="Times New Roman" panose="02020603050405020304" pitchFamily="18" charset="0"/>
                  </a:rPr>
                  <a:t>（</a:t>
                </a:r>
                <a:r>
                  <a:rPr lang="en-US" altLang="zh-CN" sz="1600" dirty="0">
                    <a:ea typeface="等线" panose="02010600030101010101" pitchFamily="2" charset="-122"/>
                    <a:cs typeface="Times New Roman" panose="02020603050405020304" pitchFamily="18" charset="0"/>
                  </a:rPr>
                  <a:t>3-31</a:t>
                </a:r>
                <a:r>
                  <a:rPr lang="zh-CN" altLang="zh-CN" sz="1600" dirty="0">
                    <a:ea typeface="等线" panose="02010600030101010101" pitchFamily="2" charset="-122"/>
                    <a:cs typeface="Times New Roman" panose="02020603050405020304" pitchFamily="18" charset="0"/>
                  </a:rPr>
                  <a:t>）进行</a:t>
                </a:r>
                <a:r>
                  <a:rPr lang="zh-CN" altLang="zh-CN" sz="1600" dirty="0" smtClean="0">
                    <a:ea typeface="等线" panose="02010600030101010101" pitchFamily="2" charset="-122"/>
                    <a:cs typeface="Times New Roman" panose="02020603050405020304" pitchFamily="18" charset="0"/>
                  </a:rPr>
                  <a:t>表示</a:t>
                </a:r>
                <a:r>
                  <a:rPr lang="zh-CN" altLang="en-US" sz="1600" dirty="0" smtClean="0">
                    <a:ea typeface="等线" panose="02010600030101010101" pitchFamily="2" charset="-122"/>
                    <a:cs typeface="Times New Roman" panose="02020603050405020304" pitchFamily="18" charset="0"/>
                  </a:rPr>
                  <a:t>：</a:t>
                </a:r>
                <a:endParaRPr lang="zh-CN" altLang="en-US" sz="1600" dirty="0"/>
              </a:p>
            </p:txBody>
          </p:sp>
        </mc:Choice>
        <mc:Fallback xmlns="">
          <p:sp>
            <p:nvSpPr>
              <p:cNvPr id="13" name="矩形 12"/>
              <p:cNvSpPr>
                <a:spLocks noRot="1" noChangeAspect="1" noMove="1" noResize="1" noEditPoints="1" noAdjustHandles="1" noChangeArrowheads="1" noChangeShapeType="1" noTextEdit="1"/>
              </p:cNvSpPr>
              <p:nvPr/>
            </p:nvSpPr>
            <p:spPr>
              <a:xfrm>
                <a:off x="611560" y="2805456"/>
                <a:ext cx="7848872" cy="584775"/>
              </a:xfrm>
              <a:prstGeom prst="rect">
                <a:avLst/>
              </a:prstGeom>
              <a:blipFill>
                <a:blip r:embed="rId6"/>
                <a:stretch>
                  <a:fillRect l="-388" t="-3125" b="-12500"/>
                </a:stretch>
              </a:blipFill>
            </p:spPr>
            <p:txBody>
              <a:bodyPr/>
              <a:lstStyle/>
              <a:p>
                <a:r>
                  <a:rPr lang="zh-CN" altLang="en-US">
                    <a:noFill/>
                  </a:rPr>
                  <a:t> </a:t>
                </a:r>
              </a:p>
            </p:txBody>
          </p:sp>
        </mc:Fallback>
      </mc:AlternateContent>
      <p:sp>
        <p:nvSpPr>
          <p:cNvPr id="16" name="文本框 15"/>
          <p:cNvSpPr txBox="1"/>
          <p:nvPr/>
        </p:nvSpPr>
        <p:spPr>
          <a:xfrm>
            <a:off x="3419872" y="4587974"/>
            <a:ext cx="2492990" cy="369332"/>
          </a:xfrm>
          <a:prstGeom prst="rect">
            <a:avLst/>
          </a:prstGeom>
          <a:noFill/>
        </p:spPr>
        <p:txBody>
          <a:bodyPr wrap="none" rtlCol="0">
            <a:spAutoFit/>
          </a:bodyPr>
          <a:lstStyle/>
          <a:p>
            <a:r>
              <a:rPr lang="zh-CN" altLang="en-US" dirty="0" smtClean="0"/>
              <a:t>如何求这个矩阵指数？</a:t>
            </a:r>
            <a:endParaRPr lang="zh-CN" altLang="en-US" dirty="0"/>
          </a:p>
        </p:txBody>
      </p:sp>
    </p:spTree>
    <p:extLst>
      <p:ext uri="{BB962C8B-B14F-4D97-AF65-F5344CB8AC3E}">
        <p14:creationId xmlns:p14="http://schemas.microsoft.com/office/powerpoint/2010/main" val="235693475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Twist Method</a:t>
              </a:r>
              <a:endParaRPr lang="zh-CN" altLang="en-US" sz="1000" dirty="0">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旋量法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3" name="矩形 2"/>
              <p:cNvSpPr/>
              <p:nvPr/>
            </p:nvSpPr>
            <p:spPr>
              <a:xfrm>
                <a:off x="1475656" y="922020"/>
                <a:ext cx="3052054" cy="317203"/>
              </a:xfrm>
              <a:prstGeom prst="rect">
                <a:avLst/>
              </a:prstGeom>
            </p:spPr>
            <p:txBody>
              <a:bodyPr wrap="none">
                <a:spAutoFit/>
              </a:bodyPr>
              <a:lstStyle/>
              <a:p>
                <a:r>
                  <a:rPr lang="zh-CN" altLang="zh-CN" sz="1400" dirty="0">
                    <a:ea typeface="等线" panose="02010600030101010101" pitchFamily="2" charset="-122"/>
                    <a:cs typeface="Times New Roman" panose="02020603050405020304" pitchFamily="18" charset="0"/>
                  </a:rPr>
                  <a:t>将矩阵指数</a:t>
                </a:r>
                <a14:m>
                  <m:oMath xmlns:m="http://schemas.openxmlformats.org/officeDocument/2006/math">
                    <m:sSup>
                      <m:sSupPr>
                        <m:ctrlPr>
                          <a:rPr lang="zh-CN" altLang="zh-CN" sz="1400" i="1">
                            <a:effectLst/>
                            <a:latin typeface="Cambria Math" panose="02040503050406030204" pitchFamily="18" charset="0"/>
                            <a:ea typeface="Cambria Math" panose="02040503050406030204" pitchFamily="18" charset="0"/>
                          </a:rPr>
                        </m:ctrlPr>
                      </m:sSupPr>
                      <m:e>
                        <m:r>
                          <a:rPr lang="en-US" altLang="zh-CN" sz="1400" i="1">
                            <a:latin typeface="Cambria Math" panose="02040503050406030204" pitchFamily="18" charset="0"/>
                            <a:ea typeface="等线" panose="02010600030101010101" pitchFamily="2" charset="-122"/>
                            <a:cs typeface="Times New Roman" panose="02020603050405020304" pitchFamily="18" charset="0"/>
                          </a:rPr>
                          <m:t>𝑒</m:t>
                        </m:r>
                      </m:e>
                      <m:sup>
                        <m:r>
                          <a:rPr lang="en-US" altLang="zh-CN" sz="1400" i="1">
                            <a:latin typeface="Cambria Math" panose="02040503050406030204" pitchFamily="18" charset="0"/>
                            <a:ea typeface="等线" panose="02010600030101010101" pitchFamily="2" charset="-122"/>
                            <a:cs typeface="Times New Roman" panose="02020603050405020304" pitchFamily="18" charset="0"/>
                          </a:rPr>
                          <m:t>[</m:t>
                        </m:r>
                        <m:r>
                          <a:rPr lang="en-US" altLang="zh-CN" sz="1400" i="1">
                            <a:latin typeface="Cambria Math" panose="02040503050406030204" pitchFamily="18" charset="0"/>
                            <a:ea typeface="等线" panose="02010600030101010101" pitchFamily="2" charset="-122"/>
                            <a:cs typeface="Times New Roman" panose="02020603050405020304" pitchFamily="18" charset="0"/>
                          </a:rPr>
                          <m:t>𝑠</m:t>
                        </m:r>
                        <m:r>
                          <a:rPr lang="en-US" altLang="zh-CN" sz="1400" i="1">
                            <a:latin typeface="Cambria Math" panose="02040503050406030204" pitchFamily="18" charset="0"/>
                            <a:ea typeface="等线" panose="02010600030101010101" pitchFamily="2" charset="-122"/>
                            <a:cs typeface="Times New Roman" panose="02020603050405020304" pitchFamily="18" charset="0"/>
                          </a:rPr>
                          <m:t>]</m:t>
                        </m:r>
                        <m:r>
                          <a:rPr lang="en-US" altLang="zh-CN" sz="1400" i="1">
                            <a:latin typeface="Cambria Math" panose="02040503050406030204" pitchFamily="18" charset="0"/>
                            <a:ea typeface="等线" panose="02010600030101010101" pitchFamily="2" charset="-122"/>
                            <a:cs typeface="Times New Roman" panose="02020603050405020304" pitchFamily="18" charset="0"/>
                          </a:rPr>
                          <m:t>𝜃</m:t>
                        </m:r>
                      </m:sup>
                    </m:sSup>
                  </m:oMath>
                </a14:m>
                <a:r>
                  <a:rPr lang="zh-CN" altLang="zh-CN" sz="1400" dirty="0">
                    <a:ea typeface="等线" panose="02010600030101010101" pitchFamily="2" charset="-122"/>
                    <a:cs typeface="Times New Roman" panose="02020603050405020304" pitchFamily="18" charset="0"/>
                  </a:rPr>
                  <a:t>进行级数展开，得：</a:t>
                </a:r>
                <a:endParaRPr lang="zh-CN" altLang="en-US" sz="1400" dirty="0"/>
              </a:p>
            </p:txBody>
          </p:sp>
        </mc:Choice>
        <mc:Fallback xmlns="">
          <p:sp>
            <p:nvSpPr>
              <p:cNvPr id="3" name="矩形 2"/>
              <p:cNvSpPr>
                <a:spLocks noRot="1" noChangeAspect="1" noMove="1" noResize="1" noEditPoints="1" noAdjustHandles="1" noChangeArrowheads="1" noChangeShapeType="1" noTextEdit="1"/>
              </p:cNvSpPr>
              <p:nvPr/>
            </p:nvSpPr>
            <p:spPr>
              <a:xfrm>
                <a:off x="1475656" y="922020"/>
                <a:ext cx="3052054" cy="317203"/>
              </a:xfrm>
              <a:prstGeom prst="rect">
                <a:avLst/>
              </a:prstGeom>
              <a:blipFill>
                <a:blip r:embed="rId3"/>
                <a:stretch>
                  <a:fillRect l="-599" b="-211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1043608" y="1203101"/>
                <a:ext cx="5472608" cy="54348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𝑒</m:t>
                          </m:r>
                        </m:e>
                        <m:sup>
                          <m:d>
                            <m:dPr>
                              <m:begChr m:val="["/>
                              <m:endChr m:val=""/>
                              <m:ctrlPr>
                                <a:rPr lang="zh-CN" altLang="en-US" sz="1400" i="1">
                                  <a:latin typeface="Cambria Math" panose="02040503050406030204" pitchFamily="18" charset="0"/>
                                </a:rPr>
                              </m:ctrlPr>
                            </m:dPr>
                            <m:e>
                              <m:r>
                                <a:rPr lang="zh-CN" altLang="en-US" sz="1400" i="1">
                                  <a:latin typeface="Cambria Math" panose="02040503050406030204" pitchFamily="18" charset="0"/>
                                </a:rPr>
                                <m:t>𝑠</m:t>
                              </m:r>
                              <m:r>
                                <a:rPr lang="zh-CN" altLang="en-US" sz="1400" i="0">
                                  <a:latin typeface="Cambria Math" panose="02040503050406030204" pitchFamily="18" charset="0"/>
                                </a:rPr>
                                <m:t>]</m:t>
                              </m:r>
                              <m:r>
                                <a:rPr lang="zh-CN" altLang="en-US" sz="1400" i="1">
                                  <a:latin typeface="Cambria Math" panose="02040503050406030204" pitchFamily="18" charset="0"/>
                                </a:rPr>
                                <m:t>𝜃</m:t>
                              </m:r>
                            </m:e>
                          </m:d>
                        </m:sup>
                      </m:sSup>
                      <m:r>
                        <a:rPr lang="zh-CN" altLang="en-US" sz="1400" i="0">
                          <a:latin typeface="Cambria Math" panose="02040503050406030204" pitchFamily="18" charset="0"/>
                        </a:rPr>
                        <m:t>=</m:t>
                      </m:r>
                      <m:r>
                        <a:rPr lang="zh-CN" altLang="en-US" sz="1400" i="1">
                          <a:latin typeface="Cambria Math" panose="02040503050406030204" pitchFamily="18" charset="0"/>
                        </a:rPr>
                        <m:t>𝐼</m:t>
                      </m:r>
                      <m:r>
                        <a:rPr lang="zh-CN" altLang="en-US" sz="1400" i="0">
                          <a:latin typeface="Cambria Math" panose="02040503050406030204" pitchFamily="18" charset="0"/>
                        </a:rPr>
                        <m:t>+</m:t>
                      </m:r>
                      <m:d>
                        <m:dPr>
                          <m:begChr m:val="["/>
                          <m:endChr m:val="]"/>
                          <m:ctrlPr>
                            <a:rPr lang="zh-CN" altLang="en-US" sz="1400" i="1">
                              <a:latin typeface="Cambria Math" panose="02040503050406030204" pitchFamily="18" charset="0"/>
                            </a:rPr>
                          </m:ctrlPr>
                        </m:dPr>
                        <m:e>
                          <m:r>
                            <a:rPr lang="zh-CN" altLang="en-US" sz="1400" i="1">
                              <a:latin typeface="Cambria Math" panose="02040503050406030204" pitchFamily="18" charset="0"/>
                            </a:rPr>
                            <m:t>𝑆</m:t>
                          </m:r>
                        </m:e>
                      </m:d>
                      <m:r>
                        <a:rPr lang="zh-CN" altLang="en-US" sz="1400" i="1">
                          <a:latin typeface="Cambria Math" panose="02040503050406030204" pitchFamily="18" charset="0"/>
                        </a:rPr>
                        <m:t>𝜃</m:t>
                      </m:r>
                      <m:r>
                        <a:rPr lang="zh-CN" altLang="en-US" sz="1400" i="0">
                          <a:latin typeface="Cambria Math" panose="02040503050406030204" pitchFamily="18" charset="0"/>
                        </a:rPr>
                        <m:t>+</m:t>
                      </m:r>
                      <m:d>
                        <m:dPr>
                          <m:begChr m:val="["/>
                          <m:endChr m:val="]"/>
                          <m:ctrlPr>
                            <a:rPr lang="zh-CN" altLang="en-US" sz="1400" i="1">
                              <a:latin typeface="Cambria Math" panose="02040503050406030204" pitchFamily="18" charset="0"/>
                            </a:rPr>
                          </m:ctrlPr>
                        </m:dPr>
                        <m:e>
                          <m:r>
                            <a:rPr lang="zh-CN" altLang="en-US" sz="1400" i="1">
                              <a:latin typeface="Cambria Math" panose="02040503050406030204" pitchFamily="18" charset="0"/>
                            </a:rPr>
                            <m:t>𝑆</m:t>
                          </m:r>
                        </m:e>
                      </m:d>
                      <m:f>
                        <m:fPr>
                          <m:ctrlPr>
                            <a:rPr lang="zh-CN" altLang="en-US" sz="1400" i="1">
                              <a:latin typeface="Cambria Math" panose="02040503050406030204" pitchFamily="18" charset="0"/>
                            </a:rPr>
                          </m:ctrlPr>
                        </m:fPr>
                        <m:num>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𝜃</m:t>
                              </m:r>
                            </m:e>
                            <m:sup>
                              <m:r>
                                <a:rPr lang="zh-CN" altLang="en-US" sz="1400" i="0">
                                  <a:latin typeface="Cambria Math" panose="02040503050406030204" pitchFamily="18" charset="0"/>
                                </a:rPr>
                                <m:t>2</m:t>
                              </m:r>
                            </m:sup>
                          </m:sSup>
                        </m:num>
                        <m:den>
                          <m:r>
                            <a:rPr lang="zh-CN" altLang="en-US" sz="1400" i="0">
                              <a:latin typeface="Cambria Math" panose="02040503050406030204" pitchFamily="18" charset="0"/>
                            </a:rPr>
                            <m:t>2!</m:t>
                          </m:r>
                        </m:den>
                      </m:f>
                      <m:r>
                        <a:rPr lang="zh-CN" altLang="en-US" sz="1400" i="0">
                          <a:latin typeface="Cambria Math" panose="02040503050406030204" pitchFamily="18" charset="0"/>
                        </a:rPr>
                        <m:t>+</m:t>
                      </m:r>
                      <m:sSup>
                        <m:sSupPr>
                          <m:ctrlPr>
                            <a:rPr lang="zh-CN" altLang="en-US" sz="1400" i="1">
                              <a:latin typeface="Cambria Math" panose="02040503050406030204" pitchFamily="18" charset="0"/>
                            </a:rPr>
                          </m:ctrlPr>
                        </m:sSupPr>
                        <m:e>
                          <m:d>
                            <m:dPr>
                              <m:begChr m:val="["/>
                              <m:endChr m:val="]"/>
                              <m:ctrlPr>
                                <a:rPr lang="zh-CN" altLang="en-US" sz="1400" i="1">
                                  <a:latin typeface="Cambria Math" panose="02040503050406030204" pitchFamily="18" charset="0"/>
                                </a:rPr>
                              </m:ctrlPr>
                            </m:dPr>
                            <m:e>
                              <m:r>
                                <a:rPr lang="zh-CN" altLang="en-US" sz="1400" i="1">
                                  <a:latin typeface="Cambria Math" panose="02040503050406030204" pitchFamily="18" charset="0"/>
                                </a:rPr>
                                <m:t>𝑆</m:t>
                              </m:r>
                            </m:e>
                          </m:d>
                        </m:e>
                        <m:sup>
                          <m:r>
                            <a:rPr lang="zh-CN" altLang="en-US" sz="1400" i="0">
                              <a:latin typeface="Cambria Math" panose="02040503050406030204" pitchFamily="18" charset="0"/>
                            </a:rPr>
                            <m:t>2</m:t>
                          </m:r>
                        </m:sup>
                      </m:sSup>
                      <m:f>
                        <m:fPr>
                          <m:ctrlPr>
                            <a:rPr lang="zh-CN" altLang="en-US" sz="1400" i="1">
                              <a:latin typeface="Cambria Math" panose="02040503050406030204" pitchFamily="18" charset="0"/>
                            </a:rPr>
                          </m:ctrlPr>
                        </m:fPr>
                        <m:num>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𝜃</m:t>
                              </m:r>
                            </m:e>
                            <m:sup>
                              <m:r>
                                <a:rPr lang="zh-CN" altLang="en-US" sz="1400" i="0">
                                  <a:latin typeface="Cambria Math" panose="02040503050406030204" pitchFamily="18" charset="0"/>
                                </a:rPr>
                                <m:t>3</m:t>
                              </m:r>
                            </m:sup>
                          </m:sSup>
                        </m:num>
                        <m:den>
                          <m:r>
                            <a:rPr lang="zh-CN" altLang="en-US" sz="1400" i="0">
                              <a:latin typeface="Cambria Math" panose="02040503050406030204" pitchFamily="18" charset="0"/>
                            </a:rPr>
                            <m:t>3!</m:t>
                          </m:r>
                        </m:den>
                      </m:f>
                      <m:r>
                        <a:rPr lang="zh-CN" altLang="en-US" sz="1400" i="0">
                          <a:latin typeface="Cambria Math" panose="02040503050406030204" pitchFamily="18" charset="0"/>
                        </a:rPr>
                        <m:t>+⋯=</m:t>
                      </m:r>
                      <m:d>
                        <m:dPr>
                          <m:begChr m:val="["/>
                          <m:endChr m:val="]"/>
                          <m:ctrlPr>
                            <a:rPr lang="zh-CN" altLang="en-US" sz="1400" i="1">
                              <a:latin typeface="Cambria Math" panose="02040503050406030204" pitchFamily="18" charset="0"/>
                            </a:rPr>
                          </m:ctrlPr>
                        </m:dPr>
                        <m:e>
                          <m:m>
                            <m:mPr>
                              <m:mcs>
                                <m:mc>
                                  <m:mcPr>
                                    <m:count m:val="2"/>
                                    <m:mcJc m:val="center"/>
                                  </m:mcPr>
                                </m:mc>
                              </m:mcs>
                              <m:ctrlPr>
                                <a:rPr lang="zh-CN" altLang="en-US" sz="1400" i="1">
                                  <a:latin typeface="Cambria Math" panose="02040503050406030204" pitchFamily="18" charset="0"/>
                                </a:rPr>
                              </m:ctrlPr>
                            </m:mPr>
                            <m:mr>
                              <m:e>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𝑒</m:t>
                                    </m:r>
                                  </m:e>
                                  <m:sup>
                                    <m:d>
                                      <m:dPr>
                                        <m:begChr m:val="["/>
                                        <m:endChr m:val=""/>
                                        <m:ctrlPr>
                                          <a:rPr lang="zh-CN" altLang="en-US" sz="1400" i="1">
                                            <a:latin typeface="Cambria Math" panose="02040503050406030204" pitchFamily="18" charset="0"/>
                                          </a:rPr>
                                        </m:ctrlPr>
                                      </m:dPr>
                                      <m:e>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𝜔</m:t>
                                            </m:r>
                                          </m:e>
                                        </m:acc>
                                        <m:r>
                                          <a:rPr lang="zh-CN" altLang="en-US" sz="1400" i="0">
                                            <a:latin typeface="Cambria Math" panose="02040503050406030204" pitchFamily="18" charset="0"/>
                                          </a:rPr>
                                          <m:t>]</m:t>
                                        </m:r>
                                        <m:r>
                                          <a:rPr lang="zh-CN" altLang="en-US" sz="1400" i="1">
                                            <a:latin typeface="Cambria Math" panose="02040503050406030204" pitchFamily="18" charset="0"/>
                                          </a:rPr>
                                          <m:t>𝜃</m:t>
                                        </m:r>
                                      </m:e>
                                    </m:d>
                                  </m:sup>
                                </m:sSup>
                              </m:e>
                              <m:e>
                                <m:r>
                                  <a:rPr lang="zh-CN" altLang="en-US" sz="1400" i="1">
                                    <a:latin typeface="Cambria Math" panose="02040503050406030204" pitchFamily="18" charset="0"/>
                                  </a:rPr>
                                  <m:t>𝐺</m:t>
                                </m:r>
                                <m:r>
                                  <a:rPr lang="zh-CN" altLang="en-US" sz="1400" i="0">
                                    <a:latin typeface="Cambria Math" panose="02040503050406030204" pitchFamily="18" charset="0"/>
                                  </a:rPr>
                                  <m:t>(</m:t>
                                </m:r>
                                <m:r>
                                  <a:rPr lang="zh-CN" altLang="en-US" sz="1400" i="1">
                                    <a:latin typeface="Cambria Math" panose="02040503050406030204" pitchFamily="18" charset="0"/>
                                  </a:rPr>
                                  <m:t>𝜃</m:t>
                                </m:r>
                                <m:r>
                                  <a:rPr lang="zh-CN" altLang="en-US" sz="1400" i="0">
                                    <a:latin typeface="Cambria Math" panose="02040503050406030204" pitchFamily="18" charset="0"/>
                                  </a:rPr>
                                  <m:t>)</m:t>
                                </m:r>
                                <m:r>
                                  <a:rPr lang="zh-CN" altLang="en-US" sz="1400" i="1">
                                    <a:latin typeface="Cambria Math" panose="02040503050406030204" pitchFamily="18" charset="0"/>
                                  </a:rPr>
                                  <m:t>𝑣</m:t>
                                </m:r>
                              </m:e>
                            </m:mr>
                            <m:mr>
                              <m:e>
                                <m:r>
                                  <a:rPr lang="zh-CN" altLang="en-US" sz="1400" i="0">
                                    <a:latin typeface="Cambria Math" panose="02040503050406030204" pitchFamily="18" charset="0"/>
                                  </a:rPr>
                                  <m:t>0</m:t>
                                </m:r>
                              </m:e>
                              <m:e>
                                <m:r>
                                  <a:rPr lang="zh-CN" altLang="en-US" sz="1400" i="0">
                                    <a:latin typeface="Cambria Math" panose="02040503050406030204" pitchFamily="18" charset="0"/>
                                  </a:rPr>
                                  <m:t>1</m:t>
                                </m:r>
                              </m:e>
                            </m:mr>
                          </m:m>
                        </m:e>
                      </m:d>
                    </m:oMath>
                  </m:oMathPara>
                </a14:m>
                <a:endParaRPr lang="zh-CN" altLang="en-US" sz="1400" dirty="0"/>
              </a:p>
            </p:txBody>
          </p:sp>
        </mc:Choice>
        <mc:Fallback xmlns="">
          <p:sp>
            <p:nvSpPr>
              <p:cNvPr id="8" name="矩形 7"/>
              <p:cNvSpPr>
                <a:spLocks noRot="1" noChangeAspect="1" noMove="1" noResize="1" noEditPoints="1" noAdjustHandles="1" noChangeArrowheads="1" noChangeShapeType="1" noTextEdit="1"/>
              </p:cNvSpPr>
              <p:nvPr/>
            </p:nvSpPr>
            <p:spPr>
              <a:xfrm>
                <a:off x="1043608" y="1203101"/>
                <a:ext cx="5472608" cy="54348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1475656" y="1663672"/>
                <a:ext cx="2853602" cy="52456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400" i="1">
                          <a:latin typeface="Cambria Math" panose="02040503050406030204" pitchFamily="18" charset="0"/>
                        </a:rPr>
                        <m:t>𝐺</m:t>
                      </m:r>
                      <m:d>
                        <m:dPr>
                          <m:ctrlPr>
                            <a:rPr lang="zh-CN" altLang="en-US" sz="1400" i="1">
                              <a:latin typeface="Cambria Math" panose="02040503050406030204" pitchFamily="18" charset="0"/>
                            </a:rPr>
                          </m:ctrlPr>
                        </m:dPr>
                        <m:e>
                          <m:r>
                            <a:rPr lang="zh-CN" altLang="en-US" sz="1400" i="1">
                              <a:latin typeface="Cambria Math" panose="02040503050406030204" pitchFamily="18" charset="0"/>
                            </a:rPr>
                            <m:t>𝜃</m:t>
                          </m:r>
                        </m:e>
                      </m:d>
                      <m:r>
                        <a:rPr lang="zh-CN" altLang="en-US" sz="1400" i="0">
                          <a:latin typeface="Cambria Math" panose="02040503050406030204" pitchFamily="18" charset="0"/>
                        </a:rPr>
                        <m:t>=</m:t>
                      </m:r>
                      <m:r>
                        <a:rPr lang="zh-CN" altLang="en-US" sz="1400" i="1">
                          <a:latin typeface="Cambria Math" panose="02040503050406030204" pitchFamily="18" charset="0"/>
                        </a:rPr>
                        <m:t>𝐼</m:t>
                      </m:r>
                      <m:r>
                        <a:rPr lang="zh-CN" altLang="en-US" sz="1400" i="1">
                          <a:latin typeface="Cambria Math" panose="02040503050406030204" pitchFamily="18" charset="0"/>
                        </a:rPr>
                        <m:t>𝜃</m:t>
                      </m:r>
                      <m:r>
                        <a:rPr lang="zh-CN" altLang="en-US" sz="1400" i="0">
                          <a:latin typeface="Cambria Math" panose="02040503050406030204" pitchFamily="18" charset="0"/>
                        </a:rPr>
                        <m:t>+</m:t>
                      </m:r>
                      <m:d>
                        <m:dPr>
                          <m:begChr m:val="["/>
                          <m:endChr m:val="]"/>
                          <m:ctrlPr>
                            <a:rPr lang="zh-CN" altLang="en-US" sz="1400" i="1">
                              <a:latin typeface="Cambria Math" panose="02040503050406030204" pitchFamily="18" charset="0"/>
                            </a:rPr>
                          </m:ctrlPr>
                        </m:dPr>
                        <m:e>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𝜔</m:t>
                              </m:r>
                            </m:e>
                          </m:acc>
                        </m:e>
                      </m:d>
                      <m:f>
                        <m:fPr>
                          <m:ctrlPr>
                            <a:rPr lang="zh-CN" altLang="en-US" sz="1400" i="1">
                              <a:latin typeface="Cambria Math" panose="02040503050406030204" pitchFamily="18" charset="0"/>
                            </a:rPr>
                          </m:ctrlPr>
                        </m:fPr>
                        <m:num>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𝜃</m:t>
                              </m:r>
                            </m:e>
                            <m:sup>
                              <m:r>
                                <a:rPr lang="zh-CN" altLang="en-US" sz="1400" i="0">
                                  <a:latin typeface="Cambria Math" panose="02040503050406030204" pitchFamily="18" charset="0"/>
                                </a:rPr>
                                <m:t>2</m:t>
                              </m:r>
                            </m:sup>
                          </m:sSup>
                        </m:num>
                        <m:den>
                          <m:r>
                            <a:rPr lang="zh-CN" altLang="en-US" sz="1400" i="0">
                              <a:latin typeface="Cambria Math" panose="02040503050406030204" pitchFamily="18" charset="0"/>
                            </a:rPr>
                            <m:t>2!</m:t>
                          </m:r>
                        </m:den>
                      </m:f>
                      <m:r>
                        <a:rPr lang="zh-CN" altLang="en-US" sz="1400" i="0">
                          <a:latin typeface="Cambria Math" panose="02040503050406030204" pitchFamily="18" charset="0"/>
                        </a:rPr>
                        <m:t>+</m:t>
                      </m:r>
                      <m:sSup>
                        <m:sSupPr>
                          <m:ctrlPr>
                            <a:rPr lang="zh-CN" altLang="en-US" sz="1400" i="1">
                              <a:latin typeface="Cambria Math" panose="02040503050406030204" pitchFamily="18" charset="0"/>
                            </a:rPr>
                          </m:ctrlPr>
                        </m:sSupPr>
                        <m:e>
                          <m:d>
                            <m:dPr>
                              <m:begChr m:val="["/>
                              <m:endChr m:val="]"/>
                              <m:ctrlPr>
                                <a:rPr lang="zh-CN" altLang="en-US" sz="1400" i="1">
                                  <a:latin typeface="Cambria Math" panose="02040503050406030204" pitchFamily="18" charset="0"/>
                                </a:rPr>
                              </m:ctrlPr>
                            </m:dPr>
                            <m:e>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𝜔</m:t>
                                  </m:r>
                                </m:e>
                              </m:acc>
                            </m:e>
                          </m:d>
                        </m:e>
                        <m:sup>
                          <m:r>
                            <a:rPr lang="zh-CN" altLang="en-US" sz="1400" i="0">
                              <a:latin typeface="Cambria Math" panose="02040503050406030204" pitchFamily="18" charset="0"/>
                            </a:rPr>
                            <m:t>2</m:t>
                          </m:r>
                        </m:sup>
                      </m:sSup>
                      <m:f>
                        <m:fPr>
                          <m:ctrlPr>
                            <a:rPr lang="zh-CN" altLang="en-US" sz="1400" i="1">
                              <a:latin typeface="Cambria Math" panose="02040503050406030204" pitchFamily="18" charset="0"/>
                            </a:rPr>
                          </m:ctrlPr>
                        </m:fPr>
                        <m:num>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𝜃</m:t>
                              </m:r>
                            </m:e>
                            <m:sup>
                              <m:r>
                                <a:rPr lang="zh-CN" altLang="en-US" sz="1400" i="0">
                                  <a:latin typeface="Cambria Math" panose="02040503050406030204" pitchFamily="18" charset="0"/>
                                </a:rPr>
                                <m:t>3</m:t>
                              </m:r>
                            </m:sup>
                          </m:sSup>
                        </m:num>
                        <m:den>
                          <m:r>
                            <a:rPr lang="zh-CN" altLang="en-US" sz="1400" i="0">
                              <a:latin typeface="Cambria Math" panose="02040503050406030204" pitchFamily="18" charset="0"/>
                            </a:rPr>
                            <m:t>3!</m:t>
                          </m:r>
                        </m:den>
                      </m:f>
                      <m:r>
                        <a:rPr lang="zh-CN" altLang="en-US" sz="1400" i="0">
                          <a:latin typeface="Cambria Math" panose="02040503050406030204" pitchFamily="18" charset="0"/>
                        </a:rPr>
                        <m:t>+⋯</m:t>
                      </m:r>
                    </m:oMath>
                  </m:oMathPara>
                </a14:m>
                <a:endParaRPr lang="zh-CN" altLang="en-US" sz="1400" dirty="0"/>
              </a:p>
            </p:txBody>
          </p:sp>
        </mc:Choice>
        <mc:Fallback xmlns="">
          <p:sp>
            <p:nvSpPr>
              <p:cNvPr id="9" name="矩形 8"/>
              <p:cNvSpPr>
                <a:spLocks noRot="1" noChangeAspect="1" noMove="1" noResize="1" noEditPoints="1" noAdjustHandles="1" noChangeArrowheads="1" noChangeShapeType="1" noTextEdit="1"/>
              </p:cNvSpPr>
              <p:nvPr/>
            </p:nvSpPr>
            <p:spPr>
              <a:xfrm>
                <a:off x="1475656" y="1663672"/>
                <a:ext cx="2853602" cy="524567"/>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1438143" y="2283423"/>
                <a:ext cx="6624736" cy="525850"/>
              </a:xfrm>
              <a:prstGeom prst="rect">
                <a:avLst/>
              </a:prstGeom>
            </p:spPr>
            <p:txBody>
              <a:bodyPr wrap="square">
                <a:spAutoFit/>
              </a:bodyPr>
              <a:lstStyle/>
              <a:p>
                <a:r>
                  <a:rPr lang="zh-CN" altLang="zh-CN" sz="1400" dirty="0">
                    <a:ea typeface="等线" panose="02010600030101010101" pitchFamily="2" charset="-122"/>
                    <a:cs typeface="Times New Roman" panose="02020603050405020304" pitchFamily="18" charset="0"/>
                  </a:rPr>
                  <a:t>利用单位向量的反对称矩阵特性，</a:t>
                </a:r>
                <a14:m>
                  <m:oMath xmlns:m="http://schemas.openxmlformats.org/officeDocument/2006/math">
                    <m:sSup>
                      <m:sSupPr>
                        <m:ctrlPr>
                          <a:rPr lang="zh-CN" altLang="zh-CN" sz="1400" i="1">
                            <a:effectLst/>
                            <a:latin typeface="Cambria Math" panose="02040503050406030204" pitchFamily="18" charset="0"/>
                            <a:ea typeface="Cambria Math" panose="02040503050406030204" pitchFamily="18" charset="0"/>
                          </a:rPr>
                        </m:ctrlPr>
                      </m:sSupPr>
                      <m:e>
                        <m:r>
                          <a:rPr lang="en-US" altLang="zh-CN" sz="1400" i="1">
                            <a:latin typeface="Cambria Math" panose="02040503050406030204" pitchFamily="18" charset="0"/>
                            <a:ea typeface="等线" panose="02010600030101010101" pitchFamily="2" charset="-122"/>
                            <a:cs typeface="Times New Roman" panose="02020603050405020304" pitchFamily="18" charset="0"/>
                          </a:rPr>
                          <m:t>[</m:t>
                        </m:r>
                        <m:acc>
                          <m:accPr>
                            <m:chr m:val="̂"/>
                            <m:ctrlPr>
                              <a:rPr lang="zh-CN" altLang="zh-CN" sz="1400" i="1">
                                <a:effectLst/>
                                <a:latin typeface="Cambria Math" panose="02040503050406030204" pitchFamily="18" charset="0"/>
                                <a:ea typeface="Cambria Math" panose="02040503050406030204" pitchFamily="18" charset="0"/>
                              </a:rPr>
                            </m:ctrlPr>
                          </m:accPr>
                          <m:e>
                            <m:r>
                              <a:rPr lang="en-US" altLang="zh-CN" sz="1400" i="1">
                                <a:latin typeface="Cambria Math" panose="02040503050406030204" pitchFamily="18" charset="0"/>
                                <a:ea typeface="等线" panose="02010600030101010101" pitchFamily="2" charset="-122"/>
                                <a:cs typeface="Times New Roman" panose="02020603050405020304" pitchFamily="18" charset="0"/>
                              </a:rPr>
                              <m:t>𝜔</m:t>
                            </m:r>
                          </m:e>
                        </m:acc>
                        <m:r>
                          <a:rPr lang="en-US" altLang="zh-CN" sz="1400" i="1">
                            <a:latin typeface="Cambria Math" panose="02040503050406030204" pitchFamily="18" charset="0"/>
                            <a:ea typeface="等线" panose="02010600030101010101" pitchFamily="2" charset="-122"/>
                            <a:cs typeface="Times New Roman" panose="02020603050405020304" pitchFamily="18" charset="0"/>
                          </a:rPr>
                          <m:t>]</m:t>
                        </m:r>
                      </m:e>
                      <m:sup>
                        <m:r>
                          <a:rPr lang="en-US" altLang="zh-CN" sz="1400" i="1">
                            <a:latin typeface="Cambria Math" panose="02040503050406030204" pitchFamily="18" charset="0"/>
                            <a:ea typeface="等线" panose="02010600030101010101" pitchFamily="2" charset="-122"/>
                            <a:cs typeface="Times New Roman" panose="02020603050405020304" pitchFamily="18" charset="0"/>
                          </a:rPr>
                          <m:t>3</m:t>
                        </m:r>
                      </m:sup>
                    </m:sSup>
                    <m:r>
                      <a:rPr lang="en-US" altLang="zh-CN" sz="1400" i="1">
                        <a:latin typeface="Cambria Math" panose="02040503050406030204" pitchFamily="18" charset="0"/>
                        <a:ea typeface="等线" panose="02010600030101010101" pitchFamily="2" charset="-122"/>
                        <a:cs typeface="Times New Roman" panose="02020603050405020304" pitchFamily="18" charset="0"/>
                      </a:rPr>
                      <m:t>=−</m:t>
                    </m:r>
                    <m:d>
                      <m:dPr>
                        <m:begChr m:val="["/>
                        <m:endChr m:val="]"/>
                        <m:ctrlPr>
                          <a:rPr lang="zh-CN" altLang="zh-CN" sz="1400" i="1">
                            <a:effectLst/>
                            <a:latin typeface="Cambria Math" panose="02040503050406030204" pitchFamily="18" charset="0"/>
                            <a:ea typeface="Cambria Math" panose="02040503050406030204" pitchFamily="18" charset="0"/>
                          </a:rPr>
                        </m:ctrlPr>
                      </m:dPr>
                      <m:e>
                        <m:acc>
                          <m:accPr>
                            <m:chr m:val="̂"/>
                            <m:ctrlPr>
                              <a:rPr lang="zh-CN" altLang="zh-CN" sz="1400" i="1">
                                <a:effectLst/>
                                <a:latin typeface="Cambria Math" panose="02040503050406030204" pitchFamily="18" charset="0"/>
                                <a:ea typeface="Cambria Math" panose="02040503050406030204" pitchFamily="18" charset="0"/>
                              </a:rPr>
                            </m:ctrlPr>
                          </m:accPr>
                          <m:e>
                            <m:r>
                              <a:rPr lang="en-US" altLang="zh-CN" sz="1400" i="1">
                                <a:latin typeface="Cambria Math" panose="02040503050406030204" pitchFamily="18" charset="0"/>
                                <a:ea typeface="等线" panose="02010600030101010101" pitchFamily="2" charset="-122"/>
                                <a:cs typeface="Times New Roman" panose="02020603050405020304" pitchFamily="18" charset="0"/>
                              </a:rPr>
                              <m:t>𝜔</m:t>
                            </m:r>
                          </m:e>
                        </m:acc>
                      </m:e>
                    </m:d>
                  </m:oMath>
                </a14:m>
                <a:r>
                  <a:rPr lang="en-US" altLang="zh-CN" sz="1400" dirty="0">
                    <a:latin typeface="等线" panose="02010600030101010101" pitchFamily="2" charset="-122"/>
                    <a:cs typeface="Times New Roman" panose="02020603050405020304" pitchFamily="18" charset="0"/>
                  </a:rPr>
                  <a:t>,</a:t>
                </a:r>
                <a14:m>
                  <m:oMath xmlns:m="http://schemas.openxmlformats.org/officeDocument/2006/math">
                    <m:sSup>
                      <m:sSupPr>
                        <m:ctrlPr>
                          <a:rPr lang="zh-CN" altLang="zh-CN" sz="1400" i="1">
                            <a:effectLst/>
                            <a:latin typeface="Cambria Math" panose="02040503050406030204" pitchFamily="18" charset="0"/>
                            <a:ea typeface="Cambria Math" panose="02040503050406030204" pitchFamily="18" charset="0"/>
                          </a:rPr>
                        </m:ctrlPr>
                      </m:sSupPr>
                      <m:e>
                        <m:r>
                          <a:rPr lang="en-US" altLang="zh-CN" sz="1400" i="1">
                            <a:latin typeface="Cambria Math" panose="02040503050406030204" pitchFamily="18" charset="0"/>
                            <a:ea typeface="等线" panose="02010600030101010101" pitchFamily="2" charset="-122"/>
                            <a:cs typeface="Times New Roman" panose="02020603050405020304" pitchFamily="18" charset="0"/>
                          </a:rPr>
                          <m:t>[</m:t>
                        </m:r>
                        <m:acc>
                          <m:accPr>
                            <m:chr m:val="̂"/>
                            <m:ctrlPr>
                              <a:rPr lang="zh-CN" altLang="zh-CN" sz="1400" i="1">
                                <a:effectLst/>
                                <a:latin typeface="Cambria Math" panose="02040503050406030204" pitchFamily="18" charset="0"/>
                                <a:ea typeface="Cambria Math" panose="02040503050406030204" pitchFamily="18" charset="0"/>
                              </a:rPr>
                            </m:ctrlPr>
                          </m:accPr>
                          <m:e>
                            <m:r>
                              <a:rPr lang="en-US" altLang="zh-CN" sz="1400" i="1">
                                <a:latin typeface="Cambria Math" panose="02040503050406030204" pitchFamily="18" charset="0"/>
                                <a:ea typeface="等线" panose="02010600030101010101" pitchFamily="2" charset="-122"/>
                                <a:cs typeface="Times New Roman" panose="02020603050405020304" pitchFamily="18" charset="0"/>
                              </a:rPr>
                              <m:t>𝜔</m:t>
                            </m:r>
                          </m:e>
                        </m:acc>
                        <m:r>
                          <a:rPr lang="en-US" altLang="zh-CN" sz="1400" i="1">
                            <a:latin typeface="Cambria Math" panose="02040503050406030204" pitchFamily="18" charset="0"/>
                            <a:ea typeface="等线" panose="02010600030101010101" pitchFamily="2" charset="-122"/>
                            <a:cs typeface="Times New Roman" panose="02020603050405020304" pitchFamily="18" charset="0"/>
                          </a:rPr>
                          <m:t>]</m:t>
                        </m:r>
                      </m:e>
                      <m:sup>
                        <m:r>
                          <a:rPr lang="en-US" altLang="zh-CN" sz="1400" i="1">
                            <a:latin typeface="Cambria Math" panose="02040503050406030204" pitchFamily="18" charset="0"/>
                            <a:ea typeface="等线" panose="02010600030101010101" pitchFamily="2" charset="-122"/>
                            <a:cs typeface="Times New Roman" panose="02020603050405020304" pitchFamily="18" charset="0"/>
                          </a:rPr>
                          <m:t>4</m:t>
                        </m:r>
                      </m:sup>
                    </m:sSup>
                    <m:r>
                      <a:rPr lang="en-US" altLang="zh-CN" sz="14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400" i="1">
                            <a:effectLst/>
                            <a:latin typeface="Cambria Math" panose="02040503050406030204" pitchFamily="18" charset="0"/>
                            <a:ea typeface="Cambria Math" panose="02040503050406030204" pitchFamily="18" charset="0"/>
                          </a:rPr>
                        </m:ctrlPr>
                      </m:sSupPr>
                      <m:e>
                        <m:d>
                          <m:dPr>
                            <m:begChr m:val="["/>
                            <m:endChr m:val="]"/>
                            <m:ctrlPr>
                              <a:rPr lang="zh-CN" altLang="zh-CN" sz="1400" i="1">
                                <a:effectLst/>
                                <a:latin typeface="Cambria Math" panose="02040503050406030204" pitchFamily="18" charset="0"/>
                                <a:ea typeface="Cambria Math" panose="02040503050406030204" pitchFamily="18" charset="0"/>
                              </a:rPr>
                            </m:ctrlPr>
                          </m:dPr>
                          <m:e>
                            <m:acc>
                              <m:accPr>
                                <m:chr m:val="̂"/>
                                <m:ctrlPr>
                                  <a:rPr lang="zh-CN" altLang="zh-CN" sz="1400" i="1">
                                    <a:effectLst/>
                                    <a:latin typeface="Cambria Math" panose="02040503050406030204" pitchFamily="18" charset="0"/>
                                    <a:ea typeface="Cambria Math" panose="02040503050406030204" pitchFamily="18" charset="0"/>
                                  </a:rPr>
                                </m:ctrlPr>
                              </m:accPr>
                              <m:e>
                                <m:r>
                                  <a:rPr lang="en-US" altLang="zh-CN" sz="1400" i="1">
                                    <a:latin typeface="Cambria Math" panose="02040503050406030204" pitchFamily="18" charset="0"/>
                                    <a:ea typeface="等线" panose="02010600030101010101" pitchFamily="2" charset="-122"/>
                                    <a:cs typeface="Times New Roman" panose="02020603050405020304" pitchFamily="18" charset="0"/>
                                  </a:rPr>
                                  <m:t>𝜔</m:t>
                                </m:r>
                              </m:e>
                            </m:acc>
                          </m:e>
                        </m:d>
                      </m:e>
                      <m:sup>
                        <m:r>
                          <a:rPr lang="en-US" altLang="zh-CN" sz="1400" i="1">
                            <a:latin typeface="Cambria Math" panose="02040503050406030204" pitchFamily="18" charset="0"/>
                            <a:ea typeface="等线" panose="02010600030101010101" pitchFamily="2" charset="-122"/>
                            <a:cs typeface="Times New Roman" panose="02020603050405020304" pitchFamily="18" charset="0"/>
                          </a:rPr>
                          <m:t>2</m:t>
                        </m:r>
                      </m:sup>
                    </m:sSup>
                  </m:oMath>
                </a14:m>
                <a:r>
                  <a:rPr lang="en-US" altLang="zh-CN" sz="1400" dirty="0">
                    <a:latin typeface="等线" panose="02010600030101010101" pitchFamily="2" charset="-122"/>
                    <a:cs typeface="Times New Roman" panose="02020603050405020304" pitchFamily="18" charset="0"/>
                  </a:rPr>
                  <a:t>,</a:t>
                </a:r>
                <a14:m>
                  <m:oMath xmlns:m="http://schemas.openxmlformats.org/officeDocument/2006/math">
                    <m:sSup>
                      <m:sSupPr>
                        <m:ctrlPr>
                          <a:rPr lang="zh-CN" altLang="zh-CN" sz="1400" i="1">
                            <a:effectLst/>
                            <a:latin typeface="Cambria Math" panose="02040503050406030204" pitchFamily="18" charset="0"/>
                            <a:ea typeface="Cambria Math" panose="02040503050406030204" pitchFamily="18" charset="0"/>
                          </a:rPr>
                        </m:ctrlPr>
                      </m:sSupPr>
                      <m:e>
                        <m:r>
                          <a:rPr lang="en-US" altLang="zh-CN" sz="1400" i="1">
                            <a:latin typeface="Cambria Math" panose="02040503050406030204" pitchFamily="18" charset="0"/>
                            <a:ea typeface="等线" panose="02010600030101010101" pitchFamily="2" charset="-122"/>
                            <a:cs typeface="Times New Roman" panose="02020603050405020304" pitchFamily="18" charset="0"/>
                          </a:rPr>
                          <m:t>[</m:t>
                        </m:r>
                        <m:acc>
                          <m:accPr>
                            <m:chr m:val="̂"/>
                            <m:ctrlPr>
                              <a:rPr lang="zh-CN" altLang="zh-CN" sz="1400" i="1">
                                <a:effectLst/>
                                <a:latin typeface="Cambria Math" panose="02040503050406030204" pitchFamily="18" charset="0"/>
                                <a:ea typeface="Cambria Math" panose="02040503050406030204" pitchFamily="18" charset="0"/>
                              </a:rPr>
                            </m:ctrlPr>
                          </m:accPr>
                          <m:e>
                            <m:r>
                              <a:rPr lang="en-US" altLang="zh-CN" sz="1400" i="1">
                                <a:latin typeface="Cambria Math" panose="02040503050406030204" pitchFamily="18" charset="0"/>
                                <a:ea typeface="等线" panose="02010600030101010101" pitchFamily="2" charset="-122"/>
                                <a:cs typeface="Times New Roman" panose="02020603050405020304" pitchFamily="18" charset="0"/>
                              </a:rPr>
                              <m:t>𝜔</m:t>
                            </m:r>
                          </m:e>
                        </m:acc>
                        <m:r>
                          <a:rPr lang="en-US" altLang="zh-CN" sz="1400" i="1">
                            <a:latin typeface="Cambria Math" panose="02040503050406030204" pitchFamily="18" charset="0"/>
                            <a:ea typeface="等线" panose="02010600030101010101" pitchFamily="2" charset="-122"/>
                            <a:cs typeface="Times New Roman" panose="02020603050405020304" pitchFamily="18" charset="0"/>
                          </a:rPr>
                          <m:t>]</m:t>
                        </m:r>
                      </m:e>
                      <m:sup>
                        <m:r>
                          <a:rPr lang="en-US" altLang="zh-CN" sz="1400" i="1">
                            <a:latin typeface="Cambria Math" panose="02040503050406030204" pitchFamily="18" charset="0"/>
                            <a:ea typeface="等线" panose="02010600030101010101" pitchFamily="2" charset="-122"/>
                            <a:cs typeface="Times New Roman" panose="02020603050405020304" pitchFamily="18" charset="0"/>
                          </a:rPr>
                          <m:t>5</m:t>
                        </m:r>
                      </m:sup>
                    </m:sSup>
                    <m:r>
                      <a:rPr lang="en-US" altLang="zh-CN" sz="1400" i="1">
                        <a:latin typeface="Cambria Math" panose="02040503050406030204" pitchFamily="18" charset="0"/>
                        <a:ea typeface="等线" panose="02010600030101010101" pitchFamily="2" charset="-122"/>
                        <a:cs typeface="Times New Roman" panose="02020603050405020304" pitchFamily="18" charset="0"/>
                      </a:rPr>
                      <m:t>=</m:t>
                    </m:r>
                    <m:d>
                      <m:dPr>
                        <m:begChr m:val="["/>
                        <m:endChr m:val="]"/>
                        <m:ctrlPr>
                          <a:rPr lang="zh-CN" altLang="zh-CN" sz="1400" i="1">
                            <a:effectLst/>
                            <a:latin typeface="Cambria Math" panose="02040503050406030204" pitchFamily="18" charset="0"/>
                            <a:ea typeface="Cambria Math" panose="02040503050406030204" pitchFamily="18" charset="0"/>
                          </a:rPr>
                        </m:ctrlPr>
                      </m:dPr>
                      <m:e>
                        <m:acc>
                          <m:accPr>
                            <m:chr m:val="̂"/>
                            <m:ctrlPr>
                              <a:rPr lang="zh-CN" altLang="zh-CN" sz="1400" i="1">
                                <a:effectLst/>
                                <a:latin typeface="Cambria Math" panose="02040503050406030204" pitchFamily="18" charset="0"/>
                                <a:ea typeface="Cambria Math" panose="02040503050406030204" pitchFamily="18" charset="0"/>
                              </a:rPr>
                            </m:ctrlPr>
                          </m:accPr>
                          <m:e>
                            <m:r>
                              <a:rPr lang="en-US" altLang="zh-CN" sz="1400" i="1">
                                <a:latin typeface="Cambria Math" panose="02040503050406030204" pitchFamily="18" charset="0"/>
                                <a:ea typeface="等线" panose="02010600030101010101" pitchFamily="2" charset="-122"/>
                                <a:cs typeface="Times New Roman" panose="02020603050405020304" pitchFamily="18" charset="0"/>
                              </a:rPr>
                              <m:t>𝜔</m:t>
                            </m:r>
                          </m:e>
                        </m:acc>
                      </m:e>
                    </m:d>
                  </m:oMath>
                </a14:m>
                <a:r>
                  <a:rPr lang="en-US" altLang="zh-CN" sz="1400" dirty="0">
                    <a:latin typeface="等线" panose="02010600030101010101" pitchFamily="2" charset="-122"/>
                    <a:cs typeface="Times New Roman" panose="02020603050405020304" pitchFamily="18" charset="0"/>
                  </a:rPr>
                  <a:t>,</a:t>
                </a:r>
                <a:r>
                  <a:rPr lang="zh-CN" altLang="zh-CN" sz="1400" dirty="0">
                    <a:ea typeface="等线" panose="02010600030101010101" pitchFamily="2" charset="-122"/>
                    <a:cs typeface="Times New Roman" panose="02020603050405020304" pitchFamily="18" charset="0"/>
                  </a:rPr>
                  <a:t>如此类推，</a:t>
                </a:r>
                <a14:m>
                  <m:oMath xmlns:m="http://schemas.openxmlformats.org/officeDocument/2006/math">
                    <m:r>
                      <a:rPr lang="zh-CN" altLang="zh-CN" sz="1400" i="1">
                        <a:latin typeface="Cambria Math" panose="02040503050406030204" pitchFamily="18" charset="0"/>
                        <a:ea typeface="Cambria Math" panose="02040503050406030204" pitchFamily="18" charset="0"/>
                        <a:cs typeface="Times New Roman" panose="02020603050405020304" pitchFamily="18" charset="0"/>
                      </a:rPr>
                      <m:t> </m:t>
                    </m:r>
                    <m:r>
                      <a:rPr lang="en-US" altLang="zh-CN" sz="1400" i="1">
                        <a:latin typeface="Cambria Math" panose="02040503050406030204" pitchFamily="18" charset="0"/>
                        <a:ea typeface="Cambria Math" panose="02040503050406030204" pitchFamily="18" charset="0"/>
                        <a:cs typeface="Times New Roman" panose="02020603050405020304" pitchFamily="18" charset="0"/>
                      </a:rPr>
                      <m:t>𝐺</m:t>
                    </m:r>
                    <m:d>
                      <m:dPr>
                        <m:ctrlPr>
                          <a:rPr lang="zh-CN" altLang="zh-CN" sz="1400" i="1">
                            <a:effectLst/>
                            <a:latin typeface="Cambria Math" panose="02040503050406030204" pitchFamily="18" charset="0"/>
                            <a:ea typeface="Cambria Math" panose="02040503050406030204" pitchFamily="18" charset="0"/>
                          </a:rPr>
                        </m:ctrlPr>
                      </m:dPr>
                      <m:e>
                        <m:r>
                          <a:rPr lang="en-US" altLang="zh-CN" sz="1400" i="1">
                            <a:latin typeface="Cambria Math" panose="02040503050406030204" pitchFamily="18" charset="0"/>
                            <a:ea typeface="等线" panose="02010600030101010101" pitchFamily="2" charset="-122"/>
                            <a:cs typeface="Times New Roman" panose="02020603050405020304" pitchFamily="18" charset="0"/>
                          </a:rPr>
                          <m:t>𝜃</m:t>
                        </m:r>
                      </m:e>
                    </m:d>
                  </m:oMath>
                </a14:m>
                <a:r>
                  <a:rPr lang="zh-CN" altLang="zh-CN" sz="1400" dirty="0">
                    <a:ea typeface="等线" panose="02010600030101010101" pitchFamily="2" charset="-122"/>
                    <a:cs typeface="Times New Roman" panose="02020603050405020304" pitchFamily="18" charset="0"/>
                  </a:rPr>
                  <a:t>可进一步简化为：</a:t>
                </a:r>
                <a:endParaRPr lang="zh-CN" altLang="en-US" sz="1400" dirty="0"/>
              </a:p>
            </p:txBody>
          </p:sp>
        </mc:Choice>
        <mc:Fallback xmlns="">
          <p:sp>
            <p:nvSpPr>
              <p:cNvPr id="10" name="矩形 9"/>
              <p:cNvSpPr>
                <a:spLocks noRot="1" noChangeAspect="1" noMove="1" noResize="1" noEditPoints="1" noAdjustHandles="1" noChangeArrowheads="1" noChangeShapeType="1" noTextEdit="1"/>
              </p:cNvSpPr>
              <p:nvPr/>
            </p:nvSpPr>
            <p:spPr>
              <a:xfrm>
                <a:off x="1438143" y="2283423"/>
                <a:ext cx="6624736" cy="525850"/>
              </a:xfrm>
              <a:prstGeom prst="rect">
                <a:avLst/>
              </a:prstGeom>
              <a:blipFill>
                <a:blip r:embed="rId6"/>
                <a:stretch>
                  <a:fillRect l="-276" t="-1163" b="-116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1043608" y="2725079"/>
                <a:ext cx="7113572" cy="58375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400" i="1">
                          <a:latin typeface="Cambria Math" panose="02040503050406030204" pitchFamily="18" charset="0"/>
                        </a:rPr>
                        <m:t>𝐺</m:t>
                      </m:r>
                      <m:d>
                        <m:dPr>
                          <m:ctrlPr>
                            <a:rPr lang="zh-CN" altLang="en-US" sz="1400" i="1">
                              <a:latin typeface="Cambria Math" panose="02040503050406030204" pitchFamily="18" charset="0"/>
                            </a:rPr>
                          </m:ctrlPr>
                        </m:dPr>
                        <m:e>
                          <m:r>
                            <a:rPr lang="zh-CN" altLang="en-US" sz="1400" i="1">
                              <a:latin typeface="Cambria Math" panose="02040503050406030204" pitchFamily="18" charset="0"/>
                            </a:rPr>
                            <m:t>𝜃</m:t>
                          </m:r>
                        </m:e>
                      </m:d>
                      <m:r>
                        <a:rPr lang="zh-CN" altLang="en-US" sz="1400" i="0">
                          <a:latin typeface="Cambria Math" panose="02040503050406030204" pitchFamily="18" charset="0"/>
                        </a:rPr>
                        <m:t>=</m:t>
                      </m:r>
                      <m:r>
                        <a:rPr lang="zh-CN" altLang="en-US" sz="1400" i="1">
                          <a:latin typeface="Cambria Math" panose="02040503050406030204" pitchFamily="18" charset="0"/>
                        </a:rPr>
                        <m:t>𝐼</m:t>
                      </m:r>
                      <m:r>
                        <a:rPr lang="zh-CN" altLang="en-US" sz="1400" i="0">
                          <a:latin typeface="Cambria Math" panose="02040503050406030204" pitchFamily="18" charset="0"/>
                        </a:rPr>
                        <m:t>+</m:t>
                      </m:r>
                      <m:d>
                        <m:dPr>
                          <m:ctrlPr>
                            <a:rPr lang="zh-CN" altLang="en-US" sz="1400" i="1">
                              <a:latin typeface="Cambria Math" panose="02040503050406030204" pitchFamily="18" charset="0"/>
                            </a:rPr>
                          </m:ctrlPr>
                        </m:dPr>
                        <m:e>
                          <m:f>
                            <m:fPr>
                              <m:ctrlPr>
                                <a:rPr lang="zh-CN" altLang="en-US" sz="1400" i="1">
                                  <a:latin typeface="Cambria Math" panose="02040503050406030204" pitchFamily="18" charset="0"/>
                                </a:rPr>
                              </m:ctrlPr>
                            </m:fPr>
                            <m:num>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𝜃</m:t>
                                  </m:r>
                                </m:e>
                                <m:sup>
                                  <m:r>
                                    <a:rPr lang="zh-CN" altLang="en-US" sz="1400" i="0">
                                      <a:latin typeface="Cambria Math" panose="02040503050406030204" pitchFamily="18" charset="0"/>
                                    </a:rPr>
                                    <m:t>2</m:t>
                                  </m:r>
                                </m:sup>
                              </m:sSup>
                            </m:num>
                            <m:den>
                              <m:r>
                                <a:rPr lang="zh-CN" altLang="en-US" sz="1400" i="0">
                                  <a:latin typeface="Cambria Math" panose="02040503050406030204" pitchFamily="18" charset="0"/>
                                </a:rPr>
                                <m:t>2!</m:t>
                              </m:r>
                            </m:den>
                          </m:f>
                          <m:r>
                            <a:rPr lang="zh-CN" altLang="en-US" sz="1400" i="0">
                              <a:latin typeface="Cambria Math" panose="02040503050406030204" pitchFamily="18" charset="0"/>
                            </a:rPr>
                            <m:t>−</m:t>
                          </m:r>
                          <m:f>
                            <m:fPr>
                              <m:ctrlPr>
                                <a:rPr lang="zh-CN" altLang="en-US" sz="1400" i="1">
                                  <a:latin typeface="Cambria Math" panose="02040503050406030204" pitchFamily="18" charset="0"/>
                                </a:rPr>
                              </m:ctrlPr>
                            </m:fPr>
                            <m:num>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𝜃</m:t>
                                  </m:r>
                                </m:e>
                                <m:sup>
                                  <m:r>
                                    <a:rPr lang="zh-CN" altLang="en-US" sz="1400" i="0">
                                      <a:latin typeface="Cambria Math" panose="02040503050406030204" pitchFamily="18" charset="0"/>
                                    </a:rPr>
                                    <m:t>4</m:t>
                                  </m:r>
                                </m:sup>
                              </m:sSup>
                            </m:num>
                            <m:den>
                              <m:r>
                                <a:rPr lang="zh-CN" altLang="en-US" sz="1400" i="0">
                                  <a:latin typeface="Cambria Math" panose="02040503050406030204" pitchFamily="18" charset="0"/>
                                </a:rPr>
                                <m:t>4!</m:t>
                              </m:r>
                            </m:den>
                          </m:f>
                          <m:r>
                            <a:rPr lang="zh-CN" altLang="en-US" sz="1400" i="0">
                              <a:latin typeface="Cambria Math" panose="02040503050406030204" pitchFamily="18" charset="0"/>
                            </a:rPr>
                            <m:t>+</m:t>
                          </m:r>
                          <m:f>
                            <m:fPr>
                              <m:ctrlPr>
                                <a:rPr lang="zh-CN" altLang="en-US" sz="1400" i="1">
                                  <a:latin typeface="Cambria Math" panose="02040503050406030204" pitchFamily="18" charset="0"/>
                                </a:rPr>
                              </m:ctrlPr>
                            </m:fPr>
                            <m:num>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𝜃</m:t>
                                  </m:r>
                                </m:e>
                                <m:sup>
                                  <m:r>
                                    <a:rPr lang="zh-CN" altLang="en-US" sz="1400" i="0">
                                      <a:latin typeface="Cambria Math" panose="02040503050406030204" pitchFamily="18" charset="0"/>
                                    </a:rPr>
                                    <m:t>6</m:t>
                                  </m:r>
                                </m:sup>
                              </m:sSup>
                            </m:num>
                            <m:den>
                              <m:r>
                                <a:rPr lang="zh-CN" altLang="en-US" sz="1400" i="0">
                                  <a:latin typeface="Cambria Math" panose="02040503050406030204" pitchFamily="18" charset="0"/>
                                </a:rPr>
                                <m:t>6!</m:t>
                              </m:r>
                            </m:den>
                          </m:f>
                          <m:r>
                            <a:rPr lang="zh-CN" altLang="en-US" sz="1400" i="0">
                              <a:latin typeface="Cambria Math" panose="02040503050406030204" pitchFamily="18" charset="0"/>
                            </a:rPr>
                            <m:t>−⋯</m:t>
                          </m:r>
                        </m:e>
                      </m:d>
                      <m:d>
                        <m:dPr>
                          <m:begChr m:val="["/>
                          <m:endChr m:val="]"/>
                          <m:ctrlPr>
                            <a:rPr lang="zh-CN" altLang="en-US" sz="1400" i="1">
                              <a:latin typeface="Cambria Math" panose="02040503050406030204" pitchFamily="18" charset="0"/>
                            </a:rPr>
                          </m:ctrlPr>
                        </m:dPr>
                        <m:e>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𝜔</m:t>
                              </m:r>
                            </m:e>
                          </m:acc>
                        </m:e>
                      </m:d>
                      <m:r>
                        <a:rPr lang="zh-CN" altLang="en-US" sz="1400" i="0">
                          <a:latin typeface="Cambria Math" panose="02040503050406030204" pitchFamily="18" charset="0"/>
                        </a:rPr>
                        <m:t>+</m:t>
                      </m:r>
                      <m:d>
                        <m:dPr>
                          <m:ctrlPr>
                            <a:rPr lang="zh-CN" altLang="en-US" sz="1400" i="1">
                              <a:latin typeface="Cambria Math" panose="02040503050406030204" pitchFamily="18" charset="0"/>
                            </a:rPr>
                          </m:ctrlPr>
                        </m:dPr>
                        <m:e>
                          <m:f>
                            <m:fPr>
                              <m:ctrlPr>
                                <a:rPr lang="zh-CN" altLang="en-US" sz="1400" i="1">
                                  <a:latin typeface="Cambria Math" panose="02040503050406030204" pitchFamily="18" charset="0"/>
                                </a:rPr>
                              </m:ctrlPr>
                            </m:fPr>
                            <m:num>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𝜃</m:t>
                                  </m:r>
                                </m:e>
                                <m:sup>
                                  <m:r>
                                    <a:rPr lang="zh-CN" altLang="en-US" sz="1400" i="0">
                                      <a:latin typeface="Cambria Math" panose="02040503050406030204" pitchFamily="18" charset="0"/>
                                    </a:rPr>
                                    <m:t>3</m:t>
                                  </m:r>
                                </m:sup>
                              </m:sSup>
                            </m:num>
                            <m:den>
                              <m:r>
                                <a:rPr lang="zh-CN" altLang="en-US" sz="1400" i="0">
                                  <a:latin typeface="Cambria Math" panose="02040503050406030204" pitchFamily="18" charset="0"/>
                                </a:rPr>
                                <m:t>3!</m:t>
                              </m:r>
                            </m:den>
                          </m:f>
                          <m:r>
                            <a:rPr lang="zh-CN" altLang="en-US" sz="1400" i="0">
                              <a:latin typeface="Cambria Math" panose="02040503050406030204" pitchFamily="18" charset="0"/>
                            </a:rPr>
                            <m:t>−</m:t>
                          </m:r>
                          <m:f>
                            <m:fPr>
                              <m:ctrlPr>
                                <a:rPr lang="zh-CN" altLang="en-US" sz="1400" i="1">
                                  <a:latin typeface="Cambria Math" panose="02040503050406030204" pitchFamily="18" charset="0"/>
                                </a:rPr>
                              </m:ctrlPr>
                            </m:fPr>
                            <m:num>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𝜃</m:t>
                                  </m:r>
                                </m:e>
                                <m:sup>
                                  <m:r>
                                    <a:rPr lang="zh-CN" altLang="en-US" sz="1400" i="0">
                                      <a:latin typeface="Cambria Math" panose="02040503050406030204" pitchFamily="18" charset="0"/>
                                    </a:rPr>
                                    <m:t>5</m:t>
                                  </m:r>
                                </m:sup>
                              </m:sSup>
                            </m:num>
                            <m:den>
                              <m:r>
                                <a:rPr lang="zh-CN" altLang="en-US" sz="1400" i="0">
                                  <a:latin typeface="Cambria Math" panose="02040503050406030204" pitchFamily="18" charset="0"/>
                                </a:rPr>
                                <m:t>5!</m:t>
                              </m:r>
                            </m:den>
                          </m:f>
                          <m:r>
                            <a:rPr lang="zh-CN" altLang="en-US" sz="1400" i="0">
                              <a:latin typeface="Cambria Math" panose="02040503050406030204" pitchFamily="18" charset="0"/>
                            </a:rPr>
                            <m:t>+</m:t>
                          </m:r>
                          <m:f>
                            <m:fPr>
                              <m:ctrlPr>
                                <a:rPr lang="zh-CN" altLang="en-US" sz="1400" i="1">
                                  <a:latin typeface="Cambria Math" panose="02040503050406030204" pitchFamily="18" charset="0"/>
                                </a:rPr>
                              </m:ctrlPr>
                            </m:fPr>
                            <m:num>
                              <m:sSup>
                                <m:sSupPr>
                                  <m:ctrlPr>
                                    <a:rPr lang="zh-CN" altLang="en-US" sz="1400" i="1">
                                      <a:latin typeface="Cambria Math" panose="02040503050406030204" pitchFamily="18" charset="0"/>
                                    </a:rPr>
                                  </m:ctrlPr>
                                </m:sSupPr>
                                <m:e>
                                  <m:r>
                                    <a:rPr lang="zh-CN" altLang="en-US" sz="1400" i="1">
                                      <a:latin typeface="Cambria Math" panose="02040503050406030204" pitchFamily="18" charset="0"/>
                                    </a:rPr>
                                    <m:t>𝜃</m:t>
                                  </m:r>
                                </m:e>
                                <m:sup>
                                  <m:r>
                                    <a:rPr lang="zh-CN" altLang="en-US" sz="1400" i="0">
                                      <a:latin typeface="Cambria Math" panose="02040503050406030204" pitchFamily="18" charset="0"/>
                                    </a:rPr>
                                    <m:t>7</m:t>
                                  </m:r>
                                </m:sup>
                              </m:sSup>
                            </m:num>
                            <m:den>
                              <m:r>
                                <a:rPr lang="zh-CN" altLang="en-US" sz="1400" i="0">
                                  <a:latin typeface="Cambria Math" panose="02040503050406030204" pitchFamily="18" charset="0"/>
                                </a:rPr>
                                <m:t>7!</m:t>
                              </m:r>
                            </m:den>
                          </m:f>
                          <m:r>
                            <a:rPr lang="zh-CN" altLang="en-US" sz="1400" i="0">
                              <a:latin typeface="Cambria Math" panose="02040503050406030204" pitchFamily="18" charset="0"/>
                            </a:rPr>
                            <m:t>−⋯</m:t>
                          </m:r>
                        </m:e>
                      </m:d>
                      <m:sSup>
                        <m:sSupPr>
                          <m:ctrlPr>
                            <a:rPr lang="zh-CN" altLang="en-US" sz="1400" i="1">
                              <a:latin typeface="Cambria Math" panose="02040503050406030204" pitchFamily="18" charset="0"/>
                            </a:rPr>
                          </m:ctrlPr>
                        </m:sSupPr>
                        <m:e>
                          <m:d>
                            <m:dPr>
                              <m:begChr m:val="["/>
                              <m:endChr m:val="]"/>
                              <m:ctrlPr>
                                <a:rPr lang="zh-CN" altLang="en-US" sz="1400" i="1">
                                  <a:latin typeface="Cambria Math" panose="02040503050406030204" pitchFamily="18" charset="0"/>
                                </a:rPr>
                              </m:ctrlPr>
                            </m:dPr>
                            <m:e>
                              <m:acc>
                                <m:accPr>
                                  <m:chr m:val="̂"/>
                                  <m:ctrlPr>
                                    <a:rPr lang="zh-CN" altLang="en-US" sz="1400" i="1">
                                      <a:latin typeface="Cambria Math" panose="02040503050406030204" pitchFamily="18" charset="0"/>
                                    </a:rPr>
                                  </m:ctrlPr>
                                </m:accPr>
                                <m:e>
                                  <m:r>
                                    <a:rPr lang="zh-CN" altLang="en-US" sz="1400" i="1">
                                      <a:latin typeface="Cambria Math" panose="02040503050406030204" pitchFamily="18" charset="0"/>
                                    </a:rPr>
                                    <m:t>𝜔</m:t>
                                  </m:r>
                                </m:e>
                              </m:acc>
                            </m:e>
                          </m:d>
                        </m:e>
                        <m:sup>
                          <m:r>
                            <a:rPr lang="zh-CN" altLang="en-US" sz="1400" i="0">
                              <a:latin typeface="Cambria Math" panose="02040503050406030204" pitchFamily="18" charset="0"/>
                            </a:rPr>
                            <m:t>2</m:t>
                          </m:r>
                        </m:sup>
                      </m:sSup>
                    </m:oMath>
                  </m:oMathPara>
                </a14:m>
                <a:endParaRPr lang="zh-CN" altLang="en-US" sz="1400" dirty="0"/>
              </a:p>
            </p:txBody>
          </p:sp>
        </mc:Choice>
        <mc:Fallback xmlns="">
          <p:sp>
            <p:nvSpPr>
              <p:cNvPr id="14" name="矩形 13"/>
              <p:cNvSpPr>
                <a:spLocks noRot="1" noChangeAspect="1" noMove="1" noResize="1" noEditPoints="1" noAdjustHandles="1" noChangeArrowheads="1" noChangeShapeType="1" noTextEdit="1"/>
              </p:cNvSpPr>
              <p:nvPr/>
            </p:nvSpPr>
            <p:spPr>
              <a:xfrm>
                <a:off x="1043608" y="2725079"/>
                <a:ext cx="7113572" cy="58375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2411760" y="3250929"/>
                <a:ext cx="3331233" cy="307777"/>
              </a:xfrm>
              <a:prstGeom prst="rect">
                <a:avLst/>
              </a:prstGeom>
            </p:spPr>
            <p:txBody>
              <a:bodyPr wrap="none">
                <a:spAutoFit/>
              </a:bodyPr>
              <a:lstStyle/>
              <a:p>
                <a14:m>
                  <m:oMath xmlns:m="http://schemas.openxmlformats.org/officeDocument/2006/math">
                    <m:r>
                      <a:rPr lang="en-US" altLang="zh-CN" sz="1400" i="1">
                        <a:latin typeface="Cambria Math" panose="02040503050406030204" pitchFamily="18" charset="0"/>
                        <a:ea typeface="等线" panose="02010600030101010101" pitchFamily="2" charset="-122"/>
                        <a:cs typeface="Times New Roman" panose="02020603050405020304" pitchFamily="18" charset="0"/>
                      </a:rPr>
                      <m:t>=</m:t>
                    </m:r>
                    <m:r>
                      <a:rPr lang="en-US" altLang="zh-CN" sz="1400" i="1">
                        <a:latin typeface="Cambria Math" panose="02040503050406030204" pitchFamily="18" charset="0"/>
                        <a:ea typeface="等线" panose="02010600030101010101" pitchFamily="2" charset="-122"/>
                        <a:cs typeface="Times New Roman" panose="02020603050405020304" pitchFamily="18" charset="0"/>
                      </a:rPr>
                      <m:t>𝐼</m:t>
                    </m:r>
                    <m:r>
                      <a:rPr lang="en-US" altLang="zh-CN" sz="1400" i="1">
                        <a:latin typeface="Cambria Math" panose="02040503050406030204" pitchFamily="18" charset="0"/>
                        <a:ea typeface="等线" panose="02010600030101010101" pitchFamily="2" charset="-122"/>
                        <a:cs typeface="Times New Roman" panose="02020603050405020304" pitchFamily="18" charset="0"/>
                      </a:rPr>
                      <m:t>𝜃</m:t>
                    </m:r>
                    <m:r>
                      <a:rPr lang="en-US" altLang="zh-CN" sz="1400" i="1">
                        <a:latin typeface="Cambria Math" panose="02040503050406030204" pitchFamily="18" charset="0"/>
                        <a:ea typeface="等线" panose="02010600030101010101" pitchFamily="2" charset="-122"/>
                        <a:cs typeface="Times New Roman" panose="02020603050405020304" pitchFamily="18" charset="0"/>
                      </a:rPr>
                      <m:t>+(1−</m:t>
                    </m:r>
                    <m:func>
                      <m:funcPr>
                        <m:ctrlPr>
                          <a:rPr lang="zh-CN" altLang="zh-CN" sz="1400" i="1">
                            <a:effectLst/>
                            <a:latin typeface="Cambria Math" panose="02040503050406030204" pitchFamily="18" charset="0"/>
                            <a:ea typeface="Cambria Math" panose="02040503050406030204" pitchFamily="18" charset="0"/>
                          </a:rPr>
                        </m:ctrlPr>
                      </m:funcPr>
                      <m:fName>
                        <m:r>
                          <m:rPr>
                            <m:sty m:val="p"/>
                          </m:rPr>
                          <a:rPr lang="en-US" altLang="zh-CN" sz="1400">
                            <a:latin typeface="Cambria Math" panose="02040503050406030204" pitchFamily="18" charset="0"/>
                            <a:ea typeface="等线" panose="02010600030101010101" pitchFamily="2" charset="-122"/>
                            <a:cs typeface="Times New Roman" panose="02020603050405020304" pitchFamily="18" charset="0"/>
                          </a:rPr>
                          <m:t>cos</m:t>
                        </m:r>
                      </m:fName>
                      <m:e>
                        <m:r>
                          <a:rPr lang="en-US" altLang="zh-CN" sz="1400" i="1">
                            <a:latin typeface="Cambria Math" panose="02040503050406030204" pitchFamily="18" charset="0"/>
                            <a:ea typeface="等线" panose="02010600030101010101" pitchFamily="2" charset="-122"/>
                            <a:cs typeface="Times New Roman" panose="02020603050405020304" pitchFamily="18" charset="0"/>
                          </a:rPr>
                          <m:t>𝜃</m:t>
                        </m:r>
                        <m:r>
                          <a:rPr lang="en-US" altLang="zh-CN" sz="1400" i="1">
                            <a:latin typeface="Cambria Math" panose="02040503050406030204" pitchFamily="18" charset="0"/>
                            <a:ea typeface="等线" panose="02010600030101010101" pitchFamily="2" charset="-122"/>
                            <a:cs typeface="Times New Roman" panose="02020603050405020304" pitchFamily="18" charset="0"/>
                          </a:rPr>
                          <m:t>)[</m:t>
                        </m:r>
                        <m:acc>
                          <m:accPr>
                            <m:chr m:val="̂"/>
                            <m:ctrlPr>
                              <a:rPr lang="zh-CN" altLang="zh-CN" sz="1400" i="1">
                                <a:effectLst/>
                                <a:latin typeface="Cambria Math" panose="02040503050406030204" pitchFamily="18" charset="0"/>
                                <a:ea typeface="Cambria Math" panose="02040503050406030204" pitchFamily="18" charset="0"/>
                              </a:rPr>
                            </m:ctrlPr>
                          </m:accPr>
                          <m:e>
                            <m:r>
                              <a:rPr lang="en-US" altLang="zh-CN" sz="1400" i="1">
                                <a:latin typeface="Cambria Math" panose="02040503050406030204" pitchFamily="18" charset="0"/>
                                <a:ea typeface="等线" panose="02010600030101010101" pitchFamily="2" charset="-122"/>
                                <a:cs typeface="Times New Roman" panose="02020603050405020304" pitchFamily="18" charset="0"/>
                              </a:rPr>
                              <m:t>𝜔</m:t>
                            </m:r>
                          </m:e>
                        </m:acc>
                        <m:r>
                          <a:rPr lang="en-US" altLang="zh-CN" sz="1400" i="1">
                            <a:latin typeface="Cambria Math" panose="02040503050406030204" pitchFamily="18" charset="0"/>
                            <a:ea typeface="等线" panose="02010600030101010101" pitchFamily="2" charset="-122"/>
                            <a:cs typeface="Times New Roman" panose="02020603050405020304" pitchFamily="18" charset="0"/>
                          </a:rPr>
                          <m:t>]</m:t>
                        </m:r>
                      </m:e>
                    </m:func>
                    <m:r>
                      <a:rPr lang="en-US" altLang="zh-CN" sz="1400" i="1">
                        <a:latin typeface="Cambria Math" panose="02040503050406030204" pitchFamily="18" charset="0"/>
                        <a:ea typeface="等线" panose="02010600030101010101" pitchFamily="2" charset="-122"/>
                        <a:cs typeface="Times New Roman" panose="02020603050405020304" pitchFamily="18" charset="0"/>
                      </a:rPr>
                      <m:t>+(</m:t>
                    </m:r>
                    <m:r>
                      <a:rPr lang="en-US" altLang="zh-CN" sz="1400" i="1">
                        <a:latin typeface="Cambria Math" panose="02040503050406030204" pitchFamily="18" charset="0"/>
                        <a:ea typeface="等线" panose="02010600030101010101" pitchFamily="2" charset="-122"/>
                        <a:cs typeface="Times New Roman" panose="02020603050405020304" pitchFamily="18" charset="0"/>
                      </a:rPr>
                      <m:t>𝜃</m:t>
                    </m:r>
                    <m:r>
                      <a:rPr lang="en-US" altLang="zh-CN" sz="1400" i="1">
                        <a:latin typeface="Cambria Math" panose="02040503050406030204" pitchFamily="18" charset="0"/>
                        <a:ea typeface="等线" panose="02010600030101010101" pitchFamily="2" charset="-122"/>
                        <a:cs typeface="Times New Roman" panose="02020603050405020304" pitchFamily="18" charset="0"/>
                      </a:rPr>
                      <m:t>−</m:t>
                    </m:r>
                    <m:func>
                      <m:funcPr>
                        <m:ctrlPr>
                          <a:rPr lang="zh-CN" altLang="zh-CN" sz="1400" i="1">
                            <a:effectLst/>
                            <a:latin typeface="Cambria Math" panose="02040503050406030204" pitchFamily="18" charset="0"/>
                            <a:ea typeface="Cambria Math" panose="02040503050406030204" pitchFamily="18" charset="0"/>
                          </a:rPr>
                        </m:ctrlPr>
                      </m:funcPr>
                      <m:fName>
                        <m:r>
                          <m:rPr>
                            <m:sty m:val="p"/>
                          </m:rPr>
                          <a:rPr lang="en-US" altLang="zh-CN" sz="1400">
                            <a:latin typeface="Cambria Math" panose="02040503050406030204" pitchFamily="18" charset="0"/>
                            <a:ea typeface="等线" panose="02010600030101010101" pitchFamily="2" charset="-122"/>
                            <a:cs typeface="Times New Roman" panose="02020603050405020304" pitchFamily="18" charset="0"/>
                          </a:rPr>
                          <m:t>sin</m:t>
                        </m:r>
                      </m:fName>
                      <m:e>
                        <m:r>
                          <a:rPr lang="en-US" altLang="zh-CN" sz="1400" i="1">
                            <a:latin typeface="Cambria Math" panose="02040503050406030204" pitchFamily="18" charset="0"/>
                            <a:ea typeface="等线" panose="02010600030101010101" pitchFamily="2" charset="-122"/>
                            <a:cs typeface="Times New Roman" panose="02020603050405020304" pitchFamily="18" charset="0"/>
                          </a:rPr>
                          <m:t>𝜃</m:t>
                        </m:r>
                        <m:r>
                          <a:rPr lang="en-US" altLang="zh-CN" sz="1400" i="1">
                            <a:latin typeface="Cambria Math" panose="02040503050406030204" pitchFamily="18" charset="0"/>
                            <a:ea typeface="等线" panose="02010600030101010101" pitchFamily="2" charset="-122"/>
                            <a:cs typeface="Times New Roman" panose="02020603050405020304" pitchFamily="18" charset="0"/>
                          </a:rPr>
                          <m:t>)</m:t>
                        </m:r>
                      </m:e>
                    </m:func>
                    <m:sSup>
                      <m:sSupPr>
                        <m:ctrlPr>
                          <a:rPr lang="zh-CN" altLang="zh-CN" sz="1400" i="1">
                            <a:effectLst/>
                            <a:latin typeface="Cambria Math" panose="02040503050406030204" pitchFamily="18" charset="0"/>
                            <a:ea typeface="Cambria Math" panose="02040503050406030204" pitchFamily="18" charset="0"/>
                          </a:rPr>
                        </m:ctrlPr>
                      </m:sSupPr>
                      <m:e>
                        <m:r>
                          <a:rPr lang="en-US" altLang="zh-CN" sz="1400" i="1">
                            <a:latin typeface="Cambria Math" panose="02040503050406030204" pitchFamily="18" charset="0"/>
                            <a:ea typeface="等线" panose="02010600030101010101" pitchFamily="2" charset="-122"/>
                            <a:cs typeface="Times New Roman" panose="02020603050405020304" pitchFamily="18" charset="0"/>
                          </a:rPr>
                          <m:t>[</m:t>
                        </m:r>
                        <m:acc>
                          <m:accPr>
                            <m:chr m:val="̂"/>
                            <m:ctrlPr>
                              <a:rPr lang="zh-CN" altLang="zh-CN" sz="1400" i="1">
                                <a:effectLst/>
                                <a:latin typeface="Cambria Math" panose="02040503050406030204" pitchFamily="18" charset="0"/>
                                <a:ea typeface="Cambria Math" panose="02040503050406030204" pitchFamily="18" charset="0"/>
                              </a:rPr>
                            </m:ctrlPr>
                          </m:accPr>
                          <m:e>
                            <m:r>
                              <a:rPr lang="en-US" altLang="zh-CN" sz="1400" i="1">
                                <a:latin typeface="Cambria Math" panose="02040503050406030204" pitchFamily="18" charset="0"/>
                                <a:ea typeface="等线" panose="02010600030101010101" pitchFamily="2" charset="-122"/>
                                <a:cs typeface="Times New Roman" panose="02020603050405020304" pitchFamily="18" charset="0"/>
                              </a:rPr>
                              <m:t>𝜔</m:t>
                            </m:r>
                          </m:e>
                        </m:acc>
                        <m:r>
                          <a:rPr lang="en-US" altLang="zh-CN" sz="1400" i="1">
                            <a:latin typeface="Cambria Math" panose="02040503050406030204" pitchFamily="18" charset="0"/>
                            <a:ea typeface="等线" panose="02010600030101010101" pitchFamily="2" charset="-122"/>
                            <a:cs typeface="Times New Roman" panose="02020603050405020304" pitchFamily="18" charset="0"/>
                          </a:rPr>
                          <m:t>]</m:t>
                        </m:r>
                      </m:e>
                      <m:sup>
                        <m:r>
                          <a:rPr lang="en-US" altLang="zh-CN" sz="1400" i="1">
                            <a:latin typeface="Cambria Math" panose="02040503050406030204" pitchFamily="18" charset="0"/>
                            <a:ea typeface="等线" panose="02010600030101010101" pitchFamily="2" charset="-122"/>
                            <a:cs typeface="Times New Roman" panose="02020603050405020304" pitchFamily="18" charset="0"/>
                          </a:rPr>
                          <m:t>2</m:t>
                        </m:r>
                      </m:sup>
                    </m:sSup>
                  </m:oMath>
                </a14:m>
                <a:r>
                  <a:rPr lang="en-US" altLang="zh-CN" sz="1400" dirty="0">
                    <a:latin typeface="等线" panose="02010600030101010101" pitchFamily="2" charset="-122"/>
                    <a:cs typeface="Times New Roman" panose="02020603050405020304" pitchFamily="18" charset="0"/>
                  </a:rPr>
                  <a:t> </a:t>
                </a:r>
                <a:endParaRPr lang="zh-CN" altLang="en-US" sz="1400" dirty="0"/>
              </a:p>
            </p:txBody>
          </p:sp>
        </mc:Choice>
        <mc:Fallback xmlns="">
          <p:sp>
            <p:nvSpPr>
              <p:cNvPr id="17" name="矩形 16"/>
              <p:cNvSpPr>
                <a:spLocks noRot="1" noChangeAspect="1" noMove="1" noResize="1" noEditPoints="1" noAdjustHandles="1" noChangeArrowheads="1" noChangeShapeType="1" noTextEdit="1"/>
              </p:cNvSpPr>
              <p:nvPr/>
            </p:nvSpPr>
            <p:spPr>
              <a:xfrm>
                <a:off x="2411760" y="3250929"/>
                <a:ext cx="3331233" cy="307777"/>
              </a:xfrm>
              <a:prstGeom prst="rect">
                <a:avLst/>
              </a:prstGeom>
              <a:blipFill>
                <a:blip r:embed="rId8"/>
                <a:stretch>
                  <a:fillRect t="-3922" r="-2015" b="-78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9105607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圆角矩形 17"/>
          <p:cNvSpPr/>
          <p:nvPr/>
        </p:nvSpPr>
        <p:spPr>
          <a:xfrm>
            <a:off x="2123728" y="1516755"/>
            <a:ext cx="5400600" cy="72400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Twist Method</a:t>
              </a:r>
              <a:endParaRPr lang="zh-CN" altLang="en-US" sz="1000" dirty="0">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旋量法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2" name="矩形 1"/>
              <p:cNvSpPr/>
              <p:nvPr/>
            </p:nvSpPr>
            <p:spPr>
              <a:xfrm>
                <a:off x="1403648" y="931980"/>
                <a:ext cx="6192688" cy="584775"/>
              </a:xfrm>
              <a:prstGeom prst="rect">
                <a:avLst/>
              </a:prstGeom>
            </p:spPr>
            <p:txBody>
              <a:bodyPr wrap="square">
                <a:spAutoFit/>
              </a:bodyPr>
              <a:lstStyle/>
              <a:p>
                <a:r>
                  <a:rPr lang="zh-CN" altLang="zh-CN" sz="1600" dirty="0">
                    <a:ea typeface="等线" panose="02010600030101010101" pitchFamily="2" charset="-122"/>
                    <a:cs typeface="Times New Roman" panose="02020603050405020304" pitchFamily="18" charset="0"/>
                  </a:rPr>
                  <a:t>（</a:t>
                </a:r>
                <a:r>
                  <a:rPr lang="en-US" altLang="zh-CN" sz="1600" dirty="0">
                    <a:ea typeface="等线" panose="02010600030101010101" pitchFamily="2" charset="-122"/>
                    <a:cs typeface="Times New Roman" panose="02020603050405020304" pitchFamily="18" charset="0"/>
                  </a:rPr>
                  <a:t>1</a:t>
                </a:r>
                <a:r>
                  <a:rPr lang="zh-CN" altLang="zh-CN" sz="1600" dirty="0">
                    <a:ea typeface="等线" panose="02010600030101010101" pitchFamily="2" charset="-122"/>
                    <a:cs typeface="Times New Roman" panose="02020603050405020304" pitchFamily="18" charset="0"/>
                  </a:rPr>
                  <a:t>）如果</a:t>
                </a:r>
                <a14:m>
                  <m:oMath xmlns:m="http://schemas.openxmlformats.org/officeDocument/2006/math">
                    <m:d>
                      <m:dPr>
                        <m:begChr m:val="‖"/>
                        <m:endChr m:val="‖"/>
                        <m:ctrlPr>
                          <a:rPr lang="zh-CN" altLang="zh-CN" sz="1600" i="1">
                            <a:effectLst/>
                            <a:latin typeface="Cambria Math" panose="02040503050406030204" pitchFamily="18" charset="0"/>
                            <a:ea typeface="Cambria Math" panose="02040503050406030204" pitchFamily="18" charset="0"/>
                          </a:rPr>
                        </m:ctrlPr>
                      </m:d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𝜔</m:t>
                        </m:r>
                      </m:e>
                    </m:d>
                    <m:r>
                      <a:rPr lang="en-US" altLang="zh-CN" sz="1600" i="1">
                        <a:latin typeface="Cambria Math" panose="02040503050406030204" pitchFamily="18" charset="0"/>
                        <a:ea typeface="等线" panose="02010600030101010101" pitchFamily="2" charset="-122"/>
                        <a:cs typeface="Times New Roman" panose="02020603050405020304" pitchFamily="18" charset="0"/>
                      </a:rPr>
                      <m:t>=1</m:t>
                    </m:r>
                  </m:oMath>
                </a14:m>
                <a:r>
                  <a:rPr lang="zh-CN" altLang="zh-CN" sz="1600" dirty="0">
                    <a:ea typeface="等线" panose="02010600030101010101" pitchFamily="2" charset="-122"/>
                    <a:cs typeface="Times New Roman" panose="02020603050405020304" pitchFamily="18" charset="0"/>
                  </a:rPr>
                  <a:t>，该螺旋轴为旋转关节，则对于任意沿螺旋轴的旋转角度</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𝑅</m:t>
                    </m:r>
                  </m:oMath>
                </a14:m>
                <a:r>
                  <a:rPr lang="zh-CN" altLang="zh-CN" sz="1600" dirty="0">
                    <a:ea typeface="等线" panose="02010600030101010101" pitchFamily="2" charset="-122"/>
                    <a:cs typeface="Times New Roman" panose="02020603050405020304" pitchFamily="18" charset="0"/>
                  </a:rPr>
                  <a:t>，都有：</a:t>
                </a:r>
                <a:endParaRPr lang="zh-CN" altLang="en-US" sz="1600" dirty="0"/>
              </a:p>
            </p:txBody>
          </p:sp>
        </mc:Choice>
        <mc:Fallback xmlns="">
          <p:sp>
            <p:nvSpPr>
              <p:cNvPr id="2" name="矩形 1"/>
              <p:cNvSpPr>
                <a:spLocks noRot="1" noChangeAspect="1" noMove="1" noResize="1" noEditPoints="1" noAdjustHandles="1" noChangeArrowheads="1" noChangeShapeType="1" noTextEdit="1"/>
              </p:cNvSpPr>
              <p:nvPr/>
            </p:nvSpPr>
            <p:spPr>
              <a:xfrm>
                <a:off x="1403648" y="931980"/>
                <a:ext cx="6192688" cy="584775"/>
              </a:xfrm>
              <a:prstGeom prst="rect">
                <a:avLst/>
              </a:prstGeom>
              <a:blipFill>
                <a:blip r:embed="rId3"/>
                <a:stretch>
                  <a:fillRect l="-492"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1907704" y="1629241"/>
                <a:ext cx="5832648" cy="56130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𝑒</m:t>
                          </m:r>
                        </m:e>
                        <m:sup>
                          <m:d>
                            <m:dPr>
                              <m:begChr m:val="["/>
                              <m:endChr m:val=""/>
                              <m:ctrlPr>
                                <a:rPr lang="zh-CN" altLang="en-US" sz="1600" i="1">
                                  <a:latin typeface="Cambria Math" panose="02040503050406030204" pitchFamily="18" charset="0"/>
                                </a:rPr>
                              </m:ctrlPr>
                            </m:dPr>
                            <m:e>
                              <m:r>
                                <a:rPr lang="zh-CN" altLang="en-US" sz="1600" i="1">
                                  <a:latin typeface="Cambria Math" panose="02040503050406030204" pitchFamily="18" charset="0"/>
                                </a:rPr>
                                <m:t>𝑠</m:t>
                              </m:r>
                              <m:r>
                                <a:rPr lang="zh-CN" altLang="en-US" sz="1600" i="0">
                                  <a:latin typeface="Cambria Math" panose="02040503050406030204" pitchFamily="18" charset="0"/>
                                </a:rPr>
                                <m:t>]</m:t>
                              </m:r>
                              <m:r>
                                <a:rPr lang="zh-CN" altLang="en-US" sz="1600" i="1">
                                  <a:latin typeface="Cambria Math" panose="02040503050406030204" pitchFamily="18" charset="0"/>
                                </a:rPr>
                                <m:t>𝜃</m:t>
                              </m:r>
                            </m:e>
                          </m:d>
                        </m:sup>
                      </m:sSup>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m>
                            <m:mPr>
                              <m:mcs>
                                <m:mc>
                                  <m:mcPr>
                                    <m:count m:val="2"/>
                                    <m:mcJc m:val="center"/>
                                  </m:mcPr>
                                </m:mc>
                              </m:mcs>
                              <m:ctrlPr>
                                <a:rPr lang="zh-CN" altLang="en-US" sz="1600" i="1">
                                  <a:latin typeface="Cambria Math" panose="02040503050406030204" pitchFamily="18" charset="0"/>
                                </a:rPr>
                              </m:ctrlPr>
                            </m:mPr>
                            <m:mr>
                              <m:e>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𝑒</m:t>
                                    </m:r>
                                  </m:e>
                                  <m:sup>
                                    <m:d>
                                      <m:dPr>
                                        <m:begChr m:val="["/>
                                        <m:endChr m:val=""/>
                                        <m:ctrlPr>
                                          <a:rPr lang="zh-CN" altLang="en-US" sz="1600" i="1">
                                            <a:latin typeface="Cambria Math" panose="02040503050406030204" pitchFamily="18" charset="0"/>
                                          </a:rPr>
                                        </m:ctrlPr>
                                      </m:d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𝜔</m:t>
                                            </m:r>
                                          </m:e>
                                        </m:acc>
                                        <m:r>
                                          <a:rPr lang="zh-CN" altLang="en-US" sz="1600" i="0">
                                            <a:latin typeface="Cambria Math" panose="02040503050406030204" pitchFamily="18" charset="0"/>
                                          </a:rPr>
                                          <m:t>]</m:t>
                                        </m:r>
                                        <m:r>
                                          <a:rPr lang="zh-CN" altLang="en-US" sz="1600" i="1">
                                            <a:latin typeface="Cambria Math" panose="02040503050406030204" pitchFamily="18" charset="0"/>
                                          </a:rPr>
                                          <m:t>𝜃</m:t>
                                        </m:r>
                                      </m:e>
                                    </m:d>
                                  </m:sup>
                                </m:sSup>
                              </m:e>
                              <m:e>
                                <m:d>
                                  <m:dPr>
                                    <m:endChr m:val=""/>
                                    <m:ctrlPr>
                                      <a:rPr lang="zh-CN" altLang="en-US" sz="1600" i="1">
                                        <a:latin typeface="Cambria Math" panose="02040503050406030204" pitchFamily="18" charset="0"/>
                                      </a:rPr>
                                    </m:ctrlPr>
                                  </m:dPr>
                                  <m:e>
                                    <m:r>
                                      <a:rPr lang="zh-CN" altLang="en-US" sz="1600" i="1">
                                        <a:latin typeface="Cambria Math" panose="02040503050406030204" pitchFamily="18" charset="0"/>
                                      </a:rPr>
                                      <m:t>𝐼</m:t>
                                    </m:r>
                                    <m:r>
                                      <a:rPr lang="zh-CN" altLang="en-US" sz="1600" i="1">
                                        <a:latin typeface="Cambria Math" panose="02040503050406030204" pitchFamily="18" charset="0"/>
                                      </a:rPr>
                                      <m:t>𝜃</m:t>
                                    </m:r>
                                    <m:r>
                                      <a:rPr lang="zh-CN" altLang="en-US" sz="1600" i="0">
                                        <a:latin typeface="Cambria Math" panose="02040503050406030204" pitchFamily="18" charset="0"/>
                                      </a:rPr>
                                      <m:t>+(1−</m:t>
                                    </m:r>
                                    <m:func>
                                      <m:funcPr>
                                        <m:ctrlPr>
                                          <a:rPr lang="zh-CN" altLang="en-US" sz="1600" i="1">
                                            <a:latin typeface="Cambria Math" panose="02040503050406030204" pitchFamily="18" charset="0"/>
                                          </a:rPr>
                                        </m:ctrlPr>
                                      </m:funcPr>
                                      <m:fName>
                                        <m:r>
                                          <m:rPr>
                                            <m:sty m:val="p"/>
                                          </m:rPr>
                                          <a:rPr lang="zh-CN" altLang="en-US" sz="1600" i="0">
                                            <a:latin typeface="Cambria Math" panose="02040503050406030204" pitchFamily="18" charset="0"/>
                                          </a:rPr>
                                          <m:t>cos</m:t>
                                        </m:r>
                                      </m:fName>
                                      <m:e>
                                        <m:d>
                                          <m:dPr>
                                            <m:begChr m:val=""/>
                                            <m:endChr m:val="]"/>
                                            <m:ctrlPr>
                                              <a:rPr lang="zh-CN" altLang="en-US" sz="1600" i="1">
                                                <a:latin typeface="Cambria Math" panose="02040503050406030204" pitchFamily="18" charset="0"/>
                                              </a:rPr>
                                            </m:ctrlPr>
                                          </m:dPr>
                                          <m:e>
                                            <m:r>
                                              <a:rPr lang="zh-CN" altLang="en-US" sz="1600" i="1">
                                                <a:latin typeface="Cambria Math" panose="02040503050406030204" pitchFamily="18" charset="0"/>
                                              </a:rPr>
                                              <m:t>𝜃</m:t>
                                            </m:r>
                                            <m:r>
                                              <a:rPr lang="zh-CN" altLang="en-US" sz="1600" i="0">
                                                <a:latin typeface="Cambria Math" panose="02040503050406030204" pitchFamily="18" charset="0"/>
                                              </a:rPr>
                                              <m:t>)[</m:t>
                                            </m:r>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𝜔</m:t>
                                                </m:r>
                                              </m:e>
                                            </m:acc>
                                          </m:e>
                                        </m:d>
                                      </m:e>
                                    </m:func>
                                    <m:r>
                                      <a:rPr lang="zh-CN" altLang="en-US" sz="1600" i="0">
                                        <a:latin typeface="Cambria Math" panose="02040503050406030204" pitchFamily="18" charset="0"/>
                                      </a:rPr>
                                      <m:t>+(</m:t>
                                    </m:r>
                                    <m:r>
                                      <a:rPr lang="zh-CN" altLang="en-US" sz="1600" i="1">
                                        <a:latin typeface="Cambria Math" panose="02040503050406030204" pitchFamily="18" charset="0"/>
                                      </a:rPr>
                                      <m:t>𝜃</m:t>
                                    </m:r>
                                    <m:r>
                                      <a:rPr lang="zh-CN" altLang="en-US" sz="1600" i="0">
                                        <a:latin typeface="Cambria Math" panose="02040503050406030204" pitchFamily="18" charset="0"/>
                                      </a:rPr>
                                      <m:t>−</m:t>
                                    </m:r>
                                    <m:func>
                                      <m:funcPr>
                                        <m:ctrlPr>
                                          <a:rPr lang="zh-CN" altLang="en-US" sz="1600" i="1">
                                            <a:latin typeface="Cambria Math" panose="02040503050406030204" pitchFamily="18" charset="0"/>
                                          </a:rPr>
                                        </m:ctrlPr>
                                      </m:funcPr>
                                      <m:fName>
                                        <m:r>
                                          <m:rPr>
                                            <m:sty m:val="p"/>
                                          </m:rPr>
                                          <a:rPr lang="zh-CN" altLang="en-US" sz="1600" i="0">
                                            <a:latin typeface="Cambria Math" panose="02040503050406030204" pitchFamily="18" charset="0"/>
                                          </a:rPr>
                                          <m:t>sin</m:t>
                                        </m:r>
                                      </m:fName>
                                      <m:e>
                                        <m:d>
                                          <m:dPr>
                                            <m:begChr m:val=""/>
                                            <m:ctrlPr>
                                              <a:rPr lang="zh-CN" altLang="en-US" sz="1600" i="1">
                                                <a:latin typeface="Cambria Math" panose="02040503050406030204" pitchFamily="18" charset="0"/>
                                              </a:rPr>
                                            </m:ctrlPr>
                                          </m:dPr>
                                          <m:e>
                                            <m:r>
                                              <a:rPr lang="zh-CN" altLang="en-US" sz="1600" i="1">
                                                <a:latin typeface="Cambria Math" panose="02040503050406030204" pitchFamily="18" charset="0"/>
                                              </a:rPr>
                                              <m:t>𝜃</m:t>
                                            </m:r>
                                          </m:e>
                                        </m:d>
                                      </m:e>
                                    </m:func>
                                    <m:sSup>
                                      <m:sSupPr>
                                        <m:ctrlPr>
                                          <a:rPr lang="zh-CN" altLang="en-US" sz="1600" i="1">
                                            <a:latin typeface="Cambria Math" panose="02040503050406030204" pitchFamily="18" charset="0"/>
                                          </a:rPr>
                                        </m:ctrlPr>
                                      </m:sSupPr>
                                      <m:e>
                                        <m:d>
                                          <m:dPr>
                                            <m:begChr m:val="["/>
                                            <m:endChr m:val="]"/>
                                            <m:ctrlPr>
                                              <a:rPr lang="zh-CN" altLang="en-US" sz="1600" i="1">
                                                <a:latin typeface="Cambria Math" panose="02040503050406030204" pitchFamily="18" charset="0"/>
                                              </a:rPr>
                                            </m:ctrlPr>
                                          </m:d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𝜔</m:t>
                                                </m:r>
                                              </m:e>
                                            </m:acc>
                                          </m:e>
                                        </m:d>
                                      </m:e>
                                      <m:sup>
                                        <m:r>
                                          <a:rPr lang="zh-CN" altLang="en-US" sz="1600" i="0">
                                            <a:latin typeface="Cambria Math" panose="02040503050406030204" pitchFamily="18" charset="0"/>
                                          </a:rPr>
                                          <m:t>2</m:t>
                                        </m:r>
                                      </m:sup>
                                    </m:sSup>
                                    <m:r>
                                      <a:rPr lang="zh-CN" altLang="en-US" sz="1600" i="0">
                                        <a:latin typeface="Cambria Math" panose="02040503050406030204" pitchFamily="18" charset="0"/>
                                      </a:rPr>
                                      <m:t>)</m:t>
                                    </m:r>
                                    <m:r>
                                      <a:rPr lang="zh-CN" altLang="en-US" sz="1600" i="1">
                                        <a:latin typeface="Cambria Math" panose="02040503050406030204" pitchFamily="18" charset="0"/>
                                      </a:rPr>
                                      <m:t>𝑣</m:t>
                                    </m:r>
                                  </m:e>
                                </m:d>
                              </m:e>
                            </m:mr>
                            <m:mr>
                              <m:e>
                                <m:r>
                                  <a:rPr lang="zh-CN" altLang="en-US" sz="1600" i="0">
                                    <a:latin typeface="Cambria Math" panose="02040503050406030204" pitchFamily="18" charset="0"/>
                                  </a:rPr>
                                  <m:t>0</m:t>
                                </m:r>
                              </m:e>
                              <m:e>
                                <m:r>
                                  <a:rPr lang="zh-CN" altLang="en-US" sz="1600" i="0">
                                    <a:latin typeface="Cambria Math" panose="02040503050406030204" pitchFamily="18" charset="0"/>
                                  </a:rPr>
                                  <m:t>1</m:t>
                                </m:r>
                              </m:e>
                            </m:mr>
                          </m:m>
                        </m:e>
                      </m:d>
                    </m:oMath>
                  </m:oMathPara>
                </a14:m>
                <a:endParaRPr lang="zh-CN" altLang="en-US" sz="1600" dirty="0"/>
              </a:p>
            </p:txBody>
          </p:sp>
        </mc:Choice>
        <mc:Fallback xmlns="">
          <p:sp>
            <p:nvSpPr>
              <p:cNvPr id="11" name="矩形 10"/>
              <p:cNvSpPr>
                <a:spLocks noRot="1" noChangeAspect="1" noMove="1" noResize="1" noEditPoints="1" noAdjustHandles="1" noChangeArrowheads="1" noChangeShapeType="1" noTextEdit="1"/>
              </p:cNvSpPr>
              <p:nvPr/>
            </p:nvSpPr>
            <p:spPr>
              <a:xfrm>
                <a:off x="1907704" y="1629241"/>
                <a:ext cx="5832648" cy="56130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1547664" y="2240762"/>
                <a:ext cx="6408712" cy="598818"/>
              </a:xfrm>
              <a:prstGeom prst="rect">
                <a:avLst/>
              </a:prstGeom>
            </p:spPr>
            <p:txBody>
              <a:bodyPr wrap="square">
                <a:spAutoFit/>
              </a:bodyPr>
              <a:lstStyle/>
              <a:p>
                <a:r>
                  <a:rPr lang="zh-CN" altLang="zh-CN" sz="1600" dirty="0">
                    <a:ea typeface="等线" panose="02010600030101010101" pitchFamily="2" charset="-122"/>
                    <a:cs typeface="Times New Roman" panose="02020603050405020304" pitchFamily="18" charset="0"/>
                  </a:rPr>
                  <a:t>其中，</a:t>
                </a:r>
                <a14:m>
                  <m:oMath xmlns:m="http://schemas.openxmlformats.org/officeDocument/2006/math">
                    <m:sSup>
                      <m:sSupPr>
                        <m:ctrlPr>
                          <a:rPr lang="zh-CN" altLang="zh-CN" sz="1600" i="1">
                            <a:effectLst/>
                            <a:latin typeface="Cambria Math" panose="02040503050406030204" pitchFamily="18" charset="0"/>
                            <a:ea typeface="Cambria Math" panose="02040503050406030204" pitchFamily="18" charset="0"/>
                          </a:rPr>
                        </m:ctrlPr>
                      </m:sSup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𝑒</m:t>
                        </m:r>
                      </m:e>
                      <m:sup>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acc>
                          <m:accPr>
                            <m:chr m:val="̂"/>
                            <m:ctrlPr>
                              <a:rPr lang="zh-CN" altLang="zh-CN" sz="1600" i="1">
                                <a:effectLst/>
                                <a:latin typeface="Cambria Math" panose="02040503050406030204" pitchFamily="18" charset="0"/>
                                <a:ea typeface="Cambria Math" panose="02040503050406030204" pitchFamily="18" charset="0"/>
                              </a:rPr>
                            </m:ctrlPr>
                          </m:acc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𝜔</m:t>
                            </m:r>
                          </m:e>
                        </m:acc>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sup>
                    </m:sSup>
                  </m:oMath>
                </a14:m>
                <a:r>
                  <a:rPr lang="zh-CN" altLang="zh-CN" sz="1600" dirty="0">
                    <a:ea typeface="等线" panose="02010600030101010101" pitchFamily="2" charset="-122"/>
                    <a:cs typeface="Times New Roman" panose="02020603050405020304" pitchFamily="18" charset="0"/>
                  </a:rPr>
                  <a:t>表示刚体绕转轴</a:t>
                </a:r>
                <a14:m>
                  <m:oMath xmlns:m="http://schemas.openxmlformats.org/officeDocument/2006/math">
                    <m:acc>
                      <m:accPr>
                        <m:chr m:val="̂"/>
                        <m:ctrlPr>
                          <a:rPr lang="zh-CN" altLang="zh-CN" sz="1600" i="1">
                            <a:effectLst/>
                            <a:latin typeface="Cambria Math" panose="02040503050406030204" pitchFamily="18" charset="0"/>
                            <a:ea typeface="Cambria Math" panose="02040503050406030204" pitchFamily="18" charset="0"/>
                          </a:rPr>
                        </m:ctrlPr>
                      </m:acc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𝜔</m:t>
                        </m:r>
                      </m:e>
                    </m:acc>
                  </m:oMath>
                </a14:m>
                <a:r>
                  <a:rPr lang="zh-CN" altLang="zh-CN" sz="1600" dirty="0">
                    <a:ea typeface="等线" panose="02010600030101010101" pitchFamily="2" charset="-122"/>
                    <a:cs typeface="Times New Roman" panose="02020603050405020304" pitchFamily="18" charset="0"/>
                  </a:rPr>
                  <a:t>旋转</a:t>
                </a:r>
                <a14:m>
                  <m:oMath xmlns:m="http://schemas.openxmlformats.org/officeDocument/2006/math">
                    <m:r>
                      <a:rPr lang="zh-CN" altLang="zh-CN" sz="1600" i="1">
                        <a:latin typeface="Cambria Math" panose="02040503050406030204" pitchFamily="18" charset="0"/>
                        <a:ea typeface="Cambria Math" panose="02040503050406030204" pitchFamily="18" charset="0"/>
                        <a:cs typeface="Times New Roman" panose="02020603050405020304" pitchFamily="18" charset="0"/>
                      </a:rPr>
                      <m:t> </m:t>
                    </m:r>
                    <m:r>
                      <a:rPr lang="en-US" altLang="zh-CN" sz="1600" i="1">
                        <a:latin typeface="Cambria Math" panose="02040503050406030204" pitchFamily="18" charset="0"/>
                        <a:ea typeface="Cambria Math" panose="02040503050406030204" pitchFamily="18" charset="0"/>
                        <a:cs typeface="Times New Roman" panose="02020603050405020304" pitchFamily="18" charset="0"/>
                      </a:rPr>
                      <m:t>𝜃</m:t>
                    </m:r>
                  </m:oMath>
                </a14:m>
                <a:r>
                  <a:rPr lang="zh-CN" altLang="zh-CN" sz="1600" dirty="0">
                    <a:ea typeface="等线" panose="02010600030101010101" pitchFamily="2" charset="-122"/>
                    <a:cs typeface="Times New Roman" panose="02020603050405020304" pitchFamily="18" charset="0"/>
                  </a:rPr>
                  <a:t>后的姿态，可以用如下的罗德里格斯公式计算：</a:t>
                </a:r>
                <a:endParaRPr lang="zh-CN" altLang="en-US" sz="1600" dirty="0"/>
              </a:p>
            </p:txBody>
          </p:sp>
        </mc:Choice>
        <mc:Fallback xmlns="">
          <p:sp>
            <p:nvSpPr>
              <p:cNvPr id="12" name="矩形 11"/>
              <p:cNvSpPr>
                <a:spLocks noRot="1" noChangeAspect="1" noMove="1" noResize="1" noEditPoints="1" noAdjustHandles="1" noChangeArrowheads="1" noChangeShapeType="1" noTextEdit="1"/>
              </p:cNvSpPr>
              <p:nvPr/>
            </p:nvSpPr>
            <p:spPr>
              <a:xfrm>
                <a:off x="1547664" y="2240762"/>
                <a:ext cx="6408712" cy="598818"/>
              </a:xfrm>
              <a:prstGeom prst="rect">
                <a:avLst/>
              </a:prstGeom>
              <a:blipFill>
                <a:blip r:embed="rId5"/>
                <a:stretch>
                  <a:fillRect l="-571" t="-2041" b="-122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2467448" y="2932196"/>
                <a:ext cx="3636124" cy="35554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𝑒</m:t>
                          </m:r>
                        </m:e>
                        <m:sup>
                          <m:d>
                            <m:dPr>
                              <m:begChr m:val="["/>
                              <m:endChr m:val=""/>
                              <m:ctrlPr>
                                <a:rPr lang="zh-CN" altLang="en-US" sz="1600" i="1">
                                  <a:latin typeface="Cambria Math" panose="02040503050406030204" pitchFamily="18" charset="0"/>
                                </a:rPr>
                              </m:ctrlPr>
                            </m:d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𝜔</m:t>
                                  </m:r>
                                </m:e>
                              </m:acc>
                              <m:r>
                                <a:rPr lang="zh-CN" altLang="en-US" sz="1600" i="0">
                                  <a:latin typeface="Cambria Math" panose="02040503050406030204" pitchFamily="18" charset="0"/>
                                </a:rPr>
                                <m:t>]</m:t>
                              </m:r>
                              <m:r>
                                <a:rPr lang="zh-CN" altLang="en-US" sz="1600" i="1">
                                  <a:latin typeface="Cambria Math" panose="02040503050406030204" pitchFamily="18" charset="0"/>
                                </a:rPr>
                                <m:t>𝜃</m:t>
                              </m:r>
                            </m:e>
                          </m:d>
                        </m:sup>
                      </m:sSup>
                      <m:r>
                        <a:rPr lang="zh-CN" altLang="en-US" sz="1600" i="0">
                          <a:latin typeface="Cambria Math" panose="02040503050406030204" pitchFamily="18" charset="0"/>
                        </a:rPr>
                        <m:t>=</m:t>
                      </m:r>
                      <m:r>
                        <a:rPr lang="zh-CN" altLang="en-US" sz="1600" i="1">
                          <a:latin typeface="Cambria Math" panose="02040503050406030204" pitchFamily="18" charset="0"/>
                        </a:rPr>
                        <m:t>𝐼</m:t>
                      </m:r>
                      <m:r>
                        <a:rPr lang="zh-CN" altLang="en-US" sz="1600" i="0">
                          <a:latin typeface="Cambria Math" panose="02040503050406030204" pitchFamily="18" charset="0"/>
                        </a:rPr>
                        <m:t>+</m:t>
                      </m:r>
                      <m:func>
                        <m:funcPr>
                          <m:ctrlPr>
                            <a:rPr lang="zh-CN" altLang="en-US" sz="1600" i="1">
                              <a:latin typeface="Cambria Math" panose="02040503050406030204" pitchFamily="18" charset="0"/>
                            </a:rPr>
                          </m:ctrlPr>
                        </m:funcPr>
                        <m:fName>
                          <m:r>
                            <m:rPr>
                              <m:sty m:val="p"/>
                            </m:rPr>
                            <a:rPr lang="zh-CN" altLang="en-US" sz="1600" i="0">
                              <a:latin typeface="Cambria Math" panose="02040503050406030204" pitchFamily="18" charset="0"/>
                            </a:rPr>
                            <m:t>sin</m:t>
                          </m:r>
                        </m:fName>
                        <m:e>
                          <m:r>
                            <a:rPr lang="zh-CN" altLang="en-US" sz="1600" i="1">
                              <a:latin typeface="Cambria Math" panose="02040503050406030204" pitchFamily="18" charset="0"/>
                            </a:rPr>
                            <m:t>𝜃</m:t>
                          </m:r>
                        </m:e>
                      </m:func>
                      <m:d>
                        <m:dPr>
                          <m:begChr m:val="["/>
                          <m:endChr m:val="]"/>
                          <m:ctrlPr>
                            <a:rPr lang="zh-CN" altLang="en-US" sz="1600" i="1">
                              <a:latin typeface="Cambria Math" panose="02040503050406030204" pitchFamily="18" charset="0"/>
                            </a:rPr>
                          </m:ctrlPr>
                        </m:d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𝜔</m:t>
                              </m:r>
                            </m:e>
                          </m:acc>
                        </m:e>
                      </m:d>
                      <m:r>
                        <a:rPr lang="zh-CN" altLang="en-US" sz="1600" i="0">
                          <a:latin typeface="Cambria Math" panose="02040503050406030204" pitchFamily="18" charset="0"/>
                        </a:rPr>
                        <m:t>+(1−</m:t>
                      </m:r>
                      <m:func>
                        <m:funcPr>
                          <m:ctrlPr>
                            <a:rPr lang="zh-CN" altLang="en-US" sz="1600" i="1">
                              <a:latin typeface="Cambria Math" panose="02040503050406030204" pitchFamily="18" charset="0"/>
                            </a:rPr>
                          </m:ctrlPr>
                        </m:funcPr>
                        <m:fName>
                          <m:r>
                            <m:rPr>
                              <m:sty m:val="p"/>
                            </m:rPr>
                            <a:rPr lang="zh-CN" altLang="en-US" sz="1600" i="0">
                              <a:latin typeface="Cambria Math" panose="02040503050406030204" pitchFamily="18" charset="0"/>
                            </a:rPr>
                            <m:t>cos</m:t>
                          </m:r>
                        </m:fName>
                        <m:e>
                          <m:r>
                            <a:rPr lang="zh-CN" altLang="en-US" sz="1600" i="1">
                              <a:latin typeface="Cambria Math" panose="02040503050406030204" pitchFamily="18" charset="0"/>
                            </a:rPr>
                            <m:t>𝜃</m:t>
                          </m:r>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d>
                                <m:dPr>
                                  <m:begChr m:val="["/>
                                  <m:endChr m:val="]"/>
                                  <m:ctrlPr>
                                    <a:rPr lang="zh-CN" altLang="en-US" sz="1600" i="1">
                                      <a:latin typeface="Cambria Math" panose="02040503050406030204" pitchFamily="18" charset="0"/>
                                    </a:rPr>
                                  </m:ctrlPr>
                                </m:d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𝜔</m:t>
                                      </m:r>
                                    </m:e>
                                  </m:acc>
                                </m:e>
                              </m:d>
                            </m:e>
                            <m:sup>
                              <m:r>
                                <a:rPr lang="zh-CN" altLang="en-US" sz="1600" i="0">
                                  <a:latin typeface="Cambria Math" panose="02040503050406030204" pitchFamily="18" charset="0"/>
                                </a:rPr>
                                <m:t>2</m:t>
                              </m:r>
                            </m:sup>
                          </m:sSup>
                        </m:e>
                      </m:func>
                    </m:oMath>
                  </m:oMathPara>
                </a14:m>
                <a:endParaRPr lang="zh-CN" altLang="en-US" sz="1600" dirty="0"/>
              </a:p>
            </p:txBody>
          </p:sp>
        </mc:Choice>
        <mc:Fallback xmlns="">
          <p:sp>
            <p:nvSpPr>
              <p:cNvPr id="13" name="矩形 12"/>
              <p:cNvSpPr>
                <a:spLocks noRot="1" noChangeAspect="1" noMove="1" noResize="1" noEditPoints="1" noAdjustHandles="1" noChangeArrowheads="1" noChangeShapeType="1" noTextEdit="1"/>
              </p:cNvSpPr>
              <p:nvPr/>
            </p:nvSpPr>
            <p:spPr>
              <a:xfrm>
                <a:off x="2467448" y="2932196"/>
                <a:ext cx="3636124" cy="355547"/>
              </a:xfrm>
              <a:prstGeom prst="rect">
                <a:avLst/>
              </a:prstGeom>
              <a:blipFill>
                <a:blip r:embed="rId6"/>
                <a:stretch>
                  <a:fillRect l="-839" t="-75862" r="-3356" b="-913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1547664" y="3380359"/>
                <a:ext cx="6336704" cy="604204"/>
              </a:xfrm>
              <a:prstGeom prst="rect">
                <a:avLst/>
              </a:prstGeom>
            </p:spPr>
            <p:txBody>
              <a:bodyPr wrap="square">
                <a:spAutoFit/>
              </a:bodyPr>
              <a:lstStyle/>
              <a:p>
                <a14:m>
                  <m:oMath xmlns:m="http://schemas.openxmlformats.org/officeDocument/2006/math">
                    <m:d>
                      <m:dPr>
                        <m:begChr m:val="["/>
                        <m:endChr m:val="]"/>
                        <m:ctrlPr>
                          <a:rPr lang="zh-CN" altLang="zh-CN" sz="1600" i="1">
                            <a:latin typeface="Cambria Math" panose="02040503050406030204" pitchFamily="18" charset="0"/>
                            <a:ea typeface="Cambria Math" panose="02040503050406030204" pitchFamily="18" charset="0"/>
                          </a:rPr>
                        </m:ctrlPr>
                      </m:dPr>
                      <m:e>
                        <m:acc>
                          <m:accPr>
                            <m:chr m:val="̂"/>
                            <m:ctrlPr>
                              <a:rPr lang="zh-CN" altLang="zh-CN" sz="1600" i="1">
                                <a:effectLst/>
                                <a:latin typeface="Cambria Math" panose="02040503050406030204" pitchFamily="18" charset="0"/>
                                <a:ea typeface="Cambria Math" panose="02040503050406030204" pitchFamily="18" charset="0"/>
                              </a:rPr>
                            </m:ctrlPr>
                          </m:acc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𝜔</m:t>
                            </m:r>
                          </m:e>
                        </m:acc>
                      </m:e>
                    </m:d>
                  </m:oMath>
                </a14:m>
                <a:r>
                  <a:rPr lang="zh-CN" altLang="zh-CN" sz="1600" dirty="0">
                    <a:ea typeface="等线" panose="02010600030101010101" pitchFamily="2" charset="-122"/>
                    <a:cs typeface="Times New Roman" panose="02020603050405020304" pitchFamily="18" charset="0"/>
                  </a:rPr>
                  <a:t>为单位向量</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𝜔</m:t>
                    </m:r>
                  </m:oMath>
                </a14:m>
                <a:r>
                  <a:rPr lang="zh-CN" altLang="zh-CN" sz="1600" dirty="0">
                    <a:ea typeface="等线" panose="02010600030101010101" pitchFamily="2" charset="-122"/>
                    <a:cs typeface="Times New Roman" panose="02020603050405020304" pitchFamily="18" charset="0"/>
                  </a:rPr>
                  <a:t>的</a:t>
                </a:r>
                <a:r>
                  <a:rPr lang="zh-CN" altLang="zh-CN" sz="1600" b="1" dirty="0">
                    <a:ea typeface="等线" panose="02010600030101010101" pitchFamily="2" charset="-122"/>
                    <a:cs typeface="Times New Roman" panose="02020603050405020304" pitchFamily="18" charset="0"/>
                  </a:rPr>
                  <a:t>反对称矩阵</a:t>
                </a:r>
                <a:r>
                  <a:rPr lang="zh-CN" altLang="zh-CN" sz="1600" dirty="0">
                    <a:ea typeface="等线" panose="02010600030101010101" pitchFamily="2" charset="-122"/>
                    <a:cs typeface="Times New Roman" panose="02020603050405020304" pitchFamily="18" charset="0"/>
                  </a:rPr>
                  <a:t>，如果旋转轴在基坐标系</a:t>
                </a:r>
                <a:r>
                  <a:rPr lang="en-US" altLang="zh-CN" sz="1600" dirty="0">
                    <a:ea typeface="等线" panose="02010600030101010101" pitchFamily="2" charset="-122"/>
                    <a:cs typeface="Times New Roman" panose="02020603050405020304" pitchFamily="18" charset="0"/>
                  </a:rPr>
                  <a:t>{s}</a:t>
                </a:r>
                <a:r>
                  <a:rPr lang="zh-CN" altLang="zh-CN" sz="1600" dirty="0">
                    <a:ea typeface="等线" panose="02010600030101010101" pitchFamily="2" charset="-122"/>
                    <a:cs typeface="Times New Roman" panose="02020603050405020304" pitchFamily="18" charset="0"/>
                  </a:rPr>
                  <a:t>下的向量为</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𝜔</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𝑥</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𝜔</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𝑦</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𝜔</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𝑧</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1600" dirty="0">
                    <a:ea typeface="等线" panose="02010600030101010101" pitchFamily="2" charset="-122"/>
                    <a:cs typeface="Times New Roman" panose="02020603050405020304" pitchFamily="18" charset="0"/>
                  </a:rPr>
                  <a:t>，则：</a:t>
                </a:r>
                <a:endParaRPr lang="zh-CN" altLang="en-US" sz="1600" dirty="0"/>
              </a:p>
            </p:txBody>
          </p:sp>
        </mc:Choice>
        <mc:Fallback xmlns="">
          <p:sp>
            <p:nvSpPr>
              <p:cNvPr id="15" name="矩形 14"/>
              <p:cNvSpPr>
                <a:spLocks noRot="1" noChangeAspect="1" noMove="1" noResize="1" noEditPoints="1" noAdjustHandles="1" noChangeArrowheads="1" noChangeShapeType="1" noTextEdit="1"/>
              </p:cNvSpPr>
              <p:nvPr/>
            </p:nvSpPr>
            <p:spPr>
              <a:xfrm>
                <a:off x="1547664" y="3380359"/>
                <a:ext cx="6336704" cy="604204"/>
              </a:xfrm>
              <a:prstGeom prst="rect">
                <a:avLst/>
              </a:prstGeom>
              <a:blipFill>
                <a:blip r:embed="rId7"/>
                <a:stretch>
                  <a:fillRect l="-96" t="-3030" b="-101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2859318" y="3984563"/>
                <a:ext cx="2556789" cy="8749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600" i="1">
                              <a:latin typeface="Cambria Math" panose="02040503050406030204" pitchFamily="18" charset="0"/>
                            </a:rPr>
                          </m:ctrlPr>
                        </m:d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𝜔</m:t>
                              </m:r>
                            </m:e>
                          </m:acc>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m>
                            <m:mPr>
                              <m:mcs>
                                <m:mc>
                                  <m:mcPr>
                                    <m:count m:val="3"/>
                                    <m:mcJc m:val="center"/>
                                  </m:mcPr>
                                </m:mc>
                              </m:mcs>
                              <m:ctrlPr>
                                <a:rPr lang="zh-CN" altLang="en-US" sz="1600" i="1">
                                  <a:latin typeface="Cambria Math" panose="02040503050406030204" pitchFamily="18" charset="0"/>
                                </a:rPr>
                              </m:ctrlPr>
                            </m:mPr>
                            <m:mr>
                              <m:e>
                                <m:r>
                                  <a:rPr lang="zh-CN" altLang="en-US" sz="1600" i="0">
                                    <a:latin typeface="Cambria Math" panose="02040503050406030204" pitchFamily="18" charset="0"/>
                                  </a:rPr>
                                  <m:t>0</m:t>
                                </m:r>
                              </m:e>
                              <m:e>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𝜔</m:t>
                                    </m:r>
                                  </m:e>
                                  <m:sub>
                                    <m:r>
                                      <a:rPr lang="zh-CN" altLang="en-US" sz="1600" i="1">
                                        <a:latin typeface="Cambria Math" panose="02040503050406030204" pitchFamily="18" charset="0"/>
                                      </a:rPr>
                                      <m:t>𝑧</m:t>
                                    </m:r>
                                  </m:sub>
                                </m:sSub>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𝜔</m:t>
                                    </m:r>
                                  </m:e>
                                  <m:sub>
                                    <m:r>
                                      <a:rPr lang="zh-CN" altLang="en-US" sz="1600" i="1">
                                        <a:latin typeface="Cambria Math" panose="02040503050406030204" pitchFamily="18" charset="0"/>
                                      </a:rPr>
                                      <m:t>𝑦</m:t>
                                    </m:r>
                                  </m:sub>
                                </m:sSub>
                              </m:e>
                            </m:m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𝜔</m:t>
                                    </m:r>
                                  </m:e>
                                  <m:sub>
                                    <m:r>
                                      <a:rPr lang="zh-CN" altLang="en-US" sz="1600" i="1">
                                        <a:latin typeface="Cambria Math" panose="02040503050406030204" pitchFamily="18" charset="0"/>
                                      </a:rPr>
                                      <m:t>𝑧</m:t>
                                    </m:r>
                                  </m:sub>
                                </m:sSub>
                              </m:e>
                              <m:e>
                                <m:r>
                                  <a:rPr lang="zh-CN" altLang="en-US" sz="1600" i="0">
                                    <a:latin typeface="Cambria Math" panose="02040503050406030204" pitchFamily="18" charset="0"/>
                                  </a:rPr>
                                  <m:t>0</m:t>
                                </m:r>
                              </m:e>
                              <m:e>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𝜔</m:t>
                                    </m:r>
                                  </m:e>
                                  <m:sub>
                                    <m:r>
                                      <a:rPr lang="zh-CN" altLang="en-US" sz="1600" i="1">
                                        <a:latin typeface="Cambria Math" panose="02040503050406030204" pitchFamily="18" charset="0"/>
                                      </a:rPr>
                                      <m:t>𝑥</m:t>
                                    </m:r>
                                  </m:sub>
                                </m:sSub>
                              </m:e>
                            </m:mr>
                            <m:mr>
                              <m:e>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𝜔</m:t>
                                    </m:r>
                                  </m:e>
                                  <m:sub>
                                    <m:r>
                                      <a:rPr lang="zh-CN" altLang="en-US" sz="1600" i="1">
                                        <a:latin typeface="Cambria Math" panose="02040503050406030204" pitchFamily="18" charset="0"/>
                                      </a:rPr>
                                      <m:t>𝑦</m:t>
                                    </m:r>
                                  </m:sub>
                                </m:sSub>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𝜔</m:t>
                                    </m:r>
                                  </m:e>
                                  <m:sub>
                                    <m:r>
                                      <a:rPr lang="zh-CN" altLang="en-US" sz="1600" i="1">
                                        <a:latin typeface="Cambria Math" panose="02040503050406030204" pitchFamily="18" charset="0"/>
                                      </a:rPr>
                                      <m:t>𝑥</m:t>
                                    </m:r>
                                  </m:sub>
                                </m:sSub>
                              </m:e>
                              <m:e>
                                <m:r>
                                  <a:rPr lang="zh-CN" altLang="en-US" sz="1600" i="0">
                                    <a:latin typeface="Cambria Math" panose="02040503050406030204" pitchFamily="18" charset="0"/>
                                  </a:rPr>
                                  <m:t>0</m:t>
                                </m:r>
                              </m:e>
                            </m:mr>
                          </m:m>
                        </m:e>
                      </m:d>
                    </m:oMath>
                  </m:oMathPara>
                </a14:m>
                <a:endParaRPr lang="zh-CN" altLang="en-US" sz="1600" dirty="0"/>
              </a:p>
            </p:txBody>
          </p:sp>
        </mc:Choice>
        <mc:Fallback xmlns="">
          <p:sp>
            <p:nvSpPr>
              <p:cNvPr id="16" name="矩形 15"/>
              <p:cNvSpPr>
                <a:spLocks noRot="1" noChangeAspect="1" noMove="1" noResize="1" noEditPoints="1" noAdjustHandles="1" noChangeArrowheads="1" noChangeShapeType="1" noTextEdit="1"/>
              </p:cNvSpPr>
              <p:nvPr/>
            </p:nvSpPr>
            <p:spPr>
              <a:xfrm>
                <a:off x="2859318" y="3984563"/>
                <a:ext cx="2556789" cy="874920"/>
              </a:xfrm>
              <a:prstGeom prst="rect">
                <a:avLst/>
              </a:prstGeom>
              <a:blipFill>
                <a:blip r:embed="rId8"/>
                <a:stretch>
                  <a:fillRect/>
                </a:stretch>
              </a:blipFill>
            </p:spPr>
            <p:txBody>
              <a:bodyPr/>
              <a:lstStyle/>
              <a:p>
                <a:r>
                  <a:rPr lang="zh-CN" altLang="en-US">
                    <a:noFill/>
                  </a:rPr>
                  <a:t> </a:t>
                </a:r>
              </a:p>
            </p:txBody>
          </p:sp>
        </mc:Fallback>
      </mc:AlternateContent>
      <p:sp>
        <p:nvSpPr>
          <p:cNvPr id="19" name="圆角矩形 18"/>
          <p:cNvSpPr/>
          <p:nvPr/>
        </p:nvSpPr>
        <p:spPr>
          <a:xfrm>
            <a:off x="2276128" y="2839580"/>
            <a:ext cx="3827444" cy="52818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19"/>
          <p:cNvSpPr/>
          <p:nvPr/>
        </p:nvSpPr>
        <p:spPr>
          <a:xfrm>
            <a:off x="2859318" y="3966583"/>
            <a:ext cx="2720794" cy="90942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606341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Twist Method</a:t>
              </a:r>
              <a:endParaRPr lang="zh-CN" altLang="en-US" sz="1000" dirty="0">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旋量法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3" name="矩形 2"/>
              <p:cNvSpPr/>
              <p:nvPr/>
            </p:nvSpPr>
            <p:spPr>
              <a:xfrm>
                <a:off x="1547664" y="953795"/>
                <a:ext cx="4312271" cy="338554"/>
              </a:xfrm>
              <a:prstGeom prst="rect">
                <a:avLst/>
              </a:prstGeom>
            </p:spPr>
            <p:txBody>
              <a:bodyPr wrap="none">
                <a:spAutoFit/>
              </a:bodyPr>
              <a:lstStyle/>
              <a:p>
                <a:r>
                  <a:rPr lang="zh-CN" altLang="zh-CN" sz="1600" dirty="0">
                    <a:ea typeface="等线" panose="02010600030101010101" pitchFamily="2" charset="-122"/>
                    <a:cs typeface="Times New Roman" panose="02020603050405020304" pitchFamily="18" charset="0"/>
                  </a:rPr>
                  <a:t>（</a:t>
                </a:r>
                <a:r>
                  <a:rPr lang="en-US" altLang="zh-CN" sz="1600" dirty="0">
                    <a:ea typeface="等线" panose="02010600030101010101" pitchFamily="2" charset="-122"/>
                    <a:cs typeface="Times New Roman" panose="02020603050405020304" pitchFamily="18" charset="0"/>
                  </a:rPr>
                  <a:t>2</a:t>
                </a:r>
                <a:r>
                  <a:rPr lang="zh-CN" altLang="zh-CN" sz="1600" dirty="0">
                    <a:ea typeface="等线" panose="02010600030101010101" pitchFamily="2" charset="-122"/>
                    <a:cs typeface="Times New Roman" panose="02020603050405020304" pitchFamily="18" charset="0"/>
                  </a:rPr>
                  <a:t>）如果</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𝜔</m:t>
                    </m:r>
                    <m:r>
                      <a:rPr lang="en-US" altLang="zh-CN" sz="1600" i="1">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sz="1600" dirty="0">
                    <a:ea typeface="等线" panose="02010600030101010101" pitchFamily="2" charset="-122"/>
                    <a:cs typeface="Times New Roman" panose="02020603050405020304" pitchFamily="18" charset="0"/>
                  </a:rPr>
                  <a:t>，该螺旋轴为平移关节，则：</a:t>
                </a:r>
                <a:endParaRPr lang="zh-CN" altLang="en-US" sz="1600" dirty="0"/>
              </a:p>
            </p:txBody>
          </p:sp>
        </mc:Choice>
        <mc:Fallback xmlns="">
          <p:sp>
            <p:nvSpPr>
              <p:cNvPr id="3" name="矩形 2"/>
              <p:cNvSpPr>
                <a:spLocks noRot="1" noChangeAspect="1" noMove="1" noResize="1" noEditPoints="1" noAdjustHandles="1" noChangeArrowheads="1" noChangeShapeType="1" noTextEdit="1"/>
              </p:cNvSpPr>
              <p:nvPr/>
            </p:nvSpPr>
            <p:spPr>
              <a:xfrm>
                <a:off x="1547664" y="953795"/>
                <a:ext cx="4312271" cy="338554"/>
              </a:xfrm>
              <a:prstGeom prst="rect">
                <a:avLst/>
              </a:prstGeom>
              <a:blipFill>
                <a:blip r:embed="rId3"/>
                <a:stretch>
                  <a:fillRect l="-849" t="-5357" b="-2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2987824" y="2067694"/>
                <a:ext cx="2164247" cy="60946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i="1">
                              <a:latin typeface="Cambria Math" panose="02040503050406030204" pitchFamily="18" charset="0"/>
                            </a:rPr>
                          </m:ctrlPr>
                        </m:sSupPr>
                        <m:e>
                          <m:r>
                            <a:rPr lang="zh-CN" altLang="en-US" i="1">
                              <a:latin typeface="Cambria Math" panose="02040503050406030204" pitchFamily="18" charset="0"/>
                            </a:rPr>
                            <m:t>𝑒</m:t>
                          </m:r>
                        </m:e>
                        <m:sup>
                          <m:d>
                            <m:dPr>
                              <m:begChr m:val="["/>
                              <m:endChr m:val=""/>
                              <m:ctrlPr>
                                <a:rPr lang="zh-CN" altLang="en-US" i="1">
                                  <a:latin typeface="Cambria Math" panose="02040503050406030204" pitchFamily="18" charset="0"/>
                                </a:rPr>
                              </m:ctrlPr>
                            </m:dPr>
                            <m:e>
                              <m:r>
                                <a:rPr lang="zh-CN" altLang="en-US" i="1">
                                  <a:latin typeface="Cambria Math" panose="02040503050406030204" pitchFamily="18" charset="0"/>
                                </a:rPr>
                                <m:t>𝑠</m:t>
                              </m:r>
                              <m:r>
                                <a:rPr lang="zh-CN" altLang="en-US" i="0">
                                  <a:latin typeface="Cambria Math" panose="02040503050406030204" pitchFamily="18" charset="0"/>
                                </a:rPr>
                                <m:t>]</m:t>
                              </m:r>
                              <m:r>
                                <a:rPr lang="zh-CN" altLang="en-US" i="1">
                                  <a:latin typeface="Cambria Math" panose="02040503050406030204" pitchFamily="18" charset="0"/>
                                </a:rPr>
                                <m:t>𝜃</m:t>
                              </m:r>
                            </m:e>
                          </m:d>
                        </m:sup>
                      </m:sSup>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m>
                            <m:mPr>
                              <m:mcs>
                                <m:mc>
                                  <m:mcPr>
                                    <m:count m:val="2"/>
                                    <m:mcJc m:val="center"/>
                                  </m:mcPr>
                                </m:mc>
                              </m:mcs>
                              <m:ctrlPr>
                                <a:rPr lang="zh-CN" altLang="en-US" i="1">
                                  <a:latin typeface="Cambria Math" panose="02040503050406030204" pitchFamily="18" charset="0"/>
                                </a:rPr>
                              </m:ctrlPr>
                            </m:mPr>
                            <m:mr>
                              <m:e>
                                <m:sSup>
                                  <m:sSupPr>
                                    <m:ctrlPr>
                                      <a:rPr lang="zh-CN" altLang="en-US" i="1">
                                        <a:latin typeface="Cambria Math" panose="02040503050406030204" pitchFamily="18" charset="0"/>
                                      </a:rPr>
                                    </m:ctrlPr>
                                  </m:sSupPr>
                                  <m:e>
                                    <m:r>
                                      <a:rPr lang="zh-CN" altLang="en-US" i="1">
                                        <a:latin typeface="Cambria Math" panose="02040503050406030204" pitchFamily="18" charset="0"/>
                                      </a:rPr>
                                      <m:t>𝑒</m:t>
                                    </m:r>
                                  </m:e>
                                  <m:sup>
                                    <m:d>
                                      <m:dPr>
                                        <m:begChr m:val="["/>
                                        <m:endChr m:val=""/>
                                        <m:ctrlPr>
                                          <a:rPr lang="zh-CN" altLang="en-US" i="1">
                                            <a:latin typeface="Cambria Math" panose="02040503050406030204" pitchFamily="18" charset="0"/>
                                          </a:rPr>
                                        </m:ctrlPr>
                                      </m:d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𝜔</m:t>
                                            </m:r>
                                          </m:e>
                                        </m:acc>
                                        <m:r>
                                          <a:rPr lang="zh-CN" altLang="en-US" i="0">
                                            <a:latin typeface="Cambria Math" panose="02040503050406030204" pitchFamily="18" charset="0"/>
                                          </a:rPr>
                                          <m:t>]</m:t>
                                        </m:r>
                                        <m:r>
                                          <a:rPr lang="zh-CN" altLang="en-US" i="1">
                                            <a:latin typeface="Cambria Math" panose="02040503050406030204" pitchFamily="18" charset="0"/>
                                          </a:rPr>
                                          <m:t>𝜃</m:t>
                                        </m:r>
                                      </m:e>
                                    </m:d>
                                  </m:sup>
                                </m:sSup>
                              </m:e>
                              <m:e>
                                <m:r>
                                  <a:rPr lang="zh-CN" altLang="en-US" i="1">
                                    <a:latin typeface="Cambria Math" panose="02040503050406030204" pitchFamily="18" charset="0"/>
                                  </a:rPr>
                                  <m:t>𝑣</m:t>
                                </m:r>
                                <m:r>
                                  <a:rPr lang="zh-CN" altLang="en-US" i="1">
                                    <a:latin typeface="Cambria Math" panose="02040503050406030204" pitchFamily="18" charset="0"/>
                                  </a:rPr>
                                  <m:t>𝜃</m:t>
                                </m:r>
                              </m:e>
                            </m:mr>
                            <m:mr>
                              <m:e>
                                <m:r>
                                  <a:rPr lang="zh-CN" altLang="en-US" i="0">
                                    <a:latin typeface="Cambria Math" panose="02040503050406030204" pitchFamily="18" charset="0"/>
                                  </a:rPr>
                                  <m:t>0</m:t>
                                </m:r>
                              </m:e>
                              <m:e>
                                <m:r>
                                  <a:rPr lang="zh-CN" altLang="en-US" i="0">
                                    <a:latin typeface="Cambria Math" panose="02040503050406030204" pitchFamily="18" charset="0"/>
                                  </a:rPr>
                                  <m:t>1</m:t>
                                </m:r>
                              </m:e>
                            </m:mr>
                          </m:m>
                        </m:e>
                      </m:d>
                    </m:oMath>
                  </m:oMathPara>
                </a14:m>
                <a:endParaRPr lang="zh-CN" altLang="en-US" dirty="0"/>
              </a:p>
            </p:txBody>
          </p:sp>
        </mc:Choice>
        <mc:Fallback xmlns="">
          <p:sp>
            <p:nvSpPr>
              <p:cNvPr id="8" name="矩形 7"/>
              <p:cNvSpPr>
                <a:spLocks noRot="1" noChangeAspect="1" noMove="1" noResize="1" noEditPoints="1" noAdjustHandles="1" noChangeArrowheads="1" noChangeShapeType="1" noTextEdit="1"/>
              </p:cNvSpPr>
              <p:nvPr/>
            </p:nvSpPr>
            <p:spPr>
              <a:xfrm>
                <a:off x="2987824" y="2067694"/>
                <a:ext cx="2164247" cy="609462"/>
              </a:xfrm>
              <a:prstGeom prst="rect">
                <a:avLst/>
              </a:prstGeom>
              <a:blipFill>
                <a:blip r:embed="rId4"/>
                <a:stretch>
                  <a:fillRect/>
                </a:stretch>
              </a:blipFill>
            </p:spPr>
            <p:txBody>
              <a:bodyPr/>
              <a:lstStyle/>
              <a:p>
                <a:r>
                  <a:rPr lang="zh-CN" altLang="en-US">
                    <a:noFill/>
                  </a:rPr>
                  <a:t> </a:t>
                </a:r>
              </a:p>
            </p:txBody>
          </p:sp>
        </mc:Fallback>
      </mc:AlternateContent>
      <p:sp>
        <p:nvSpPr>
          <p:cNvPr id="9" name="矩形 8"/>
          <p:cNvSpPr/>
          <p:nvPr/>
        </p:nvSpPr>
        <p:spPr>
          <a:xfrm>
            <a:off x="1331640" y="3651870"/>
            <a:ext cx="6264695" cy="584775"/>
          </a:xfrm>
          <a:prstGeom prst="rect">
            <a:avLst/>
          </a:prstGeom>
        </p:spPr>
        <p:txBody>
          <a:bodyPr wrap="square">
            <a:spAutoFit/>
          </a:bodyPr>
          <a:lstStyle/>
          <a:p>
            <a:r>
              <a:rPr lang="zh-CN" altLang="zh-CN" sz="1600" dirty="0">
                <a:solidFill>
                  <a:srgbClr val="002060"/>
                </a:solidFill>
                <a:ea typeface="等线" panose="02010600030101010101" pitchFamily="2" charset="-122"/>
                <a:cs typeface="Times New Roman" panose="02020603050405020304" pitchFamily="18" charset="0"/>
              </a:rPr>
              <a:t>与</a:t>
            </a:r>
            <a:r>
              <a:rPr lang="en-US" altLang="zh-CN" sz="1600" dirty="0">
                <a:solidFill>
                  <a:srgbClr val="002060"/>
                </a:solidFill>
                <a:ea typeface="等线" panose="02010600030101010101" pitchFamily="2" charset="-122"/>
                <a:cs typeface="Times New Roman" panose="02020603050405020304" pitchFamily="18" charset="0"/>
              </a:rPr>
              <a:t>D-H</a:t>
            </a:r>
            <a:r>
              <a:rPr lang="zh-CN" altLang="zh-CN" sz="1600" dirty="0">
                <a:solidFill>
                  <a:srgbClr val="002060"/>
                </a:solidFill>
                <a:ea typeface="等线" panose="02010600030101010101" pitchFamily="2" charset="-122"/>
                <a:cs typeface="Times New Roman" panose="02020603050405020304" pitchFamily="18" charset="0"/>
              </a:rPr>
              <a:t>表示法建模不同</a:t>
            </a:r>
            <a:r>
              <a:rPr lang="zh-CN" altLang="zh-CN" sz="1600" dirty="0" smtClean="0">
                <a:solidFill>
                  <a:srgbClr val="002060"/>
                </a:solidFill>
                <a:ea typeface="等线" panose="02010600030101010101" pitchFamily="2" charset="-122"/>
                <a:cs typeface="Times New Roman" panose="02020603050405020304" pitchFamily="18" charset="0"/>
              </a:rPr>
              <a:t>，旋量</a:t>
            </a:r>
            <a:r>
              <a:rPr lang="zh-CN" altLang="zh-CN" sz="1600" dirty="0">
                <a:solidFill>
                  <a:srgbClr val="002060"/>
                </a:solidFill>
                <a:ea typeface="等线" panose="02010600030101010101" pitchFamily="2" charset="-122"/>
                <a:cs typeface="Times New Roman" panose="02020603050405020304" pitchFamily="18" charset="0"/>
              </a:rPr>
              <a:t>法建模</a:t>
            </a:r>
            <a:r>
              <a:rPr lang="zh-CN" altLang="zh-CN" sz="1600" dirty="0" smtClean="0">
                <a:solidFill>
                  <a:srgbClr val="002060"/>
                </a:solidFill>
                <a:ea typeface="等线" panose="02010600030101010101" pitchFamily="2" charset="-122"/>
                <a:cs typeface="Times New Roman" panose="02020603050405020304" pitchFamily="18" charset="0"/>
              </a:rPr>
              <a:t>，无须</a:t>
            </a:r>
            <a:r>
              <a:rPr lang="zh-CN" altLang="zh-CN" sz="1600" dirty="0">
                <a:solidFill>
                  <a:srgbClr val="002060"/>
                </a:solidFill>
                <a:ea typeface="等线" panose="02010600030101010101" pitchFamily="2" charset="-122"/>
                <a:cs typeface="Times New Roman" panose="02020603050405020304" pitchFamily="18" charset="0"/>
              </a:rPr>
              <a:t>定义连杆坐标系，也不要求机器人必须满足</a:t>
            </a:r>
            <a:r>
              <a:rPr lang="en-US" altLang="zh-CN" sz="1600" dirty="0">
                <a:solidFill>
                  <a:srgbClr val="002060"/>
                </a:solidFill>
                <a:ea typeface="等线" panose="02010600030101010101" pitchFamily="2" charset="-122"/>
                <a:cs typeface="Times New Roman" panose="02020603050405020304" pitchFamily="18" charset="0"/>
              </a:rPr>
              <a:t>Pieper</a:t>
            </a:r>
            <a:r>
              <a:rPr lang="zh-CN" altLang="zh-CN" sz="1600" dirty="0">
                <a:solidFill>
                  <a:srgbClr val="002060"/>
                </a:solidFill>
                <a:ea typeface="等线" panose="02010600030101010101" pitchFamily="2" charset="-122"/>
                <a:cs typeface="Times New Roman" panose="02020603050405020304" pitchFamily="18" charset="0"/>
              </a:rPr>
              <a:t>准则。</a:t>
            </a:r>
            <a:endParaRPr lang="zh-CN" altLang="en-US" sz="1600" dirty="0">
              <a:solidFill>
                <a:srgbClr val="002060"/>
              </a:solidFill>
            </a:endParaRPr>
          </a:p>
        </p:txBody>
      </p:sp>
      <p:sp>
        <p:nvSpPr>
          <p:cNvPr id="17" name="圆角矩形 16"/>
          <p:cNvSpPr/>
          <p:nvPr/>
        </p:nvSpPr>
        <p:spPr>
          <a:xfrm>
            <a:off x="2915816" y="1792594"/>
            <a:ext cx="2376264" cy="10671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3955867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Twist Method</a:t>
              </a:r>
              <a:endParaRPr lang="zh-CN" altLang="en-US" sz="1000" dirty="0">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旋量法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10" name="对象 9"/>
          <p:cNvGraphicFramePr>
            <a:graphicFrameLocks noChangeAspect="1"/>
          </p:cNvGraphicFramePr>
          <p:nvPr>
            <p:extLst>
              <p:ext uri="{D42A27DB-BD31-4B8C-83A1-F6EECF244321}">
                <p14:modId xmlns:p14="http://schemas.microsoft.com/office/powerpoint/2010/main" val="3789559788"/>
              </p:ext>
            </p:extLst>
          </p:nvPr>
        </p:nvGraphicFramePr>
        <p:xfrm>
          <a:off x="507365" y="1015383"/>
          <a:ext cx="4410075" cy="3638550"/>
        </p:xfrm>
        <a:graphic>
          <a:graphicData uri="http://schemas.openxmlformats.org/presentationml/2006/ole">
            <mc:AlternateContent xmlns:mc="http://schemas.openxmlformats.org/markup-compatibility/2006">
              <mc:Choice xmlns:v="urn:schemas-microsoft-com:vml" Requires="v">
                <p:oleObj spid="_x0000_s16488" name="Visio" r:id="rId4" imgW="6790500" imgH="5599891" progId="Visio.Drawing.11">
                  <p:embed/>
                </p:oleObj>
              </mc:Choice>
              <mc:Fallback>
                <p:oleObj name="Visio" r:id="rId4" imgW="6790500" imgH="5599891"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365" y="1015383"/>
                        <a:ext cx="4410075" cy="3638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文本框 10"/>
          <p:cNvSpPr txBox="1"/>
          <p:nvPr/>
        </p:nvSpPr>
        <p:spPr>
          <a:xfrm>
            <a:off x="4028704" y="641335"/>
            <a:ext cx="1217000" cy="400110"/>
          </a:xfrm>
          <a:prstGeom prst="rect">
            <a:avLst/>
          </a:prstGeom>
          <a:noFill/>
        </p:spPr>
        <p:txBody>
          <a:bodyPr wrap="none" rtlCol="0">
            <a:spAutoFit/>
          </a:bodyPr>
          <a:lstStyle/>
          <a:p>
            <a:r>
              <a:rPr lang="zh-CN" altLang="en-US" sz="2000" b="1" dirty="0" smtClean="0">
                <a:solidFill>
                  <a:srgbClr val="002060"/>
                </a:solidFill>
              </a:rPr>
              <a:t>实例讲解</a:t>
            </a:r>
            <a:endParaRPr lang="zh-CN" altLang="en-US" sz="2000" b="1" dirty="0">
              <a:solidFill>
                <a:srgbClr val="002060"/>
              </a:solidFill>
            </a:endParaRPr>
          </a:p>
        </p:txBody>
      </p:sp>
      <p:sp>
        <p:nvSpPr>
          <p:cNvPr id="12" name="矩形 11"/>
          <p:cNvSpPr/>
          <p:nvPr/>
        </p:nvSpPr>
        <p:spPr>
          <a:xfrm>
            <a:off x="502232" y="4626561"/>
            <a:ext cx="4572000" cy="553998"/>
          </a:xfrm>
          <a:prstGeom prst="rect">
            <a:avLst/>
          </a:prstGeom>
        </p:spPr>
        <p:txBody>
          <a:bodyPr>
            <a:spAutoFit/>
          </a:bodyPr>
          <a:lstStyle/>
          <a:p>
            <a:r>
              <a:rPr lang="en-US" altLang="zh-CN" sz="1000" b="1" dirty="0">
                <a:solidFill>
                  <a:srgbClr val="002060"/>
                </a:solidFill>
                <a:latin typeface="等线" panose="02010600030101010101" pitchFamily="2" charset="-122"/>
                <a:cs typeface="Times New Roman" panose="02020603050405020304" pitchFamily="18" charset="0"/>
              </a:rPr>
              <a:t>AUBO-i5</a:t>
            </a:r>
            <a:r>
              <a:rPr lang="zh-CN" altLang="zh-CN" sz="1000" b="1" dirty="0">
                <a:solidFill>
                  <a:srgbClr val="002060"/>
                </a:solidFill>
                <a:ea typeface="等线" panose="02010600030101010101" pitchFamily="2" charset="-122"/>
                <a:cs typeface="Times New Roman" panose="02020603050405020304" pitchFamily="18" charset="0"/>
              </a:rPr>
              <a:t>螺旋轴表示法</a:t>
            </a:r>
            <a:r>
              <a:rPr lang="en-US" altLang="zh-CN" sz="1000" b="1" dirty="0">
                <a:solidFill>
                  <a:srgbClr val="002060"/>
                </a:solidFill>
                <a:ea typeface="等线" panose="02010600030101010101" pitchFamily="2" charset="-122"/>
                <a:cs typeface="Times New Roman" panose="02020603050405020304" pitchFamily="18" charset="0"/>
              </a:rPr>
              <a:t>, </a:t>
            </a:r>
            <a:r>
              <a:rPr lang="zh-CN" altLang="zh-CN" sz="1000" b="1" dirty="0">
                <a:solidFill>
                  <a:srgbClr val="002060"/>
                </a:solidFill>
                <a:ea typeface="等线" panose="02010600030101010101" pitchFamily="2" charset="-122"/>
                <a:cs typeface="Times New Roman" panose="02020603050405020304" pitchFamily="18" charset="0"/>
              </a:rPr>
              <a:t>右手法则表示正转，</a:t>
            </a:r>
            <a:r>
              <a:rPr lang="en-US" altLang="zh-CN" sz="1000" b="1" dirty="0">
                <a:solidFill>
                  <a:srgbClr val="002060"/>
                </a:solidFill>
                <a:ea typeface="等线" panose="02010600030101010101" pitchFamily="2" charset="-122"/>
                <a:cs typeface="Times New Roman" panose="02020603050405020304" pitchFamily="18" charset="0"/>
              </a:rPr>
              <a:t>W1</a:t>
            </a:r>
            <a:r>
              <a:rPr lang="zh-CN" altLang="zh-CN" sz="1000" b="1" dirty="0">
                <a:solidFill>
                  <a:srgbClr val="002060"/>
                </a:solidFill>
                <a:ea typeface="等线" panose="02010600030101010101" pitchFamily="2" charset="-122"/>
                <a:cs typeface="Times New Roman" panose="02020603050405020304" pitchFamily="18" charset="0"/>
              </a:rPr>
              <a:t>为</a:t>
            </a:r>
            <a:r>
              <a:rPr lang="en-US" altLang="zh-CN" sz="1000" b="1" dirty="0">
                <a:solidFill>
                  <a:srgbClr val="002060"/>
                </a:solidFill>
                <a:ea typeface="等线" panose="02010600030101010101" pitchFamily="2" charset="-122"/>
                <a:cs typeface="Times New Roman" panose="02020603050405020304" pitchFamily="18" charset="0"/>
              </a:rPr>
              <a:t>S1</a:t>
            </a:r>
            <a:r>
              <a:rPr lang="zh-CN" altLang="zh-CN" sz="1000" b="1" dirty="0">
                <a:solidFill>
                  <a:srgbClr val="002060"/>
                </a:solidFill>
                <a:ea typeface="等线" panose="02010600030101010101" pitchFamily="2" charset="-122"/>
                <a:cs typeface="Times New Roman" panose="02020603050405020304" pitchFamily="18" charset="0"/>
              </a:rPr>
              <a:t>螺旋轴与</a:t>
            </a:r>
            <a:r>
              <a:rPr lang="en-US" altLang="zh-CN" sz="1000" b="1" dirty="0">
                <a:solidFill>
                  <a:srgbClr val="002060"/>
                </a:solidFill>
                <a:ea typeface="等线" panose="02010600030101010101" pitchFamily="2" charset="-122"/>
                <a:cs typeface="Times New Roman" panose="02020603050405020304" pitchFamily="18" charset="0"/>
              </a:rPr>
              <a:t>S5</a:t>
            </a:r>
            <a:r>
              <a:rPr lang="zh-CN" altLang="zh-CN" sz="1000" b="1" dirty="0">
                <a:solidFill>
                  <a:srgbClr val="002060"/>
                </a:solidFill>
                <a:ea typeface="等线" panose="02010600030101010101" pitchFamily="2" charset="-122"/>
                <a:cs typeface="Times New Roman" panose="02020603050405020304" pitchFamily="18" charset="0"/>
              </a:rPr>
              <a:t>螺旋轴之间的距离，</a:t>
            </a:r>
            <a:r>
              <a:rPr lang="en-US" altLang="zh-CN" sz="1000" b="1" dirty="0">
                <a:solidFill>
                  <a:srgbClr val="002060"/>
                </a:solidFill>
                <a:ea typeface="等线" panose="02010600030101010101" pitchFamily="2" charset="-122"/>
                <a:cs typeface="Times New Roman" panose="02020603050405020304" pitchFamily="18" charset="0"/>
              </a:rPr>
              <a:t>L1=0.408m</a:t>
            </a:r>
            <a:r>
              <a:rPr lang="zh-CN" altLang="zh-CN" sz="1000" b="1" dirty="0">
                <a:solidFill>
                  <a:srgbClr val="002060"/>
                </a:solidFill>
                <a:ea typeface="等线" panose="02010600030101010101" pitchFamily="2" charset="-122"/>
                <a:cs typeface="Times New Roman" panose="02020603050405020304" pitchFamily="18" charset="0"/>
              </a:rPr>
              <a:t>，</a:t>
            </a:r>
            <a:r>
              <a:rPr lang="en-US" altLang="zh-CN" sz="1000" b="1" dirty="0">
                <a:solidFill>
                  <a:srgbClr val="002060"/>
                </a:solidFill>
                <a:ea typeface="等线" panose="02010600030101010101" pitchFamily="2" charset="-122"/>
                <a:cs typeface="Times New Roman" panose="02020603050405020304" pitchFamily="18" charset="0"/>
              </a:rPr>
              <a:t>L2=0.376m</a:t>
            </a:r>
            <a:r>
              <a:rPr lang="zh-CN" altLang="zh-CN" sz="1000" b="1" dirty="0">
                <a:solidFill>
                  <a:srgbClr val="002060"/>
                </a:solidFill>
                <a:ea typeface="等线" panose="02010600030101010101" pitchFamily="2" charset="-122"/>
                <a:cs typeface="Times New Roman" panose="02020603050405020304" pitchFamily="18" charset="0"/>
              </a:rPr>
              <a:t>，</a:t>
            </a:r>
            <a:r>
              <a:rPr lang="en-US" altLang="zh-CN" sz="1000" b="1" dirty="0">
                <a:solidFill>
                  <a:srgbClr val="002060"/>
                </a:solidFill>
                <a:ea typeface="等线" panose="02010600030101010101" pitchFamily="2" charset="-122"/>
                <a:cs typeface="Times New Roman" panose="02020603050405020304" pitchFamily="18" charset="0"/>
              </a:rPr>
              <a:t>W1=0.1215m</a:t>
            </a:r>
            <a:r>
              <a:rPr lang="zh-CN" altLang="zh-CN" sz="1000" b="1" dirty="0">
                <a:solidFill>
                  <a:srgbClr val="002060"/>
                </a:solidFill>
                <a:ea typeface="等线" panose="02010600030101010101" pitchFamily="2" charset="-122"/>
                <a:cs typeface="Times New Roman" panose="02020603050405020304" pitchFamily="18" charset="0"/>
              </a:rPr>
              <a:t>，</a:t>
            </a:r>
            <a:r>
              <a:rPr lang="en-US" altLang="zh-CN" sz="1000" b="1" dirty="0">
                <a:solidFill>
                  <a:srgbClr val="002060"/>
                </a:solidFill>
                <a:ea typeface="等线" panose="02010600030101010101" pitchFamily="2" charset="-122"/>
                <a:cs typeface="Times New Roman" panose="02020603050405020304" pitchFamily="18" charset="0"/>
              </a:rPr>
              <a:t>W2=0.094m</a:t>
            </a:r>
            <a:r>
              <a:rPr lang="zh-CN" altLang="zh-CN" sz="1000" b="1" dirty="0">
                <a:solidFill>
                  <a:srgbClr val="002060"/>
                </a:solidFill>
                <a:ea typeface="等线" panose="02010600030101010101" pitchFamily="2" charset="-122"/>
                <a:cs typeface="Times New Roman" panose="02020603050405020304" pitchFamily="18" charset="0"/>
              </a:rPr>
              <a:t>，</a:t>
            </a:r>
            <a:r>
              <a:rPr lang="en-US" altLang="zh-CN" sz="1000" b="1" dirty="0">
                <a:solidFill>
                  <a:srgbClr val="002060"/>
                </a:solidFill>
                <a:ea typeface="等线" panose="02010600030101010101" pitchFamily="2" charset="-122"/>
                <a:cs typeface="Times New Roman" panose="02020603050405020304" pitchFamily="18" charset="0"/>
              </a:rPr>
              <a:t>H1=0.0985m,H2=0.1025m</a:t>
            </a:r>
            <a:endParaRPr lang="zh-CN" altLang="en-US" sz="1000" b="1" dirty="0">
              <a:solidFill>
                <a:srgbClr val="002060"/>
              </a:solidFill>
            </a:endParaRPr>
          </a:p>
        </p:txBody>
      </p:sp>
      <mc:AlternateContent xmlns:mc="http://schemas.openxmlformats.org/markup-compatibility/2006" xmlns:a14="http://schemas.microsoft.com/office/drawing/2010/main">
        <mc:Choice Requires="a14">
          <p:sp>
            <p:nvSpPr>
              <p:cNvPr id="13" name="矩形 12"/>
              <p:cNvSpPr/>
              <p:nvPr/>
            </p:nvSpPr>
            <p:spPr>
              <a:xfrm>
                <a:off x="5250558" y="1419622"/>
                <a:ext cx="3137333" cy="103169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zh-CN" altLang="en-US" sz="1600">
                          <a:latin typeface="Cambria Math" panose="02040503050406030204" pitchFamily="18" charset="0"/>
                        </a:rPr>
                        <m:t>M</m:t>
                      </m:r>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m>
                            <m:mPr>
                              <m:mcs>
                                <m:mc>
                                  <m:mcPr>
                                    <m:count m:val="2"/>
                                    <m:mcJc m:val="center"/>
                                  </m:mcPr>
                                </m:mc>
                              </m:mcs>
                              <m:ctrlPr>
                                <a:rPr lang="zh-CN" altLang="en-US" sz="1600" i="1">
                                  <a:latin typeface="Cambria Math" panose="02040503050406030204" pitchFamily="18" charset="0"/>
                                </a:rPr>
                              </m:ctrlPr>
                            </m:mPr>
                            <m:mr>
                              <m:e>
                                <m:m>
                                  <m:mPr>
                                    <m:mcs>
                                      <m:mc>
                                        <m:mcPr>
                                          <m:count m:val="2"/>
                                          <m:mcJc m:val="center"/>
                                        </m:mcPr>
                                      </m:mc>
                                    </m:mcs>
                                    <m:ctrlPr>
                                      <a:rPr lang="zh-CN" altLang="en-US" sz="1600" i="1">
                                        <a:latin typeface="Cambria Math" panose="02040503050406030204" pitchFamily="18" charset="0"/>
                                      </a:rPr>
                                    </m:ctrlPr>
                                  </m:mPr>
                                  <m:mr>
                                    <m:e>
                                      <m:r>
                                        <a:rPr lang="zh-CN" altLang="en-US" sz="1600" i="0">
                                          <a:latin typeface="Cambria Math" panose="02040503050406030204" pitchFamily="18" charset="0"/>
                                        </a:rPr>
                                        <m:t>1</m:t>
                                      </m:r>
                                    </m:e>
                                    <m:e>
                                      <m:r>
                                        <a:rPr lang="zh-CN" altLang="en-US" sz="1600" i="0">
                                          <a:latin typeface="Cambria Math" panose="02040503050406030204" pitchFamily="18" charset="0"/>
                                        </a:rPr>
                                        <m:t>0</m:t>
                                      </m:r>
                                    </m:e>
                                  </m:mr>
                                  <m:mr>
                                    <m:e>
                                      <m:r>
                                        <a:rPr lang="zh-CN" altLang="en-US" sz="1600" i="0">
                                          <a:latin typeface="Cambria Math" panose="02040503050406030204" pitchFamily="18" charset="0"/>
                                        </a:rPr>
                                        <m:t>0</m:t>
                                      </m:r>
                                    </m:e>
                                    <m:e>
                                      <m:r>
                                        <a:rPr lang="zh-CN" altLang="en-US" sz="1600" i="0">
                                          <a:latin typeface="Cambria Math" panose="02040503050406030204" pitchFamily="18" charset="0"/>
                                        </a:rPr>
                                        <m:t>0</m:t>
                                      </m:r>
                                    </m:e>
                                  </m:mr>
                                </m:m>
                              </m:e>
                              <m:e>
                                <m:m>
                                  <m:mPr>
                                    <m:mcs>
                                      <m:mc>
                                        <m:mcPr>
                                          <m:count m:val="2"/>
                                          <m:mcJc m:val="center"/>
                                        </m:mcPr>
                                      </m:mc>
                                    </m:mcs>
                                    <m:ctrlPr>
                                      <a:rPr lang="zh-CN" altLang="en-US" sz="1600" i="1">
                                        <a:latin typeface="Cambria Math" panose="02040503050406030204" pitchFamily="18" charset="0"/>
                                      </a:rPr>
                                    </m:ctrlPr>
                                  </m:mPr>
                                  <m:mr>
                                    <m:e>
                                      <m:r>
                                        <a:rPr lang="zh-CN" altLang="en-US" sz="1600" i="0">
                                          <a:latin typeface="Cambria Math" panose="02040503050406030204" pitchFamily="18" charset="0"/>
                                        </a:rPr>
                                        <m:t>0</m:t>
                                      </m:r>
                                    </m:e>
                                    <m:e>
                                      <m:d>
                                        <m:dPr>
                                          <m:begChr m:val=""/>
                                          <m:ctrlPr>
                                            <a:rPr lang="zh-CN" altLang="en-US" sz="1600" i="1">
                                              <a:latin typeface="Cambria Math" panose="02040503050406030204" pitchFamily="18" charset="0"/>
                                            </a:rPr>
                                          </m:ctrlPr>
                                        </m:dPr>
                                        <m:e>
                                          <m:r>
                                            <a:rPr lang="zh-CN" altLang="en-US" sz="1600" i="0">
                                              <a:latin typeface="Cambria Math" panose="02040503050406030204" pitchFamily="18" charset="0"/>
                                            </a:rPr>
                                            <m:t>−(</m:t>
                                          </m:r>
                                          <m:r>
                                            <a:rPr lang="zh-CN" altLang="en-US" sz="1600" i="1">
                                              <a:latin typeface="Cambria Math" panose="02040503050406030204" pitchFamily="18" charset="0"/>
                                            </a:rPr>
                                            <m:t>𝐿</m:t>
                                          </m:r>
                                          <m:r>
                                            <a:rPr lang="zh-CN" altLang="en-US" sz="1600" i="0">
                                              <a:latin typeface="Cambria Math" panose="02040503050406030204" pitchFamily="18" charset="0"/>
                                            </a:rPr>
                                            <m:t>1+</m:t>
                                          </m:r>
                                          <m:r>
                                            <a:rPr lang="zh-CN" altLang="en-US" sz="1600" i="1">
                                              <a:latin typeface="Cambria Math" panose="02040503050406030204" pitchFamily="18" charset="0"/>
                                            </a:rPr>
                                            <m:t>𝐿</m:t>
                                          </m:r>
                                          <m:r>
                                            <a:rPr lang="zh-CN" altLang="en-US" sz="1600" i="0">
                                              <a:latin typeface="Cambria Math" panose="02040503050406030204" pitchFamily="18" charset="0"/>
                                            </a:rPr>
                                            <m:t>2</m:t>
                                          </m:r>
                                        </m:e>
                                      </m:d>
                                    </m:e>
                                  </m:mr>
                                  <m:mr>
                                    <m:e>
                                      <m:r>
                                        <a:rPr lang="zh-CN" altLang="en-US" sz="1600" i="0">
                                          <a:latin typeface="Cambria Math" panose="02040503050406030204" pitchFamily="18" charset="0"/>
                                        </a:rPr>
                                        <m:t>−1</m:t>
                                      </m:r>
                                    </m:e>
                                    <m:e>
                                      <m:d>
                                        <m:dPr>
                                          <m:begChr m:val=""/>
                                          <m:ctrlPr>
                                            <a:rPr lang="zh-CN" altLang="en-US" sz="1600" i="1">
                                              <a:latin typeface="Cambria Math" panose="02040503050406030204" pitchFamily="18" charset="0"/>
                                            </a:rPr>
                                          </m:ctrlPr>
                                        </m:dPr>
                                        <m:e>
                                          <m:r>
                                            <a:rPr lang="zh-CN" altLang="en-US" sz="1600" i="0">
                                              <a:latin typeface="Cambria Math" panose="02040503050406030204" pitchFamily="18" charset="0"/>
                                            </a:rPr>
                                            <m:t>−(</m:t>
                                          </m:r>
                                          <m:r>
                                            <a:rPr lang="zh-CN" altLang="en-US" sz="1600" i="1">
                                              <a:latin typeface="Cambria Math" panose="02040503050406030204" pitchFamily="18" charset="0"/>
                                            </a:rPr>
                                            <m:t>𝑊</m:t>
                                          </m:r>
                                          <m:r>
                                            <a:rPr lang="zh-CN" altLang="en-US" sz="1600" i="0">
                                              <a:latin typeface="Cambria Math" panose="02040503050406030204" pitchFamily="18" charset="0"/>
                                            </a:rPr>
                                            <m:t>1+</m:t>
                                          </m:r>
                                          <m:r>
                                            <a:rPr lang="zh-CN" altLang="en-US" sz="1600" i="1">
                                              <a:latin typeface="Cambria Math" panose="02040503050406030204" pitchFamily="18" charset="0"/>
                                            </a:rPr>
                                            <m:t>𝑊</m:t>
                                          </m:r>
                                          <m:r>
                                            <a:rPr lang="zh-CN" altLang="en-US" sz="1600" i="0">
                                              <a:latin typeface="Cambria Math" panose="02040503050406030204" pitchFamily="18" charset="0"/>
                                            </a:rPr>
                                            <m:t>2</m:t>
                                          </m:r>
                                        </m:e>
                                      </m:d>
                                    </m:e>
                                  </m:mr>
                                </m:m>
                              </m:e>
                            </m:mr>
                            <m:mr>
                              <m:e>
                                <m:m>
                                  <m:mPr>
                                    <m:mcs>
                                      <m:mc>
                                        <m:mcPr>
                                          <m:count m:val="2"/>
                                          <m:mcJc m:val="center"/>
                                        </m:mcPr>
                                      </m:mc>
                                    </m:mcs>
                                    <m:ctrlPr>
                                      <a:rPr lang="zh-CN" altLang="en-US" sz="1600" i="1">
                                        <a:latin typeface="Cambria Math" panose="02040503050406030204" pitchFamily="18" charset="0"/>
                                      </a:rPr>
                                    </m:ctrlPr>
                                  </m:mPr>
                                  <m:mr>
                                    <m:e>
                                      <m:r>
                                        <a:rPr lang="zh-CN" altLang="en-US" sz="1600" i="0">
                                          <a:latin typeface="Cambria Math" panose="02040503050406030204" pitchFamily="18" charset="0"/>
                                        </a:rPr>
                                        <m:t>0</m:t>
                                      </m:r>
                                    </m:e>
                                    <m:e>
                                      <m:r>
                                        <a:rPr lang="zh-CN" altLang="en-US" sz="1600" i="0">
                                          <a:latin typeface="Cambria Math" panose="02040503050406030204" pitchFamily="18" charset="0"/>
                                        </a:rPr>
                                        <m:t>1</m:t>
                                      </m:r>
                                    </m:e>
                                  </m:mr>
                                  <m:mr>
                                    <m:e>
                                      <m:r>
                                        <a:rPr lang="zh-CN" altLang="en-US" sz="1600" i="0">
                                          <a:latin typeface="Cambria Math" panose="02040503050406030204" pitchFamily="18" charset="0"/>
                                        </a:rPr>
                                        <m:t>0</m:t>
                                      </m:r>
                                    </m:e>
                                    <m:e>
                                      <m:r>
                                        <a:rPr lang="zh-CN" altLang="en-US" sz="1600" i="0">
                                          <a:latin typeface="Cambria Math" panose="02040503050406030204" pitchFamily="18" charset="0"/>
                                        </a:rPr>
                                        <m:t>0</m:t>
                                      </m:r>
                                    </m:e>
                                  </m:mr>
                                </m:m>
                              </m:e>
                              <m:e>
                                <m:m>
                                  <m:mPr>
                                    <m:mcs>
                                      <m:mc>
                                        <m:mcPr>
                                          <m:count m:val="2"/>
                                          <m:mcJc m:val="center"/>
                                        </m:mcPr>
                                      </m:mc>
                                    </m:mcs>
                                    <m:ctrlPr>
                                      <a:rPr lang="zh-CN" altLang="en-US" sz="1600" i="1">
                                        <a:latin typeface="Cambria Math" panose="02040503050406030204" pitchFamily="18" charset="0"/>
                                      </a:rPr>
                                    </m:ctrlPr>
                                  </m:mPr>
                                  <m:mr>
                                    <m:e>
                                      <m:r>
                                        <a:rPr lang="zh-CN" altLang="en-US" sz="1600" i="0">
                                          <a:latin typeface="Cambria Math" panose="02040503050406030204" pitchFamily="18" charset="0"/>
                                        </a:rPr>
                                        <m:t>0</m:t>
                                      </m:r>
                                    </m:e>
                                    <m:e>
                                      <m:r>
                                        <a:rPr lang="zh-CN" altLang="en-US" sz="1600" i="0">
                                          <a:latin typeface="Cambria Math" panose="02040503050406030204" pitchFamily="18" charset="0"/>
                                        </a:rPr>
                                        <m:t>       </m:t>
                                      </m:r>
                                      <m:r>
                                        <a:rPr lang="zh-CN" altLang="en-US" sz="1600" i="1">
                                          <a:latin typeface="Cambria Math" panose="02040503050406030204" pitchFamily="18" charset="0"/>
                                        </a:rPr>
                                        <m:t>𝐻</m:t>
                                      </m:r>
                                      <m:r>
                                        <a:rPr lang="zh-CN" altLang="en-US" sz="1600" i="0">
                                          <a:latin typeface="Cambria Math" panose="02040503050406030204" pitchFamily="18" charset="0"/>
                                        </a:rPr>
                                        <m:t>1−</m:t>
                                      </m:r>
                                      <m:r>
                                        <a:rPr lang="zh-CN" altLang="en-US" sz="1600" i="1">
                                          <a:latin typeface="Cambria Math" panose="02040503050406030204" pitchFamily="18" charset="0"/>
                                        </a:rPr>
                                        <m:t>𝐻</m:t>
                                      </m:r>
                                      <m:r>
                                        <a:rPr lang="zh-CN" altLang="en-US" sz="1600" i="0">
                                          <a:latin typeface="Cambria Math" panose="02040503050406030204" pitchFamily="18" charset="0"/>
                                        </a:rPr>
                                        <m:t>2</m:t>
                                      </m:r>
                                    </m:e>
                                  </m:mr>
                                  <m:mr>
                                    <m:e>
                                      <m:r>
                                        <a:rPr lang="zh-CN" altLang="en-US" sz="1600" i="0">
                                          <a:latin typeface="Cambria Math" panose="02040503050406030204" pitchFamily="18" charset="0"/>
                                        </a:rPr>
                                        <m:t>0</m:t>
                                      </m:r>
                                    </m:e>
                                    <m:e>
                                      <m:r>
                                        <a:rPr lang="zh-CN" altLang="en-US" sz="1600" i="0">
                                          <a:latin typeface="Cambria Math" panose="02040503050406030204" pitchFamily="18" charset="0"/>
                                        </a:rPr>
                                        <m:t>1</m:t>
                                      </m:r>
                                    </m:e>
                                  </m:mr>
                                </m:m>
                              </m:e>
                            </m:mr>
                          </m:m>
                        </m:e>
                      </m:d>
                    </m:oMath>
                  </m:oMathPara>
                </a14:m>
                <a:endParaRPr lang="zh-CN" altLang="en-US" sz="1600" dirty="0"/>
              </a:p>
            </p:txBody>
          </p:sp>
        </mc:Choice>
        <mc:Fallback xmlns="">
          <p:sp>
            <p:nvSpPr>
              <p:cNvPr id="13" name="矩形 12"/>
              <p:cNvSpPr>
                <a:spLocks noRot="1" noChangeAspect="1" noMove="1" noResize="1" noEditPoints="1" noAdjustHandles="1" noChangeArrowheads="1" noChangeShapeType="1" noTextEdit="1"/>
              </p:cNvSpPr>
              <p:nvPr/>
            </p:nvSpPr>
            <p:spPr>
              <a:xfrm>
                <a:off x="5250558" y="1419622"/>
                <a:ext cx="3137333" cy="1031693"/>
              </a:xfrm>
              <a:prstGeom prst="rect">
                <a:avLst/>
              </a:prstGeom>
              <a:blipFill>
                <a:blip r:embed="rId6"/>
                <a:stretch>
                  <a:fillRect/>
                </a:stretch>
              </a:blipFill>
            </p:spPr>
            <p:txBody>
              <a:bodyPr/>
              <a:lstStyle/>
              <a:p>
                <a:r>
                  <a:rPr lang="zh-CN" altLang="en-US">
                    <a:noFill/>
                  </a:rPr>
                  <a:t> </a:t>
                </a:r>
              </a:p>
            </p:txBody>
          </p:sp>
        </mc:Fallback>
      </mc:AlternateContent>
      <p:sp>
        <p:nvSpPr>
          <p:cNvPr id="14" name="矩形 13"/>
          <p:cNvSpPr/>
          <p:nvPr/>
        </p:nvSpPr>
        <p:spPr>
          <a:xfrm>
            <a:off x="5249564" y="1015383"/>
            <a:ext cx="1415772" cy="338554"/>
          </a:xfrm>
          <a:prstGeom prst="rect">
            <a:avLst/>
          </a:prstGeom>
        </p:spPr>
        <p:txBody>
          <a:bodyPr wrap="none">
            <a:spAutoFit/>
          </a:bodyPr>
          <a:lstStyle/>
          <a:p>
            <a:r>
              <a:rPr lang="zh-CN" altLang="zh-CN" sz="1600" dirty="0">
                <a:solidFill>
                  <a:srgbClr val="002060"/>
                </a:solidFill>
              </a:rPr>
              <a:t>初始位姿矩阵</a:t>
            </a:r>
            <a:endParaRPr lang="zh-CN" altLang="en-US" sz="1600" dirty="0">
              <a:solidFill>
                <a:srgbClr val="002060"/>
              </a:solidFill>
            </a:endParaRPr>
          </a:p>
        </p:txBody>
      </p:sp>
      <mc:AlternateContent xmlns:mc="http://schemas.openxmlformats.org/markup-compatibility/2006" xmlns:a14="http://schemas.microsoft.com/office/drawing/2010/main">
        <mc:Choice Requires="a14">
          <p:sp>
            <p:nvSpPr>
              <p:cNvPr id="15" name="矩形 14"/>
              <p:cNvSpPr/>
              <p:nvPr/>
            </p:nvSpPr>
            <p:spPr>
              <a:xfrm>
                <a:off x="4995251" y="3075806"/>
                <a:ext cx="3540841" cy="791755"/>
              </a:xfrm>
              <a:prstGeom prst="rect">
                <a:avLst/>
              </a:prstGeom>
            </p:spPr>
            <p:txBody>
              <a:bodyPr wrap="none">
                <a:spAutoFit/>
              </a:bodyPr>
              <a:lstStyle/>
              <a:p>
                <a:pPr>
                  <a:spcBef>
                    <a:spcPts val="600"/>
                  </a:spcBef>
                  <a:spcAft>
                    <a:spcPts val="600"/>
                  </a:spcAft>
                </a:pPr>
                <a14:m>
                  <m:oMath xmlns:m="http://schemas.openxmlformats.org/officeDocument/2006/math">
                    <m:r>
                      <a:rPr lang="en-US" altLang="zh-CN" sz="1600" i="1">
                        <a:latin typeface="Cambria Math" panose="02040503050406030204" pitchFamily="18" charset="0"/>
                        <a:cs typeface="宋体" panose="02010600030101010101" pitchFamily="2" charset="-122"/>
                      </a:rPr>
                      <m:t>𝑅</m:t>
                    </m:r>
                    <m:r>
                      <a:rPr lang="en-US" altLang="zh-CN" sz="1600" i="1">
                        <a:latin typeface="Cambria Math" panose="02040503050406030204" pitchFamily="18" charset="0"/>
                        <a:cs typeface="宋体" panose="02010600030101010101" pitchFamily="2" charset="-122"/>
                      </a:rPr>
                      <m:t>=</m:t>
                    </m:r>
                    <m:d>
                      <m:dPr>
                        <m:begChr m:val="["/>
                        <m:endChr m:val="]"/>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dPr>
                      <m:e>
                        <m:m>
                          <m:mPr>
                            <m:mcs>
                              <m:mc>
                                <m:mcPr>
                                  <m:count m:val="3"/>
                                  <m:mcJc m:val="center"/>
                                </m:mcPr>
                              </m:mc>
                            </m:mcs>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mPr>
                          <m:mr>
                            <m:e>
                              <m:r>
                                <a:rPr lang="en-US" altLang="zh-CN" sz="1600" i="1">
                                  <a:latin typeface="Cambria Math" panose="02040503050406030204" pitchFamily="18" charset="0"/>
                                  <a:cs typeface="宋体" panose="02010600030101010101" pitchFamily="2" charset="-122"/>
                                </a:rPr>
                                <m:t>1</m:t>
                              </m:r>
                            </m:e>
                            <m:e>
                              <m:r>
                                <a:rPr lang="en-US" altLang="zh-CN" sz="1600" i="1">
                                  <a:latin typeface="Cambria Math" panose="02040503050406030204" pitchFamily="18" charset="0"/>
                                  <a:cs typeface="宋体" panose="02010600030101010101" pitchFamily="2" charset="-122"/>
                                </a:rPr>
                                <m:t>0</m:t>
                              </m:r>
                            </m:e>
                            <m:e>
                              <m:r>
                                <a:rPr lang="en-US" altLang="zh-CN" sz="1600" i="1">
                                  <a:latin typeface="Cambria Math" panose="02040503050406030204" pitchFamily="18" charset="0"/>
                                  <a:cs typeface="宋体" panose="02010600030101010101" pitchFamily="2" charset="-122"/>
                                </a:rPr>
                                <m:t>0</m:t>
                              </m:r>
                            </m:e>
                          </m:mr>
                          <m:mr>
                            <m:e>
                              <m:r>
                                <a:rPr lang="en-US" altLang="zh-CN" sz="1600" i="1">
                                  <a:latin typeface="Cambria Math" panose="02040503050406030204" pitchFamily="18" charset="0"/>
                                  <a:cs typeface="宋体" panose="02010600030101010101" pitchFamily="2" charset="-122"/>
                                </a:rPr>
                                <m:t>0</m:t>
                              </m:r>
                            </m:e>
                            <m:e>
                              <m:func>
                                <m:func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funcPr>
                                <m:fName>
                                  <m:r>
                                    <m:rPr>
                                      <m:sty m:val="p"/>
                                    </m:rPr>
                                    <a:rPr lang="en-US" altLang="zh-CN" sz="1600">
                                      <a:latin typeface="Cambria Math" panose="02040503050406030204" pitchFamily="18" charset="0"/>
                                      <a:cs typeface="宋体" panose="02010600030101010101" pitchFamily="2" charset="-122"/>
                                    </a:rPr>
                                    <m:t>cos</m:t>
                                  </m:r>
                                </m:fName>
                                <m:e>
                                  <m:r>
                                    <a:rPr lang="en-US" altLang="zh-CN" sz="1600" i="1">
                                      <a:latin typeface="Cambria Math" panose="02040503050406030204" pitchFamily="18" charset="0"/>
                                      <a:cs typeface="宋体" panose="02010600030101010101" pitchFamily="2" charset="-122"/>
                                    </a:rPr>
                                    <m:t>𝜑</m:t>
                                  </m:r>
                                </m:e>
                              </m:func>
                            </m:e>
                            <m:e>
                              <m:r>
                                <a:rPr lang="en-US" altLang="zh-CN" sz="1600" i="1">
                                  <a:latin typeface="Cambria Math" panose="02040503050406030204" pitchFamily="18" charset="0"/>
                                  <a:cs typeface="宋体" panose="02010600030101010101" pitchFamily="2" charset="-122"/>
                                </a:rPr>
                                <m:t>−</m:t>
                              </m:r>
                              <m:func>
                                <m:func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funcPr>
                                <m:fName>
                                  <m:r>
                                    <m:rPr>
                                      <m:sty m:val="p"/>
                                    </m:rPr>
                                    <a:rPr lang="en-US" altLang="zh-CN" sz="1600">
                                      <a:latin typeface="Cambria Math" panose="02040503050406030204" pitchFamily="18" charset="0"/>
                                      <a:cs typeface="宋体" panose="02010600030101010101" pitchFamily="2" charset="-122"/>
                                    </a:rPr>
                                    <m:t>sin</m:t>
                                  </m:r>
                                </m:fName>
                                <m:e>
                                  <m:r>
                                    <a:rPr lang="en-US" altLang="zh-CN" sz="1600" i="1">
                                      <a:latin typeface="Cambria Math" panose="02040503050406030204" pitchFamily="18" charset="0"/>
                                      <a:cs typeface="宋体" panose="02010600030101010101" pitchFamily="2" charset="-122"/>
                                    </a:rPr>
                                    <m:t>𝜑</m:t>
                                  </m:r>
                                </m:e>
                              </m:func>
                            </m:e>
                          </m:mr>
                          <m:mr>
                            <m:e>
                              <m:r>
                                <a:rPr lang="en-US" altLang="zh-CN" sz="1600" i="1">
                                  <a:latin typeface="Cambria Math" panose="02040503050406030204" pitchFamily="18" charset="0"/>
                                  <a:cs typeface="宋体" panose="02010600030101010101" pitchFamily="2" charset="-122"/>
                                </a:rPr>
                                <m:t>0</m:t>
                              </m:r>
                            </m:e>
                            <m:e>
                              <m:func>
                                <m:func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funcPr>
                                <m:fName>
                                  <m:r>
                                    <m:rPr>
                                      <m:sty m:val="p"/>
                                    </m:rPr>
                                    <a:rPr lang="en-US" altLang="zh-CN" sz="1600">
                                      <a:latin typeface="Cambria Math" panose="02040503050406030204" pitchFamily="18" charset="0"/>
                                      <a:cs typeface="宋体" panose="02010600030101010101" pitchFamily="2" charset="-122"/>
                                    </a:rPr>
                                    <m:t>sin</m:t>
                                  </m:r>
                                </m:fName>
                                <m:e>
                                  <m:r>
                                    <a:rPr lang="en-US" altLang="zh-CN" sz="1600" i="1">
                                      <a:latin typeface="Cambria Math" panose="02040503050406030204" pitchFamily="18" charset="0"/>
                                      <a:cs typeface="宋体" panose="02010600030101010101" pitchFamily="2" charset="-122"/>
                                    </a:rPr>
                                    <m:t>𝜑</m:t>
                                  </m:r>
                                </m:e>
                              </m:func>
                            </m:e>
                            <m:e>
                              <m:func>
                                <m:func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funcPr>
                                <m:fName>
                                  <m:r>
                                    <m:rPr>
                                      <m:sty m:val="p"/>
                                    </m:rPr>
                                    <a:rPr lang="en-US" altLang="zh-CN" sz="1600">
                                      <a:latin typeface="Cambria Math" panose="02040503050406030204" pitchFamily="18" charset="0"/>
                                      <a:cs typeface="宋体" panose="02010600030101010101" pitchFamily="2" charset="-122"/>
                                    </a:rPr>
                                    <m:t>cos</m:t>
                                  </m:r>
                                </m:fName>
                                <m:e>
                                  <m:r>
                                    <a:rPr lang="en-US" altLang="zh-CN" sz="1600" i="1">
                                      <a:latin typeface="Cambria Math" panose="02040503050406030204" pitchFamily="18" charset="0"/>
                                      <a:cs typeface="宋体" panose="02010600030101010101" pitchFamily="2" charset="-122"/>
                                    </a:rPr>
                                    <m:t>𝜑</m:t>
                                  </m:r>
                                </m:e>
                              </m:func>
                            </m:e>
                          </m:mr>
                        </m:m>
                      </m:e>
                    </m:d>
                  </m:oMath>
                </a14:m>
                <a:r>
                  <a:rPr lang="en-US" altLang="zh-CN" sz="1600" dirty="0">
                    <a:latin typeface="宋体" panose="02010600030101010101" pitchFamily="2" charset="-122"/>
                    <a:cs typeface="宋体" panose="02010600030101010101" pitchFamily="2" charset="-122"/>
                  </a:rPr>
                  <a:t>=</a:t>
                </a:r>
                <a14:m>
                  <m:oMath xmlns:m="http://schemas.openxmlformats.org/officeDocument/2006/math">
                    <m:d>
                      <m:dPr>
                        <m:begChr m:val="["/>
                        <m:endChr m:val="]"/>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dPr>
                      <m:e>
                        <m:m>
                          <m:mPr>
                            <m:mcs>
                              <m:mc>
                                <m:mcPr>
                                  <m:count m:val="3"/>
                                  <m:mcJc m:val="center"/>
                                </m:mcPr>
                              </m:mc>
                            </m:mcs>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mPr>
                          <m:mr>
                            <m:e>
                              <m:r>
                                <a:rPr lang="en-US" altLang="zh-CN" sz="1600" i="1">
                                  <a:latin typeface="Cambria Math" panose="02040503050406030204" pitchFamily="18" charset="0"/>
                                  <a:cs typeface="宋体" panose="02010600030101010101" pitchFamily="2" charset="-122"/>
                                </a:rPr>
                                <m:t>1</m:t>
                              </m:r>
                            </m:e>
                            <m:e>
                              <m:r>
                                <a:rPr lang="en-US" altLang="zh-CN" sz="1600" i="1">
                                  <a:latin typeface="Cambria Math" panose="02040503050406030204" pitchFamily="18" charset="0"/>
                                  <a:cs typeface="宋体" panose="02010600030101010101" pitchFamily="2" charset="-122"/>
                                </a:rPr>
                                <m:t>0</m:t>
                              </m:r>
                            </m:e>
                            <m:e>
                              <m:r>
                                <a:rPr lang="en-US" altLang="zh-CN" sz="1600" i="1">
                                  <a:latin typeface="Cambria Math" panose="02040503050406030204" pitchFamily="18" charset="0"/>
                                  <a:cs typeface="宋体" panose="02010600030101010101" pitchFamily="2" charset="-122"/>
                                </a:rPr>
                                <m:t>0</m:t>
                              </m:r>
                            </m:e>
                          </m:mr>
                          <m:mr>
                            <m:e>
                              <m:r>
                                <a:rPr lang="en-US" altLang="zh-CN" sz="1600" i="1">
                                  <a:latin typeface="Cambria Math" panose="02040503050406030204" pitchFamily="18" charset="0"/>
                                  <a:cs typeface="宋体" panose="02010600030101010101" pitchFamily="2" charset="-122"/>
                                </a:rPr>
                                <m:t>0</m:t>
                              </m:r>
                            </m:e>
                            <m:e>
                              <m:r>
                                <a:rPr lang="en-US" altLang="zh-CN" sz="1600" i="1">
                                  <a:latin typeface="Cambria Math" panose="02040503050406030204" pitchFamily="18" charset="0"/>
                                  <a:cs typeface="宋体" panose="02010600030101010101" pitchFamily="2" charset="-122"/>
                                </a:rPr>
                                <m:t>0</m:t>
                              </m:r>
                            </m:e>
                            <m:e>
                              <m:r>
                                <a:rPr lang="en-US" altLang="zh-CN" sz="1600" i="1">
                                  <a:latin typeface="Cambria Math" panose="02040503050406030204" pitchFamily="18" charset="0"/>
                                  <a:cs typeface="宋体" panose="02010600030101010101" pitchFamily="2" charset="-122"/>
                                </a:rPr>
                                <m:t>−1</m:t>
                              </m:r>
                            </m:e>
                          </m:mr>
                          <m:mr>
                            <m:e>
                              <m:r>
                                <a:rPr lang="en-US" altLang="zh-CN" sz="1600" i="1">
                                  <a:latin typeface="Cambria Math" panose="02040503050406030204" pitchFamily="18" charset="0"/>
                                  <a:cs typeface="宋体" panose="02010600030101010101" pitchFamily="2" charset="-122"/>
                                </a:rPr>
                                <m:t>0</m:t>
                              </m:r>
                            </m:e>
                            <m:e>
                              <m:r>
                                <a:rPr lang="en-US" altLang="zh-CN" sz="1600" i="1">
                                  <a:latin typeface="Cambria Math" panose="02040503050406030204" pitchFamily="18" charset="0"/>
                                  <a:cs typeface="宋体" panose="02010600030101010101" pitchFamily="2" charset="-122"/>
                                </a:rPr>
                                <m:t>1</m:t>
                              </m:r>
                            </m:e>
                            <m:e>
                              <m:r>
                                <a:rPr lang="en-US" altLang="zh-CN" sz="1600" i="1">
                                  <a:latin typeface="Cambria Math" panose="02040503050406030204" pitchFamily="18" charset="0"/>
                                  <a:cs typeface="宋体" panose="02010600030101010101" pitchFamily="2" charset="-122"/>
                                </a:rPr>
                                <m:t>0</m:t>
                              </m:r>
                            </m:e>
                          </m:mr>
                        </m:m>
                      </m:e>
                    </m:d>
                  </m:oMath>
                </a14:m>
                <a:endParaRPr lang="zh-CN" altLang="zh-CN" sz="1600" dirty="0">
                  <a:latin typeface="宋体" panose="02010600030101010101" pitchFamily="2" charset="-122"/>
                  <a:cs typeface="宋体" panose="02010600030101010101" pitchFamily="2" charset="-122"/>
                </a:endParaRPr>
              </a:p>
            </p:txBody>
          </p:sp>
        </mc:Choice>
        <mc:Fallback xmlns="">
          <p:sp>
            <p:nvSpPr>
              <p:cNvPr id="15" name="矩形 14"/>
              <p:cNvSpPr>
                <a:spLocks noRot="1" noChangeAspect="1" noMove="1" noResize="1" noEditPoints="1" noAdjustHandles="1" noChangeArrowheads="1" noChangeShapeType="1" noTextEdit="1"/>
              </p:cNvSpPr>
              <p:nvPr/>
            </p:nvSpPr>
            <p:spPr>
              <a:xfrm>
                <a:off x="4995251" y="3075806"/>
                <a:ext cx="3540841" cy="791755"/>
              </a:xfrm>
              <a:prstGeom prst="rect">
                <a:avLst/>
              </a:prstGeom>
              <a:blipFill>
                <a:blip r:embed="rId7"/>
                <a:stretch>
                  <a:fillRect/>
                </a:stretch>
              </a:blipFill>
            </p:spPr>
            <p:txBody>
              <a:bodyPr/>
              <a:lstStyle/>
              <a:p>
                <a:r>
                  <a:rPr lang="zh-CN" altLang="en-US">
                    <a:noFill/>
                  </a:rPr>
                  <a:t> </a:t>
                </a:r>
              </a:p>
            </p:txBody>
          </p:sp>
        </mc:Fallback>
      </mc:AlternateContent>
      <p:sp>
        <p:nvSpPr>
          <p:cNvPr id="16" name="矩形 15"/>
          <p:cNvSpPr/>
          <p:nvPr/>
        </p:nvSpPr>
        <p:spPr>
          <a:xfrm>
            <a:off x="5403452" y="2619898"/>
            <a:ext cx="1005403" cy="338554"/>
          </a:xfrm>
          <a:prstGeom prst="rect">
            <a:avLst/>
          </a:prstGeom>
        </p:spPr>
        <p:txBody>
          <a:bodyPr wrap="none">
            <a:spAutoFit/>
          </a:bodyPr>
          <a:lstStyle/>
          <a:p>
            <a:r>
              <a:rPr lang="zh-CN" altLang="zh-CN" sz="1600" dirty="0">
                <a:solidFill>
                  <a:srgbClr val="002060"/>
                </a:solidFill>
                <a:ea typeface="等线" panose="02010600030101010101" pitchFamily="2" charset="-122"/>
                <a:cs typeface="Times New Roman" panose="02020603050405020304" pitchFamily="18" charset="0"/>
              </a:rPr>
              <a:t>姿态矩阵</a:t>
            </a:r>
            <a:endParaRPr lang="zh-CN" altLang="en-US" sz="1600" dirty="0">
              <a:solidFill>
                <a:srgbClr val="002060"/>
              </a:solidFill>
            </a:endParaRPr>
          </a:p>
        </p:txBody>
      </p:sp>
      <mc:AlternateContent xmlns:mc="http://schemas.openxmlformats.org/markup-compatibility/2006" xmlns:a14="http://schemas.microsoft.com/office/drawing/2010/main">
        <mc:Choice Requires="a14">
          <p:sp>
            <p:nvSpPr>
              <p:cNvPr id="18" name="矩形 17"/>
              <p:cNvSpPr/>
              <p:nvPr/>
            </p:nvSpPr>
            <p:spPr>
              <a:xfrm>
                <a:off x="5403452" y="4240284"/>
                <a:ext cx="2034211" cy="5035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𝑆</m:t>
                          </m:r>
                        </m:e>
                        <m:sub>
                          <m:r>
                            <a:rPr lang="zh-CN" altLang="en-US" sz="1600" i="1">
                              <a:latin typeface="Cambria Math" panose="02040503050406030204" pitchFamily="18" charset="0"/>
                            </a:rPr>
                            <m:t>𝑖</m:t>
                          </m:r>
                        </m:sub>
                      </m:sSub>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m>
                            <m:mPr>
                              <m:mcs>
                                <m:mc>
                                  <m:mcPr>
                                    <m:count m:val="1"/>
                                    <m:mcJc m:val="center"/>
                                  </m:mcPr>
                                </m:mc>
                              </m:mcs>
                              <m:ctrlPr>
                                <a:rPr lang="zh-CN" altLang="en-US" sz="1600" i="1">
                                  <a:latin typeface="Cambria Math" panose="02040503050406030204" pitchFamily="18" charset="0"/>
                                </a:rPr>
                              </m:ctrlPr>
                            </m:mP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𝜐</m:t>
                                    </m:r>
                                  </m:e>
                                  <m:sub>
                                    <m:r>
                                      <a:rPr lang="zh-CN" altLang="en-US" sz="1600" i="1">
                                        <a:latin typeface="Cambria Math" panose="02040503050406030204" pitchFamily="18" charset="0"/>
                                      </a:rPr>
                                      <m:t>𝑖</m:t>
                                    </m:r>
                                  </m:sub>
                                </m:sSub>
                              </m:e>
                            </m:m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𝜔</m:t>
                                    </m:r>
                                  </m:e>
                                  <m:sub>
                                    <m:r>
                                      <a:rPr lang="zh-CN" altLang="en-US" sz="1600" i="1">
                                        <a:latin typeface="Cambria Math" panose="02040503050406030204" pitchFamily="18" charset="0"/>
                                      </a:rPr>
                                      <m:t>𝑖</m:t>
                                    </m:r>
                                  </m:sub>
                                </m:sSub>
                              </m:e>
                            </m:mr>
                          </m:m>
                        </m:e>
                      </m:d>
                      <m:r>
                        <a:rPr lang="zh-CN" altLang="en-US" sz="1600" i="0">
                          <a:latin typeface="Cambria Math" panose="02040503050406030204" pitchFamily="18" charset="0"/>
                        </a:rPr>
                        <m:t> ∈</m:t>
                      </m:r>
                      <m:r>
                        <a:rPr lang="zh-CN" altLang="en-US" sz="1600" i="1">
                          <a:latin typeface="Cambria Math" panose="02040503050406030204" pitchFamily="18" charset="0"/>
                        </a:rPr>
                        <m:t>𝑅</m:t>
                      </m:r>
                      <m:r>
                        <m:rPr>
                          <m:lit/>
                        </m:rPr>
                        <a:rPr lang="zh-CN" altLang="en-US" sz="1600" i="0">
                          <a:latin typeface="Cambria Math" panose="02040503050406030204" pitchFamily="18" charset="0"/>
                        </a:rPr>
                        <m:t>^</m:t>
                      </m:r>
                      <m:r>
                        <a:rPr lang="zh-CN" altLang="en-US" sz="1600" i="0">
                          <a:latin typeface="Cambria Math" panose="02040503050406030204" pitchFamily="18" charset="0"/>
                        </a:rPr>
                        <m:t>6×1</m:t>
                      </m:r>
                    </m:oMath>
                  </m:oMathPara>
                </a14:m>
                <a:endParaRPr lang="zh-CN" altLang="en-US" sz="1600" dirty="0"/>
              </a:p>
            </p:txBody>
          </p:sp>
        </mc:Choice>
        <mc:Fallback xmlns="">
          <p:sp>
            <p:nvSpPr>
              <p:cNvPr id="18" name="矩形 17"/>
              <p:cNvSpPr>
                <a:spLocks noRot="1" noChangeAspect="1" noMove="1" noResize="1" noEditPoints="1" noAdjustHandles="1" noChangeArrowheads="1" noChangeShapeType="1" noTextEdit="1"/>
              </p:cNvSpPr>
              <p:nvPr/>
            </p:nvSpPr>
            <p:spPr>
              <a:xfrm>
                <a:off x="5403452" y="4240284"/>
                <a:ext cx="2034211" cy="503536"/>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5245457" y="3875986"/>
                <a:ext cx="2322174" cy="338554"/>
              </a:xfrm>
              <a:prstGeom prst="rect">
                <a:avLst/>
              </a:prstGeom>
            </p:spPr>
            <p:txBody>
              <a:bodyPr wrap="none">
                <a:spAutoFit/>
              </a:bodyPr>
              <a:lstStyle/>
              <a:p>
                <a14:m>
                  <m:oMath xmlns:m="http://schemas.openxmlformats.org/officeDocument/2006/math">
                    <m:sSub>
                      <m:sSubPr>
                        <m:ctrlPr>
                          <a:rPr lang="zh-CN" altLang="zh-CN" sz="1600" i="1" smtClean="0">
                            <a:solidFill>
                              <a:srgbClr val="002060"/>
                            </a:solidFill>
                            <a:latin typeface="Cambria Math" panose="02040503050406030204" pitchFamily="18" charset="0"/>
                            <a:ea typeface="Cambria Math" panose="02040503050406030204" pitchFamily="18" charset="0"/>
                          </a:rPr>
                        </m:ctrlPr>
                      </m:sSubPr>
                      <m:e>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𝑆</m:t>
                        </m:r>
                      </m:e>
                      <m:sub>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𝑖</m:t>
                        </m:r>
                      </m:sub>
                    </m:sSub>
                  </m:oMath>
                </a14:m>
                <a:r>
                  <a:rPr lang="zh-CN" altLang="zh-CN" sz="1600" dirty="0" smtClean="0">
                    <a:solidFill>
                      <a:srgbClr val="002060"/>
                    </a:solidFill>
                    <a:ea typeface="等线" panose="02010600030101010101" pitchFamily="2" charset="-122"/>
                    <a:cs typeface="Times New Roman" panose="02020603050405020304" pitchFamily="18" charset="0"/>
                  </a:rPr>
                  <a:t>旋转轴运动</a:t>
                </a:r>
                <a:r>
                  <a:rPr lang="zh-CN" altLang="zh-CN" sz="1600" dirty="0">
                    <a:solidFill>
                      <a:srgbClr val="002060"/>
                    </a:solidFill>
                    <a:ea typeface="等线" panose="02010600030101010101" pitchFamily="2" charset="-122"/>
                    <a:cs typeface="Times New Roman" panose="02020603050405020304" pitchFamily="18" charset="0"/>
                  </a:rPr>
                  <a:t>旋量</a:t>
                </a:r>
                <a:r>
                  <a:rPr lang="en-US" altLang="zh-CN" sz="1600" dirty="0">
                    <a:solidFill>
                      <a:srgbClr val="002060"/>
                    </a:solidFill>
                    <a:ea typeface="等线" panose="02010600030101010101" pitchFamily="2" charset="-122"/>
                    <a:cs typeface="Times New Roman" panose="02020603050405020304" pitchFamily="18" charset="0"/>
                  </a:rPr>
                  <a:t>(twist)</a:t>
                </a:r>
                <a:endParaRPr lang="zh-CN" altLang="en-US" sz="1600" dirty="0">
                  <a:solidFill>
                    <a:srgbClr val="002060"/>
                  </a:solidFill>
                </a:endParaRPr>
              </a:p>
            </p:txBody>
          </p:sp>
        </mc:Choice>
        <mc:Fallback xmlns="">
          <p:sp>
            <p:nvSpPr>
              <p:cNvPr id="19" name="矩形 18"/>
              <p:cNvSpPr>
                <a:spLocks noRot="1" noChangeAspect="1" noMove="1" noResize="1" noEditPoints="1" noAdjustHandles="1" noChangeArrowheads="1" noChangeShapeType="1" noTextEdit="1"/>
              </p:cNvSpPr>
              <p:nvPr/>
            </p:nvSpPr>
            <p:spPr>
              <a:xfrm>
                <a:off x="5245457" y="3875986"/>
                <a:ext cx="2322174" cy="338554"/>
              </a:xfrm>
              <a:prstGeom prst="rect">
                <a:avLst/>
              </a:prstGeom>
              <a:blipFill>
                <a:blip r:embed="rId9"/>
                <a:stretch>
                  <a:fillRect t="-5455" b="-2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横卷形 19"/>
              <p:cNvSpPr/>
              <p:nvPr/>
            </p:nvSpPr>
            <p:spPr>
              <a:xfrm>
                <a:off x="7380313" y="4227517"/>
                <a:ext cx="1454208" cy="648072"/>
              </a:xfrm>
              <a:prstGeom prst="horizontalScroll">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2060"/>
                    </a:solidFill>
                  </a:rPr>
                  <a:t>如何求</a:t>
                </a:r>
                <a14:m>
                  <m:oMath xmlns:m="http://schemas.openxmlformats.org/officeDocument/2006/math">
                    <m:sSub>
                      <m:sSubPr>
                        <m:ctrlPr>
                          <a:rPr lang="zh-CN" altLang="en-US" i="1">
                            <a:solidFill>
                              <a:srgbClr val="002060"/>
                            </a:solidFill>
                            <a:latin typeface="Cambria Math" panose="02040503050406030204" pitchFamily="18" charset="0"/>
                          </a:rPr>
                        </m:ctrlPr>
                      </m:sSubPr>
                      <m:e>
                        <m:r>
                          <a:rPr lang="zh-CN" altLang="en-US" i="1">
                            <a:solidFill>
                              <a:srgbClr val="002060"/>
                            </a:solidFill>
                            <a:latin typeface="Cambria Math" panose="02040503050406030204" pitchFamily="18" charset="0"/>
                          </a:rPr>
                          <m:t>𝑆</m:t>
                        </m:r>
                      </m:e>
                      <m:sub>
                        <m:r>
                          <a:rPr lang="zh-CN" altLang="en-US" i="1">
                            <a:solidFill>
                              <a:srgbClr val="002060"/>
                            </a:solidFill>
                            <a:latin typeface="Cambria Math" panose="02040503050406030204" pitchFamily="18" charset="0"/>
                          </a:rPr>
                          <m:t>𝑖</m:t>
                        </m:r>
                      </m:sub>
                    </m:sSub>
                  </m:oMath>
                </a14:m>
                <a:r>
                  <a:rPr lang="zh-CN" altLang="en-US" dirty="0" smtClean="0">
                    <a:solidFill>
                      <a:srgbClr val="002060"/>
                    </a:solidFill>
                  </a:rPr>
                  <a:t>？</a:t>
                </a:r>
                <a:endParaRPr lang="zh-CN" altLang="en-US" dirty="0">
                  <a:solidFill>
                    <a:srgbClr val="002060"/>
                  </a:solidFill>
                </a:endParaRPr>
              </a:p>
            </p:txBody>
          </p:sp>
        </mc:Choice>
        <mc:Fallback xmlns="">
          <p:sp>
            <p:nvSpPr>
              <p:cNvPr id="20" name="横卷形 19"/>
              <p:cNvSpPr>
                <a:spLocks noRot="1" noChangeAspect="1" noMove="1" noResize="1" noEditPoints="1" noAdjustHandles="1" noChangeArrowheads="1" noChangeShapeType="1" noTextEdit="1"/>
              </p:cNvSpPr>
              <p:nvPr/>
            </p:nvSpPr>
            <p:spPr>
              <a:xfrm>
                <a:off x="7380313" y="4227517"/>
                <a:ext cx="1454208" cy="648072"/>
              </a:xfrm>
              <a:prstGeom prst="horizontalScroll">
                <a:avLst/>
              </a:prstGeom>
              <a:blipFill>
                <a:blip r:embed="rId10"/>
                <a:stretch>
                  <a:fillRect/>
                </a:stretch>
              </a:blipFill>
              <a:ln>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35173839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Twist Method</a:t>
              </a:r>
              <a:endParaRPr lang="zh-CN" altLang="en-US" sz="1000" dirty="0">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旋量法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10" name="对象 9"/>
          <p:cNvGraphicFramePr>
            <a:graphicFrameLocks noChangeAspect="1"/>
          </p:cNvGraphicFramePr>
          <p:nvPr/>
        </p:nvGraphicFramePr>
        <p:xfrm>
          <a:off x="507365" y="1015383"/>
          <a:ext cx="4410075" cy="3638550"/>
        </p:xfrm>
        <a:graphic>
          <a:graphicData uri="http://schemas.openxmlformats.org/presentationml/2006/ole">
            <mc:AlternateContent xmlns:mc="http://schemas.openxmlformats.org/markup-compatibility/2006">
              <mc:Choice xmlns:v="urn:schemas-microsoft-com:vml" Requires="v">
                <p:oleObj spid="_x0000_s17509" name="Visio" r:id="rId4" imgW="6790500" imgH="5599891" progId="Visio.Drawing.11">
                  <p:embed/>
                </p:oleObj>
              </mc:Choice>
              <mc:Fallback>
                <p:oleObj name="Visio" r:id="rId4" imgW="6790500" imgH="5599891" progId="Visio.Drawing.11">
                  <p:embed/>
                  <p:pic>
                    <p:nvPicPr>
                      <p:cNvPr id="10" name="对象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365" y="1015383"/>
                        <a:ext cx="4410075" cy="3638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文本框 10"/>
          <p:cNvSpPr txBox="1"/>
          <p:nvPr/>
        </p:nvSpPr>
        <p:spPr>
          <a:xfrm>
            <a:off x="4028704" y="641335"/>
            <a:ext cx="1217000" cy="400110"/>
          </a:xfrm>
          <a:prstGeom prst="rect">
            <a:avLst/>
          </a:prstGeom>
          <a:noFill/>
        </p:spPr>
        <p:txBody>
          <a:bodyPr wrap="none" rtlCol="0">
            <a:spAutoFit/>
          </a:bodyPr>
          <a:lstStyle/>
          <a:p>
            <a:r>
              <a:rPr lang="zh-CN" altLang="en-US" sz="2000" b="1" dirty="0" smtClean="0">
                <a:solidFill>
                  <a:srgbClr val="002060"/>
                </a:solidFill>
              </a:rPr>
              <a:t>实例讲解</a:t>
            </a:r>
            <a:endParaRPr lang="zh-CN" altLang="en-US" sz="2000" b="1" dirty="0">
              <a:solidFill>
                <a:srgbClr val="002060"/>
              </a:solidFill>
            </a:endParaRPr>
          </a:p>
        </p:txBody>
      </p:sp>
      <p:sp>
        <p:nvSpPr>
          <p:cNvPr id="12" name="矩形 11"/>
          <p:cNvSpPr/>
          <p:nvPr/>
        </p:nvSpPr>
        <p:spPr>
          <a:xfrm>
            <a:off x="502232" y="4626561"/>
            <a:ext cx="4572000" cy="553998"/>
          </a:xfrm>
          <a:prstGeom prst="rect">
            <a:avLst/>
          </a:prstGeom>
        </p:spPr>
        <p:txBody>
          <a:bodyPr>
            <a:spAutoFit/>
          </a:bodyPr>
          <a:lstStyle/>
          <a:p>
            <a:r>
              <a:rPr lang="en-US" altLang="zh-CN" sz="1000" b="1" dirty="0">
                <a:solidFill>
                  <a:srgbClr val="002060"/>
                </a:solidFill>
                <a:latin typeface="等线" panose="02010600030101010101" pitchFamily="2" charset="-122"/>
                <a:cs typeface="Times New Roman" panose="02020603050405020304" pitchFamily="18" charset="0"/>
              </a:rPr>
              <a:t>AUBO-i5</a:t>
            </a:r>
            <a:r>
              <a:rPr lang="zh-CN" altLang="zh-CN" sz="1000" b="1" dirty="0">
                <a:solidFill>
                  <a:srgbClr val="002060"/>
                </a:solidFill>
                <a:ea typeface="等线" panose="02010600030101010101" pitchFamily="2" charset="-122"/>
                <a:cs typeface="Times New Roman" panose="02020603050405020304" pitchFamily="18" charset="0"/>
              </a:rPr>
              <a:t>螺旋轴表示法</a:t>
            </a:r>
            <a:r>
              <a:rPr lang="en-US" altLang="zh-CN" sz="1000" b="1" dirty="0">
                <a:solidFill>
                  <a:srgbClr val="002060"/>
                </a:solidFill>
                <a:ea typeface="等线" panose="02010600030101010101" pitchFamily="2" charset="-122"/>
                <a:cs typeface="Times New Roman" panose="02020603050405020304" pitchFamily="18" charset="0"/>
              </a:rPr>
              <a:t>, </a:t>
            </a:r>
            <a:r>
              <a:rPr lang="zh-CN" altLang="zh-CN" sz="1000" b="1" dirty="0">
                <a:solidFill>
                  <a:srgbClr val="002060"/>
                </a:solidFill>
                <a:ea typeface="等线" panose="02010600030101010101" pitchFamily="2" charset="-122"/>
                <a:cs typeface="Times New Roman" panose="02020603050405020304" pitchFamily="18" charset="0"/>
              </a:rPr>
              <a:t>右手法则表示正转，</a:t>
            </a:r>
            <a:r>
              <a:rPr lang="en-US" altLang="zh-CN" sz="1000" b="1" dirty="0">
                <a:solidFill>
                  <a:srgbClr val="002060"/>
                </a:solidFill>
                <a:ea typeface="等线" panose="02010600030101010101" pitchFamily="2" charset="-122"/>
                <a:cs typeface="Times New Roman" panose="02020603050405020304" pitchFamily="18" charset="0"/>
              </a:rPr>
              <a:t>W1</a:t>
            </a:r>
            <a:r>
              <a:rPr lang="zh-CN" altLang="zh-CN" sz="1000" b="1" dirty="0">
                <a:solidFill>
                  <a:srgbClr val="002060"/>
                </a:solidFill>
                <a:ea typeface="等线" panose="02010600030101010101" pitchFamily="2" charset="-122"/>
                <a:cs typeface="Times New Roman" panose="02020603050405020304" pitchFamily="18" charset="0"/>
              </a:rPr>
              <a:t>为</a:t>
            </a:r>
            <a:r>
              <a:rPr lang="en-US" altLang="zh-CN" sz="1000" b="1" dirty="0">
                <a:solidFill>
                  <a:srgbClr val="002060"/>
                </a:solidFill>
                <a:ea typeface="等线" panose="02010600030101010101" pitchFamily="2" charset="-122"/>
                <a:cs typeface="Times New Roman" panose="02020603050405020304" pitchFamily="18" charset="0"/>
              </a:rPr>
              <a:t>S1</a:t>
            </a:r>
            <a:r>
              <a:rPr lang="zh-CN" altLang="zh-CN" sz="1000" b="1" dirty="0">
                <a:solidFill>
                  <a:srgbClr val="002060"/>
                </a:solidFill>
                <a:ea typeface="等线" panose="02010600030101010101" pitchFamily="2" charset="-122"/>
                <a:cs typeface="Times New Roman" panose="02020603050405020304" pitchFamily="18" charset="0"/>
              </a:rPr>
              <a:t>螺旋轴与</a:t>
            </a:r>
            <a:r>
              <a:rPr lang="en-US" altLang="zh-CN" sz="1000" b="1" dirty="0">
                <a:solidFill>
                  <a:srgbClr val="002060"/>
                </a:solidFill>
                <a:ea typeface="等线" panose="02010600030101010101" pitchFamily="2" charset="-122"/>
                <a:cs typeface="Times New Roman" panose="02020603050405020304" pitchFamily="18" charset="0"/>
              </a:rPr>
              <a:t>S5</a:t>
            </a:r>
            <a:r>
              <a:rPr lang="zh-CN" altLang="zh-CN" sz="1000" b="1" dirty="0">
                <a:solidFill>
                  <a:srgbClr val="002060"/>
                </a:solidFill>
                <a:ea typeface="等线" panose="02010600030101010101" pitchFamily="2" charset="-122"/>
                <a:cs typeface="Times New Roman" panose="02020603050405020304" pitchFamily="18" charset="0"/>
              </a:rPr>
              <a:t>螺旋轴之间的距离，</a:t>
            </a:r>
            <a:r>
              <a:rPr lang="en-US" altLang="zh-CN" sz="1000" b="1" dirty="0">
                <a:solidFill>
                  <a:srgbClr val="002060"/>
                </a:solidFill>
                <a:ea typeface="等线" panose="02010600030101010101" pitchFamily="2" charset="-122"/>
                <a:cs typeface="Times New Roman" panose="02020603050405020304" pitchFamily="18" charset="0"/>
              </a:rPr>
              <a:t>L1=0.408m</a:t>
            </a:r>
            <a:r>
              <a:rPr lang="zh-CN" altLang="zh-CN" sz="1000" b="1" dirty="0">
                <a:solidFill>
                  <a:srgbClr val="002060"/>
                </a:solidFill>
                <a:ea typeface="等线" panose="02010600030101010101" pitchFamily="2" charset="-122"/>
                <a:cs typeface="Times New Roman" panose="02020603050405020304" pitchFamily="18" charset="0"/>
              </a:rPr>
              <a:t>，</a:t>
            </a:r>
            <a:r>
              <a:rPr lang="en-US" altLang="zh-CN" sz="1000" b="1" dirty="0">
                <a:solidFill>
                  <a:srgbClr val="002060"/>
                </a:solidFill>
                <a:ea typeface="等线" panose="02010600030101010101" pitchFamily="2" charset="-122"/>
                <a:cs typeface="Times New Roman" panose="02020603050405020304" pitchFamily="18" charset="0"/>
              </a:rPr>
              <a:t>L2=0.376m</a:t>
            </a:r>
            <a:r>
              <a:rPr lang="zh-CN" altLang="zh-CN" sz="1000" b="1" dirty="0">
                <a:solidFill>
                  <a:srgbClr val="002060"/>
                </a:solidFill>
                <a:ea typeface="等线" panose="02010600030101010101" pitchFamily="2" charset="-122"/>
                <a:cs typeface="Times New Roman" panose="02020603050405020304" pitchFamily="18" charset="0"/>
              </a:rPr>
              <a:t>，</a:t>
            </a:r>
            <a:r>
              <a:rPr lang="en-US" altLang="zh-CN" sz="1000" b="1" dirty="0">
                <a:solidFill>
                  <a:srgbClr val="002060"/>
                </a:solidFill>
                <a:ea typeface="等线" panose="02010600030101010101" pitchFamily="2" charset="-122"/>
                <a:cs typeface="Times New Roman" panose="02020603050405020304" pitchFamily="18" charset="0"/>
              </a:rPr>
              <a:t>W1=0.1215m</a:t>
            </a:r>
            <a:r>
              <a:rPr lang="zh-CN" altLang="zh-CN" sz="1000" b="1" dirty="0">
                <a:solidFill>
                  <a:srgbClr val="002060"/>
                </a:solidFill>
                <a:ea typeface="等线" panose="02010600030101010101" pitchFamily="2" charset="-122"/>
                <a:cs typeface="Times New Roman" panose="02020603050405020304" pitchFamily="18" charset="0"/>
              </a:rPr>
              <a:t>，</a:t>
            </a:r>
            <a:r>
              <a:rPr lang="en-US" altLang="zh-CN" sz="1000" b="1" dirty="0">
                <a:solidFill>
                  <a:srgbClr val="002060"/>
                </a:solidFill>
                <a:ea typeface="等线" panose="02010600030101010101" pitchFamily="2" charset="-122"/>
                <a:cs typeface="Times New Roman" panose="02020603050405020304" pitchFamily="18" charset="0"/>
              </a:rPr>
              <a:t>W2=0.094m</a:t>
            </a:r>
            <a:r>
              <a:rPr lang="zh-CN" altLang="zh-CN" sz="1000" b="1" dirty="0">
                <a:solidFill>
                  <a:srgbClr val="002060"/>
                </a:solidFill>
                <a:ea typeface="等线" panose="02010600030101010101" pitchFamily="2" charset="-122"/>
                <a:cs typeface="Times New Roman" panose="02020603050405020304" pitchFamily="18" charset="0"/>
              </a:rPr>
              <a:t>，</a:t>
            </a:r>
            <a:r>
              <a:rPr lang="en-US" altLang="zh-CN" sz="1000" b="1" dirty="0">
                <a:solidFill>
                  <a:srgbClr val="002060"/>
                </a:solidFill>
                <a:ea typeface="等线" panose="02010600030101010101" pitchFamily="2" charset="-122"/>
                <a:cs typeface="Times New Roman" panose="02020603050405020304" pitchFamily="18" charset="0"/>
              </a:rPr>
              <a:t>H1=0.0985m,H2=0.1025m</a:t>
            </a:r>
            <a:endParaRPr lang="zh-CN" altLang="en-US" sz="1000" b="1" dirty="0">
              <a:solidFill>
                <a:srgbClr val="002060"/>
              </a:solidFill>
            </a:endParaRPr>
          </a:p>
        </p:txBody>
      </p:sp>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extLst>
                  <p:ext uri="{D42A27DB-BD31-4B8C-83A1-F6EECF244321}">
                    <p14:modId xmlns:p14="http://schemas.microsoft.com/office/powerpoint/2010/main" val="3145448172"/>
                  </p:ext>
                </p:extLst>
              </p:nvPr>
            </p:nvGraphicFramePr>
            <p:xfrm>
              <a:off x="4943893" y="1053495"/>
              <a:ext cx="3516539" cy="3626058"/>
            </p:xfrm>
            <a:graphic>
              <a:graphicData uri="http://schemas.openxmlformats.org/drawingml/2006/table">
                <a:tbl>
                  <a:tblPr firstRow="1" firstCol="1" bandRow="1">
                    <a:tableStyleId>{5C22544A-7EE6-4342-B048-85BDC9FD1C3A}</a:tableStyleId>
                  </a:tblPr>
                  <a:tblGrid>
                    <a:gridCol w="472162">
                      <a:extLst>
                        <a:ext uri="{9D8B030D-6E8A-4147-A177-3AD203B41FA5}">
                          <a16:colId xmlns:a16="http://schemas.microsoft.com/office/drawing/2014/main" val="1621796589"/>
                        </a:ext>
                      </a:extLst>
                    </a:gridCol>
                    <a:gridCol w="1248428">
                      <a:extLst>
                        <a:ext uri="{9D8B030D-6E8A-4147-A177-3AD203B41FA5}">
                          <a16:colId xmlns:a16="http://schemas.microsoft.com/office/drawing/2014/main" val="881760786"/>
                        </a:ext>
                      </a:extLst>
                    </a:gridCol>
                    <a:gridCol w="1795949">
                      <a:extLst>
                        <a:ext uri="{9D8B030D-6E8A-4147-A177-3AD203B41FA5}">
                          <a16:colId xmlns:a16="http://schemas.microsoft.com/office/drawing/2014/main" val="3693041714"/>
                        </a:ext>
                      </a:extLst>
                    </a:gridCol>
                  </a:tblGrid>
                  <a:tr h="690613">
                    <a:tc>
                      <a:txBody>
                        <a:bodyPr/>
                        <a:lstStyle/>
                        <a:p>
                          <a:pPr algn="just">
                            <a:lnSpc>
                              <a:spcPct val="125000"/>
                            </a:lnSpc>
                            <a:spcAft>
                              <a:spcPts val="600"/>
                            </a:spcAft>
                          </a:pPr>
                          <a:r>
                            <a:rPr lang="en-US" sz="1400" kern="100">
                              <a:effectLst/>
                            </a:rPr>
                            <a:t>i</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14:m>
                            <m:oMathPara xmlns:m="http://schemas.openxmlformats.org/officeDocument/2006/math">
                              <m:oMathParaPr>
                                <m:jc m:val="centerGroup"/>
                              </m:oMathParaPr>
                              <m:oMath xmlns:m="http://schemas.openxmlformats.org/officeDocument/2006/math">
                                <m:sSub>
                                  <m:sSubPr>
                                    <m:ctrlPr>
                                      <a:rPr lang="zh-CN" sz="1400" i="1" kern="100">
                                        <a:effectLst/>
                                        <a:latin typeface="Cambria Math" panose="02040503050406030204" pitchFamily="18" charset="0"/>
                                      </a:rPr>
                                    </m:ctrlPr>
                                  </m:sSubPr>
                                  <m:e>
                                    <m:r>
                                      <m:rPr>
                                        <m:sty m:val="p"/>
                                      </m:rPr>
                                      <a:rPr lang="en-US" sz="1400" kern="100">
                                        <a:effectLst/>
                                        <a:latin typeface="Cambria Math" panose="02040503050406030204" pitchFamily="18" charset="0"/>
                                      </a:rPr>
                                      <m:t>ω</m:t>
                                    </m:r>
                                  </m:e>
                                  <m:sub>
                                    <m:r>
                                      <a:rPr lang="en-US" sz="1400" kern="100">
                                        <a:effectLst/>
                                        <a:latin typeface="Cambria Math" panose="02040503050406030204" pitchFamily="18" charset="0"/>
                                      </a:rPr>
                                      <m:t>𝑖</m:t>
                                    </m:r>
                                  </m:sub>
                                </m:sSub>
                              </m:oMath>
                            </m:oMathPara>
                          </a14:m>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14:m>
                            <m:oMathPara xmlns:m="http://schemas.openxmlformats.org/officeDocument/2006/math">
                              <m:oMathParaPr>
                                <m:jc m:val="centerGroup"/>
                              </m:oMathParaPr>
                              <m:oMath xmlns:m="http://schemas.openxmlformats.org/officeDocument/2006/math">
                                <m:sSub>
                                  <m:sSubPr>
                                    <m:ctrlPr>
                                      <a:rPr lang="zh-CN" sz="1400" i="1" kern="100">
                                        <a:effectLst/>
                                        <a:latin typeface="Cambria Math" panose="02040503050406030204" pitchFamily="18" charset="0"/>
                                      </a:rPr>
                                    </m:ctrlPr>
                                  </m:sSubPr>
                                  <m:e>
                                    <m:r>
                                      <a:rPr lang="en-US" sz="1400" kern="100">
                                        <a:effectLst/>
                                        <a:latin typeface="Cambria Math" panose="02040503050406030204" pitchFamily="18" charset="0"/>
                                      </a:rPr>
                                      <m:t>𝜈</m:t>
                                    </m:r>
                                  </m:e>
                                  <m:sub>
                                    <m:r>
                                      <a:rPr lang="en-US" sz="1400" kern="100">
                                        <a:effectLst/>
                                        <a:latin typeface="Cambria Math" panose="02040503050406030204" pitchFamily="18" charset="0"/>
                                      </a:rPr>
                                      <m:t>𝑖</m:t>
                                    </m:r>
                                  </m:sub>
                                </m:sSub>
                              </m:oMath>
                            </m:oMathPara>
                          </a14:m>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869667393"/>
                      </a:ext>
                    </a:extLst>
                  </a:tr>
                  <a:tr h="480409">
                    <a:tc>
                      <a:txBody>
                        <a:bodyPr/>
                        <a:lstStyle/>
                        <a:p>
                          <a:pPr algn="just">
                            <a:lnSpc>
                              <a:spcPct val="125000"/>
                            </a:lnSpc>
                            <a:spcAft>
                              <a:spcPts val="600"/>
                            </a:spcAft>
                          </a:pPr>
                          <a:r>
                            <a:rPr lang="en-US" sz="1400" kern="100">
                              <a:effectLst/>
                            </a:rPr>
                            <a:t>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400" kern="100">
                              <a:effectLst/>
                            </a:rPr>
                            <a:t>（</a:t>
                          </a:r>
                          <a:r>
                            <a:rPr lang="en-US" sz="1400" kern="100">
                              <a:effectLst/>
                            </a:rPr>
                            <a:t>0</a:t>
                          </a:r>
                          <a:r>
                            <a:rPr lang="zh-CN" sz="1400" kern="100">
                              <a:effectLst/>
                            </a:rPr>
                            <a:t>，</a:t>
                          </a:r>
                          <a:r>
                            <a:rPr lang="en-US" sz="1400" kern="100">
                              <a:effectLst/>
                            </a:rPr>
                            <a:t>0</a:t>
                          </a:r>
                          <a:r>
                            <a:rPr lang="zh-CN" sz="1400" kern="100">
                              <a:effectLst/>
                            </a:rPr>
                            <a:t>，</a:t>
                          </a:r>
                          <a:r>
                            <a:rPr lang="en-US" sz="1400" kern="100">
                              <a:effectLst/>
                            </a:rPr>
                            <a:t>1</a:t>
                          </a:r>
                          <a:r>
                            <a:rPr lang="zh-CN" sz="1400" kern="100">
                              <a:effectLst/>
                            </a:rPr>
                            <a:t>）</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400" kern="100">
                              <a:effectLst/>
                            </a:rPr>
                            <a:t>（</a:t>
                          </a:r>
                          <a:r>
                            <a:rPr lang="en-US" sz="1400" kern="100">
                              <a:effectLst/>
                            </a:rPr>
                            <a:t>0</a:t>
                          </a:r>
                          <a:r>
                            <a:rPr lang="zh-CN" sz="1400" kern="100">
                              <a:effectLst/>
                            </a:rPr>
                            <a:t>，</a:t>
                          </a:r>
                          <a:r>
                            <a:rPr lang="en-US" sz="1400" kern="100">
                              <a:effectLst/>
                            </a:rPr>
                            <a:t>0</a:t>
                          </a:r>
                          <a:r>
                            <a:rPr lang="zh-CN" sz="1400" kern="100">
                              <a:effectLst/>
                            </a:rPr>
                            <a:t>，</a:t>
                          </a:r>
                          <a:r>
                            <a:rPr lang="en-US" sz="1400" kern="100">
                              <a:effectLst/>
                            </a:rPr>
                            <a:t>0</a:t>
                          </a:r>
                          <a:r>
                            <a:rPr lang="zh-CN" sz="1400" kern="100">
                              <a:effectLst/>
                            </a:rPr>
                            <a:t>）</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71589786"/>
                      </a:ext>
                    </a:extLst>
                  </a:tr>
                  <a:tr h="480409">
                    <a:tc>
                      <a:txBody>
                        <a:bodyPr/>
                        <a:lstStyle/>
                        <a:p>
                          <a:pPr algn="just">
                            <a:lnSpc>
                              <a:spcPct val="125000"/>
                            </a:lnSpc>
                            <a:spcAft>
                              <a:spcPts val="600"/>
                            </a:spcAft>
                          </a:pPr>
                          <a:r>
                            <a:rPr lang="en-US" sz="1400" kern="100">
                              <a:effectLst/>
                            </a:rPr>
                            <a:t>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400" kern="100">
                              <a:effectLst/>
                            </a:rPr>
                            <a:t>（</a:t>
                          </a:r>
                          <a:r>
                            <a:rPr lang="en-US" sz="1400" kern="100">
                              <a:effectLst/>
                            </a:rPr>
                            <a:t>0</a:t>
                          </a:r>
                          <a:r>
                            <a:rPr lang="zh-CN" sz="1400" kern="100">
                              <a:effectLst/>
                            </a:rPr>
                            <a:t>，</a:t>
                          </a:r>
                          <a:r>
                            <a:rPr lang="en-US" sz="1400" kern="100">
                              <a:effectLst/>
                            </a:rPr>
                            <a:t>-1</a:t>
                          </a:r>
                          <a:r>
                            <a:rPr lang="zh-CN" sz="1400" kern="100">
                              <a:effectLst/>
                            </a:rPr>
                            <a:t>，</a:t>
                          </a:r>
                          <a:r>
                            <a:rPr lang="en-US" sz="1400" kern="100">
                              <a:effectLst/>
                            </a:rPr>
                            <a:t>0</a:t>
                          </a:r>
                          <a:r>
                            <a:rPr lang="zh-CN" sz="1400" kern="100">
                              <a:effectLst/>
                            </a:rPr>
                            <a:t>）</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400" kern="100">
                              <a:effectLst/>
                            </a:rPr>
                            <a:t>（</a:t>
                          </a:r>
                          <a:r>
                            <a:rPr lang="en-US" sz="1400" kern="100">
                              <a:effectLst/>
                            </a:rPr>
                            <a:t>H1</a:t>
                          </a:r>
                          <a:r>
                            <a:rPr lang="zh-CN" sz="1400" kern="100">
                              <a:effectLst/>
                            </a:rPr>
                            <a:t>，</a:t>
                          </a:r>
                          <a:r>
                            <a:rPr lang="en-US" sz="1400" kern="100">
                              <a:effectLst/>
                            </a:rPr>
                            <a:t>0</a:t>
                          </a:r>
                          <a:r>
                            <a:rPr lang="zh-CN" sz="1400" kern="100">
                              <a:effectLst/>
                            </a:rPr>
                            <a:t>，</a:t>
                          </a:r>
                          <a:r>
                            <a:rPr lang="en-US" sz="1400" kern="100">
                              <a:effectLst/>
                            </a:rPr>
                            <a:t>0</a:t>
                          </a:r>
                          <a:r>
                            <a:rPr lang="zh-CN" sz="1400" kern="100">
                              <a:effectLst/>
                            </a:rPr>
                            <a:t>）</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08429758"/>
                      </a:ext>
                    </a:extLst>
                  </a:tr>
                  <a:tr h="480409">
                    <a:tc>
                      <a:txBody>
                        <a:bodyPr/>
                        <a:lstStyle/>
                        <a:p>
                          <a:pPr algn="just">
                            <a:lnSpc>
                              <a:spcPct val="125000"/>
                            </a:lnSpc>
                            <a:spcAft>
                              <a:spcPts val="600"/>
                            </a:spcAft>
                          </a:pPr>
                          <a:r>
                            <a:rPr lang="en-US" sz="1400" kern="100">
                              <a:effectLst/>
                            </a:rPr>
                            <a:t>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400" kern="100">
                              <a:effectLst/>
                            </a:rPr>
                            <a:t>（</a:t>
                          </a:r>
                          <a:r>
                            <a:rPr lang="en-US" sz="1400" kern="100">
                              <a:effectLst/>
                            </a:rPr>
                            <a:t>0</a:t>
                          </a:r>
                          <a:r>
                            <a:rPr lang="zh-CN" sz="1400" kern="100">
                              <a:effectLst/>
                            </a:rPr>
                            <a:t>，</a:t>
                          </a:r>
                          <a:r>
                            <a:rPr lang="en-US" sz="1400" kern="100">
                              <a:effectLst/>
                            </a:rPr>
                            <a:t>-1</a:t>
                          </a:r>
                          <a:r>
                            <a:rPr lang="zh-CN" sz="1400" kern="100">
                              <a:effectLst/>
                            </a:rPr>
                            <a:t>，</a:t>
                          </a:r>
                          <a:r>
                            <a:rPr lang="en-US" sz="1400" kern="100">
                              <a:effectLst/>
                            </a:rPr>
                            <a:t>0</a:t>
                          </a:r>
                          <a:r>
                            <a:rPr lang="zh-CN" sz="1400" kern="100">
                              <a:effectLst/>
                            </a:rPr>
                            <a:t>）</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400" kern="100">
                              <a:effectLst/>
                            </a:rPr>
                            <a:t>（</a:t>
                          </a:r>
                          <a:r>
                            <a:rPr lang="en-US" sz="1400" kern="100">
                              <a:effectLst/>
                            </a:rPr>
                            <a:t>H1</a:t>
                          </a:r>
                          <a:r>
                            <a:rPr lang="zh-CN" sz="1400" kern="100">
                              <a:effectLst/>
                            </a:rPr>
                            <a:t>，</a:t>
                          </a:r>
                          <a:r>
                            <a:rPr lang="en-US" sz="1400" kern="100">
                              <a:effectLst/>
                            </a:rPr>
                            <a:t>0</a:t>
                          </a:r>
                          <a:r>
                            <a:rPr lang="zh-CN" sz="1400" kern="100">
                              <a:effectLst/>
                            </a:rPr>
                            <a:t>，</a:t>
                          </a:r>
                          <a:r>
                            <a:rPr lang="en-US" sz="1400" kern="100">
                              <a:effectLst/>
                            </a:rPr>
                            <a:t>L1</a:t>
                          </a:r>
                          <a:r>
                            <a:rPr lang="zh-CN" sz="1400" kern="100">
                              <a:effectLst/>
                            </a:rPr>
                            <a:t>）</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568817096"/>
                      </a:ext>
                    </a:extLst>
                  </a:tr>
                  <a:tr h="480409">
                    <a:tc>
                      <a:txBody>
                        <a:bodyPr/>
                        <a:lstStyle/>
                        <a:p>
                          <a:pPr algn="just">
                            <a:lnSpc>
                              <a:spcPct val="125000"/>
                            </a:lnSpc>
                            <a:spcAft>
                              <a:spcPts val="600"/>
                            </a:spcAft>
                          </a:pPr>
                          <a:r>
                            <a:rPr lang="en-US" sz="1400" kern="100">
                              <a:effectLst/>
                            </a:rPr>
                            <a:t>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400" kern="100">
                              <a:effectLst/>
                            </a:rPr>
                            <a:t>（</a:t>
                          </a:r>
                          <a:r>
                            <a:rPr lang="en-US" sz="1400" kern="100">
                              <a:effectLst/>
                            </a:rPr>
                            <a:t>0</a:t>
                          </a:r>
                          <a:r>
                            <a:rPr lang="zh-CN" sz="1400" kern="100">
                              <a:effectLst/>
                            </a:rPr>
                            <a:t>，</a:t>
                          </a:r>
                          <a:r>
                            <a:rPr lang="en-US" sz="1400" kern="100">
                              <a:effectLst/>
                            </a:rPr>
                            <a:t>-1</a:t>
                          </a:r>
                          <a:r>
                            <a:rPr lang="zh-CN" sz="1400" kern="100">
                              <a:effectLst/>
                            </a:rPr>
                            <a:t>，</a:t>
                          </a:r>
                          <a:r>
                            <a:rPr lang="en-US" sz="1400" kern="100">
                              <a:effectLst/>
                            </a:rPr>
                            <a:t>0</a:t>
                          </a:r>
                          <a:r>
                            <a:rPr lang="zh-CN" sz="1400" kern="100">
                              <a:effectLst/>
                            </a:rPr>
                            <a:t>）</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400" kern="100">
                              <a:effectLst/>
                            </a:rPr>
                            <a:t>（</a:t>
                          </a:r>
                          <a:r>
                            <a:rPr lang="en-US" sz="1400" kern="100">
                              <a:effectLst/>
                            </a:rPr>
                            <a:t>H1</a:t>
                          </a:r>
                          <a:r>
                            <a:rPr lang="zh-CN" sz="1400" kern="100">
                              <a:effectLst/>
                            </a:rPr>
                            <a:t>，</a:t>
                          </a:r>
                          <a:r>
                            <a:rPr lang="en-US" sz="1400" kern="100">
                              <a:effectLst/>
                            </a:rPr>
                            <a:t>0</a:t>
                          </a:r>
                          <a:r>
                            <a:rPr lang="zh-CN" sz="1400" kern="100">
                              <a:effectLst/>
                            </a:rPr>
                            <a:t>，</a:t>
                          </a:r>
                          <a:r>
                            <a:rPr lang="en-US" sz="1400" kern="100">
                              <a:effectLst/>
                            </a:rPr>
                            <a:t>L1+L2</a:t>
                          </a:r>
                          <a:r>
                            <a:rPr lang="zh-CN" sz="1400" kern="100">
                              <a:effectLst/>
                            </a:rPr>
                            <a:t>）</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514314148"/>
                      </a:ext>
                    </a:extLst>
                  </a:tr>
                  <a:tr h="480409">
                    <a:tc>
                      <a:txBody>
                        <a:bodyPr/>
                        <a:lstStyle/>
                        <a:p>
                          <a:pPr algn="just">
                            <a:lnSpc>
                              <a:spcPct val="125000"/>
                            </a:lnSpc>
                            <a:spcAft>
                              <a:spcPts val="600"/>
                            </a:spcAft>
                          </a:pPr>
                          <a:r>
                            <a:rPr lang="en-US" sz="1400" kern="100">
                              <a:effectLst/>
                            </a:rPr>
                            <a:t>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400" kern="100">
                              <a:effectLst/>
                            </a:rPr>
                            <a:t>（</a:t>
                          </a:r>
                          <a:r>
                            <a:rPr lang="en-US" sz="1400" kern="100">
                              <a:effectLst/>
                            </a:rPr>
                            <a:t>0</a:t>
                          </a:r>
                          <a:r>
                            <a:rPr lang="zh-CN" sz="1400" kern="100">
                              <a:effectLst/>
                            </a:rPr>
                            <a:t>，</a:t>
                          </a:r>
                          <a:r>
                            <a:rPr lang="en-US" sz="1400" kern="100">
                              <a:effectLst/>
                            </a:rPr>
                            <a:t>0</a:t>
                          </a:r>
                          <a:r>
                            <a:rPr lang="zh-CN" sz="1400" kern="100">
                              <a:effectLst/>
                            </a:rPr>
                            <a:t>，</a:t>
                          </a:r>
                          <a:r>
                            <a:rPr lang="en-US" sz="1400" kern="100">
                              <a:effectLst/>
                            </a:rPr>
                            <a:t>-1</a:t>
                          </a:r>
                          <a:r>
                            <a:rPr lang="zh-CN" sz="1400" kern="100">
                              <a:effectLst/>
                            </a:rPr>
                            <a:t>）</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400" kern="100">
                              <a:effectLst/>
                            </a:rPr>
                            <a:t>（</a:t>
                          </a:r>
                          <a:r>
                            <a:rPr lang="en-US" sz="1400" kern="100">
                              <a:effectLst/>
                            </a:rPr>
                            <a:t>W1</a:t>
                          </a:r>
                          <a:r>
                            <a:rPr lang="zh-CN" sz="1400" kern="100">
                              <a:effectLst/>
                            </a:rPr>
                            <a:t>，</a:t>
                          </a:r>
                          <a:r>
                            <a:rPr lang="en-US" sz="1400" kern="100">
                              <a:effectLst/>
                            </a:rPr>
                            <a:t>-</a:t>
                          </a:r>
                          <a:r>
                            <a:rPr lang="zh-CN" sz="1400" kern="100">
                              <a:effectLst/>
                            </a:rPr>
                            <a:t>（</a:t>
                          </a:r>
                          <a:r>
                            <a:rPr lang="en-US" sz="1400" kern="100">
                              <a:effectLst/>
                            </a:rPr>
                            <a:t>L1+L2</a:t>
                          </a:r>
                          <a:r>
                            <a:rPr lang="zh-CN" sz="1400" kern="100">
                              <a:effectLst/>
                            </a:rPr>
                            <a:t>），</a:t>
                          </a:r>
                          <a:r>
                            <a:rPr lang="en-US" sz="1400" kern="100">
                              <a:effectLst/>
                            </a:rPr>
                            <a:t>0</a:t>
                          </a:r>
                          <a:r>
                            <a:rPr lang="zh-CN" sz="1400" kern="100">
                              <a:effectLst/>
                            </a:rPr>
                            <a:t>）</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383278559"/>
                      </a:ext>
                    </a:extLst>
                  </a:tr>
                  <a:tr h="480409">
                    <a:tc>
                      <a:txBody>
                        <a:bodyPr/>
                        <a:lstStyle/>
                        <a:p>
                          <a:pPr algn="just">
                            <a:lnSpc>
                              <a:spcPct val="125000"/>
                            </a:lnSpc>
                            <a:spcAft>
                              <a:spcPts val="600"/>
                            </a:spcAft>
                          </a:pPr>
                          <a:r>
                            <a:rPr lang="en-US" sz="1400" kern="100">
                              <a:effectLst/>
                            </a:rPr>
                            <a:t>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400" kern="100">
                              <a:effectLst/>
                            </a:rPr>
                            <a:t>（</a:t>
                          </a:r>
                          <a:r>
                            <a:rPr lang="en-US" sz="1400" kern="100">
                              <a:effectLst/>
                            </a:rPr>
                            <a:t>0</a:t>
                          </a:r>
                          <a:r>
                            <a:rPr lang="zh-CN" sz="1400" kern="100">
                              <a:effectLst/>
                            </a:rPr>
                            <a:t>，</a:t>
                          </a:r>
                          <a:r>
                            <a:rPr lang="en-US" sz="1400" kern="100">
                              <a:effectLst/>
                            </a:rPr>
                            <a:t>-1</a:t>
                          </a:r>
                          <a:r>
                            <a:rPr lang="zh-CN" sz="1400" kern="100">
                              <a:effectLst/>
                            </a:rPr>
                            <a:t>，</a:t>
                          </a:r>
                          <a:r>
                            <a:rPr lang="en-US" sz="1400" kern="100">
                              <a:effectLst/>
                            </a:rPr>
                            <a:t>0</a:t>
                          </a:r>
                          <a:r>
                            <a:rPr lang="zh-CN" sz="1400" kern="100">
                              <a:effectLst/>
                            </a:rPr>
                            <a:t>）</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400" kern="100" dirty="0">
                              <a:effectLst/>
                            </a:rPr>
                            <a:t>（</a:t>
                          </a:r>
                          <a:r>
                            <a:rPr lang="en-US" sz="1400" kern="100" dirty="0">
                              <a:effectLst/>
                            </a:rPr>
                            <a:t>H1-H2</a:t>
                          </a:r>
                          <a:r>
                            <a:rPr lang="zh-CN" sz="1400" kern="100" dirty="0">
                              <a:effectLst/>
                            </a:rPr>
                            <a:t>，</a:t>
                          </a:r>
                          <a:r>
                            <a:rPr lang="en-US" sz="1400" kern="100" dirty="0">
                              <a:effectLst/>
                            </a:rPr>
                            <a:t>0</a:t>
                          </a:r>
                          <a:r>
                            <a:rPr lang="zh-CN" sz="1400" kern="100" dirty="0">
                              <a:effectLst/>
                            </a:rPr>
                            <a:t>，</a:t>
                          </a:r>
                          <a:r>
                            <a:rPr lang="en-US" sz="1400" kern="100" dirty="0">
                              <a:effectLst/>
                            </a:rPr>
                            <a:t>L1+L2</a:t>
                          </a:r>
                          <a:r>
                            <a:rPr lang="zh-CN" sz="1400" kern="100" dirty="0">
                              <a:effectLst/>
                            </a:rPr>
                            <a:t>）</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193669029"/>
                      </a:ext>
                    </a:extLst>
                  </a:tr>
                </a:tbl>
              </a:graphicData>
            </a:graphic>
          </p:graphicFrame>
        </mc:Choice>
        <mc:Fallback xmlns="">
          <p:graphicFrame>
            <p:nvGraphicFramePr>
              <p:cNvPr id="2" name="表格 1"/>
              <p:cNvGraphicFramePr>
                <a:graphicFrameLocks noGrp="1"/>
              </p:cNvGraphicFramePr>
              <p:nvPr>
                <p:extLst>
                  <p:ext uri="{D42A27DB-BD31-4B8C-83A1-F6EECF244321}">
                    <p14:modId xmlns:p14="http://schemas.microsoft.com/office/powerpoint/2010/main" val="3145448172"/>
                  </p:ext>
                </p:extLst>
              </p:nvPr>
            </p:nvGraphicFramePr>
            <p:xfrm>
              <a:off x="4943893" y="1053495"/>
              <a:ext cx="3516539" cy="3603262"/>
            </p:xfrm>
            <a:graphic>
              <a:graphicData uri="http://schemas.openxmlformats.org/drawingml/2006/table">
                <a:tbl>
                  <a:tblPr firstRow="1" firstCol="1" bandRow="1">
                    <a:tableStyleId>{5C22544A-7EE6-4342-B048-85BDC9FD1C3A}</a:tableStyleId>
                  </a:tblPr>
                  <a:tblGrid>
                    <a:gridCol w="472162">
                      <a:extLst>
                        <a:ext uri="{9D8B030D-6E8A-4147-A177-3AD203B41FA5}">
                          <a16:colId xmlns:a16="http://schemas.microsoft.com/office/drawing/2014/main" val="1621796589"/>
                        </a:ext>
                      </a:extLst>
                    </a:gridCol>
                    <a:gridCol w="1248428">
                      <a:extLst>
                        <a:ext uri="{9D8B030D-6E8A-4147-A177-3AD203B41FA5}">
                          <a16:colId xmlns:a16="http://schemas.microsoft.com/office/drawing/2014/main" val="881760786"/>
                        </a:ext>
                      </a:extLst>
                    </a:gridCol>
                    <a:gridCol w="1795949">
                      <a:extLst>
                        <a:ext uri="{9D8B030D-6E8A-4147-A177-3AD203B41FA5}">
                          <a16:colId xmlns:a16="http://schemas.microsoft.com/office/drawing/2014/main" val="3693041714"/>
                        </a:ext>
                      </a:extLst>
                    </a:gridCol>
                  </a:tblGrid>
                  <a:tr h="690613">
                    <a:tc>
                      <a:txBody>
                        <a:bodyPr/>
                        <a:lstStyle/>
                        <a:p>
                          <a:pPr algn="just">
                            <a:lnSpc>
                              <a:spcPct val="125000"/>
                            </a:lnSpc>
                            <a:spcAft>
                              <a:spcPts val="600"/>
                            </a:spcAft>
                          </a:pPr>
                          <a:r>
                            <a:rPr lang="en-US" sz="1400" kern="100">
                              <a:effectLst/>
                            </a:rPr>
                            <a:t>i</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endParaRPr lang="zh-CN"/>
                        </a:p>
                      </a:txBody>
                      <a:tcPr marL="68580" marR="68580" marT="0" marB="0">
                        <a:blipFill>
                          <a:blip r:embed="rId6"/>
                          <a:stretch>
                            <a:fillRect l="-38537" t="-1770" r="-146341" b="-425664"/>
                          </a:stretch>
                        </a:blipFill>
                      </a:tcPr>
                    </a:tc>
                    <a:tc>
                      <a:txBody>
                        <a:bodyPr/>
                        <a:lstStyle/>
                        <a:p>
                          <a:endParaRPr lang="zh-CN"/>
                        </a:p>
                      </a:txBody>
                      <a:tcPr marL="68580" marR="68580" marT="0" marB="0">
                        <a:blipFill>
                          <a:blip r:embed="rId6"/>
                          <a:stretch>
                            <a:fillRect l="-96271" t="-1770" r="-1695" b="-425664"/>
                          </a:stretch>
                        </a:blipFill>
                      </a:tcPr>
                    </a:tc>
                    <a:extLst>
                      <a:ext uri="{0D108BD9-81ED-4DB2-BD59-A6C34878D82A}">
                        <a16:rowId xmlns:a16="http://schemas.microsoft.com/office/drawing/2014/main" val="869667393"/>
                      </a:ext>
                    </a:extLst>
                  </a:tr>
                  <a:tr h="480409">
                    <a:tc>
                      <a:txBody>
                        <a:bodyPr/>
                        <a:lstStyle/>
                        <a:p>
                          <a:pPr algn="just">
                            <a:lnSpc>
                              <a:spcPct val="125000"/>
                            </a:lnSpc>
                            <a:spcAft>
                              <a:spcPts val="600"/>
                            </a:spcAft>
                          </a:pPr>
                          <a:r>
                            <a:rPr lang="en-US" sz="1400" kern="100">
                              <a:effectLst/>
                            </a:rPr>
                            <a:t>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400" kern="100">
                              <a:effectLst/>
                            </a:rPr>
                            <a:t>（</a:t>
                          </a:r>
                          <a:r>
                            <a:rPr lang="en-US" sz="1400" kern="100">
                              <a:effectLst/>
                            </a:rPr>
                            <a:t>0</a:t>
                          </a:r>
                          <a:r>
                            <a:rPr lang="zh-CN" sz="1400" kern="100">
                              <a:effectLst/>
                            </a:rPr>
                            <a:t>，</a:t>
                          </a:r>
                          <a:r>
                            <a:rPr lang="en-US" sz="1400" kern="100">
                              <a:effectLst/>
                            </a:rPr>
                            <a:t>0</a:t>
                          </a:r>
                          <a:r>
                            <a:rPr lang="zh-CN" sz="1400" kern="100">
                              <a:effectLst/>
                            </a:rPr>
                            <a:t>，</a:t>
                          </a:r>
                          <a:r>
                            <a:rPr lang="en-US" sz="1400" kern="100">
                              <a:effectLst/>
                            </a:rPr>
                            <a:t>1</a:t>
                          </a:r>
                          <a:r>
                            <a:rPr lang="zh-CN" sz="1400" kern="100">
                              <a:effectLst/>
                            </a:rPr>
                            <a:t>）</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400" kern="100">
                              <a:effectLst/>
                            </a:rPr>
                            <a:t>（</a:t>
                          </a:r>
                          <a:r>
                            <a:rPr lang="en-US" sz="1400" kern="100">
                              <a:effectLst/>
                            </a:rPr>
                            <a:t>0</a:t>
                          </a:r>
                          <a:r>
                            <a:rPr lang="zh-CN" sz="1400" kern="100">
                              <a:effectLst/>
                            </a:rPr>
                            <a:t>，</a:t>
                          </a:r>
                          <a:r>
                            <a:rPr lang="en-US" sz="1400" kern="100">
                              <a:effectLst/>
                            </a:rPr>
                            <a:t>0</a:t>
                          </a:r>
                          <a:r>
                            <a:rPr lang="zh-CN" sz="1400" kern="100">
                              <a:effectLst/>
                            </a:rPr>
                            <a:t>，</a:t>
                          </a:r>
                          <a:r>
                            <a:rPr lang="en-US" sz="1400" kern="100">
                              <a:effectLst/>
                            </a:rPr>
                            <a:t>0</a:t>
                          </a:r>
                          <a:r>
                            <a:rPr lang="zh-CN" sz="1400" kern="100">
                              <a:effectLst/>
                            </a:rPr>
                            <a:t>）</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71589786"/>
                      </a:ext>
                    </a:extLst>
                  </a:tr>
                  <a:tr h="480409">
                    <a:tc>
                      <a:txBody>
                        <a:bodyPr/>
                        <a:lstStyle/>
                        <a:p>
                          <a:pPr algn="just">
                            <a:lnSpc>
                              <a:spcPct val="125000"/>
                            </a:lnSpc>
                            <a:spcAft>
                              <a:spcPts val="600"/>
                            </a:spcAft>
                          </a:pPr>
                          <a:r>
                            <a:rPr lang="en-US" sz="1400" kern="100">
                              <a:effectLst/>
                            </a:rPr>
                            <a:t>2</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400" kern="100">
                              <a:effectLst/>
                            </a:rPr>
                            <a:t>（</a:t>
                          </a:r>
                          <a:r>
                            <a:rPr lang="en-US" sz="1400" kern="100">
                              <a:effectLst/>
                            </a:rPr>
                            <a:t>0</a:t>
                          </a:r>
                          <a:r>
                            <a:rPr lang="zh-CN" sz="1400" kern="100">
                              <a:effectLst/>
                            </a:rPr>
                            <a:t>，</a:t>
                          </a:r>
                          <a:r>
                            <a:rPr lang="en-US" sz="1400" kern="100">
                              <a:effectLst/>
                            </a:rPr>
                            <a:t>-1</a:t>
                          </a:r>
                          <a:r>
                            <a:rPr lang="zh-CN" sz="1400" kern="100">
                              <a:effectLst/>
                            </a:rPr>
                            <a:t>，</a:t>
                          </a:r>
                          <a:r>
                            <a:rPr lang="en-US" sz="1400" kern="100">
                              <a:effectLst/>
                            </a:rPr>
                            <a:t>0</a:t>
                          </a:r>
                          <a:r>
                            <a:rPr lang="zh-CN" sz="1400" kern="100">
                              <a:effectLst/>
                            </a:rPr>
                            <a:t>）</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400" kern="100">
                              <a:effectLst/>
                            </a:rPr>
                            <a:t>（</a:t>
                          </a:r>
                          <a:r>
                            <a:rPr lang="en-US" sz="1400" kern="100">
                              <a:effectLst/>
                            </a:rPr>
                            <a:t>H1</a:t>
                          </a:r>
                          <a:r>
                            <a:rPr lang="zh-CN" sz="1400" kern="100">
                              <a:effectLst/>
                            </a:rPr>
                            <a:t>，</a:t>
                          </a:r>
                          <a:r>
                            <a:rPr lang="en-US" sz="1400" kern="100">
                              <a:effectLst/>
                            </a:rPr>
                            <a:t>0</a:t>
                          </a:r>
                          <a:r>
                            <a:rPr lang="zh-CN" sz="1400" kern="100">
                              <a:effectLst/>
                            </a:rPr>
                            <a:t>，</a:t>
                          </a:r>
                          <a:r>
                            <a:rPr lang="en-US" sz="1400" kern="100">
                              <a:effectLst/>
                            </a:rPr>
                            <a:t>0</a:t>
                          </a:r>
                          <a:r>
                            <a:rPr lang="zh-CN" sz="1400" kern="100">
                              <a:effectLst/>
                            </a:rPr>
                            <a:t>）</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08429758"/>
                      </a:ext>
                    </a:extLst>
                  </a:tr>
                  <a:tr h="480409">
                    <a:tc>
                      <a:txBody>
                        <a:bodyPr/>
                        <a:lstStyle/>
                        <a:p>
                          <a:pPr algn="just">
                            <a:lnSpc>
                              <a:spcPct val="125000"/>
                            </a:lnSpc>
                            <a:spcAft>
                              <a:spcPts val="600"/>
                            </a:spcAft>
                          </a:pPr>
                          <a:r>
                            <a:rPr lang="en-US" sz="1400" kern="100">
                              <a:effectLst/>
                            </a:rPr>
                            <a:t>3</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400" kern="100">
                              <a:effectLst/>
                            </a:rPr>
                            <a:t>（</a:t>
                          </a:r>
                          <a:r>
                            <a:rPr lang="en-US" sz="1400" kern="100">
                              <a:effectLst/>
                            </a:rPr>
                            <a:t>0</a:t>
                          </a:r>
                          <a:r>
                            <a:rPr lang="zh-CN" sz="1400" kern="100">
                              <a:effectLst/>
                            </a:rPr>
                            <a:t>，</a:t>
                          </a:r>
                          <a:r>
                            <a:rPr lang="en-US" sz="1400" kern="100">
                              <a:effectLst/>
                            </a:rPr>
                            <a:t>-1</a:t>
                          </a:r>
                          <a:r>
                            <a:rPr lang="zh-CN" sz="1400" kern="100">
                              <a:effectLst/>
                            </a:rPr>
                            <a:t>，</a:t>
                          </a:r>
                          <a:r>
                            <a:rPr lang="en-US" sz="1400" kern="100">
                              <a:effectLst/>
                            </a:rPr>
                            <a:t>0</a:t>
                          </a:r>
                          <a:r>
                            <a:rPr lang="zh-CN" sz="1400" kern="100">
                              <a:effectLst/>
                            </a:rPr>
                            <a:t>）</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400" kern="100">
                              <a:effectLst/>
                            </a:rPr>
                            <a:t>（</a:t>
                          </a:r>
                          <a:r>
                            <a:rPr lang="en-US" sz="1400" kern="100">
                              <a:effectLst/>
                            </a:rPr>
                            <a:t>H1</a:t>
                          </a:r>
                          <a:r>
                            <a:rPr lang="zh-CN" sz="1400" kern="100">
                              <a:effectLst/>
                            </a:rPr>
                            <a:t>，</a:t>
                          </a:r>
                          <a:r>
                            <a:rPr lang="en-US" sz="1400" kern="100">
                              <a:effectLst/>
                            </a:rPr>
                            <a:t>0</a:t>
                          </a:r>
                          <a:r>
                            <a:rPr lang="zh-CN" sz="1400" kern="100">
                              <a:effectLst/>
                            </a:rPr>
                            <a:t>，</a:t>
                          </a:r>
                          <a:r>
                            <a:rPr lang="en-US" sz="1400" kern="100">
                              <a:effectLst/>
                            </a:rPr>
                            <a:t>L1</a:t>
                          </a:r>
                          <a:r>
                            <a:rPr lang="zh-CN" sz="1400" kern="100">
                              <a:effectLst/>
                            </a:rPr>
                            <a:t>）</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568817096"/>
                      </a:ext>
                    </a:extLst>
                  </a:tr>
                  <a:tr h="480409">
                    <a:tc>
                      <a:txBody>
                        <a:bodyPr/>
                        <a:lstStyle/>
                        <a:p>
                          <a:pPr algn="just">
                            <a:lnSpc>
                              <a:spcPct val="125000"/>
                            </a:lnSpc>
                            <a:spcAft>
                              <a:spcPts val="600"/>
                            </a:spcAft>
                          </a:pPr>
                          <a:r>
                            <a:rPr lang="en-US" sz="1400" kern="100">
                              <a:effectLst/>
                            </a:rPr>
                            <a:t>4</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400" kern="100">
                              <a:effectLst/>
                            </a:rPr>
                            <a:t>（</a:t>
                          </a:r>
                          <a:r>
                            <a:rPr lang="en-US" sz="1400" kern="100">
                              <a:effectLst/>
                            </a:rPr>
                            <a:t>0</a:t>
                          </a:r>
                          <a:r>
                            <a:rPr lang="zh-CN" sz="1400" kern="100">
                              <a:effectLst/>
                            </a:rPr>
                            <a:t>，</a:t>
                          </a:r>
                          <a:r>
                            <a:rPr lang="en-US" sz="1400" kern="100">
                              <a:effectLst/>
                            </a:rPr>
                            <a:t>-1</a:t>
                          </a:r>
                          <a:r>
                            <a:rPr lang="zh-CN" sz="1400" kern="100">
                              <a:effectLst/>
                            </a:rPr>
                            <a:t>，</a:t>
                          </a:r>
                          <a:r>
                            <a:rPr lang="en-US" sz="1400" kern="100">
                              <a:effectLst/>
                            </a:rPr>
                            <a:t>0</a:t>
                          </a:r>
                          <a:r>
                            <a:rPr lang="zh-CN" sz="1400" kern="100">
                              <a:effectLst/>
                            </a:rPr>
                            <a:t>）</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400" kern="100">
                              <a:effectLst/>
                            </a:rPr>
                            <a:t>（</a:t>
                          </a:r>
                          <a:r>
                            <a:rPr lang="en-US" sz="1400" kern="100">
                              <a:effectLst/>
                            </a:rPr>
                            <a:t>H1</a:t>
                          </a:r>
                          <a:r>
                            <a:rPr lang="zh-CN" sz="1400" kern="100">
                              <a:effectLst/>
                            </a:rPr>
                            <a:t>，</a:t>
                          </a:r>
                          <a:r>
                            <a:rPr lang="en-US" sz="1400" kern="100">
                              <a:effectLst/>
                            </a:rPr>
                            <a:t>0</a:t>
                          </a:r>
                          <a:r>
                            <a:rPr lang="zh-CN" sz="1400" kern="100">
                              <a:effectLst/>
                            </a:rPr>
                            <a:t>，</a:t>
                          </a:r>
                          <a:r>
                            <a:rPr lang="en-US" sz="1400" kern="100">
                              <a:effectLst/>
                            </a:rPr>
                            <a:t>L1+L2</a:t>
                          </a:r>
                          <a:r>
                            <a:rPr lang="zh-CN" sz="1400" kern="100">
                              <a:effectLst/>
                            </a:rPr>
                            <a:t>）</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514314148"/>
                      </a:ext>
                    </a:extLst>
                  </a:tr>
                  <a:tr h="510604">
                    <a:tc>
                      <a:txBody>
                        <a:bodyPr/>
                        <a:lstStyle/>
                        <a:p>
                          <a:pPr algn="just">
                            <a:lnSpc>
                              <a:spcPct val="125000"/>
                            </a:lnSpc>
                            <a:spcAft>
                              <a:spcPts val="600"/>
                            </a:spcAft>
                          </a:pPr>
                          <a:r>
                            <a:rPr lang="en-US" sz="1400" kern="100">
                              <a:effectLst/>
                            </a:rPr>
                            <a:t>5</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400" kern="100">
                              <a:effectLst/>
                            </a:rPr>
                            <a:t>（</a:t>
                          </a:r>
                          <a:r>
                            <a:rPr lang="en-US" sz="1400" kern="100">
                              <a:effectLst/>
                            </a:rPr>
                            <a:t>0</a:t>
                          </a:r>
                          <a:r>
                            <a:rPr lang="zh-CN" sz="1400" kern="100">
                              <a:effectLst/>
                            </a:rPr>
                            <a:t>，</a:t>
                          </a:r>
                          <a:r>
                            <a:rPr lang="en-US" sz="1400" kern="100">
                              <a:effectLst/>
                            </a:rPr>
                            <a:t>0</a:t>
                          </a:r>
                          <a:r>
                            <a:rPr lang="zh-CN" sz="1400" kern="100">
                              <a:effectLst/>
                            </a:rPr>
                            <a:t>，</a:t>
                          </a:r>
                          <a:r>
                            <a:rPr lang="en-US" sz="1400" kern="100">
                              <a:effectLst/>
                            </a:rPr>
                            <a:t>-1</a:t>
                          </a:r>
                          <a:r>
                            <a:rPr lang="zh-CN" sz="1400" kern="100">
                              <a:effectLst/>
                            </a:rPr>
                            <a:t>）</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400" kern="100">
                              <a:effectLst/>
                            </a:rPr>
                            <a:t>（</a:t>
                          </a:r>
                          <a:r>
                            <a:rPr lang="en-US" sz="1400" kern="100">
                              <a:effectLst/>
                            </a:rPr>
                            <a:t>W1</a:t>
                          </a:r>
                          <a:r>
                            <a:rPr lang="zh-CN" sz="1400" kern="100">
                              <a:effectLst/>
                            </a:rPr>
                            <a:t>，</a:t>
                          </a:r>
                          <a:r>
                            <a:rPr lang="en-US" sz="1400" kern="100">
                              <a:effectLst/>
                            </a:rPr>
                            <a:t>-</a:t>
                          </a:r>
                          <a:r>
                            <a:rPr lang="zh-CN" sz="1400" kern="100">
                              <a:effectLst/>
                            </a:rPr>
                            <a:t>（</a:t>
                          </a:r>
                          <a:r>
                            <a:rPr lang="en-US" sz="1400" kern="100">
                              <a:effectLst/>
                            </a:rPr>
                            <a:t>L1+L2</a:t>
                          </a:r>
                          <a:r>
                            <a:rPr lang="zh-CN" sz="1400" kern="100">
                              <a:effectLst/>
                            </a:rPr>
                            <a:t>），</a:t>
                          </a:r>
                          <a:r>
                            <a:rPr lang="en-US" sz="1400" kern="100">
                              <a:effectLst/>
                            </a:rPr>
                            <a:t>0</a:t>
                          </a:r>
                          <a:r>
                            <a:rPr lang="zh-CN" sz="1400" kern="100">
                              <a:effectLst/>
                            </a:rPr>
                            <a:t>）</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383278559"/>
                      </a:ext>
                    </a:extLst>
                  </a:tr>
                  <a:tr h="480409">
                    <a:tc>
                      <a:txBody>
                        <a:bodyPr/>
                        <a:lstStyle/>
                        <a:p>
                          <a:pPr algn="just">
                            <a:lnSpc>
                              <a:spcPct val="125000"/>
                            </a:lnSpc>
                            <a:spcAft>
                              <a:spcPts val="600"/>
                            </a:spcAft>
                          </a:pPr>
                          <a:r>
                            <a:rPr lang="en-US" sz="1400" kern="100">
                              <a:effectLst/>
                            </a:rPr>
                            <a:t>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400" kern="100">
                              <a:effectLst/>
                            </a:rPr>
                            <a:t>（</a:t>
                          </a:r>
                          <a:r>
                            <a:rPr lang="en-US" sz="1400" kern="100">
                              <a:effectLst/>
                            </a:rPr>
                            <a:t>0</a:t>
                          </a:r>
                          <a:r>
                            <a:rPr lang="zh-CN" sz="1400" kern="100">
                              <a:effectLst/>
                            </a:rPr>
                            <a:t>，</a:t>
                          </a:r>
                          <a:r>
                            <a:rPr lang="en-US" sz="1400" kern="100">
                              <a:effectLst/>
                            </a:rPr>
                            <a:t>-1</a:t>
                          </a:r>
                          <a:r>
                            <a:rPr lang="zh-CN" sz="1400" kern="100">
                              <a:effectLst/>
                            </a:rPr>
                            <a:t>，</a:t>
                          </a:r>
                          <a:r>
                            <a:rPr lang="en-US" sz="1400" kern="100">
                              <a:effectLst/>
                            </a:rPr>
                            <a:t>0</a:t>
                          </a:r>
                          <a:r>
                            <a:rPr lang="zh-CN" sz="1400" kern="100">
                              <a:effectLst/>
                            </a:rPr>
                            <a:t>）</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600"/>
                            </a:spcAft>
                          </a:pPr>
                          <a:r>
                            <a:rPr lang="zh-CN" sz="1400" kern="100" dirty="0">
                              <a:effectLst/>
                            </a:rPr>
                            <a:t>（</a:t>
                          </a:r>
                          <a:r>
                            <a:rPr lang="en-US" sz="1400" kern="100" dirty="0">
                              <a:effectLst/>
                            </a:rPr>
                            <a:t>H1-H2</a:t>
                          </a:r>
                          <a:r>
                            <a:rPr lang="zh-CN" sz="1400" kern="100" dirty="0">
                              <a:effectLst/>
                            </a:rPr>
                            <a:t>，</a:t>
                          </a:r>
                          <a:r>
                            <a:rPr lang="en-US" sz="1400" kern="100" dirty="0">
                              <a:effectLst/>
                            </a:rPr>
                            <a:t>0</a:t>
                          </a:r>
                          <a:r>
                            <a:rPr lang="zh-CN" sz="1400" kern="100" dirty="0">
                              <a:effectLst/>
                            </a:rPr>
                            <a:t>，</a:t>
                          </a:r>
                          <a:r>
                            <a:rPr lang="en-US" sz="1400" kern="100" dirty="0">
                              <a:effectLst/>
                            </a:rPr>
                            <a:t>L1+L2</a:t>
                          </a:r>
                          <a:r>
                            <a:rPr lang="zh-CN" sz="1400" kern="100" dirty="0">
                              <a:effectLst/>
                            </a:rPr>
                            <a:t>）</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193669029"/>
                      </a:ext>
                    </a:extLst>
                  </a:tr>
                </a:tbl>
              </a:graphicData>
            </a:graphic>
          </p:graphicFrame>
        </mc:Fallback>
      </mc:AlternateContent>
    </p:spTree>
    <p:extLst>
      <p:ext uri="{BB962C8B-B14F-4D97-AF65-F5344CB8AC3E}">
        <p14:creationId xmlns:p14="http://schemas.microsoft.com/office/powerpoint/2010/main" val="386159664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Twist Method</a:t>
              </a:r>
              <a:endParaRPr lang="zh-CN" altLang="en-US" sz="1000" dirty="0">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旋量法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p:cNvSpPr txBox="1"/>
          <p:nvPr/>
        </p:nvSpPr>
        <p:spPr>
          <a:xfrm>
            <a:off x="4028704" y="641335"/>
            <a:ext cx="1217000" cy="400110"/>
          </a:xfrm>
          <a:prstGeom prst="rect">
            <a:avLst/>
          </a:prstGeom>
          <a:noFill/>
        </p:spPr>
        <p:txBody>
          <a:bodyPr wrap="none" rtlCol="0">
            <a:spAutoFit/>
          </a:bodyPr>
          <a:lstStyle/>
          <a:p>
            <a:r>
              <a:rPr lang="zh-CN" altLang="en-US" sz="2000" b="1" dirty="0" smtClean="0">
                <a:solidFill>
                  <a:srgbClr val="002060"/>
                </a:solidFill>
              </a:rPr>
              <a:t>实例讲解</a:t>
            </a:r>
            <a:endParaRPr lang="zh-CN" altLang="en-US" sz="2000" b="1" dirty="0">
              <a:solidFill>
                <a:srgbClr val="002060"/>
              </a:solidFill>
            </a:endParaRPr>
          </a:p>
        </p:txBody>
      </p:sp>
      <mc:AlternateContent xmlns:mc="http://schemas.openxmlformats.org/markup-compatibility/2006" xmlns:a14="http://schemas.microsoft.com/office/drawing/2010/main">
        <mc:Choice Requires="a14">
          <p:sp>
            <p:nvSpPr>
              <p:cNvPr id="3" name="矩形 2"/>
              <p:cNvSpPr/>
              <p:nvPr/>
            </p:nvSpPr>
            <p:spPr>
              <a:xfrm>
                <a:off x="1562884" y="1643163"/>
                <a:ext cx="5454352" cy="38831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𝑇</m:t>
                      </m:r>
                      <m:r>
                        <a:rPr lang="zh-CN" altLang="en-US" i="0">
                          <a:latin typeface="Cambria Math" panose="02040503050406030204" pitchFamily="18" charset="0"/>
                        </a:rPr>
                        <m:t>(</m:t>
                      </m:r>
                      <m:r>
                        <a:rPr lang="zh-CN" altLang="en-US" i="1">
                          <a:latin typeface="Cambria Math" panose="02040503050406030204" pitchFamily="18" charset="0"/>
                        </a:rPr>
                        <m:t>𝜃</m:t>
                      </m:r>
                      <m:r>
                        <a:rPr lang="zh-CN" altLang="en-US" i="0">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𝑒</m:t>
                          </m:r>
                        </m:e>
                        <m:sup>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S</m:t>
                              </m:r>
                              <m:r>
                                <a:rPr lang="zh-CN" altLang="en-US" i="0">
                                  <a:latin typeface="Cambria Math" panose="02040503050406030204" pitchFamily="18" charset="0"/>
                                </a:rPr>
                                <m:t>1</m:t>
                              </m:r>
                            </m:e>
                          </m:d>
                          <m:r>
                            <m:rPr>
                              <m:sty m:val="p"/>
                            </m:rPr>
                            <a:rPr lang="zh-CN" altLang="en-US" i="0">
                              <a:latin typeface="Cambria Math" panose="02040503050406030204" pitchFamily="18" charset="0"/>
                            </a:rPr>
                            <m:t>θ</m:t>
                          </m:r>
                          <m:r>
                            <a:rPr lang="zh-CN" altLang="en-US" i="0">
                              <a:latin typeface="Cambria Math" panose="02040503050406030204" pitchFamily="18" charset="0"/>
                            </a:rPr>
                            <m:t>1</m:t>
                          </m:r>
                        </m:sup>
                      </m:sSup>
                      <m:sSup>
                        <m:sSupPr>
                          <m:ctrlPr>
                            <a:rPr lang="zh-CN" altLang="en-US" i="1">
                              <a:latin typeface="Cambria Math" panose="02040503050406030204" pitchFamily="18" charset="0"/>
                            </a:rPr>
                          </m:ctrlPr>
                        </m:sSupPr>
                        <m:e>
                          <m:r>
                            <a:rPr lang="zh-CN" altLang="en-US" i="1">
                              <a:latin typeface="Cambria Math" panose="02040503050406030204" pitchFamily="18" charset="0"/>
                            </a:rPr>
                            <m:t>𝑒</m:t>
                          </m:r>
                        </m:e>
                        <m:sup>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S</m:t>
                              </m:r>
                              <m:r>
                                <a:rPr lang="zh-CN" altLang="en-US" i="0">
                                  <a:latin typeface="Cambria Math" panose="02040503050406030204" pitchFamily="18" charset="0"/>
                                </a:rPr>
                                <m:t>2</m:t>
                              </m:r>
                            </m:e>
                          </m:d>
                          <m:r>
                            <m:rPr>
                              <m:sty m:val="p"/>
                            </m:rPr>
                            <a:rPr lang="zh-CN" altLang="en-US" i="0">
                              <a:latin typeface="Cambria Math" panose="02040503050406030204" pitchFamily="18" charset="0"/>
                            </a:rPr>
                            <m:t>θ</m:t>
                          </m:r>
                          <m:r>
                            <a:rPr lang="zh-CN" altLang="en-US" i="0">
                              <a:latin typeface="Cambria Math" panose="02040503050406030204" pitchFamily="18" charset="0"/>
                            </a:rPr>
                            <m:t>2</m:t>
                          </m:r>
                        </m:sup>
                      </m:sSup>
                      <m:sSup>
                        <m:sSupPr>
                          <m:ctrlPr>
                            <a:rPr lang="zh-CN" altLang="en-US" i="1">
                              <a:latin typeface="Cambria Math" panose="02040503050406030204" pitchFamily="18" charset="0"/>
                            </a:rPr>
                          </m:ctrlPr>
                        </m:sSupPr>
                        <m:e>
                          <m:r>
                            <a:rPr lang="zh-CN" altLang="en-US" i="1">
                              <a:latin typeface="Cambria Math" panose="02040503050406030204" pitchFamily="18" charset="0"/>
                            </a:rPr>
                            <m:t>𝑒</m:t>
                          </m:r>
                        </m:e>
                        <m:sup>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S</m:t>
                              </m:r>
                              <m:r>
                                <a:rPr lang="zh-CN" altLang="en-US" i="0">
                                  <a:latin typeface="Cambria Math" panose="02040503050406030204" pitchFamily="18" charset="0"/>
                                </a:rPr>
                                <m:t>3</m:t>
                              </m:r>
                            </m:e>
                          </m:d>
                          <m:r>
                            <m:rPr>
                              <m:sty m:val="p"/>
                            </m:rPr>
                            <a:rPr lang="zh-CN" altLang="en-US" i="0">
                              <a:latin typeface="Cambria Math" panose="02040503050406030204" pitchFamily="18" charset="0"/>
                            </a:rPr>
                            <m:t>θ</m:t>
                          </m:r>
                          <m:r>
                            <a:rPr lang="zh-CN" altLang="en-US" i="0">
                              <a:latin typeface="Cambria Math" panose="02040503050406030204" pitchFamily="18" charset="0"/>
                            </a:rPr>
                            <m:t>3</m:t>
                          </m:r>
                        </m:sup>
                      </m:sSup>
                      <m:sSup>
                        <m:sSupPr>
                          <m:ctrlPr>
                            <a:rPr lang="zh-CN" altLang="en-US" i="1">
                              <a:latin typeface="Cambria Math" panose="02040503050406030204" pitchFamily="18" charset="0"/>
                            </a:rPr>
                          </m:ctrlPr>
                        </m:sSupPr>
                        <m:e>
                          <m:r>
                            <a:rPr lang="zh-CN" altLang="en-US" i="1">
                              <a:latin typeface="Cambria Math" panose="02040503050406030204" pitchFamily="18" charset="0"/>
                            </a:rPr>
                            <m:t>𝑒</m:t>
                          </m:r>
                        </m:e>
                        <m:sup>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S</m:t>
                              </m:r>
                              <m:r>
                                <a:rPr lang="zh-CN" altLang="en-US" i="0">
                                  <a:latin typeface="Cambria Math" panose="02040503050406030204" pitchFamily="18" charset="0"/>
                                </a:rPr>
                                <m:t>4</m:t>
                              </m:r>
                            </m:e>
                          </m:d>
                          <m:r>
                            <m:rPr>
                              <m:sty m:val="p"/>
                            </m:rPr>
                            <a:rPr lang="zh-CN" altLang="en-US" i="0">
                              <a:latin typeface="Cambria Math" panose="02040503050406030204" pitchFamily="18" charset="0"/>
                            </a:rPr>
                            <m:t>θ</m:t>
                          </m:r>
                          <m:r>
                            <a:rPr lang="zh-CN" altLang="en-US" i="0">
                              <a:latin typeface="Cambria Math" panose="02040503050406030204" pitchFamily="18" charset="0"/>
                            </a:rPr>
                            <m:t>4</m:t>
                          </m:r>
                        </m:sup>
                      </m:sSup>
                      <m:sSup>
                        <m:sSupPr>
                          <m:ctrlPr>
                            <a:rPr lang="zh-CN" altLang="en-US" i="1">
                              <a:latin typeface="Cambria Math" panose="02040503050406030204" pitchFamily="18" charset="0"/>
                            </a:rPr>
                          </m:ctrlPr>
                        </m:sSupPr>
                        <m:e>
                          <m:r>
                            <a:rPr lang="zh-CN" altLang="en-US" i="1">
                              <a:latin typeface="Cambria Math" panose="02040503050406030204" pitchFamily="18" charset="0"/>
                            </a:rPr>
                            <m:t>𝑒</m:t>
                          </m:r>
                        </m:e>
                        <m:sup>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S</m:t>
                              </m:r>
                              <m:r>
                                <a:rPr lang="zh-CN" altLang="en-US" i="0">
                                  <a:latin typeface="Cambria Math" panose="02040503050406030204" pitchFamily="18" charset="0"/>
                                </a:rPr>
                                <m:t>5</m:t>
                              </m:r>
                            </m:e>
                          </m:d>
                          <m:r>
                            <m:rPr>
                              <m:sty m:val="p"/>
                            </m:rPr>
                            <a:rPr lang="zh-CN" altLang="en-US" i="0">
                              <a:latin typeface="Cambria Math" panose="02040503050406030204" pitchFamily="18" charset="0"/>
                            </a:rPr>
                            <m:t>θ</m:t>
                          </m:r>
                          <m:r>
                            <a:rPr lang="zh-CN" altLang="en-US" i="0">
                              <a:latin typeface="Cambria Math" panose="02040503050406030204" pitchFamily="18" charset="0"/>
                            </a:rPr>
                            <m:t>5</m:t>
                          </m:r>
                        </m:sup>
                      </m:sSup>
                      <m:sSup>
                        <m:sSupPr>
                          <m:ctrlPr>
                            <a:rPr lang="zh-CN" altLang="en-US" i="1">
                              <a:latin typeface="Cambria Math" panose="02040503050406030204" pitchFamily="18" charset="0"/>
                            </a:rPr>
                          </m:ctrlPr>
                        </m:sSupPr>
                        <m:e>
                          <m:r>
                            <a:rPr lang="zh-CN" altLang="en-US" i="1">
                              <a:latin typeface="Cambria Math" panose="02040503050406030204" pitchFamily="18" charset="0"/>
                            </a:rPr>
                            <m:t>𝑒</m:t>
                          </m:r>
                        </m:e>
                        <m:sup>
                          <m:d>
                            <m:dPr>
                              <m:begChr m:val="["/>
                              <m:endChr m:val="]"/>
                              <m:ctrlPr>
                                <a:rPr lang="zh-CN" altLang="en-US" i="1">
                                  <a:latin typeface="Cambria Math" panose="02040503050406030204" pitchFamily="18" charset="0"/>
                                </a:rPr>
                              </m:ctrlPr>
                            </m:dPr>
                            <m:e>
                              <m:r>
                                <m:rPr>
                                  <m:sty m:val="p"/>
                                </m:rPr>
                                <a:rPr lang="zh-CN" altLang="en-US" i="0">
                                  <a:latin typeface="Cambria Math" panose="02040503050406030204" pitchFamily="18" charset="0"/>
                                </a:rPr>
                                <m:t>S</m:t>
                              </m:r>
                              <m:r>
                                <a:rPr lang="zh-CN" altLang="en-US" i="0">
                                  <a:latin typeface="Cambria Math" panose="02040503050406030204" pitchFamily="18" charset="0"/>
                                </a:rPr>
                                <m:t>6</m:t>
                              </m:r>
                            </m:e>
                          </m:d>
                          <m:r>
                            <m:rPr>
                              <m:sty m:val="p"/>
                            </m:rPr>
                            <a:rPr lang="zh-CN" altLang="en-US" i="0">
                              <a:latin typeface="Cambria Math" panose="02040503050406030204" pitchFamily="18" charset="0"/>
                            </a:rPr>
                            <m:t>θ</m:t>
                          </m:r>
                          <m:r>
                            <a:rPr lang="zh-CN" altLang="en-US" i="0">
                              <a:latin typeface="Cambria Math" panose="02040503050406030204" pitchFamily="18" charset="0"/>
                            </a:rPr>
                            <m:t>6</m:t>
                          </m:r>
                        </m:sup>
                      </m:sSup>
                      <m:r>
                        <a:rPr lang="zh-CN" altLang="en-US" i="1">
                          <a:latin typeface="Cambria Math" panose="02040503050406030204" pitchFamily="18" charset="0"/>
                        </a:rPr>
                        <m:t>𝑀</m:t>
                      </m:r>
                    </m:oMath>
                  </m:oMathPara>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1562884" y="1643163"/>
                <a:ext cx="5454352" cy="388311"/>
              </a:xfrm>
              <a:prstGeom prst="rect">
                <a:avLst/>
              </a:prstGeom>
              <a:blipFill>
                <a:blip r:embed="rId3"/>
                <a:stretch>
                  <a:fillRect b="-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899592" y="1041445"/>
                <a:ext cx="7776864" cy="584775"/>
              </a:xfrm>
              <a:prstGeom prst="rect">
                <a:avLst/>
              </a:prstGeom>
              <a:noFill/>
            </p:spPr>
            <p:txBody>
              <a:bodyPr wrap="square" rtlCol="0">
                <a:spAutoFit/>
              </a:bodyPr>
              <a:lstStyle/>
              <a:p>
                <a:r>
                  <a:rPr lang="zh-CN" altLang="en-US" sz="1600" dirty="0" smtClean="0"/>
                  <a:t>正运动学方程：已知</a:t>
                </a:r>
                <a:r>
                  <a:rPr lang="zh-CN" altLang="zh-CN" sz="1600" dirty="0"/>
                  <a:t>六个关节的旋转角为</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m:t>
                        </m:r>
                        <m:r>
                          <a:rPr lang="en-US" altLang="zh-CN" sz="1600" i="1">
                            <a:latin typeface="Cambria Math" panose="02040503050406030204" pitchFamily="18" charset="0"/>
                          </a:rPr>
                          <m:t>𝜃</m:t>
                        </m:r>
                      </m:e>
                      <m:sub>
                        <m:r>
                          <a:rPr lang="en-US" altLang="zh-CN" sz="1600" i="1">
                            <a:latin typeface="Cambria Math" panose="02040503050406030204" pitchFamily="18" charset="0"/>
                          </a:rPr>
                          <m:t>1</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𝜃</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𝜃</m:t>
                        </m:r>
                      </m:e>
                      <m:sub>
                        <m:r>
                          <a:rPr lang="en-US" altLang="zh-CN" sz="1600" i="1">
                            <a:latin typeface="Cambria Math" panose="02040503050406030204" pitchFamily="18" charset="0"/>
                          </a:rPr>
                          <m:t>3</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𝜃</m:t>
                        </m:r>
                      </m:e>
                      <m:sub>
                        <m:r>
                          <a:rPr lang="en-US" altLang="zh-CN" sz="1600" i="1">
                            <a:latin typeface="Cambria Math" panose="02040503050406030204" pitchFamily="18" charset="0"/>
                          </a:rPr>
                          <m:t>4</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𝜃</m:t>
                        </m:r>
                      </m:e>
                      <m:sub>
                        <m:r>
                          <a:rPr lang="en-US" altLang="zh-CN" sz="1600" i="1">
                            <a:latin typeface="Cambria Math" panose="02040503050406030204" pitchFamily="18" charset="0"/>
                          </a:rPr>
                          <m:t>5</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𝜃</m:t>
                        </m:r>
                      </m:e>
                      <m:sub>
                        <m:r>
                          <a:rPr lang="en-US" altLang="zh-CN" sz="1600" i="1">
                            <a:latin typeface="Cambria Math" panose="02040503050406030204" pitchFamily="18" charset="0"/>
                          </a:rPr>
                          <m:t>6</m:t>
                        </m:r>
                      </m:sub>
                    </m:sSub>
                    <m:r>
                      <a:rPr lang="en-US" altLang="zh-CN" sz="1600" i="1">
                        <a:latin typeface="Cambria Math" panose="02040503050406030204" pitchFamily="18" charset="0"/>
                      </a:rPr>
                      <m:t>)</m:t>
                    </m:r>
                  </m:oMath>
                </a14:m>
                <a:r>
                  <a:rPr lang="zh-CN" altLang="en-US" sz="1600" dirty="0" smtClean="0"/>
                  <a:t>，求</a:t>
                </a:r>
                <a:r>
                  <a:rPr lang="zh-CN" altLang="zh-CN" sz="1600" dirty="0"/>
                  <a:t>末端工具坐标系的位姿矩阵</a:t>
                </a:r>
                <a:r>
                  <a:rPr lang="en-US" altLang="zh-CN" sz="1600" i="1" dirty="0" smtClean="0"/>
                  <a:t>T</a:t>
                </a:r>
                <a:r>
                  <a:rPr lang="zh-CN" altLang="en-US" sz="1600" i="1" dirty="0" smtClean="0"/>
                  <a:t>：</a:t>
                </a:r>
                <a:endParaRPr lang="zh-CN" altLang="en-US" sz="1600" dirty="0"/>
              </a:p>
            </p:txBody>
          </p:sp>
        </mc:Choice>
        <mc:Fallback xmlns="">
          <p:sp>
            <p:nvSpPr>
              <p:cNvPr id="8" name="文本框 7"/>
              <p:cNvSpPr txBox="1">
                <a:spLocks noRot="1" noChangeAspect="1" noMove="1" noResize="1" noEditPoints="1" noAdjustHandles="1" noChangeArrowheads="1" noChangeShapeType="1" noTextEdit="1"/>
              </p:cNvSpPr>
              <p:nvPr/>
            </p:nvSpPr>
            <p:spPr>
              <a:xfrm>
                <a:off x="899592" y="1041445"/>
                <a:ext cx="7776864" cy="584775"/>
              </a:xfrm>
              <a:prstGeom prst="rect">
                <a:avLst/>
              </a:prstGeom>
              <a:blipFill>
                <a:blip r:embed="rId4"/>
                <a:stretch>
                  <a:fillRect l="-471" t="-4167" b="-135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2286000" y="2118998"/>
                <a:ext cx="5742384" cy="558358"/>
              </a:xfrm>
              <a:prstGeom prst="rect">
                <a:avLst/>
              </a:prstGeom>
            </p:spPr>
            <p:txBody>
              <a:bodyPr wrap="square">
                <a:spAutoFit/>
              </a:bodyPr>
              <a:lstStyle/>
              <a:p>
                <a14:m>
                  <m:oMath xmlns:m="http://schemas.openxmlformats.org/officeDocument/2006/math">
                    <m:sSup>
                      <m:sSupPr>
                        <m:ctrlPr>
                          <a:rPr lang="zh-CN" altLang="zh-CN" sz="1600" i="1">
                            <a:latin typeface="Cambria Math" panose="02040503050406030204" pitchFamily="18" charset="0"/>
                            <a:ea typeface="Cambria Math" panose="02040503050406030204" pitchFamily="18" charset="0"/>
                          </a:rPr>
                        </m:ctrlPr>
                      </m:sSup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𝑒</m:t>
                        </m:r>
                      </m:e>
                      <m:sup>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𝑠</m:t>
                        </m:r>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sup>
                    </m:sSup>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d>
                      <m:dPr>
                        <m:begChr m:val="["/>
                        <m:endChr m:val="]"/>
                        <m:ctrlPr>
                          <a:rPr lang="zh-CN" altLang="zh-CN" sz="1600" i="1">
                            <a:effectLst/>
                            <a:latin typeface="Cambria Math" panose="02040503050406030204" pitchFamily="18" charset="0"/>
                            <a:ea typeface="Cambria Math" panose="02040503050406030204" pitchFamily="18" charset="0"/>
                          </a:rPr>
                        </m:ctrlPr>
                      </m:dPr>
                      <m:e>
                        <m:m>
                          <m:mPr>
                            <m:mcs>
                              <m:mc>
                                <m:mcPr>
                                  <m:count m:val="2"/>
                                  <m:mcJc m:val="center"/>
                                </m:mcPr>
                              </m:mc>
                            </m:mcs>
                            <m:ctrlPr>
                              <a:rPr lang="zh-CN" altLang="zh-CN" sz="1600" i="1">
                                <a:effectLst/>
                                <a:latin typeface="Cambria Math" panose="02040503050406030204" pitchFamily="18" charset="0"/>
                                <a:ea typeface="Cambria Math" panose="02040503050406030204" pitchFamily="18" charset="0"/>
                              </a:rPr>
                            </m:ctrlPr>
                          </m:mPr>
                          <m:mr>
                            <m:e>
                              <m:sSup>
                                <m:sSupPr>
                                  <m:ctrlPr>
                                    <a:rPr lang="zh-CN" altLang="zh-CN" sz="1600" i="1">
                                      <a:effectLst/>
                                      <a:latin typeface="Cambria Math" panose="02040503050406030204" pitchFamily="18" charset="0"/>
                                      <a:ea typeface="Cambria Math" panose="02040503050406030204" pitchFamily="18" charset="0"/>
                                    </a:rPr>
                                  </m:ctrlPr>
                                </m:sSup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𝑒</m:t>
                                  </m:r>
                                </m:e>
                                <m:sup>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acc>
                                    <m:accPr>
                                      <m:chr m:val="̂"/>
                                      <m:ctrlPr>
                                        <a:rPr lang="zh-CN" altLang="zh-CN" sz="1600" i="1">
                                          <a:effectLst/>
                                          <a:latin typeface="Cambria Math" panose="02040503050406030204" pitchFamily="18" charset="0"/>
                                          <a:ea typeface="Cambria Math" panose="02040503050406030204" pitchFamily="18" charset="0"/>
                                        </a:rPr>
                                      </m:ctrlPr>
                                    </m:acc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𝜔</m:t>
                                      </m:r>
                                    </m:e>
                                  </m:acc>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sup>
                              </m:sSup>
                            </m:e>
                            <m:e>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𝐼</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r>
                                <a:rPr lang="en-US" altLang="zh-CN" sz="1600" i="1">
                                  <a:latin typeface="Cambria Math" panose="02040503050406030204" pitchFamily="18" charset="0"/>
                                  <a:ea typeface="等线" panose="02010600030101010101" pitchFamily="2" charset="-122"/>
                                  <a:cs typeface="Times New Roman" panose="02020603050405020304" pitchFamily="18" charset="0"/>
                                </a:rPr>
                                <m:t>+(1−</m:t>
                              </m:r>
                              <m:func>
                                <m:funcPr>
                                  <m:ctrlPr>
                                    <a:rPr lang="zh-CN" altLang="zh-CN" sz="1600" i="1">
                                      <a:effectLst/>
                                      <a:latin typeface="Cambria Math" panose="02040503050406030204" pitchFamily="18" charset="0"/>
                                      <a:ea typeface="Cambria Math" panose="02040503050406030204" pitchFamily="18" charset="0"/>
                                    </a:rPr>
                                  </m:ctrlPr>
                                </m:funcPr>
                                <m:fName>
                                  <m:r>
                                    <m:rPr>
                                      <m:sty m:val="p"/>
                                    </m:rPr>
                                    <a:rPr lang="en-US" altLang="zh-CN" sz="1600">
                                      <a:latin typeface="Cambria Math" panose="02040503050406030204" pitchFamily="18" charset="0"/>
                                      <a:ea typeface="等线" panose="02010600030101010101" pitchFamily="2" charset="-122"/>
                                      <a:cs typeface="Times New Roman" panose="02020603050405020304" pitchFamily="18" charset="0"/>
                                    </a:rPr>
                                    <m:t>cos</m:t>
                                  </m:r>
                                </m:fName>
                                <m:e>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acc>
                                    <m:accPr>
                                      <m:chr m:val="̂"/>
                                      <m:ctrlPr>
                                        <a:rPr lang="zh-CN" altLang="zh-CN" sz="1600" i="1">
                                          <a:effectLst/>
                                          <a:latin typeface="Cambria Math" panose="02040503050406030204" pitchFamily="18" charset="0"/>
                                          <a:ea typeface="Cambria Math" panose="02040503050406030204" pitchFamily="18" charset="0"/>
                                        </a:rPr>
                                      </m:ctrlPr>
                                    </m:acc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𝜔</m:t>
                                      </m:r>
                                    </m:e>
                                  </m:acc>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e>
                              </m:func>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func>
                                <m:funcPr>
                                  <m:ctrlPr>
                                    <a:rPr lang="zh-CN" altLang="zh-CN" sz="1600" i="1">
                                      <a:effectLst/>
                                      <a:latin typeface="Cambria Math" panose="02040503050406030204" pitchFamily="18" charset="0"/>
                                      <a:ea typeface="Cambria Math" panose="02040503050406030204" pitchFamily="18" charset="0"/>
                                    </a:rPr>
                                  </m:ctrlPr>
                                </m:funcPr>
                                <m:fName>
                                  <m:r>
                                    <m:rPr>
                                      <m:sty m:val="p"/>
                                    </m:rPr>
                                    <a:rPr lang="en-US" altLang="zh-CN" sz="1600">
                                      <a:latin typeface="Cambria Math" panose="02040503050406030204" pitchFamily="18" charset="0"/>
                                      <a:ea typeface="等线" panose="02010600030101010101" pitchFamily="2" charset="-122"/>
                                      <a:cs typeface="Times New Roman" panose="02020603050405020304" pitchFamily="18" charset="0"/>
                                    </a:rPr>
                                    <m:t>sin</m:t>
                                  </m:r>
                                </m:fName>
                                <m:e>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e>
                              </m:func>
                              <m:sSup>
                                <m:sSupPr>
                                  <m:ctrlPr>
                                    <a:rPr lang="zh-CN" altLang="zh-CN" sz="1600" i="1">
                                      <a:effectLst/>
                                      <a:latin typeface="Cambria Math" panose="02040503050406030204" pitchFamily="18" charset="0"/>
                                      <a:ea typeface="Cambria Math" panose="02040503050406030204" pitchFamily="18" charset="0"/>
                                    </a:rPr>
                                  </m:ctrlPr>
                                </m:sSupPr>
                                <m:e>
                                  <m:d>
                                    <m:dPr>
                                      <m:begChr m:val="["/>
                                      <m:endChr m:val="]"/>
                                      <m:ctrlPr>
                                        <a:rPr lang="zh-CN" altLang="zh-CN" sz="1600" i="1">
                                          <a:effectLst/>
                                          <a:latin typeface="Cambria Math" panose="02040503050406030204" pitchFamily="18" charset="0"/>
                                          <a:ea typeface="Cambria Math" panose="02040503050406030204" pitchFamily="18" charset="0"/>
                                        </a:rPr>
                                      </m:ctrlPr>
                                    </m:dPr>
                                    <m:e>
                                      <m:acc>
                                        <m:accPr>
                                          <m:chr m:val="̂"/>
                                          <m:ctrlPr>
                                            <a:rPr lang="zh-CN" altLang="zh-CN" sz="1600" i="1">
                                              <a:effectLst/>
                                              <a:latin typeface="Cambria Math" panose="02040503050406030204" pitchFamily="18" charset="0"/>
                                              <a:ea typeface="Cambria Math" panose="02040503050406030204" pitchFamily="18" charset="0"/>
                                            </a:rPr>
                                          </m:ctrlPr>
                                        </m:acc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𝜔</m:t>
                                          </m:r>
                                        </m:e>
                                      </m:acc>
                                    </m:e>
                                  </m:d>
                                </m:e>
                                <m:sup>
                                  <m:r>
                                    <a:rPr lang="en-US" altLang="zh-CN" sz="16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𝑣</m:t>
                              </m:r>
                            </m:e>
                          </m:mr>
                          <m:mr>
                            <m:e>
                              <m:r>
                                <a:rPr lang="en-US" altLang="zh-CN" sz="1600" i="1">
                                  <a:latin typeface="Cambria Math" panose="02040503050406030204" pitchFamily="18" charset="0"/>
                                  <a:ea typeface="等线" panose="02010600030101010101" pitchFamily="2" charset="-122"/>
                                  <a:cs typeface="Times New Roman" panose="02020603050405020304" pitchFamily="18" charset="0"/>
                                </a:rPr>
                                <m:t>0</m:t>
                              </m:r>
                            </m:e>
                            <m:e>
                              <m:r>
                                <a:rPr lang="en-US" altLang="zh-CN" sz="1600" i="1">
                                  <a:latin typeface="Cambria Math" panose="02040503050406030204" pitchFamily="18" charset="0"/>
                                  <a:ea typeface="等线" panose="02010600030101010101" pitchFamily="2" charset="-122"/>
                                  <a:cs typeface="Times New Roman" panose="02020603050405020304" pitchFamily="18" charset="0"/>
                                </a:rPr>
                                <m:t>1</m:t>
                              </m:r>
                            </m:e>
                          </m:mr>
                        </m:m>
                      </m:e>
                    </m:d>
                  </m:oMath>
                </a14:m>
                <a:r>
                  <a:rPr lang="en-US" altLang="zh-CN" sz="1600" dirty="0">
                    <a:latin typeface="等线" panose="02010600030101010101" pitchFamily="2" charset="-122"/>
                    <a:cs typeface="Times New Roman" panose="02020603050405020304" pitchFamily="18" charset="0"/>
                  </a:rPr>
                  <a:t> </a:t>
                </a:r>
                <a:endParaRPr lang="zh-CN" altLang="en-US" sz="1600" dirty="0"/>
              </a:p>
            </p:txBody>
          </p:sp>
        </mc:Choice>
        <mc:Fallback xmlns="">
          <p:sp>
            <p:nvSpPr>
              <p:cNvPr id="9" name="矩形 8"/>
              <p:cNvSpPr>
                <a:spLocks noRot="1" noChangeAspect="1" noMove="1" noResize="1" noEditPoints="1" noAdjustHandles="1" noChangeArrowheads="1" noChangeShapeType="1" noTextEdit="1"/>
              </p:cNvSpPr>
              <p:nvPr/>
            </p:nvSpPr>
            <p:spPr>
              <a:xfrm>
                <a:off x="2286000" y="2118998"/>
                <a:ext cx="5742384" cy="558358"/>
              </a:xfrm>
              <a:prstGeom prst="rect">
                <a:avLst/>
              </a:prstGeom>
              <a:blipFill>
                <a:blip r:embed="rId5"/>
                <a:stretch>
                  <a:fillRect t="-1099" b="-43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2884318" y="4299942"/>
                <a:ext cx="1946622" cy="5521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𝑒</m:t>
                          </m:r>
                        </m:e>
                        <m:sup>
                          <m:d>
                            <m:dPr>
                              <m:begChr m:val="["/>
                              <m:endChr m:val=""/>
                              <m:ctrlPr>
                                <a:rPr lang="zh-CN" altLang="en-US" sz="1600" i="1">
                                  <a:latin typeface="Cambria Math" panose="02040503050406030204" pitchFamily="18" charset="0"/>
                                </a:rPr>
                              </m:ctrlPr>
                            </m:dPr>
                            <m:e>
                              <m:r>
                                <a:rPr lang="zh-CN" altLang="en-US" sz="1600" i="1">
                                  <a:latin typeface="Cambria Math" panose="02040503050406030204" pitchFamily="18" charset="0"/>
                                </a:rPr>
                                <m:t>𝑠</m:t>
                              </m:r>
                              <m:r>
                                <a:rPr lang="zh-CN" altLang="en-US" sz="1600" i="0">
                                  <a:latin typeface="Cambria Math" panose="02040503050406030204" pitchFamily="18" charset="0"/>
                                </a:rPr>
                                <m:t>]</m:t>
                              </m:r>
                              <m:r>
                                <a:rPr lang="zh-CN" altLang="en-US" sz="1600" i="1">
                                  <a:latin typeface="Cambria Math" panose="02040503050406030204" pitchFamily="18" charset="0"/>
                                </a:rPr>
                                <m:t>𝜃</m:t>
                              </m:r>
                            </m:e>
                          </m:d>
                        </m:sup>
                      </m:sSup>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m>
                            <m:mPr>
                              <m:mcs>
                                <m:mc>
                                  <m:mcPr>
                                    <m:count m:val="2"/>
                                    <m:mcJc m:val="center"/>
                                  </m:mcPr>
                                </m:mc>
                              </m:mcs>
                              <m:ctrlPr>
                                <a:rPr lang="zh-CN" altLang="en-US" sz="1600" i="1">
                                  <a:latin typeface="Cambria Math" panose="02040503050406030204" pitchFamily="18" charset="0"/>
                                </a:rPr>
                              </m:ctrlPr>
                            </m:mPr>
                            <m:mr>
                              <m:e>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𝑒</m:t>
                                    </m:r>
                                  </m:e>
                                  <m:sup>
                                    <m:d>
                                      <m:dPr>
                                        <m:begChr m:val="["/>
                                        <m:endChr m:val=""/>
                                        <m:ctrlPr>
                                          <a:rPr lang="zh-CN" altLang="en-US" sz="1600" i="1">
                                            <a:latin typeface="Cambria Math" panose="02040503050406030204" pitchFamily="18" charset="0"/>
                                          </a:rPr>
                                        </m:ctrlPr>
                                      </m:d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𝜔</m:t>
                                            </m:r>
                                          </m:e>
                                        </m:acc>
                                        <m:r>
                                          <a:rPr lang="zh-CN" altLang="en-US" sz="1600" i="0">
                                            <a:latin typeface="Cambria Math" panose="02040503050406030204" pitchFamily="18" charset="0"/>
                                          </a:rPr>
                                          <m:t>]</m:t>
                                        </m:r>
                                        <m:r>
                                          <a:rPr lang="zh-CN" altLang="en-US" sz="1600" i="1">
                                            <a:latin typeface="Cambria Math" panose="02040503050406030204" pitchFamily="18" charset="0"/>
                                          </a:rPr>
                                          <m:t>𝜃</m:t>
                                        </m:r>
                                      </m:e>
                                    </m:d>
                                  </m:sup>
                                </m:sSup>
                              </m:e>
                              <m:e>
                                <m:r>
                                  <a:rPr lang="zh-CN" altLang="en-US" sz="1600" i="1">
                                    <a:latin typeface="Cambria Math" panose="02040503050406030204" pitchFamily="18" charset="0"/>
                                  </a:rPr>
                                  <m:t>𝑣</m:t>
                                </m:r>
                                <m:r>
                                  <a:rPr lang="zh-CN" altLang="en-US" sz="1600" i="1">
                                    <a:latin typeface="Cambria Math" panose="02040503050406030204" pitchFamily="18" charset="0"/>
                                  </a:rPr>
                                  <m:t>𝜃</m:t>
                                </m:r>
                              </m:e>
                            </m:mr>
                            <m:mr>
                              <m:e>
                                <m:r>
                                  <a:rPr lang="zh-CN" altLang="en-US" sz="1600" i="0">
                                    <a:latin typeface="Cambria Math" panose="02040503050406030204" pitchFamily="18" charset="0"/>
                                  </a:rPr>
                                  <m:t>0</m:t>
                                </m:r>
                              </m:e>
                              <m:e>
                                <m:r>
                                  <a:rPr lang="zh-CN" altLang="en-US" sz="1600" i="0">
                                    <a:latin typeface="Cambria Math" panose="02040503050406030204" pitchFamily="18" charset="0"/>
                                  </a:rPr>
                                  <m:t>1</m:t>
                                </m:r>
                              </m:e>
                            </m:mr>
                          </m:m>
                        </m:e>
                      </m:d>
                    </m:oMath>
                  </m:oMathPara>
                </a14:m>
                <a:endParaRPr lang="zh-CN" altLang="en-US" sz="1600" dirty="0"/>
              </a:p>
            </p:txBody>
          </p:sp>
        </mc:Choice>
        <mc:Fallback xmlns="">
          <p:sp>
            <p:nvSpPr>
              <p:cNvPr id="13" name="矩形 12"/>
              <p:cNvSpPr>
                <a:spLocks noRot="1" noChangeAspect="1" noMove="1" noResize="1" noEditPoints="1" noAdjustHandles="1" noChangeArrowheads="1" noChangeShapeType="1" noTextEdit="1"/>
              </p:cNvSpPr>
              <p:nvPr/>
            </p:nvSpPr>
            <p:spPr>
              <a:xfrm>
                <a:off x="2884318" y="4299942"/>
                <a:ext cx="1946622" cy="552139"/>
              </a:xfrm>
              <a:prstGeom prst="rect">
                <a:avLst/>
              </a:prstGeom>
              <a:blipFill>
                <a:blip r:embed="rId6"/>
                <a:stretch>
                  <a:fillRect l="-1567" t="-47253" b="-384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2964608" y="2696374"/>
                <a:ext cx="3646832" cy="352917"/>
              </a:xfrm>
              <a:prstGeom prst="rect">
                <a:avLst/>
              </a:prstGeom>
            </p:spPr>
            <p:txBody>
              <a:bodyPr wrap="none">
                <a:spAutoFit/>
              </a:bodyPr>
              <a:lstStyle/>
              <a:p>
                <a14:m>
                  <m:oMath xmlns:m="http://schemas.openxmlformats.org/officeDocument/2006/math">
                    <m:sSup>
                      <m:sSupPr>
                        <m:ctrlPr>
                          <a:rPr lang="zh-CN" altLang="zh-CN" sz="1600" i="1">
                            <a:latin typeface="Cambria Math" panose="02040503050406030204" pitchFamily="18" charset="0"/>
                            <a:ea typeface="Cambria Math" panose="02040503050406030204" pitchFamily="18" charset="0"/>
                          </a:rPr>
                        </m:ctrlPr>
                      </m:sSup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𝑒</m:t>
                        </m:r>
                      </m:e>
                      <m:sup>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acc>
                          <m:accPr>
                            <m:chr m:val="̂"/>
                            <m:ctrlPr>
                              <a:rPr lang="zh-CN" altLang="zh-CN" sz="1600" i="1">
                                <a:effectLst/>
                                <a:latin typeface="Cambria Math" panose="02040503050406030204" pitchFamily="18" charset="0"/>
                                <a:ea typeface="Cambria Math" panose="02040503050406030204" pitchFamily="18" charset="0"/>
                              </a:rPr>
                            </m:ctrlPr>
                          </m:acc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𝜔</m:t>
                            </m:r>
                          </m:e>
                        </m:acc>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sup>
                    </m:sSup>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𝐼</m:t>
                    </m:r>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func>
                      <m:funcPr>
                        <m:ctrlPr>
                          <a:rPr lang="zh-CN" altLang="zh-CN" sz="1600" i="1">
                            <a:effectLst/>
                            <a:latin typeface="Cambria Math" panose="02040503050406030204" pitchFamily="18" charset="0"/>
                            <a:ea typeface="Cambria Math" panose="02040503050406030204" pitchFamily="18" charset="0"/>
                          </a:rPr>
                        </m:ctrlPr>
                      </m:funcPr>
                      <m:fName>
                        <m:r>
                          <m:rPr>
                            <m:sty m:val="p"/>
                          </m:rPr>
                          <a:rPr lang="en-US" altLang="zh-CN" sz="1600">
                            <a:latin typeface="Cambria Math" panose="02040503050406030204" pitchFamily="18" charset="0"/>
                            <a:ea typeface="等线" panose="02010600030101010101" pitchFamily="2" charset="-122"/>
                            <a:cs typeface="Times New Roman" panose="02020603050405020304" pitchFamily="18" charset="0"/>
                          </a:rPr>
                          <m:t>sin</m:t>
                        </m:r>
                      </m:fName>
                      <m:e>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e>
                    </m:func>
                    <m:d>
                      <m:dPr>
                        <m:begChr m:val="["/>
                        <m:endChr m:val="]"/>
                        <m:ctrlPr>
                          <a:rPr lang="zh-CN" altLang="zh-CN" sz="1600" i="1">
                            <a:effectLst/>
                            <a:latin typeface="Cambria Math" panose="02040503050406030204" pitchFamily="18" charset="0"/>
                            <a:ea typeface="Cambria Math" panose="02040503050406030204" pitchFamily="18" charset="0"/>
                          </a:rPr>
                        </m:ctrlPr>
                      </m:dPr>
                      <m:e>
                        <m:acc>
                          <m:accPr>
                            <m:chr m:val="̂"/>
                            <m:ctrlPr>
                              <a:rPr lang="zh-CN" altLang="zh-CN" sz="1600" i="1">
                                <a:effectLst/>
                                <a:latin typeface="Cambria Math" panose="02040503050406030204" pitchFamily="18" charset="0"/>
                                <a:ea typeface="Cambria Math" panose="02040503050406030204" pitchFamily="18" charset="0"/>
                              </a:rPr>
                            </m:ctrlPr>
                          </m:acc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𝜔</m:t>
                            </m:r>
                          </m:e>
                        </m:acc>
                      </m:e>
                    </m:d>
                    <m:r>
                      <a:rPr lang="en-US" altLang="zh-CN" sz="1600" i="1">
                        <a:latin typeface="Cambria Math" panose="02040503050406030204" pitchFamily="18" charset="0"/>
                        <a:ea typeface="等线" panose="02010600030101010101" pitchFamily="2" charset="-122"/>
                        <a:cs typeface="Times New Roman" panose="02020603050405020304" pitchFamily="18" charset="0"/>
                      </a:rPr>
                      <m:t>+(1−</m:t>
                    </m:r>
                    <m:func>
                      <m:funcPr>
                        <m:ctrlPr>
                          <a:rPr lang="zh-CN" altLang="zh-CN" sz="1600" i="1">
                            <a:effectLst/>
                            <a:latin typeface="Cambria Math" panose="02040503050406030204" pitchFamily="18" charset="0"/>
                            <a:ea typeface="Cambria Math" panose="02040503050406030204" pitchFamily="18" charset="0"/>
                          </a:rPr>
                        </m:ctrlPr>
                      </m:funcPr>
                      <m:fName>
                        <m:r>
                          <m:rPr>
                            <m:sty m:val="p"/>
                          </m:rPr>
                          <a:rPr lang="en-US" altLang="zh-CN" sz="1600">
                            <a:latin typeface="Cambria Math" panose="02040503050406030204" pitchFamily="18" charset="0"/>
                            <a:ea typeface="等线" panose="02010600030101010101" pitchFamily="2" charset="-122"/>
                            <a:cs typeface="Times New Roman" panose="02020603050405020304" pitchFamily="18" charset="0"/>
                          </a:rPr>
                          <m:t>cos</m:t>
                        </m:r>
                      </m:fName>
                      <m:e>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600" i="1">
                                <a:effectLst/>
                                <a:latin typeface="Cambria Math" panose="02040503050406030204" pitchFamily="18" charset="0"/>
                                <a:ea typeface="Cambria Math" panose="02040503050406030204" pitchFamily="18" charset="0"/>
                              </a:rPr>
                            </m:ctrlPr>
                          </m:sSupPr>
                          <m:e>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acc>
                              <m:accPr>
                                <m:chr m:val="̂"/>
                                <m:ctrlPr>
                                  <a:rPr lang="zh-CN" altLang="zh-CN" sz="1600" i="1">
                                    <a:effectLst/>
                                    <a:latin typeface="Cambria Math" panose="02040503050406030204" pitchFamily="18" charset="0"/>
                                    <a:ea typeface="Cambria Math" panose="02040503050406030204" pitchFamily="18" charset="0"/>
                                  </a:rPr>
                                </m:ctrlPr>
                              </m:acc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𝜔</m:t>
                                </m:r>
                              </m:e>
                            </m:acc>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e>
                          <m:sup>
                            <m:r>
                              <a:rPr lang="en-US" altLang="zh-CN" sz="1600" i="1">
                                <a:latin typeface="Cambria Math" panose="02040503050406030204" pitchFamily="18" charset="0"/>
                                <a:ea typeface="等线" panose="02010600030101010101" pitchFamily="2" charset="-122"/>
                                <a:cs typeface="Times New Roman" panose="02020603050405020304" pitchFamily="18" charset="0"/>
                              </a:rPr>
                              <m:t>2</m:t>
                            </m:r>
                          </m:sup>
                        </m:sSup>
                      </m:e>
                    </m:func>
                  </m:oMath>
                </a14:m>
                <a:r>
                  <a:rPr lang="en-US" altLang="zh-CN" sz="1600" dirty="0">
                    <a:latin typeface="等线" panose="02010600030101010101" pitchFamily="2" charset="-122"/>
                    <a:cs typeface="Times New Roman" panose="02020603050405020304" pitchFamily="18" charset="0"/>
                  </a:rPr>
                  <a:t> </a:t>
                </a:r>
                <a:endParaRPr lang="zh-CN" altLang="en-US" sz="1600" dirty="0"/>
              </a:p>
            </p:txBody>
          </p:sp>
        </mc:Choice>
        <mc:Fallback xmlns="">
          <p:sp>
            <p:nvSpPr>
              <p:cNvPr id="14" name="矩形 13"/>
              <p:cNvSpPr>
                <a:spLocks noRot="1" noChangeAspect="1" noMove="1" noResize="1" noEditPoints="1" noAdjustHandles="1" noChangeArrowheads="1" noChangeShapeType="1" noTextEdit="1"/>
              </p:cNvSpPr>
              <p:nvPr/>
            </p:nvSpPr>
            <p:spPr>
              <a:xfrm>
                <a:off x="2964608" y="2696374"/>
                <a:ext cx="3646832" cy="352917"/>
              </a:xfrm>
              <a:prstGeom prst="rect">
                <a:avLst/>
              </a:prstGeom>
              <a:blipFill>
                <a:blip r:embed="rId7"/>
                <a:stretch>
                  <a:fillRect t="-3448" r="-2003" b="-103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2964608" y="2992974"/>
                <a:ext cx="2556789" cy="8749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600" i="1">
                              <a:latin typeface="Cambria Math" panose="02040503050406030204" pitchFamily="18" charset="0"/>
                            </a:rPr>
                          </m:ctrlPr>
                        </m:d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𝜔</m:t>
                              </m:r>
                            </m:e>
                          </m:acc>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m>
                            <m:mPr>
                              <m:mcs>
                                <m:mc>
                                  <m:mcPr>
                                    <m:count m:val="3"/>
                                    <m:mcJc m:val="center"/>
                                  </m:mcPr>
                                </m:mc>
                              </m:mcs>
                              <m:ctrlPr>
                                <a:rPr lang="zh-CN" altLang="en-US" sz="1600" i="1">
                                  <a:latin typeface="Cambria Math" panose="02040503050406030204" pitchFamily="18" charset="0"/>
                                </a:rPr>
                              </m:ctrlPr>
                            </m:mPr>
                            <m:mr>
                              <m:e>
                                <m:r>
                                  <a:rPr lang="zh-CN" altLang="en-US" sz="1600" i="0">
                                    <a:latin typeface="Cambria Math" panose="02040503050406030204" pitchFamily="18" charset="0"/>
                                  </a:rPr>
                                  <m:t>0</m:t>
                                </m:r>
                              </m:e>
                              <m:e>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𝜔</m:t>
                                    </m:r>
                                  </m:e>
                                  <m:sub>
                                    <m:r>
                                      <a:rPr lang="zh-CN" altLang="en-US" sz="1600" i="1">
                                        <a:latin typeface="Cambria Math" panose="02040503050406030204" pitchFamily="18" charset="0"/>
                                      </a:rPr>
                                      <m:t>𝑧</m:t>
                                    </m:r>
                                  </m:sub>
                                </m:sSub>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𝜔</m:t>
                                    </m:r>
                                  </m:e>
                                  <m:sub>
                                    <m:r>
                                      <a:rPr lang="zh-CN" altLang="en-US" sz="1600" i="1">
                                        <a:latin typeface="Cambria Math" panose="02040503050406030204" pitchFamily="18" charset="0"/>
                                      </a:rPr>
                                      <m:t>𝑦</m:t>
                                    </m:r>
                                  </m:sub>
                                </m:sSub>
                              </m:e>
                            </m:m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𝜔</m:t>
                                    </m:r>
                                  </m:e>
                                  <m:sub>
                                    <m:r>
                                      <a:rPr lang="zh-CN" altLang="en-US" sz="1600" i="1">
                                        <a:latin typeface="Cambria Math" panose="02040503050406030204" pitchFamily="18" charset="0"/>
                                      </a:rPr>
                                      <m:t>𝑧</m:t>
                                    </m:r>
                                  </m:sub>
                                </m:sSub>
                              </m:e>
                              <m:e>
                                <m:r>
                                  <a:rPr lang="zh-CN" altLang="en-US" sz="1600" i="0">
                                    <a:latin typeface="Cambria Math" panose="02040503050406030204" pitchFamily="18" charset="0"/>
                                  </a:rPr>
                                  <m:t>0</m:t>
                                </m:r>
                              </m:e>
                              <m:e>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𝜔</m:t>
                                    </m:r>
                                  </m:e>
                                  <m:sub>
                                    <m:r>
                                      <a:rPr lang="zh-CN" altLang="en-US" sz="1600" i="1">
                                        <a:latin typeface="Cambria Math" panose="02040503050406030204" pitchFamily="18" charset="0"/>
                                      </a:rPr>
                                      <m:t>𝑥</m:t>
                                    </m:r>
                                  </m:sub>
                                </m:sSub>
                              </m:e>
                            </m:mr>
                            <m:mr>
                              <m:e>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𝜔</m:t>
                                    </m:r>
                                  </m:e>
                                  <m:sub>
                                    <m:r>
                                      <a:rPr lang="zh-CN" altLang="en-US" sz="1600" i="1">
                                        <a:latin typeface="Cambria Math" panose="02040503050406030204" pitchFamily="18" charset="0"/>
                                      </a:rPr>
                                      <m:t>𝑦</m:t>
                                    </m:r>
                                  </m:sub>
                                </m:sSub>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𝜔</m:t>
                                    </m:r>
                                  </m:e>
                                  <m:sub>
                                    <m:r>
                                      <a:rPr lang="zh-CN" altLang="en-US" sz="1600" i="1">
                                        <a:latin typeface="Cambria Math" panose="02040503050406030204" pitchFamily="18" charset="0"/>
                                      </a:rPr>
                                      <m:t>𝑥</m:t>
                                    </m:r>
                                  </m:sub>
                                </m:sSub>
                              </m:e>
                              <m:e>
                                <m:r>
                                  <a:rPr lang="zh-CN" altLang="en-US" sz="1600" i="0">
                                    <a:latin typeface="Cambria Math" panose="02040503050406030204" pitchFamily="18" charset="0"/>
                                  </a:rPr>
                                  <m:t>0</m:t>
                                </m:r>
                              </m:e>
                            </m:mr>
                          </m:m>
                        </m:e>
                      </m:d>
                    </m:oMath>
                  </m:oMathPara>
                </a14:m>
                <a:endParaRPr lang="zh-CN" altLang="en-US" sz="1600" dirty="0"/>
              </a:p>
            </p:txBody>
          </p:sp>
        </mc:Choice>
        <mc:Fallback xmlns="">
          <p:sp>
            <p:nvSpPr>
              <p:cNvPr id="15" name="矩形 14"/>
              <p:cNvSpPr>
                <a:spLocks noRot="1" noChangeAspect="1" noMove="1" noResize="1" noEditPoints="1" noAdjustHandles="1" noChangeArrowheads="1" noChangeShapeType="1" noTextEdit="1"/>
              </p:cNvSpPr>
              <p:nvPr/>
            </p:nvSpPr>
            <p:spPr>
              <a:xfrm>
                <a:off x="2964608" y="2992974"/>
                <a:ext cx="2556789" cy="874920"/>
              </a:xfrm>
              <a:prstGeom prst="rect">
                <a:avLst/>
              </a:prstGeom>
              <a:blipFill>
                <a:blip r:embed="rId8"/>
                <a:stretch>
                  <a:fillRect/>
                </a:stretch>
              </a:blipFill>
            </p:spPr>
            <p:txBody>
              <a:bodyPr/>
              <a:lstStyle/>
              <a:p>
                <a:r>
                  <a:rPr lang="zh-CN" altLang="en-US">
                    <a:noFill/>
                  </a:rPr>
                  <a:t> </a:t>
                </a:r>
              </a:p>
            </p:txBody>
          </p:sp>
        </mc:Fallback>
      </mc:AlternateContent>
      <p:sp>
        <p:nvSpPr>
          <p:cNvPr id="16" name="圆角矩形 15"/>
          <p:cNvSpPr/>
          <p:nvPr/>
        </p:nvSpPr>
        <p:spPr>
          <a:xfrm>
            <a:off x="1979712" y="2118998"/>
            <a:ext cx="5688632" cy="174889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6236513" y="3357403"/>
            <a:ext cx="1005403" cy="338554"/>
          </a:xfrm>
          <a:prstGeom prst="rect">
            <a:avLst/>
          </a:prstGeom>
        </p:spPr>
        <p:txBody>
          <a:bodyPr wrap="none">
            <a:spAutoFit/>
          </a:bodyPr>
          <a:lstStyle/>
          <a:p>
            <a:r>
              <a:rPr lang="zh-CN" altLang="zh-CN" sz="1600" b="1" dirty="0">
                <a:solidFill>
                  <a:srgbClr val="002060"/>
                </a:solidFill>
                <a:ea typeface="等线" panose="02010600030101010101" pitchFamily="2" charset="-122"/>
                <a:cs typeface="Times New Roman" panose="02020603050405020304" pitchFamily="18" charset="0"/>
              </a:rPr>
              <a:t>旋转关节</a:t>
            </a:r>
            <a:endParaRPr lang="zh-CN" altLang="en-US" sz="1600" b="1" dirty="0">
              <a:solidFill>
                <a:srgbClr val="002060"/>
              </a:solidFill>
            </a:endParaRPr>
          </a:p>
        </p:txBody>
      </p:sp>
      <p:sp>
        <p:nvSpPr>
          <p:cNvPr id="18" name="圆角矩形 17"/>
          <p:cNvSpPr/>
          <p:nvPr/>
        </p:nvSpPr>
        <p:spPr>
          <a:xfrm>
            <a:off x="2051720" y="4083918"/>
            <a:ext cx="5616624" cy="93610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6236513" y="4630289"/>
            <a:ext cx="1005403" cy="338554"/>
          </a:xfrm>
          <a:prstGeom prst="rect">
            <a:avLst/>
          </a:prstGeom>
        </p:spPr>
        <p:txBody>
          <a:bodyPr wrap="none">
            <a:spAutoFit/>
          </a:bodyPr>
          <a:lstStyle/>
          <a:p>
            <a:r>
              <a:rPr lang="zh-CN" altLang="zh-CN" sz="1600" b="1" dirty="0">
                <a:solidFill>
                  <a:srgbClr val="002060"/>
                </a:solidFill>
                <a:ea typeface="等线" panose="02010600030101010101" pitchFamily="2" charset="-122"/>
                <a:cs typeface="Times New Roman" panose="02020603050405020304" pitchFamily="18" charset="0"/>
              </a:rPr>
              <a:t>平移关节</a:t>
            </a:r>
            <a:endParaRPr lang="zh-CN" altLang="en-US" sz="1600" b="1" dirty="0">
              <a:solidFill>
                <a:srgbClr val="002060"/>
              </a:solidFill>
            </a:endParaRPr>
          </a:p>
        </p:txBody>
      </p:sp>
    </p:spTree>
    <p:extLst>
      <p:ext uri="{BB962C8B-B14F-4D97-AF65-F5344CB8AC3E}">
        <p14:creationId xmlns:p14="http://schemas.microsoft.com/office/powerpoint/2010/main" val="25335851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Twist Method</a:t>
              </a:r>
              <a:endParaRPr lang="zh-CN" altLang="en-US" sz="1000" dirty="0">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旋量法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p:cNvSpPr txBox="1"/>
          <p:nvPr/>
        </p:nvSpPr>
        <p:spPr>
          <a:xfrm>
            <a:off x="4028704" y="641335"/>
            <a:ext cx="1217000" cy="400110"/>
          </a:xfrm>
          <a:prstGeom prst="rect">
            <a:avLst/>
          </a:prstGeom>
          <a:noFill/>
        </p:spPr>
        <p:txBody>
          <a:bodyPr wrap="none" rtlCol="0">
            <a:spAutoFit/>
          </a:bodyPr>
          <a:lstStyle/>
          <a:p>
            <a:r>
              <a:rPr lang="zh-CN" altLang="en-US" sz="2000" b="1" dirty="0" smtClean="0">
                <a:solidFill>
                  <a:srgbClr val="002060"/>
                </a:solidFill>
              </a:rPr>
              <a:t>实例讲解</a:t>
            </a:r>
            <a:endParaRPr lang="zh-CN" altLang="en-US" sz="2000" b="1" dirty="0">
              <a:solidFill>
                <a:srgbClr val="002060"/>
              </a:solidFill>
            </a:endParaRPr>
          </a:p>
        </p:txBody>
      </p:sp>
      <p:sp>
        <p:nvSpPr>
          <p:cNvPr id="2" name="横卷形 1"/>
          <p:cNvSpPr/>
          <p:nvPr/>
        </p:nvSpPr>
        <p:spPr>
          <a:xfrm>
            <a:off x="832552" y="898956"/>
            <a:ext cx="7488832" cy="2376264"/>
          </a:xfrm>
          <a:prstGeom prst="horizont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zh-CN" dirty="0">
                <a:solidFill>
                  <a:schemeClr val="tx1"/>
                </a:solidFill>
              </a:rPr>
              <a:t>旋量法采用轴</a:t>
            </a:r>
            <a:r>
              <a:rPr lang="en-US" altLang="zh-CN" dirty="0">
                <a:solidFill>
                  <a:schemeClr val="tx1"/>
                </a:solidFill>
              </a:rPr>
              <a:t>-</a:t>
            </a:r>
            <a:r>
              <a:rPr lang="zh-CN" altLang="zh-CN" dirty="0">
                <a:solidFill>
                  <a:schemeClr val="tx1"/>
                </a:solidFill>
              </a:rPr>
              <a:t>角</a:t>
            </a:r>
            <a:r>
              <a:rPr lang="en-US" altLang="zh-CN" dirty="0">
                <a:solidFill>
                  <a:schemeClr val="tx1"/>
                </a:solidFill>
              </a:rPr>
              <a:t>(axis-angle)</a:t>
            </a:r>
            <a:r>
              <a:rPr lang="zh-CN" altLang="zh-CN" dirty="0">
                <a:solidFill>
                  <a:schemeClr val="tx1"/>
                </a:solidFill>
              </a:rPr>
              <a:t>表示法来表征刚体的螺旋运动</a:t>
            </a:r>
            <a:r>
              <a:rPr lang="en-US" altLang="zh-CN" dirty="0">
                <a:solidFill>
                  <a:schemeClr val="tx1"/>
                </a:solidFill>
              </a:rPr>
              <a:t>(screw motion)</a:t>
            </a:r>
            <a:r>
              <a:rPr lang="zh-CN" altLang="zh-CN" dirty="0">
                <a:solidFill>
                  <a:schemeClr val="tx1"/>
                </a:solidFill>
              </a:rPr>
              <a:t>，其将角速度与线速度的组合定义成了一个新的物理量：</a:t>
            </a:r>
            <a:r>
              <a:rPr lang="zh-CN" altLang="zh-CN" dirty="0">
                <a:solidFill>
                  <a:srgbClr val="FF0000"/>
                </a:solidFill>
              </a:rPr>
              <a:t>运动旋量</a:t>
            </a:r>
            <a:r>
              <a:rPr lang="en-US" altLang="zh-CN" dirty="0">
                <a:solidFill>
                  <a:srgbClr val="FF0000"/>
                </a:solidFill>
              </a:rPr>
              <a:t>(twist)</a:t>
            </a:r>
            <a:r>
              <a:rPr lang="zh-CN" altLang="zh-CN" dirty="0">
                <a:solidFill>
                  <a:schemeClr val="tx1"/>
                </a:solidFill>
              </a:rPr>
              <a:t>，采用</a:t>
            </a:r>
            <a:r>
              <a:rPr lang="zh-CN" altLang="zh-CN" dirty="0">
                <a:solidFill>
                  <a:srgbClr val="FF0000"/>
                </a:solidFill>
              </a:rPr>
              <a:t>指数积</a:t>
            </a:r>
            <a:r>
              <a:rPr lang="en-US" altLang="zh-CN" dirty="0">
                <a:solidFill>
                  <a:srgbClr val="FF0000"/>
                </a:solidFill>
              </a:rPr>
              <a:t>(</a:t>
            </a:r>
            <a:r>
              <a:rPr lang="en-US" altLang="zh-CN" dirty="0" err="1">
                <a:solidFill>
                  <a:srgbClr val="FF0000"/>
                </a:solidFill>
              </a:rPr>
              <a:t>PoE</a:t>
            </a:r>
            <a:r>
              <a:rPr lang="en-US" altLang="zh-CN" dirty="0">
                <a:solidFill>
                  <a:srgbClr val="FF0000"/>
                </a:solidFill>
              </a:rPr>
              <a:t>)</a:t>
            </a:r>
            <a:r>
              <a:rPr lang="zh-CN" altLang="zh-CN" dirty="0">
                <a:solidFill>
                  <a:srgbClr val="FF0000"/>
                </a:solidFill>
              </a:rPr>
              <a:t>公式</a:t>
            </a:r>
            <a:r>
              <a:rPr lang="zh-CN" altLang="zh-CN" dirty="0">
                <a:solidFill>
                  <a:schemeClr val="tx1"/>
                </a:solidFill>
              </a:rPr>
              <a:t>进行表达，其物理含义可以将其理解为每个关节产生的螺旋运动施加给了后面的连杆，最终导致了机器人整体的运动变换。</a:t>
            </a:r>
            <a:endParaRPr lang="zh-CN" altLang="en-US" dirty="0"/>
          </a:p>
        </p:txBody>
      </p:sp>
      <p:sp>
        <p:nvSpPr>
          <p:cNvPr id="10" name="波形 9"/>
          <p:cNvSpPr/>
          <p:nvPr/>
        </p:nvSpPr>
        <p:spPr>
          <a:xfrm>
            <a:off x="827584" y="3147814"/>
            <a:ext cx="7488832" cy="1800200"/>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课后练习</a:t>
            </a:r>
            <a:r>
              <a:rPr lang="en-US" altLang="zh-CN" dirty="0" smtClean="0"/>
              <a:t>:</a:t>
            </a:r>
            <a:r>
              <a:rPr lang="zh-CN" altLang="en-US" dirty="0" smtClean="0"/>
              <a:t>请参照我的开源实验教程编写遨博机器人的旋量法运动学程序</a:t>
            </a:r>
            <a:r>
              <a:rPr lang="en-US" altLang="zh-CN" dirty="0" smtClean="0"/>
              <a:t>:</a:t>
            </a:r>
          </a:p>
          <a:p>
            <a:pPr algn="ctr"/>
            <a:r>
              <a:rPr lang="en-US" altLang="zh-CN" dirty="0" smtClean="0">
                <a:hlinkClick r:id="rId3"/>
              </a:rPr>
              <a:t>https</a:t>
            </a:r>
            <a:r>
              <a:rPr lang="en-US" altLang="zh-CN" dirty="0">
                <a:hlinkClick r:id="rId3"/>
              </a:rPr>
              <a:t>://</a:t>
            </a:r>
            <a:r>
              <a:rPr lang="en-US" altLang="zh-CN" dirty="0" smtClean="0">
                <a:hlinkClick r:id="rId3"/>
              </a:rPr>
              <a:t>github.com/mhuasong/AUBO-Robot-on-ROS</a:t>
            </a:r>
            <a:endParaRPr lang="en-US" altLang="zh-CN" dirty="0" smtClean="0"/>
          </a:p>
          <a:p>
            <a:pPr algn="ctr"/>
            <a:r>
              <a:rPr lang="en-US" altLang="zh-CN" dirty="0">
                <a:hlinkClick r:id="rId4"/>
              </a:rPr>
              <a:t>https://github.com/mhuasong/Basics-of-Robotics-Theory-and-Technology/tree/main/ch3</a:t>
            </a:r>
            <a:endParaRPr lang="zh-CN" altLang="en-US" dirty="0"/>
          </a:p>
        </p:txBody>
      </p:sp>
    </p:spTree>
    <p:extLst>
      <p:ext uri="{BB962C8B-B14F-4D97-AF65-F5344CB8AC3E}">
        <p14:creationId xmlns:p14="http://schemas.microsoft.com/office/powerpoint/2010/main" val="318475255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Quaternion method</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四元数法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3" name="矩形 2"/>
              <p:cNvSpPr/>
              <p:nvPr/>
            </p:nvSpPr>
            <p:spPr>
              <a:xfrm>
                <a:off x="1691680" y="1729140"/>
                <a:ext cx="5400600" cy="64556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600" i="1">
                              <a:latin typeface="Cambria Math" panose="02040503050406030204" pitchFamily="18" charset="0"/>
                            </a:rPr>
                          </m:ctrlPr>
                        </m:dPr>
                        <m:e>
                          <m:r>
                            <a:rPr lang="zh-CN" altLang="en-US" sz="1600" i="1">
                              <a:latin typeface="Cambria Math" panose="02040503050406030204" pitchFamily="18" charset="0"/>
                            </a:rPr>
                            <m:t>𝑞</m:t>
                          </m:r>
                          <m:r>
                            <a:rPr lang="zh-CN" altLang="en-US" sz="1600" i="0">
                              <a:latin typeface="Cambria Math" panose="02040503050406030204" pitchFamily="18" charset="0"/>
                            </a:rPr>
                            <m:t>=(</m:t>
                          </m:r>
                          <m:func>
                            <m:funcPr>
                              <m:ctrlPr>
                                <a:rPr lang="zh-CN" altLang="en-US" sz="1600" i="1">
                                  <a:latin typeface="Cambria Math" panose="02040503050406030204" pitchFamily="18" charset="0"/>
                                </a:rPr>
                              </m:ctrlPr>
                            </m:funcPr>
                            <m:fName>
                              <m:r>
                                <m:rPr>
                                  <m:sty m:val="p"/>
                                </m:rPr>
                                <a:rPr lang="zh-CN" altLang="en-US" sz="1600" i="0">
                                  <a:latin typeface="Cambria Math" panose="02040503050406030204" pitchFamily="18" charset="0"/>
                                </a:rPr>
                                <m:t>cos</m:t>
                              </m:r>
                            </m:fName>
                            <m:e>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r>
                                        <a:rPr lang="zh-CN" altLang="en-US" sz="1600" i="1">
                                          <a:latin typeface="Cambria Math" panose="02040503050406030204" pitchFamily="18" charset="0"/>
                                        </a:rPr>
                                        <m:t>𝜃</m:t>
                                      </m:r>
                                    </m:num>
                                    <m:den>
                                      <m:r>
                                        <a:rPr lang="zh-CN" altLang="en-US" sz="1600" i="0">
                                          <a:latin typeface="Cambria Math" panose="02040503050406030204" pitchFamily="18" charset="0"/>
                                        </a:rPr>
                                        <m:t>2</m:t>
                                      </m:r>
                                    </m:den>
                                  </m:f>
                                </m:e>
                              </m:d>
                            </m:e>
                          </m:func>
                          <m:r>
                            <a:rPr lang="zh-CN" altLang="en-US" sz="1600" i="0">
                              <a:latin typeface="Cambria Math" panose="02040503050406030204" pitchFamily="18" charset="0"/>
                            </a:rPr>
                            <m:t>,</m:t>
                          </m:r>
                          <m:func>
                            <m:funcPr>
                              <m:ctrlPr>
                                <a:rPr lang="zh-CN" altLang="en-US" sz="1600" i="1">
                                  <a:latin typeface="Cambria Math" panose="02040503050406030204" pitchFamily="18" charset="0"/>
                                </a:rPr>
                              </m:ctrlPr>
                            </m:funcPr>
                            <m:fName>
                              <m:r>
                                <m:rPr>
                                  <m:sty m:val="p"/>
                                </m:rPr>
                                <a:rPr lang="zh-CN" altLang="en-US" sz="1600" i="0">
                                  <a:latin typeface="Cambria Math" panose="02040503050406030204" pitchFamily="18" charset="0"/>
                                </a:rPr>
                                <m:t>sin</m:t>
                              </m:r>
                            </m:fName>
                            <m:e>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r>
                                        <a:rPr lang="zh-CN" altLang="en-US" sz="1600" i="1">
                                          <a:latin typeface="Cambria Math" panose="02040503050406030204" pitchFamily="18" charset="0"/>
                                        </a:rPr>
                                        <m:t>𝜃</m:t>
                                      </m:r>
                                    </m:num>
                                    <m:den>
                                      <m:r>
                                        <a:rPr lang="zh-CN" altLang="en-US" sz="1600" i="0">
                                          <a:latin typeface="Cambria Math" panose="02040503050406030204" pitchFamily="18" charset="0"/>
                                        </a:rPr>
                                        <m:t>2</m:t>
                                      </m:r>
                                    </m:den>
                                  </m:f>
                                </m:e>
                              </m:d>
                            </m:e>
                          </m:func>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𝑛</m:t>
                              </m:r>
                            </m:e>
                            <m:sub>
                              <m:r>
                                <a:rPr lang="zh-CN" altLang="en-US" sz="1600" i="1">
                                  <a:latin typeface="Cambria Math" panose="02040503050406030204" pitchFamily="18" charset="0"/>
                                </a:rPr>
                                <m:t>𝑥</m:t>
                              </m:r>
                            </m:sub>
                          </m:sSub>
                          <m:r>
                            <a:rPr lang="zh-CN" altLang="en-US" sz="1600" i="0">
                              <a:latin typeface="Cambria Math" panose="02040503050406030204" pitchFamily="18" charset="0"/>
                            </a:rPr>
                            <m:t>,</m:t>
                          </m:r>
                          <m:func>
                            <m:funcPr>
                              <m:ctrlPr>
                                <a:rPr lang="zh-CN" altLang="en-US" sz="1600" i="1">
                                  <a:latin typeface="Cambria Math" panose="02040503050406030204" pitchFamily="18" charset="0"/>
                                </a:rPr>
                              </m:ctrlPr>
                            </m:funcPr>
                            <m:fName>
                              <m:r>
                                <m:rPr>
                                  <m:sty m:val="p"/>
                                </m:rPr>
                                <a:rPr lang="zh-CN" altLang="en-US" sz="1600" i="0">
                                  <a:latin typeface="Cambria Math" panose="02040503050406030204" pitchFamily="18" charset="0"/>
                                </a:rPr>
                                <m:t>sin</m:t>
                              </m:r>
                            </m:fName>
                            <m:e>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r>
                                        <a:rPr lang="zh-CN" altLang="en-US" sz="1600" i="1">
                                          <a:latin typeface="Cambria Math" panose="02040503050406030204" pitchFamily="18" charset="0"/>
                                        </a:rPr>
                                        <m:t>𝜃</m:t>
                                      </m:r>
                                    </m:num>
                                    <m:den>
                                      <m:r>
                                        <a:rPr lang="zh-CN" altLang="en-US" sz="1600" i="0">
                                          <a:latin typeface="Cambria Math" panose="02040503050406030204" pitchFamily="18" charset="0"/>
                                        </a:rPr>
                                        <m:t>2</m:t>
                                      </m:r>
                                    </m:den>
                                  </m:f>
                                </m:e>
                              </m:d>
                            </m:e>
                          </m:func>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𝑛</m:t>
                              </m:r>
                            </m:e>
                            <m:sub>
                              <m:r>
                                <a:rPr lang="zh-CN" altLang="en-US" sz="1600" i="1">
                                  <a:latin typeface="Cambria Math" panose="02040503050406030204" pitchFamily="18" charset="0"/>
                                </a:rPr>
                                <m:t>𝑦</m:t>
                              </m:r>
                            </m:sub>
                          </m:sSub>
                          <m:r>
                            <a:rPr lang="zh-CN" altLang="en-US" sz="1600" i="0">
                              <a:latin typeface="Cambria Math" panose="02040503050406030204" pitchFamily="18" charset="0"/>
                            </a:rPr>
                            <m:t>,</m:t>
                          </m:r>
                          <m:func>
                            <m:funcPr>
                              <m:ctrlPr>
                                <a:rPr lang="zh-CN" altLang="en-US" sz="1600" i="1">
                                  <a:latin typeface="Cambria Math" panose="02040503050406030204" pitchFamily="18" charset="0"/>
                                </a:rPr>
                              </m:ctrlPr>
                            </m:funcPr>
                            <m:fName>
                              <m:r>
                                <m:rPr>
                                  <m:sty m:val="p"/>
                                </m:rPr>
                                <a:rPr lang="zh-CN" altLang="en-US" sz="1600" i="0">
                                  <a:latin typeface="Cambria Math" panose="02040503050406030204" pitchFamily="18" charset="0"/>
                                </a:rPr>
                                <m:t>sin</m:t>
                              </m:r>
                            </m:fName>
                            <m:e>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r>
                                        <a:rPr lang="zh-CN" altLang="en-US" sz="1600" i="1">
                                          <a:latin typeface="Cambria Math" panose="02040503050406030204" pitchFamily="18" charset="0"/>
                                        </a:rPr>
                                        <m:t>𝜃</m:t>
                                      </m:r>
                                    </m:num>
                                    <m:den>
                                      <m:r>
                                        <a:rPr lang="zh-CN" altLang="en-US" sz="1600" i="0">
                                          <a:latin typeface="Cambria Math" panose="02040503050406030204" pitchFamily="18" charset="0"/>
                                        </a:rPr>
                                        <m:t>2</m:t>
                                      </m:r>
                                    </m:den>
                                  </m:f>
                                </m:e>
                              </m:d>
                            </m:e>
                          </m:func>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𝑛</m:t>
                              </m:r>
                            </m:e>
                            <m:sub>
                              <m:r>
                                <a:rPr lang="zh-CN" altLang="en-US" sz="1600" i="1">
                                  <a:latin typeface="Cambria Math" panose="02040503050406030204" pitchFamily="18" charset="0"/>
                                </a:rPr>
                                <m:t>𝑧</m:t>
                              </m:r>
                            </m:sub>
                          </m:sSub>
                        </m:e>
                      </m:d>
                    </m:oMath>
                  </m:oMathPara>
                </a14:m>
                <a:endParaRPr lang="zh-CN" altLang="en-US" sz="1600" dirty="0"/>
              </a:p>
            </p:txBody>
          </p:sp>
        </mc:Choice>
        <mc:Fallback xmlns="">
          <p:sp>
            <p:nvSpPr>
              <p:cNvPr id="3" name="矩形 2"/>
              <p:cNvSpPr>
                <a:spLocks noRot="1" noChangeAspect="1" noMove="1" noResize="1" noEditPoints="1" noAdjustHandles="1" noChangeArrowheads="1" noChangeShapeType="1" noTextEdit="1"/>
              </p:cNvSpPr>
              <p:nvPr/>
            </p:nvSpPr>
            <p:spPr>
              <a:xfrm>
                <a:off x="1691680" y="1729140"/>
                <a:ext cx="5400600" cy="645561"/>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2172206" y="2832427"/>
                <a:ext cx="221977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600" i="1">
                              <a:latin typeface="Cambria Math" panose="02040503050406030204" pitchFamily="18" charset="0"/>
                            </a:rPr>
                          </m:ctrlPr>
                        </m:dPr>
                        <m:e>
                          <m:r>
                            <a:rPr lang="zh-CN" altLang="en-US" sz="1600" i="1">
                              <a:latin typeface="Cambria Math" panose="02040503050406030204" pitchFamily="18" charset="0"/>
                            </a:rPr>
                            <m:t>𝑃</m:t>
                          </m:r>
                          <m:r>
                            <a:rPr lang="zh-CN" altLang="en-US" sz="1600" i="0">
                              <a:latin typeface="Cambria Math" panose="02040503050406030204" pitchFamily="18" charset="0"/>
                            </a:rPr>
                            <m:t>=(0,</m:t>
                          </m:r>
                          <m:r>
                            <a:rPr lang="zh-CN" altLang="en-US" sz="1600" i="1">
                              <a:latin typeface="Cambria Math" panose="02040503050406030204" pitchFamily="18" charset="0"/>
                            </a:rPr>
                            <m:t>𝑥</m:t>
                          </m:r>
                          <m:r>
                            <a:rPr lang="zh-CN" altLang="en-US" sz="1600" i="0">
                              <a:latin typeface="Cambria Math" panose="02040503050406030204" pitchFamily="18" charset="0"/>
                            </a:rPr>
                            <m:t>,</m:t>
                          </m:r>
                          <m:r>
                            <a:rPr lang="zh-CN" altLang="en-US" sz="1600" i="1">
                              <a:latin typeface="Cambria Math" panose="02040503050406030204" pitchFamily="18" charset="0"/>
                            </a:rPr>
                            <m:t>𝑦</m:t>
                          </m:r>
                          <m:r>
                            <a:rPr lang="zh-CN" altLang="en-US" sz="1600" i="0">
                              <a:latin typeface="Cambria Math" panose="02040503050406030204" pitchFamily="18" charset="0"/>
                            </a:rPr>
                            <m:t>,</m:t>
                          </m:r>
                          <m:r>
                            <a:rPr lang="zh-CN" altLang="en-US" sz="1600" i="1">
                              <a:latin typeface="Cambria Math" panose="02040503050406030204" pitchFamily="18" charset="0"/>
                            </a:rPr>
                            <m:t>𝑧</m:t>
                          </m:r>
                          <m:r>
                            <a:rPr lang="zh-CN" altLang="en-US" sz="1600" i="0">
                              <a:latin typeface="Cambria Math" panose="02040503050406030204" pitchFamily="18" charset="0"/>
                            </a:rPr>
                            <m:t>)=(0,</m:t>
                          </m:r>
                          <m:r>
                            <a:rPr lang="zh-CN" altLang="en-US" sz="1600" i="1">
                              <a:latin typeface="Cambria Math" panose="02040503050406030204" pitchFamily="18" charset="0"/>
                            </a:rPr>
                            <m:t>𝑆</m:t>
                          </m:r>
                        </m:e>
                      </m:d>
                    </m:oMath>
                  </m:oMathPara>
                </a14:m>
                <a:endParaRPr lang="zh-CN" altLang="en-US" sz="1600" dirty="0"/>
              </a:p>
            </p:txBody>
          </p:sp>
        </mc:Choice>
        <mc:Fallback xmlns="">
          <p:sp>
            <p:nvSpPr>
              <p:cNvPr id="8" name="矩形 7"/>
              <p:cNvSpPr>
                <a:spLocks noRot="1" noChangeAspect="1" noMove="1" noResize="1" noEditPoints="1" noAdjustHandles="1" noChangeArrowheads="1" noChangeShapeType="1" noTextEdit="1"/>
              </p:cNvSpPr>
              <p:nvPr/>
            </p:nvSpPr>
            <p:spPr>
              <a:xfrm>
                <a:off x="2172206" y="2832427"/>
                <a:ext cx="2219774" cy="338554"/>
              </a:xfrm>
              <a:prstGeom prst="rect">
                <a:avLst/>
              </a:prstGeom>
              <a:blipFill>
                <a:blip r:embed="rId4"/>
                <a:stretch>
                  <a:fillRect t="-110909" r="-19231" b="-1727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2172206" y="3529340"/>
                <a:ext cx="1253677" cy="338554"/>
              </a:xfrm>
              <a:prstGeom prst="rect">
                <a:avLst/>
              </a:prstGeom>
            </p:spPr>
            <p:txBody>
              <a:bodyPr wrap="none">
                <a:spAutoFit/>
              </a:bodyPr>
              <a:lstStyle/>
              <a:p>
                <a14:m>
                  <m:oMath xmlns:m="http://schemas.openxmlformats.org/officeDocument/2006/math">
                    <m:sSup>
                      <m:sSupPr>
                        <m:ctrlPr>
                          <a:rPr lang="zh-CN" altLang="zh-CN" sz="1600" i="1">
                            <a:latin typeface="Cambria Math" panose="02040503050406030204" pitchFamily="18" charset="0"/>
                            <a:ea typeface="Cambria Math" panose="02040503050406030204" pitchFamily="18" charset="0"/>
                          </a:rPr>
                        </m:ctrlPr>
                      </m:sSup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𝑃</m:t>
                        </m:r>
                      </m:e>
                      <m:sup>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up>
                    </m:sSup>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𝑞𝑃</m:t>
                    </m:r>
                    <m:sSup>
                      <m:sSupPr>
                        <m:ctrlPr>
                          <a:rPr lang="zh-CN" altLang="zh-CN" sz="1600" i="1">
                            <a:effectLst/>
                            <a:latin typeface="Cambria Math" panose="02040503050406030204" pitchFamily="18" charset="0"/>
                            <a:ea typeface="Cambria Math" panose="02040503050406030204" pitchFamily="18" charset="0"/>
                          </a:rPr>
                        </m:ctrlPr>
                      </m:sSup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𝑞</m:t>
                        </m:r>
                      </m:e>
                      <m:sup>
                        <m:r>
                          <a:rPr lang="en-US" altLang="zh-CN" sz="1600" i="1">
                            <a:latin typeface="Cambria Math" panose="02040503050406030204" pitchFamily="18" charset="0"/>
                            <a:ea typeface="等线" panose="02010600030101010101" pitchFamily="2" charset="-122"/>
                            <a:cs typeface="Times New Roman" panose="02020603050405020304" pitchFamily="18" charset="0"/>
                          </a:rPr>
                          <m:t>−1</m:t>
                        </m:r>
                      </m:sup>
                    </m:sSup>
                  </m:oMath>
                </a14:m>
                <a:r>
                  <a:rPr lang="en-US" altLang="zh-CN" sz="1600" dirty="0">
                    <a:latin typeface="Cambria Math" panose="02040503050406030204" pitchFamily="18" charset="0"/>
                    <a:ea typeface="等线" panose="02010600030101010101" pitchFamily="2" charset="-122"/>
                    <a:cs typeface="Times New Roman" panose="02020603050405020304" pitchFamily="18" charset="0"/>
                  </a:rPr>
                  <a:t> </a:t>
                </a:r>
                <a:endParaRPr lang="zh-CN" altLang="en-US" sz="1600" dirty="0"/>
              </a:p>
            </p:txBody>
          </p:sp>
        </mc:Choice>
        <mc:Fallback xmlns="">
          <p:sp>
            <p:nvSpPr>
              <p:cNvPr id="9" name="矩形 8"/>
              <p:cNvSpPr>
                <a:spLocks noRot="1" noChangeAspect="1" noMove="1" noResize="1" noEditPoints="1" noAdjustHandles="1" noChangeArrowheads="1" noChangeShapeType="1" noTextEdit="1"/>
              </p:cNvSpPr>
              <p:nvPr/>
            </p:nvSpPr>
            <p:spPr>
              <a:xfrm>
                <a:off x="2172206" y="3529340"/>
                <a:ext cx="1253677" cy="338554"/>
              </a:xfrm>
              <a:prstGeom prst="rect">
                <a:avLst/>
              </a:prstGeom>
              <a:blipFill>
                <a:blip r:embed="rId5"/>
                <a:stretch>
                  <a:fillRect b="-90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1977286" y="1068679"/>
                <a:ext cx="5880308" cy="604204"/>
              </a:xfrm>
              <a:prstGeom prst="rect">
                <a:avLst/>
              </a:prstGeom>
            </p:spPr>
            <p:txBody>
              <a:bodyPr wrap="square">
                <a:spAutoFit/>
              </a:bodyPr>
              <a:lstStyle/>
              <a:p>
                <a:r>
                  <a:rPr lang="zh-CN" altLang="zh-CN" sz="1600" dirty="0" smtClean="0">
                    <a:solidFill>
                      <a:srgbClr val="002060"/>
                    </a:solidFill>
                    <a:latin typeface="Cambria Math" panose="02040503050406030204" pitchFamily="18" charset="0"/>
                    <a:ea typeface="等线" panose="02010600030101010101" pitchFamily="2" charset="-122"/>
                    <a:cs typeface="Times New Roman" panose="02020603050405020304" pitchFamily="18" charset="0"/>
                  </a:rPr>
                  <a:t>三维空间坐标系中的一个向量</a:t>
                </a:r>
                <a14:m>
                  <m:oMath xmlns:m="http://schemas.openxmlformats.org/officeDocument/2006/math">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𝜔</m:t>
                    </m:r>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solidFill>
                              <a:srgbClr val="002060"/>
                            </a:solidFill>
                            <a:effectLst/>
                            <a:latin typeface="Cambria Math" panose="02040503050406030204" pitchFamily="18" charset="0"/>
                            <a:ea typeface="Cambria Math" panose="02040503050406030204" pitchFamily="18" charset="0"/>
                          </a:rPr>
                        </m:ctrlPr>
                      </m:sSubPr>
                      <m:e>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𝑛</m:t>
                        </m:r>
                      </m:e>
                      <m:sub>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𝑥</m:t>
                        </m:r>
                      </m:sub>
                    </m:sSub>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solidFill>
                              <a:srgbClr val="002060"/>
                            </a:solidFill>
                            <a:effectLst/>
                            <a:latin typeface="Cambria Math" panose="02040503050406030204" pitchFamily="18" charset="0"/>
                            <a:ea typeface="Cambria Math" panose="02040503050406030204" pitchFamily="18" charset="0"/>
                          </a:rPr>
                        </m:ctrlPr>
                      </m:sSubPr>
                      <m:e>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𝑛</m:t>
                        </m:r>
                      </m:e>
                      <m:sub>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𝑦</m:t>
                        </m:r>
                      </m:sub>
                    </m:sSub>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solidFill>
                              <a:srgbClr val="002060"/>
                            </a:solidFill>
                            <a:effectLst/>
                            <a:latin typeface="Cambria Math" panose="02040503050406030204" pitchFamily="18" charset="0"/>
                            <a:ea typeface="Cambria Math" panose="02040503050406030204" pitchFamily="18" charset="0"/>
                          </a:rPr>
                        </m:ctrlPr>
                      </m:sSubPr>
                      <m:e>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𝑛</m:t>
                        </m:r>
                      </m:e>
                      <m:sub>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𝑧</m:t>
                        </m:r>
                      </m:sub>
                    </m:sSub>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1600" dirty="0">
                    <a:solidFill>
                      <a:srgbClr val="002060"/>
                    </a:solidFill>
                    <a:latin typeface="Cambria Math" panose="02040503050406030204" pitchFamily="18" charset="0"/>
                    <a:ea typeface="等线" panose="02010600030101010101" pitchFamily="2" charset="-122"/>
                    <a:cs typeface="Times New Roman" panose="02020603050405020304" pitchFamily="18" charset="0"/>
                  </a:rPr>
                  <a:t>，在复平面内旋转</a:t>
                </a:r>
                <a14:m>
                  <m:oMath xmlns:m="http://schemas.openxmlformats.org/officeDocument/2006/math">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𝜃</m:t>
                    </m:r>
                    <m:r>
                      <a:rPr lang="zh-CN"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角</m:t>
                    </m:r>
                  </m:oMath>
                </a14:m>
                <a:r>
                  <a:rPr lang="zh-CN" altLang="zh-CN" sz="1600" dirty="0">
                    <a:solidFill>
                      <a:srgbClr val="002060"/>
                    </a:solidFill>
                    <a:latin typeface="Cambria Math" panose="02040503050406030204" pitchFamily="18" charset="0"/>
                    <a:ea typeface="等线" panose="02010600030101010101" pitchFamily="2" charset="-122"/>
                    <a:cs typeface="Times New Roman" panose="02020603050405020304" pitchFamily="18" charset="0"/>
                  </a:rPr>
                  <a:t>，这个旋转向量我们使用四元数来进行</a:t>
                </a:r>
                <a:r>
                  <a:rPr lang="zh-CN" altLang="zh-CN" sz="1600" dirty="0" smtClean="0">
                    <a:solidFill>
                      <a:srgbClr val="002060"/>
                    </a:solidFill>
                    <a:latin typeface="Cambria Math" panose="02040503050406030204" pitchFamily="18" charset="0"/>
                    <a:ea typeface="等线" panose="02010600030101010101" pitchFamily="2" charset="-122"/>
                    <a:cs typeface="Times New Roman" panose="02020603050405020304" pitchFamily="18" charset="0"/>
                  </a:rPr>
                  <a:t>表示</a:t>
                </a:r>
                <a:r>
                  <a:rPr lang="en-US" altLang="zh-CN" sz="1600" dirty="0" smtClean="0">
                    <a:solidFill>
                      <a:srgbClr val="002060"/>
                    </a:solidFill>
                    <a:latin typeface="Cambria Math" panose="02040503050406030204" pitchFamily="18" charset="0"/>
                    <a:ea typeface="等线" panose="02010600030101010101" pitchFamily="2" charset="-122"/>
                    <a:cs typeface="Times New Roman" panose="02020603050405020304" pitchFamily="18" charset="0"/>
                  </a:rPr>
                  <a:t>:</a:t>
                </a:r>
                <a:endParaRPr lang="zh-CN" altLang="en-US" sz="1600" dirty="0">
                  <a:solidFill>
                    <a:srgbClr val="002060"/>
                  </a:solidFill>
                </a:endParaRPr>
              </a:p>
            </p:txBody>
          </p:sp>
        </mc:Choice>
        <mc:Fallback xmlns="">
          <p:sp>
            <p:nvSpPr>
              <p:cNvPr id="12" name="矩形 11"/>
              <p:cNvSpPr>
                <a:spLocks noRot="1" noChangeAspect="1" noMove="1" noResize="1" noEditPoints="1" noAdjustHandles="1" noChangeArrowheads="1" noChangeShapeType="1" noTextEdit="1"/>
              </p:cNvSpPr>
              <p:nvPr/>
            </p:nvSpPr>
            <p:spPr>
              <a:xfrm>
                <a:off x="1977286" y="1068679"/>
                <a:ext cx="5880308" cy="604204"/>
              </a:xfrm>
              <a:prstGeom prst="rect">
                <a:avLst/>
              </a:prstGeom>
              <a:blipFill>
                <a:blip r:embed="rId6"/>
                <a:stretch>
                  <a:fillRect l="-518" t="-2020" b="-13131"/>
                </a:stretch>
              </a:blipFill>
            </p:spPr>
            <p:txBody>
              <a:bodyPr/>
              <a:lstStyle/>
              <a:p>
                <a:r>
                  <a:rPr lang="zh-CN" altLang="en-US">
                    <a:noFill/>
                  </a:rPr>
                  <a:t> </a:t>
                </a:r>
              </a:p>
            </p:txBody>
          </p:sp>
        </mc:Fallback>
      </mc:AlternateContent>
      <p:sp>
        <p:nvSpPr>
          <p:cNvPr id="13" name="矩形 12"/>
          <p:cNvSpPr/>
          <p:nvPr/>
        </p:nvSpPr>
        <p:spPr>
          <a:xfrm>
            <a:off x="1988086" y="2398022"/>
            <a:ext cx="3584636" cy="338554"/>
          </a:xfrm>
          <a:prstGeom prst="rect">
            <a:avLst/>
          </a:prstGeom>
        </p:spPr>
        <p:txBody>
          <a:bodyPr wrap="none">
            <a:spAutoFit/>
          </a:bodyPr>
          <a:lstStyle/>
          <a:p>
            <a:r>
              <a:rPr lang="zh-CN" altLang="zh-CN" sz="1600" dirty="0">
                <a:solidFill>
                  <a:srgbClr val="002060"/>
                </a:solidFill>
                <a:latin typeface="Cambria Math" panose="02040503050406030204" pitchFamily="18" charset="0"/>
                <a:ea typeface="等线" panose="02010600030101010101" pitchFamily="2" charset="-122"/>
                <a:cs typeface="Times New Roman" panose="02020603050405020304" pitchFamily="18" charset="0"/>
              </a:rPr>
              <a:t>三维空间中的点</a:t>
            </a:r>
            <a:r>
              <a:rPr lang="en-US" altLang="zh-CN" sz="1600" dirty="0">
                <a:solidFill>
                  <a:srgbClr val="002060"/>
                </a:solidFill>
                <a:latin typeface="Cambria Math" panose="02040503050406030204" pitchFamily="18" charset="0"/>
                <a:ea typeface="等线" panose="02010600030101010101" pitchFamily="2" charset="-122"/>
                <a:cs typeface="Times New Roman" panose="02020603050405020304" pitchFamily="18" charset="0"/>
              </a:rPr>
              <a:t>P</a:t>
            </a:r>
            <a:r>
              <a:rPr lang="zh-CN" altLang="zh-CN" sz="1600" dirty="0">
                <a:solidFill>
                  <a:srgbClr val="002060"/>
                </a:solidFill>
                <a:latin typeface="Cambria Math" panose="02040503050406030204" pitchFamily="18" charset="0"/>
                <a:ea typeface="等线" panose="02010600030101010101" pitchFamily="2" charset="-122"/>
                <a:cs typeface="Times New Roman" panose="02020603050405020304" pitchFamily="18" charset="0"/>
              </a:rPr>
              <a:t>用虚四元数来表示：</a:t>
            </a:r>
            <a:endParaRPr lang="zh-CN" altLang="en-US" sz="1600" dirty="0">
              <a:solidFill>
                <a:srgbClr val="002060"/>
              </a:solidFill>
            </a:endParaRPr>
          </a:p>
        </p:txBody>
      </p:sp>
      <mc:AlternateContent xmlns:mc="http://schemas.openxmlformats.org/markup-compatibility/2006" xmlns:a14="http://schemas.microsoft.com/office/drawing/2010/main">
        <mc:Choice Requires="a14">
          <p:sp>
            <p:nvSpPr>
              <p:cNvPr id="14" name="矩形 13"/>
              <p:cNvSpPr/>
              <p:nvPr/>
            </p:nvSpPr>
            <p:spPr>
              <a:xfrm>
                <a:off x="1983584" y="3170981"/>
                <a:ext cx="4572000" cy="338554"/>
              </a:xfrm>
              <a:prstGeom prst="rect">
                <a:avLst/>
              </a:prstGeom>
            </p:spPr>
            <p:txBody>
              <a:bodyPr>
                <a:spAutoFit/>
              </a:bodyPr>
              <a:lstStyle/>
              <a:p>
                <a:r>
                  <a:rPr lang="zh-CN" altLang="zh-CN" sz="1600" dirty="0" smtClean="0">
                    <a:solidFill>
                      <a:srgbClr val="002060"/>
                    </a:solidFill>
                    <a:latin typeface="Cambria Math" panose="02040503050406030204" pitchFamily="18" charset="0"/>
                    <a:ea typeface="等线" panose="02010600030101010101" pitchFamily="2" charset="-122"/>
                    <a:cs typeface="Times New Roman" panose="02020603050405020304" pitchFamily="18" charset="0"/>
                  </a:rPr>
                  <a:t>如果该点绕</a:t>
                </a:r>
                <a:r>
                  <a:rPr lang="en-US" altLang="zh-CN" sz="1600" dirty="0">
                    <a:solidFill>
                      <a:srgbClr val="002060"/>
                    </a:solidFill>
                    <a:latin typeface="Cambria Math" panose="02040503050406030204" pitchFamily="18" charset="0"/>
                    <a:ea typeface="等线" panose="02010600030101010101" pitchFamily="2" charset="-122"/>
                    <a:cs typeface="Times New Roman" panose="02020603050405020304" pitchFamily="18" charset="0"/>
                  </a:rPr>
                  <a:t>S</a:t>
                </a:r>
                <a:r>
                  <a:rPr lang="zh-CN" altLang="zh-CN" sz="1600" dirty="0">
                    <a:solidFill>
                      <a:srgbClr val="002060"/>
                    </a:solidFill>
                    <a:latin typeface="Cambria Math" panose="02040503050406030204" pitchFamily="18" charset="0"/>
                    <a:ea typeface="等线" panose="02010600030101010101" pitchFamily="2" charset="-122"/>
                    <a:cs typeface="Times New Roman" panose="02020603050405020304" pitchFamily="18" charset="0"/>
                  </a:rPr>
                  <a:t>轴旋转</a:t>
                </a:r>
                <a14:m>
                  <m:oMath xmlns:m="http://schemas.openxmlformats.org/officeDocument/2006/math">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𝜃</m:t>
                    </m:r>
                    <m:r>
                      <a:rPr lang="zh-CN"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角</m:t>
                    </m:r>
                  </m:oMath>
                </a14:m>
                <a:r>
                  <a:rPr lang="zh-CN" altLang="zh-CN" sz="1600" dirty="0">
                    <a:solidFill>
                      <a:srgbClr val="002060"/>
                    </a:solidFill>
                    <a:latin typeface="Cambria Math" panose="02040503050406030204" pitchFamily="18" charset="0"/>
                    <a:ea typeface="等线" panose="02010600030101010101" pitchFamily="2" charset="-122"/>
                    <a:cs typeface="Times New Roman" panose="02020603050405020304" pitchFamily="18" charset="0"/>
                  </a:rPr>
                  <a:t>，则该点新的旋转</a:t>
                </a:r>
                <a:r>
                  <a:rPr lang="zh-CN" altLang="zh-CN" sz="1600" dirty="0" smtClean="0">
                    <a:solidFill>
                      <a:srgbClr val="002060"/>
                    </a:solidFill>
                    <a:latin typeface="Cambria Math" panose="02040503050406030204" pitchFamily="18" charset="0"/>
                    <a:ea typeface="等线" panose="02010600030101010101" pitchFamily="2" charset="-122"/>
                    <a:cs typeface="Times New Roman" panose="02020603050405020304" pitchFamily="18" charset="0"/>
                  </a:rPr>
                  <a:t>向量</a:t>
                </a:r>
                <a:r>
                  <a:rPr lang="en-US" altLang="zh-CN" sz="1600" dirty="0" smtClean="0">
                    <a:solidFill>
                      <a:srgbClr val="002060"/>
                    </a:solidFill>
                    <a:latin typeface="Cambria Math" panose="02040503050406030204" pitchFamily="18" charset="0"/>
                    <a:ea typeface="等线" panose="02010600030101010101" pitchFamily="2" charset="-122"/>
                    <a:cs typeface="Times New Roman" panose="02020603050405020304" pitchFamily="18" charset="0"/>
                  </a:rPr>
                  <a:t>:</a:t>
                </a:r>
                <a:endParaRPr lang="zh-CN" altLang="en-US" sz="1600" dirty="0">
                  <a:solidFill>
                    <a:srgbClr val="002060"/>
                  </a:solidFill>
                </a:endParaRPr>
              </a:p>
            </p:txBody>
          </p:sp>
        </mc:Choice>
        <mc:Fallback xmlns="">
          <p:sp>
            <p:nvSpPr>
              <p:cNvPr id="14" name="矩形 13"/>
              <p:cNvSpPr>
                <a:spLocks noRot="1" noChangeAspect="1" noMove="1" noResize="1" noEditPoints="1" noAdjustHandles="1" noChangeArrowheads="1" noChangeShapeType="1" noTextEdit="1"/>
              </p:cNvSpPr>
              <p:nvPr/>
            </p:nvSpPr>
            <p:spPr>
              <a:xfrm>
                <a:off x="1983584" y="3170981"/>
                <a:ext cx="4572000" cy="338554"/>
              </a:xfrm>
              <a:prstGeom prst="rect">
                <a:avLst/>
              </a:prstGeom>
              <a:blipFill>
                <a:blip r:embed="rId7"/>
                <a:stretch>
                  <a:fillRect l="-667" t="-8929" b="-2142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9421773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Quaternion method</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四元数法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977692" y="922020"/>
            <a:ext cx="6624736" cy="584775"/>
          </a:xfrm>
          <a:prstGeom prst="rect">
            <a:avLst/>
          </a:prstGeom>
        </p:spPr>
        <p:txBody>
          <a:bodyPr wrap="square">
            <a:spAutoFit/>
          </a:bodyPr>
          <a:lstStyle/>
          <a:p>
            <a:r>
              <a:rPr lang="zh-CN" altLang="zh-CN" sz="1600" dirty="0">
                <a:latin typeface="Cambria Math" panose="02040503050406030204" pitchFamily="18" charset="0"/>
                <a:ea typeface="等线" panose="02010600030101010101" pitchFamily="2" charset="-122"/>
                <a:cs typeface="Times New Roman" panose="02020603050405020304" pitchFamily="18" charset="0"/>
              </a:rPr>
              <a:t>推广，对于</a:t>
            </a:r>
            <a:r>
              <a:rPr lang="en-US" altLang="zh-CN" sz="1600" dirty="0">
                <a:latin typeface="Cambria Math" panose="02040503050406030204" pitchFamily="18" charset="0"/>
                <a:ea typeface="等线" panose="02010600030101010101" pitchFamily="2" charset="-122"/>
                <a:cs typeface="Times New Roman" panose="02020603050405020304" pitchFamily="18" charset="0"/>
              </a:rPr>
              <a:t>n</a:t>
            </a:r>
            <a:r>
              <a:rPr lang="zh-CN" altLang="zh-CN" sz="1600" dirty="0">
                <a:latin typeface="Cambria Math" panose="02040503050406030204" pitchFamily="18" charset="0"/>
                <a:ea typeface="等线" panose="02010600030101010101" pitchFamily="2" charset="-122"/>
                <a:cs typeface="Times New Roman" panose="02020603050405020304" pitchFamily="18" charset="0"/>
              </a:rPr>
              <a:t>个旋转轴的机械臂来说，假设末端</a:t>
            </a:r>
            <a:r>
              <a:rPr lang="en-US" altLang="zh-CN" sz="1600" dirty="0">
                <a:latin typeface="Cambria Math" panose="02040503050406030204" pitchFamily="18" charset="0"/>
                <a:ea typeface="等线" panose="02010600030101010101" pitchFamily="2" charset="-122"/>
                <a:cs typeface="Times New Roman" panose="02020603050405020304" pitchFamily="18" charset="0"/>
              </a:rPr>
              <a:t>TCP</a:t>
            </a:r>
            <a:r>
              <a:rPr lang="zh-CN" altLang="zh-CN" sz="1600" dirty="0">
                <a:latin typeface="Cambria Math" panose="02040503050406030204" pitchFamily="18" charset="0"/>
                <a:ea typeface="等线" panose="02010600030101010101" pitchFamily="2" charset="-122"/>
                <a:cs typeface="Times New Roman" panose="02020603050405020304" pitchFamily="18" charset="0"/>
              </a:rPr>
              <a:t>在全局坐标系的初始位置为</a:t>
            </a:r>
            <a:r>
              <a:rPr lang="en-US" altLang="zh-CN" sz="1600" dirty="0">
                <a:latin typeface="Cambria Math" panose="02040503050406030204" pitchFamily="18" charset="0"/>
                <a:ea typeface="等线" panose="02010600030101010101" pitchFamily="2" charset="-122"/>
                <a:cs typeface="Times New Roman" panose="02020603050405020304" pitchFamily="18" charset="0"/>
              </a:rPr>
              <a:t>p(</a:t>
            </a:r>
            <a:r>
              <a:rPr lang="en-US" altLang="zh-CN" sz="1600" dirty="0" err="1">
                <a:latin typeface="Cambria Math" panose="02040503050406030204" pitchFamily="18" charset="0"/>
                <a:ea typeface="等线" panose="02010600030101010101" pitchFamily="2" charset="-122"/>
                <a:cs typeface="Times New Roman" panose="02020603050405020304" pitchFamily="18" charset="0"/>
              </a:rPr>
              <a:t>x,y,z</a:t>
            </a:r>
            <a:r>
              <a:rPr lang="en-US" altLang="zh-CN" sz="1600" dirty="0">
                <a:latin typeface="Cambria Math" panose="02040503050406030204" pitchFamily="18" charset="0"/>
                <a:ea typeface="等线" panose="02010600030101010101" pitchFamily="2" charset="-122"/>
                <a:cs typeface="Times New Roman" panose="02020603050405020304" pitchFamily="18" charset="0"/>
              </a:rPr>
              <a:t>)</a:t>
            </a:r>
            <a:r>
              <a:rPr lang="zh-CN" altLang="zh-CN" sz="1600" dirty="0">
                <a:latin typeface="Cambria Math" panose="02040503050406030204" pitchFamily="18" charset="0"/>
                <a:ea typeface="等线" panose="02010600030101010101" pitchFamily="2" charset="-122"/>
                <a:cs typeface="Times New Roman" panose="02020603050405020304" pitchFamily="18" charset="0"/>
              </a:rPr>
              <a:t>，则该初始位置对应下面的虚</a:t>
            </a:r>
            <a:r>
              <a:rPr lang="zh-CN" altLang="zh-CN" sz="1600" dirty="0" smtClean="0">
                <a:latin typeface="Cambria Math" panose="02040503050406030204" pitchFamily="18" charset="0"/>
                <a:ea typeface="等线" panose="02010600030101010101" pitchFamily="2" charset="-122"/>
                <a:cs typeface="Times New Roman" panose="02020603050405020304" pitchFamily="18" charset="0"/>
              </a:rPr>
              <a:t>四元数</a:t>
            </a:r>
            <a:r>
              <a:rPr lang="en-US" altLang="zh-CN" sz="1600" dirty="0" smtClean="0">
                <a:latin typeface="Cambria Math" panose="02040503050406030204" pitchFamily="18" charset="0"/>
                <a:ea typeface="等线" panose="02010600030101010101" pitchFamily="2" charset="-122"/>
                <a:cs typeface="Times New Roman" panose="02020603050405020304" pitchFamily="18" charset="0"/>
              </a:rPr>
              <a:t>:</a:t>
            </a:r>
            <a:endParaRPr lang="zh-CN" altLang="en-US" sz="1600" dirty="0"/>
          </a:p>
        </p:txBody>
      </p:sp>
      <mc:AlternateContent xmlns:mc="http://schemas.openxmlformats.org/markup-compatibility/2006" xmlns:a14="http://schemas.microsoft.com/office/drawing/2010/main">
        <mc:Choice Requires="a14">
          <p:sp>
            <p:nvSpPr>
              <p:cNvPr id="10" name="矩形 9"/>
              <p:cNvSpPr/>
              <p:nvPr/>
            </p:nvSpPr>
            <p:spPr>
              <a:xfrm>
                <a:off x="3269874" y="1506795"/>
                <a:ext cx="164756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i="1">
                              <a:latin typeface="Cambria Math" panose="02040503050406030204" pitchFamily="18" charset="0"/>
                            </a:rPr>
                          </m:ctrlPr>
                        </m:dPr>
                        <m:e>
                          <m:r>
                            <a:rPr lang="zh-CN" altLang="en-US" i="1">
                              <a:latin typeface="Cambria Math" panose="02040503050406030204" pitchFamily="18" charset="0"/>
                            </a:rPr>
                            <m:t>𝑃</m:t>
                          </m:r>
                          <m:r>
                            <a:rPr lang="zh-CN" altLang="en-US" i="0">
                              <a:latin typeface="Cambria Math" panose="02040503050406030204" pitchFamily="18" charset="0"/>
                            </a:rPr>
                            <m:t>=(0,</m:t>
                          </m:r>
                          <m:r>
                            <a:rPr lang="zh-CN" altLang="en-US" i="1">
                              <a:latin typeface="Cambria Math" panose="02040503050406030204" pitchFamily="18" charset="0"/>
                            </a:rPr>
                            <m:t>𝑥</m:t>
                          </m:r>
                          <m:r>
                            <a:rPr lang="zh-CN" altLang="en-US" i="0">
                              <a:latin typeface="Cambria Math" panose="02040503050406030204" pitchFamily="18" charset="0"/>
                            </a:rPr>
                            <m:t>,</m:t>
                          </m:r>
                          <m:r>
                            <a:rPr lang="zh-CN" altLang="en-US" i="1">
                              <a:latin typeface="Cambria Math" panose="02040503050406030204" pitchFamily="18" charset="0"/>
                            </a:rPr>
                            <m:t>𝑦</m:t>
                          </m:r>
                          <m:r>
                            <a:rPr lang="zh-CN" altLang="en-US" i="0">
                              <a:latin typeface="Cambria Math" panose="02040503050406030204" pitchFamily="18" charset="0"/>
                            </a:rPr>
                            <m:t>,</m:t>
                          </m:r>
                          <m:r>
                            <a:rPr lang="zh-CN" altLang="en-US" i="1">
                              <a:latin typeface="Cambria Math" panose="02040503050406030204" pitchFamily="18" charset="0"/>
                            </a:rPr>
                            <m:t>𝑧</m:t>
                          </m:r>
                        </m:e>
                      </m:d>
                    </m:oMath>
                  </m:oMathPara>
                </a14:m>
                <a:endParaRPr lang="zh-CN" altLang="en-US" dirty="0"/>
              </a:p>
            </p:txBody>
          </p:sp>
        </mc:Choice>
        <mc:Fallback xmlns="">
          <p:sp>
            <p:nvSpPr>
              <p:cNvPr id="10" name="矩形 9"/>
              <p:cNvSpPr>
                <a:spLocks noRot="1" noChangeAspect="1" noMove="1" noResize="1" noEditPoints="1" noAdjustHandles="1" noChangeArrowheads="1" noChangeShapeType="1" noTextEdit="1"/>
              </p:cNvSpPr>
              <p:nvPr/>
            </p:nvSpPr>
            <p:spPr>
              <a:xfrm>
                <a:off x="3269874" y="1506795"/>
                <a:ext cx="1647566" cy="369332"/>
              </a:xfrm>
              <a:prstGeom prst="rect">
                <a:avLst/>
              </a:prstGeom>
              <a:blipFill>
                <a:blip r:embed="rId3"/>
                <a:stretch>
                  <a:fillRect t="-119672" r="-30258" b="-1836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980789" y="1876127"/>
                <a:ext cx="6624736" cy="604204"/>
              </a:xfrm>
              <a:prstGeom prst="rect">
                <a:avLst/>
              </a:prstGeom>
            </p:spPr>
            <p:txBody>
              <a:bodyPr wrap="square">
                <a:spAutoFit/>
              </a:bodyPr>
              <a:lstStyle/>
              <a:p>
                <a:r>
                  <a:rPr lang="zh-CN" altLang="zh-CN" sz="1600" dirty="0">
                    <a:ea typeface="等线" panose="02010600030101010101" pitchFamily="2" charset="-122"/>
                    <a:cs typeface="Times New Roman" panose="02020603050405020304" pitchFamily="18" charset="0"/>
                  </a:rPr>
                  <a:t>该串联机械臂有</a:t>
                </a:r>
                <a:r>
                  <a:rPr lang="en-US" altLang="zh-CN" sz="1600" dirty="0">
                    <a:ea typeface="等线" panose="02010600030101010101" pitchFamily="2" charset="-122"/>
                    <a:cs typeface="Times New Roman" panose="02020603050405020304" pitchFamily="18" charset="0"/>
                  </a:rPr>
                  <a:t>n</a:t>
                </a:r>
                <a:r>
                  <a:rPr lang="zh-CN" altLang="zh-CN" sz="1600" dirty="0">
                    <a:ea typeface="等线" panose="02010600030101010101" pitchFamily="2" charset="-122"/>
                    <a:cs typeface="Times New Roman" panose="02020603050405020304" pitchFamily="18" charset="0"/>
                  </a:rPr>
                  <a:t>个旋转轴</a:t>
                </a:r>
                <a14:m>
                  <m:oMath xmlns:m="http://schemas.openxmlformats.org/officeDocument/2006/math">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𝑆</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𝑖</m:t>
                        </m:r>
                      </m:sub>
                    </m:sSub>
                  </m:oMath>
                </a14:m>
                <a:r>
                  <a:rPr lang="en-US" altLang="zh-CN" sz="1600" dirty="0">
                    <a:latin typeface="等线" panose="02010600030101010101" pitchFamily="2" charset="-122"/>
                    <a:cs typeface="Times New Roman" panose="02020603050405020304" pitchFamily="18" charset="0"/>
                  </a:rPr>
                  <a:t>(</a:t>
                </a:r>
                <a:r>
                  <a:rPr lang="en-US" altLang="zh-CN" sz="1600" dirty="0" err="1">
                    <a:latin typeface="等线" panose="02010600030101010101" pitchFamily="2" charset="-122"/>
                    <a:cs typeface="Times New Roman" panose="02020603050405020304" pitchFamily="18" charset="0"/>
                  </a:rPr>
                  <a:t>i</a:t>
                </a:r>
                <a:r>
                  <a:rPr lang="en-US" altLang="zh-CN" sz="1600" dirty="0">
                    <a:latin typeface="等线" panose="02010600030101010101" pitchFamily="2" charset="-122"/>
                    <a:cs typeface="Times New Roman" panose="02020603050405020304" pitchFamily="18" charset="0"/>
                  </a:rPr>
                  <a:t>=0,1,2,…n)</a:t>
                </a:r>
                <a:r>
                  <a:rPr lang="zh-CN" altLang="zh-CN" sz="1600" dirty="0">
                    <a:ea typeface="等线" panose="02010600030101010101" pitchFamily="2" charset="-122"/>
                    <a:cs typeface="Times New Roman" panose="02020603050405020304" pitchFamily="18" charset="0"/>
                  </a:rPr>
                  <a:t>，每个旋转轴</a:t>
                </a:r>
                <a14:m>
                  <m:oMath xmlns:m="http://schemas.openxmlformats.org/officeDocument/2006/math">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𝜔</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𝑖𝑥</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𝑖𝑦</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𝑖𝑧</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1600" dirty="0">
                    <a:ea typeface="等线" panose="02010600030101010101" pitchFamily="2" charset="-122"/>
                    <a:cs typeface="Times New Roman" panose="02020603050405020304" pitchFamily="18" charset="0"/>
                  </a:rPr>
                  <a:t>对应的旋转角为</a:t>
                </a:r>
                <a14:m>
                  <m:oMath xmlns:m="http://schemas.openxmlformats.org/officeDocument/2006/math">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𝑖</m:t>
                        </m:r>
                      </m:sub>
                    </m:sSub>
                  </m:oMath>
                </a14:m>
                <a:r>
                  <a:rPr lang="zh-CN" altLang="zh-CN" sz="1600" dirty="0">
                    <a:ea typeface="等线" panose="02010600030101010101" pitchFamily="2" charset="-122"/>
                    <a:cs typeface="Times New Roman" panose="02020603050405020304" pitchFamily="18" charset="0"/>
                  </a:rPr>
                  <a:t>，可以得到各旋转轴对应的各四元数为：</a:t>
                </a:r>
                <a:endParaRPr lang="zh-CN" altLang="en-US" sz="1600" dirty="0"/>
              </a:p>
            </p:txBody>
          </p:sp>
        </mc:Choice>
        <mc:Fallback xmlns="">
          <p:sp>
            <p:nvSpPr>
              <p:cNvPr id="11" name="矩形 10"/>
              <p:cNvSpPr>
                <a:spLocks noRot="1" noChangeAspect="1" noMove="1" noResize="1" noEditPoints="1" noAdjustHandles="1" noChangeArrowheads="1" noChangeShapeType="1" noTextEdit="1"/>
              </p:cNvSpPr>
              <p:nvPr/>
            </p:nvSpPr>
            <p:spPr>
              <a:xfrm>
                <a:off x="980789" y="1876127"/>
                <a:ext cx="6624736" cy="604204"/>
              </a:xfrm>
              <a:prstGeom prst="rect">
                <a:avLst/>
              </a:prstGeom>
              <a:blipFill>
                <a:blip r:embed="rId4"/>
                <a:stretch>
                  <a:fillRect l="-552" t="-2020" b="-121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2267744" y="2486623"/>
                <a:ext cx="5184576" cy="78688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400" i="1">
                              <a:latin typeface="Cambria Math" panose="02040503050406030204" pitchFamily="18" charset="0"/>
                            </a:rPr>
                          </m:ctrlPr>
                        </m:dP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𝑞</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d>
                            <m:dPr>
                              <m:ctrlPr>
                                <a:rPr lang="zh-CN" altLang="en-US" sz="1400" i="1">
                                  <a:latin typeface="Cambria Math" panose="02040503050406030204" pitchFamily="18" charset="0"/>
                                </a:rPr>
                              </m:ctrlPr>
                            </m:dP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𝑞</m:t>
                                  </m:r>
                                </m:e>
                                <m:sub>
                                  <m:r>
                                    <a:rPr lang="zh-CN" altLang="en-US" sz="1400" i="1">
                                      <a:latin typeface="Cambria Math" panose="02040503050406030204" pitchFamily="18" charset="0"/>
                                    </a:rPr>
                                    <m:t>𝑖</m:t>
                                  </m:r>
                                  <m:r>
                                    <a:rPr lang="zh-CN" altLang="en-US" sz="1400" i="0">
                                      <a:latin typeface="Cambria Math" panose="02040503050406030204" pitchFamily="18" charset="0"/>
                                    </a:rPr>
                                    <m:t>0</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𝑞</m:t>
                                  </m:r>
                                </m:e>
                                <m:sub>
                                  <m:r>
                                    <a:rPr lang="zh-CN" altLang="en-US" sz="1400" i="1">
                                      <a:latin typeface="Cambria Math" panose="02040503050406030204" pitchFamily="18" charset="0"/>
                                    </a:rPr>
                                    <m:t>𝑖</m:t>
                                  </m:r>
                                  <m:r>
                                    <a:rPr lang="zh-CN" altLang="en-US" sz="1400" i="0">
                                      <a:latin typeface="Cambria Math" panose="02040503050406030204" pitchFamily="18" charset="0"/>
                                    </a:rPr>
                                    <m:t>1</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𝑞</m:t>
                                  </m:r>
                                </m:e>
                                <m:sub>
                                  <m:r>
                                    <a:rPr lang="zh-CN" altLang="en-US" sz="1400" i="1">
                                      <a:latin typeface="Cambria Math" panose="02040503050406030204" pitchFamily="18" charset="0"/>
                                    </a:rPr>
                                    <m:t>𝑖</m:t>
                                  </m:r>
                                  <m:r>
                                    <a:rPr lang="zh-CN" altLang="en-US" sz="1400" i="0">
                                      <a:latin typeface="Cambria Math" panose="02040503050406030204" pitchFamily="18" charset="0"/>
                                    </a:rPr>
                                    <m:t>2</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𝑞</m:t>
                                  </m:r>
                                </m:e>
                                <m:sub>
                                  <m:r>
                                    <a:rPr lang="zh-CN" altLang="en-US" sz="1400" i="1">
                                      <a:latin typeface="Cambria Math" panose="02040503050406030204" pitchFamily="18" charset="0"/>
                                    </a:rPr>
                                    <m:t>𝑖</m:t>
                                  </m:r>
                                  <m:r>
                                    <a:rPr lang="zh-CN" altLang="en-US" sz="1400" i="0">
                                      <a:latin typeface="Cambria Math" panose="02040503050406030204" pitchFamily="18" charset="0"/>
                                    </a:rPr>
                                    <m:t>3</m:t>
                                  </m:r>
                                </m:sub>
                              </m:sSub>
                            </m:e>
                          </m:d>
                          <m:r>
                            <a:rPr lang="zh-CN" altLang="en-US" sz="1400" i="0">
                              <a:latin typeface="Cambria Math" panose="02040503050406030204" pitchFamily="18" charset="0"/>
                            </a:rPr>
                            <m:t>=(</m:t>
                          </m:r>
                          <m:func>
                            <m:funcPr>
                              <m:ctrlPr>
                                <a:rPr lang="zh-CN" altLang="en-US" sz="1400" i="1">
                                  <a:latin typeface="Cambria Math" panose="02040503050406030204" pitchFamily="18" charset="0"/>
                                </a:rPr>
                              </m:ctrlPr>
                            </m:funcPr>
                            <m:fName>
                              <m:r>
                                <m:rPr>
                                  <m:sty m:val="p"/>
                                </m:rPr>
                                <a:rPr lang="zh-CN" altLang="en-US" sz="1400" i="0">
                                  <a:latin typeface="Cambria Math" panose="02040503050406030204" pitchFamily="18" charset="0"/>
                                </a:rPr>
                                <m:t>cos</m:t>
                              </m:r>
                            </m:fName>
                            <m:e>
                              <m:d>
                                <m:dPr>
                                  <m:ctrlPr>
                                    <a:rPr lang="zh-CN" altLang="en-US" sz="1400" i="1">
                                      <a:latin typeface="Cambria Math" panose="02040503050406030204" pitchFamily="18" charset="0"/>
                                    </a:rPr>
                                  </m:ctrlPr>
                                </m:dPr>
                                <m:e>
                                  <m:f>
                                    <m:fPr>
                                      <m:ctrlPr>
                                        <a:rPr lang="zh-CN" altLang="en-US" sz="1400" i="1">
                                          <a:latin typeface="Cambria Math" panose="02040503050406030204" pitchFamily="18" charset="0"/>
                                        </a:rPr>
                                      </m:ctrlPr>
                                    </m:fPr>
                                    <m:num>
                                      <m:r>
                                        <a:rPr lang="zh-CN" altLang="en-US" sz="1400" i="0">
                                          <a:latin typeface="Cambria Math" panose="02040503050406030204" pitchFamily="18" charset="0"/>
                                        </a:rPr>
                                        <m:t> </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i="1">
                                              <a:latin typeface="Cambria Math" panose="02040503050406030204" pitchFamily="18" charset="0"/>
                                            </a:rPr>
                                            <m:t>𝑖</m:t>
                                          </m:r>
                                        </m:sub>
                                      </m:sSub>
                                    </m:num>
                                    <m:den>
                                      <m:r>
                                        <a:rPr lang="zh-CN" altLang="en-US" sz="1400" i="0">
                                          <a:latin typeface="Cambria Math" panose="02040503050406030204" pitchFamily="18" charset="0"/>
                                        </a:rPr>
                                        <m:t>2</m:t>
                                      </m:r>
                                    </m:den>
                                  </m:f>
                                </m:e>
                              </m:d>
                            </m:e>
                          </m:func>
                          <m:r>
                            <a:rPr lang="zh-CN" altLang="en-US" sz="1400" i="0">
                              <a:latin typeface="Cambria Math" panose="02040503050406030204" pitchFamily="18" charset="0"/>
                            </a:rPr>
                            <m:t>,</m:t>
                          </m:r>
                          <m:func>
                            <m:funcPr>
                              <m:ctrlPr>
                                <a:rPr lang="zh-CN" altLang="en-US" sz="1400" i="1">
                                  <a:latin typeface="Cambria Math" panose="02040503050406030204" pitchFamily="18" charset="0"/>
                                </a:rPr>
                              </m:ctrlPr>
                            </m:funcPr>
                            <m:fName>
                              <m:r>
                                <m:rPr>
                                  <m:sty m:val="p"/>
                                </m:rPr>
                                <a:rPr lang="zh-CN" altLang="en-US" sz="1400" i="0">
                                  <a:latin typeface="Cambria Math" panose="02040503050406030204" pitchFamily="18" charset="0"/>
                                </a:rPr>
                                <m:t>sin</m:t>
                              </m:r>
                            </m:fName>
                            <m:e>
                              <m:d>
                                <m:dPr>
                                  <m:ctrlPr>
                                    <a:rPr lang="zh-CN" altLang="en-US" sz="1400" i="1">
                                      <a:latin typeface="Cambria Math" panose="02040503050406030204" pitchFamily="18" charset="0"/>
                                    </a:rPr>
                                  </m:ctrlPr>
                                </m:dPr>
                                <m:e>
                                  <m:f>
                                    <m:fPr>
                                      <m:ctrlPr>
                                        <a:rPr lang="zh-CN" altLang="en-US" sz="1400" i="1">
                                          <a:latin typeface="Cambria Math" panose="02040503050406030204" pitchFamily="18" charset="0"/>
                                        </a:rPr>
                                      </m:ctrlPr>
                                    </m:fPr>
                                    <m:num>
                                      <m:r>
                                        <a:rPr lang="zh-CN" altLang="en-US" sz="1400" i="0">
                                          <a:latin typeface="Cambria Math" panose="02040503050406030204" pitchFamily="18" charset="0"/>
                                        </a:rPr>
                                        <m:t> </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i="1">
                                              <a:latin typeface="Cambria Math" panose="02040503050406030204" pitchFamily="18" charset="0"/>
                                            </a:rPr>
                                            <m:t>𝑖</m:t>
                                          </m:r>
                                        </m:sub>
                                      </m:sSub>
                                    </m:num>
                                    <m:den>
                                      <m:r>
                                        <a:rPr lang="zh-CN" altLang="en-US" sz="1400" i="0">
                                          <a:latin typeface="Cambria Math" panose="02040503050406030204" pitchFamily="18" charset="0"/>
                                        </a:rPr>
                                        <m:t>2</m:t>
                                      </m:r>
                                    </m:den>
                                  </m:f>
                                </m:e>
                              </m:d>
                            </m:e>
                          </m:func>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𝑛</m:t>
                              </m:r>
                            </m:e>
                            <m:sub>
                              <m:r>
                                <a:rPr lang="zh-CN" altLang="en-US" sz="1400" i="1">
                                  <a:latin typeface="Cambria Math" panose="02040503050406030204" pitchFamily="18" charset="0"/>
                                </a:rPr>
                                <m:t>𝑖𝑥</m:t>
                              </m:r>
                            </m:sub>
                          </m:sSub>
                          <m:r>
                            <a:rPr lang="zh-CN" altLang="en-US" sz="1400" i="0">
                              <a:latin typeface="Cambria Math" panose="02040503050406030204" pitchFamily="18" charset="0"/>
                            </a:rPr>
                            <m:t>,</m:t>
                          </m:r>
                          <m:func>
                            <m:funcPr>
                              <m:ctrlPr>
                                <a:rPr lang="zh-CN" altLang="en-US" sz="1400" i="1">
                                  <a:latin typeface="Cambria Math" panose="02040503050406030204" pitchFamily="18" charset="0"/>
                                </a:rPr>
                              </m:ctrlPr>
                            </m:funcPr>
                            <m:fName>
                              <m:r>
                                <m:rPr>
                                  <m:sty m:val="p"/>
                                </m:rPr>
                                <a:rPr lang="zh-CN" altLang="en-US" sz="1400" i="0">
                                  <a:latin typeface="Cambria Math" panose="02040503050406030204" pitchFamily="18" charset="0"/>
                                </a:rPr>
                                <m:t>sin</m:t>
                              </m:r>
                            </m:fName>
                            <m:e>
                              <m:d>
                                <m:dPr>
                                  <m:ctrlPr>
                                    <a:rPr lang="zh-CN" altLang="en-US" sz="1400" i="1">
                                      <a:latin typeface="Cambria Math" panose="02040503050406030204" pitchFamily="18" charset="0"/>
                                    </a:rPr>
                                  </m:ctrlPr>
                                </m:dPr>
                                <m:e>
                                  <m:f>
                                    <m:fPr>
                                      <m:ctrlPr>
                                        <a:rPr lang="zh-CN" altLang="en-US" sz="1400" i="1">
                                          <a:latin typeface="Cambria Math" panose="02040503050406030204" pitchFamily="18" charset="0"/>
                                        </a:rPr>
                                      </m:ctrlPr>
                                    </m:fPr>
                                    <m:num>
                                      <m:r>
                                        <a:rPr lang="zh-CN" altLang="en-US" sz="1400" i="0">
                                          <a:latin typeface="Cambria Math" panose="02040503050406030204" pitchFamily="18" charset="0"/>
                                        </a:rPr>
                                        <m:t> </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i="1">
                                              <a:latin typeface="Cambria Math" panose="02040503050406030204" pitchFamily="18" charset="0"/>
                                            </a:rPr>
                                            <m:t>𝑖</m:t>
                                          </m:r>
                                        </m:sub>
                                      </m:sSub>
                                    </m:num>
                                    <m:den>
                                      <m:r>
                                        <a:rPr lang="zh-CN" altLang="en-US" sz="1400" i="0">
                                          <a:latin typeface="Cambria Math" panose="02040503050406030204" pitchFamily="18" charset="0"/>
                                        </a:rPr>
                                        <m:t>2</m:t>
                                      </m:r>
                                    </m:den>
                                  </m:f>
                                </m:e>
                              </m:d>
                            </m:e>
                          </m:func>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𝑛</m:t>
                              </m:r>
                            </m:e>
                            <m:sub>
                              <m:r>
                                <a:rPr lang="zh-CN" altLang="en-US" sz="1400" i="1">
                                  <a:latin typeface="Cambria Math" panose="02040503050406030204" pitchFamily="18" charset="0"/>
                                </a:rPr>
                                <m:t>𝑖𝑦</m:t>
                              </m:r>
                            </m:sub>
                          </m:sSub>
                          <m:r>
                            <a:rPr lang="zh-CN" altLang="en-US" sz="1400" i="0">
                              <a:latin typeface="Cambria Math" panose="02040503050406030204" pitchFamily="18" charset="0"/>
                            </a:rPr>
                            <m:t>,</m:t>
                          </m:r>
                          <m:func>
                            <m:funcPr>
                              <m:ctrlPr>
                                <a:rPr lang="zh-CN" altLang="en-US" sz="1400" i="1">
                                  <a:latin typeface="Cambria Math" panose="02040503050406030204" pitchFamily="18" charset="0"/>
                                </a:rPr>
                              </m:ctrlPr>
                            </m:funcPr>
                            <m:fName>
                              <m:r>
                                <m:rPr>
                                  <m:sty m:val="p"/>
                                </m:rPr>
                                <a:rPr lang="zh-CN" altLang="en-US" sz="1400" i="0">
                                  <a:latin typeface="Cambria Math" panose="02040503050406030204" pitchFamily="18" charset="0"/>
                                </a:rPr>
                                <m:t>sin</m:t>
                              </m:r>
                            </m:fName>
                            <m:e>
                              <m:d>
                                <m:dPr>
                                  <m:ctrlPr>
                                    <a:rPr lang="zh-CN" altLang="en-US" sz="1400" i="1">
                                      <a:latin typeface="Cambria Math" panose="02040503050406030204" pitchFamily="18" charset="0"/>
                                    </a:rPr>
                                  </m:ctrlPr>
                                </m:dPr>
                                <m:e>
                                  <m:f>
                                    <m:fPr>
                                      <m:ctrlPr>
                                        <a:rPr lang="zh-CN" altLang="en-US" sz="1400" i="1">
                                          <a:latin typeface="Cambria Math" panose="02040503050406030204" pitchFamily="18" charset="0"/>
                                        </a:rPr>
                                      </m:ctrlPr>
                                    </m:fPr>
                                    <m:num>
                                      <m:r>
                                        <a:rPr lang="zh-CN" altLang="en-US" sz="1400" i="0">
                                          <a:latin typeface="Cambria Math" panose="02040503050406030204" pitchFamily="18" charset="0"/>
                                        </a:rPr>
                                        <m:t> </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i="1">
                                              <a:latin typeface="Cambria Math" panose="02040503050406030204" pitchFamily="18" charset="0"/>
                                            </a:rPr>
                                            <m:t>𝑖</m:t>
                                          </m:r>
                                        </m:sub>
                                      </m:sSub>
                                    </m:num>
                                    <m:den>
                                      <m:r>
                                        <a:rPr lang="zh-CN" altLang="en-US" sz="1400" i="0">
                                          <a:latin typeface="Cambria Math" panose="02040503050406030204" pitchFamily="18" charset="0"/>
                                        </a:rPr>
                                        <m:t>2</m:t>
                                      </m:r>
                                    </m:den>
                                  </m:f>
                                </m:e>
                              </m:d>
                            </m:e>
                          </m:func>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𝑛</m:t>
                              </m:r>
                            </m:e>
                            <m:sub>
                              <m:r>
                                <a:rPr lang="zh-CN" altLang="en-US" sz="1400" i="1">
                                  <a:latin typeface="Cambria Math" panose="02040503050406030204" pitchFamily="18" charset="0"/>
                                </a:rPr>
                                <m:t>𝑖𝑧</m:t>
                              </m:r>
                            </m:sub>
                          </m:sSub>
                        </m:e>
                      </m:d>
                    </m:oMath>
                  </m:oMathPara>
                </a14:m>
                <a:endParaRPr lang="zh-CN" altLang="en-US" sz="1400" dirty="0"/>
              </a:p>
            </p:txBody>
          </p:sp>
        </mc:Choice>
        <mc:Fallback xmlns="">
          <p:sp>
            <p:nvSpPr>
              <p:cNvPr id="15" name="矩形 14"/>
              <p:cNvSpPr>
                <a:spLocks noRot="1" noChangeAspect="1" noMove="1" noResize="1" noEditPoints="1" noAdjustHandles="1" noChangeArrowheads="1" noChangeShapeType="1" noTextEdit="1"/>
              </p:cNvSpPr>
              <p:nvPr/>
            </p:nvSpPr>
            <p:spPr>
              <a:xfrm>
                <a:off x="2267744" y="2486623"/>
                <a:ext cx="5184576" cy="786882"/>
              </a:xfrm>
              <a:prstGeom prst="rect">
                <a:avLst/>
              </a:prstGeom>
              <a:blipFill>
                <a:blip r:embed="rId5"/>
                <a:stretch>
                  <a:fillRect t="-107752" r="-10824" b="-19457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2771800" y="3255323"/>
                <a:ext cx="2006575" cy="32060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sz="1400" i="1">
                              <a:latin typeface="Cambria Math" panose="02040503050406030204" pitchFamily="18" charset="0"/>
                            </a:rPr>
                          </m:ctrlPr>
                        </m:sSupP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𝑞</m:t>
                              </m:r>
                            </m:e>
                            <m:sub>
                              <m:r>
                                <a:rPr lang="zh-CN" altLang="en-US" sz="1400" i="1">
                                  <a:latin typeface="Cambria Math" panose="02040503050406030204" pitchFamily="18" charset="0"/>
                                </a:rPr>
                                <m:t>𝑖</m:t>
                              </m:r>
                            </m:sub>
                          </m:sSub>
                        </m:e>
                        <m:sup>
                          <m:r>
                            <a:rPr lang="zh-CN" altLang="en-US" sz="1400" i="1">
                              <a:latin typeface="Cambria Math" panose="02040503050406030204" pitchFamily="18" charset="0"/>
                            </a:rPr>
                            <m:t>𝑜</m:t>
                          </m:r>
                        </m:sup>
                      </m:sSup>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𝑝</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𝑞</m:t>
                          </m:r>
                        </m:e>
                        <m:sub>
                          <m:r>
                            <a:rPr lang="zh-CN" altLang="en-US" sz="1400" i="1">
                              <a:latin typeface="Cambria Math" panose="02040503050406030204" pitchFamily="18" charset="0"/>
                            </a:rPr>
                            <m:t>𝑖</m:t>
                          </m:r>
                        </m:sub>
                      </m:sSub>
                      <m:sSub>
                        <m:sSubPr>
                          <m:ctrlPr>
                            <a:rPr lang="zh-CN" altLang="en-US" sz="1400" i="1">
                              <a:latin typeface="Cambria Math" panose="02040503050406030204" pitchFamily="18" charset="0"/>
                            </a:rPr>
                          </m:ctrlPr>
                        </m:sSubPr>
                        <m:e>
                          <m:r>
                            <a:rPr lang="en-US" altLang="zh-CN" sz="1400">
                              <a:latin typeface="Cambria Math" panose="02040503050406030204" pitchFamily="18" charset="0"/>
                              <a:ea typeface="等线" panose="02010600030101010101" pitchFamily="2" charset="-122"/>
                              <a:cs typeface="Times New Roman" panose="02020603050405020304" pitchFamily="18" charset="0"/>
                            </a:rPr>
                            <m:t>⨂</m:t>
                          </m:r>
                          <m:r>
                            <a:rPr lang="zh-CN" altLang="en-US" sz="1400" i="1">
                              <a:latin typeface="Cambria Math" panose="02040503050406030204" pitchFamily="18" charset="0"/>
                            </a:rPr>
                            <m:t>𝑝</m:t>
                          </m:r>
                        </m:e>
                        <m:sub>
                          <m:r>
                            <a:rPr lang="zh-CN" altLang="en-US" sz="1400" i="1">
                              <a:latin typeface="Cambria Math" panose="02040503050406030204" pitchFamily="18" charset="0"/>
                            </a:rPr>
                            <m:t>𝑖</m:t>
                          </m:r>
                        </m:sub>
                      </m:sSub>
                      <m:sSup>
                        <m:sSupPr>
                          <m:ctrlPr>
                            <a:rPr lang="zh-CN" altLang="en-US" sz="1400" i="1">
                              <a:latin typeface="Cambria Math" panose="02040503050406030204" pitchFamily="18" charset="0"/>
                            </a:rPr>
                          </m:ctrlPr>
                        </m:sSupPr>
                        <m:e>
                          <m:sSub>
                            <m:sSubPr>
                              <m:ctrlPr>
                                <a:rPr lang="zh-CN" altLang="en-US" sz="1400" i="1">
                                  <a:latin typeface="Cambria Math" panose="02040503050406030204" pitchFamily="18" charset="0"/>
                                </a:rPr>
                              </m:ctrlPr>
                            </m:sSubPr>
                            <m:e>
                              <m:r>
                                <a:rPr lang="en-US" altLang="zh-CN" sz="1400">
                                  <a:latin typeface="Cambria Math" panose="02040503050406030204" pitchFamily="18" charset="0"/>
                                  <a:ea typeface="等线" panose="02010600030101010101" pitchFamily="2" charset="-122"/>
                                  <a:cs typeface="Times New Roman" panose="02020603050405020304" pitchFamily="18" charset="0"/>
                                </a:rPr>
                                <m:t>⨂</m:t>
                              </m:r>
                              <m:r>
                                <a:rPr lang="zh-CN" altLang="en-US" sz="1400" i="1">
                                  <a:latin typeface="Cambria Math" panose="02040503050406030204" pitchFamily="18" charset="0"/>
                                </a:rPr>
                                <m:t>𝑞</m:t>
                              </m:r>
                            </m:e>
                            <m:sub>
                              <m:r>
                                <a:rPr lang="zh-CN" altLang="en-US" sz="1400" i="1">
                                  <a:latin typeface="Cambria Math" panose="02040503050406030204" pitchFamily="18" charset="0"/>
                                </a:rPr>
                                <m:t>𝑖</m:t>
                              </m:r>
                            </m:sub>
                          </m:sSub>
                        </m:e>
                        <m:sup>
                          <m:r>
                            <a:rPr lang="zh-CN" altLang="en-US" sz="1400">
                              <a:latin typeface="Cambria Math" panose="02040503050406030204" pitchFamily="18" charset="0"/>
                            </a:rPr>
                            <m:t>−1</m:t>
                          </m:r>
                        </m:sup>
                      </m:sSup>
                    </m:oMath>
                  </m:oMathPara>
                </a14:m>
                <a:endParaRPr lang="zh-CN" altLang="en-US" sz="1400" dirty="0"/>
              </a:p>
            </p:txBody>
          </p:sp>
        </mc:Choice>
        <mc:Fallback xmlns="">
          <p:sp>
            <p:nvSpPr>
              <p:cNvPr id="16" name="矩形 15"/>
              <p:cNvSpPr>
                <a:spLocks noRot="1" noChangeAspect="1" noMove="1" noResize="1" noEditPoints="1" noAdjustHandles="1" noChangeArrowheads="1" noChangeShapeType="1" noTextEdit="1"/>
              </p:cNvSpPr>
              <p:nvPr/>
            </p:nvSpPr>
            <p:spPr>
              <a:xfrm>
                <a:off x="2771800" y="3255323"/>
                <a:ext cx="2006575" cy="320601"/>
              </a:xfrm>
              <a:prstGeom prst="rect">
                <a:avLst/>
              </a:prstGeom>
              <a:blipFill>
                <a:blip r:embed="rId6"/>
                <a:stretch>
                  <a:fillRect b="-1887"/>
                </a:stretch>
              </a:blipFill>
            </p:spPr>
            <p:txBody>
              <a:bodyPr/>
              <a:lstStyle/>
              <a:p>
                <a:r>
                  <a:rPr lang="zh-CN" altLang="en-US">
                    <a:noFill/>
                  </a:rPr>
                  <a:t> </a:t>
                </a:r>
              </a:p>
            </p:txBody>
          </p:sp>
        </mc:Fallback>
      </mc:AlternateContent>
      <p:sp>
        <p:nvSpPr>
          <p:cNvPr id="17" name="矩形 16"/>
          <p:cNvSpPr/>
          <p:nvPr/>
        </p:nvSpPr>
        <p:spPr>
          <a:xfrm>
            <a:off x="1396359" y="2558091"/>
            <a:ext cx="1338828" cy="369332"/>
          </a:xfrm>
          <a:prstGeom prst="rect">
            <a:avLst/>
          </a:prstGeom>
        </p:spPr>
        <p:txBody>
          <a:bodyPr wrap="none">
            <a:spAutoFit/>
          </a:bodyPr>
          <a:lstStyle/>
          <a:p>
            <a:r>
              <a:rPr lang="zh-CN" altLang="zh-CN" b="1" dirty="0">
                <a:ea typeface="等线" panose="02010600030101010101" pitchFamily="2" charset="-122"/>
                <a:cs typeface="Times New Roman" panose="02020603050405020304" pitchFamily="18" charset="0"/>
              </a:rPr>
              <a:t>旋转变换</a:t>
            </a:r>
            <a:r>
              <a:rPr lang="zh-CN" altLang="zh-CN" dirty="0">
                <a:ea typeface="等线" panose="02010600030101010101" pitchFamily="2" charset="-122"/>
                <a:cs typeface="Times New Roman" panose="02020603050405020304" pitchFamily="18" charset="0"/>
              </a:rPr>
              <a:t>：</a:t>
            </a:r>
            <a:endParaRPr lang="zh-CN" altLang="en-US" dirty="0"/>
          </a:p>
        </p:txBody>
      </p:sp>
      <p:sp>
        <p:nvSpPr>
          <p:cNvPr id="18" name="矩形 17"/>
          <p:cNvSpPr/>
          <p:nvPr/>
        </p:nvSpPr>
        <p:spPr>
          <a:xfrm>
            <a:off x="1432972" y="3286126"/>
            <a:ext cx="1338828" cy="369332"/>
          </a:xfrm>
          <a:prstGeom prst="rect">
            <a:avLst/>
          </a:prstGeom>
        </p:spPr>
        <p:txBody>
          <a:bodyPr wrap="none">
            <a:spAutoFit/>
          </a:bodyPr>
          <a:lstStyle/>
          <a:p>
            <a:r>
              <a:rPr lang="zh-CN" altLang="zh-CN" b="1" dirty="0">
                <a:ea typeface="等线" panose="02010600030101010101" pitchFamily="2" charset="-122"/>
                <a:cs typeface="Times New Roman" panose="02020603050405020304" pitchFamily="18" charset="0"/>
              </a:rPr>
              <a:t>位置变换</a:t>
            </a:r>
            <a:r>
              <a:rPr lang="zh-CN" altLang="zh-CN" dirty="0">
                <a:ea typeface="等线" panose="02010600030101010101" pitchFamily="2" charset="-122"/>
                <a:cs typeface="Times New Roman" panose="02020603050405020304" pitchFamily="18" charset="0"/>
              </a:rPr>
              <a:t>：</a:t>
            </a:r>
            <a:endParaRPr lang="zh-CN" altLang="en-US" dirty="0"/>
          </a:p>
        </p:txBody>
      </p:sp>
      <p:sp>
        <p:nvSpPr>
          <p:cNvPr id="19" name="矩形 18"/>
          <p:cNvSpPr/>
          <p:nvPr/>
        </p:nvSpPr>
        <p:spPr>
          <a:xfrm>
            <a:off x="977692" y="3640439"/>
            <a:ext cx="6474628" cy="584775"/>
          </a:xfrm>
          <a:prstGeom prst="rect">
            <a:avLst/>
          </a:prstGeom>
        </p:spPr>
        <p:txBody>
          <a:bodyPr wrap="square">
            <a:spAutoFit/>
          </a:bodyPr>
          <a:lstStyle/>
          <a:p>
            <a:r>
              <a:rPr lang="zh-CN" altLang="zh-CN" sz="1600" dirty="0">
                <a:ea typeface="等线" panose="02010600030101010101" pitchFamily="2" charset="-122"/>
                <a:cs typeface="Times New Roman" panose="02020603050405020304" pitchFamily="18" charset="0"/>
              </a:rPr>
              <a:t>通过一系列旋转轴的运动之后，</a:t>
            </a:r>
            <a:r>
              <a:rPr lang="en-US" altLang="zh-CN" sz="1600" dirty="0">
                <a:ea typeface="等线" panose="02010600030101010101" pitchFamily="2" charset="-122"/>
                <a:cs typeface="Times New Roman" panose="02020603050405020304" pitchFamily="18" charset="0"/>
              </a:rPr>
              <a:t>TCP</a:t>
            </a:r>
            <a:r>
              <a:rPr lang="zh-CN" altLang="zh-CN" sz="1600" dirty="0">
                <a:ea typeface="等线" panose="02010600030101010101" pitchFamily="2" charset="-122"/>
                <a:cs typeface="Times New Roman" panose="02020603050405020304" pitchFamily="18" charset="0"/>
              </a:rPr>
              <a:t>在全局坐标系中的最新位置对应</a:t>
            </a:r>
            <a:r>
              <a:rPr lang="zh-CN" altLang="zh-CN" sz="1600" dirty="0" smtClean="0">
                <a:ea typeface="等线" panose="02010600030101010101" pitchFamily="2" charset="-122"/>
                <a:cs typeface="Times New Roman" panose="02020603050405020304" pitchFamily="18" charset="0"/>
              </a:rPr>
              <a:t>的总</a:t>
            </a:r>
            <a:r>
              <a:rPr lang="zh-CN" altLang="zh-CN" sz="1600" dirty="0">
                <a:ea typeface="等线" panose="02010600030101010101" pitchFamily="2" charset="-122"/>
                <a:cs typeface="Times New Roman" panose="02020603050405020304" pitchFamily="18" charset="0"/>
              </a:rPr>
              <a:t>变换可以如下公式进行计算：</a:t>
            </a:r>
            <a:endParaRPr lang="zh-CN" altLang="en-US" sz="1600" dirty="0"/>
          </a:p>
        </p:txBody>
      </p:sp>
      <mc:AlternateContent xmlns:mc="http://schemas.openxmlformats.org/markup-compatibility/2006" xmlns:a14="http://schemas.microsoft.com/office/drawing/2010/main">
        <mc:Choice Requires="a14">
          <p:sp>
            <p:nvSpPr>
              <p:cNvPr id="20" name="矩形 19"/>
              <p:cNvSpPr/>
              <p:nvPr/>
            </p:nvSpPr>
            <p:spPr>
              <a:xfrm>
                <a:off x="2311784" y="4253594"/>
                <a:ext cx="210442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r>
                            <a:rPr lang="zh-CN" altLang="en-US" sz="1600" i="1">
                              <a:latin typeface="Cambria Math" panose="02040503050406030204" pitchFamily="18" charset="0"/>
                            </a:rPr>
                            <m:t>𝑖</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sub>
                      </m:sSub>
                      <m:r>
                        <a:rPr lang="en-US" altLang="zh-CN" sz="16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a:latin typeface="Cambria Math" panose="02040503050406030204" pitchFamily="18" charset="0"/>
                            </a:rPr>
                            <m:t>2</m:t>
                          </m:r>
                        </m:sub>
                      </m:sSub>
                      <m:r>
                        <a:rPr lang="en-US" altLang="zh-CN" sz="1600">
                          <a:latin typeface="Cambria Math" panose="02040503050406030204" pitchFamily="18" charset="0"/>
                          <a:ea typeface="等线" panose="02010600030101010101" pitchFamily="2" charset="-122"/>
                          <a:cs typeface="Times New Roman" panose="02020603050405020304" pitchFamily="18" charset="0"/>
                        </a:rPr>
                        <m:t>⨂</m:t>
                      </m:r>
                      <m:r>
                        <a:rPr lang="en-US" altLang="zh-CN" sz="160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16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1">
                              <a:latin typeface="Cambria Math" panose="02040503050406030204" pitchFamily="18" charset="0"/>
                            </a:rPr>
                            <m:t>𝑖</m:t>
                          </m:r>
                        </m:sub>
                      </m:sSub>
                    </m:oMath>
                  </m:oMathPara>
                </a14:m>
                <a:endParaRPr lang="zh-CN" altLang="en-US" sz="1600" dirty="0"/>
              </a:p>
            </p:txBody>
          </p:sp>
        </mc:Choice>
        <mc:Fallback xmlns="">
          <p:sp>
            <p:nvSpPr>
              <p:cNvPr id="20" name="矩形 19"/>
              <p:cNvSpPr>
                <a:spLocks noRot="1" noChangeAspect="1" noMove="1" noResize="1" noEditPoints="1" noAdjustHandles="1" noChangeArrowheads="1" noChangeShapeType="1" noTextEdit="1"/>
              </p:cNvSpPr>
              <p:nvPr/>
            </p:nvSpPr>
            <p:spPr>
              <a:xfrm>
                <a:off x="2311784" y="4253594"/>
                <a:ext cx="2104422" cy="338554"/>
              </a:xfrm>
              <a:prstGeom prst="rect">
                <a:avLst/>
              </a:prstGeom>
              <a:blipFill>
                <a:blip r:embed="rId7"/>
                <a:stretch>
                  <a:fillRect b="-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2065773" y="4634598"/>
                <a:ext cx="5184576"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1600" i="1">
                              <a:latin typeface="Cambria Math" panose="02040503050406030204" pitchFamily="18" charset="0"/>
                            </a:rPr>
                          </m:ctrlPr>
                        </m:sSup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r>
                                <a:rPr lang="zh-CN" altLang="en-US" sz="1600" i="1">
                                  <a:latin typeface="Cambria Math" panose="02040503050406030204" pitchFamily="18" charset="0"/>
                                </a:rPr>
                                <m:t>𝑖</m:t>
                              </m:r>
                            </m:sub>
                          </m:sSub>
                        </m:e>
                        <m:sup>
                          <m:r>
                            <a:rPr lang="zh-CN" altLang="en-US" sz="1600" i="1">
                              <a:latin typeface="Cambria Math" panose="02040503050406030204" pitchFamily="18" charset="0"/>
                            </a:rPr>
                            <m:t>𝑜</m:t>
                          </m:r>
                        </m:sup>
                      </m:sSup>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r>
                            <a:rPr lang="zh-CN" altLang="en-US" sz="1600" i="1">
                              <a:latin typeface="Cambria Math" panose="02040503050406030204" pitchFamily="18" charset="0"/>
                            </a:rPr>
                            <m:t>𝑖</m:t>
                          </m:r>
                          <m:r>
                            <a:rPr lang="zh-CN" altLang="en-US" sz="1600" i="0">
                              <a:latin typeface="Cambria Math" panose="02040503050406030204" pitchFamily="18" charset="0"/>
                            </a:rPr>
                            <m:t>−1</m:t>
                          </m:r>
                        </m:sub>
                      </m:sSub>
                      <m:r>
                        <a:rPr lang="en-US" altLang="zh-CN" sz="16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𝑝</m:t>
                          </m:r>
                        </m:e>
                        <m:sub>
                          <m:r>
                            <a:rPr lang="zh-CN" altLang="en-US" sz="1600" i="1">
                              <a:latin typeface="Cambria Math" panose="02040503050406030204" pitchFamily="18" charset="0"/>
                            </a:rPr>
                            <m:t>𝑖</m:t>
                          </m:r>
                        </m:sub>
                      </m:sSub>
                      <m:r>
                        <a:rPr lang="en-US" altLang="zh-CN" sz="1600">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en-US" sz="1600" i="1">
                              <a:latin typeface="Cambria Math" panose="02040503050406030204" pitchFamily="18" charset="0"/>
                            </a:rPr>
                          </m:ctrlPr>
                        </m:sSup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a:latin typeface="Cambria Math" panose="02040503050406030204" pitchFamily="18" charset="0"/>
                                </a:rPr>
                                <m:t>1</m:t>
                              </m:r>
                              <m:r>
                                <a:rPr lang="zh-CN" altLang="en-US" sz="1600" i="1">
                                  <a:latin typeface="Cambria Math" panose="02040503050406030204" pitchFamily="18" charset="0"/>
                                </a:rPr>
                                <m:t>𝑖</m:t>
                              </m:r>
                              <m:r>
                                <a:rPr lang="zh-CN" altLang="en-US" sz="1600">
                                  <a:latin typeface="Cambria Math" panose="02040503050406030204" pitchFamily="18" charset="0"/>
                                </a:rPr>
                                <m:t>−1</m:t>
                              </m:r>
                            </m:sub>
                          </m:sSub>
                        </m:e>
                        <m:sup>
                          <m:r>
                            <a:rPr lang="zh-CN" altLang="en-US" sz="1600">
                              <a:latin typeface="Cambria Math" panose="02040503050406030204" pitchFamily="18" charset="0"/>
                            </a:rPr>
                            <m:t>−1</m:t>
                          </m:r>
                        </m:sup>
                      </m:sSup>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r>
                            <a:rPr lang="zh-CN" altLang="en-US" sz="1600" i="1">
                              <a:latin typeface="Cambria Math" panose="02040503050406030204" pitchFamily="18" charset="0"/>
                            </a:rPr>
                            <m:t>𝑖</m:t>
                          </m:r>
                        </m:sub>
                      </m:sSub>
                      <m:r>
                        <a:rPr lang="en-US" altLang="zh-CN" sz="16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𝑝</m:t>
                          </m:r>
                        </m:e>
                        <m:sub>
                          <m:r>
                            <a:rPr lang="zh-CN" altLang="en-US" sz="1600" i="1">
                              <a:latin typeface="Cambria Math" panose="02040503050406030204" pitchFamily="18" charset="0"/>
                            </a:rPr>
                            <m:t>𝑖</m:t>
                          </m:r>
                        </m:sub>
                      </m:sSub>
                      <m:r>
                        <a:rPr lang="en-US" altLang="zh-CN" sz="1600">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en-US" sz="1600" i="1">
                              <a:latin typeface="Cambria Math" panose="02040503050406030204" pitchFamily="18" charset="0"/>
                            </a:rPr>
                          </m:ctrlPr>
                        </m:sSup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a:latin typeface="Cambria Math" panose="02040503050406030204" pitchFamily="18" charset="0"/>
                                </a:rPr>
                                <m:t>1</m:t>
                              </m:r>
                              <m:r>
                                <a:rPr lang="zh-CN" altLang="en-US" sz="1600" i="1">
                                  <a:latin typeface="Cambria Math" panose="02040503050406030204" pitchFamily="18" charset="0"/>
                                </a:rPr>
                                <m:t>𝑖</m:t>
                              </m:r>
                            </m:sub>
                          </m:sSub>
                        </m:e>
                        <m:sup>
                          <m:r>
                            <a:rPr lang="zh-CN" altLang="en-US" sz="1600">
                              <a:latin typeface="Cambria Math" panose="02040503050406030204" pitchFamily="18" charset="0"/>
                            </a:rPr>
                            <m:t>−1</m:t>
                          </m:r>
                        </m:sup>
                      </m:sSup>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r>
                                <a:rPr lang="zh-CN" altLang="en-US" sz="1600" i="1">
                                  <a:latin typeface="Cambria Math" panose="02040503050406030204" pitchFamily="18" charset="0"/>
                                </a:rPr>
                                <m:t>𝑖</m:t>
                              </m:r>
                              <m:r>
                                <a:rPr lang="zh-CN" altLang="en-US" sz="1600" i="0">
                                  <a:latin typeface="Cambria Math" panose="02040503050406030204" pitchFamily="18" charset="0"/>
                                </a:rPr>
                                <m:t>−1</m:t>
                              </m:r>
                            </m:sub>
                          </m:sSub>
                        </m:e>
                        <m:sup>
                          <m:r>
                            <a:rPr lang="zh-CN" altLang="en-US" sz="1600" i="1">
                              <a:latin typeface="Cambria Math" panose="02040503050406030204" pitchFamily="18" charset="0"/>
                            </a:rPr>
                            <m:t>𝑜</m:t>
                          </m:r>
                        </m:sup>
                      </m:sSup>
                    </m:oMath>
                  </m:oMathPara>
                </a14:m>
                <a:endParaRPr lang="zh-CN" altLang="en-US" sz="1600" dirty="0"/>
              </a:p>
            </p:txBody>
          </p:sp>
        </mc:Choice>
        <mc:Fallback xmlns="">
          <p:sp>
            <p:nvSpPr>
              <p:cNvPr id="21" name="矩形 20"/>
              <p:cNvSpPr>
                <a:spLocks noRot="1" noChangeAspect="1" noMove="1" noResize="1" noEditPoints="1" noAdjustHandles="1" noChangeArrowheads="1" noChangeShapeType="1" noTextEdit="1"/>
              </p:cNvSpPr>
              <p:nvPr/>
            </p:nvSpPr>
            <p:spPr>
              <a:xfrm>
                <a:off x="2065773" y="4634598"/>
                <a:ext cx="5184576" cy="338554"/>
              </a:xfrm>
              <a:prstGeom prst="rect">
                <a:avLst/>
              </a:prstGeom>
              <a:blipFill>
                <a:blip r:embed="rId8"/>
                <a:stretch>
                  <a:fillRect b="-35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6791200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Quaternion method</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四元数法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1835696" y="1110615"/>
            <a:ext cx="3982757" cy="338554"/>
          </a:xfrm>
          <a:prstGeom prst="rect">
            <a:avLst/>
          </a:prstGeom>
        </p:spPr>
        <p:txBody>
          <a:bodyPr wrap="none">
            <a:spAutoFit/>
          </a:bodyPr>
          <a:lstStyle/>
          <a:p>
            <a:r>
              <a:rPr lang="zh-CN" altLang="zh-CN" sz="1600" dirty="0">
                <a:solidFill>
                  <a:srgbClr val="002060"/>
                </a:solidFill>
                <a:ea typeface="等线" panose="02010600030101010101" pitchFamily="2" charset="-122"/>
                <a:cs typeface="Times New Roman" panose="02020603050405020304" pitchFamily="18" charset="0"/>
              </a:rPr>
              <a:t>机械臂终端执行器</a:t>
            </a:r>
            <a:r>
              <a:rPr lang="en-US" altLang="zh-CN" sz="1600" dirty="0">
                <a:solidFill>
                  <a:srgbClr val="002060"/>
                </a:solidFill>
                <a:ea typeface="等线" panose="02010600030101010101" pitchFamily="2" charset="-122"/>
                <a:cs typeface="Times New Roman" panose="02020603050405020304" pitchFamily="18" charset="0"/>
              </a:rPr>
              <a:t>TCP</a:t>
            </a:r>
            <a:r>
              <a:rPr lang="zh-CN" altLang="zh-CN" sz="1600" dirty="0">
                <a:solidFill>
                  <a:srgbClr val="002060"/>
                </a:solidFill>
                <a:ea typeface="等线" panose="02010600030101010101" pitchFamily="2" charset="-122"/>
                <a:cs typeface="Times New Roman" panose="02020603050405020304" pitchFamily="18" charset="0"/>
              </a:rPr>
              <a:t>的位姿可以表示为：</a:t>
            </a:r>
            <a:endParaRPr lang="zh-CN" altLang="en-US" sz="1600" dirty="0">
              <a:solidFill>
                <a:srgbClr val="002060"/>
              </a:solidFill>
            </a:endParaRPr>
          </a:p>
        </p:txBody>
      </p:sp>
      <mc:AlternateContent xmlns:mc="http://schemas.openxmlformats.org/markup-compatibility/2006" xmlns:a14="http://schemas.microsoft.com/office/drawing/2010/main">
        <mc:Choice Requires="a14">
          <p:sp>
            <p:nvSpPr>
              <p:cNvPr id="10" name="矩形 9"/>
              <p:cNvSpPr/>
              <p:nvPr/>
            </p:nvSpPr>
            <p:spPr>
              <a:xfrm>
                <a:off x="2915816" y="1546355"/>
                <a:ext cx="2100447"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𝑙</m:t>
                          </m:r>
                        </m:e>
                        <m:sub>
                          <m:r>
                            <a:rPr lang="zh-CN" altLang="en-US" sz="1600" i="1">
                              <a:latin typeface="Cambria Math" panose="02040503050406030204" pitchFamily="18" charset="0"/>
                            </a:rPr>
                            <m:t>𝑜</m:t>
                          </m:r>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r>
                            <a:rPr lang="zh-CN" altLang="en-US" sz="1600" i="1">
                              <a:latin typeface="Cambria Math" panose="02040503050406030204" pitchFamily="18" charset="0"/>
                            </a:rPr>
                            <m:t>𝑛</m:t>
                          </m:r>
                        </m:sub>
                      </m:sSub>
                      <m:r>
                        <a:rPr lang="en-US" altLang="zh-CN" sz="16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𝑙</m:t>
                          </m:r>
                        </m:e>
                        <m:sub>
                          <m:r>
                            <a:rPr lang="zh-CN" altLang="en-US" sz="1600" i="1">
                              <a:latin typeface="Cambria Math" panose="02040503050406030204" pitchFamily="18" charset="0"/>
                            </a:rPr>
                            <m:t>𝑜</m:t>
                          </m:r>
                        </m:sub>
                      </m:sSub>
                      <m:sSup>
                        <m:sSupPr>
                          <m:ctrlPr>
                            <a:rPr lang="zh-CN" altLang="en-US" sz="1600" i="1">
                              <a:latin typeface="Cambria Math" panose="02040503050406030204" pitchFamily="18" charset="0"/>
                            </a:rPr>
                          </m:ctrlPr>
                        </m:sSupPr>
                        <m:e>
                          <m:sSub>
                            <m:sSubPr>
                              <m:ctrlPr>
                                <a:rPr lang="zh-CN" altLang="en-US" sz="1600" i="1">
                                  <a:latin typeface="Cambria Math" panose="02040503050406030204" pitchFamily="18" charset="0"/>
                                </a:rPr>
                              </m:ctrlPr>
                            </m:sSubPr>
                            <m:e>
                              <m:r>
                                <a:rPr lang="en-US" altLang="zh-CN" sz="1600">
                                  <a:latin typeface="Cambria Math" panose="02040503050406030204" pitchFamily="18" charset="0"/>
                                  <a:ea typeface="等线" panose="02010600030101010101" pitchFamily="2" charset="-122"/>
                                  <a:cs typeface="Times New Roman" panose="02020603050405020304" pitchFamily="18" charset="0"/>
                                </a:rPr>
                                <m:t>⨂</m:t>
                              </m:r>
                              <m:r>
                                <m:rPr>
                                  <m:nor/>
                                </m:rPr>
                                <a:rPr lang="zh-CN" altLang="en-US" sz="1600" dirty="0"/>
                                <m:t> </m:t>
                              </m:r>
                              <m:r>
                                <a:rPr lang="zh-CN" altLang="en-US" sz="1600" i="1">
                                  <a:latin typeface="Cambria Math" panose="02040503050406030204" pitchFamily="18" charset="0"/>
                                </a:rPr>
                                <m:t>𝑞</m:t>
                              </m:r>
                            </m:e>
                            <m:sub>
                              <m:r>
                                <a:rPr lang="zh-CN" altLang="en-US" sz="1600">
                                  <a:latin typeface="Cambria Math" panose="02040503050406030204" pitchFamily="18" charset="0"/>
                                </a:rPr>
                                <m:t>1</m:t>
                              </m:r>
                              <m:r>
                                <a:rPr lang="zh-CN" altLang="en-US" sz="1600" i="1">
                                  <a:latin typeface="Cambria Math" panose="02040503050406030204" pitchFamily="18" charset="0"/>
                                </a:rPr>
                                <m:t>𝑛</m:t>
                              </m:r>
                            </m:sub>
                          </m:sSub>
                        </m:e>
                        <m:sup>
                          <m:r>
                            <a:rPr lang="zh-CN" altLang="en-US" sz="1600">
                              <a:latin typeface="Cambria Math" panose="02040503050406030204" pitchFamily="18" charset="0"/>
                            </a:rPr>
                            <m:t>∗</m:t>
                          </m:r>
                        </m:sup>
                      </m:sSup>
                    </m:oMath>
                  </m:oMathPara>
                </a14:m>
                <a:endParaRPr lang="zh-CN" altLang="en-US" sz="1600" dirty="0"/>
              </a:p>
            </p:txBody>
          </p:sp>
        </mc:Choice>
        <mc:Fallback xmlns="">
          <p:sp>
            <p:nvSpPr>
              <p:cNvPr id="10" name="矩形 9"/>
              <p:cNvSpPr>
                <a:spLocks noRot="1" noChangeAspect="1" noMove="1" noResize="1" noEditPoints="1" noAdjustHandles="1" noChangeArrowheads="1" noChangeShapeType="1" noTextEdit="1"/>
              </p:cNvSpPr>
              <p:nvPr/>
            </p:nvSpPr>
            <p:spPr>
              <a:xfrm>
                <a:off x="2915816" y="1546355"/>
                <a:ext cx="2100447" cy="338554"/>
              </a:xfrm>
              <a:prstGeom prst="rect">
                <a:avLst/>
              </a:prstGeom>
              <a:blipFill>
                <a:blip r:embed="rId3"/>
                <a:stretch>
                  <a:fillRect b="-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2876559" y="2139702"/>
                <a:ext cx="3077957" cy="3778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𝑝</m:t>
                          </m:r>
                        </m:e>
                        <m:sub>
                          <m:r>
                            <a:rPr lang="zh-CN" altLang="en-US" sz="1600" i="1">
                              <a:latin typeface="Cambria Math" panose="02040503050406030204" pitchFamily="18" charset="0"/>
                            </a:rPr>
                            <m:t>𝑒𝑝</m:t>
                          </m:r>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r>
                            <a:rPr lang="zh-CN" altLang="en-US" sz="1600" i="1">
                              <a:latin typeface="Cambria Math" panose="02040503050406030204" pitchFamily="18" charset="0"/>
                            </a:rPr>
                            <m:t>𝑛</m:t>
                          </m:r>
                        </m:sub>
                      </m:sSub>
                      <m:sSub>
                        <m:sSubPr>
                          <m:ctrlPr>
                            <a:rPr lang="zh-CN" altLang="en-US" sz="1600" i="1">
                              <a:latin typeface="Cambria Math" panose="02040503050406030204" pitchFamily="18" charset="0"/>
                            </a:rPr>
                          </m:ctrlPr>
                        </m:sSubPr>
                        <m:e>
                          <m:r>
                            <a:rPr lang="en-US" altLang="zh-CN" sz="1600">
                              <a:latin typeface="Cambria Math" panose="02040503050406030204" pitchFamily="18" charset="0"/>
                              <a:ea typeface="等线" panose="02010600030101010101" pitchFamily="2" charset="-122"/>
                              <a:cs typeface="Times New Roman" panose="02020603050405020304" pitchFamily="18" charset="0"/>
                            </a:rPr>
                            <m:t>⨂</m:t>
                          </m:r>
                          <m:r>
                            <a:rPr lang="zh-CN" altLang="en-US" sz="1600" i="1">
                              <a:latin typeface="Cambria Math" panose="02040503050406030204" pitchFamily="18" charset="0"/>
                            </a:rPr>
                            <m:t>𝑝</m:t>
                          </m:r>
                        </m:e>
                        <m:sub>
                          <m:r>
                            <a:rPr lang="zh-CN" altLang="en-US" sz="1600" i="1">
                              <a:latin typeface="Cambria Math" panose="02040503050406030204" pitchFamily="18" charset="0"/>
                            </a:rPr>
                            <m:t>𝑒𝑝</m:t>
                          </m:r>
                        </m:sub>
                      </m:sSub>
                      <m:sSup>
                        <m:sSupPr>
                          <m:ctrlPr>
                            <a:rPr lang="zh-CN" altLang="en-US" sz="1600" i="1">
                              <a:latin typeface="Cambria Math" panose="02040503050406030204" pitchFamily="18" charset="0"/>
                            </a:rPr>
                          </m:ctrlPr>
                        </m:sSupPr>
                        <m:e>
                          <m:sSub>
                            <m:sSubPr>
                              <m:ctrlPr>
                                <a:rPr lang="zh-CN" altLang="en-US" sz="1600" i="1">
                                  <a:latin typeface="Cambria Math" panose="02040503050406030204" pitchFamily="18" charset="0"/>
                                </a:rPr>
                              </m:ctrlPr>
                            </m:sSubPr>
                            <m:e>
                              <m:r>
                                <a:rPr lang="en-US" altLang="zh-CN" sz="1600">
                                  <a:latin typeface="Cambria Math" panose="02040503050406030204" pitchFamily="18" charset="0"/>
                                  <a:ea typeface="等线" panose="02010600030101010101" pitchFamily="2" charset="-122"/>
                                  <a:cs typeface="Times New Roman" panose="02020603050405020304" pitchFamily="18" charset="0"/>
                                </a:rPr>
                                <m:t>⨂</m:t>
                              </m:r>
                              <m:r>
                                <a:rPr lang="zh-CN" altLang="en-US" sz="1600" i="1">
                                  <a:latin typeface="Cambria Math" panose="02040503050406030204" pitchFamily="18" charset="0"/>
                                </a:rPr>
                                <m:t>𝑞</m:t>
                              </m:r>
                            </m:e>
                            <m:sub>
                              <m:r>
                                <a:rPr lang="zh-CN" altLang="en-US" sz="1600">
                                  <a:latin typeface="Cambria Math" panose="02040503050406030204" pitchFamily="18" charset="0"/>
                                </a:rPr>
                                <m:t>1</m:t>
                              </m:r>
                              <m:r>
                                <a:rPr lang="zh-CN" altLang="en-US" sz="1600" i="1">
                                  <a:latin typeface="Cambria Math" panose="02040503050406030204" pitchFamily="18" charset="0"/>
                                </a:rPr>
                                <m:t>𝑛</m:t>
                              </m:r>
                            </m:sub>
                          </m:sSub>
                        </m:e>
                        <m:sup>
                          <m:r>
                            <a:rPr lang="zh-CN" altLang="en-US" sz="1600">
                              <a:latin typeface="Cambria Math" panose="02040503050406030204" pitchFamily="18" charset="0"/>
                            </a:rPr>
                            <m:t>−1</m:t>
                          </m:r>
                        </m:sup>
                      </m:sSup>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r>
                                <a:rPr lang="zh-CN" altLang="en-US" sz="1600" i="1">
                                  <a:latin typeface="Cambria Math" panose="02040503050406030204" pitchFamily="18" charset="0"/>
                                </a:rPr>
                                <m:t>𝑛</m:t>
                              </m:r>
                            </m:sub>
                          </m:sSub>
                        </m:e>
                        <m:sup>
                          <m:r>
                            <a:rPr lang="zh-CN" altLang="en-US" sz="1600" i="1">
                              <a:latin typeface="Cambria Math" panose="02040503050406030204" pitchFamily="18" charset="0"/>
                            </a:rPr>
                            <m:t>𝑜</m:t>
                          </m:r>
                        </m:sup>
                      </m:sSup>
                    </m:oMath>
                  </m:oMathPara>
                </a14:m>
                <a:endParaRPr lang="zh-CN" altLang="en-US" sz="1600" dirty="0"/>
              </a:p>
            </p:txBody>
          </p:sp>
        </mc:Choice>
        <mc:Fallback xmlns="">
          <p:sp>
            <p:nvSpPr>
              <p:cNvPr id="11" name="矩形 10"/>
              <p:cNvSpPr>
                <a:spLocks noRot="1" noChangeAspect="1" noMove="1" noResize="1" noEditPoints="1" noAdjustHandles="1" noChangeArrowheads="1" noChangeShapeType="1" noTextEdit="1"/>
              </p:cNvSpPr>
              <p:nvPr/>
            </p:nvSpPr>
            <p:spPr>
              <a:xfrm>
                <a:off x="2876559" y="2139702"/>
                <a:ext cx="3077957" cy="377860"/>
              </a:xfrm>
              <a:prstGeom prst="rect">
                <a:avLst/>
              </a:prstGeom>
              <a:blipFill>
                <a:blip r:embed="rId4"/>
                <a:stretch>
                  <a:fillRect b="-3226"/>
                </a:stretch>
              </a:blipFill>
            </p:spPr>
            <p:txBody>
              <a:bodyPr/>
              <a:lstStyle/>
              <a:p>
                <a:r>
                  <a:rPr lang="zh-CN" altLang="en-US">
                    <a:noFill/>
                  </a:rPr>
                  <a:t> </a:t>
                </a:r>
              </a:p>
            </p:txBody>
          </p:sp>
        </mc:Fallback>
      </mc:AlternateContent>
      <p:sp>
        <p:nvSpPr>
          <p:cNvPr id="15" name="矩形 14"/>
          <p:cNvSpPr/>
          <p:nvPr/>
        </p:nvSpPr>
        <p:spPr>
          <a:xfrm>
            <a:off x="2160790" y="1721777"/>
            <a:ext cx="877163" cy="369332"/>
          </a:xfrm>
          <a:prstGeom prst="rect">
            <a:avLst/>
          </a:prstGeom>
        </p:spPr>
        <p:txBody>
          <a:bodyPr wrap="none">
            <a:spAutoFit/>
          </a:bodyPr>
          <a:lstStyle/>
          <a:p>
            <a:r>
              <a:rPr lang="zh-CN" altLang="zh-CN" b="1" dirty="0">
                <a:solidFill>
                  <a:srgbClr val="002060"/>
                </a:solidFill>
                <a:ea typeface="等线" panose="02010600030101010101" pitchFamily="2" charset="-122"/>
                <a:cs typeface="Times New Roman" panose="02020603050405020304" pitchFamily="18" charset="0"/>
              </a:rPr>
              <a:t>姿态：</a:t>
            </a:r>
            <a:endParaRPr lang="zh-CN" altLang="en-US" b="1" dirty="0">
              <a:solidFill>
                <a:srgbClr val="002060"/>
              </a:solidFill>
            </a:endParaRPr>
          </a:p>
        </p:txBody>
      </p:sp>
      <p:sp>
        <p:nvSpPr>
          <p:cNvPr id="16" name="矩形 15"/>
          <p:cNvSpPr/>
          <p:nvPr/>
        </p:nvSpPr>
        <p:spPr>
          <a:xfrm>
            <a:off x="2160789" y="2288151"/>
            <a:ext cx="877163" cy="369332"/>
          </a:xfrm>
          <a:prstGeom prst="rect">
            <a:avLst/>
          </a:prstGeom>
        </p:spPr>
        <p:txBody>
          <a:bodyPr wrap="none">
            <a:spAutoFit/>
          </a:bodyPr>
          <a:lstStyle/>
          <a:p>
            <a:r>
              <a:rPr lang="zh-CN" altLang="zh-CN" b="1" dirty="0">
                <a:solidFill>
                  <a:srgbClr val="002060"/>
                </a:solidFill>
                <a:ea typeface="等线" panose="02010600030101010101" pitchFamily="2" charset="-122"/>
                <a:cs typeface="Times New Roman" panose="02020603050405020304" pitchFamily="18" charset="0"/>
              </a:rPr>
              <a:t>位置：</a:t>
            </a:r>
            <a:endParaRPr lang="zh-CN" altLang="en-US" b="1" dirty="0">
              <a:solidFill>
                <a:srgbClr val="002060"/>
              </a:solidFill>
            </a:endParaRPr>
          </a:p>
        </p:txBody>
      </p:sp>
      <mc:AlternateContent xmlns:mc="http://schemas.openxmlformats.org/markup-compatibility/2006" xmlns:a14="http://schemas.microsoft.com/office/drawing/2010/main">
        <mc:Choice Requires="a14">
          <p:sp>
            <p:nvSpPr>
              <p:cNvPr id="17" name="矩形 16"/>
              <p:cNvSpPr/>
              <p:nvPr/>
            </p:nvSpPr>
            <p:spPr>
              <a:xfrm>
                <a:off x="2448506" y="2930091"/>
                <a:ext cx="2473754" cy="276999"/>
              </a:xfrm>
              <a:prstGeom prst="rect">
                <a:avLst/>
              </a:prstGeom>
            </p:spPr>
            <p:txBody>
              <a:bodyPr wrap="none">
                <a:spAutoFit/>
              </a:bodyPr>
              <a:lstStyle/>
              <a:p>
                <a:r>
                  <a:rPr lang="zh-CN" altLang="zh-CN" sz="1200" dirty="0">
                    <a:ea typeface="等线" panose="02010600030101010101" pitchFamily="2" charset="-122"/>
                    <a:cs typeface="Times New Roman" panose="02020603050405020304" pitchFamily="18" charset="0"/>
                  </a:rPr>
                  <a:t>注意，其中四元数的乘法符号为</a:t>
                </a:r>
                <a14:m>
                  <m:oMath xmlns:m="http://schemas.openxmlformats.org/officeDocument/2006/math">
                    <m:r>
                      <a:rPr lang="en-US" altLang="zh-CN" sz="1200">
                        <a:latin typeface="Cambria Math" panose="02040503050406030204" pitchFamily="18" charset="0"/>
                        <a:ea typeface="等线" panose="02010600030101010101" pitchFamily="2" charset="-122"/>
                        <a:cs typeface="Times New Roman" panose="02020603050405020304" pitchFamily="18" charset="0"/>
                      </a:rPr>
                      <m:t>⨂</m:t>
                    </m:r>
                  </m:oMath>
                </a14:m>
                <a:endParaRPr lang="zh-CN" altLang="en-US" sz="1200" dirty="0"/>
              </a:p>
            </p:txBody>
          </p:sp>
        </mc:Choice>
        <mc:Fallback xmlns="">
          <p:sp>
            <p:nvSpPr>
              <p:cNvPr id="17" name="矩形 16"/>
              <p:cNvSpPr>
                <a:spLocks noRot="1" noChangeAspect="1" noMove="1" noResize="1" noEditPoints="1" noAdjustHandles="1" noChangeArrowheads="1" noChangeShapeType="1" noTextEdit="1"/>
              </p:cNvSpPr>
              <p:nvPr/>
            </p:nvSpPr>
            <p:spPr>
              <a:xfrm>
                <a:off x="2448506" y="2930091"/>
                <a:ext cx="2473754" cy="276999"/>
              </a:xfrm>
              <a:prstGeom prst="rect">
                <a:avLst/>
              </a:prstGeom>
              <a:blipFill>
                <a:blip r:embed="rId5"/>
                <a:stretch>
                  <a:fillRect l="-247" t="-2222" b="-1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2440803" y="3388786"/>
                <a:ext cx="4572000" cy="461665"/>
              </a:xfrm>
              <a:prstGeom prst="rect">
                <a:avLst/>
              </a:prstGeom>
            </p:spPr>
            <p:txBody>
              <a:bodyPr>
                <a:spAutoFit/>
              </a:bodyPr>
              <a:lstStyle/>
              <a:p>
                <a:r>
                  <a:rPr lang="zh-CN" altLang="zh-CN" sz="1200" dirty="0">
                    <a:latin typeface="Cambria Math" panose="02040503050406030204" pitchFamily="18" charset="0"/>
                    <a:ea typeface="等线" panose="02010600030101010101" pitchFamily="2" charset="-122"/>
                    <a:cs typeface="Times New Roman" panose="02020603050405020304" pitchFamily="18" charset="0"/>
                  </a:rPr>
                  <a:t>假设有两个四元数</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𝑄</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(0),</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(3))</m:t>
                    </m:r>
                  </m:oMath>
                </a14:m>
                <a:r>
                  <a:rPr lang="zh-CN" altLang="zh-CN" sz="1200" dirty="0">
                    <a:latin typeface="Cambria Math" panose="02040503050406030204" pitchFamily="18" charset="0"/>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𝑄</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(0),</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(3))</m:t>
                    </m:r>
                  </m:oMath>
                </a14:m>
                <a:r>
                  <a:rPr lang="zh-CN" altLang="zh-CN" sz="1200" dirty="0">
                    <a:latin typeface="Cambria Math" panose="02040503050406030204" pitchFamily="18" charset="0"/>
                    <a:ea typeface="等线" panose="02010600030101010101" pitchFamily="2" charset="-122"/>
                    <a:cs typeface="Times New Roman" panose="02020603050405020304" pitchFamily="18" charset="0"/>
                  </a:rPr>
                  <a:t>，则：</a:t>
                </a:r>
                <a:endParaRPr lang="zh-CN" altLang="en-US" sz="1200" dirty="0"/>
              </a:p>
            </p:txBody>
          </p:sp>
        </mc:Choice>
        <mc:Fallback xmlns="">
          <p:sp>
            <p:nvSpPr>
              <p:cNvPr id="18" name="矩形 17"/>
              <p:cNvSpPr>
                <a:spLocks noRot="1" noChangeAspect="1" noMove="1" noResize="1" noEditPoints="1" noAdjustHandles="1" noChangeArrowheads="1" noChangeShapeType="1" noTextEdit="1"/>
              </p:cNvSpPr>
              <p:nvPr/>
            </p:nvSpPr>
            <p:spPr>
              <a:xfrm>
                <a:off x="2440803" y="3388786"/>
                <a:ext cx="4572000" cy="461665"/>
              </a:xfrm>
              <a:prstGeom prst="rect">
                <a:avLst/>
              </a:prstGeom>
              <a:blipFill>
                <a:blip r:embed="rId6"/>
                <a:stretch>
                  <a:fillRect t="-1316" b="-92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2288532" y="3944258"/>
                <a:ext cx="4572000" cy="859081"/>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𝑄</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r>
                        <a:rPr lang="en-US" altLang="zh-CN" sz="12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𝑄</m:t>
                          </m:r>
                        </m:e>
                        <m:sub>
                          <m:r>
                            <a:rPr lang="zh-CN" altLang="en-US" sz="1200" i="1">
                              <a:latin typeface="Cambria Math" panose="02040503050406030204" pitchFamily="18" charset="0"/>
                            </a:rPr>
                            <m:t>𝑖</m:t>
                          </m:r>
                        </m:sub>
                      </m:sSub>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m>
                                  <m:mPr>
                                    <m:mcs>
                                      <m:mc>
                                        <m:mcPr>
                                          <m:count m:val="2"/>
                                          <m:mcJc m:val="center"/>
                                        </m:mcPr>
                                      </m:mc>
                                    </m:mcs>
                                    <m:ctrlPr>
                                      <a:rPr lang="zh-CN" altLang="en-US" sz="1200" i="1">
                                        <a:latin typeface="Cambria Math" panose="02040503050406030204" pitchFamily="18" charset="0"/>
                                      </a:rPr>
                                    </m:ctrlPr>
                                  </m:mPr>
                                  <m:mr>
                                    <m:e>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r>
                                            <a:rPr lang="zh-CN" altLang="en-US" sz="1200" i="0">
                                              <a:latin typeface="Cambria Math" panose="02040503050406030204" pitchFamily="18" charset="0"/>
                                            </a:rPr>
                                            <m:t>(0</m:t>
                                          </m:r>
                                        </m:e>
                                      </m:d>
                                    </m:e>
                                    <m:e>
                                      <m:d>
                                        <m:dPr>
                                          <m:begChr m:val=""/>
                                          <m:ctrlPr>
                                            <a:rPr lang="zh-CN" altLang="en-US" sz="1200" i="1">
                                              <a:latin typeface="Cambria Math" panose="02040503050406030204" pitchFamily="18" charset="0"/>
                                            </a:rPr>
                                          </m:ctrlPr>
                                        </m:dPr>
                                        <m:e>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r>
                                            <a:rPr lang="zh-CN" altLang="en-US" sz="1200" i="0">
                                              <a:latin typeface="Cambria Math" panose="02040503050406030204" pitchFamily="18" charset="0"/>
                                            </a:rPr>
                                            <m:t>(1</m:t>
                                          </m:r>
                                        </m:e>
                                      </m:d>
                                    </m:e>
                                  </m:mr>
                                  <m:mr>
                                    <m:e>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r>
                                            <a:rPr lang="zh-CN" altLang="en-US" sz="1200" i="0">
                                              <a:latin typeface="Cambria Math" panose="02040503050406030204" pitchFamily="18" charset="0"/>
                                            </a:rPr>
                                            <m:t>(1</m:t>
                                          </m:r>
                                        </m:e>
                                      </m:d>
                                    </m:e>
                                    <m:e>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r>
                                            <a:rPr lang="zh-CN" altLang="en-US" sz="1200" i="0">
                                              <a:latin typeface="Cambria Math" panose="02040503050406030204" pitchFamily="18" charset="0"/>
                                            </a:rPr>
                                            <m:t>(0</m:t>
                                          </m:r>
                                        </m:e>
                                      </m:d>
                                    </m:e>
                                  </m:mr>
                                </m:m>
                              </m:e>
                              <m:e>
                                <m:m>
                                  <m:mPr>
                                    <m:mcs>
                                      <m:mc>
                                        <m:mcPr>
                                          <m:count m:val="2"/>
                                          <m:mcJc m:val="center"/>
                                        </m:mcPr>
                                      </m:mc>
                                    </m:mcs>
                                    <m:ctrlPr>
                                      <a:rPr lang="zh-CN" altLang="en-US" sz="1200" i="1">
                                        <a:latin typeface="Cambria Math" panose="02040503050406030204" pitchFamily="18" charset="0"/>
                                      </a:rPr>
                                    </m:ctrlPr>
                                  </m:mPr>
                                  <m:mr>
                                    <m:e>
                                      <m:d>
                                        <m:dPr>
                                          <m:begChr m:val=""/>
                                          <m:ctrlPr>
                                            <a:rPr lang="zh-CN" altLang="en-US" sz="1200" i="1">
                                              <a:latin typeface="Cambria Math" panose="02040503050406030204" pitchFamily="18" charset="0"/>
                                            </a:rPr>
                                          </m:ctrlPr>
                                        </m:dPr>
                                        <m:e>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r>
                                            <a:rPr lang="zh-CN" altLang="en-US" sz="1200" i="0">
                                              <a:latin typeface="Cambria Math" panose="02040503050406030204" pitchFamily="18" charset="0"/>
                                            </a:rPr>
                                            <m:t>(2</m:t>
                                          </m:r>
                                        </m:e>
                                      </m:d>
                                    </m:e>
                                    <m:e>
                                      <m:d>
                                        <m:dPr>
                                          <m:begChr m:val=""/>
                                          <m:ctrlPr>
                                            <a:rPr lang="zh-CN" altLang="en-US" sz="1200" i="1">
                                              <a:latin typeface="Cambria Math" panose="02040503050406030204" pitchFamily="18" charset="0"/>
                                            </a:rPr>
                                          </m:ctrlPr>
                                        </m:dPr>
                                        <m:e>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r>
                                            <a:rPr lang="zh-CN" altLang="en-US" sz="1200" i="0">
                                              <a:latin typeface="Cambria Math" panose="02040503050406030204" pitchFamily="18" charset="0"/>
                                            </a:rPr>
                                            <m:t>(3</m:t>
                                          </m:r>
                                        </m:e>
                                      </m:d>
                                    </m:e>
                                  </m:mr>
                                  <m:mr>
                                    <m:e>
                                      <m:d>
                                        <m:dPr>
                                          <m:begChr m:val=""/>
                                          <m:ctrlPr>
                                            <a:rPr lang="zh-CN" altLang="en-US" sz="1200" i="1">
                                              <a:latin typeface="Cambria Math" panose="02040503050406030204" pitchFamily="18" charset="0"/>
                                            </a:rPr>
                                          </m:ctrlPr>
                                        </m:dPr>
                                        <m:e>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r>
                                            <a:rPr lang="zh-CN" altLang="en-US" sz="1200" i="0">
                                              <a:latin typeface="Cambria Math" panose="02040503050406030204" pitchFamily="18" charset="0"/>
                                            </a:rPr>
                                            <m:t>(3</m:t>
                                          </m:r>
                                        </m:e>
                                      </m:d>
                                    </m:e>
                                    <m:e>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r>
                                            <a:rPr lang="zh-CN" altLang="en-US" sz="1200" i="0">
                                              <a:latin typeface="Cambria Math" panose="02040503050406030204" pitchFamily="18" charset="0"/>
                                            </a:rPr>
                                            <m:t>(2</m:t>
                                          </m:r>
                                        </m:e>
                                      </m:d>
                                    </m:e>
                                  </m:mr>
                                </m:m>
                              </m:e>
                            </m:mr>
                            <m:mr>
                              <m:e>
                                <m:m>
                                  <m:mPr>
                                    <m:mcs>
                                      <m:mc>
                                        <m:mcPr>
                                          <m:count m:val="2"/>
                                          <m:mcJc m:val="center"/>
                                        </m:mcPr>
                                      </m:mc>
                                    </m:mcs>
                                    <m:ctrlPr>
                                      <a:rPr lang="zh-CN" altLang="en-US" sz="1200" i="1">
                                        <a:latin typeface="Cambria Math" panose="02040503050406030204" pitchFamily="18" charset="0"/>
                                      </a:rPr>
                                    </m:ctrlPr>
                                  </m:mPr>
                                  <m:mr>
                                    <m:e>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r>
                                            <a:rPr lang="zh-CN" altLang="en-US" sz="1200" i="0">
                                              <a:latin typeface="Cambria Math" panose="02040503050406030204" pitchFamily="18" charset="0"/>
                                            </a:rPr>
                                            <m:t>(2</m:t>
                                          </m:r>
                                        </m:e>
                                      </m:d>
                                    </m:e>
                                    <m:e>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r>
                                            <a:rPr lang="zh-CN" altLang="en-US" sz="1200" i="0">
                                              <a:latin typeface="Cambria Math" panose="02040503050406030204" pitchFamily="18" charset="0"/>
                                            </a:rPr>
                                            <m:t>(3</m:t>
                                          </m:r>
                                        </m:e>
                                      </m:d>
                                    </m:e>
                                  </m:mr>
                                  <m:mr>
                                    <m:e>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r>
                                            <a:rPr lang="zh-CN" altLang="en-US" sz="1200" i="0">
                                              <a:latin typeface="Cambria Math" panose="02040503050406030204" pitchFamily="18" charset="0"/>
                                            </a:rPr>
                                            <m:t>(3</m:t>
                                          </m:r>
                                        </m:e>
                                      </m:d>
                                    </m:e>
                                    <m:e>
                                      <m:d>
                                        <m:dPr>
                                          <m:begChr m:val=""/>
                                          <m:ctrlPr>
                                            <a:rPr lang="zh-CN" altLang="en-US" sz="1200" i="1">
                                              <a:latin typeface="Cambria Math" panose="02040503050406030204" pitchFamily="18" charset="0"/>
                                            </a:rPr>
                                          </m:ctrlPr>
                                        </m:dPr>
                                        <m:e>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r>
                                            <a:rPr lang="zh-CN" altLang="en-US" sz="1200" i="0">
                                              <a:latin typeface="Cambria Math" panose="02040503050406030204" pitchFamily="18" charset="0"/>
                                            </a:rPr>
                                            <m:t>(2</m:t>
                                          </m:r>
                                        </m:e>
                                      </m:d>
                                    </m:e>
                                  </m:mr>
                                </m:m>
                              </m:e>
                              <m:e>
                                <m:m>
                                  <m:mPr>
                                    <m:mcs>
                                      <m:mc>
                                        <m:mcPr>
                                          <m:count m:val="2"/>
                                          <m:mcJc m:val="center"/>
                                        </m:mcPr>
                                      </m:mc>
                                    </m:mcs>
                                    <m:ctrlPr>
                                      <a:rPr lang="zh-CN" altLang="en-US" sz="1200" i="1">
                                        <a:latin typeface="Cambria Math" panose="02040503050406030204" pitchFamily="18" charset="0"/>
                                      </a:rPr>
                                    </m:ctrlPr>
                                  </m:mPr>
                                  <m:mr>
                                    <m:e>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r>
                                            <a:rPr lang="zh-CN" altLang="en-US" sz="1200" i="0">
                                              <a:latin typeface="Cambria Math" panose="02040503050406030204" pitchFamily="18" charset="0"/>
                                            </a:rPr>
                                            <m:t>(0</m:t>
                                          </m:r>
                                        </m:e>
                                      </m:d>
                                    </m:e>
                                    <m:e>
                                      <m:d>
                                        <m:dPr>
                                          <m:begChr m:val=""/>
                                          <m:ctrlPr>
                                            <a:rPr lang="zh-CN" altLang="en-US" sz="1200" i="1">
                                              <a:latin typeface="Cambria Math" panose="02040503050406030204" pitchFamily="18" charset="0"/>
                                            </a:rPr>
                                          </m:ctrlPr>
                                        </m:dPr>
                                        <m:e>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r>
                                            <a:rPr lang="zh-CN" altLang="en-US" sz="1200" i="0">
                                              <a:latin typeface="Cambria Math" panose="02040503050406030204" pitchFamily="18" charset="0"/>
                                            </a:rPr>
                                            <m:t>(1</m:t>
                                          </m:r>
                                        </m:e>
                                      </m:d>
                                    </m:e>
                                  </m:mr>
                                  <m:mr>
                                    <m:e>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r>
                                            <a:rPr lang="zh-CN" altLang="en-US" sz="1200" i="0">
                                              <a:latin typeface="Cambria Math" panose="02040503050406030204" pitchFamily="18" charset="0"/>
                                            </a:rPr>
                                            <m:t>(1</m:t>
                                          </m:r>
                                        </m:e>
                                      </m:d>
                                    </m:e>
                                    <m:e>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r>
                                            <a:rPr lang="zh-CN" altLang="en-US" sz="1200" i="0">
                                              <a:latin typeface="Cambria Math" panose="02040503050406030204" pitchFamily="18" charset="0"/>
                                            </a:rPr>
                                            <m:t>(0</m:t>
                                          </m:r>
                                        </m:e>
                                      </m:d>
                                    </m:e>
                                  </m:mr>
                                </m:m>
                              </m:e>
                            </m:mr>
                          </m:m>
                        </m:e>
                      </m:d>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m>
                                  <m:mPr>
                                    <m:mcs>
                                      <m:mc>
                                        <m:mcPr>
                                          <m:count m:val="1"/>
                                          <m:mcJc m:val="center"/>
                                        </m:mcPr>
                                      </m:mc>
                                    </m:mcs>
                                    <m:ctrlPr>
                                      <a:rPr lang="zh-CN" altLang="en-US" sz="1200" i="1">
                                        <a:latin typeface="Cambria Math" panose="02040503050406030204" pitchFamily="18" charset="0"/>
                                      </a:rPr>
                                    </m:ctrlPr>
                                  </m:mPr>
                                  <m:mr>
                                    <m:e>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𝑖</m:t>
                                              </m:r>
                                            </m:sub>
                                          </m:sSub>
                                          <m:r>
                                            <a:rPr lang="zh-CN" altLang="en-US" sz="1200" i="0">
                                              <a:latin typeface="Cambria Math" panose="02040503050406030204" pitchFamily="18" charset="0"/>
                                            </a:rPr>
                                            <m:t>(0</m:t>
                                          </m:r>
                                        </m:e>
                                      </m:d>
                                    </m:e>
                                  </m:mr>
                                  <m:mr>
                                    <m:e>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𝑖</m:t>
                                              </m:r>
                                            </m:sub>
                                          </m:sSub>
                                          <m:r>
                                            <a:rPr lang="zh-CN" altLang="en-US" sz="1200" i="0">
                                              <a:latin typeface="Cambria Math" panose="02040503050406030204" pitchFamily="18" charset="0"/>
                                            </a:rPr>
                                            <m:t>(1</m:t>
                                          </m:r>
                                        </m:e>
                                      </m:d>
                                    </m:e>
                                  </m:mr>
                                </m:m>
                              </m:e>
                            </m:mr>
                            <m:mr>
                              <m:e>
                                <m:m>
                                  <m:mPr>
                                    <m:mcs>
                                      <m:mc>
                                        <m:mcPr>
                                          <m:count m:val="1"/>
                                          <m:mcJc m:val="center"/>
                                        </m:mcPr>
                                      </m:mc>
                                    </m:mcs>
                                    <m:ctrlPr>
                                      <a:rPr lang="zh-CN" altLang="en-US" sz="1200" i="1">
                                        <a:latin typeface="Cambria Math" panose="02040503050406030204" pitchFamily="18" charset="0"/>
                                      </a:rPr>
                                    </m:ctrlPr>
                                  </m:mPr>
                                  <m:mr>
                                    <m:e>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𝑖</m:t>
                                              </m:r>
                                            </m:sub>
                                          </m:sSub>
                                          <m:r>
                                            <a:rPr lang="zh-CN" altLang="en-US" sz="1200" i="0">
                                              <a:latin typeface="Cambria Math" panose="02040503050406030204" pitchFamily="18" charset="0"/>
                                            </a:rPr>
                                            <m:t>(2</m:t>
                                          </m:r>
                                        </m:e>
                                      </m:d>
                                    </m:e>
                                  </m:mr>
                                  <m:mr>
                                    <m:e>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𝑖</m:t>
                                              </m:r>
                                            </m:sub>
                                          </m:sSub>
                                          <m:r>
                                            <a:rPr lang="zh-CN" altLang="en-US" sz="1200" i="0">
                                              <a:latin typeface="Cambria Math" panose="02040503050406030204" pitchFamily="18" charset="0"/>
                                            </a:rPr>
                                            <m:t>(3</m:t>
                                          </m:r>
                                        </m:e>
                                      </m:d>
                                    </m:e>
                                  </m:mr>
                                </m:m>
                              </m:e>
                            </m:mr>
                          </m:m>
                        </m:e>
                      </m:d>
                    </m:oMath>
                  </m:oMathPara>
                </a14:m>
                <a:endParaRPr lang="zh-CN" altLang="en-US" sz="1200" dirty="0"/>
              </a:p>
            </p:txBody>
          </p:sp>
        </mc:Choice>
        <mc:Fallback xmlns="">
          <p:sp>
            <p:nvSpPr>
              <p:cNvPr id="19" name="矩形 18"/>
              <p:cNvSpPr>
                <a:spLocks noRot="1" noChangeAspect="1" noMove="1" noResize="1" noEditPoints="1" noAdjustHandles="1" noChangeArrowheads="1" noChangeShapeType="1" noTextEdit="1"/>
              </p:cNvSpPr>
              <p:nvPr/>
            </p:nvSpPr>
            <p:spPr>
              <a:xfrm>
                <a:off x="2288532" y="3944258"/>
                <a:ext cx="4572000" cy="859081"/>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3162542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Quaternion method</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四元数法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文本框 2"/>
          <p:cNvSpPr txBox="1"/>
          <p:nvPr/>
        </p:nvSpPr>
        <p:spPr>
          <a:xfrm>
            <a:off x="2815107" y="523240"/>
            <a:ext cx="3313728" cy="400110"/>
          </a:xfrm>
          <a:prstGeom prst="rect">
            <a:avLst/>
          </a:prstGeom>
          <a:noFill/>
        </p:spPr>
        <p:txBody>
          <a:bodyPr wrap="none" rtlCol="0">
            <a:spAutoFit/>
          </a:bodyPr>
          <a:lstStyle/>
          <a:p>
            <a:r>
              <a:rPr lang="en-US" altLang="zh-CN" sz="2000" dirty="0" smtClean="0">
                <a:solidFill>
                  <a:srgbClr val="002060"/>
                </a:solidFill>
              </a:rPr>
              <a:t>Aubo-i5</a:t>
            </a:r>
            <a:r>
              <a:rPr lang="zh-CN" altLang="en-US" sz="2000" dirty="0" smtClean="0">
                <a:solidFill>
                  <a:srgbClr val="002060"/>
                </a:solidFill>
              </a:rPr>
              <a:t>求正解四元数法实例</a:t>
            </a:r>
            <a:endParaRPr lang="zh-CN" altLang="en-US" sz="2000" dirty="0">
              <a:solidFill>
                <a:srgbClr val="002060"/>
              </a:solidFill>
            </a:endParaRPr>
          </a:p>
        </p:txBody>
      </p:sp>
      <p:graphicFrame>
        <p:nvGraphicFramePr>
          <p:cNvPr id="20" name="对象 19"/>
          <p:cNvGraphicFramePr>
            <a:graphicFrameLocks noChangeAspect="1"/>
          </p:cNvGraphicFramePr>
          <p:nvPr>
            <p:extLst>
              <p:ext uri="{D42A27DB-BD31-4B8C-83A1-F6EECF244321}">
                <p14:modId xmlns:p14="http://schemas.microsoft.com/office/powerpoint/2010/main" val="2034619391"/>
              </p:ext>
            </p:extLst>
          </p:nvPr>
        </p:nvGraphicFramePr>
        <p:xfrm>
          <a:off x="539552" y="1214459"/>
          <a:ext cx="3272547" cy="2700028"/>
        </p:xfrm>
        <a:graphic>
          <a:graphicData uri="http://schemas.openxmlformats.org/presentationml/2006/ole">
            <mc:AlternateContent xmlns:mc="http://schemas.openxmlformats.org/markup-compatibility/2006">
              <mc:Choice xmlns:v="urn:schemas-microsoft-com:vml" Requires="v">
                <p:oleObj spid="_x0000_s18532" name="Visio" r:id="rId4" imgW="6790500" imgH="5599891" progId="Visio.Drawing.11">
                  <p:embed/>
                </p:oleObj>
              </mc:Choice>
              <mc:Fallback>
                <p:oleObj name="Visio" r:id="rId4" imgW="6790500" imgH="5599891" progId="Visio.Drawing.11">
                  <p:embed/>
                  <p:pic>
                    <p:nvPicPr>
                      <p:cNvPr id="10" name="对象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552" y="1214459"/>
                        <a:ext cx="3272547" cy="2700028"/>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8" name="矩形 7"/>
              <p:cNvSpPr/>
              <p:nvPr/>
            </p:nvSpPr>
            <p:spPr>
              <a:xfrm>
                <a:off x="513450" y="4034067"/>
                <a:ext cx="3298649" cy="707886"/>
              </a:xfrm>
              <a:prstGeom prst="rect">
                <a:avLst/>
              </a:prstGeom>
            </p:spPr>
            <p:txBody>
              <a:bodyPr wrap="square">
                <a:spAutoFit/>
              </a:bodyPr>
              <a:lstStyle/>
              <a:p>
                <a:r>
                  <a:rPr lang="zh-CN" altLang="zh-CN" sz="1000" dirty="0">
                    <a:ea typeface="等线" panose="02010600030101010101" pitchFamily="2" charset="-122"/>
                    <a:cs typeface="Times New Roman" panose="02020603050405020304" pitchFamily="18" charset="0"/>
                  </a:rPr>
                  <a:t>已知初始状态如图</a:t>
                </a:r>
                <a:r>
                  <a:rPr lang="en-US" altLang="zh-CN" sz="1000" dirty="0">
                    <a:ea typeface="等线" panose="02010600030101010101" pitchFamily="2" charset="-122"/>
                    <a:cs typeface="Times New Roman" panose="02020603050405020304" pitchFamily="18" charset="0"/>
                  </a:rPr>
                  <a:t>3.19</a:t>
                </a:r>
                <a:r>
                  <a:rPr lang="zh-CN" altLang="zh-CN" sz="1000" dirty="0">
                    <a:ea typeface="等线" panose="02010600030101010101" pitchFamily="2" charset="-122"/>
                    <a:cs typeface="Times New Roman" panose="02020603050405020304" pitchFamily="18" charset="0"/>
                  </a:rPr>
                  <a:t>所示</a:t>
                </a:r>
                <a:r>
                  <a:rPr lang="zh-CN" altLang="zh-CN" sz="1000" dirty="0" smtClean="0">
                    <a:ea typeface="等线" panose="02010600030101010101" pitchFamily="2" charset="-122"/>
                    <a:cs typeface="Times New Roman" panose="02020603050405020304" pitchFamily="18" charset="0"/>
                  </a:rPr>
                  <a:t>，</a:t>
                </a:r>
                <a:r>
                  <a:rPr lang="zh-CN" altLang="en-US" sz="1000" dirty="0" smtClean="0">
                    <a:ea typeface="等线" panose="02010600030101010101" pitchFamily="2" charset="-122"/>
                    <a:cs typeface="Times New Roman" panose="02020603050405020304" pitchFamily="18" charset="0"/>
                  </a:rPr>
                  <a:t>现在让</a:t>
                </a:r>
                <a:r>
                  <a:rPr lang="zh-CN" altLang="zh-CN" sz="1000" dirty="0" smtClean="0">
                    <a:ea typeface="等线" panose="02010600030101010101" pitchFamily="2" charset="-122"/>
                    <a:cs typeface="Times New Roman" panose="02020603050405020304" pitchFamily="18" charset="0"/>
                  </a:rPr>
                  <a:t>第二</a:t>
                </a:r>
                <a:r>
                  <a:rPr lang="zh-CN" altLang="zh-CN" sz="1000" dirty="0">
                    <a:ea typeface="等线" panose="02010600030101010101" pitchFamily="2" charset="-122"/>
                    <a:cs typeface="Times New Roman" panose="02020603050405020304" pitchFamily="18" charset="0"/>
                  </a:rPr>
                  <a:t>轴旋转</a:t>
                </a:r>
                <a:r>
                  <a:rPr lang="en-US" altLang="zh-CN" sz="1000" dirty="0">
                    <a:ea typeface="等线" panose="02010600030101010101" pitchFamily="2" charset="-122"/>
                    <a:cs typeface="Times New Roman" panose="02020603050405020304" pitchFamily="18" charset="0"/>
                  </a:rPr>
                  <a:t>-90</a:t>
                </a:r>
                <a:r>
                  <a:rPr lang="zh-CN" altLang="zh-CN" sz="1000" dirty="0">
                    <a:ea typeface="等线" panose="02010600030101010101" pitchFamily="2" charset="-122"/>
                    <a:cs typeface="Times New Roman" panose="02020603050405020304" pitchFamily="18" charset="0"/>
                  </a:rPr>
                  <a:t>度，第四轴旋转</a:t>
                </a:r>
                <a:r>
                  <a:rPr lang="en-US" altLang="zh-CN" sz="1000" dirty="0">
                    <a:ea typeface="等线" panose="02010600030101010101" pitchFamily="2" charset="-122"/>
                    <a:cs typeface="Times New Roman" panose="02020603050405020304" pitchFamily="18" charset="0"/>
                  </a:rPr>
                  <a:t>-90</a:t>
                </a:r>
                <a:r>
                  <a:rPr lang="zh-CN" altLang="zh-CN" sz="1000" dirty="0">
                    <a:ea typeface="等线" panose="02010600030101010101" pitchFamily="2" charset="-122"/>
                    <a:cs typeface="Times New Roman" panose="02020603050405020304" pitchFamily="18" charset="0"/>
                  </a:rPr>
                  <a:t>度，其余轴旋转</a:t>
                </a:r>
                <a:r>
                  <a:rPr lang="en-US" altLang="zh-CN" sz="1000" dirty="0">
                    <a:ea typeface="等线" panose="02010600030101010101" pitchFamily="2" charset="-122"/>
                    <a:cs typeface="Times New Roman" panose="02020603050405020304" pitchFamily="18" charset="0"/>
                  </a:rPr>
                  <a:t>0</a:t>
                </a:r>
                <a:r>
                  <a:rPr lang="zh-CN" altLang="zh-CN" sz="1000" dirty="0">
                    <a:ea typeface="等线" panose="02010600030101010101" pitchFamily="2" charset="-122"/>
                    <a:cs typeface="Times New Roman" panose="02020603050405020304" pitchFamily="18" charset="0"/>
                  </a:rPr>
                  <a:t>度：</a:t>
                </a:r>
                <a14:m>
                  <m:oMath xmlns:m="http://schemas.openxmlformats.org/officeDocument/2006/math">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sz="1000" dirty="0">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1000" i="1">
                        <a:latin typeface="Cambria Math" panose="02040503050406030204" pitchFamily="18" charset="0"/>
                        <a:ea typeface="等线" panose="02010600030101010101" pitchFamily="2" charset="-122"/>
                        <a:cs typeface="Times New Roman" panose="02020603050405020304" pitchFamily="18" charset="0"/>
                      </a:rPr>
                      <m:t>=−</m:t>
                    </m:r>
                    <m:r>
                      <a:rPr lang="en-US" altLang="zh-CN" sz="1000" i="1">
                        <a:latin typeface="Cambria Math" panose="02040503050406030204" pitchFamily="18" charset="0"/>
                        <a:ea typeface="等线" panose="02010600030101010101" pitchFamily="2" charset="-122"/>
                        <a:cs typeface="Times New Roman" panose="02020603050405020304" pitchFamily="18" charset="0"/>
                      </a:rPr>
                      <m:t>𝜋</m:t>
                    </m:r>
                    <m:r>
                      <a:rPr lang="en-US" altLang="zh-CN" sz="1000" i="1">
                        <a:latin typeface="Cambria Math" panose="02040503050406030204" pitchFamily="18" charset="0"/>
                        <a:ea typeface="等线" panose="02010600030101010101" pitchFamily="2" charset="-122"/>
                        <a:cs typeface="Times New Roman" panose="02020603050405020304" pitchFamily="18" charset="0"/>
                      </a:rPr>
                      <m:t>/2</m:t>
                    </m:r>
                  </m:oMath>
                </a14:m>
                <a:r>
                  <a:rPr lang="zh-CN" altLang="zh-CN" sz="1000" dirty="0">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3</m:t>
                        </m:r>
                      </m:sub>
                    </m:sSub>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sz="1000" dirty="0">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4</m:t>
                        </m:r>
                      </m:sub>
                    </m:sSub>
                    <m:r>
                      <a:rPr lang="en-US" altLang="zh-CN" sz="1000" i="1">
                        <a:latin typeface="Cambria Math" panose="02040503050406030204" pitchFamily="18" charset="0"/>
                        <a:ea typeface="等线" panose="02010600030101010101" pitchFamily="2" charset="-122"/>
                        <a:cs typeface="Times New Roman" panose="02020603050405020304" pitchFamily="18" charset="0"/>
                      </a:rPr>
                      <m:t>=−</m:t>
                    </m:r>
                    <m:r>
                      <a:rPr lang="en-US" altLang="zh-CN" sz="1000" i="1">
                        <a:latin typeface="Cambria Math" panose="02040503050406030204" pitchFamily="18" charset="0"/>
                        <a:ea typeface="等线" panose="02010600030101010101" pitchFamily="2" charset="-122"/>
                        <a:cs typeface="Times New Roman" panose="02020603050405020304" pitchFamily="18" charset="0"/>
                      </a:rPr>
                      <m:t>𝜋</m:t>
                    </m:r>
                    <m:r>
                      <a:rPr lang="en-US" altLang="zh-CN" sz="1000" i="1">
                        <a:latin typeface="Cambria Math" panose="02040503050406030204" pitchFamily="18" charset="0"/>
                        <a:ea typeface="等线" panose="02010600030101010101" pitchFamily="2" charset="-122"/>
                        <a:cs typeface="Times New Roman" panose="02020603050405020304" pitchFamily="18" charset="0"/>
                      </a:rPr>
                      <m:t>/2</m:t>
                    </m:r>
                  </m:oMath>
                </a14:m>
                <a:r>
                  <a:rPr lang="zh-CN" altLang="zh-CN" sz="1000" dirty="0">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5</m:t>
                        </m:r>
                      </m:sub>
                    </m:sSub>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sz="1000" dirty="0">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6</m:t>
                        </m:r>
                      </m:sub>
                    </m:sSub>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sz="1000" dirty="0">
                    <a:ea typeface="等线" panose="02010600030101010101" pitchFamily="2" charset="-122"/>
                    <a:cs typeface="Times New Roman" panose="02020603050405020304" pitchFamily="18" charset="0"/>
                  </a:rPr>
                  <a:t>，求各轴旋转之后</a:t>
                </a:r>
                <a:r>
                  <a:rPr lang="en-US" altLang="zh-CN" sz="1000" dirty="0">
                    <a:ea typeface="等线" panose="02010600030101010101" pitchFamily="2" charset="-122"/>
                    <a:cs typeface="Times New Roman" panose="02020603050405020304" pitchFamily="18" charset="0"/>
                  </a:rPr>
                  <a:t>TCP</a:t>
                </a:r>
                <a:r>
                  <a:rPr lang="zh-CN" altLang="zh-CN" sz="1000" dirty="0">
                    <a:ea typeface="等线" panose="02010600030101010101" pitchFamily="2" charset="-122"/>
                    <a:cs typeface="Times New Roman" panose="02020603050405020304" pitchFamily="18" charset="0"/>
                  </a:rPr>
                  <a:t>的位姿。</a:t>
                </a:r>
                <a:endParaRPr lang="zh-CN" altLang="en-US" sz="1000" dirty="0"/>
              </a:p>
            </p:txBody>
          </p:sp>
        </mc:Choice>
        <mc:Fallback xmlns="">
          <p:sp>
            <p:nvSpPr>
              <p:cNvPr id="8" name="矩形 7"/>
              <p:cNvSpPr>
                <a:spLocks noRot="1" noChangeAspect="1" noMove="1" noResize="1" noEditPoints="1" noAdjustHandles="1" noChangeArrowheads="1" noChangeShapeType="1" noTextEdit="1"/>
              </p:cNvSpPr>
              <p:nvPr/>
            </p:nvSpPr>
            <p:spPr>
              <a:xfrm>
                <a:off x="513450" y="4034067"/>
                <a:ext cx="3298649" cy="707886"/>
              </a:xfrm>
              <a:prstGeom prst="rect">
                <a:avLst/>
              </a:prstGeom>
              <a:blipFill>
                <a:blip r:embed="rId6"/>
                <a:stretch>
                  <a:fillRect r="-3512" b="-34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4187406" y="1018576"/>
                <a:ext cx="1941429" cy="276999"/>
              </a:xfrm>
              <a:prstGeom prst="rect">
                <a:avLst/>
              </a:prstGeom>
            </p:spPr>
            <p:txBody>
              <a:bodyPr wrap="none">
                <a:spAutoFit/>
              </a:bodyPr>
              <a:lstStyle/>
              <a:p>
                <a:r>
                  <a:rPr lang="zh-CN" altLang="zh-CN" sz="1200" dirty="0">
                    <a:ea typeface="等线" panose="02010600030101010101" pitchFamily="2" charset="-122"/>
                    <a:cs typeface="Times New Roman" panose="02020603050405020304" pitchFamily="18" charset="0"/>
                  </a:rPr>
                  <a:t>已知</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m:rPr>
                            <m:sty m:val="p"/>
                          </m:rPr>
                          <a:rPr lang="en-US" altLang="zh-CN" sz="1200">
                            <a:latin typeface="Cambria Math" panose="02040503050406030204" pitchFamily="18" charset="0"/>
                            <a:ea typeface="等线" panose="02010600030101010101" pitchFamily="2" charset="-122"/>
                            <a:cs typeface="Times New Roman" panose="02020603050405020304" pitchFamily="18" charset="0"/>
                          </a:rPr>
                          <m:t>ω</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sub>
                    </m:sSub>
                  </m:oMath>
                </a14:m>
                <a:r>
                  <a:rPr lang="zh-CN" altLang="zh-CN" sz="1200" dirty="0">
                    <a:ea typeface="等线" panose="02010600030101010101" pitchFamily="2" charset="-122"/>
                    <a:cs typeface="Times New Roman" panose="02020603050405020304" pitchFamily="18" charset="0"/>
                  </a:rPr>
                  <a:t>如表</a:t>
                </a:r>
                <a:r>
                  <a:rPr lang="en-US" altLang="zh-CN" sz="1200" dirty="0">
                    <a:ea typeface="等线" panose="02010600030101010101" pitchFamily="2" charset="-122"/>
                    <a:cs typeface="Times New Roman" panose="02020603050405020304" pitchFamily="18" charset="0"/>
                  </a:rPr>
                  <a:t>3.5</a:t>
                </a:r>
                <a:r>
                  <a:rPr lang="zh-CN" altLang="zh-CN" sz="1200" dirty="0">
                    <a:ea typeface="等线" panose="02010600030101010101" pitchFamily="2" charset="-122"/>
                    <a:cs typeface="Times New Roman" panose="02020603050405020304" pitchFamily="18" charset="0"/>
                  </a:rPr>
                  <a:t>所示，求</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sub>
                    </m:sSub>
                  </m:oMath>
                </a14:m>
                <a:r>
                  <a:rPr lang="en-US" altLang="zh-CN" sz="1200" dirty="0">
                    <a:latin typeface="等线" panose="02010600030101010101" pitchFamily="2" charset="-122"/>
                    <a:cs typeface="Times New Roman" panose="02020603050405020304" pitchFamily="18" charset="0"/>
                  </a:rPr>
                  <a:t>:</a:t>
                </a:r>
                <a:endParaRPr lang="zh-CN" altLang="en-US" sz="1200" dirty="0"/>
              </a:p>
            </p:txBody>
          </p:sp>
        </mc:Choice>
        <mc:Fallback xmlns="">
          <p:sp>
            <p:nvSpPr>
              <p:cNvPr id="9" name="矩形 8"/>
              <p:cNvSpPr>
                <a:spLocks noRot="1" noChangeAspect="1" noMove="1" noResize="1" noEditPoints="1" noAdjustHandles="1" noChangeArrowheads="1" noChangeShapeType="1" noTextEdit="1"/>
              </p:cNvSpPr>
              <p:nvPr/>
            </p:nvSpPr>
            <p:spPr>
              <a:xfrm>
                <a:off x="4187406" y="1018576"/>
                <a:ext cx="1941429" cy="276999"/>
              </a:xfrm>
              <a:prstGeom prst="rect">
                <a:avLst/>
              </a:prstGeom>
              <a:blipFill>
                <a:blip r:embed="rId7"/>
                <a:stretch>
                  <a:fillRect l="-314" b="-152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4187406" y="1262546"/>
                <a:ext cx="4572000" cy="680956"/>
              </a:xfrm>
              <a:prstGeom prst="rect">
                <a:avLst/>
              </a:prstGeom>
            </p:spPr>
            <p:txBody>
              <a:bodyPr>
                <a:spAutoFit/>
              </a:bodyPr>
              <a:lstStyle/>
              <a:p>
                <a14:m>
                  <m:oMath xmlns:m="http://schemas.openxmlformats.org/officeDocument/2006/math">
                    <m:sSub>
                      <m:sSubPr>
                        <m:ctrlPr>
                          <a:rPr lang="zh-CN" altLang="zh-CN" sz="1200" i="1">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oMath>
                </a14:m>
                <a:r>
                  <a:rPr lang="en-US" altLang="zh-CN" sz="1200" dirty="0">
                    <a:latin typeface="等线" panose="02010600030101010101" pitchFamily="2" charset="-122"/>
                    <a:cs typeface="Times New Roman" panose="02020603050405020304" pitchFamily="18" charset="0"/>
                  </a:rPr>
                  <a:t>1,0,0,0)</a:t>
                </a:r>
                <a:r>
                  <a:rPr lang="zh-CN" altLang="zh-CN" sz="1200" dirty="0">
                    <a:ea typeface="等线" panose="02010600030101010101" pitchFamily="2" charset="-122"/>
                    <a:cs typeface="Times New Roman" panose="02020603050405020304" pitchFamily="18" charset="0"/>
                  </a:rPr>
                  <a:t>； </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oMath>
                </a14:m>
                <a:r>
                  <a:rPr lang="en-US" altLang="zh-CN" sz="1200" dirty="0">
                    <a:latin typeface="等线" panose="02010600030101010101" pitchFamily="2" charset="-122"/>
                    <a:cs typeface="Times New Roman" panose="02020603050405020304" pitchFamily="18" charset="0"/>
                  </a:rPr>
                  <a:t>-</a:t>
                </a:r>
                <a14:m>
                  <m:oMath xmlns:m="http://schemas.openxmlformats.org/officeDocument/2006/math">
                    <m:f>
                      <m:fPr>
                        <m:ctrlPr>
                          <a:rPr lang="zh-CN" altLang="zh-CN" sz="1200" i="1">
                            <a:effectLst/>
                            <a:latin typeface="Cambria Math" panose="02040503050406030204" pitchFamily="18" charset="0"/>
                            <a:ea typeface="Cambria Math" panose="02040503050406030204" pitchFamily="18" charset="0"/>
                          </a:rPr>
                        </m:ctrlPr>
                      </m:fPr>
                      <m:num>
                        <m:rad>
                          <m:radPr>
                            <m:degHide m:val="on"/>
                            <m:ctrlPr>
                              <a:rPr lang="zh-CN" altLang="zh-CN" sz="1200" i="1">
                                <a:effectLst/>
                                <a:latin typeface="Cambria Math" panose="02040503050406030204" pitchFamily="18" charset="0"/>
                                <a:ea typeface="Cambria Math" panose="02040503050406030204" pitchFamily="18" charset="0"/>
                              </a:rPr>
                            </m:ctrlPr>
                          </m:radPr>
                          <m:deg/>
                          <m:e>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e>
                        </m:rad>
                      </m:num>
                      <m:den>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den>
                    </m:f>
                  </m:oMath>
                </a14:m>
                <a:r>
                  <a:rPr lang="en-US" altLang="zh-CN" sz="1200" dirty="0">
                    <a:latin typeface="等线" panose="02010600030101010101" pitchFamily="2" charset="-122"/>
                    <a:cs typeface="Times New Roman" panose="02020603050405020304" pitchFamily="18" charset="0"/>
                  </a:rPr>
                  <a:t>,0,</a:t>
                </a:r>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 </m:t>
                    </m:r>
                    <m:f>
                      <m:fPr>
                        <m:ctrlPr>
                          <a:rPr lang="zh-CN" altLang="zh-CN" sz="1200" i="1">
                            <a:effectLst/>
                            <a:latin typeface="Cambria Math" panose="02040503050406030204" pitchFamily="18" charset="0"/>
                            <a:ea typeface="Cambria Math" panose="02040503050406030204" pitchFamily="18" charset="0"/>
                          </a:rPr>
                        </m:ctrlPr>
                      </m:fPr>
                      <m:num>
                        <m:rad>
                          <m:radPr>
                            <m:degHide m:val="on"/>
                            <m:ctrlPr>
                              <a:rPr lang="zh-CN" altLang="zh-CN" sz="1200" i="1">
                                <a:effectLst/>
                                <a:latin typeface="Cambria Math" panose="02040503050406030204" pitchFamily="18" charset="0"/>
                                <a:ea typeface="Cambria Math" panose="02040503050406030204" pitchFamily="18" charset="0"/>
                              </a:rPr>
                            </m:ctrlPr>
                          </m:radPr>
                          <m:deg/>
                          <m:e>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e>
                        </m:rad>
                      </m:num>
                      <m:den>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den>
                    </m:f>
                  </m:oMath>
                </a14:m>
                <a:r>
                  <a:rPr lang="en-US" altLang="zh-CN" sz="1200" dirty="0">
                    <a:latin typeface="等线" panose="02010600030101010101" pitchFamily="2" charset="-122"/>
                    <a:cs typeface="Times New Roman" panose="02020603050405020304" pitchFamily="18" charset="0"/>
                  </a:rPr>
                  <a:t>,0)</a:t>
                </a:r>
                <a:r>
                  <a:rPr lang="zh-CN" altLang="zh-CN" sz="1200" dirty="0">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3</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oMath>
                </a14:m>
                <a:r>
                  <a:rPr lang="en-US" altLang="zh-CN" sz="1200" dirty="0">
                    <a:latin typeface="等线" panose="02010600030101010101" pitchFamily="2" charset="-122"/>
                    <a:cs typeface="Times New Roman" panose="02020603050405020304" pitchFamily="18" charset="0"/>
                  </a:rPr>
                  <a:t>1,0,</a:t>
                </a:r>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 0</m:t>
                    </m:r>
                  </m:oMath>
                </a14:m>
                <a:r>
                  <a:rPr lang="en-US" altLang="zh-CN" sz="1200" dirty="0">
                    <a:latin typeface="等线" panose="02010600030101010101" pitchFamily="2" charset="-122"/>
                    <a:cs typeface="Times New Roman" panose="02020603050405020304" pitchFamily="18" charset="0"/>
                  </a:rPr>
                  <a:t>,0)</a:t>
                </a:r>
                <a:r>
                  <a:rPr lang="zh-CN" altLang="zh-CN" sz="1200" dirty="0">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4</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oMath>
                </a14:m>
                <a:r>
                  <a:rPr lang="en-US" altLang="zh-CN" sz="1200" dirty="0">
                    <a:latin typeface="等线" panose="02010600030101010101" pitchFamily="2" charset="-122"/>
                    <a:cs typeface="Times New Roman" panose="02020603050405020304" pitchFamily="18" charset="0"/>
                  </a:rPr>
                  <a:t>-</a:t>
                </a:r>
                <a14:m>
                  <m:oMath xmlns:m="http://schemas.openxmlformats.org/officeDocument/2006/math">
                    <m:f>
                      <m:fPr>
                        <m:ctrlPr>
                          <a:rPr lang="zh-CN" altLang="zh-CN" sz="1200" i="1">
                            <a:effectLst/>
                            <a:latin typeface="Cambria Math" panose="02040503050406030204" pitchFamily="18" charset="0"/>
                            <a:ea typeface="Cambria Math" panose="02040503050406030204" pitchFamily="18" charset="0"/>
                          </a:rPr>
                        </m:ctrlPr>
                      </m:fPr>
                      <m:num>
                        <m:rad>
                          <m:radPr>
                            <m:degHide m:val="on"/>
                            <m:ctrlPr>
                              <a:rPr lang="zh-CN" altLang="zh-CN" sz="1200" i="1">
                                <a:effectLst/>
                                <a:latin typeface="Cambria Math" panose="02040503050406030204" pitchFamily="18" charset="0"/>
                                <a:ea typeface="Cambria Math" panose="02040503050406030204" pitchFamily="18" charset="0"/>
                              </a:rPr>
                            </m:ctrlPr>
                          </m:radPr>
                          <m:deg/>
                          <m:e>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e>
                        </m:rad>
                      </m:num>
                      <m:den>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den>
                    </m:f>
                  </m:oMath>
                </a14:m>
                <a:r>
                  <a:rPr lang="en-US" altLang="zh-CN" sz="1200" dirty="0">
                    <a:latin typeface="等线" panose="02010600030101010101" pitchFamily="2" charset="-122"/>
                    <a:cs typeface="Times New Roman" panose="02020603050405020304" pitchFamily="18" charset="0"/>
                  </a:rPr>
                  <a:t>,0,</a:t>
                </a:r>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 </m:t>
                    </m:r>
                    <m:f>
                      <m:fPr>
                        <m:ctrlPr>
                          <a:rPr lang="zh-CN" altLang="zh-CN" sz="1200" i="1">
                            <a:effectLst/>
                            <a:latin typeface="Cambria Math" panose="02040503050406030204" pitchFamily="18" charset="0"/>
                            <a:ea typeface="Cambria Math" panose="02040503050406030204" pitchFamily="18" charset="0"/>
                          </a:rPr>
                        </m:ctrlPr>
                      </m:fPr>
                      <m:num>
                        <m:rad>
                          <m:radPr>
                            <m:degHide m:val="on"/>
                            <m:ctrlPr>
                              <a:rPr lang="zh-CN" altLang="zh-CN" sz="1200" i="1">
                                <a:effectLst/>
                                <a:latin typeface="Cambria Math" panose="02040503050406030204" pitchFamily="18" charset="0"/>
                                <a:ea typeface="Cambria Math" panose="02040503050406030204" pitchFamily="18" charset="0"/>
                              </a:rPr>
                            </m:ctrlPr>
                          </m:radPr>
                          <m:deg/>
                          <m:e>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e>
                        </m:rad>
                      </m:num>
                      <m:den>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den>
                    </m:f>
                  </m:oMath>
                </a14:m>
                <a:r>
                  <a:rPr lang="en-US" altLang="zh-CN" sz="1200" dirty="0">
                    <a:latin typeface="等线" panose="02010600030101010101" pitchFamily="2" charset="-122"/>
                    <a:cs typeface="Times New Roman" panose="02020603050405020304" pitchFamily="18" charset="0"/>
                  </a:rPr>
                  <a:t>,0)</a:t>
                </a:r>
                <a:r>
                  <a:rPr lang="zh-CN" altLang="zh-CN" sz="1200" dirty="0">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5</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oMath>
                </a14:m>
                <a:r>
                  <a:rPr lang="en-US" altLang="zh-CN" sz="1200" dirty="0">
                    <a:latin typeface="等线" panose="02010600030101010101" pitchFamily="2" charset="-122"/>
                    <a:cs typeface="Times New Roman" panose="02020603050405020304" pitchFamily="18" charset="0"/>
                  </a:rPr>
                  <a:t>1,0,</a:t>
                </a:r>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0</m:t>
                    </m:r>
                  </m:oMath>
                </a14:m>
                <a:r>
                  <a:rPr lang="en-US" altLang="zh-CN" sz="1200" dirty="0">
                    <a:latin typeface="等线" panose="02010600030101010101" pitchFamily="2" charset="-122"/>
                    <a:cs typeface="Times New Roman" panose="02020603050405020304" pitchFamily="18" charset="0"/>
                  </a:rPr>
                  <a:t>,0)</a:t>
                </a:r>
                <a:r>
                  <a:rPr lang="zh-CN" altLang="zh-CN" sz="1200" dirty="0">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6</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oMath>
                </a14:m>
                <a:r>
                  <a:rPr lang="en-US" altLang="zh-CN" sz="1200" dirty="0">
                    <a:latin typeface="等线" panose="02010600030101010101" pitchFamily="2" charset="-122"/>
                    <a:cs typeface="Times New Roman" panose="02020603050405020304" pitchFamily="18" charset="0"/>
                  </a:rPr>
                  <a:t>1,0,</a:t>
                </a:r>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 0</m:t>
                    </m:r>
                  </m:oMath>
                </a14:m>
                <a:r>
                  <a:rPr lang="en-US" altLang="zh-CN" sz="1200" dirty="0">
                    <a:latin typeface="等线" panose="02010600030101010101" pitchFamily="2" charset="-122"/>
                    <a:cs typeface="Times New Roman" panose="02020603050405020304" pitchFamily="18" charset="0"/>
                  </a:rPr>
                  <a:t>,0)</a:t>
                </a:r>
                <a:endParaRPr lang="zh-CN" altLang="en-US" sz="1200" dirty="0"/>
              </a:p>
            </p:txBody>
          </p:sp>
        </mc:Choice>
        <mc:Fallback xmlns="">
          <p:sp>
            <p:nvSpPr>
              <p:cNvPr id="12" name="矩形 11"/>
              <p:cNvSpPr>
                <a:spLocks noRot="1" noChangeAspect="1" noMove="1" noResize="1" noEditPoints="1" noAdjustHandles="1" noChangeArrowheads="1" noChangeShapeType="1" noTextEdit="1"/>
              </p:cNvSpPr>
              <p:nvPr/>
            </p:nvSpPr>
            <p:spPr>
              <a:xfrm>
                <a:off x="4187406" y="1262546"/>
                <a:ext cx="4572000" cy="680956"/>
              </a:xfrm>
              <a:prstGeom prst="rect">
                <a:avLst/>
              </a:prstGeom>
              <a:blipFill>
                <a:blip r:embed="rId8"/>
                <a:stretch>
                  <a:fillRect b="-893"/>
                </a:stretch>
              </a:blipFill>
            </p:spPr>
            <p:txBody>
              <a:bodyPr/>
              <a:lstStyle/>
              <a:p>
                <a:r>
                  <a:rPr lang="zh-CN" altLang="en-US">
                    <a:noFill/>
                  </a:rPr>
                  <a:t> </a:t>
                </a:r>
              </a:p>
            </p:txBody>
          </p:sp>
        </mc:Fallback>
      </mc:AlternateContent>
      <p:sp>
        <p:nvSpPr>
          <p:cNvPr id="13" name="矩形 12"/>
          <p:cNvSpPr/>
          <p:nvPr/>
        </p:nvSpPr>
        <p:spPr>
          <a:xfrm>
            <a:off x="4187406" y="1910473"/>
            <a:ext cx="2492990" cy="276999"/>
          </a:xfrm>
          <a:prstGeom prst="rect">
            <a:avLst/>
          </a:prstGeom>
        </p:spPr>
        <p:txBody>
          <a:bodyPr wrap="none">
            <a:spAutoFit/>
          </a:bodyPr>
          <a:lstStyle/>
          <a:p>
            <a:r>
              <a:rPr lang="zh-CN" altLang="zh-CN" sz="1200" dirty="0">
                <a:ea typeface="等线" panose="02010600030101010101" pitchFamily="2" charset="-122"/>
                <a:cs typeface="Times New Roman" panose="02020603050405020304" pitchFamily="18" charset="0"/>
              </a:rPr>
              <a:t>我们在旋量法的计算步骤中已知：</a:t>
            </a:r>
            <a:endParaRPr lang="zh-CN" altLang="en-US" sz="1200" dirty="0"/>
          </a:p>
        </p:txBody>
      </p:sp>
      <mc:AlternateContent xmlns:mc="http://schemas.openxmlformats.org/markup-compatibility/2006" xmlns:a14="http://schemas.microsoft.com/office/drawing/2010/main">
        <mc:Choice Requires="a14">
          <p:sp>
            <p:nvSpPr>
              <p:cNvPr id="14" name="矩形 13"/>
              <p:cNvSpPr/>
              <p:nvPr/>
            </p:nvSpPr>
            <p:spPr>
              <a:xfrm>
                <a:off x="4187406" y="2144787"/>
                <a:ext cx="4572000" cy="646331"/>
              </a:xfrm>
              <a:prstGeom prst="rect">
                <a:avLst/>
              </a:prstGeom>
            </p:spPr>
            <p:txBody>
              <a:bodyPr>
                <a:spAutoFit/>
              </a:bodyPr>
              <a:lstStyle/>
              <a:p>
                <a14:m>
                  <m:oMath xmlns:m="http://schemas.openxmlformats.org/officeDocument/2006/math">
                    <m:sSub>
                      <m:sSubPr>
                        <m:ctrlPr>
                          <a:rPr lang="zh-CN" altLang="zh-CN" sz="1200" i="1">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=(0,0,0,0)</m:t>
                    </m:r>
                  </m:oMath>
                </a14:m>
                <a:r>
                  <a:rPr lang="en-US" altLang="zh-CN" sz="1200" dirty="0">
                    <a:latin typeface="等线" panose="02010600030101010101" pitchFamily="2" charset="-122"/>
                    <a:cs typeface="Times New Roman" panose="02020603050405020304" pitchFamily="18" charset="0"/>
                  </a:rPr>
                  <a:t>,</a:t>
                </a:r>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=(0,0,0,</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𝐻</m:t>
                    </m:r>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oMath>
                </a14:m>
                <a:r>
                  <a:rPr lang="en-US" altLang="zh-CN" sz="1200" dirty="0">
                    <a:latin typeface="等线" panose="02010600030101010101" pitchFamily="2" charset="-122"/>
                    <a:cs typeface="Times New Roman" panose="02020603050405020304" pitchFamily="18" charset="0"/>
                  </a:rPr>
                  <a:t>,</a:t>
                </a:r>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3</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=(0,−</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𝐿</m:t>
                    </m:r>
                    <m:r>
                      <a:rPr lang="en-US" altLang="zh-CN" sz="1200" i="1">
                        <a:latin typeface="Cambria Math" panose="02040503050406030204" pitchFamily="18" charset="0"/>
                        <a:ea typeface="等线" panose="02010600030101010101" pitchFamily="2" charset="-122"/>
                        <a:cs typeface="Times New Roman" panose="02020603050405020304" pitchFamily="18" charset="0"/>
                      </a:rPr>
                      <m:t>1,0,</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𝐻</m:t>
                    </m:r>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oMath>
                </a14:m>
                <a:r>
                  <a:rPr lang="en-US" altLang="zh-CN" sz="1200" dirty="0">
                    <a:latin typeface="等线" panose="02010600030101010101" pitchFamily="2" charset="-122"/>
                    <a:cs typeface="Times New Roman" panose="02020603050405020304" pitchFamily="18" charset="0"/>
                  </a:rPr>
                  <a:t>,</a:t>
                </a:r>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4</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=(0,−</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𝐿</m:t>
                    </m:r>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𝐿</m:t>
                    </m:r>
                    <m:r>
                      <a:rPr lang="en-US" altLang="zh-CN" sz="1200" i="1">
                        <a:latin typeface="Cambria Math" panose="02040503050406030204" pitchFamily="18" charset="0"/>
                        <a:ea typeface="等线" panose="02010600030101010101" pitchFamily="2" charset="-122"/>
                        <a:cs typeface="Times New Roman" panose="02020603050405020304" pitchFamily="18" charset="0"/>
                      </a:rPr>
                      <m:t>2,0,</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𝐻</m:t>
                    </m:r>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oMath>
                </a14:m>
                <a:r>
                  <a:rPr lang="en-US" altLang="zh-CN" sz="1200" dirty="0">
                    <a:latin typeface="等线" panose="02010600030101010101" pitchFamily="2" charset="-122"/>
                    <a:cs typeface="Times New Roman" panose="02020603050405020304" pitchFamily="18" charset="0"/>
                  </a:rPr>
                  <a:t>,</a:t>
                </a:r>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5</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=(0,−</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𝐿</m:t>
                    </m:r>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𝐿</m:t>
                    </m:r>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𝑊</m:t>
                    </m:r>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𝐻</m:t>
                    </m:r>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oMath>
                </a14:m>
                <a:r>
                  <a:rPr lang="en-US" altLang="zh-CN" sz="1200" dirty="0">
                    <a:latin typeface="等线" panose="02010600030101010101" pitchFamily="2" charset="-122"/>
                    <a:cs typeface="Times New Roman" panose="02020603050405020304" pitchFamily="18" charset="0"/>
                  </a:rPr>
                  <a:t>,</a:t>
                </a:r>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6</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=(0,−</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𝐿</m:t>
                    </m:r>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𝐿</m:t>
                    </m:r>
                    <m:r>
                      <a:rPr lang="en-US" altLang="zh-CN" sz="1200" i="1">
                        <a:latin typeface="Cambria Math" panose="02040503050406030204" pitchFamily="18" charset="0"/>
                        <a:ea typeface="等线" panose="02010600030101010101" pitchFamily="2" charset="-122"/>
                        <a:cs typeface="Times New Roman" panose="02020603050405020304" pitchFamily="18" charset="0"/>
                      </a:rPr>
                      <m:t>2,0,</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𝐻</m:t>
                    </m:r>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𝐻</m:t>
                    </m:r>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oMath>
                </a14:m>
                <a:endParaRPr lang="zh-CN" altLang="en-US" sz="1200" dirty="0"/>
              </a:p>
            </p:txBody>
          </p:sp>
        </mc:Choice>
        <mc:Fallback xmlns="">
          <p:sp>
            <p:nvSpPr>
              <p:cNvPr id="14" name="矩形 13"/>
              <p:cNvSpPr>
                <a:spLocks noRot="1" noChangeAspect="1" noMove="1" noResize="1" noEditPoints="1" noAdjustHandles="1" noChangeArrowheads="1" noChangeShapeType="1" noTextEdit="1"/>
              </p:cNvSpPr>
              <p:nvPr/>
            </p:nvSpPr>
            <p:spPr>
              <a:xfrm>
                <a:off x="4187406" y="2144787"/>
                <a:ext cx="4572000" cy="646331"/>
              </a:xfrm>
              <a:prstGeom prst="rect">
                <a:avLst/>
              </a:prstGeom>
              <a:blipFill>
                <a:blip r:embed="rId9"/>
                <a:stretch>
                  <a:fillRect t="-943" b="-28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4176007" y="2791118"/>
                <a:ext cx="4572000" cy="907941"/>
              </a:xfrm>
              <a:prstGeom prst="rect">
                <a:avLst/>
              </a:prstGeom>
            </p:spPr>
            <p:txBody>
              <a:bodyPr>
                <a:spAutoFit/>
              </a:bodyPr>
              <a:lstStyle/>
              <a:p>
                <a:pPr>
                  <a:spcBef>
                    <a:spcPts val="600"/>
                  </a:spcBef>
                  <a:spcAft>
                    <a:spcPts val="600"/>
                  </a:spcAft>
                </a:pPr>
                <a:r>
                  <a:rPr lang="zh-CN" altLang="zh-CN" sz="1200" dirty="0">
                    <a:latin typeface="宋体" panose="02010600030101010101" pitchFamily="2" charset="-122"/>
                    <a:cs typeface="宋体" panose="02010600030101010101" pitchFamily="2" charset="-122"/>
                  </a:rPr>
                  <a:t>根据公式（</a:t>
                </a:r>
                <a:r>
                  <a:rPr lang="en-US" altLang="zh-CN" sz="1200" dirty="0">
                    <a:latin typeface="宋体" panose="02010600030101010101" pitchFamily="2" charset="-122"/>
                    <a:cs typeface="宋体" panose="02010600030101010101" pitchFamily="2" charset="-122"/>
                  </a:rPr>
                  <a:t>3-44</a:t>
                </a:r>
                <a:r>
                  <a:rPr lang="zh-CN" altLang="zh-CN" sz="1200" dirty="0">
                    <a:latin typeface="宋体" panose="02010600030101010101" pitchFamily="2" charset="-122"/>
                    <a:cs typeface="宋体" panose="02010600030101010101" pitchFamily="2" charset="-122"/>
                  </a:rPr>
                  <a:t>）求得</a:t>
                </a:r>
                <a:r>
                  <a:rPr lang="en-US" altLang="zh-CN" sz="1200" dirty="0">
                    <a:latin typeface="宋体" panose="02010600030101010101" pitchFamily="2" charset="-122"/>
                    <a:cs typeface="宋体" panose="02010600030101010101" pitchFamily="2" charset="-122"/>
                  </a:rPr>
                  <a:t>:</a:t>
                </a:r>
                <a:endParaRPr lang="zh-CN" altLang="zh-CN" sz="1200" dirty="0">
                  <a:latin typeface="宋体" panose="02010600030101010101" pitchFamily="2" charset="-122"/>
                  <a:cs typeface="宋体" panose="02010600030101010101" pitchFamily="2" charset="-122"/>
                </a:endParaRPr>
              </a:p>
              <a:p>
                <a:r>
                  <a:rPr lang="en-US" altLang="zh-CN" sz="1200" dirty="0">
                    <a:latin typeface="等线" panose="02010600030101010101" pitchFamily="2" charset="-122"/>
                    <a:cs typeface="Times New Roman" panose="02020603050405020304" pitchFamily="18" charset="0"/>
                  </a:rPr>
                  <a:t>	</a:t>
                </a:r>
                <a14:m>
                  <m:oMath xmlns:m="http://schemas.openxmlformats.org/officeDocument/2006/math">
                    <m:sSup>
                      <m:sSupPr>
                        <m:ctrlPr>
                          <a:rPr lang="zh-CN" altLang="zh-CN" sz="1200" i="1">
                            <a:effectLst/>
                            <a:latin typeface="Cambria Math" panose="02040503050406030204" pitchFamily="18" charset="0"/>
                            <a:ea typeface="Cambria Math" panose="02040503050406030204" pitchFamily="18" charset="0"/>
                          </a:rPr>
                        </m:ctrlPr>
                      </m:sSupPr>
                      <m:e>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sub>
                        </m:sSub>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𝑜</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=(0,0,0,0)</m:t>
                    </m:r>
                  </m:oMath>
                </a14:m>
                <a:r>
                  <a:rPr lang="zh-CN" altLang="zh-CN" sz="1200" dirty="0">
                    <a:ea typeface="等线" panose="02010600030101010101" pitchFamily="2" charset="-122"/>
                    <a:cs typeface="Times New Roman" panose="02020603050405020304" pitchFamily="18" charset="0"/>
                  </a:rPr>
                  <a:t>，</a:t>
                </a:r>
                <a14:m>
                  <m:oMath xmlns:m="http://schemas.openxmlformats.org/officeDocument/2006/math">
                    <m:sSup>
                      <m:sSupPr>
                        <m:ctrlPr>
                          <a:rPr lang="zh-CN" altLang="zh-CN" sz="1200" i="1">
                            <a:effectLst/>
                            <a:latin typeface="Cambria Math" panose="02040503050406030204" pitchFamily="18" charset="0"/>
                            <a:ea typeface="Cambria Math" panose="02040503050406030204" pitchFamily="18" charset="0"/>
                          </a:rPr>
                        </m:ctrlPr>
                      </m:sSupPr>
                      <m:e>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b>
                        </m:sSub>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𝑜</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=(0,</m:t>
                    </m:r>
                    <m:r>
                      <a:rPr lang="en-US" altLang="zh-CN" sz="1200" i="1">
                        <a:latin typeface="Cambria Math" panose="02040503050406030204" pitchFamily="18" charset="0"/>
                        <a:ea typeface="微软雅黑" panose="020B0503020204020204" pitchFamily="34" charset="-122"/>
                        <a:cs typeface="微软雅黑" panose="020B0503020204020204" pitchFamily="34" charset="-122"/>
                      </a:rPr>
                      <m:t>−0.0985</m:t>
                    </m:r>
                    <m:r>
                      <a:rPr lang="en-US" altLang="zh-CN" sz="1200" i="1">
                        <a:latin typeface="Cambria Math" panose="02040503050406030204" pitchFamily="18" charset="0"/>
                        <a:ea typeface="等线" panose="02010600030101010101" pitchFamily="2" charset="-122"/>
                        <a:cs typeface="Times New Roman" panose="02020603050405020304" pitchFamily="18" charset="0"/>
                      </a:rPr>
                      <m:t>,0,0.0985)</m:t>
                    </m:r>
                  </m:oMath>
                </a14:m>
                <a:r>
                  <a:rPr lang="zh-CN" altLang="zh-CN" sz="1200" dirty="0">
                    <a:ea typeface="等线" panose="02010600030101010101" pitchFamily="2" charset="-122"/>
                    <a:cs typeface="Times New Roman" panose="02020603050405020304" pitchFamily="18" charset="0"/>
                  </a:rPr>
                  <a:t>，</a:t>
                </a:r>
                <a14:m>
                  <m:oMath xmlns:m="http://schemas.openxmlformats.org/officeDocument/2006/math">
                    <m:sSup>
                      <m:sSupPr>
                        <m:ctrlPr>
                          <a:rPr lang="zh-CN" altLang="zh-CN" sz="1200" i="1">
                            <a:effectLst/>
                            <a:latin typeface="Cambria Math" panose="02040503050406030204" pitchFamily="18" charset="0"/>
                            <a:ea typeface="Cambria Math" panose="02040503050406030204" pitchFamily="18" charset="0"/>
                          </a:rPr>
                        </m:ctrlPr>
                      </m:sSupPr>
                      <m:e>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3</m:t>
                            </m:r>
                          </m:sub>
                        </m:sSub>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𝑜</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=(0,0,0,0)</m:t>
                    </m:r>
                  </m:oMath>
                </a14:m>
                <a:r>
                  <a:rPr lang="zh-CN" altLang="zh-CN" sz="1200" dirty="0">
                    <a:ea typeface="等线" panose="02010600030101010101" pitchFamily="2" charset="-122"/>
                    <a:cs typeface="Times New Roman" panose="02020603050405020304" pitchFamily="18" charset="0"/>
                  </a:rPr>
                  <a:t>，</a:t>
                </a:r>
                <a14:m>
                  <m:oMath xmlns:m="http://schemas.openxmlformats.org/officeDocument/2006/math">
                    <m:sSup>
                      <m:sSupPr>
                        <m:ctrlPr>
                          <a:rPr lang="zh-CN" altLang="zh-CN" sz="1200" i="1">
                            <a:effectLst/>
                            <a:latin typeface="Cambria Math" panose="02040503050406030204" pitchFamily="18" charset="0"/>
                            <a:ea typeface="Cambria Math" panose="02040503050406030204" pitchFamily="18" charset="0"/>
                          </a:rPr>
                        </m:ctrlPr>
                      </m:sSupPr>
                      <m:e>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4</m:t>
                            </m:r>
                          </m:sub>
                        </m:sSub>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𝑜</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=(0,−0.8825,0,−0.6855)</m:t>
                    </m:r>
                  </m:oMath>
                </a14:m>
                <a:r>
                  <a:rPr lang="zh-CN" altLang="zh-CN" sz="1200" dirty="0">
                    <a:ea typeface="等线" panose="02010600030101010101" pitchFamily="2" charset="-122"/>
                    <a:cs typeface="Times New Roman" panose="02020603050405020304" pitchFamily="18" charset="0"/>
                  </a:rPr>
                  <a:t>，</a:t>
                </a:r>
                <a14:m>
                  <m:oMath xmlns:m="http://schemas.openxmlformats.org/officeDocument/2006/math">
                    <m:sSup>
                      <m:sSupPr>
                        <m:ctrlPr>
                          <a:rPr lang="zh-CN" altLang="zh-CN" sz="1200" i="1">
                            <a:effectLst/>
                            <a:latin typeface="Cambria Math" panose="02040503050406030204" pitchFamily="18" charset="0"/>
                            <a:ea typeface="Cambria Math" panose="02040503050406030204" pitchFamily="18" charset="0"/>
                          </a:rPr>
                        </m:ctrlPr>
                      </m:sSupPr>
                      <m:e>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5</m:t>
                            </m:r>
                          </m:sub>
                        </m:sSub>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𝑜</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=(0,0,0,0)</m:t>
                    </m:r>
                  </m:oMath>
                </a14:m>
                <a:r>
                  <a:rPr lang="zh-CN" altLang="zh-CN" sz="1200" dirty="0">
                    <a:ea typeface="等线" panose="02010600030101010101" pitchFamily="2" charset="-122"/>
                    <a:cs typeface="Times New Roman" panose="02020603050405020304" pitchFamily="18" charset="0"/>
                  </a:rPr>
                  <a:t>，</a:t>
                </a:r>
                <a14:m>
                  <m:oMath xmlns:m="http://schemas.openxmlformats.org/officeDocument/2006/math">
                    <m:sSup>
                      <m:sSupPr>
                        <m:ctrlPr>
                          <a:rPr lang="zh-CN" altLang="zh-CN" sz="1200" i="1">
                            <a:effectLst/>
                            <a:latin typeface="Cambria Math" panose="02040503050406030204" pitchFamily="18" charset="0"/>
                            <a:ea typeface="Cambria Math" panose="02040503050406030204" pitchFamily="18" charset="0"/>
                          </a:rPr>
                        </m:ctrlPr>
                      </m:sSupPr>
                      <m:e>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6</m:t>
                            </m:r>
                          </m:sub>
                        </m:sSub>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𝑜</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=(0,0,0,0)</m:t>
                    </m:r>
                  </m:oMath>
                </a14:m>
                <a:endParaRPr lang="zh-CN" altLang="en-US" sz="1200" dirty="0"/>
              </a:p>
            </p:txBody>
          </p:sp>
        </mc:Choice>
        <mc:Fallback xmlns="">
          <p:sp>
            <p:nvSpPr>
              <p:cNvPr id="21" name="矩形 20"/>
              <p:cNvSpPr>
                <a:spLocks noRot="1" noChangeAspect="1" noMove="1" noResize="1" noEditPoints="1" noAdjustHandles="1" noChangeArrowheads="1" noChangeShapeType="1" noTextEdit="1"/>
              </p:cNvSpPr>
              <p:nvPr/>
            </p:nvSpPr>
            <p:spPr>
              <a:xfrm>
                <a:off x="4176007" y="2791118"/>
                <a:ext cx="4572000" cy="907941"/>
              </a:xfrm>
              <a:prstGeom prst="rect">
                <a:avLst/>
              </a:prstGeom>
              <a:blipFill>
                <a:blip r:embed="rId10"/>
                <a:stretch>
                  <a:fillRect r="-3467" b="-20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4176007" y="3708777"/>
                <a:ext cx="4572000" cy="276999"/>
              </a:xfrm>
              <a:prstGeom prst="rect">
                <a:avLst/>
              </a:prstGeom>
            </p:spPr>
            <p:txBody>
              <a:bodyPr>
                <a:spAutoFit/>
              </a:bodyPr>
              <a:lstStyle/>
              <a:p>
                <a:r>
                  <a:rPr lang="zh-CN" altLang="zh-CN" sz="1200" dirty="0">
                    <a:ea typeface="等线" panose="02010600030101010101" pitchFamily="2" charset="-122"/>
                    <a:cs typeface="Times New Roman" panose="02020603050405020304" pitchFamily="18" charset="0"/>
                  </a:rPr>
                  <a:t>根据公式（</a:t>
                </a:r>
                <a:r>
                  <a:rPr lang="en-US" altLang="zh-CN" sz="1200" dirty="0">
                    <a:ea typeface="等线" panose="02010600030101010101" pitchFamily="2" charset="-122"/>
                    <a:cs typeface="Times New Roman" panose="02020603050405020304" pitchFamily="18" charset="0"/>
                  </a:rPr>
                  <a:t>3-45</a:t>
                </a:r>
                <a:r>
                  <a:rPr lang="zh-CN" altLang="zh-CN" sz="1200" dirty="0">
                    <a:ea typeface="等线" panose="02010600030101010101" pitchFamily="2" charset="-122"/>
                    <a:cs typeface="Times New Roman" panose="02020603050405020304" pitchFamily="18" charset="0"/>
                  </a:rPr>
                  <a:t>）（</a:t>
                </a:r>
                <a:r>
                  <a:rPr lang="en-US" altLang="zh-CN" sz="1200" dirty="0">
                    <a:ea typeface="等线" panose="02010600030101010101" pitchFamily="2" charset="-122"/>
                    <a:cs typeface="Times New Roman" panose="02020603050405020304" pitchFamily="18" charset="0"/>
                  </a:rPr>
                  <a:t>3-46</a:t>
                </a:r>
                <a:r>
                  <a:rPr lang="zh-CN" altLang="zh-CN" sz="1200" dirty="0">
                    <a:ea typeface="等线" panose="02010600030101010101" pitchFamily="2" charset="-122"/>
                    <a:cs typeface="Times New Roman" panose="02020603050405020304" pitchFamily="18" charset="0"/>
                  </a:rPr>
                  <a:t>）求</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sub>
                    </m:sSub>
                  </m:oMath>
                </a14:m>
                <a:r>
                  <a:rPr lang="zh-CN" altLang="zh-CN" sz="1200" dirty="0">
                    <a:ea typeface="等线" panose="02010600030101010101" pitchFamily="2" charset="-122"/>
                    <a:cs typeface="Times New Roman" panose="02020603050405020304" pitchFamily="18" charset="0"/>
                  </a:rPr>
                  <a:t>和</a:t>
                </a:r>
                <a14:m>
                  <m:oMath xmlns:m="http://schemas.openxmlformats.org/officeDocument/2006/math">
                    <m:sSup>
                      <m:sSupPr>
                        <m:ctrlPr>
                          <a:rPr lang="zh-CN" altLang="zh-CN" sz="1200" i="1">
                            <a:effectLst/>
                            <a:latin typeface="Cambria Math" panose="02040503050406030204" pitchFamily="18" charset="0"/>
                            <a:ea typeface="Cambria Math" panose="02040503050406030204" pitchFamily="18" charset="0"/>
                          </a:rPr>
                        </m:ctrlPr>
                      </m:sSupPr>
                      <m:e>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sub>
                        </m:sSub>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𝑜</m:t>
                        </m:r>
                      </m:sup>
                    </m:sSup>
                  </m:oMath>
                </a14:m>
                <a:r>
                  <a:rPr lang="zh-CN" altLang="zh-CN" sz="1200" dirty="0">
                    <a:ea typeface="等线" panose="02010600030101010101" pitchFamily="2" charset="-122"/>
                    <a:cs typeface="Times New Roman" panose="02020603050405020304" pitchFamily="18" charset="0"/>
                  </a:rPr>
                  <a:t>，</a:t>
                </a:r>
                <a:r>
                  <a:rPr lang="en-US" altLang="zh-CN" sz="1200" dirty="0" err="1">
                    <a:ea typeface="等线" panose="02010600030101010101" pitchFamily="2" charset="-122"/>
                    <a:cs typeface="Times New Roman" panose="02020603050405020304" pitchFamily="18" charset="0"/>
                  </a:rPr>
                  <a:t>i</a:t>
                </a:r>
                <a:r>
                  <a:rPr lang="en-US" altLang="zh-CN" sz="1200" dirty="0">
                    <a:ea typeface="等线" panose="02010600030101010101" pitchFamily="2" charset="-122"/>
                    <a:cs typeface="Times New Roman" panose="02020603050405020304" pitchFamily="18" charset="0"/>
                  </a:rPr>
                  <a:t>=(1,2,3,4,5,6)</a:t>
                </a:r>
                <a:endParaRPr lang="zh-CN" altLang="en-US" sz="1200" dirty="0"/>
              </a:p>
            </p:txBody>
          </p:sp>
        </mc:Choice>
        <mc:Fallback xmlns="">
          <p:sp>
            <p:nvSpPr>
              <p:cNvPr id="22" name="矩形 21"/>
              <p:cNvSpPr>
                <a:spLocks noRot="1" noChangeAspect="1" noMove="1" noResize="1" noEditPoints="1" noAdjustHandles="1" noChangeArrowheads="1" noChangeShapeType="1" noTextEdit="1"/>
              </p:cNvSpPr>
              <p:nvPr/>
            </p:nvSpPr>
            <p:spPr>
              <a:xfrm>
                <a:off x="4176007" y="3708777"/>
                <a:ext cx="4572000" cy="276999"/>
              </a:xfrm>
              <a:prstGeom prst="rect">
                <a:avLst/>
              </a:prstGeom>
              <a:blipFill>
                <a:blip r:embed="rId11"/>
                <a:stretch>
                  <a:fillRect b="-152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4192857" y="3985776"/>
                <a:ext cx="4572000" cy="538609"/>
              </a:xfrm>
              <a:prstGeom prst="rect">
                <a:avLst/>
              </a:prstGeom>
            </p:spPr>
            <p:txBody>
              <a:bodyPr>
                <a:spAutoFit/>
              </a:bodyPr>
              <a:lstStyle/>
              <a:p>
                <a:pPr>
                  <a:spcBef>
                    <a:spcPts val="600"/>
                  </a:spcBef>
                  <a:spcAft>
                    <a:spcPts val="600"/>
                  </a:spcAft>
                </a:pPr>
                <a14:m>
                  <m:oMath xmlns:m="http://schemas.openxmlformats.org/officeDocument/2006/math">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𝑞</m:t>
                        </m:r>
                      </m:e>
                      <m:sub>
                        <m:r>
                          <a:rPr lang="en-US" altLang="zh-CN" sz="1200" i="1">
                            <a:latin typeface="Cambria Math" panose="02040503050406030204" pitchFamily="18" charset="0"/>
                            <a:cs typeface="宋体" panose="02010600030101010101" pitchFamily="2" charset="-122"/>
                          </a:rPr>
                          <m:t>16</m:t>
                        </m:r>
                      </m:sub>
                    </m:sSub>
                    <m:r>
                      <a:rPr lang="en-US" altLang="zh-CN" sz="1200" i="1">
                        <a:latin typeface="Cambria Math" panose="02040503050406030204" pitchFamily="18" charset="0"/>
                        <a:cs typeface="宋体" panose="02010600030101010101" pitchFamily="2" charset="-122"/>
                      </a:rPr>
                      <m:t>=(0,0,1,0)</m:t>
                    </m:r>
                  </m:oMath>
                </a14:m>
                <a:r>
                  <a:rPr lang="zh-CN" altLang="zh-CN" sz="1200" dirty="0">
                    <a:latin typeface="宋体" panose="02010600030101010101" pitchFamily="2" charset="-122"/>
                    <a:cs typeface="宋体" panose="02010600030101010101" pitchFamily="2" charset="-122"/>
                  </a:rPr>
                  <a:t>，</a:t>
                </a:r>
                <a:r>
                  <a:rPr lang="en-US" altLang="zh-CN" sz="1200" dirty="0">
                    <a:latin typeface="宋体" panose="02010600030101010101" pitchFamily="2" charset="-122"/>
                    <a:cs typeface="宋体" panose="02010600030101010101" pitchFamily="2" charset="-122"/>
                  </a:rPr>
                  <a:t>……</a:t>
                </a:r>
                <a:endParaRPr lang="zh-CN" altLang="zh-CN" sz="1200" dirty="0">
                  <a:latin typeface="宋体" panose="02010600030101010101" pitchFamily="2" charset="-122"/>
                  <a:cs typeface="宋体" panose="02010600030101010101" pitchFamily="2" charset="-122"/>
                </a:endParaRPr>
              </a:p>
              <a:p>
                <a14:m>
                  <m:oMath xmlns:m="http://schemas.openxmlformats.org/officeDocument/2006/math">
                    <m:sSup>
                      <m:sSupPr>
                        <m:ctrlPr>
                          <a:rPr lang="zh-CN" altLang="zh-CN" sz="1200" i="1">
                            <a:effectLst/>
                            <a:latin typeface="Cambria Math" panose="02040503050406030204" pitchFamily="18" charset="0"/>
                            <a:ea typeface="Cambria Math" panose="02040503050406030204" pitchFamily="18" charset="0"/>
                          </a:rPr>
                        </m:ctrlPr>
                      </m:sSupPr>
                      <m:e>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16</m:t>
                            </m:r>
                          </m:sub>
                        </m:sSub>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𝑜</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=(0,−0.784,0,0.981)</m:t>
                    </m:r>
                  </m:oMath>
                </a14:m>
                <a:r>
                  <a:rPr lang="zh-CN" altLang="zh-CN" sz="1200" dirty="0">
                    <a:ea typeface="等线" panose="02010600030101010101" pitchFamily="2" charset="-122"/>
                    <a:cs typeface="Times New Roman" panose="02020603050405020304" pitchFamily="18" charset="0"/>
                  </a:rPr>
                  <a:t>，</a:t>
                </a:r>
                <a:r>
                  <a:rPr lang="en-US" altLang="zh-CN" sz="1200" dirty="0">
                    <a:ea typeface="等线" panose="02010600030101010101" pitchFamily="2" charset="-122"/>
                    <a:cs typeface="Times New Roman" panose="02020603050405020304" pitchFamily="18" charset="0"/>
                  </a:rPr>
                  <a:t>……</a:t>
                </a:r>
                <a:endParaRPr lang="zh-CN" altLang="en-US" sz="1200" dirty="0"/>
              </a:p>
            </p:txBody>
          </p:sp>
        </mc:Choice>
        <mc:Fallback xmlns="">
          <p:sp>
            <p:nvSpPr>
              <p:cNvPr id="23" name="矩形 22"/>
              <p:cNvSpPr>
                <a:spLocks noRot="1" noChangeAspect="1" noMove="1" noResize="1" noEditPoints="1" noAdjustHandles="1" noChangeArrowheads="1" noChangeShapeType="1" noTextEdit="1"/>
              </p:cNvSpPr>
              <p:nvPr/>
            </p:nvSpPr>
            <p:spPr>
              <a:xfrm>
                <a:off x="4192857" y="3985776"/>
                <a:ext cx="4572000" cy="538609"/>
              </a:xfrm>
              <a:prstGeom prst="rect">
                <a:avLst/>
              </a:prstGeom>
              <a:blipFill>
                <a:blip r:embed="rId12"/>
                <a:stretch>
                  <a:fillRect t="-1136" b="-9091"/>
                </a:stretch>
              </a:blipFill>
            </p:spPr>
            <p:txBody>
              <a:bodyPr/>
              <a:lstStyle/>
              <a:p>
                <a:r>
                  <a:rPr lang="zh-CN" altLang="en-US">
                    <a:noFill/>
                  </a:rPr>
                  <a:t> </a:t>
                </a:r>
              </a:p>
            </p:txBody>
          </p:sp>
        </mc:Fallback>
      </mc:AlternateContent>
      <p:sp>
        <p:nvSpPr>
          <p:cNvPr id="24" name="矩形 23"/>
          <p:cNvSpPr/>
          <p:nvPr/>
        </p:nvSpPr>
        <p:spPr>
          <a:xfrm>
            <a:off x="513450" y="4731990"/>
            <a:ext cx="3298649" cy="400110"/>
          </a:xfrm>
          <a:prstGeom prst="rect">
            <a:avLst/>
          </a:prstGeom>
        </p:spPr>
        <p:txBody>
          <a:bodyPr wrap="square">
            <a:spAutoFit/>
          </a:bodyPr>
          <a:lstStyle/>
          <a:p>
            <a:r>
              <a:rPr lang="zh-CN" altLang="zh-CN" sz="1000" dirty="0">
                <a:ea typeface="等线" panose="02010600030101010101" pitchFamily="2" charset="-122"/>
                <a:cs typeface="Times New Roman" panose="02020603050405020304" pitchFamily="18" charset="0"/>
              </a:rPr>
              <a:t>其中：</a:t>
            </a:r>
            <a:r>
              <a:rPr lang="en-US" altLang="zh-CN" sz="1000" dirty="0">
                <a:ea typeface="等线" panose="02010600030101010101" pitchFamily="2" charset="-122"/>
                <a:cs typeface="Times New Roman" panose="02020603050405020304" pitchFamily="18" charset="0"/>
              </a:rPr>
              <a:t>L1=0.408m</a:t>
            </a:r>
            <a:r>
              <a:rPr lang="zh-CN" altLang="zh-CN" sz="1000" dirty="0">
                <a:ea typeface="等线" panose="02010600030101010101" pitchFamily="2" charset="-122"/>
                <a:cs typeface="Times New Roman" panose="02020603050405020304" pitchFamily="18" charset="0"/>
              </a:rPr>
              <a:t>，</a:t>
            </a:r>
            <a:r>
              <a:rPr lang="en-US" altLang="zh-CN" sz="1000" dirty="0">
                <a:ea typeface="等线" panose="02010600030101010101" pitchFamily="2" charset="-122"/>
                <a:cs typeface="Times New Roman" panose="02020603050405020304" pitchFamily="18" charset="0"/>
              </a:rPr>
              <a:t>L2=0.376m</a:t>
            </a:r>
            <a:r>
              <a:rPr lang="zh-CN" altLang="zh-CN" sz="1000" dirty="0">
                <a:ea typeface="等线" panose="02010600030101010101" pitchFamily="2" charset="-122"/>
                <a:cs typeface="Times New Roman" panose="02020603050405020304" pitchFamily="18" charset="0"/>
              </a:rPr>
              <a:t>，</a:t>
            </a:r>
            <a:r>
              <a:rPr lang="en-US" altLang="zh-CN" sz="1000" dirty="0">
                <a:ea typeface="等线" panose="02010600030101010101" pitchFamily="2" charset="-122"/>
                <a:cs typeface="Times New Roman" panose="02020603050405020304" pitchFamily="18" charset="0"/>
              </a:rPr>
              <a:t>W1=0.1215m</a:t>
            </a:r>
            <a:r>
              <a:rPr lang="zh-CN" altLang="zh-CN" sz="1000" dirty="0">
                <a:ea typeface="等线" panose="02010600030101010101" pitchFamily="2" charset="-122"/>
                <a:cs typeface="Times New Roman" panose="02020603050405020304" pitchFamily="18" charset="0"/>
              </a:rPr>
              <a:t>，</a:t>
            </a:r>
            <a:r>
              <a:rPr lang="en-US" altLang="zh-CN" sz="1000" dirty="0">
                <a:ea typeface="等线" panose="02010600030101010101" pitchFamily="2" charset="-122"/>
                <a:cs typeface="Times New Roman" panose="02020603050405020304" pitchFamily="18" charset="0"/>
              </a:rPr>
              <a:t>W2=0.094m</a:t>
            </a:r>
            <a:r>
              <a:rPr lang="zh-CN" altLang="zh-CN" sz="1000" dirty="0">
                <a:ea typeface="等线" panose="02010600030101010101" pitchFamily="2" charset="-122"/>
                <a:cs typeface="Times New Roman" panose="02020603050405020304" pitchFamily="18" charset="0"/>
              </a:rPr>
              <a:t>，</a:t>
            </a:r>
            <a:r>
              <a:rPr lang="en-US" altLang="zh-CN" sz="1000" dirty="0">
                <a:ea typeface="等线" panose="02010600030101010101" pitchFamily="2" charset="-122"/>
                <a:cs typeface="Times New Roman" panose="02020603050405020304" pitchFamily="18" charset="0"/>
              </a:rPr>
              <a:t>H1=0.0985m, H2=0.1025m</a:t>
            </a:r>
            <a:r>
              <a:rPr lang="zh-CN" altLang="zh-CN" sz="1000" dirty="0">
                <a:ea typeface="等线" panose="02010600030101010101" pitchFamily="2" charset="-122"/>
                <a:cs typeface="Times New Roman" panose="02020603050405020304" pitchFamily="18" charset="0"/>
              </a:rPr>
              <a:t>。</a:t>
            </a:r>
            <a:endParaRPr lang="zh-CN" altLang="en-US" sz="1000" dirty="0"/>
          </a:p>
        </p:txBody>
      </p:sp>
    </p:spTree>
    <p:extLst>
      <p:ext uri="{BB962C8B-B14F-4D97-AF65-F5344CB8AC3E}">
        <p14:creationId xmlns:p14="http://schemas.microsoft.com/office/powerpoint/2010/main" val="101563302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Quaternion method</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四元数法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文本框 2"/>
          <p:cNvSpPr txBox="1"/>
          <p:nvPr/>
        </p:nvSpPr>
        <p:spPr>
          <a:xfrm>
            <a:off x="2815107" y="523240"/>
            <a:ext cx="3313728" cy="400110"/>
          </a:xfrm>
          <a:prstGeom prst="rect">
            <a:avLst/>
          </a:prstGeom>
          <a:noFill/>
        </p:spPr>
        <p:txBody>
          <a:bodyPr wrap="none" rtlCol="0">
            <a:spAutoFit/>
          </a:bodyPr>
          <a:lstStyle/>
          <a:p>
            <a:r>
              <a:rPr lang="en-US" altLang="zh-CN" sz="2000" dirty="0" smtClean="0">
                <a:solidFill>
                  <a:srgbClr val="002060"/>
                </a:solidFill>
              </a:rPr>
              <a:t>Aubo-i5</a:t>
            </a:r>
            <a:r>
              <a:rPr lang="zh-CN" altLang="en-US" sz="2000" dirty="0" smtClean="0">
                <a:solidFill>
                  <a:srgbClr val="002060"/>
                </a:solidFill>
              </a:rPr>
              <a:t>求正解四元数法实例</a:t>
            </a:r>
            <a:endParaRPr lang="zh-CN" altLang="en-US" sz="2000" dirty="0">
              <a:solidFill>
                <a:srgbClr val="002060"/>
              </a:solidFill>
            </a:endParaRPr>
          </a:p>
        </p:txBody>
      </p:sp>
      <p:graphicFrame>
        <p:nvGraphicFramePr>
          <p:cNvPr id="20" name="对象 19"/>
          <p:cNvGraphicFramePr>
            <a:graphicFrameLocks noChangeAspect="1"/>
          </p:cNvGraphicFramePr>
          <p:nvPr/>
        </p:nvGraphicFramePr>
        <p:xfrm>
          <a:off x="539552" y="1214459"/>
          <a:ext cx="3272547" cy="2700028"/>
        </p:xfrm>
        <a:graphic>
          <a:graphicData uri="http://schemas.openxmlformats.org/presentationml/2006/ole">
            <mc:AlternateContent xmlns:mc="http://schemas.openxmlformats.org/markup-compatibility/2006">
              <mc:Choice xmlns:v="urn:schemas-microsoft-com:vml" Requires="v">
                <p:oleObj spid="_x0000_s19558" name="Visio" r:id="rId4" imgW="6790500" imgH="5599891" progId="Visio.Drawing.11">
                  <p:embed/>
                </p:oleObj>
              </mc:Choice>
              <mc:Fallback>
                <p:oleObj name="Visio" r:id="rId4" imgW="6790500" imgH="5599891" progId="Visio.Drawing.11">
                  <p:embed/>
                  <p:pic>
                    <p:nvPicPr>
                      <p:cNvPr id="20" name="对象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552" y="1214459"/>
                        <a:ext cx="3272547" cy="2700028"/>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8" name="矩形 7"/>
              <p:cNvSpPr/>
              <p:nvPr/>
            </p:nvSpPr>
            <p:spPr>
              <a:xfrm>
                <a:off x="513450" y="4034067"/>
                <a:ext cx="3298649" cy="707886"/>
              </a:xfrm>
              <a:prstGeom prst="rect">
                <a:avLst/>
              </a:prstGeom>
            </p:spPr>
            <p:txBody>
              <a:bodyPr wrap="square">
                <a:spAutoFit/>
              </a:bodyPr>
              <a:lstStyle/>
              <a:p>
                <a:r>
                  <a:rPr lang="zh-CN" altLang="zh-CN" sz="1000" dirty="0">
                    <a:ea typeface="等线" panose="02010600030101010101" pitchFamily="2" charset="-122"/>
                    <a:cs typeface="Times New Roman" panose="02020603050405020304" pitchFamily="18" charset="0"/>
                  </a:rPr>
                  <a:t>已知初始状态如图</a:t>
                </a:r>
                <a:r>
                  <a:rPr lang="en-US" altLang="zh-CN" sz="1000" dirty="0">
                    <a:ea typeface="等线" panose="02010600030101010101" pitchFamily="2" charset="-122"/>
                    <a:cs typeface="Times New Roman" panose="02020603050405020304" pitchFamily="18" charset="0"/>
                  </a:rPr>
                  <a:t>3.19</a:t>
                </a:r>
                <a:r>
                  <a:rPr lang="zh-CN" altLang="zh-CN" sz="1000" dirty="0">
                    <a:ea typeface="等线" panose="02010600030101010101" pitchFamily="2" charset="-122"/>
                    <a:cs typeface="Times New Roman" panose="02020603050405020304" pitchFamily="18" charset="0"/>
                  </a:rPr>
                  <a:t>所示</a:t>
                </a:r>
                <a:r>
                  <a:rPr lang="zh-CN" altLang="zh-CN" sz="1000" dirty="0" smtClean="0">
                    <a:ea typeface="等线" panose="02010600030101010101" pitchFamily="2" charset="-122"/>
                    <a:cs typeface="Times New Roman" panose="02020603050405020304" pitchFamily="18" charset="0"/>
                  </a:rPr>
                  <a:t>，</a:t>
                </a:r>
                <a:r>
                  <a:rPr lang="zh-CN" altLang="en-US" sz="1000" dirty="0" smtClean="0">
                    <a:ea typeface="等线" panose="02010600030101010101" pitchFamily="2" charset="-122"/>
                    <a:cs typeface="Times New Roman" panose="02020603050405020304" pitchFamily="18" charset="0"/>
                  </a:rPr>
                  <a:t>现在让</a:t>
                </a:r>
                <a:r>
                  <a:rPr lang="zh-CN" altLang="zh-CN" sz="1000" dirty="0" smtClean="0">
                    <a:ea typeface="等线" panose="02010600030101010101" pitchFamily="2" charset="-122"/>
                    <a:cs typeface="Times New Roman" panose="02020603050405020304" pitchFamily="18" charset="0"/>
                  </a:rPr>
                  <a:t>第二</a:t>
                </a:r>
                <a:r>
                  <a:rPr lang="zh-CN" altLang="zh-CN" sz="1000" dirty="0">
                    <a:ea typeface="等线" panose="02010600030101010101" pitchFamily="2" charset="-122"/>
                    <a:cs typeface="Times New Roman" panose="02020603050405020304" pitchFamily="18" charset="0"/>
                  </a:rPr>
                  <a:t>轴旋转</a:t>
                </a:r>
                <a:r>
                  <a:rPr lang="en-US" altLang="zh-CN" sz="1000" dirty="0">
                    <a:ea typeface="等线" panose="02010600030101010101" pitchFamily="2" charset="-122"/>
                    <a:cs typeface="Times New Roman" panose="02020603050405020304" pitchFamily="18" charset="0"/>
                  </a:rPr>
                  <a:t>-90</a:t>
                </a:r>
                <a:r>
                  <a:rPr lang="zh-CN" altLang="zh-CN" sz="1000" dirty="0">
                    <a:ea typeface="等线" panose="02010600030101010101" pitchFamily="2" charset="-122"/>
                    <a:cs typeface="Times New Roman" panose="02020603050405020304" pitchFamily="18" charset="0"/>
                  </a:rPr>
                  <a:t>度，第四轴旋转</a:t>
                </a:r>
                <a:r>
                  <a:rPr lang="en-US" altLang="zh-CN" sz="1000" dirty="0">
                    <a:ea typeface="等线" panose="02010600030101010101" pitchFamily="2" charset="-122"/>
                    <a:cs typeface="Times New Roman" panose="02020603050405020304" pitchFamily="18" charset="0"/>
                  </a:rPr>
                  <a:t>-90</a:t>
                </a:r>
                <a:r>
                  <a:rPr lang="zh-CN" altLang="zh-CN" sz="1000" dirty="0">
                    <a:ea typeface="等线" panose="02010600030101010101" pitchFamily="2" charset="-122"/>
                    <a:cs typeface="Times New Roman" panose="02020603050405020304" pitchFamily="18" charset="0"/>
                  </a:rPr>
                  <a:t>度，其余轴旋转</a:t>
                </a:r>
                <a:r>
                  <a:rPr lang="en-US" altLang="zh-CN" sz="1000" dirty="0">
                    <a:ea typeface="等线" panose="02010600030101010101" pitchFamily="2" charset="-122"/>
                    <a:cs typeface="Times New Roman" panose="02020603050405020304" pitchFamily="18" charset="0"/>
                  </a:rPr>
                  <a:t>0</a:t>
                </a:r>
                <a:r>
                  <a:rPr lang="zh-CN" altLang="zh-CN" sz="1000" dirty="0">
                    <a:ea typeface="等线" panose="02010600030101010101" pitchFamily="2" charset="-122"/>
                    <a:cs typeface="Times New Roman" panose="02020603050405020304" pitchFamily="18" charset="0"/>
                  </a:rPr>
                  <a:t>度：</a:t>
                </a:r>
                <a14:m>
                  <m:oMath xmlns:m="http://schemas.openxmlformats.org/officeDocument/2006/math">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sz="1000" dirty="0">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1000" i="1">
                        <a:latin typeface="Cambria Math" panose="02040503050406030204" pitchFamily="18" charset="0"/>
                        <a:ea typeface="等线" panose="02010600030101010101" pitchFamily="2" charset="-122"/>
                        <a:cs typeface="Times New Roman" panose="02020603050405020304" pitchFamily="18" charset="0"/>
                      </a:rPr>
                      <m:t>=−</m:t>
                    </m:r>
                    <m:r>
                      <a:rPr lang="en-US" altLang="zh-CN" sz="1000" i="1">
                        <a:latin typeface="Cambria Math" panose="02040503050406030204" pitchFamily="18" charset="0"/>
                        <a:ea typeface="等线" panose="02010600030101010101" pitchFamily="2" charset="-122"/>
                        <a:cs typeface="Times New Roman" panose="02020603050405020304" pitchFamily="18" charset="0"/>
                      </a:rPr>
                      <m:t>𝜋</m:t>
                    </m:r>
                    <m:r>
                      <a:rPr lang="en-US" altLang="zh-CN" sz="1000" i="1">
                        <a:latin typeface="Cambria Math" panose="02040503050406030204" pitchFamily="18" charset="0"/>
                        <a:ea typeface="等线" panose="02010600030101010101" pitchFamily="2" charset="-122"/>
                        <a:cs typeface="Times New Roman" panose="02020603050405020304" pitchFamily="18" charset="0"/>
                      </a:rPr>
                      <m:t>/2</m:t>
                    </m:r>
                  </m:oMath>
                </a14:m>
                <a:r>
                  <a:rPr lang="zh-CN" altLang="zh-CN" sz="1000" dirty="0">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3</m:t>
                        </m:r>
                      </m:sub>
                    </m:sSub>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sz="1000" dirty="0">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4</m:t>
                        </m:r>
                      </m:sub>
                    </m:sSub>
                    <m:r>
                      <a:rPr lang="en-US" altLang="zh-CN" sz="1000" i="1">
                        <a:latin typeface="Cambria Math" panose="02040503050406030204" pitchFamily="18" charset="0"/>
                        <a:ea typeface="等线" panose="02010600030101010101" pitchFamily="2" charset="-122"/>
                        <a:cs typeface="Times New Roman" panose="02020603050405020304" pitchFamily="18" charset="0"/>
                      </a:rPr>
                      <m:t>=−</m:t>
                    </m:r>
                    <m:r>
                      <a:rPr lang="en-US" altLang="zh-CN" sz="1000" i="1">
                        <a:latin typeface="Cambria Math" panose="02040503050406030204" pitchFamily="18" charset="0"/>
                        <a:ea typeface="等线" panose="02010600030101010101" pitchFamily="2" charset="-122"/>
                        <a:cs typeface="Times New Roman" panose="02020603050405020304" pitchFamily="18" charset="0"/>
                      </a:rPr>
                      <m:t>𝜋</m:t>
                    </m:r>
                    <m:r>
                      <a:rPr lang="en-US" altLang="zh-CN" sz="1000" i="1">
                        <a:latin typeface="Cambria Math" panose="02040503050406030204" pitchFamily="18" charset="0"/>
                        <a:ea typeface="等线" panose="02010600030101010101" pitchFamily="2" charset="-122"/>
                        <a:cs typeface="Times New Roman" panose="02020603050405020304" pitchFamily="18" charset="0"/>
                      </a:rPr>
                      <m:t>/2</m:t>
                    </m:r>
                  </m:oMath>
                </a14:m>
                <a:r>
                  <a:rPr lang="zh-CN" altLang="zh-CN" sz="1000" dirty="0">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5</m:t>
                        </m:r>
                      </m:sub>
                    </m:sSub>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sz="1000" dirty="0">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6</m:t>
                        </m:r>
                      </m:sub>
                    </m:sSub>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sz="1000" dirty="0">
                    <a:ea typeface="等线" panose="02010600030101010101" pitchFamily="2" charset="-122"/>
                    <a:cs typeface="Times New Roman" panose="02020603050405020304" pitchFamily="18" charset="0"/>
                  </a:rPr>
                  <a:t>，求各轴旋转之后</a:t>
                </a:r>
                <a:r>
                  <a:rPr lang="en-US" altLang="zh-CN" sz="1000" dirty="0">
                    <a:ea typeface="等线" panose="02010600030101010101" pitchFamily="2" charset="-122"/>
                    <a:cs typeface="Times New Roman" panose="02020603050405020304" pitchFamily="18" charset="0"/>
                  </a:rPr>
                  <a:t>TCP</a:t>
                </a:r>
                <a:r>
                  <a:rPr lang="zh-CN" altLang="zh-CN" sz="1000" dirty="0">
                    <a:ea typeface="等线" panose="02010600030101010101" pitchFamily="2" charset="-122"/>
                    <a:cs typeface="Times New Roman" panose="02020603050405020304" pitchFamily="18" charset="0"/>
                  </a:rPr>
                  <a:t>的位姿。</a:t>
                </a:r>
                <a:endParaRPr lang="zh-CN" altLang="en-US" sz="1000" dirty="0"/>
              </a:p>
            </p:txBody>
          </p:sp>
        </mc:Choice>
        <mc:Fallback xmlns="">
          <p:sp>
            <p:nvSpPr>
              <p:cNvPr id="8" name="矩形 7"/>
              <p:cNvSpPr>
                <a:spLocks noRot="1" noChangeAspect="1" noMove="1" noResize="1" noEditPoints="1" noAdjustHandles="1" noChangeArrowheads="1" noChangeShapeType="1" noTextEdit="1"/>
              </p:cNvSpPr>
              <p:nvPr/>
            </p:nvSpPr>
            <p:spPr>
              <a:xfrm>
                <a:off x="513450" y="4034067"/>
                <a:ext cx="3298649" cy="707886"/>
              </a:xfrm>
              <a:prstGeom prst="rect">
                <a:avLst/>
              </a:prstGeom>
              <a:blipFill>
                <a:blip r:embed="rId6"/>
                <a:stretch>
                  <a:fillRect r="-3512" b="-34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3995936" y="956250"/>
                <a:ext cx="4572000" cy="386644"/>
              </a:xfrm>
              <a:prstGeom prst="rect">
                <a:avLst/>
              </a:prstGeom>
            </p:spPr>
            <p:txBody>
              <a:bodyPr>
                <a:spAutoFit/>
              </a:bodyPr>
              <a:lstStyle/>
              <a:p>
                <a:r>
                  <a:rPr lang="zh-CN" altLang="zh-CN" sz="1200" dirty="0">
                    <a:ea typeface="等线" panose="02010600030101010101" pitchFamily="2" charset="-122"/>
                    <a:cs typeface="Times New Roman" panose="02020603050405020304" pitchFamily="18" charset="0"/>
                  </a:rPr>
                  <a:t>已知初始姿态对应四元数为</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𝑙</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𝑜</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200" i="1">
                            <a:effectLst/>
                            <a:latin typeface="Cambria Math" panose="02040503050406030204" pitchFamily="18" charset="0"/>
                            <a:ea typeface="Cambria Math" panose="02040503050406030204" pitchFamily="18" charset="0"/>
                          </a:rPr>
                        </m:ctrlPr>
                      </m:fPr>
                      <m:num>
                        <m:rad>
                          <m:radPr>
                            <m:degHide m:val="on"/>
                            <m:ctrlPr>
                              <a:rPr lang="zh-CN" altLang="zh-CN" sz="1200" i="1">
                                <a:effectLst/>
                                <a:latin typeface="Cambria Math" panose="02040503050406030204" pitchFamily="18" charset="0"/>
                                <a:ea typeface="Cambria Math" panose="02040503050406030204" pitchFamily="18" charset="0"/>
                              </a:rPr>
                            </m:ctrlPr>
                          </m:radPr>
                          <m:deg/>
                          <m:e>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e>
                        </m:rad>
                      </m:num>
                      <m:den>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den>
                    </m:f>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200" i="1">
                            <a:effectLst/>
                            <a:latin typeface="Cambria Math" panose="02040503050406030204" pitchFamily="18" charset="0"/>
                            <a:ea typeface="Cambria Math" panose="02040503050406030204" pitchFamily="18" charset="0"/>
                          </a:rPr>
                        </m:ctrlPr>
                      </m:fPr>
                      <m:num>
                        <m:rad>
                          <m:radPr>
                            <m:degHide m:val="on"/>
                            <m:ctrlPr>
                              <a:rPr lang="zh-CN" altLang="zh-CN" sz="1200" i="1">
                                <a:effectLst/>
                                <a:latin typeface="Cambria Math" panose="02040503050406030204" pitchFamily="18" charset="0"/>
                                <a:ea typeface="Cambria Math" panose="02040503050406030204" pitchFamily="18" charset="0"/>
                              </a:rPr>
                            </m:ctrlPr>
                          </m:radPr>
                          <m:deg/>
                          <m:e>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e>
                        </m:rad>
                      </m:num>
                      <m:den>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den>
                    </m:f>
                  </m:oMath>
                </a14:m>
                <a:r>
                  <a:rPr lang="en-US" altLang="zh-CN" sz="1200" dirty="0">
                    <a:latin typeface="等线" panose="02010600030101010101" pitchFamily="2" charset="-122"/>
                    <a:cs typeface="Times New Roman" panose="02020603050405020304" pitchFamily="18" charset="0"/>
                  </a:rPr>
                  <a:t>,0,0)</a:t>
                </a:r>
                <a:r>
                  <a:rPr lang="zh-CN" altLang="zh-CN" sz="1200" dirty="0">
                    <a:ea typeface="等线" panose="02010600030101010101" pitchFamily="2" charset="-122"/>
                    <a:cs typeface="Times New Roman" panose="02020603050405020304" pitchFamily="18" charset="0"/>
                  </a:rPr>
                  <a:t>，对应矩阵</a:t>
                </a:r>
                <a:r>
                  <a:rPr lang="en-US" altLang="zh-CN" sz="1200" dirty="0">
                    <a:ea typeface="等线" panose="02010600030101010101" pitchFamily="2" charset="-122"/>
                    <a:cs typeface="Times New Roman" panose="02020603050405020304" pitchFamily="18" charset="0"/>
                  </a:rPr>
                  <a:t>R</a:t>
                </a:r>
                <a:r>
                  <a:rPr lang="zh-CN" altLang="zh-CN" sz="1200" dirty="0">
                    <a:ea typeface="等线" panose="02010600030101010101" pitchFamily="2" charset="-122"/>
                    <a:cs typeface="Times New Roman" panose="02020603050405020304" pitchFamily="18" charset="0"/>
                  </a:rPr>
                  <a:t>为：</a:t>
                </a:r>
                <a:endParaRPr lang="zh-CN" altLang="en-US" sz="1200" dirty="0"/>
              </a:p>
            </p:txBody>
          </p:sp>
        </mc:Choice>
        <mc:Fallback xmlns="">
          <p:sp>
            <p:nvSpPr>
              <p:cNvPr id="2" name="矩形 1"/>
              <p:cNvSpPr>
                <a:spLocks noRot="1" noChangeAspect="1" noMove="1" noResize="1" noEditPoints="1" noAdjustHandles="1" noChangeArrowheads="1" noChangeShapeType="1" noTextEdit="1"/>
              </p:cNvSpPr>
              <p:nvPr/>
            </p:nvSpPr>
            <p:spPr>
              <a:xfrm>
                <a:off x="3995936" y="956250"/>
                <a:ext cx="4572000" cy="386644"/>
              </a:xfrm>
              <a:prstGeom prst="rect">
                <a:avLst/>
              </a:prstGeom>
              <a:blipFill>
                <a:blip r:embed="rId7"/>
                <a:stretch>
                  <a:fillRect l="-133" b="-31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4917440" y="1359737"/>
                <a:ext cx="1323952" cy="5807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200" i="1">
                          <a:latin typeface="Cambria Math" panose="02040503050406030204" pitchFamily="18" charset="0"/>
                        </a:rPr>
                        <m:t>𝑅</m:t>
                      </m:r>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3"/>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1</m:t>
                                </m:r>
                              </m:e>
                              <m:e>
                                <m:r>
                                  <a:rPr lang="zh-CN" altLang="en-US" sz="1200" i="0">
                                    <a:latin typeface="Cambria Math" panose="02040503050406030204" pitchFamily="18" charset="0"/>
                                  </a:rPr>
                                  <m:t>0</m:t>
                                </m:r>
                              </m:e>
                              <m:e>
                                <m:r>
                                  <a:rPr lang="zh-CN" altLang="en-US" sz="1200" i="0">
                                    <a:latin typeface="Cambria Math" panose="02040503050406030204" pitchFamily="18" charset="0"/>
                                  </a:rPr>
                                  <m:t>0</m:t>
                                </m:r>
                              </m:e>
                            </m:mr>
                            <m:mr>
                              <m:e>
                                <m:r>
                                  <a:rPr lang="zh-CN" altLang="en-US" sz="1200" i="0">
                                    <a:latin typeface="Cambria Math" panose="02040503050406030204" pitchFamily="18" charset="0"/>
                                  </a:rPr>
                                  <m:t>0</m:t>
                                </m:r>
                              </m:e>
                              <m:e>
                                <m:r>
                                  <a:rPr lang="zh-CN" altLang="en-US" sz="1200" i="0">
                                    <a:latin typeface="Cambria Math" panose="02040503050406030204" pitchFamily="18" charset="0"/>
                                  </a:rPr>
                                  <m:t>0</m:t>
                                </m:r>
                              </m:e>
                              <m:e>
                                <m:r>
                                  <a:rPr lang="zh-CN" altLang="en-US" sz="1200" i="0">
                                    <a:latin typeface="Cambria Math" panose="02040503050406030204" pitchFamily="18" charset="0"/>
                                  </a:rPr>
                                  <m:t>−1</m:t>
                                </m:r>
                              </m:e>
                            </m:mr>
                            <m:mr>
                              <m:e>
                                <m:r>
                                  <a:rPr lang="zh-CN" altLang="en-US" sz="1200" i="0">
                                    <a:latin typeface="Cambria Math" panose="02040503050406030204" pitchFamily="18" charset="0"/>
                                  </a:rPr>
                                  <m:t>0</m:t>
                                </m:r>
                              </m:e>
                              <m:e>
                                <m:r>
                                  <a:rPr lang="zh-CN" altLang="en-US" sz="1200" i="0">
                                    <a:latin typeface="Cambria Math" panose="02040503050406030204" pitchFamily="18" charset="0"/>
                                  </a:rPr>
                                  <m:t>1</m:t>
                                </m:r>
                              </m:e>
                              <m:e>
                                <m:r>
                                  <a:rPr lang="zh-CN" altLang="en-US" sz="1200" i="0">
                                    <a:latin typeface="Cambria Math" panose="02040503050406030204" pitchFamily="18" charset="0"/>
                                  </a:rPr>
                                  <m:t>0</m:t>
                                </m:r>
                              </m:e>
                            </m:mr>
                          </m:m>
                        </m:e>
                      </m:d>
                    </m:oMath>
                  </m:oMathPara>
                </a14:m>
                <a:endParaRPr lang="zh-CN" altLang="en-US" sz="1200" dirty="0"/>
              </a:p>
            </p:txBody>
          </p:sp>
        </mc:Choice>
        <mc:Fallback xmlns="">
          <p:sp>
            <p:nvSpPr>
              <p:cNvPr id="10" name="矩形 9"/>
              <p:cNvSpPr>
                <a:spLocks noRot="1" noChangeAspect="1" noMove="1" noResize="1" noEditPoints="1" noAdjustHandles="1" noChangeArrowheads="1" noChangeShapeType="1" noTextEdit="1"/>
              </p:cNvSpPr>
              <p:nvPr/>
            </p:nvSpPr>
            <p:spPr>
              <a:xfrm>
                <a:off x="4917440" y="1359737"/>
                <a:ext cx="1323952" cy="580736"/>
              </a:xfrm>
              <a:prstGeom prst="rect">
                <a:avLst/>
              </a:prstGeom>
              <a:blipFill>
                <a:blip r:embed="rId8"/>
                <a:stretch>
                  <a:fillRect b="-21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3995936" y="1924710"/>
                <a:ext cx="2949525" cy="276999"/>
              </a:xfrm>
              <a:prstGeom prst="rect">
                <a:avLst/>
              </a:prstGeom>
            </p:spPr>
            <p:txBody>
              <a:bodyPr wrap="none">
                <a:spAutoFit/>
              </a:bodyPr>
              <a:lstStyle/>
              <a:p>
                <a:r>
                  <a:rPr lang="zh-CN" altLang="zh-CN" sz="1200">
                    <a:ea typeface="等线" panose="02010600030101010101" pitchFamily="2" charset="-122"/>
                    <a:cs typeface="Times New Roman" panose="02020603050405020304" pitchFamily="18" charset="0"/>
                  </a:rPr>
                  <a:t>经过旋转之后，对应旋转姿态矩阵</a:t>
                </a:r>
                <a14:m>
                  <m:oMath xmlns:m="http://schemas.openxmlformats.org/officeDocument/2006/math">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𝑅</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up>
                    </m:sSup>
                  </m:oMath>
                </a14:m>
                <a:r>
                  <a:rPr lang="zh-CN" altLang="zh-CN" sz="1200" dirty="0">
                    <a:ea typeface="等线" panose="02010600030101010101" pitchFamily="2" charset="-122"/>
                    <a:cs typeface="Times New Roman" panose="02020603050405020304" pitchFamily="18" charset="0"/>
                  </a:rPr>
                  <a:t>为：</a:t>
                </a:r>
                <a:endParaRPr lang="zh-CN" altLang="en-US" sz="1200" dirty="0"/>
              </a:p>
            </p:txBody>
          </p:sp>
        </mc:Choice>
        <mc:Fallback xmlns="">
          <p:sp>
            <p:nvSpPr>
              <p:cNvPr id="11" name="矩形 10"/>
              <p:cNvSpPr>
                <a:spLocks noRot="1" noChangeAspect="1" noMove="1" noResize="1" noEditPoints="1" noAdjustHandles="1" noChangeArrowheads="1" noChangeShapeType="1" noTextEdit="1"/>
              </p:cNvSpPr>
              <p:nvPr/>
            </p:nvSpPr>
            <p:spPr>
              <a:xfrm>
                <a:off x="3995936" y="1924710"/>
                <a:ext cx="2949525" cy="276999"/>
              </a:xfrm>
              <a:prstGeom prst="rect">
                <a:avLst/>
              </a:prstGeom>
              <a:blipFill>
                <a:blip r:embed="rId9"/>
                <a:stretch>
                  <a:fillRect l="-207" t="-2222" b="-17778"/>
                </a:stretch>
              </a:blipFill>
            </p:spPr>
            <p:txBody>
              <a:bodyPr/>
              <a:lstStyle/>
              <a:p>
                <a:r>
                  <a:rPr lang="zh-CN" altLang="en-US">
                    <a:noFill/>
                  </a:rPr>
                  <a:t> </a:t>
                </a:r>
              </a:p>
            </p:txBody>
          </p:sp>
        </mc:Fallback>
      </mc:AlternateContent>
      <p:sp>
        <p:nvSpPr>
          <p:cNvPr id="16" name="矩形 15"/>
          <p:cNvSpPr/>
          <p:nvPr/>
        </p:nvSpPr>
        <p:spPr>
          <a:xfrm>
            <a:off x="3955392" y="3022625"/>
            <a:ext cx="4572000" cy="276999"/>
          </a:xfrm>
          <a:prstGeom prst="rect">
            <a:avLst/>
          </a:prstGeom>
        </p:spPr>
        <p:txBody>
          <a:bodyPr>
            <a:spAutoFit/>
          </a:bodyPr>
          <a:lstStyle/>
          <a:p>
            <a:r>
              <a:rPr lang="zh-CN" altLang="zh-CN" sz="1200">
                <a:ea typeface="等线" panose="02010600030101010101" pitchFamily="2" charset="-122"/>
                <a:cs typeface="Times New Roman" panose="02020603050405020304" pitchFamily="18" charset="0"/>
              </a:rPr>
              <a:t>从图</a:t>
            </a:r>
            <a:r>
              <a:rPr lang="en-US" altLang="zh-CN" sz="1200" dirty="0">
                <a:ea typeface="等线" panose="02010600030101010101" pitchFamily="2" charset="-122"/>
                <a:cs typeface="Times New Roman" panose="02020603050405020304" pitchFamily="18" charset="0"/>
              </a:rPr>
              <a:t>3-19</a:t>
            </a:r>
            <a:r>
              <a:rPr lang="zh-CN" altLang="zh-CN" sz="1200" dirty="0">
                <a:ea typeface="等线" panose="02010600030101010101" pitchFamily="2" charset="-122"/>
                <a:cs typeface="Times New Roman" panose="02020603050405020304" pitchFamily="18" charset="0"/>
              </a:rPr>
              <a:t>已知</a:t>
            </a:r>
            <a:r>
              <a:rPr lang="en-US" altLang="zh-CN" sz="1200" dirty="0">
                <a:ea typeface="等线" panose="02010600030101010101" pitchFamily="2" charset="-122"/>
                <a:cs typeface="Times New Roman" panose="02020603050405020304" pitchFamily="18" charset="0"/>
              </a:rPr>
              <a:t>TCP</a:t>
            </a:r>
            <a:r>
              <a:rPr lang="zh-CN" altLang="zh-CN" sz="1200" dirty="0">
                <a:ea typeface="等线" panose="02010600030101010101" pitchFamily="2" charset="-122"/>
                <a:cs typeface="Times New Roman" panose="02020603050405020304" pitchFamily="18" charset="0"/>
              </a:rPr>
              <a:t>初始位置为：</a:t>
            </a:r>
            <a:r>
              <a:rPr lang="en-US" altLang="zh-CN" sz="1200" dirty="0">
                <a:ea typeface="等线" panose="02010600030101010101" pitchFamily="2" charset="-122"/>
                <a:cs typeface="Times New Roman" panose="02020603050405020304" pitchFamily="18" charset="0"/>
              </a:rPr>
              <a:t>(-0.784,-0.2155,-0.004),</a:t>
            </a:r>
            <a:r>
              <a:rPr lang="zh-CN" altLang="zh-CN" sz="1200" dirty="0">
                <a:ea typeface="等线" panose="02010600030101010101" pitchFamily="2" charset="-122"/>
                <a:cs typeface="Times New Roman" panose="02020603050405020304" pitchFamily="18" charset="0"/>
              </a:rPr>
              <a:t>所以：</a:t>
            </a:r>
            <a:endParaRPr lang="zh-CN" altLang="en-US" sz="1200" dirty="0"/>
          </a:p>
        </p:txBody>
      </p:sp>
      <mc:AlternateContent xmlns:mc="http://schemas.openxmlformats.org/markup-compatibility/2006" xmlns:a14="http://schemas.microsoft.com/office/drawing/2010/main">
        <mc:Choice Requires="a14">
          <p:sp>
            <p:nvSpPr>
              <p:cNvPr id="17" name="矩形 16"/>
              <p:cNvSpPr/>
              <p:nvPr/>
            </p:nvSpPr>
            <p:spPr>
              <a:xfrm>
                <a:off x="3997484" y="3295582"/>
                <a:ext cx="2578847" cy="3045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𝑝</m:t>
                              </m:r>
                            </m:e>
                            <m:sub>
                              <m:r>
                                <a:rPr lang="zh-CN" altLang="en-US" sz="1200" i="1">
                                  <a:latin typeface="Cambria Math" panose="02040503050406030204" pitchFamily="18" charset="0"/>
                                </a:rPr>
                                <m:t>𝑒𝑝</m:t>
                              </m:r>
                            </m:sub>
                          </m:sSub>
                          <m:r>
                            <a:rPr lang="zh-CN" altLang="en-US" sz="1200" i="0">
                              <a:latin typeface="Cambria Math" panose="02040503050406030204" pitchFamily="18" charset="0"/>
                            </a:rPr>
                            <m:t>=(0,−0.784,−0.2155,−0.004</m:t>
                          </m:r>
                        </m:e>
                      </m:d>
                    </m:oMath>
                  </m:oMathPara>
                </a14:m>
                <a:endParaRPr lang="zh-CN" altLang="en-US" sz="1200" dirty="0"/>
              </a:p>
            </p:txBody>
          </p:sp>
        </mc:Choice>
        <mc:Fallback xmlns="">
          <p:sp>
            <p:nvSpPr>
              <p:cNvPr id="17" name="矩形 16"/>
              <p:cNvSpPr>
                <a:spLocks noRot="1" noChangeAspect="1" noMove="1" noResize="1" noEditPoints="1" noAdjustHandles="1" noChangeArrowheads="1" noChangeShapeType="1" noTextEdit="1"/>
              </p:cNvSpPr>
              <p:nvPr/>
            </p:nvSpPr>
            <p:spPr>
              <a:xfrm>
                <a:off x="3997484" y="3295582"/>
                <a:ext cx="2578847" cy="304507"/>
              </a:xfrm>
              <a:prstGeom prst="rect">
                <a:avLst/>
              </a:prstGeom>
              <a:blipFill>
                <a:blip r:embed="rId11"/>
                <a:stretch>
                  <a:fillRect t="-128000" r="-15603" b="-194000"/>
                </a:stretch>
              </a:blipFill>
            </p:spPr>
            <p:txBody>
              <a:bodyPr/>
              <a:lstStyle/>
              <a:p>
                <a:r>
                  <a:rPr lang="zh-CN" altLang="en-US">
                    <a:noFill/>
                  </a:rPr>
                  <a:t> </a:t>
                </a:r>
              </a:p>
            </p:txBody>
          </p:sp>
        </mc:Fallback>
      </mc:AlternateContent>
      <p:sp>
        <p:nvSpPr>
          <p:cNvPr id="18" name="矩形 17"/>
          <p:cNvSpPr/>
          <p:nvPr/>
        </p:nvSpPr>
        <p:spPr>
          <a:xfrm>
            <a:off x="3990806" y="3620204"/>
            <a:ext cx="2031325" cy="276999"/>
          </a:xfrm>
          <a:prstGeom prst="rect">
            <a:avLst/>
          </a:prstGeom>
        </p:spPr>
        <p:txBody>
          <a:bodyPr wrap="none">
            <a:spAutoFit/>
          </a:bodyPr>
          <a:lstStyle/>
          <a:p>
            <a:r>
              <a:rPr lang="zh-CN" altLang="zh-CN" sz="1200" dirty="0">
                <a:ea typeface="等线" panose="02010600030101010101" pitchFamily="2" charset="-122"/>
                <a:cs typeface="Times New Roman" panose="02020603050405020304" pitchFamily="18" charset="0"/>
              </a:rPr>
              <a:t>求得旋转运动后的位置为：</a:t>
            </a:r>
            <a:endParaRPr lang="zh-CN" altLang="en-US" sz="1200" dirty="0"/>
          </a:p>
        </p:txBody>
      </p:sp>
      <mc:AlternateContent xmlns:mc="http://schemas.openxmlformats.org/markup-compatibility/2006" xmlns:a14="http://schemas.microsoft.com/office/drawing/2010/main">
        <mc:Choice Requires="a14">
          <p:sp>
            <p:nvSpPr>
              <p:cNvPr id="19" name="矩形 18"/>
              <p:cNvSpPr/>
              <p:nvPr/>
            </p:nvSpPr>
            <p:spPr>
              <a:xfrm>
                <a:off x="3997484" y="3923151"/>
                <a:ext cx="4967004" cy="328167"/>
              </a:xfrm>
              <a:prstGeom prst="rect">
                <a:avLst/>
              </a:prstGeom>
            </p:spPr>
            <p:txBody>
              <a:bodyPr wrap="square">
                <a:spAutoFit/>
              </a:bodyPr>
              <a:lstStyle/>
              <a:p>
                <a14:m>
                  <m:oMath xmlns:m="http://schemas.openxmlformats.org/officeDocument/2006/math">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𝑝</m:t>
                        </m:r>
                      </m:e>
                      <m:sub>
                        <m:r>
                          <a:rPr lang="zh-CN" altLang="en-US" sz="1400" i="1">
                            <a:latin typeface="Cambria Math" panose="02040503050406030204" pitchFamily="18" charset="0"/>
                          </a:rPr>
                          <m:t>𝑒𝑝</m:t>
                        </m:r>
                        <m:r>
                          <a:rPr lang="zh-CN" altLang="en-US" sz="1400">
                            <a:latin typeface="Cambria Math" panose="02040503050406030204" pitchFamily="18" charset="0"/>
                          </a:rPr>
                          <m:t>+1</m:t>
                        </m:r>
                      </m:sub>
                    </m:sSub>
                    <m:r>
                      <a:rPr lang="zh-CN" altLang="en-US" sz="140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𝑞</m:t>
                        </m:r>
                      </m:e>
                      <m:sub>
                        <m:r>
                          <a:rPr lang="zh-CN" altLang="en-US" sz="1400">
                            <a:latin typeface="Cambria Math" panose="02040503050406030204" pitchFamily="18" charset="0"/>
                          </a:rPr>
                          <m:t>16</m:t>
                        </m:r>
                      </m:sub>
                    </m:sSub>
                    <m:nary>
                      <m:naryPr>
                        <m:chr m:val="⨂"/>
                        <m:subHide m:val="on"/>
                        <m:supHide m:val="on"/>
                        <m:ctrlPr>
                          <a:rPr lang="zh-CN" altLang="en-US" sz="1400" i="1">
                            <a:latin typeface="Cambria Math" panose="02040503050406030204" pitchFamily="18" charset="0"/>
                          </a:rPr>
                        </m:ctrlPr>
                      </m:naryPr>
                      <m:sub/>
                      <m:sup/>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𝑝</m:t>
                            </m:r>
                          </m:e>
                          <m:sub>
                            <m:r>
                              <a:rPr lang="zh-CN" altLang="en-US" sz="1400" i="1">
                                <a:latin typeface="Cambria Math" panose="02040503050406030204" pitchFamily="18" charset="0"/>
                              </a:rPr>
                              <m:t>𝑒𝑝</m:t>
                            </m:r>
                          </m:sub>
                        </m:sSub>
                      </m:e>
                    </m:nary>
                    <m:nary>
                      <m:naryPr>
                        <m:chr m:val="⨂"/>
                        <m:subHide m:val="on"/>
                        <m:supHide m:val="on"/>
                        <m:ctrlPr>
                          <a:rPr lang="zh-CN" altLang="en-US" sz="1400" i="1">
                            <a:latin typeface="Cambria Math" panose="02040503050406030204" pitchFamily="18" charset="0"/>
                          </a:rPr>
                        </m:ctrlPr>
                      </m:naryPr>
                      <m:sub/>
                      <m:sup/>
                      <m:e>
                        <m:sSup>
                          <m:sSupPr>
                            <m:ctrlPr>
                              <a:rPr lang="zh-CN" altLang="en-US" sz="1400" i="1">
                                <a:latin typeface="Cambria Math" panose="02040503050406030204" pitchFamily="18" charset="0"/>
                              </a:rPr>
                            </m:ctrlPr>
                          </m:sSupP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𝑞</m:t>
                                </m:r>
                              </m:e>
                              <m:sub>
                                <m:r>
                                  <a:rPr lang="zh-CN" altLang="en-US" sz="1400">
                                    <a:latin typeface="Cambria Math" panose="02040503050406030204" pitchFamily="18" charset="0"/>
                                  </a:rPr>
                                  <m:t>16</m:t>
                                </m:r>
                              </m:sub>
                            </m:sSub>
                          </m:e>
                          <m:sup>
                            <m:r>
                              <a:rPr lang="zh-CN" altLang="en-US" sz="1400">
                                <a:latin typeface="Cambria Math" panose="02040503050406030204" pitchFamily="18" charset="0"/>
                              </a:rPr>
                              <m:t>−1</m:t>
                            </m:r>
                          </m:sup>
                        </m:sSup>
                      </m:e>
                    </m:nary>
                    <m:r>
                      <a:rPr lang="zh-CN" altLang="en-US" sz="1400">
                        <a:latin typeface="Cambria Math" panose="02040503050406030204" pitchFamily="18" charset="0"/>
                      </a:rPr>
                      <m:t>+</m:t>
                    </m:r>
                    <m:sSup>
                      <m:sSupPr>
                        <m:ctrlPr>
                          <a:rPr lang="zh-CN" altLang="en-US" sz="1400" i="1">
                            <a:latin typeface="Cambria Math" panose="02040503050406030204" pitchFamily="18" charset="0"/>
                          </a:rPr>
                        </m:ctrlPr>
                      </m:sSupP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𝑞</m:t>
                            </m:r>
                          </m:e>
                          <m:sub>
                            <m:r>
                              <a:rPr lang="zh-CN" altLang="en-US" sz="1400">
                                <a:latin typeface="Cambria Math" panose="02040503050406030204" pitchFamily="18" charset="0"/>
                              </a:rPr>
                              <m:t>16</m:t>
                            </m:r>
                          </m:sub>
                        </m:sSub>
                      </m:e>
                      <m:sup>
                        <m:r>
                          <a:rPr lang="zh-CN" altLang="en-US" sz="1400" i="1">
                            <a:latin typeface="Cambria Math" panose="02040503050406030204" pitchFamily="18" charset="0"/>
                          </a:rPr>
                          <m:t>𝑜</m:t>
                        </m:r>
                      </m:sup>
                    </m:sSup>
                    <m:r>
                      <a:rPr lang="zh-CN" altLang="en-US" sz="1400">
                        <a:latin typeface="Cambria Math" panose="02040503050406030204" pitchFamily="18" charset="0"/>
                      </a:rPr>
                      <m:t>=(0,0,−0.2155,0.985</m:t>
                    </m:r>
                  </m:oMath>
                </a14:m>
                <a:r>
                  <a:rPr lang="en-US" altLang="zh-CN" sz="1400" dirty="0" smtClean="0"/>
                  <a:t>)</a:t>
                </a:r>
                <a:endParaRPr lang="zh-CN" altLang="en-US" sz="1400" dirty="0"/>
              </a:p>
            </p:txBody>
          </p:sp>
        </mc:Choice>
        <mc:Fallback xmlns="">
          <p:sp>
            <p:nvSpPr>
              <p:cNvPr id="19" name="矩形 18"/>
              <p:cNvSpPr>
                <a:spLocks noRot="1" noChangeAspect="1" noMove="1" noResize="1" noEditPoints="1" noAdjustHandles="1" noChangeArrowheads="1" noChangeShapeType="1" noTextEdit="1"/>
              </p:cNvSpPr>
              <p:nvPr/>
            </p:nvSpPr>
            <p:spPr>
              <a:xfrm>
                <a:off x="3997484" y="3923151"/>
                <a:ext cx="4967004" cy="328167"/>
              </a:xfrm>
              <a:prstGeom prst="rect">
                <a:avLst/>
              </a:prstGeom>
              <a:blipFill>
                <a:blip r:embed="rId12"/>
                <a:stretch>
                  <a:fillRect t="-73585" b="-118868"/>
                </a:stretch>
              </a:blipFill>
            </p:spPr>
            <p:txBody>
              <a:bodyPr/>
              <a:lstStyle/>
              <a:p>
                <a:r>
                  <a:rPr lang="zh-CN" altLang="en-US">
                    <a:noFill/>
                  </a:rPr>
                  <a:t> </a:t>
                </a:r>
              </a:p>
            </p:txBody>
          </p:sp>
        </mc:Fallback>
      </mc:AlternateContent>
      <p:sp>
        <p:nvSpPr>
          <p:cNvPr id="24" name="矩形 23"/>
          <p:cNvSpPr/>
          <p:nvPr/>
        </p:nvSpPr>
        <p:spPr>
          <a:xfrm>
            <a:off x="4017184" y="4321954"/>
            <a:ext cx="4572000" cy="523220"/>
          </a:xfrm>
          <a:prstGeom prst="rect">
            <a:avLst/>
          </a:prstGeom>
        </p:spPr>
        <p:txBody>
          <a:bodyPr>
            <a:spAutoFit/>
          </a:bodyPr>
          <a:lstStyle/>
          <a:p>
            <a:r>
              <a:rPr lang="zh-CN" altLang="zh-CN" sz="1400" b="1" dirty="0">
                <a:solidFill>
                  <a:srgbClr val="002060"/>
                </a:solidFill>
                <a:ea typeface="等线" panose="02010600030101010101" pitchFamily="2" charset="-122"/>
                <a:cs typeface="Times New Roman" panose="02020603050405020304" pitchFamily="18" charset="0"/>
              </a:rPr>
              <a:t>本实例是将机械臂旋转成直立状态，我们可以简单经过目测，即可判断到该结果是正确的。</a:t>
            </a:r>
            <a:endParaRPr lang="zh-CN" altLang="en-US" sz="1400" b="1" dirty="0">
              <a:solidFill>
                <a:srgbClr val="002060"/>
              </a:solidFill>
            </a:endParaRPr>
          </a:p>
        </p:txBody>
      </p:sp>
      <mc:AlternateContent xmlns:mc="http://schemas.openxmlformats.org/markup-compatibility/2006" xmlns:a14="http://schemas.microsoft.com/office/drawing/2010/main">
        <mc:Choice Requires="a14">
          <p:sp>
            <p:nvSpPr>
              <p:cNvPr id="12" name="矩形 11"/>
              <p:cNvSpPr/>
              <p:nvPr/>
            </p:nvSpPr>
            <p:spPr>
              <a:xfrm>
                <a:off x="3635896" y="2186224"/>
                <a:ext cx="4891496" cy="30777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400" i="1">
                              <a:latin typeface="Cambria Math" panose="02040503050406030204" pitchFamily="18" charset="0"/>
                            </a:rPr>
                          </m:ctrlPr>
                        </m:dP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𝑙</m:t>
                              </m:r>
                            </m:e>
                            <m:sub>
                              <m:r>
                                <a:rPr lang="zh-CN" altLang="en-US" sz="1400" i="1">
                                  <a:latin typeface="Cambria Math" panose="02040503050406030204" pitchFamily="18" charset="0"/>
                                </a:rPr>
                                <m:t>𝑜</m:t>
                              </m:r>
                              <m:r>
                                <a:rPr lang="zh-CN" altLang="en-US" sz="1400" i="0">
                                  <a:latin typeface="Cambria Math" panose="02040503050406030204" pitchFamily="18" charset="0"/>
                                </a:rPr>
                                <m:t>+1</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𝑞</m:t>
                              </m:r>
                            </m:e>
                            <m:sub>
                              <m:r>
                                <a:rPr lang="zh-CN" altLang="en-US" sz="1400" i="0">
                                  <a:latin typeface="Cambria Math" panose="02040503050406030204" pitchFamily="18" charset="0"/>
                                </a:rPr>
                                <m:t>16</m:t>
                              </m:r>
                            </m:sub>
                          </m:sSub>
                          <m:r>
                            <a:rPr lang="zh-CN" altLang="en-US" sz="1400" i="1">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𝑙</m:t>
                              </m:r>
                            </m:e>
                            <m:sub>
                              <m:r>
                                <a:rPr lang="zh-CN" altLang="en-US" sz="1400" i="1">
                                  <a:latin typeface="Cambria Math" panose="02040503050406030204" pitchFamily="18" charset="0"/>
                                </a:rPr>
                                <m:t>𝑜</m:t>
                              </m:r>
                            </m:sub>
                          </m:sSub>
                          <m:r>
                            <a:rPr lang="zh-CN" altLang="en-US" sz="1400" i="1">
                              <a:latin typeface="Cambria Math" panose="02040503050406030204" pitchFamily="18" charset="0"/>
                            </a:rPr>
                            <m:t>⊗</m:t>
                          </m:r>
                          <m:sSup>
                            <m:sSupPr>
                              <m:ctrlPr>
                                <a:rPr lang="zh-CN" altLang="en-US" sz="1400" i="1">
                                  <a:latin typeface="Cambria Math" panose="02040503050406030204" pitchFamily="18" charset="0"/>
                                </a:rPr>
                              </m:ctrlPr>
                            </m:sSupP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𝑞</m:t>
                                  </m:r>
                                </m:e>
                                <m:sub>
                                  <m:r>
                                    <a:rPr lang="zh-CN" altLang="en-US" sz="1400">
                                      <a:latin typeface="Cambria Math" panose="02040503050406030204" pitchFamily="18" charset="0"/>
                                    </a:rPr>
                                    <m:t>16</m:t>
                                  </m:r>
                                </m:sub>
                              </m:sSub>
                            </m:e>
                            <m:sup>
                              <m:r>
                                <a:rPr lang="zh-CN" altLang="en-US" sz="1400">
                                  <a:latin typeface="Cambria Math" panose="02040503050406030204" pitchFamily="18" charset="0"/>
                                </a:rPr>
                                <m:t>∗</m:t>
                              </m:r>
                            </m:sup>
                          </m:sSup>
                          <m:r>
                            <a:rPr lang="zh-CN" altLang="en-US" sz="1400" i="0">
                              <a:latin typeface="Cambria Math" panose="02040503050406030204" pitchFamily="18" charset="0"/>
                            </a:rPr>
                            <m:t>=[0.707107−0.707107 0 0</m:t>
                          </m:r>
                        </m:e>
                      </m:d>
                    </m:oMath>
                  </m:oMathPara>
                </a14:m>
                <a:endParaRPr lang="zh-CN" altLang="en-US" sz="1400" dirty="0"/>
              </a:p>
            </p:txBody>
          </p:sp>
        </mc:Choice>
        <mc:Fallback xmlns="">
          <p:sp>
            <p:nvSpPr>
              <p:cNvPr id="12" name="矩形 11"/>
              <p:cNvSpPr>
                <a:spLocks noRot="1" noChangeAspect="1" noMove="1" noResize="1" noEditPoints="1" noAdjustHandles="1" noChangeArrowheads="1" noChangeShapeType="1" noTextEdit="1"/>
              </p:cNvSpPr>
              <p:nvPr/>
            </p:nvSpPr>
            <p:spPr>
              <a:xfrm>
                <a:off x="3635896" y="2186224"/>
                <a:ext cx="4891496" cy="307777"/>
              </a:xfrm>
              <a:prstGeom prst="rect">
                <a:avLst/>
              </a:prstGeom>
              <a:blipFill>
                <a:blip r:embed="rId13"/>
                <a:stretch>
                  <a:fillRect t="-108000" r="-374" b="-172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4964608" y="2495070"/>
                <a:ext cx="1370440" cy="5807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𝑅</m:t>
                          </m:r>
                        </m:e>
                        <m:sup>
                          <m:r>
                            <a:rPr lang="zh-CN" altLang="en-US" sz="1200" i="0">
                              <a:latin typeface="Cambria Math" panose="02040503050406030204" pitchFamily="18" charset="0"/>
                            </a:rPr>
                            <m:t>′</m:t>
                          </m:r>
                        </m:sup>
                      </m:sSup>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3"/>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1</m:t>
                                </m:r>
                              </m:e>
                              <m:e>
                                <m:r>
                                  <a:rPr lang="zh-CN" altLang="en-US" sz="1200" i="0">
                                    <a:latin typeface="Cambria Math" panose="02040503050406030204" pitchFamily="18" charset="0"/>
                                  </a:rPr>
                                  <m:t>0</m:t>
                                </m:r>
                              </m:e>
                              <m:e>
                                <m:r>
                                  <a:rPr lang="zh-CN" altLang="en-US" sz="1200" i="0">
                                    <a:latin typeface="Cambria Math" panose="02040503050406030204" pitchFamily="18" charset="0"/>
                                  </a:rPr>
                                  <m:t>0</m:t>
                                </m:r>
                              </m:e>
                            </m:mr>
                            <m:mr>
                              <m:e>
                                <m:r>
                                  <a:rPr lang="zh-CN" altLang="en-US" sz="1200" i="0">
                                    <a:latin typeface="Cambria Math" panose="02040503050406030204" pitchFamily="18" charset="0"/>
                                  </a:rPr>
                                  <m:t>0</m:t>
                                </m:r>
                              </m:e>
                              <m:e>
                                <m:r>
                                  <a:rPr lang="zh-CN" altLang="en-US" sz="1200" i="0">
                                    <a:latin typeface="Cambria Math" panose="02040503050406030204" pitchFamily="18" charset="0"/>
                                  </a:rPr>
                                  <m:t>0</m:t>
                                </m:r>
                              </m:e>
                              <m:e>
                                <m:r>
                                  <a:rPr lang="zh-CN" altLang="en-US" sz="1200" i="0">
                                    <a:latin typeface="Cambria Math" panose="02040503050406030204" pitchFamily="18" charset="0"/>
                                  </a:rPr>
                                  <m:t>1</m:t>
                                </m:r>
                              </m:e>
                            </m:mr>
                            <m:mr>
                              <m:e>
                                <m:r>
                                  <a:rPr lang="zh-CN" altLang="en-US" sz="1200" i="0">
                                    <a:latin typeface="Cambria Math" panose="02040503050406030204" pitchFamily="18" charset="0"/>
                                  </a:rPr>
                                  <m:t>0</m:t>
                                </m:r>
                              </m:e>
                              <m:e>
                                <m:r>
                                  <a:rPr lang="zh-CN" altLang="en-US" sz="1200" i="0">
                                    <a:latin typeface="Cambria Math" panose="02040503050406030204" pitchFamily="18" charset="0"/>
                                  </a:rPr>
                                  <m:t>−1</m:t>
                                </m:r>
                              </m:e>
                              <m:e>
                                <m:r>
                                  <a:rPr lang="zh-CN" altLang="en-US" sz="1200" i="0">
                                    <a:latin typeface="Cambria Math" panose="02040503050406030204" pitchFamily="18" charset="0"/>
                                  </a:rPr>
                                  <m:t>0</m:t>
                                </m:r>
                              </m:e>
                            </m:mr>
                          </m:m>
                        </m:e>
                      </m:d>
                    </m:oMath>
                  </m:oMathPara>
                </a14:m>
                <a:endParaRPr lang="zh-CN" altLang="en-US" sz="1200" dirty="0"/>
              </a:p>
            </p:txBody>
          </p:sp>
        </mc:Choice>
        <mc:Fallback xmlns="">
          <p:sp>
            <p:nvSpPr>
              <p:cNvPr id="13" name="矩形 12"/>
              <p:cNvSpPr>
                <a:spLocks noRot="1" noChangeAspect="1" noMove="1" noResize="1" noEditPoints="1" noAdjustHandles="1" noChangeArrowheads="1" noChangeShapeType="1" noTextEdit="1"/>
              </p:cNvSpPr>
              <p:nvPr/>
            </p:nvSpPr>
            <p:spPr>
              <a:xfrm>
                <a:off x="4964608" y="2495070"/>
                <a:ext cx="1370440" cy="580736"/>
              </a:xfrm>
              <a:prstGeom prst="rect">
                <a:avLst/>
              </a:prstGeom>
              <a:blipFill>
                <a:blip r:embed="rId14"/>
                <a:stretch>
                  <a:fillRect b="-1042"/>
                </a:stretch>
              </a:blipFill>
            </p:spPr>
            <p:txBody>
              <a:bodyPr/>
              <a:lstStyle/>
              <a:p>
                <a:r>
                  <a:rPr lang="zh-CN" altLang="en-US">
                    <a:noFill/>
                  </a:rPr>
                  <a:t> </a:t>
                </a:r>
              </a:p>
            </p:txBody>
          </p:sp>
        </mc:Fallback>
      </mc:AlternateContent>
      <p:sp>
        <p:nvSpPr>
          <p:cNvPr id="9" name="矩形 8"/>
          <p:cNvSpPr/>
          <p:nvPr/>
        </p:nvSpPr>
        <p:spPr>
          <a:xfrm>
            <a:off x="899592" y="4781966"/>
            <a:ext cx="6840760" cy="307777"/>
          </a:xfrm>
          <a:prstGeom prst="rect">
            <a:avLst/>
          </a:prstGeom>
        </p:spPr>
        <p:txBody>
          <a:bodyPr wrap="square">
            <a:spAutoFit/>
          </a:bodyPr>
          <a:lstStyle/>
          <a:p>
            <a:r>
              <a:rPr lang="zh-CN" altLang="en-US" sz="1400" dirty="0">
                <a:solidFill>
                  <a:schemeClr val="tx2"/>
                </a:solidFill>
              </a:rPr>
              <a:t>https://github.com/mhuasong/Basics-of-Robotics-Theory-and-Technology/tree/main/ch3</a:t>
            </a:r>
          </a:p>
        </p:txBody>
      </p:sp>
    </p:spTree>
    <p:extLst>
      <p:ext uri="{BB962C8B-B14F-4D97-AF65-F5344CB8AC3E}">
        <p14:creationId xmlns:p14="http://schemas.microsoft.com/office/powerpoint/2010/main" val="391611650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Dual-Quaternions </a:t>
              </a:r>
              <a:r>
                <a:rPr lang="en-US" altLang="zh-CN" sz="1000" dirty="0">
                  <a:latin typeface="Arial" panose="020B0604020202020204" pitchFamily="34" charset="0"/>
                  <a:ea typeface="微软雅黑" panose="020B0503020204020204" charset="-122"/>
                  <a:sym typeface="+mn-ea"/>
                </a:rPr>
                <a:t>method</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对偶四元数</a:t>
              </a:r>
              <a:r>
                <a:rPr lang="zh-CN" altLang="en-US" sz="2000" b="1" dirty="0">
                  <a:latin typeface="Arial" panose="020B0604020202020204" pitchFamily="34" charset="0"/>
                  <a:ea typeface="微软雅黑" panose="020B0503020204020204" charset="-122"/>
                  <a:sym typeface="+mn-ea"/>
                </a:rPr>
                <a:t>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12" name="对象 11"/>
          <p:cNvGraphicFramePr>
            <a:graphicFrameLocks noChangeAspect="1"/>
          </p:cNvGraphicFramePr>
          <p:nvPr>
            <p:extLst>
              <p:ext uri="{D42A27DB-BD31-4B8C-83A1-F6EECF244321}">
                <p14:modId xmlns:p14="http://schemas.microsoft.com/office/powerpoint/2010/main" val="840479052"/>
              </p:ext>
            </p:extLst>
          </p:nvPr>
        </p:nvGraphicFramePr>
        <p:xfrm>
          <a:off x="2555776" y="1491630"/>
          <a:ext cx="3714750" cy="2362200"/>
        </p:xfrm>
        <a:graphic>
          <a:graphicData uri="http://schemas.openxmlformats.org/presentationml/2006/ole">
            <mc:AlternateContent xmlns:mc="http://schemas.openxmlformats.org/markup-compatibility/2006">
              <mc:Choice xmlns:v="urn:schemas-microsoft-com:vml" Requires="v">
                <p:oleObj spid="_x0000_s20578" name="Visio" r:id="rId4" imgW="6033960" imgH="3833094" progId="Visio.Drawing.11">
                  <p:embed/>
                </p:oleObj>
              </mc:Choice>
              <mc:Fallback>
                <p:oleObj name="Visio" r:id="rId4" imgW="6033960" imgH="3833094"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5776" y="1491630"/>
                        <a:ext cx="3714750" cy="2362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92600236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Dual-Quaternions </a:t>
              </a:r>
              <a:r>
                <a:rPr lang="en-US" altLang="zh-CN" sz="1000" dirty="0">
                  <a:latin typeface="Arial" panose="020B0604020202020204" pitchFamily="34" charset="0"/>
                  <a:ea typeface="微软雅黑" panose="020B0503020204020204" charset="-122"/>
                  <a:sym typeface="+mn-ea"/>
                </a:rPr>
                <a:t>method</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对偶四元数</a:t>
              </a:r>
              <a:r>
                <a:rPr lang="zh-CN" altLang="en-US" sz="2000" b="1" dirty="0">
                  <a:latin typeface="Arial" panose="020B0604020202020204" pitchFamily="34" charset="0"/>
                  <a:ea typeface="微软雅黑" panose="020B0503020204020204" charset="-122"/>
                  <a:sym typeface="+mn-ea"/>
                </a:rPr>
                <a:t>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2" name="矩形 1"/>
              <p:cNvSpPr/>
              <p:nvPr/>
            </p:nvSpPr>
            <p:spPr>
              <a:xfrm>
                <a:off x="755576" y="1275606"/>
                <a:ext cx="7285584" cy="378693"/>
              </a:xfrm>
              <a:prstGeom prst="rect">
                <a:avLst/>
              </a:prstGeom>
            </p:spPr>
            <p:txBody>
              <a:bodyPr wrap="none">
                <a:spAutoFit/>
              </a:bodyPr>
              <a:lstStyle/>
              <a:p>
                <a:r>
                  <a:rPr lang="zh-CN" altLang="zh-CN" sz="1600" b="1" dirty="0">
                    <a:solidFill>
                      <a:srgbClr val="002060"/>
                    </a:solidFill>
                    <a:ea typeface="等线" panose="02010600030101010101" pitchFamily="2" charset="-122"/>
                    <a:cs typeface="Times New Roman" panose="02020603050405020304" pitchFamily="18" charset="0"/>
                  </a:rPr>
                  <a:t>四元数</a:t>
                </a:r>
                <a:r>
                  <a:rPr lang="zh-CN" altLang="zh-CN" sz="1600" b="1" dirty="0" smtClean="0">
                    <a:solidFill>
                      <a:srgbClr val="002060"/>
                    </a:solidFill>
                    <a:ea typeface="等线" panose="02010600030101010101" pitchFamily="2" charset="-122"/>
                    <a:cs typeface="Times New Roman" panose="02020603050405020304" pitchFamily="18" charset="0"/>
                  </a:rPr>
                  <a:t>法</a:t>
                </a:r>
                <a:r>
                  <a:rPr lang="en-US" altLang="zh-CN" sz="1600" dirty="0" smtClean="0">
                    <a:ea typeface="等线" panose="02010600030101010101" pitchFamily="2" charset="-122"/>
                    <a:cs typeface="Times New Roman" panose="02020603050405020304" pitchFamily="18" charset="0"/>
                  </a:rPr>
                  <a:t>:</a:t>
                </a:r>
                <a:r>
                  <a:rPr lang="zh-CN" altLang="zh-CN" sz="1600" dirty="0"/>
                  <a:t>通过一个转轴</a:t>
                </a:r>
                <a14:m>
                  <m:oMath xmlns:m="http://schemas.openxmlformats.org/officeDocument/2006/math">
                    <m:r>
                      <a:rPr lang="en-US" altLang="zh-CN" sz="1600" i="1">
                        <a:latin typeface="Cambria Math" panose="02040503050406030204" pitchFamily="18" charset="0"/>
                      </a:rPr>
                      <m:t>𝑆</m:t>
                    </m:r>
                    <m:r>
                      <a:rPr lang="en-US" altLang="zh-CN" sz="1600" i="1">
                        <a:latin typeface="Cambria Math" panose="02040503050406030204" pitchFamily="18" charset="0"/>
                      </a:rPr>
                      <m:t>{</m:t>
                    </m:r>
                    <m:r>
                      <a:rPr lang="en-US" altLang="zh-CN" sz="1600" i="1">
                        <a:latin typeface="Cambria Math" panose="02040503050406030204" pitchFamily="18" charset="0"/>
                      </a:rPr>
                      <m:t>𝜔</m:t>
                    </m:r>
                    <m:d>
                      <m:dPr>
                        <m:ctrlPr>
                          <a:rPr lang="zh-CN" altLang="zh-CN" sz="1600" i="1">
                            <a:latin typeface="Cambria Math" panose="02040503050406030204" pitchFamily="18" charset="0"/>
                          </a:rPr>
                        </m:ctrlPr>
                      </m:dPr>
                      <m:e>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𝑛</m:t>
                            </m:r>
                          </m:e>
                          <m:sub>
                            <m:r>
                              <a:rPr lang="en-US" altLang="zh-CN" sz="1600" i="1">
                                <a:latin typeface="Cambria Math" panose="02040503050406030204" pitchFamily="18" charset="0"/>
                              </a:rPr>
                              <m:t>𝑥</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𝑛</m:t>
                            </m:r>
                          </m:e>
                          <m:sub>
                            <m:r>
                              <a:rPr lang="en-US" altLang="zh-CN" sz="1600" i="1">
                                <a:latin typeface="Cambria Math" panose="02040503050406030204" pitchFamily="18" charset="0"/>
                              </a:rPr>
                              <m:t>𝑦</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𝑛</m:t>
                            </m:r>
                          </m:e>
                          <m:sub>
                            <m:r>
                              <a:rPr lang="en-US" altLang="zh-CN" sz="1600" i="1">
                                <a:latin typeface="Cambria Math" panose="02040503050406030204" pitchFamily="18" charset="0"/>
                              </a:rPr>
                              <m:t>𝑧</m:t>
                            </m:r>
                          </m:sub>
                        </m:sSub>
                      </m:e>
                    </m:d>
                    <m:r>
                      <a:rPr lang="en-US" altLang="zh-CN" sz="1600" i="1">
                        <a:latin typeface="Cambria Math" panose="02040503050406030204" pitchFamily="18" charset="0"/>
                      </a:rPr>
                      <m:t>}</m:t>
                    </m:r>
                  </m:oMath>
                </a14:m>
                <a:r>
                  <a:rPr lang="zh-CN" altLang="zh-CN" sz="1600" dirty="0"/>
                  <a:t>和转角</a:t>
                </a:r>
                <a14:m>
                  <m:oMath xmlns:m="http://schemas.openxmlformats.org/officeDocument/2006/math">
                    <m:r>
                      <a:rPr lang="en-US" altLang="zh-CN" sz="1600" i="1">
                        <a:latin typeface="Cambria Math" panose="02040503050406030204" pitchFamily="18" charset="0"/>
                      </a:rPr>
                      <m:t>𝜃</m:t>
                    </m:r>
                  </m:oMath>
                </a14:m>
                <a:r>
                  <a:rPr lang="zh-CN" altLang="zh-CN" sz="1600" dirty="0"/>
                  <a:t>表达一个三维空间</a:t>
                </a:r>
                <a:r>
                  <a:rPr lang="zh-CN" altLang="zh-CN" sz="1600" b="1" dirty="0">
                    <a:solidFill>
                      <a:srgbClr val="FF0000"/>
                    </a:solidFill>
                  </a:rPr>
                  <a:t>点</a:t>
                </a:r>
                <a:r>
                  <a:rPr lang="zh-CN" altLang="zh-CN" sz="1600" dirty="0"/>
                  <a:t>的旋转操作</a:t>
                </a:r>
                <a:endParaRPr lang="zh-CN" altLang="en-US" sz="1600" dirty="0"/>
              </a:p>
            </p:txBody>
          </p:sp>
        </mc:Choice>
        <mc:Fallback xmlns="">
          <p:sp>
            <p:nvSpPr>
              <p:cNvPr id="2" name="矩形 1"/>
              <p:cNvSpPr>
                <a:spLocks noRot="1" noChangeAspect="1" noMove="1" noResize="1" noEditPoints="1" noAdjustHandles="1" noChangeArrowheads="1" noChangeShapeType="1" noTextEdit="1"/>
              </p:cNvSpPr>
              <p:nvPr/>
            </p:nvSpPr>
            <p:spPr>
              <a:xfrm>
                <a:off x="755576" y="1275606"/>
                <a:ext cx="7285584" cy="378693"/>
              </a:xfrm>
              <a:prstGeom prst="rect">
                <a:avLst/>
              </a:prstGeom>
              <a:blipFill>
                <a:blip r:embed="rId3"/>
                <a:stretch>
                  <a:fillRect l="-502" t="-3226" b="-161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2586793" y="1773471"/>
                <a:ext cx="106426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600" i="1">
                              <a:latin typeface="Cambria Math" panose="02040503050406030204" pitchFamily="18" charset="0"/>
                            </a:rPr>
                          </m:ctrlPr>
                        </m:dPr>
                        <m:e>
                          <m:r>
                            <a:rPr lang="zh-CN" altLang="en-US" sz="1600" i="1">
                              <a:latin typeface="Cambria Math" panose="02040503050406030204" pitchFamily="18" charset="0"/>
                            </a:rPr>
                            <m:t>𝑙</m:t>
                          </m:r>
                          <m:r>
                            <a:rPr lang="zh-CN" altLang="en-US" sz="1600" i="0">
                              <a:latin typeface="Cambria Math" panose="02040503050406030204" pitchFamily="18" charset="0"/>
                            </a:rPr>
                            <m:t>=(0,</m:t>
                          </m:r>
                          <m:r>
                            <a:rPr lang="zh-CN" altLang="en-US" sz="1600" i="1">
                              <a:latin typeface="Cambria Math" panose="02040503050406030204" pitchFamily="18" charset="0"/>
                            </a:rPr>
                            <m:t>𝑉</m:t>
                          </m:r>
                        </m:e>
                      </m:d>
                    </m:oMath>
                  </m:oMathPara>
                </a14:m>
                <a:endParaRPr lang="zh-CN" altLang="en-US" sz="1600" dirty="0"/>
              </a:p>
            </p:txBody>
          </p:sp>
        </mc:Choice>
        <mc:Fallback xmlns="">
          <p:sp>
            <p:nvSpPr>
              <p:cNvPr id="3" name="矩形 2"/>
              <p:cNvSpPr>
                <a:spLocks noRot="1" noChangeAspect="1" noMove="1" noResize="1" noEditPoints="1" noAdjustHandles="1" noChangeArrowheads="1" noChangeShapeType="1" noTextEdit="1"/>
              </p:cNvSpPr>
              <p:nvPr/>
            </p:nvSpPr>
            <p:spPr>
              <a:xfrm>
                <a:off x="2586793" y="1773471"/>
                <a:ext cx="1064266" cy="338554"/>
              </a:xfrm>
              <a:prstGeom prst="rect">
                <a:avLst/>
              </a:prstGeom>
              <a:blipFill>
                <a:blip r:embed="rId4"/>
                <a:stretch>
                  <a:fillRect t="-110909" r="-40571" b="-1727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3994462" y="1742693"/>
                <a:ext cx="184595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𝑙</m:t>
                          </m:r>
                        </m:e>
                        <m:sub>
                          <m:r>
                            <a:rPr lang="zh-CN" altLang="en-US" i="1">
                              <a:latin typeface="Cambria Math" panose="02040503050406030204" pitchFamily="18" charset="0"/>
                            </a:rPr>
                            <m:t>𝑅</m:t>
                          </m:r>
                        </m:sub>
                      </m:sSub>
                      <m:r>
                        <a:rPr lang="zh-CN" altLang="en-US" i="0">
                          <a:latin typeface="Cambria Math" panose="02040503050406030204" pitchFamily="18" charset="0"/>
                        </a:rPr>
                        <m:t>=</m:t>
                      </m:r>
                      <m:r>
                        <a:rPr lang="zh-CN" altLang="en-US" i="1">
                          <a:latin typeface="Cambria Math" panose="02040503050406030204" pitchFamily="18" charset="0"/>
                        </a:rPr>
                        <m:t>𝑞</m:t>
                      </m:r>
                      <m:r>
                        <a:rPr lang="zh-CN" altLang="en-US" i="1" smtClean="0">
                          <a:latin typeface="Cambria Math" panose="02040503050406030204" pitchFamily="18" charset="0"/>
                        </a:rPr>
                        <m:t>⊗</m:t>
                      </m:r>
                      <m:r>
                        <a:rPr lang="zh-CN" altLang="en-US" i="1">
                          <a:latin typeface="Cambria Math" panose="02040503050406030204" pitchFamily="18" charset="0"/>
                        </a:rPr>
                        <m:t>𝑙</m:t>
                      </m:r>
                      <m:sSup>
                        <m:sSupPr>
                          <m:ctrlPr>
                            <a:rPr lang="zh-CN" altLang="en-US" i="1">
                              <a:latin typeface="Cambria Math" panose="02040503050406030204" pitchFamily="18" charset="0"/>
                            </a:rPr>
                          </m:ctrlPr>
                        </m:sSupPr>
                        <m:e>
                          <m:r>
                            <a:rPr lang="zh-CN" altLang="en-US" i="1">
                              <a:latin typeface="Cambria Math" panose="02040503050406030204" pitchFamily="18" charset="0"/>
                            </a:rPr>
                            <m:t>⊗</m:t>
                          </m:r>
                          <m:r>
                            <a:rPr lang="zh-CN" altLang="en-US" i="1">
                              <a:latin typeface="Cambria Math" panose="02040503050406030204" pitchFamily="18" charset="0"/>
                            </a:rPr>
                            <m:t>𝑞</m:t>
                          </m:r>
                        </m:e>
                        <m:sup>
                          <m:r>
                            <a:rPr lang="zh-CN" altLang="en-US">
                              <a:latin typeface="Cambria Math" panose="02040503050406030204" pitchFamily="18" charset="0"/>
                            </a:rPr>
                            <m:t>∗</m:t>
                          </m:r>
                        </m:sup>
                      </m:sSup>
                    </m:oMath>
                  </m:oMathPara>
                </a14:m>
                <a:endParaRPr lang="zh-CN" altLang="en-US" dirty="0">
                  <a:latin typeface="Arial" panose="020B0604020202020204" pitchFamily="34" charset="0"/>
                  <a:cs typeface="Arial" panose="020B0604020202020204" pitchFamily="34" charset="0"/>
                </a:endParaRPr>
              </a:p>
            </p:txBody>
          </p:sp>
        </mc:Choice>
        <mc:Fallback xmlns="">
          <p:sp>
            <p:nvSpPr>
              <p:cNvPr id="8" name="矩形 7"/>
              <p:cNvSpPr>
                <a:spLocks noRot="1" noChangeAspect="1" noMove="1" noResize="1" noEditPoints="1" noAdjustHandles="1" noChangeArrowheads="1" noChangeShapeType="1" noTextEdit="1"/>
              </p:cNvSpPr>
              <p:nvPr/>
            </p:nvSpPr>
            <p:spPr>
              <a:xfrm>
                <a:off x="3994462" y="1742693"/>
                <a:ext cx="1845955" cy="369332"/>
              </a:xfrm>
              <a:prstGeom prst="rect">
                <a:avLst/>
              </a:prstGeom>
              <a:blipFill>
                <a:blip r:embed="rId5"/>
                <a:stretch>
                  <a:fillRect b="-8333"/>
                </a:stretch>
              </a:blipFill>
            </p:spPr>
            <p:txBody>
              <a:bodyPr/>
              <a:lstStyle/>
              <a:p>
                <a:r>
                  <a:rPr lang="zh-CN" altLang="en-US">
                    <a:noFill/>
                  </a:rPr>
                  <a:t> </a:t>
                </a:r>
              </a:p>
            </p:txBody>
          </p:sp>
        </mc:Fallback>
      </mc:AlternateContent>
      <p:sp>
        <p:nvSpPr>
          <p:cNvPr id="9" name="右箭头 8"/>
          <p:cNvSpPr/>
          <p:nvPr/>
        </p:nvSpPr>
        <p:spPr>
          <a:xfrm>
            <a:off x="3651059" y="1835026"/>
            <a:ext cx="343403" cy="1846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55576" y="2179070"/>
            <a:ext cx="7285584" cy="584775"/>
          </a:xfrm>
          <a:prstGeom prst="rect">
            <a:avLst/>
          </a:prstGeom>
        </p:spPr>
        <p:txBody>
          <a:bodyPr wrap="square">
            <a:spAutoFit/>
          </a:bodyPr>
          <a:lstStyle/>
          <a:p>
            <a:r>
              <a:rPr lang="zh-CN" altLang="en-US" sz="1600" dirty="0"/>
              <a:t>通常刚体的变换最少需要6个参数，所以我们需要两个四元数才能完全定义刚体的变换</a:t>
            </a:r>
          </a:p>
        </p:txBody>
      </p:sp>
      <p:sp>
        <p:nvSpPr>
          <p:cNvPr id="11" name="矩形 10"/>
          <p:cNvSpPr/>
          <p:nvPr/>
        </p:nvSpPr>
        <p:spPr>
          <a:xfrm>
            <a:off x="2112368" y="3288616"/>
            <a:ext cx="4572000" cy="923330"/>
          </a:xfrm>
          <a:prstGeom prst="rect">
            <a:avLst/>
          </a:prstGeom>
        </p:spPr>
        <p:txBody>
          <a:bodyPr>
            <a:spAutoFit/>
          </a:bodyPr>
          <a:lstStyle/>
          <a:p>
            <a:r>
              <a:rPr lang="zh-CN" altLang="zh-CN" dirty="0">
                <a:solidFill>
                  <a:srgbClr val="002060"/>
                </a:solidFill>
                <a:ea typeface="等线" panose="02010600030101010101" pitchFamily="2" charset="-122"/>
                <a:cs typeface="Times New Roman" panose="02020603050405020304" pitchFamily="18" charset="0"/>
              </a:rPr>
              <a:t>单位对偶四元数有</a:t>
            </a:r>
            <a:r>
              <a:rPr lang="en-US" altLang="zh-CN" dirty="0">
                <a:solidFill>
                  <a:srgbClr val="002060"/>
                </a:solidFill>
                <a:ea typeface="等线" panose="02010600030101010101" pitchFamily="2" charset="-122"/>
                <a:cs typeface="Times New Roman" panose="02020603050405020304" pitchFamily="18" charset="0"/>
              </a:rPr>
              <a:t>8</a:t>
            </a:r>
            <a:r>
              <a:rPr lang="zh-CN" altLang="zh-CN" dirty="0">
                <a:solidFill>
                  <a:srgbClr val="002060"/>
                </a:solidFill>
                <a:ea typeface="等线" panose="02010600030101010101" pitchFamily="2" charset="-122"/>
                <a:cs typeface="Times New Roman" panose="02020603050405020304" pitchFamily="18" charset="0"/>
              </a:rPr>
              <a:t>个参数，足够用来定义刚体的变换操作。但这个时候的旋转操作，我们针对的不是</a:t>
            </a:r>
            <a:r>
              <a:rPr lang="zh-CN" altLang="zh-CN" b="1" dirty="0">
                <a:solidFill>
                  <a:srgbClr val="FF0000"/>
                </a:solidFill>
                <a:ea typeface="等线" panose="02010600030101010101" pitchFamily="2" charset="-122"/>
                <a:cs typeface="Times New Roman" panose="02020603050405020304" pitchFamily="18" charset="0"/>
              </a:rPr>
              <a:t>点</a:t>
            </a:r>
            <a:r>
              <a:rPr lang="zh-CN" altLang="zh-CN" dirty="0">
                <a:solidFill>
                  <a:srgbClr val="002060"/>
                </a:solidFill>
                <a:ea typeface="等线" panose="02010600030101010101" pitchFamily="2" charset="-122"/>
                <a:cs typeface="Times New Roman" panose="02020603050405020304" pitchFamily="18" charset="0"/>
              </a:rPr>
              <a:t>，而是</a:t>
            </a:r>
            <a:r>
              <a:rPr lang="zh-CN" altLang="zh-CN" b="1" dirty="0">
                <a:solidFill>
                  <a:srgbClr val="FF0000"/>
                </a:solidFill>
                <a:ea typeface="等线" panose="02010600030101010101" pitchFamily="2" charset="-122"/>
                <a:cs typeface="Times New Roman" panose="02020603050405020304" pitchFamily="18" charset="0"/>
              </a:rPr>
              <a:t>线</a:t>
            </a:r>
            <a:r>
              <a:rPr lang="zh-CN" altLang="zh-CN" dirty="0">
                <a:solidFill>
                  <a:srgbClr val="002060"/>
                </a:solidFill>
                <a:ea typeface="等线" panose="02010600030101010101" pitchFamily="2" charset="-122"/>
                <a:cs typeface="Times New Roman" panose="02020603050405020304" pitchFamily="18" charset="0"/>
              </a:rPr>
              <a:t>的概念</a:t>
            </a:r>
            <a:endParaRPr lang="zh-CN" altLang="en-US" dirty="0">
              <a:solidFill>
                <a:srgbClr val="002060"/>
              </a:solidFill>
            </a:endParaRPr>
          </a:p>
        </p:txBody>
      </p:sp>
    </p:spTree>
    <p:extLst>
      <p:ext uri="{BB962C8B-B14F-4D97-AF65-F5344CB8AC3E}">
        <p14:creationId xmlns:p14="http://schemas.microsoft.com/office/powerpoint/2010/main" val="291533730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Dual-Quaternions </a:t>
              </a:r>
              <a:r>
                <a:rPr lang="en-US" altLang="zh-CN" sz="1000" dirty="0">
                  <a:latin typeface="Arial" panose="020B0604020202020204" pitchFamily="34" charset="0"/>
                  <a:ea typeface="微软雅黑" panose="020B0503020204020204" charset="-122"/>
                  <a:sym typeface="+mn-ea"/>
                </a:rPr>
                <a:t>method</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对偶四元数</a:t>
              </a:r>
              <a:r>
                <a:rPr lang="zh-CN" altLang="en-US" sz="2000" b="1" dirty="0">
                  <a:latin typeface="Arial" panose="020B0604020202020204" pitchFamily="34" charset="0"/>
                  <a:ea typeface="微软雅黑" panose="020B0503020204020204" charset="-122"/>
                  <a:sym typeface="+mn-ea"/>
                </a:rPr>
                <a:t>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6626" name="Picture 2" descr="图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1347614"/>
            <a:ext cx="2095500" cy="1485900"/>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p:cNvSpPr/>
          <p:nvPr/>
        </p:nvSpPr>
        <p:spPr>
          <a:xfrm>
            <a:off x="3369564" y="922020"/>
            <a:ext cx="4572000" cy="923330"/>
          </a:xfrm>
          <a:prstGeom prst="rect">
            <a:avLst/>
          </a:prstGeom>
        </p:spPr>
        <p:txBody>
          <a:bodyPr>
            <a:spAutoFit/>
          </a:bodyPr>
          <a:lstStyle/>
          <a:p>
            <a:r>
              <a:rPr lang="zh-CN" altLang="en-US" dirty="0"/>
              <a:t>三维欧氏空间中表示直线</a:t>
            </a:r>
            <a:r>
              <a:rPr lang="zh-CN" altLang="en-US" dirty="0" smtClean="0"/>
              <a:t>：</a:t>
            </a:r>
            <a:endParaRPr lang="en-US" altLang="zh-CN" dirty="0" smtClean="0"/>
          </a:p>
          <a:p>
            <a:pPr marL="285750" indent="-285750">
              <a:buFont typeface="Wingdings" panose="05000000000000000000" pitchFamily="2" charset="2"/>
              <a:buChar char="Ø"/>
            </a:pPr>
            <a:r>
              <a:rPr lang="zh-CN" altLang="en-US" dirty="0" smtClean="0"/>
              <a:t>&lt;</a:t>
            </a:r>
            <a:r>
              <a:rPr lang="zh-CN" altLang="en-US" dirty="0"/>
              <a:t>1&gt;两个点成线</a:t>
            </a:r>
            <a:r>
              <a:rPr lang="zh-CN" altLang="en-US" dirty="0" smtClean="0"/>
              <a:t>；</a:t>
            </a:r>
            <a:endParaRPr lang="en-US" altLang="zh-CN" dirty="0" smtClean="0"/>
          </a:p>
          <a:p>
            <a:pPr marL="285750" indent="-285750">
              <a:buFont typeface="Wingdings" panose="05000000000000000000" pitchFamily="2" charset="2"/>
              <a:buChar char="Ø"/>
            </a:pPr>
            <a:r>
              <a:rPr lang="zh-CN" altLang="en-US" dirty="0" smtClean="0"/>
              <a:t>&lt;</a:t>
            </a:r>
            <a:r>
              <a:rPr lang="zh-CN" altLang="en-US" dirty="0"/>
              <a:t>2&gt;两个不同平面的相交</a:t>
            </a:r>
          </a:p>
        </p:txBody>
      </p:sp>
      <mc:AlternateContent xmlns:mc="http://schemas.openxmlformats.org/markup-compatibility/2006" xmlns:a14="http://schemas.microsoft.com/office/drawing/2010/main">
        <mc:Choice Requires="a14">
          <p:sp>
            <p:nvSpPr>
              <p:cNvPr id="13" name="矩形 12"/>
              <p:cNvSpPr/>
              <p:nvPr/>
            </p:nvSpPr>
            <p:spPr>
              <a:xfrm>
                <a:off x="3362564" y="1969819"/>
                <a:ext cx="4831536" cy="1243674"/>
              </a:xfrm>
              <a:prstGeom prst="rect">
                <a:avLst/>
              </a:prstGeom>
            </p:spPr>
            <p:txBody>
              <a:bodyPr wrap="square">
                <a:spAutoFit/>
              </a:bodyPr>
              <a:lstStyle/>
              <a:p>
                <a:r>
                  <a:rPr lang="zh-CN" altLang="zh-CN" dirty="0">
                    <a:ea typeface="等线" panose="02010600030101010101" pitchFamily="2" charset="-122"/>
                    <a:cs typeface="Times New Roman" panose="02020603050405020304" pitchFamily="18" charset="0"/>
                  </a:rPr>
                  <a:t>三维空间直线在</a:t>
                </a:r>
                <a:r>
                  <a:rPr lang="zh-CN" altLang="zh-CN" b="1" dirty="0">
                    <a:ea typeface="等线" panose="02010600030101010101" pitchFamily="2" charset="-122"/>
                    <a:cs typeface="Times New Roman" panose="02020603050405020304" pitchFamily="18" charset="0"/>
                  </a:rPr>
                  <a:t>普吕克坐标系</a:t>
                </a:r>
                <a:r>
                  <a:rPr lang="en-US" altLang="zh-CN" dirty="0">
                    <a:ea typeface="等线" panose="02010600030101010101" pitchFamily="2" charset="-122"/>
                    <a:cs typeface="Times New Roman" panose="02020603050405020304" pitchFamily="18" charset="0"/>
                  </a:rPr>
                  <a:t>(</a:t>
                </a:r>
                <a:r>
                  <a:rPr lang="en-US" altLang="zh-CN" dirty="0" err="1">
                    <a:latin typeface="Times New Roman" panose="02020603050405020304" pitchFamily="18" charset="0"/>
                    <a:ea typeface="等线" panose="02010600030101010101" pitchFamily="2" charset="-122"/>
                  </a:rPr>
                  <a:t>Pl</a:t>
                </a:r>
                <a:r>
                  <a:rPr lang="en-US" altLang="zh-CN" sz="1400" dirty="0" err="1">
                    <a:effectLst/>
                    <a:latin typeface="Times New Roman" panose="02020603050405020304" pitchFamily="18" charset="0"/>
                    <a:ea typeface="等线" panose="02010600030101010101" pitchFamily="2" charset="-122"/>
                  </a:rPr>
                  <a:t>Ü</a:t>
                </a:r>
                <a:r>
                  <a:rPr lang="en-US" altLang="zh-CN" dirty="0" err="1">
                    <a:latin typeface="Times New Roman" panose="02020603050405020304" pitchFamily="18" charset="0"/>
                    <a:ea typeface="等线" panose="02010600030101010101" pitchFamily="2" charset="-122"/>
                  </a:rPr>
                  <a:t>cker</a:t>
                </a:r>
                <a:r>
                  <a:rPr lang="en-US" altLang="zh-CN" dirty="0">
                    <a:latin typeface="Times New Roman" panose="02020603050405020304" pitchFamily="18" charset="0"/>
                    <a:ea typeface="等线" panose="02010600030101010101" pitchFamily="2" charset="-122"/>
                  </a:rPr>
                  <a:t> Coordinates</a:t>
                </a:r>
                <a:r>
                  <a:rPr lang="en-US" altLang="zh-CN" dirty="0">
                    <a:latin typeface="等线" panose="02010600030101010101" pitchFamily="2" charset="-122"/>
                    <a:cs typeface="Times New Roman" panose="02020603050405020304" pitchFamily="18" charset="0"/>
                  </a:rPr>
                  <a:t>)</a:t>
                </a:r>
                <a:r>
                  <a:rPr lang="zh-CN" altLang="zh-CN" dirty="0">
                    <a:ea typeface="等线" panose="02010600030101010101" pitchFamily="2" charset="-122"/>
                    <a:cs typeface="Times New Roman" panose="02020603050405020304" pitchFamily="18" charset="0"/>
                  </a:rPr>
                  <a:t>下被描述为对偶四元数的形式</a:t>
                </a:r>
                <a:r>
                  <a:rPr lang="en-US" altLang="zh-CN" dirty="0">
                    <a:ea typeface="等线" panose="02010600030101010101" pitchFamily="2" charset="-122"/>
                    <a:cs typeface="Times New Roman" panose="02020603050405020304" pitchFamily="18" charset="0"/>
                  </a:rPr>
                  <a:t>:</a:t>
                </a:r>
                <a14:m>
                  <m:oMath xmlns:m="http://schemas.openxmlformats.org/officeDocument/2006/math">
                    <m:sSub>
                      <m:sSubPr>
                        <m:ctrlPr>
                          <a:rPr lang="zh-CN" altLang="zh-CN" i="1">
                            <a:effectLst/>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等线" panose="02010600030101010101" pitchFamily="2" charset="-122"/>
                            <a:cs typeface="Times New Roman" panose="02020603050405020304" pitchFamily="18" charset="0"/>
                          </a:rPr>
                          <m:t>𝐿</m:t>
                        </m:r>
                      </m:e>
                      <m:sub>
                        <m:r>
                          <a:rPr lang="en-US" altLang="zh-CN" i="1">
                            <a:latin typeface="Cambria Math" panose="02040503050406030204" pitchFamily="18" charset="0"/>
                            <a:ea typeface="等线" panose="02010600030101010101" pitchFamily="2" charset="-122"/>
                            <a:cs typeface="Times New Roman" panose="02020603050405020304" pitchFamily="18" charset="0"/>
                          </a:rPr>
                          <m:t>𝑝</m:t>
                        </m:r>
                      </m:sub>
                    </m:sSub>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𝑚</m:t>
                    </m:r>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𝑑</m:t>
                    </m:r>
                    <m:r>
                      <a:rPr lang="en-US" altLang="zh-CN" i="1">
                        <a:latin typeface="Cambria Math" panose="02040503050406030204" pitchFamily="18" charset="0"/>
                        <a:ea typeface="等线" panose="02010600030101010101" pitchFamily="2" charset="-122"/>
                        <a:cs typeface="Times New Roman" panose="02020603050405020304" pitchFamily="18" charset="0"/>
                      </a:rPr>
                      <m:t>)</m:t>
                    </m:r>
                  </m:oMath>
                </a14:m>
                <a:r>
                  <a:rPr lang="en-US" altLang="zh-CN" dirty="0">
                    <a:latin typeface="等线" panose="02010600030101010101" pitchFamily="2" charset="-122"/>
                    <a:cs typeface="Times New Roman" panose="02020603050405020304" pitchFamily="18" charset="0"/>
                  </a:rPr>
                  <a:t>,</a:t>
                </a:r>
                <a:r>
                  <a:rPr lang="zh-CN" altLang="zh-CN" dirty="0">
                    <a:ea typeface="等线" panose="02010600030101010101" pitchFamily="2" charset="-122"/>
                    <a:cs typeface="Times New Roman" panose="02020603050405020304" pitchFamily="18" charset="0"/>
                  </a:rPr>
                  <a:t>其中</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𝑚</m:t>
                    </m:r>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𝑝</m:t>
                    </m:r>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𝑑</m:t>
                    </m:r>
                  </m:oMath>
                </a14:m>
                <a:r>
                  <a:rPr lang="en-US" altLang="zh-CN" dirty="0">
                    <a:latin typeface="等线" panose="02010600030101010101" pitchFamily="2" charset="-122"/>
                    <a:cs typeface="Times New Roman" panose="02020603050405020304" pitchFamily="18" charset="0"/>
                  </a:rPr>
                  <a:t>,</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 </m:t>
                    </m:r>
                    <m:r>
                      <a:rPr lang="en-US" altLang="zh-CN" i="1">
                        <a:latin typeface="Cambria Math" panose="02040503050406030204" pitchFamily="18" charset="0"/>
                        <a:ea typeface="等线" panose="02010600030101010101" pitchFamily="2" charset="-122"/>
                        <a:cs typeface="Times New Roman" panose="02020603050405020304" pitchFamily="18" charset="0"/>
                      </a:rPr>
                      <m:t>𝑝</m:t>
                    </m:r>
                  </m:oMath>
                </a14:m>
                <a:r>
                  <a:rPr lang="zh-CN" altLang="zh-CN" dirty="0">
                    <a:ea typeface="等线" panose="02010600030101010101" pitchFamily="2" charset="-122"/>
                    <a:cs typeface="Times New Roman" panose="02020603050405020304" pitchFamily="18" charset="0"/>
                  </a:rPr>
                  <a:t>表示直线上任意一点，</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𝑑</m:t>
                    </m:r>
                  </m:oMath>
                </a14:m>
                <a:r>
                  <a:rPr lang="zh-CN" altLang="zh-CN" dirty="0">
                    <a:ea typeface="等线" panose="02010600030101010101" pitchFamily="2" charset="-122"/>
                    <a:cs typeface="Times New Roman" panose="02020603050405020304" pitchFamily="18" charset="0"/>
                  </a:rPr>
                  <a:t>表示直线的方向向量</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i="1">
                            <a:latin typeface="Cambria Math" panose="02040503050406030204" pitchFamily="18" charset="0"/>
                            <a:ea typeface="等线" panose="02010600030101010101" pitchFamily="2" charset="-122"/>
                            <a:cs typeface="Times New Roman" panose="02020603050405020304" pitchFamily="18" charset="0"/>
                          </a:rPr>
                          <m:t>𝑥</m:t>
                        </m:r>
                      </m:sub>
                    </m:sSub>
                    <m:r>
                      <a:rPr lang="en-US" altLang="zh-CN"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i="1">
                            <a:latin typeface="Cambria Math" panose="02040503050406030204" pitchFamily="18" charset="0"/>
                            <a:ea typeface="等线" panose="02010600030101010101" pitchFamily="2" charset="-122"/>
                            <a:cs typeface="Times New Roman" panose="02020603050405020304" pitchFamily="18" charset="0"/>
                          </a:rPr>
                          <m:t>𝑦</m:t>
                        </m:r>
                      </m:sub>
                    </m:sSub>
                    <m:r>
                      <a:rPr lang="en-US" altLang="zh-CN"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i="1">
                            <a:latin typeface="Cambria Math" panose="02040503050406030204" pitchFamily="18" charset="0"/>
                            <a:ea typeface="等线" panose="02010600030101010101" pitchFamily="2" charset="-122"/>
                            <a:cs typeface="Times New Roman" panose="02020603050405020304" pitchFamily="18" charset="0"/>
                          </a:rPr>
                          <m:t>𝑧</m:t>
                        </m:r>
                      </m:sub>
                    </m:sSub>
                    <m:r>
                      <a:rPr lang="en-US" altLang="zh-CN" i="1">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dirty="0">
                    <a:ea typeface="等线" panose="02010600030101010101" pitchFamily="2" charset="-122"/>
                    <a:cs typeface="Times New Roman" panose="02020603050405020304" pitchFamily="18" charset="0"/>
                  </a:rPr>
                  <a:t>。</a:t>
                </a:r>
                <a:endParaRPr lang="zh-CN" altLang="en-US" dirty="0"/>
              </a:p>
            </p:txBody>
          </p:sp>
        </mc:Choice>
        <mc:Fallback xmlns="">
          <p:sp>
            <p:nvSpPr>
              <p:cNvPr id="13" name="矩形 12"/>
              <p:cNvSpPr>
                <a:spLocks noRot="1" noChangeAspect="1" noMove="1" noResize="1" noEditPoints="1" noAdjustHandles="1" noChangeArrowheads="1" noChangeShapeType="1" noTextEdit="1"/>
              </p:cNvSpPr>
              <p:nvPr/>
            </p:nvSpPr>
            <p:spPr>
              <a:xfrm>
                <a:off x="3362564" y="1969819"/>
                <a:ext cx="4831536" cy="1243674"/>
              </a:xfrm>
              <a:prstGeom prst="rect">
                <a:avLst/>
              </a:prstGeom>
              <a:blipFill>
                <a:blip r:embed="rId4"/>
                <a:stretch>
                  <a:fillRect l="-1136" t="-2941" b="-5392"/>
                </a:stretch>
              </a:blipFill>
            </p:spPr>
            <p:txBody>
              <a:bodyPr/>
              <a:lstStyle/>
              <a:p>
                <a:r>
                  <a:rPr lang="zh-CN" altLang="en-US">
                    <a:noFill/>
                  </a:rPr>
                  <a:t> </a:t>
                </a:r>
              </a:p>
            </p:txBody>
          </p:sp>
        </mc:Fallback>
      </mc:AlternateContent>
      <p:pic>
        <p:nvPicPr>
          <p:cNvPr id="15" name="图片 14"/>
          <p:cNvPicPr>
            <a:picLocks noChangeAspect="1"/>
          </p:cNvPicPr>
          <p:nvPr/>
        </p:nvPicPr>
        <p:blipFill>
          <a:blip r:embed="rId5"/>
          <a:stretch>
            <a:fillRect/>
          </a:stretch>
        </p:blipFill>
        <p:spPr>
          <a:xfrm>
            <a:off x="856417" y="3075806"/>
            <a:ext cx="2066667" cy="1561905"/>
          </a:xfrm>
          <a:prstGeom prst="rect">
            <a:avLst/>
          </a:prstGeom>
        </p:spPr>
      </p:pic>
      <mc:AlternateContent xmlns:mc="http://schemas.openxmlformats.org/markup-compatibility/2006" xmlns:a14="http://schemas.microsoft.com/office/drawing/2010/main">
        <mc:Choice Requires="a14">
          <p:sp>
            <p:nvSpPr>
              <p:cNvPr id="16" name="矩形 15"/>
              <p:cNvSpPr/>
              <p:nvPr/>
            </p:nvSpPr>
            <p:spPr>
              <a:xfrm>
                <a:off x="1327524" y="4637711"/>
                <a:ext cx="1095620" cy="3907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等线" panose="02010600030101010101" pitchFamily="2" charset="-122"/>
                              <a:cs typeface="Times New Roman" panose="02020603050405020304" pitchFamily="18" charset="0"/>
                            </a:rPr>
                            <m:t>𝐿</m:t>
                          </m:r>
                        </m:e>
                        <m:sub>
                          <m:r>
                            <a:rPr lang="en-US" altLang="zh-CN" i="1">
                              <a:latin typeface="Cambria Math" panose="02040503050406030204" pitchFamily="18" charset="0"/>
                              <a:ea typeface="等线" panose="02010600030101010101" pitchFamily="2" charset="-122"/>
                              <a:cs typeface="Times New Roman" panose="02020603050405020304" pitchFamily="18" charset="0"/>
                            </a:rPr>
                            <m:t>𝑝</m:t>
                          </m:r>
                        </m:sub>
                      </m:sSub>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𝑚</m:t>
                      </m:r>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𝑑</m:t>
                      </m:r>
                      <m:r>
                        <a:rPr lang="en-US" altLang="zh-CN" i="1">
                          <a:latin typeface="Cambria Math" panose="02040503050406030204" pitchFamily="18" charset="0"/>
                          <a:ea typeface="等线" panose="02010600030101010101" pitchFamily="2" charset="-122"/>
                          <a:cs typeface="Times New Roman" panose="02020603050405020304" pitchFamily="18" charset="0"/>
                        </a:rPr>
                        <m:t>)</m:t>
                      </m:r>
                    </m:oMath>
                  </m:oMathPara>
                </a14:m>
                <a:endParaRPr lang="zh-CN" altLang="en-US" dirty="0"/>
              </a:p>
            </p:txBody>
          </p:sp>
        </mc:Choice>
        <mc:Fallback xmlns="">
          <p:sp>
            <p:nvSpPr>
              <p:cNvPr id="16" name="矩形 15"/>
              <p:cNvSpPr>
                <a:spLocks noRot="1" noChangeAspect="1" noMove="1" noResize="1" noEditPoints="1" noAdjustHandles="1" noChangeArrowheads="1" noChangeShapeType="1" noTextEdit="1"/>
              </p:cNvSpPr>
              <p:nvPr/>
            </p:nvSpPr>
            <p:spPr>
              <a:xfrm>
                <a:off x="1327524" y="4637711"/>
                <a:ext cx="1095620" cy="390748"/>
              </a:xfrm>
              <a:prstGeom prst="rect">
                <a:avLst/>
              </a:prstGeom>
              <a:blipFill>
                <a:blip r:embed="rId6"/>
                <a:stretch>
                  <a:fillRect b="-78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3297556" y="3337962"/>
                <a:ext cx="4572000" cy="938270"/>
              </a:xfrm>
              <a:prstGeom prst="rect">
                <a:avLst/>
              </a:prstGeom>
            </p:spPr>
            <p:txBody>
              <a:bodyPr>
                <a:spAutoFit/>
              </a:bodyPr>
              <a:lstStyle/>
              <a:p>
                <a:r>
                  <a:rPr lang="zh-CN" altLang="zh-CN" dirty="0">
                    <a:ea typeface="等线" panose="02010600030101010101" pitchFamily="2" charset="-122"/>
                    <a:cs typeface="Times New Roman" panose="02020603050405020304" pitchFamily="18" charset="0"/>
                  </a:rPr>
                  <a:t>在普吕克坐标系下，将直线</a:t>
                </a:r>
                <a14:m>
                  <m:oMath xmlns:m="http://schemas.openxmlformats.org/officeDocument/2006/math">
                    <m:r>
                      <a:rPr lang="en-US" altLang="zh-CN" i="1" smtClean="0">
                        <a:latin typeface="Cambria Math" panose="02040503050406030204" pitchFamily="18" charset="0"/>
                        <a:ea typeface="等线" panose="02010600030101010101" pitchFamily="2" charset="-122"/>
                        <a:cs typeface="Times New Roman" panose="02020603050405020304" pitchFamily="18" charset="0"/>
                      </a:rPr>
                      <m:t>𝐿</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𝑚</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𝑑</m:t>
                    </m:r>
                    <m:r>
                      <a:rPr lang="en-US" altLang="zh-CN" i="1" smtClean="0">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dirty="0">
                    <a:ea typeface="等线" panose="02010600030101010101" pitchFamily="2" charset="-122"/>
                    <a:cs typeface="Times New Roman" panose="02020603050405020304" pitchFamily="18" charset="0"/>
                  </a:rPr>
                  <a:t>写成对偶四元数形式：</a:t>
                </a:r>
                <a14:m>
                  <m:oMath xmlns:m="http://schemas.openxmlformats.org/officeDocument/2006/math">
                    <m:acc>
                      <m:accPr>
                        <m:chr m:val="̂"/>
                        <m:ctrlPr>
                          <a:rPr lang="zh-CN" altLang="zh-CN" i="1">
                            <a:effectLst/>
                            <a:latin typeface="Cambria Math" panose="02040503050406030204" pitchFamily="18" charset="0"/>
                            <a:ea typeface="Cambria Math" panose="02040503050406030204" pitchFamily="18" charset="0"/>
                          </a:rPr>
                        </m:ctrlPr>
                      </m:accPr>
                      <m:e>
                        <m:r>
                          <a:rPr lang="en-US" altLang="zh-CN" i="1">
                            <a:latin typeface="Cambria Math" panose="02040503050406030204" pitchFamily="18" charset="0"/>
                            <a:ea typeface="等线" panose="02010600030101010101" pitchFamily="2" charset="-122"/>
                            <a:cs typeface="Times New Roman" panose="02020603050405020304" pitchFamily="18" charset="0"/>
                          </a:rPr>
                          <m:t>𝑙</m:t>
                        </m:r>
                      </m:e>
                    </m:acc>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𝑙</m:t>
                    </m:r>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𝜀</m:t>
                    </m:r>
                    <m:r>
                      <a:rPr lang="en-US" altLang="zh-CN" i="1">
                        <a:latin typeface="Cambria Math" panose="02040503050406030204" pitchFamily="18" charset="0"/>
                        <a:ea typeface="等线" panose="02010600030101010101" pitchFamily="2" charset="-122"/>
                        <a:cs typeface="Times New Roman" panose="02020603050405020304" pitchFamily="18" charset="0"/>
                      </a:rPr>
                      <m:t>𝑚</m:t>
                    </m:r>
                  </m:oMath>
                </a14:m>
                <a:r>
                  <a:rPr lang="en-US" altLang="zh-CN" dirty="0">
                    <a:latin typeface="等线" panose="02010600030101010101" pitchFamily="2" charset="-122"/>
                    <a:cs typeface="Times New Roman" panose="02020603050405020304" pitchFamily="18" charset="0"/>
                  </a:rPr>
                  <a:t>,</a:t>
                </a:r>
                <a:r>
                  <a:rPr lang="zh-CN" altLang="zh-CN" dirty="0">
                    <a:ea typeface="等线" panose="02010600030101010101" pitchFamily="2" charset="-122"/>
                    <a:cs typeface="Times New Roman" panose="02020603050405020304" pitchFamily="18" charset="0"/>
                  </a:rPr>
                  <a:t>则该直线绕旋转轴的变换如下：</a:t>
                </a:r>
                <a:endParaRPr lang="zh-CN" altLang="en-US" dirty="0"/>
              </a:p>
            </p:txBody>
          </p:sp>
        </mc:Choice>
        <mc:Fallback xmlns="">
          <p:sp>
            <p:nvSpPr>
              <p:cNvPr id="17" name="矩形 16"/>
              <p:cNvSpPr>
                <a:spLocks noRot="1" noChangeAspect="1" noMove="1" noResize="1" noEditPoints="1" noAdjustHandles="1" noChangeArrowheads="1" noChangeShapeType="1" noTextEdit="1"/>
              </p:cNvSpPr>
              <p:nvPr/>
            </p:nvSpPr>
            <p:spPr>
              <a:xfrm>
                <a:off x="3297556" y="3337962"/>
                <a:ext cx="4572000" cy="938270"/>
              </a:xfrm>
              <a:prstGeom prst="rect">
                <a:avLst/>
              </a:prstGeom>
              <a:blipFill>
                <a:blip r:embed="rId7"/>
                <a:stretch>
                  <a:fillRect l="-1200" t="-3922" b="-9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4233660" y="4276232"/>
                <a:ext cx="1833131" cy="38427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ea typeface="等线" panose="02010600030101010101" pitchFamily="2" charset="-122"/>
                              <a:cs typeface="Times New Roman" panose="02020603050405020304" pitchFamily="18" charset="0"/>
                            </a:rPr>
                          </m:ctrlPr>
                        </m:sSubPr>
                        <m:e>
                          <m:acc>
                            <m:accPr>
                              <m:chr m:val="̂"/>
                              <m:ctrlPr>
                                <a:rPr lang="zh-CN" altLang="en-US" i="1">
                                  <a:latin typeface="Cambria Math" panose="02040503050406030204" pitchFamily="18" charset="0"/>
                                  <a:ea typeface="等线" panose="02010600030101010101" pitchFamily="2" charset="-122"/>
                                  <a:cs typeface="Times New Roman" panose="02020603050405020304" pitchFamily="18" charset="0"/>
                                </a:rPr>
                              </m:ctrlPr>
                            </m:accPr>
                            <m:e>
                              <m:r>
                                <a:rPr lang="zh-CN" altLang="en-US" i="1">
                                  <a:latin typeface="Cambria Math" panose="02040503050406030204" pitchFamily="18" charset="0"/>
                                  <a:ea typeface="等线" panose="02010600030101010101" pitchFamily="2" charset="-122"/>
                                  <a:cs typeface="Times New Roman" panose="02020603050405020304" pitchFamily="18" charset="0"/>
                                </a:rPr>
                                <m:t>𝑙</m:t>
                              </m:r>
                            </m:e>
                          </m:acc>
                        </m:e>
                        <m:sub>
                          <m:r>
                            <a:rPr lang="zh-CN" altLang="en-US" i="1">
                              <a:latin typeface="Cambria Math" panose="02040503050406030204" pitchFamily="18" charset="0"/>
                              <a:ea typeface="等线" panose="02010600030101010101" pitchFamily="2" charset="-122"/>
                              <a:cs typeface="Times New Roman" panose="02020603050405020304" pitchFamily="18" charset="0"/>
                            </a:rPr>
                            <m:t>𝑅</m:t>
                          </m:r>
                        </m:sub>
                      </m:sSub>
                      <m:r>
                        <a:rPr lang="zh-CN" altLang="en-US" i="1">
                          <a:latin typeface="Cambria Math" panose="02040503050406030204" pitchFamily="18" charset="0"/>
                          <a:ea typeface="等线" panose="02010600030101010101" pitchFamily="2" charset="-122"/>
                          <a:cs typeface="Times New Roman" panose="02020603050405020304" pitchFamily="18" charset="0"/>
                        </a:rPr>
                        <m:t>=</m:t>
                      </m:r>
                      <m:acc>
                        <m:accPr>
                          <m:chr m:val="̂"/>
                          <m:ctrlPr>
                            <a:rPr lang="zh-CN" altLang="en-US" i="1">
                              <a:latin typeface="Cambria Math" panose="02040503050406030204" pitchFamily="18" charset="0"/>
                              <a:ea typeface="等线" panose="02010600030101010101" pitchFamily="2" charset="-122"/>
                              <a:cs typeface="Times New Roman" panose="02020603050405020304" pitchFamily="18" charset="0"/>
                            </a:rPr>
                          </m:ctrlPr>
                        </m:accPr>
                        <m:e>
                          <m:r>
                            <a:rPr lang="zh-CN" altLang="en-US" i="1">
                              <a:latin typeface="Cambria Math" panose="02040503050406030204" pitchFamily="18" charset="0"/>
                              <a:ea typeface="等线" panose="02010600030101010101" pitchFamily="2" charset="-122"/>
                              <a:cs typeface="Times New Roman" panose="02020603050405020304" pitchFamily="18" charset="0"/>
                            </a:rPr>
                            <m:t>𝑞</m:t>
                          </m:r>
                        </m:e>
                      </m:acc>
                      <m:r>
                        <a:rPr lang="zh-CN" altLang="en-US" i="1">
                          <a:latin typeface="Cambria Math" panose="02040503050406030204" pitchFamily="18" charset="0"/>
                        </a:rPr>
                        <m:t>⊗</m:t>
                      </m:r>
                      <m:acc>
                        <m:accPr>
                          <m:chr m:val="̂"/>
                          <m:ctrlPr>
                            <a:rPr lang="zh-CN" altLang="en-US" i="1">
                              <a:latin typeface="Cambria Math" panose="02040503050406030204" pitchFamily="18" charset="0"/>
                              <a:ea typeface="等线" panose="02010600030101010101" pitchFamily="2" charset="-122"/>
                              <a:cs typeface="Times New Roman" panose="02020603050405020304" pitchFamily="18" charset="0"/>
                            </a:rPr>
                          </m:ctrlPr>
                        </m:accPr>
                        <m:e>
                          <m:r>
                            <a:rPr lang="zh-CN" altLang="en-US" i="1">
                              <a:latin typeface="Cambria Math" panose="02040503050406030204" pitchFamily="18" charset="0"/>
                              <a:ea typeface="等线" panose="02010600030101010101" pitchFamily="2" charset="-122"/>
                              <a:cs typeface="Times New Roman" panose="02020603050405020304" pitchFamily="18" charset="0"/>
                            </a:rPr>
                            <m:t>𝑙</m:t>
                          </m:r>
                        </m:e>
                      </m:acc>
                      <m:sSup>
                        <m:sSupPr>
                          <m:ctrlPr>
                            <a:rPr lang="zh-CN" altLang="en-US" i="1">
                              <a:latin typeface="Cambria Math" panose="02040503050406030204" pitchFamily="18" charset="0"/>
                              <a:ea typeface="等线" panose="02010600030101010101" pitchFamily="2" charset="-122"/>
                              <a:cs typeface="Times New Roman" panose="02020603050405020304" pitchFamily="18" charset="0"/>
                            </a:rPr>
                          </m:ctrlPr>
                        </m:sSupPr>
                        <m:e>
                          <m:r>
                            <a:rPr lang="zh-CN" altLang="en-US" i="1">
                              <a:latin typeface="Cambria Math" panose="02040503050406030204" pitchFamily="18" charset="0"/>
                            </a:rPr>
                            <m:t>⊗</m:t>
                          </m:r>
                          <m:acc>
                            <m:accPr>
                              <m:chr m:val="̂"/>
                              <m:ctrlPr>
                                <a:rPr lang="zh-CN" altLang="en-US" i="1">
                                  <a:latin typeface="Cambria Math" panose="02040503050406030204" pitchFamily="18" charset="0"/>
                                  <a:ea typeface="等线" panose="02010600030101010101" pitchFamily="2" charset="-122"/>
                                  <a:cs typeface="Times New Roman" panose="02020603050405020304" pitchFamily="18" charset="0"/>
                                </a:rPr>
                              </m:ctrlPr>
                            </m:accPr>
                            <m:e>
                              <m:r>
                                <a:rPr lang="zh-CN" altLang="en-US" i="1">
                                  <a:latin typeface="Cambria Math" panose="02040503050406030204" pitchFamily="18" charset="0"/>
                                  <a:ea typeface="等线" panose="02010600030101010101" pitchFamily="2" charset="-122"/>
                                  <a:cs typeface="Times New Roman" panose="02020603050405020304" pitchFamily="18" charset="0"/>
                                </a:rPr>
                                <m:t>𝑞</m:t>
                              </m:r>
                            </m:e>
                          </m:acc>
                        </m:e>
                        <m:sup>
                          <m:r>
                            <a:rPr lang="zh-CN" altLang="en-US" i="1">
                              <a:latin typeface="Cambria Math" panose="02040503050406030204" pitchFamily="18" charset="0"/>
                              <a:ea typeface="等线" panose="02010600030101010101" pitchFamily="2" charset="-122"/>
                              <a:cs typeface="Times New Roman" panose="02020603050405020304" pitchFamily="18" charset="0"/>
                            </a:rPr>
                            <m:t>∗</m:t>
                          </m:r>
                        </m:sup>
                      </m:sSup>
                    </m:oMath>
                  </m:oMathPara>
                </a14:m>
                <a:endParaRPr lang="zh-CN" altLang="en-US" i="1" dirty="0">
                  <a:latin typeface="Cambria Math" panose="02040503050406030204" pitchFamily="18" charset="0"/>
                  <a:ea typeface="等线" panose="02010600030101010101" pitchFamily="2" charset="-122"/>
                  <a:cs typeface="Times New Roman" panose="02020603050405020304" pitchFamily="18" charset="0"/>
                </a:endParaRPr>
              </a:p>
            </p:txBody>
          </p:sp>
        </mc:Choice>
        <mc:Fallback xmlns="">
          <p:sp>
            <p:nvSpPr>
              <p:cNvPr id="18" name="矩形 17"/>
              <p:cNvSpPr>
                <a:spLocks noRot="1" noChangeAspect="1" noMove="1" noResize="1" noEditPoints="1" noAdjustHandles="1" noChangeArrowheads="1" noChangeShapeType="1" noTextEdit="1"/>
              </p:cNvSpPr>
              <p:nvPr/>
            </p:nvSpPr>
            <p:spPr>
              <a:xfrm>
                <a:off x="4233660" y="4276232"/>
                <a:ext cx="1833131" cy="384272"/>
              </a:xfrm>
              <a:prstGeom prst="rect">
                <a:avLst/>
              </a:prstGeom>
              <a:blipFill>
                <a:blip r:embed="rId8"/>
                <a:stretch>
                  <a:fillRect t="-6250" r="-8970" b="-7813"/>
                </a:stretch>
              </a:blipFill>
            </p:spPr>
            <p:txBody>
              <a:bodyPr/>
              <a:lstStyle/>
              <a:p>
                <a:r>
                  <a:rPr lang="zh-CN" altLang="en-US">
                    <a:noFill/>
                  </a:rPr>
                  <a:t> </a:t>
                </a:r>
              </a:p>
            </p:txBody>
          </p:sp>
        </mc:Fallback>
      </mc:AlternateContent>
      <p:pic>
        <p:nvPicPr>
          <p:cNvPr id="19" name="图片 18"/>
          <p:cNvPicPr>
            <a:picLocks noChangeAspect="1"/>
          </p:cNvPicPr>
          <p:nvPr/>
        </p:nvPicPr>
        <p:blipFill>
          <a:blip r:embed="rId9"/>
          <a:stretch>
            <a:fillRect/>
          </a:stretch>
        </p:blipFill>
        <p:spPr>
          <a:xfrm>
            <a:off x="6249884" y="922020"/>
            <a:ext cx="2321253" cy="825024"/>
          </a:xfrm>
          <a:prstGeom prst="rect">
            <a:avLst/>
          </a:prstGeom>
        </p:spPr>
      </p:pic>
    </p:spTree>
    <p:extLst>
      <p:ext uri="{BB962C8B-B14F-4D97-AF65-F5344CB8AC3E}">
        <p14:creationId xmlns:p14="http://schemas.microsoft.com/office/powerpoint/2010/main" val="169107699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Dual-Quaternions </a:t>
              </a:r>
              <a:r>
                <a:rPr lang="en-US" altLang="zh-CN" sz="1000" dirty="0">
                  <a:latin typeface="Arial" panose="020B0604020202020204" pitchFamily="34" charset="0"/>
                  <a:ea typeface="微软雅黑" panose="020B0503020204020204" charset="-122"/>
                  <a:sym typeface="+mn-ea"/>
                </a:rPr>
                <a:t>method</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对偶四元数</a:t>
              </a:r>
              <a:r>
                <a:rPr lang="zh-CN" altLang="en-US" sz="2000" b="1" dirty="0">
                  <a:latin typeface="Arial" panose="020B0604020202020204" pitchFamily="34" charset="0"/>
                  <a:ea typeface="微软雅黑" panose="020B0503020204020204" charset="-122"/>
                  <a:sym typeface="+mn-ea"/>
                </a:rPr>
                <a:t>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934013" y="1020601"/>
            <a:ext cx="6712094" cy="338554"/>
          </a:xfrm>
          <a:prstGeom prst="rect">
            <a:avLst/>
          </a:prstGeom>
        </p:spPr>
        <p:txBody>
          <a:bodyPr wrap="none">
            <a:spAutoFit/>
          </a:bodyPr>
          <a:lstStyle/>
          <a:p>
            <a:r>
              <a:rPr lang="en-US" altLang="zh-CN" sz="1600" dirty="0" smtClean="0">
                <a:latin typeface="等线" panose="02010600030101010101" pitchFamily="2" charset="-122"/>
                <a:cs typeface="Times New Roman" panose="02020603050405020304" pitchFamily="18" charset="0"/>
              </a:rPr>
              <a:t>n</a:t>
            </a:r>
            <a:r>
              <a:rPr lang="zh-CN" altLang="zh-CN" sz="1600" dirty="0" smtClean="0">
                <a:ea typeface="等线" panose="02010600030101010101" pitchFamily="2" charset="-122"/>
                <a:cs typeface="Times New Roman" panose="02020603050405020304" pitchFamily="18" charset="0"/>
              </a:rPr>
              <a:t>轴串联式机器人</a:t>
            </a:r>
            <a:r>
              <a:rPr lang="en-US" altLang="zh-CN" sz="1600" dirty="0" smtClean="0">
                <a:ea typeface="等线" panose="02010600030101010101" pitchFamily="2" charset="-122"/>
                <a:cs typeface="Times New Roman" panose="02020603050405020304" pitchFamily="18" charset="0"/>
              </a:rPr>
              <a:t>:</a:t>
            </a:r>
            <a:r>
              <a:rPr lang="zh-CN" altLang="zh-CN" sz="1600" dirty="0"/>
              <a:t>同旋量法一样建立各轴的旋转轴向量及瞬时方向向量。</a:t>
            </a:r>
            <a:endParaRPr lang="zh-CN" altLang="en-US" sz="1600" dirty="0"/>
          </a:p>
        </p:txBody>
      </p:sp>
      <mc:AlternateContent xmlns:mc="http://schemas.openxmlformats.org/markup-compatibility/2006" xmlns:a14="http://schemas.microsoft.com/office/drawing/2010/main">
        <mc:Choice Requires="a14">
          <p:sp>
            <p:nvSpPr>
              <p:cNvPr id="3" name="矩形 2"/>
              <p:cNvSpPr/>
              <p:nvPr/>
            </p:nvSpPr>
            <p:spPr>
              <a:xfrm>
                <a:off x="911424" y="1453717"/>
                <a:ext cx="7188968" cy="869405"/>
              </a:xfrm>
              <a:prstGeom prst="rect">
                <a:avLst/>
              </a:prstGeom>
            </p:spPr>
            <p:txBody>
              <a:bodyPr wrap="square">
                <a:spAutoFit/>
              </a:bodyPr>
              <a:lstStyle/>
              <a:p>
                <a:r>
                  <a:rPr lang="zh-CN" altLang="zh-CN" sz="1600" dirty="0">
                    <a:ea typeface="等线" panose="02010600030101010101" pitchFamily="2" charset="-122"/>
                    <a:cs typeface="Times New Roman" panose="02020603050405020304" pitchFamily="18" charset="0"/>
                  </a:rPr>
                  <a:t>旋转轴向量和旋量法中相同，瞬时方向向量采用对偶四元数</a:t>
                </a:r>
                <a14:m>
                  <m:oMath xmlns:m="http://schemas.openxmlformats.org/officeDocument/2006/math">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𝐿</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𝑝𝑖</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𝑚</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1600" dirty="0">
                    <a:ea typeface="等线" panose="02010600030101010101" pitchFamily="2" charset="-122"/>
                    <a:cs typeface="Times New Roman" panose="02020603050405020304" pitchFamily="18" charset="0"/>
                  </a:rPr>
                  <a:t>进行表示，其中</a:t>
                </a:r>
                <a:r>
                  <a:rPr lang="en-US" altLang="zh-CN" sz="1600" dirty="0" err="1">
                    <a:ea typeface="等线" panose="02010600030101010101" pitchFamily="2" charset="-122"/>
                    <a:cs typeface="Times New Roman" panose="02020603050405020304" pitchFamily="18" charset="0"/>
                  </a:rPr>
                  <a:t>i</a:t>
                </a:r>
                <a:r>
                  <a:rPr lang="en-US" altLang="zh-CN" sz="1600" dirty="0">
                    <a:ea typeface="等线" panose="02010600030101010101" pitchFamily="2" charset="-122"/>
                    <a:cs typeface="Times New Roman" panose="02020603050405020304" pitchFamily="18" charset="0"/>
                  </a:rPr>
                  <a:t>=1,2,…,n, </a:t>
                </a:r>
                <a14:m>
                  <m:oMath xmlns:m="http://schemas.openxmlformats.org/officeDocument/2006/math">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𝑚</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𝑖</m:t>
                        </m:r>
                      </m:sub>
                    </m:sSub>
                  </m:oMath>
                </a14:m>
                <a:r>
                  <a:rPr lang="en-US" altLang="zh-CN" sz="1600" dirty="0">
                    <a:latin typeface="等线" panose="02010600030101010101" pitchFamily="2" charset="-122"/>
                    <a:cs typeface="Times New Roman" panose="02020603050405020304" pitchFamily="18" charset="0"/>
                  </a:rPr>
                  <a:t>,</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𝑖</m:t>
                        </m:r>
                      </m:sub>
                    </m:sSub>
                  </m:oMath>
                </a14:m>
                <a:r>
                  <a:rPr lang="zh-CN" altLang="zh-CN" sz="1600" dirty="0">
                    <a:ea typeface="等线" panose="02010600030101010101" pitchFamily="2" charset="-122"/>
                    <a:cs typeface="Times New Roman" panose="02020603050405020304" pitchFamily="18" charset="0"/>
                  </a:rPr>
                  <a:t>表示第</a:t>
                </a:r>
                <a:r>
                  <a:rPr lang="en-US" altLang="zh-CN" sz="1600" dirty="0" err="1">
                    <a:ea typeface="等线" panose="02010600030101010101" pitchFamily="2" charset="-122"/>
                    <a:cs typeface="Times New Roman" panose="02020603050405020304" pitchFamily="18" charset="0"/>
                  </a:rPr>
                  <a:t>i</a:t>
                </a:r>
                <a:r>
                  <a:rPr lang="zh-CN" altLang="zh-CN" sz="1600" dirty="0">
                    <a:ea typeface="等线" panose="02010600030101010101" pitchFamily="2" charset="-122"/>
                    <a:cs typeface="Times New Roman" panose="02020603050405020304" pitchFamily="18" charset="0"/>
                  </a:rPr>
                  <a:t>轴直线上任意一点，</a:t>
                </a:r>
                <a14:m>
                  <m:oMath xmlns:m="http://schemas.openxmlformats.org/officeDocument/2006/math">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𝑖</m:t>
                        </m:r>
                      </m:sub>
                    </m:sSub>
                  </m:oMath>
                </a14:m>
                <a:r>
                  <a:rPr lang="zh-CN" altLang="zh-CN" sz="1600" dirty="0">
                    <a:ea typeface="等线" panose="02010600030101010101" pitchFamily="2" charset="-122"/>
                    <a:cs typeface="Times New Roman" panose="02020603050405020304" pitchFamily="18" charset="0"/>
                  </a:rPr>
                  <a:t>表示直线的方向向量</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𝑖𝑥</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𝑖𝑦</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𝑖𝑧</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1600" dirty="0">
                    <a:ea typeface="等线" panose="02010600030101010101" pitchFamily="2" charset="-122"/>
                    <a:cs typeface="Times New Roman" panose="02020603050405020304" pitchFamily="18" charset="0"/>
                  </a:rPr>
                  <a:t>。</a:t>
                </a:r>
                <a:endParaRPr lang="zh-CN" altLang="en-US" sz="1600" dirty="0"/>
              </a:p>
            </p:txBody>
          </p:sp>
        </mc:Choice>
        <mc:Fallback xmlns="">
          <p:sp>
            <p:nvSpPr>
              <p:cNvPr id="3" name="矩形 2"/>
              <p:cNvSpPr>
                <a:spLocks noRot="1" noChangeAspect="1" noMove="1" noResize="1" noEditPoints="1" noAdjustHandles="1" noChangeArrowheads="1" noChangeShapeType="1" noTextEdit="1"/>
              </p:cNvSpPr>
              <p:nvPr/>
            </p:nvSpPr>
            <p:spPr>
              <a:xfrm>
                <a:off x="911424" y="1453717"/>
                <a:ext cx="7188968" cy="869405"/>
              </a:xfrm>
              <a:prstGeom prst="rect">
                <a:avLst/>
              </a:prstGeom>
              <a:blipFill>
                <a:blip r:embed="rId3"/>
                <a:stretch>
                  <a:fillRect l="-509" t="-1399" b="-6294"/>
                </a:stretch>
              </a:blipFill>
            </p:spPr>
            <p:txBody>
              <a:bodyPr/>
              <a:lstStyle/>
              <a:p>
                <a:r>
                  <a:rPr lang="zh-CN" altLang="en-US">
                    <a:noFill/>
                  </a:rPr>
                  <a:t> </a:t>
                </a:r>
              </a:p>
            </p:txBody>
          </p:sp>
        </mc:Fallback>
      </mc:AlternateContent>
      <p:sp>
        <p:nvSpPr>
          <p:cNvPr id="8" name="矩形 7"/>
          <p:cNvSpPr/>
          <p:nvPr/>
        </p:nvSpPr>
        <p:spPr>
          <a:xfrm>
            <a:off x="899592" y="2420392"/>
            <a:ext cx="7128792" cy="338554"/>
          </a:xfrm>
          <a:prstGeom prst="rect">
            <a:avLst/>
          </a:prstGeom>
        </p:spPr>
        <p:txBody>
          <a:bodyPr wrap="square">
            <a:spAutoFit/>
          </a:bodyPr>
          <a:lstStyle/>
          <a:p>
            <a:r>
              <a:rPr lang="zh-CN" altLang="zh-CN" sz="1600" dirty="0">
                <a:ea typeface="等线" panose="02010600030101010101" pitchFamily="2" charset="-122"/>
                <a:cs typeface="Times New Roman" panose="02020603050405020304" pitchFamily="18" charset="0"/>
              </a:rPr>
              <a:t>各轴对应的变换操作采用对偶四元数进行表达：</a:t>
            </a:r>
            <a:endParaRPr lang="zh-CN" altLang="en-US" sz="1600" dirty="0"/>
          </a:p>
        </p:txBody>
      </p:sp>
      <mc:AlternateContent xmlns:mc="http://schemas.openxmlformats.org/markup-compatibility/2006" xmlns:a14="http://schemas.microsoft.com/office/drawing/2010/main">
        <mc:Choice Requires="a14">
          <p:sp>
            <p:nvSpPr>
              <p:cNvPr id="9" name="矩形 8"/>
              <p:cNvSpPr/>
              <p:nvPr/>
            </p:nvSpPr>
            <p:spPr>
              <a:xfrm>
                <a:off x="1253477" y="2680217"/>
                <a:ext cx="1509195"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sz="1600" b="1" i="1">
                              <a:latin typeface="Cambria Math" panose="02040503050406030204" pitchFamily="18" charset="0"/>
                              <a:ea typeface="Cambria Math" panose="02040503050406030204" pitchFamily="18" charset="0"/>
                            </a:rPr>
                          </m:ctrlPr>
                        </m:sSubPr>
                        <m:e>
                          <m:acc>
                            <m:accPr>
                              <m:chr m:val="̂"/>
                              <m:ctrlPr>
                                <a:rPr lang="zh-CN" altLang="zh-CN" sz="1600" b="1" i="1">
                                  <a:effectLst/>
                                  <a:latin typeface="Cambria Math" panose="02040503050406030204" pitchFamily="18" charset="0"/>
                                  <a:ea typeface="Cambria Math" panose="02040503050406030204" pitchFamily="18" charset="0"/>
                                </a:rPr>
                              </m:ctrlPr>
                            </m:accPr>
                            <m:e>
                              <m:r>
                                <a:rPr lang="en-US" altLang="zh-CN" sz="1600" b="1" i="1">
                                  <a:latin typeface="Cambria Math" panose="02040503050406030204" pitchFamily="18" charset="0"/>
                                  <a:ea typeface="等线" panose="02010600030101010101" pitchFamily="2" charset="-122"/>
                                  <a:cs typeface="Times New Roman" panose="02020603050405020304" pitchFamily="18" charset="0"/>
                                </a:rPr>
                                <m:t>𝒒</m:t>
                              </m:r>
                            </m:e>
                          </m:acc>
                        </m:e>
                        <m:sub>
                          <m:r>
                            <a:rPr lang="en-US" altLang="zh-CN" sz="1600" b="1" i="1">
                              <a:latin typeface="Cambria Math" panose="02040503050406030204" pitchFamily="18" charset="0"/>
                              <a:ea typeface="等线" panose="02010600030101010101" pitchFamily="2" charset="-122"/>
                              <a:cs typeface="Times New Roman" panose="02020603050405020304" pitchFamily="18" charset="0"/>
                            </a:rPr>
                            <m:t>𝒊</m:t>
                          </m:r>
                        </m:sub>
                      </m:sSub>
                      <m:r>
                        <a:rPr lang="en-US" altLang="zh-CN" sz="1600" b="1"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b="1" i="1">
                              <a:effectLst/>
                              <a:latin typeface="Cambria Math" panose="02040503050406030204" pitchFamily="18" charset="0"/>
                              <a:ea typeface="Cambria Math" panose="02040503050406030204" pitchFamily="18" charset="0"/>
                            </a:rPr>
                          </m:ctrlPr>
                        </m:sSubPr>
                        <m:e>
                          <m:r>
                            <a:rPr lang="en-US" altLang="zh-CN" sz="1600" b="1" i="1">
                              <a:latin typeface="Cambria Math" panose="02040503050406030204" pitchFamily="18" charset="0"/>
                              <a:ea typeface="等线" panose="02010600030101010101" pitchFamily="2" charset="-122"/>
                              <a:cs typeface="Times New Roman" panose="02020603050405020304" pitchFamily="18" charset="0"/>
                            </a:rPr>
                            <m:t>𝒒</m:t>
                          </m:r>
                        </m:e>
                        <m:sub>
                          <m:r>
                            <a:rPr lang="en-US" altLang="zh-CN" sz="1600" b="1" i="1">
                              <a:latin typeface="Cambria Math" panose="02040503050406030204" pitchFamily="18" charset="0"/>
                              <a:ea typeface="等线" panose="02010600030101010101" pitchFamily="2" charset="-122"/>
                              <a:cs typeface="Times New Roman" panose="02020603050405020304" pitchFamily="18" charset="0"/>
                            </a:rPr>
                            <m:t>𝒊</m:t>
                          </m:r>
                        </m:sub>
                      </m:sSub>
                      <m:r>
                        <a:rPr lang="en-US" altLang="zh-CN" sz="1600" b="1" i="1">
                          <a:latin typeface="Cambria Math" panose="02040503050406030204" pitchFamily="18" charset="0"/>
                          <a:ea typeface="等线" panose="02010600030101010101" pitchFamily="2" charset="-122"/>
                          <a:cs typeface="Times New Roman" panose="02020603050405020304" pitchFamily="18" charset="0"/>
                        </a:rPr>
                        <m:t>+</m:t>
                      </m:r>
                      <m:r>
                        <a:rPr lang="en-US" altLang="zh-CN" sz="1600" b="1" i="1">
                          <a:latin typeface="Cambria Math" panose="02040503050406030204" pitchFamily="18" charset="0"/>
                          <a:ea typeface="等线" panose="02010600030101010101" pitchFamily="2" charset="-122"/>
                          <a:cs typeface="Times New Roman" panose="02020603050405020304" pitchFamily="18" charset="0"/>
                        </a:rPr>
                        <m:t>𝜺</m:t>
                      </m:r>
                      <m:sSup>
                        <m:sSupPr>
                          <m:ctrlPr>
                            <a:rPr lang="zh-CN" altLang="zh-CN" sz="1600" b="1" i="1">
                              <a:effectLst/>
                              <a:latin typeface="Cambria Math" panose="02040503050406030204" pitchFamily="18" charset="0"/>
                              <a:ea typeface="Cambria Math" panose="02040503050406030204" pitchFamily="18" charset="0"/>
                            </a:rPr>
                          </m:ctrlPr>
                        </m:sSupPr>
                        <m:e>
                          <m:sSub>
                            <m:sSubPr>
                              <m:ctrlPr>
                                <a:rPr lang="zh-CN" altLang="zh-CN" sz="1600" b="1" i="1">
                                  <a:effectLst/>
                                  <a:latin typeface="Cambria Math" panose="02040503050406030204" pitchFamily="18" charset="0"/>
                                  <a:ea typeface="Cambria Math" panose="02040503050406030204" pitchFamily="18" charset="0"/>
                                </a:rPr>
                              </m:ctrlPr>
                            </m:sSubPr>
                            <m:e>
                              <m:r>
                                <a:rPr lang="en-US" altLang="zh-CN" sz="1600" b="1" i="1">
                                  <a:latin typeface="Cambria Math" panose="02040503050406030204" pitchFamily="18" charset="0"/>
                                  <a:ea typeface="等线" panose="02010600030101010101" pitchFamily="2" charset="-122"/>
                                  <a:cs typeface="Times New Roman" panose="02020603050405020304" pitchFamily="18" charset="0"/>
                                </a:rPr>
                                <m:t>𝒒</m:t>
                              </m:r>
                            </m:e>
                            <m:sub>
                              <m:r>
                                <a:rPr lang="en-US" altLang="zh-CN" sz="1600" b="1" i="1">
                                  <a:latin typeface="Cambria Math" panose="02040503050406030204" pitchFamily="18" charset="0"/>
                                  <a:ea typeface="等线" panose="02010600030101010101" pitchFamily="2" charset="-122"/>
                                  <a:cs typeface="Times New Roman" panose="02020603050405020304" pitchFamily="18" charset="0"/>
                                </a:rPr>
                                <m:t>𝒊</m:t>
                              </m:r>
                            </m:sub>
                          </m:sSub>
                        </m:e>
                        <m:sup>
                          <m:r>
                            <a:rPr lang="en-US" altLang="zh-CN" sz="1600" b="1" i="1">
                              <a:latin typeface="Cambria Math" panose="02040503050406030204" pitchFamily="18" charset="0"/>
                              <a:ea typeface="等线" panose="02010600030101010101" pitchFamily="2" charset="-122"/>
                              <a:cs typeface="Times New Roman" panose="02020603050405020304" pitchFamily="18" charset="0"/>
                            </a:rPr>
                            <m:t>𝒐</m:t>
                          </m:r>
                        </m:sup>
                      </m:sSup>
                    </m:oMath>
                  </m:oMathPara>
                </a14:m>
                <a:endParaRPr lang="zh-CN" altLang="en-US" sz="1600" b="1" dirty="0"/>
              </a:p>
            </p:txBody>
          </p:sp>
        </mc:Choice>
        <mc:Fallback xmlns="">
          <p:sp>
            <p:nvSpPr>
              <p:cNvPr id="9" name="矩形 8"/>
              <p:cNvSpPr>
                <a:spLocks noRot="1" noChangeAspect="1" noMove="1" noResize="1" noEditPoints="1" noAdjustHandles="1" noChangeArrowheads="1" noChangeShapeType="1" noTextEdit="1"/>
              </p:cNvSpPr>
              <p:nvPr/>
            </p:nvSpPr>
            <p:spPr>
              <a:xfrm>
                <a:off x="1253477" y="2680217"/>
                <a:ext cx="1509195" cy="338554"/>
              </a:xfrm>
              <a:prstGeom prst="rect">
                <a:avLst/>
              </a:prstGeom>
              <a:blipFill>
                <a:blip r:embed="rId4"/>
                <a:stretch>
                  <a:fillRect b="-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1259632" y="2950975"/>
                <a:ext cx="5880308" cy="50731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𝑖</m:t>
                              </m:r>
                            </m:sub>
                          </m:sSub>
                          <m:r>
                            <a:rPr lang="zh-CN" altLang="en-US" sz="1200" i="0">
                              <a:latin typeface="Cambria Math" panose="02040503050406030204" pitchFamily="18" charset="0"/>
                            </a:rPr>
                            <m:t>=(</m:t>
                          </m:r>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cos</m:t>
                              </m:r>
                            </m:fName>
                            <m:e>
                              <m:d>
                                <m:dPr>
                                  <m:ctrlPr>
                                    <a:rPr lang="zh-CN" altLang="en-US" sz="1200" i="1">
                                      <a:latin typeface="Cambria Math" panose="02040503050406030204" pitchFamily="18" charset="0"/>
                                    </a:rPr>
                                  </m:ctrlPr>
                                </m:dPr>
                                <m:e>
                                  <m:f>
                                    <m:fPr>
                                      <m:ctrlPr>
                                        <a:rPr lang="zh-CN" altLang="en-US" sz="1200" i="1">
                                          <a:latin typeface="Cambria Math" panose="02040503050406030204" pitchFamily="18" charset="0"/>
                                        </a:rPr>
                                      </m:ctrlPr>
                                    </m:fPr>
                                    <m:num>
                                      <m:r>
                                        <a:rPr lang="zh-CN" altLang="en-US" sz="1200" i="0">
                                          <a:latin typeface="Cambria Math" panose="02040503050406030204" pitchFamily="18" charset="0"/>
                                        </a:rPr>
                                        <m:t> </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𝑖</m:t>
                                          </m:r>
                                        </m:sub>
                                      </m:sSub>
                                    </m:num>
                                    <m:den>
                                      <m:r>
                                        <a:rPr lang="zh-CN" altLang="en-US" sz="1200" i="0">
                                          <a:latin typeface="Cambria Math" panose="02040503050406030204" pitchFamily="18" charset="0"/>
                                        </a:rPr>
                                        <m:t>2</m:t>
                                      </m:r>
                                    </m:den>
                                  </m:f>
                                </m:e>
                              </m:d>
                            </m:e>
                          </m:func>
                          <m:r>
                            <a:rPr lang="zh-CN" altLang="en-US" sz="1200" i="0">
                              <a:latin typeface="Cambria Math" panose="02040503050406030204" pitchFamily="18" charset="0"/>
                            </a:rPr>
                            <m:t>,</m:t>
                          </m:r>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sin</m:t>
                              </m:r>
                            </m:fName>
                            <m:e>
                              <m:d>
                                <m:dPr>
                                  <m:ctrlPr>
                                    <a:rPr lang="zh-CN" altLang="en-US" sz="1200" i="1">
                                      <a:latin typeface="Cambria Math" panose="02040503050406030204" pitchFamily="18" charset="0"/>
                                    </a:rPr>
                                  </m:ctrlPr>
                                </m:dPr>
                                <m:e>
                                  <m:f>
                                    <m:fPr>
                                      <m:ctrlPr>
                                        <a:rPr lang="zh-CN" altLang="en-US" sz="1200" i="1">
                                          <a:latin typeface="Cambria Math" panose="02040503050406030204" pitchFamily="18" charset="0"/>
                                        </a:rPr>
                                      </m:ctrlPr>
                                    </m:fPr>
                                    <m:num>
                                      <m:r>
                                        <a:rPr lang="zh-CN" altLang="en-US" sz="1200" i="0">
                                          <a:latin typeface="Cambria Math" panose="02040503050406030204" pitchFamily="18" charset="0"/>
                                        </a:rPr>
                                        <m:t> </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𝑖</m:t>
                                          </m:r>
                                        </m:sub>
                                      </m:sSub>
                                    </m:num>
                                    <m:den>
                                      <m:r>
                                        <a:rPr lang="zh-CN" altLang="en-US" sz="1200" i="0">
                                          <a:latin typeface="Cambria Math" panose="02040503050406030204" pitchFamily="18" charset="0"/>
                                        </a:rPr>
                                        <m:t>2</m:t>
                                      </m:r>
                                    </m:den>
                                  </m:f>
                                </m:e>
                              </m:d>
                            </m:e>
                          </m:func>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r>
                                <a:rPr lang="zh-CN" altLang="en-US" sz="1200" i="1">
                                  <a:latin typeface="Cambria Math" panose="02040503050406030204" pitchFamily="18" charset="0"/>
                                </a:rPr>
                                <m:t>𝑖𝑥</m:t>
                              </m:r>
                            </m:sub>
                          </m:sSub>
                          <m:r>
                            <a:rPr lang="zh-CN" altLang="en-US" sz="1200" i="0">
                              <a:latin typeface="Cambria Math" panose="02040503050406030204" pitchFamily="18" charset="0"/>
                            </a:rPr>
                            <m:t>,</m:t>
                          </m:r>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sin</m:t>
                              </m:r>
                            </m:fName>
                            <m:e>
                              <m:d>
                                <m:dPr>
                                  <m:ctrlPr>
                                    <a:rPr lang="zh-CN" altLang="en-US" sz="1200" i="1">
                                      <a:latin typeface="Cambria Math" panose="02040503050406030204" pitchFamily="18" charset="0"/>
                                    </a:rPr>
                                  </m:ctrlPr>
                                </m:dPr>
                                <m:e>
                                  <m:f>
                                    <m:fPr>
                                      <m:ctrlPr>
                                        <a:rPr lang="zh-CN" altLang="en-US" sz="1200" i="1">
                                          <a:latin typeface="Cambria Math" panose="02040503050406030204" pitchFamily="18" charset="0"/>
                                        </a:rPr>
                                      </m:ctrlPr>
                                    </m:fPr>
                                    <m:num>
                                      <m:r>
                                        <a:rPr lang="zh-CN" altLang="en-US" sz="1200" i="0">
                                          <a:latin typeface="Cambria Math" panose="02040503050406030204" pitchFamily="18" charset="0"/>
                                        </a:rPr>
                                        <m:t> </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𝑖</m:t>
                                          </m:r>
                                        </m:sub>
                                      </m:sSub>
                                    </m:num>
                                    <m:den>
                                      <m:r>
                                        <a:rPr lang="zh-CN" altLang="en-US" sz="1200" i="0">
                                          <a:latin typeface="Cambria Math" panose="02040503050406030204" pitchFamily="18" charset="0"/>
                                        </a:rPr>
                                        <m:t>2</m:t>
                                      </m:r>
                                    </m:den>
                                  </m:f>
                                </m:e>
                              </m:d>
                            </m:e>
                          </m:func>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r>
                                <a:rPr lang="zh-CN" altLang="en-US" sz="1200" i="1">
                                  <a:latin typeface="Cambria Math" panose="02040503050406030204" pitchFamily="18" charset="0"/>
                                </a:rPr>
                                <m:t>𝑖𝑦</m:t>
                              </m:r>
                            </m:sub>
                          </m:sSub>
                          <m:r>
                            <a:rPr lang="zh-CN" altLang="en-US" sz="1200" i="0">
                              <a:latin typeface="Cambria Math" panose="02040503050406030204" pitchFamily="18" charset="0"/>
                            </a:rPr>
                            <m:t>,</m:t>
                          </m:r>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sin</m:t>
                              </m:r>
                            </m:fName>
                            <m:e>
                              <m:d>
                                <m:dPr>
                                  <m:ctrlPr>
                                    <a:rPr lang="zh-CN" altLang="en-US" sz="1200" i="1">
                                      <a:latin typeface="Cambria Math" panose="02040503050406030204" pitchFamily="18" charset="0"/>
                                    </a:rPr>
                                  </m:ctrlPr>
                                </m:dPr>
                                <m:e>
                                  <m:f>
                                    <m:fPr>
                                      <m:ctrlPr>
                                        <a:rPr lang="zh-CN" altLang="en-US" sz="1200" i="1">
                                          <a:latin typeface="Cambria Math" panose="02040503050406030204" pitchFamily="18" charset="0"/>
                                        </a:rPr>
                                      </m:ctrlPr>
                                    </m:fPr>
                                    <m:num>
                                      <m:r>
                                        <a:rPr lang="zh-CN" altLang="en-US" sz="1200" i="0">
                                          <a:latin typeface="Cambria Math" panose="02040503050406030204" pitchFamily="18" charset="0"/>
                                        </a:rPr>
                                        <m:t> </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𝑖</m:t>
                                          </m:r>
                                        </m:sub>
                                      </m:sSub>
                                    </m:num>
                                    <m:den>
                                      <m:r>
                                        <a:rPr lang="zh-CN" altLang="en-US" sz="1200" i="0">
                                          <a:latin typeface="Cambria Math" panose="02040503050406030204" pitchFamily="18" charset="0"/>
                                        </a:rPr>
                                        <m:t>2</m:t>
                                      </m:r>
                                    </m:den>
                                  </m:f>
                                </m:e>
                              </m:d>
                            </m:e>
                          </m:func>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r>
                                <a:rPr lang="zh-CN" altLang="en-US" sz="1200" i="1">
                                  <a:latin typeface="Cambria Math" panose="02040503050406030204" pitchFamily="18" charset="0"/>
                                </a:rPr>
                                <m:t>𝑖𝑧</m:t>
                              </m:r>
                            </m:sub>
                          </m:sSub>
                        </m:e>
                      </m:d>
                    </m:oMath>
                  </m:oMathPara>
                </a14:m>
                <a:endParaRPr lang="zh-CN" altLang="en-US" sz="1200" dirty="0"/>
              </a:p>
            </p:txBody>
          </p:sp>
        </mc:Choice>
        <mc:Fallback xmlns="">
          <p:sp>
            <p:nvSpPr>
              <p:cNvPr id="10" name="矩形 9"/>
              <p:cNvSpPr>
                <a:spLocks noRot="1" noChangeAspect="1" noMove="1" noResize="1" noEditPoints="1" noAdjustHandles="1" noChangeArrowheads="1" noChangeShapeType="1" noTextEdit="1"/>
              </p:cNvSpPr>
              <p:nvPr/>
            </p:nvSpPr>
            <p:spPr>
              <a:xfrm>
                <a:off x="1259632" y="2950975"/>
                <a:ext cx="5880308" cy="507318"/>
              </a:xfrm>
              <a:prstGeom prst="rect">
                <a:avLst/>
              </a:prstGeom>
              <a:blipFill>
                <a:blip r:embed="rId5"/>
                <a:stretch>
                  <a:fillRect t="-179518" b="-2614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2285682" y="3312470"/>
                <a:ext cx="2432461" cy="4380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sz="1200" i="1">
                              <a:latin typeface="Cambria Math" panose="02040503050406030204" pitchFamily="18" charset="0"/>
                            </a:rPr>
                          </m:ctrlPr>
                        </m:sSup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𝑖</m:t>
                              </m:r>
                            </m:sub>
                          </m:sSub>
                        </m:e>
                        <m:sup>
                          <m:r>
                            <a:rPr lang="zh-CN" altLang="en-US" sz="1200" i="1">
                              <a:latin typeface="Cambria Math" panose="02040503050406030204" pitchFamily="18" charset="0"/>
                            </a:rPr>
                            <m:t>𝑜</m:t>
                          </m:r>
                        </m:sup>
                      </m:sSup>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
                            <a:rPr lang="zh-CN" altLang="en-US" sz="1200" i="0">
                              <a:latin typeface="Cambria Math" panose="02040503050406030204" pitchFamily="18" charset="0"/>
                            </a:rPr>
                            <m:t>1</m:t>
                          </m:r>
                        </m:num>
                        <m:den>
                          <m:r>
                            <a:rPr lang="zh-CN" altLang="en-US" sz="1200" i="0">
                              <a:latin typeface="Cambria Math" panose="02040503050406030204" pitchFamily="18" charset="0"/>
                            </a:rPr>
                            <m:t>2</m:t>
                          </m:r>
                        </m:den>
                      </m:f>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𝑝</m:t>
                          </m:r>
                        </m:e>
                        <m:sub>
                          <m:r>
                            <a:rPr lang="zh-CN" altLang="en-US" sz="1200" i="1">
                              <a:latin typeface="Cambria Math" panose="02040503050406030204" pitchFamily="18" charset="0"/>
                            </a:rPr>
                            <m:t>𝑖</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𝑖</m:t>
                          </m:r>
                        </m:sub>
                      </m:sSub>
                      <m:r>
                        <a:rPr lang="zh-CN" altLang="en-US" sz="1200" i="1">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𝑝</m:t>
                          </m:r>
                        </m:e>
                        <m:sub>
                          <m:r>
                            <a:rPr lang="zh-CN" altLang="en-US" sz="1200" i="1">
                              <a:latin typeface="Cambria Math" panose="02040503050406030204" pitchFamily="18" charset="0"/>
                            </a:rPr>
                            <m:t>𝑖</m:t>
                          </m:r>
                        </m:sub>
                      </m:sSub>
                      <m:r>
                        <a:rPr lang="zh-CN" altLang="en-US" sz="1200" i="1">
                          <a:latin typeface="Cambria Math" panose="02040503050406030204" pitchFamily="18" charset="0"/>
                        </a:rPr>
                        <m:t>⊗</m:t>
                      </m:r>
                      <m:sSup>
                        <m:sSupPr>
                          <m:ctrlPr>
                            <a:rPr lang="zh-CN" altLang="en-US" sz="1200" i="1">
                              <a:latin typeface="Cambria Math" panose="02040503050406030204" pitchFamily="18" charset="0"/>
                            </a:rPr>
                          </m:ctrlPr>
                        </m:sSup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𝑖</m:t>
                              </m:r>
                            </m:sub>
                          </m:sSub>
                        </m:e>
                        <m:sup>
                          <m:r>
                            <a:rPr lang="zh-CN" altLang="en-US" sz="1200">
                              <a:latin typeface="Cambria Math" panose="02040503050406030204" pitchFamily="18" charset="0"/>
                            </a:rPr>
                            <m:t>∗</m:t>
                          </m:r>
                        </m:sup>
                      </m:sSup>
                      <m:r>
                        <a:rPr lang="zh-CN" altLang="en-US" sz="1200" i="0">
                          <a:latin typeface="Cambria Math" panose="02040503050406030204" pitchFamily="18" charset="0"/>
                        </a:rPr>
                        <m:t>)</m:t>
                      </m:r>
                      <m:r>
                        <a:rPr lang="zh-CN" altLang="en-US" sz="1200" i="1">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𝑖</m:t>
                          </m:r>
                        </m:sub>
                      </m:sSub>
                    </m:oMath>
                  </m:oMathPara>
                </a14:m>
                <a:endParaRPr lang="zh-CN" altLang="en-US" sz="1200" dirty="0"/>
              </a:p>
            </p:txBody>
          </p:sp>
        </mc:Choice>
        <mc:Fallback xmlns="">
          <p:sp>
            <p:nvSpPr>
              <p:cNvPr id="11" name="矩形 10"/>
              <p:cNvSpPr>
                <a:spLocks noRot="1" noChangeAspect="1" noMove="1" noResize="1" noEditPoints="1" noAdjustHandles="1" noChangeArrowheads="1" noChangeShapeType="1" noTextEdit="1"/>
              </p:cNvSpPr>
              <p:nvPr/>
            </p:nvSpPr>
            <p:spPr>
              <a:xfrm>
                <a:off x="2285682" y="3312470"/>
                <a:ext cx="2432461" cy="438005"/>
              </a:xfrm>
              <a:prstGeom prst="rect">
                <a:avLst/>
              </a:prstGeom>
              <a:blipFill>
                <a:blip r:embed="rId6"/>
                <a:stretch>
                  <a:fillRect b="-13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2219113" y="4101917"/>
                <a:ext cx="5396654" cy="845616"/>
              </a:xfrm>
              <a:prstGeom prst="rect">
                <a:avLst/>
              </a:prstGeom>
            </p:spPr>
            <p:txBody>
              <a:bodyPr wrap="square">
                <a:spAutoFit/>
              </a:bodyPr>
              <a:lstStyle/>
              <a:p>
                <a14:m>
                  <m:oMath xmlns:m="http://schemas.openxmlformats.org/officeDocument/2006/math">
                    <m:sSub>
                      <m:sSubPr>
                        <m:ctrlPr>
                          <a:rPr lang="zh-CN" altLang="zh-CN" sz="1200" i="1">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sub>
                    </m:sSub>
                  </m:oMath>
                </a14:m>
                <a:r>
                  <a:rPr lang="zh-CN" altLang="zh-CN" sz="1200" dirty="0">
                    <a:ea typeface="等线" panose="02010600030101010101" pitchFamily="2" charset="-122"/>
                    <a:cs typeface="Times New Roman" panose="02020603050405020304" pitchFamily="18" charset="0"/>
                  </a:rPr>
                  <a:t>则表示平移运动部分</a:t>
                </a:r>
                <a:r>
                  <a:rPr lang="en-US" altLang="zh-CN" sz="1200" dirty="0">
                    <a:ea typeface="等线" panose="02010600030101010101" pitchFamily="2" charset="-122"/>
                    <a:cs typeface="Times New Roman" panose="02020603050405020304" pitchFamily="18" charset="0"/>
                  </a:rPr>
                  <a:t>,</a:t>
                </a:r>
                <a:r>
                  <a:rPr lang="zh-CN" altLang="zh-CN" sz="1200" dirty="0">
                    <a:ea typeface="等线" panose="02010600030101010101" pitchFamily="2" charset="-122"/>
                    <a:cs typeface="Times New Roman" panose="02020603050405020304" pitchFamily="18" charset="0"/>
                  </a:rPr>
                  <a:t>为第</a:t>
                </a:r>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oMath>
                </a14:m>
                <a:r>
                  <a:rPr lang="zh-CN" altLang="zh-CN" sz="1200" dirty="0">
                    <a:ea typeface="等线" panose="02010600030101010101" pitchFamily="2" charset="-122"/>
                    <a:cs typeface="Times New Roman" panose="02020603050405020304" pitchFamily="18" charset="0"/>
                  </a:rPr>
                  <a:t>轴旋转</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sub>
                    </m:sSub>
                  </m:oMath>
                </a14:m>
                <a:r>
                  <a:rPr lang="zh-CN" altLang="zh-CN" sz="1200" dirty="0">
                    <a:ea typeface="等线" panose="02010600030101010101" pitchFamily="2" charset="-122"/>
                    <a:cs typeface="Times New Roman" panose="02020603050405020304" pitchFamily="18" charset="0"/>
                  </a:rPr>
                  <a:t>后，导致第</a:t>
                </a:r>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1200" dirty="0">
                    <a:ea typeface="等线" panose="02010600030101010101" pitchFamily="2" charset="-122"/>
                    <a:cs typeface="Times New Roman" panose="02020603050405020304" pitchFamily="18" charset="0"/>
                  </a:rPr>
                  <a:t>轴产生的平移位移值（参考坐标系为基坐标系）。如果该关节为平移关节，则</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=(1,0,0,0)</m:t>
                    </m:r>
                  </m:oMath>
                </a14:m>
                <a:r>
                  <a:rPr lang="zh-CN" altLang="zh-CN" sz="1200" dirty="0">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=(0,</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𝑥</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𝑦</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𝑧</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1200" dirty="0">
                    <a:ea typeface="等线" panose="02010600030101010101" pitchFamily="2" charset="-122"/>
                    <a:cs typeface="Times New Roman" panose="02020603050405020304" pitchFamily="18" charset="0"/>
                  </a:rPr>
                  <a:t>，一般来说应该只有一个自由度的平移，也就是</a:t>
                </a:r>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𝑥</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𝑦</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𝑧</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1200" dirty="0">
                    <a:ea typeface="等线" panose="02010600030101010101" pitchFamily="2" charset="-122"/>
                    <a:cs typeface="Times New Roman" panose="02020603050405020304" pitchFamily="18" charset="0"/>
                  </a:rPr>
                  <a:t>中只有一个方向的位移值。</a:t>
                </a:r>
                <a:endParaRPr lang="zh-CN" altLang="en-US" sz="1200" dirty="0"/>
              </a:p>
            </p:txBody>
          </p:sp>
        </mc:Choice>
        <mc:Fallback xmlns="">
          <p:sp>
            <p:nvSpPr>
              <p:cNvPr id="14" name="矩形 13"/>
              <p:cNvSpPr>
                <a:spLocks noRot="1" noChangeAspect="1" noMove="1" noResize="1" noEditPoints="1" noAdjustHandles="1" noChangeArrowheads="1" noChangeShapeType="1" noTextEdit="1"/>
              </p:cNvSpPr>
              <p:nvPr/>
            </p:nvSpPr>
            <p:spPr>
              <a:xfrm>
                <a:off x="2219113" y="4101917"/>
                <a:ext cx="5396654" cy="845616"/>
              </a:xfrm>
              <a:prstGeom prst="rect">
                <a:avLst/>
              </a:prstGeom>
              <a:blipFill>
                <a:blip r:embed="rId7"/>
                <a:stretch>
                  <a:fillRect t="-719" b="-50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1185198" y="3647418"/>
                <a:ext cx="1517403" cy="338554"/>
              </a:xfrm>
              <a:prstGeom prst="rect">
                <a:avLst/>
              </a:prstGeom>
            </p:spPr>
            <p:txBody>
              <a:bodyPr wrap="none">
                <a:spAutoFit/>
              </a:bodyPr>
              <a:lstStyle/>
              <a:p>
                <a:r>
                  <a:rPr lang="zh-CN" altLang="zh-CN" sz="1600" b="1" dirty="0">
                    <a:ea typeface="等线" panose="02010600030101010101" pitchFamily="2" charset="-122"/>
                    <a:cs typeface="Times New Roman" panose="02020603050405020304" pitchFamily="18" charset="0"/>
                  </a:rPr>
                  <a:t>或 </a:t>
                </a:r>
                <a14:m>
                  <m:oMath xmlns:m="http://schemas.openxmlformats.org/officeDocument/2006/math">
                    <m:sSub>
                      <m:sSubPr>
                        <m:ctrlPr>
                          <a:rPr lang="zh-CN" altLang="zh-CN" sz="1600" b="1" i="1">
                            <a:latin typeface="Cambria Math" panose="02040503050406030204" pitchFamily="18" charset="0"/>
                            <a:ea typeface="Cambria Math" panose="02040503050406030204" pitchFamily="18" charset="0"/>
                          </a:rPr>
                        </m:ctrlPr>
                      </m:sSubPr>
                      <m:e>
                        <m:acc>
                          <m:accPr>
                            <m:chr m:val="̂"/>
                            <m:ctrlPr>
                              <a:rPr lang="zh-CN" altLang="zh-CN" sz="1600" b="1" i="1">
                                <a:latin typeface="Cambria Math" panose="02040503050406030204" pitchFamily="18" charset="0"/>
                                <a:ea typeface="Cambria Math" panose="02040503050406030204" pitchFamily="18" charset="0"/>
                              </a:rPr>
                            </m:ctrlPr>
                          </m:accPr>
                          <m:e>
                            <m:r>
                              <a:rPr lang="en-US" altLang="zh-CN" sz="1600" b="1" i="1">
                                <a:latin typeface="Cambria Math" panose="02040503050406030204" pitchFamily="18" charset="0"/>
                                <a:ea typeface="等线" panose="02010600030101010101" pitchFamily="2" charset="-122"/>
                                <a:cs typeface="Times New Roman" panose="02020603050405020304" pitchFamily="18" charset="0"/>
                              </a:rPr>
                              <m:t>𝒒</m:t>
                            </m:r>
                          </m:e>
                        </m:acc>
                      </m:e>
                      <m:sub>
                        <m:r>
                          <a:rPr lang="en-US" altLang="zh-CN" sz="1600" b="1" i="1">
                            <a:latin typeface="Cambria Math" panose="02040503050406030204" pitchFamily="18" charset="0"/>
                            <a:ea typeface="等线" panose="02010600030101010101" pitchFamily="2" charset="-122"/>
                            <a:cs typeface="Times New Roman" panose="02020603050405020304" pitchFamily="18" charset="0"/>
                          </a:rPr>
                          <m:t>𝒊</m:t>
                        </m:r>
                      </m:sub>
                    </m:sSub>
                    <m:r>
                      <a:rPr lang="en-US" altLang="zh-CN" sz="1600" b="1"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b="1" i="1">
                            <a:latin typeface="Cambria Math" panose="02040503050406030204" pitchFamily="18" charset="0"/>
                            <a:ea typeface="Cambria Math" panose="02040503050406030204" pitchFamily="18" charset="0"/>
                          </a:rPr>
                        </m:ctrlPr>
                      </m:sSubPr>
                      <m:e>
                        <m:r>
                          <a:rPr lang="en-US" altLang="zh-CN" sz="1600" b="1" i="1">
                            <a:latin typeface="Cambria Math" panose="02040503050406030204" pitchFamily="18" charset="0"/>
                            <a:ea typeface="等线" panose="02010600030101010101" pitchFamily="2" charset="-122"/>
                            <a:cs typeface="Times New Roman" panose="02020603050405020304" pitchFamily="18" charset="0"/>
                          </a:rPr>
                          <m:t>𝒒</m:t>
                        </m:r>
                      </m:e>
                      <m:sub>
                        <m:r>
                          <a:rPr lang="en-US" altLang="zh-CN" sz="1600" b="1" i="1">
                            <a:latin typeface="Cambria Math" panose="02040503050406030204" pitchFamily="18" charset="0"/>
                            <a:ea typeface="等线" panose="02010600030101010101" pitchFamily="2" charset="-122"/>
                            <a:cs typeface="Times New Roman" panose="02020603050405020304" pitchFamily="18" charset="0"/>
                          </a:rPr>
                          <m:t>𝒊</m:t>
                        </m:r>
                      </m:sub>
                    </m:sSub>
                    <m:r>
                      <a:rPr lang="en-US" altLang="zh-CN" sz="1600" b="1"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b="1" i="1">
                            <a:latin typeface="Cambria Math" panose="02040503050406030204" pitchFamily="18" charset="0"/>
                            <a:ea typeface="Cambria Math" panose="02040503050406030204" pitchFamily="18" charset="0"/>
                          </a:rPr>
                        </m:ctrlPr>
                      </m:sSubPr>
                      <m:e>
                        <m:r>
                          <a:rPr lang="en-US" altLang="zh-CN" sz="1600" b="1" i="1">
                            <a:latin typeface="Cambria Math" panose="02040503050406030204" pitchFamily="18" charset="0"/>
                            <a:ea typeface="等线" panose="02010600030101010101" pitchFamily="2" charset="-122"/>
                            <a:cs typeface="Times New Roman" panose="02020603050405020304" pitchFamily="18" charset="0"/>
                          </a:rPr>
                          <m:t>𝒑</m:t>
                        </m:r>
                      </m:e>
                      <m:sub>
                        <m:r>
                          <a:rPr lang="en-US" altLang="zh-CN" sz="1600" b="1" i="1">
                            <a:latin typeface="Cambria Math" panose="02040503050406030204" pitchFamily="18" charset="0"/>
                            <a:ea typeface="等线" panose="02010600030101010101" pitchFamily="2" charset="-122"/>
                            <a:cs typeface="Times New Roman" panose="02020603050405020304" pitchFamily="18" charset="0"/>
                          </a:rPr>
                          <m:t>𝒊</m:t>
                        </m:r>
                      </m:sub>
                    </m:sSub>
                    <m:r>
                      <a:rPr lang="en-US" altLang="zh-CN" sz="1600" b="1" i="1">
                        <a:latin typeface="Cambria Math" panose="02040503050406030204" pitchFamily="18" charset="0"/>
                        <a:ea typeface="等线" panose="02010600030101010101" pitchFamily="2" charset="-122"/>
                        <a:cs typeface="Times New Roman" panose="02020603050405020304" pitchFamily="18" charset="0"/>
                      </a:rPr>
                      <m:t>)</m:t>
                    </m:r>
                  </m:oMath>
                </a14:m>
                <a:endParaRPr lang="zh-CN" altLang="en-US" sz="1600" b="1" dirty="0"/>
              </a:p>
            </p:txBody>
          </p:sp>
        </mc:Choice>
        <mc:Fallback xmlns="">
          <p:sp>
            <p:nvSpPr>
              <p:cNvPr id="20" name="矩形 19"/>
              <p:cNvSpPr>
                <a:spLocks noRot="1" noChangeAspect="1" noMove="1" noResize="1" noEditPoints="1" noAdjustHandles="1" noChangeArrowheads="1" noChangeShapeType="1" noTextEdit="1"/>
              </p:cNvSpPr>
              <p:nvPr/>
            </p:nvSpPr>
            <p:spPr>
              <a:xfrm>
                <a:off x="1185198" y="3647418"/>
                <a:ext cx="1517403" cy="338554"/>
              </a:xfrm>
              <a:prstGeom prst="rect">
                <a:avLst/>
              </a:prstGeom>
              <a:blipFill>
                <a:blip r:embed="rId8"/>
                <a:stretch>
                  <a:fillRect l="-2008" t="-5357" b="-2142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5504398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Dual-Quaternions </a:t>
              </a:r>
              <a:r>
                <a:rPr lang="en-US" altLang="zh-CN" sz="1000" dirty="0">
                  <a:latin typeface="Arial" panose="020B0604020202020204" pitchFamily="34" charset="0"/>
                  <a:ea typeface="微软雅黑" panose="020B0503020204020204" charset="-122"/>
                  <a:sym typeface="+mn-ea"/>
                </a:rPr>
                <a:t>method</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对偶四元数</a:t>
              </a:r>
              <a:r>
                <a:rPr lang="zh-CN" altLang="en-US" sz="2000" b="1" dirty="0">
                  <a:latin typeface="Arial" panose="020B0604020202020204" pitchFamily="34" charset="0"/>
                  <a:ea typeface="微软雅黑" panose="020B0503020204020204" charset="-122"/>
                  <a:sym typeface="+mn-ea"/>
                </a:rPr>
                <a:t>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p:nvSpPr>
        <p:spPr>
          <a:xfrm>
            <a:off x="323528" y="793036"/>
            <a:ext cx="6552728" cy="338554"/>
          </a:xfrm>
          <a:prstGeom prst="rect">
            <a:avLst/>
          </a:prstGeom>
        </p:spPr>
        <p:txBody>
          <a:bodyPr wrap="square">
            <a:spAutoFit/>
          </a:bodyPr>
          <a:lstStyle/>
          <a:p>
            <a:r>
              <a:rPr lang="zh-CN" altLang="zh-CN" sz="1600" dirty="0">
                <a:ea typeface="等线" panose="02010600030101010101" pitchFamily="2" charset="-122"/>
                <a:cs typeface="Times New Roman" panose="02020603050405020304" pitchFamily="18" charset="0"/>
              </a:rPr>
              <a:t>对于串联机械臂来说，其总变换使用对偶四元数的表达如下：</a:t>
            </a:r>
            <a:endParaRPr lang="zh-CN" altLang="en-US" sz="1600" dirty="0"/>
          </a:p>
        </p:txBody>
      </p:sp>
      <mc:AlternateContent xmlns:mc="http://schemas.openxmlformats.org/markup-compatibility/2006" xmlns:a14="http://schemas.microsoft.com/office/drawing/2010/main">
        <mc:Choice Requires="a14">
          <p:sp>
            <p:nvSpPr>
              <p:cNvPr id="13" name="矩形 12"/>
              <p:cNvSpPr/>
              <p:nvPr/>
            </p:nvSpPr>
            <p:spPr>
              <a:xfrm>
                <a:off x="1835696" y="1081068"/>
                <a:ext cx="2068836" cy="338554"/>
              </a:xfrm>
              <a:prstGeom prst="rect">
                <a:avLst/>
              </a:prstGeom>
            </p:spPr>
            <p:txBody>
              <a:bodyPr wrap="none">
                <a:spAutoFit/>
              </a:bodyPr>
              <a:lstStyle/>
              <a:p>
                <a14:m>
                  <m:oMath xmlns:m="http://schemas.openxmlformats.org/officeDocument/2006/math">
                    <m:sSub>
                      <m:sSubPr>
                        <m:ctrlPr>
                          <a:rPr lang="zh-CN" altLang="zh-CN" sz="1600" i="1">
                            <a:latin typeface="Cambria Math" panose="02040503050406030204" pitchFamily="18" charset="0"/>
                            <a:ea typeface="Cambria Math" panose="02040503050406030204" pitchFamily="18" charset="0"/>
                          </a:rPr>
                        </m:ctrlPr>
                      </m:sSubPr>
                      <m:e>
                        <m:acc>
                          <m:accPr>
                            <m:chr m:val="̂"/>
                            <m:ctrlPr>
                              <a:rPr lang="zh-CN" altLang="zh-CN" sz="1600" i="1">
                                <a:effectLst/>
                                <a:latin typeface="Cambria Math" panose="02040503050406030204" pitchFamily="18" charset="0"/>
                                <a:ea typeface="Cambria Math" panose="02040503050406030204" pitchFamily="18" charset="0"/>
                              </a:rPr>
                            </m:ctrlPr>
                          </m:acc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𝑞</m:t>
                            </m:r>
                          </m:e>
                        </m:acc>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1</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acc>
                          <m:accPr>
                            <m:chr m:val="̂"/>
                            <m:ctrlPr>
                              <a:rPr lang="zh-CN" altLang="zh-CN" sz="1600" i="1">
                                <a:effectLst/>
                                <a:latin typeface="Cambria Math" panose="02040503050406030204" pitchFamily="18" charset="0"/>
                                <a:ea typeface="Cambria Math" panose="02040503050406030204" pitchFamily="18" charset="0"/>
                              </a:rPr>
                            </m:ctrlPr>
                          </m:acc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𝑞</m:t>
                            </m:r>
                          </m:e>
                        </m:acc>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1</m:t>
                        </m:r>
                      </m:sub>
                    </m:sSub>
                    <m:r>
                      <m:rPr>
                        <m:sty m:val="p"/>
                      </m:rPr>
                      <a:rPr lang="en-US" altLang="zh-CN" sz="1600">
                        <a:latin typeface="Cambria Math" panose="02040503050406030204" pitchFamily="18" charset="0"/>
                        <a:ea typeface="等线" panose="02010600030101010101" pitchFamily="2" charset="-122"/>
                        <a:cs typeface="Times New Roman" panose="02020603050405020304" pitchFamily="18" charset="0"/>
                      </a:rPr>
                      <m:t>Θ</m:t>
                    </m:r>
                    <m:sSub>
                      <m:sSubPr>
                        <m:ctrlPr>
                          <a:rPr lang="zh-CN" altLang="zh-CN" sz="1600" i="1">
                            <a:effectLst/>
                            <a:latin typeface="Cambria Math" panose="02040503050406030204" pitchFamily="18" charset="0"/>
                            <a:ea typeface="Cambria Math" panose="02040503050406030204" pitchFamily="18" charset="0"/>
                          </a:rPr>
                        </m:ctrlPr>
                      </m:sSubPr>
                      <m:e>
                        <m:acc>
                          <m:accPr>
                            <m:chr m:val="̂"/>
                            <m:ctrlPr>
                              <a:rPr lang="zh-CN" altLang="zh-CN" sz="1600" i="1">
                                <a:effectLst/>
                                <a:latin typeface="Cambria Math" panose="02040503050406030204" pitchFamily="18" charset="0"/>
                                <a:ea typeface="Cambria Math" panose="02040503050406030204" pitchFamily="18" charset="0"/>
                              </a:rPr>
                            </m:ctrlPr>
                          </m:acc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𝑞</m:t>
                            </m:r>
                          </m:e>
                        </m:acc>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2</m:t>
                        </m:r>
                      </m:sub>
                    </m:sSub>
                    <m:r>
                      <m:rPr>
                        <m:sty m:val="p"/>
                      </m:rPr>
                      <a:rPr lang="en-US" altLang="zh-CN" sz="1600">
                        <a:latin typeface="Cambria Math" panose="02040503050406030204" pitchFamily="18" charset="0"/>
                        <a:ea typeface="等线" panose="02010600030101010101" pitchFamily="2" charset="-122"/>
                        <a:cs typeface="Times New Roman" panose="02020603050405020304" pitchFamily="18" charset="0"/>
                      </a:rPr>
                      <m:t>Θ</m:t>
                    </m:r>
                    <m:r>
                      <a:rPr lang="en-US" altLang="zh-CN" sz="1600">
                        <a:latin typeface="Cambria Math" panose="02040503050406030204" pitchFamily="18" charset="0"/>
                        <a:ea typeface="等线" panose="02010600030101010101" pitchFamily="2" charset="-122"/>
                        <a:cs typeface="Times New Roman" panose="02020603050405020304" pitchFamily="18" charset="0"/>
                      </a:rPr>
                      <m:t>⋯</m:t>
                    </m:r>
                    <m:r>
                      <m:rPr>
                        <m:sty m:val="p"/>
                      </m:rPr>
                      <a:rPr lang="en-US" altLang="zh-CN" sz="1600">
                        <a:latin typeface="Cambria Math" panose="02040503050406030204" pitchFamily="18" charset="0"/>
                        <a:ea typeface="等线" panose="02010600030101010101" pitchFamily="2" charset="-122"/>
                        <a:cs typeface="Times New Roman" panose="02020603050405020304" pitchFamily="18" charset="0"/>
                      </a:rPr>
                      <m:t>Θ</m:t>
                    </m:r>
                    <m:sSub>
                      <m:sSubPr>
                        <m:ctrlPr>
                          <a:rPr lang="zh-CN" altLang="zh-CN" sz="1600" i="1">
                            <a:effectLst/>
                            <a:latin typeface="Cambria Math" panose="02040503050406030204" pitchFamily="18" charset="0"/>
                            <a:ea typeface="Cambria Math" panose="02040503050406030204" pitchFamily="18" charset="0"/>
                          </a:rPr>
                        </m:ctrlPr>
                      </m:sSubPr>
                      <m:e>
                        <m:acc>
                          <m:accPr>
                            <m:chr m:val="̂"/>
                            <m:ctrlPr>
                              <a:rPr lang="zh-CN" altLang="zh-CN" sz="1600" i="1">
                                <a:effectLst/>
                                <a:latin typeface="Cambria Math" panose="02040503050406030204" pitchFamily="18" charset="0"/>
                                <a:ea typeface="Cambria Math" panose="02040503050406030204" pitchFamily="18" charset="0"/>
                              </a:rPr>
                            </m:ctrlPr>
                          </m:acc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𝑞</m:t>
                            </m:r>
                          </m:e>
                        </m:acc>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sub>
                    </m:sSub>
                  </m:oMath>
                </a14:m>
                <a:r>
                  <a:rPr lang="en-US" altLang="zh-CN" sz="1600" dirty="0">
                    <a:latin typeface="等线" panose="02010600030101010101" pitchFamily="2" charset="-122"/>
                    <a:cs typeface="Times New Roman" panose="02020603050405020304" pitchFamily="18" charset="0"/>
                  </a:rPr>
                  <a:t> </a:t>
                </a:r>
                <a:endParaRPr lang="zh-CN" altLang="en-US" sz="1600" dirty="0"/>
              </a:p>
            </p:txBody>
          </p:sp>
        </mc:Choice>
        <mc:Fallback xmlns="">
          <p:sp>
            <p:nvSpPr>
              <p:cNvPr id="13" name="矩形 12"/>
              <p:cNvSpPr>
                <a:spLocks noRot="1" noChangeAspect="1" noMove="1" noResize="1" noEditPoints="1" noAdjustHandles="1" noChangeArrowheads="1" noChangeShapeType="1" noTextEdit="1"/>
              </p:cNvSpPr>
              <p:nvPr/>
            </p:nvSpPr>
            <p:spPr>
              <a:xfrm>
                <a:off x="1835696" y="1081068"/>
                <a:ext cx="2068836" cy="338554"/>
              </a:xfrm>
              <a:prstGeom prst="rect">
                <a:avLst/>
              </a:prstGeom>
              <a:blipFill>
                <a:blip r:embed="rId3"/>
                <a:stretch>
                  <a:fillRect r="-2941" b="-3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1030027" y="1441108"/>
                <a:ext cx="2576346" cy="338554"/>
              </a:xfrm>
              <a:prstGeom prst="rect">
                <a:avLst/>
              </a:prstGeom>
            </p:spPr>
            <p:txBody>
              <a:bodyPr wrap="none">
                <a:spAutoFit/>
              </a:bodyPr>
              <a:lstStyle/>
              <a:p>
                <a:r>
                  <a:rPr lang="zh-CN" altLang="zh-CN" sz="1600" dirty="0" smtClean="0">
                    <a:solidFill>
                      <a:srgbClr val="FF0000"/>
                    </a:solidFill>
                    <a:ea typeface="等线" panose="02010600030101010101" pitchFamily="2" charset="-122"/>
                    <a:cs typeface="Times New Roman" panose="02020603050405020304" pitchFamily="18" charset="0"/>
                  </a:rPr>
                  <a:t>对偶四元数的乘法符号为</a:t>
                </a:r>
                <a14:m>
                  <m:oMath xmlns:m="http://schemas.openxmlformats.org/officeDocument/2006/math">
                    <m:r>
                      <m:rPr>
                        <m:sty m:val="p"/>
                      </m:rPr>
                      <a:rPr lang="en-US" altLang="zh-CN" sz="1600">
                        <a:solidFill>
                          <a:srgbClr val="FF0000"/>
                        </a:solidFill>
                        <a:latin typeface="Cambria Math" panose="02040503050406030204" pitchFamily="18" charset="0"/>
                        <a:ea typeface="等线" panose="02010600030101010101" pitchFamily="2" charset="-122"/>
                        <a:cs typeface="Times New Roman" panose="02020603050405020304" pitchFamily="18" charset="0"/>
                      </a:rPr>
                      <m:t>Θ</m:t>
                    </m:r>
                  </m:oMath>
                </a14:m>
                <a:endParaRPr lang="zh-CN" altLang="en-US" sz="1600" dirty="0">
                  <a:solidFill>
                    <a:srgbClr val="FF0000"/>
                  </a:solidFill>
                </a:endParaRPr>
              </a:p>
            </p:txBody>
          </p:sp>
        </mc:Choice>
        <mc:Fallback xmlns="">
          <p:sp>
            <p:nvSpPr>
              <p:cNvPr id="15" name="矩形 14"/>
              <p:cNvSpPr>
                <a:spLocks noRot="1" noChangeAspect="1" noMove="1" noResize="1" noEditPoints="1" noAdjustHandles="1" noChangeArrowheads="1" noChangeShapeType="1" noTextEdit="1"/>
              </p:cNvSpPr>
              <p:nvPr/>
            </p:nvSpPr>
            <p:spPr>
              <a:xfrm>
                <a:off x="1030027" y="1441108"/>
                <a:ext cx="2576346" cy="338554"/>
              </a:xfrm>
              <a:prstGeom prst="rect">
                <a:avLst/>
              </a:prstGeom>
              <a:blipFill>
                <a:blip r:embed="rId4"/>
                <a:stretch>
                  <a:fillRect l="-1418" t="-5357" b="-2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1510352" y="1756536"/>
                <a:ext cx="5365904"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𝑞</m:t>
                                      </m:r>
                                    </m:e>
                                  </m:acc>
                                </m:e>
                                <m:sub>
                                  <m:r>
                                    <a:rPr lang="zh-CN" altLang="en-US" sz="1600" i="0">
                                      <a:latin typeface="Cambria Math" panose="02040503050406030204" pitchFamily="18" charset="0"/>
                                    </a:rPr>
                                    <m:t>12</m:t>
                                  </m:r>
                                </m:sub>
                              </m:sSub>
                              <m:r>
                                <a:rPr lang="zh-CN" altLang="en-US" sz="1600" i="0">
                                  <a:latin typeface="Cambria Math" panose="02040503050406030204" pitchFamily="18" charset="0"/>
                                </a:rPr>
                                <m:t>=</m:t>
                              </m:r>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𝑞</m:t>
                                  </m:r>
                                </m:e>
                              </m:acc>
                            </m:e>
                            <m:sub>
                              <m:r>
                                <a:rPr lang="zh-CN" altLang="en-US" sz="1600" i="0">
                                  <a:latin typeface="Cambria Math" panose="02040503050406030204" pitchFamily="18" charset="0"/>
                                </a:rPr>
                                <m:t>1</m:t>
                              </m:r>
                            </m:sub>
                          </m:sSub>
                          <m:r>
                            <m:rPr>
                              <m:sty m:val="p"/>
                            </m:rPr>
                            <a:rPr lang="zh-CN" altLang="en-US" sz="1600" i="0">
                              <a:latin typeface="Cambria Math" panose="02040503050406030204" pitchFamily="18" charset="0"/>
                            </a:rPr>
                            <m:t>Θ</m:t>
                          </m:r>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𝑞</m:t>
                                  </m:r>
                                </m:e>
                              </m:acc>
                            </m:e>
                            <m:sub>
                              <m:r>
                                <a:rPr lang="zh-CN" altLang="en-US" sz="1600" i="0">
                                  <a:latin typeface="Cambria Math" panose="02040503050406030204" pitchFamily="18" charset="0"/>
                                </a:rPr>
                                <m:t>2</m:t>
                              </m:r>
                            </m:sub>
                          </m:sSub>
                          <m:r>
                            <a:rPr lang="zh-CN" altLang="en-US" sz="1600" i="0">
                              <a:latin typeface="Cambria Math" panose="02040503050406030204" pitchFamily="18" charset="0"/>
                            </a:rPr>
                            <m:t>=</m:t>
                          </m:r>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sub>
                              </m:sSub>
                              <m:r>
                                <a:rPr lang="zh-CN" altLang="en-US" sz="1600" i="1">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a:latin typeface="Cambria Math" panose="02040503050406030204" pitchFamily="18" charset="0"/>
                                    </a:rPr>
                                    <m:t>2</m:t>
                                  </m:r>
                                </m:sub>
                              </m:sSub>
                            </m:e>
                          </m:d>
                          <m:r>
                            <a:rPr lang="zh-CN" altLang="en-US" sz="1600" i="0">
                              <a:latin typeface="Cambria Math" panose="02040503050406030204" pitchFamily="18" charset="0"/>
                            </a:rPr>
                            <m:t>+</m:t>
                          </m:r>
                          <m:r>
                            <a:rPr lang="zh-CN" altLang="en-US" sz="1600" i="1">
                              <a:latin typeface="Cambria Math" panose="02040503050406030204" pitchFamily="18" charset="0"/>
                            </a:rPr>
                            <m:t>𝜀</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sub>
                          </m:sSub>
                          <m:r>
                            <a:rPr lang="zh-CN" altLang="en-US" sz="1600" i="1">
                              <a:latin typeface="Cambria Math" panose="02040503050406030204" pitchFamily="18" charset="0"/>
                            </a:rPr>
                            <m:t>⊗</m:t>
                          </m:r>
                          <m:sSup>
                            <m:sSupPr>
                              <m:ctrlPr>
                                <a:rPr lang="zh-CN" altLang="en-US" sz="1600" i="1">
                                  <a:latin typeface="Cambria Math" panose="02040503050406030204" pitchFamily="18" charset="0"/>
                                </a:rPr>
                              </m:ctrlPr>
                            </m:sSup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a:latin typeface="Cambria Math" panose="02040503050406030204" pitchFamily="18" charset="0"/>
                                    </a:rPr>
                                    <m:t>2</m:t>
                                  </m:r>
                                </m:sub>
                              </m:sSub>
                            </m:e>
                            <m:sup>
                              <m:r>
                                <a:rPr lang="zh-CN" altLang="en-US" sz="1600" i="1">
                                  <a:latin typeface="Cambria Math" panose="02040503050406030204" pitchFamily="18" charset="0"/>
                                </a:rPr>
                                <m:t>𝑜</m:t>
                              </m:r>
                            </m:sup>
                          </m:sSup>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sub>
                              </m:sSub>
                            </m:e>
                            <m:sup>
                              <m:r>
                                <a:rPr lang="zh-CN" altLang="en-US" sz="1600" i="1">
                                  <a:latin typeface="Cambria Math" panose="02040503050406030204" pitchFamily="18" charset="0"/>
                                </a:rPr>
                                <m:t>𝑜</m:t>
                              </m:r>
                            </m:sup>
                          </m:sSup>
                          <m:r>
                            <a:rPr lang="zh-CN" altLang="en-US" sz="1600" i="1">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a:latin typeface="Cambria Math" panose="02040503050406030204" pitchFamily="18" charset="0"/>
                                </a:rPr>
                                <m:t>2</m:t>
                              </m:r>
                            </m:sub>
                          </m:sSub>
                        </m:e>
                      </m:d>
                    </m:oMath>
                  </m:oMathPara>
                </a14:m>
                <a:endParaRPr lang="zh-CN" altLang="en-US" sz="1600" dirty="0"/>
              </a:p>
            </p:txBody>
          </p:sp>
        </mc:Choice>
        <mc:Fallback xmlns="">
          <p:sp>
            <p:nvSpPr>
              <p:cNvPr id="16" name="矩形 15"/>
              <p:cNvSpPr>
                <a:spLocks noRot="1" noChangeAspect="1" noMove="1" noResize="1" noEditPoints="1" noAdjustHandles="1" noChangeArrowheads="1" noChangeShapeType="1" noTextEdit="1"/>
              </p:cNvSpPr>
              <p:nvPr/>
            </p:nvSpPr>
            <p:spPr>
              <a:xfrm>
                <a:off x="1510352" y="1756536"/>
                <a:ext cx="5365904" cy="338554"/>
              </a:xfrm>
              <a:prstGeom prst="rect">
                <a:avLst/>
              </a:prstGeom>
              <a:blipFill>
                <a:blip r:embed="rId5"/>
                <a:stretch>
                  <a:fillRect t="-108929" r="-2386" b="-167857"/>
                </a:stretch>
              </a:blipFill>
            </p:spPr>
            <p:txBody>
              <a:bodyPr/>
              <a:lstStyle/>
              <a:p>
                <a:r>
                  <a:rPr lang="zh-CN" altLang="en-US">
                    <a:noFill/>
                  </a:rPr>
                  <a:t> </a:t>
                </a:r>
              </a:p>
            </p:txBody>
          </p:sp>
        </mc:Fallback>
      </mc:AlternateContent>
      <p:sp>
        <p:nvSpPr>
          <p:cNvPr id="17" name="矩形 16"/>
          <p:cNvSpPr/>
          <p:nvPr/>
        </p:nvSpPr>
        <p:spPr>
          <a:xfrm>
            <a:off x="1835696" y="2072043"/>
            <a:ext cx="595035" cy="338554"/>
          </a:xfrm>
          <a:prstGeom prst="rect">
            <a:avLst/>
          </a:prstGeom>
        </p:spPr>
        <p:txBody>
          <a:bodyPr wrap="none">
            <a:spAutoFit/>
          </a:bodyPr>
          <a:lstStyle/>
          <a:p>
            <a:r>
              <a:rPr lang="zh-CN" altLang="zh-CN" sz="1600" dirty="0">
                <a:ea typeface="等线" panose="02010600030101010101" pitchFamily="2" charset="-122"/>
                <a:cs typeface="Times New Roman" panose="02020603050405020304" pitchFamily="18" charset="0"/>
              </a:rPr>
              <a:t>或者</a:t>
            </a:r>
            <a:endParaRPr lang="zh-CN" altLang="en-US" sz="1600" dirty="0"/>
          </a:p>
        </p:txBody>
      </p:sp>
      <mc:AlternateContent xmlns:mc="http://schemas.openxmlformats.org/markup-compatibility/2006" xmlns:a14="http://schemas.microsoft.com/office/drawing/2010/main">
        <mc:Choice Requires="a14">
          <p:sp>
            <p:nvSpPr>
              <p:cNvPr id="18" name="矩形 17"/>
              <p:cNvSpPr/>
              <p:nvPr/>
            </p:nvSpPr>
            <p:spPr>
              <a:xfrm>
                <a:off x="2107110" y="2072043"/>
                <a:ext cx="5633242"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600" i="1" smtClean="0">
                              <a:latin typeface="Cambria Math" panose="02040503050406030204" pitchFamily="18" charset="0"/>
                            </a:rPr>
                          </m:ctrlPr>
                        </m:dPr>
                        <m:e>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𝑞</m:t>
                                  </m:r>
                                </m:e>
                              </m:acc>
                            </m:e>
                            <m:sub>
                              <m:r>
                                <a:rPr lang="zh-CN" altLang="en-US" sz="1600" i="0">
                                  <a:latin typeface="Cambria Math" panose="02040503050406030204" pitchFamily="18" charset="0"/>
                                </a:rPr>
                                <m:t>12</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𝑝</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r>
                            <m:rPr>
                              <m:sty m:val="p"/>
                            </m:rPr>
                            <a:rPr lang="zh-CN" altLang="en-US" sz="1600" i="0">
                              <a:latin typeface="Cambria Math" panose="02040503050406030204" pitchFamily="18" charset="0"/>
                            </a:rPr>
                            <m:t>Θ</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2</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𝑝</m:t>
                              </m:r>
                            </m:e>
                            <m:sub>
                              <m:r>
                                <a:rPr lang="zh-CN" altLang="en-US" sz="1600" i="0">
                                  <a:latin typeface="Cambria Math" panose="02040503050406030204" pitchFamily="18" charset="0"/>
                                </a:rPr>
                                <m:t>2</m:t>
                              </m:r>
                            </m:sub>
                          </m:sSub>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sub>
                              </m:sSub>
                              <m:r>
                                <a:rPr lang="zh-CN" altLang="en-US" sz="1600" i="1">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a:latin typeface="Cambria Math" panose="02040503050406030204" pitchFamily="18" charset="0"/>
                                    </a:rPr>
                                    <m:t>2</m:t>
                                  </m:r>
                                </m:sub>
                              </m:sSub>
                            </m:e>
                          </m:d>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sub>
                          </m:sSub>
                          <m:r>
                            <a:rPr lang="zh-CN" altLang="en-US" sz="1600" i="1">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𝑝</m:t>
                              </m:r>
                            </m:e>
                            <m:sub>
                              <m:r>
                                <a:rPr lang="zh-CN" altLang="en-US" sz="1600">
                                  <a:latin typeface="Cambria Math" panose="02040503050406030204" pitchFamily="18" charset="0"/>
                                </a:rPr>
                                <m:t>2</m:t>
                              </m:r>
                            </m:sub>
                          </m:sSub>
                          <m:r>
                            <a:rPr lang="zh-CN" altLang="en-US" sz="1600" i="1">
                              <a:latin typeface="Cambria Math" panose="02040503050406030204" pitchFamily="18" charset="0"/>
                            </a:rPr>
                            <m:t>⊗</m:t>
                          </m:r>
                          <m:sSup>
                            <m:sSupPr>
                              <m:ctrlPr>
                                <a:rPr lang="en-US" altLang="zh-CN" sz="1600" i="1" smtClean="0">
                                  <a:latin typeface="Cambria Math" panose="02040503050406030204" pitchFamily="18" charset="0"/>
                                </a:rPr>
                              </m:ctrlPr>
                            </m:sSupPr>
                            <m:e>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𝑞</m:t>
                                  </m:r>
                                </m:e>
                                <m:sub>
                                  <m:r>
                                    <a:rPr lang="en-US" altLang="zh-CN" sz="1600" b="0" i="1" smtClean="0">
                                      <a:latin typeface="Cambria Math" panose="02040503050406030204" pitchFamily="18" charset="0"/>
                                    </a:rPr>
                                    <m:t>1</m:t>
                                  </m:r>
                                </m:sub>
                              </m:sSub>
                            </m:e>
                            <m:sup>
                              <m:r>
                                <a:rPr lang="en-US" altLang="zh-CN" sz="1600" b="0" i="1" smtClean="0">
                                  <a:latin typeface="Cambria Math" panose="02040503050406030204" pitchFamily="18" charset="0"/>
                                </a:rPr>
                                <m:t>−1</m:t>
                              </m:r>
                            </m:sup>
                          </m:sSup>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𝑝</m:t>
                              </m:r>
                            </m:e>
                            <m:sub>
                              <m:r>
                                <a:rPr lang="zh-CN" altLang="en-US" sz="1600" i="0">
                                  <a:latin typeface="Cambria Math" panose="02040503050406030204" pitchFamily="18" charset="0"/>
                                </a:rPr>
                                <m:t>1</m:t>
                              </m:r>
                            </m:sub>
                          </m:sSub>
                        </m:e>
                      </m:d>
                    </m:oMath>
                  </m:oMathPara>
                </a14:m>
                <a:endParaRPr lang="zh-CN" altLang="en-US" sz="1600" dirty="0"/>
              </a:p>
            </p:txBody>
          </p:sp>
        </mc:Choice>
        <mc:Fallback xmlns="">
          <p:sp>
            <p:nvSpPr>
              <p:cNvPr id="18" name="矩形 17"/>
              <p:cNvSpPr>
                <a:spLocks noRot="1" noChangeAspect="1" noMove="1" noResize="1" noEditPoints="1" noAdjustHandles="1" noChangeArrowheads="1" noChangeShapeType="1" noTextEdit="1"/>
              </p:cNvSpPr>
              <p:nvPr/>
            </p:nvSpPr>
            <p:spPr>
              <a:xfrm>
                <a:off x="2107110" y="2072043"/>
                <a:ext cx="5633242" cy="338554"/>
              </a:xfrm>
              <a:prstGeom prst="rect">
                <a:avLst/>
              </a:prstGeom>
              <a:blipFill>
                <a:blip r:embed="rId6"/>
                <a:stretch>
                  <a:fillRect t="-110909" r="-5087" b="-172727"/>
                </a:stretch>
              </a:blipFill>
            </p:spPr>
            <p:txBody>
              <a:bodyPr/>
              <a:lstStyle/>
              <a:p>
                <a:r>
                  <a:rPr lang="zh-CN" altLang="en-US">
                    <a:noFill/>
                  </a:rPr>
                  <a:t> </a:t>
                </a:r>
              </a:p>
            </p:txBody>
          </p:sp>
        </mc:Fallback>
      </mc:AlternateContent>
      <p:sp>
        <p:nvSpPr>
          <p:cNvPr id="19" name="矩形 18"/>
          <p:cNvSpPr/>
          <p:nvPr/>
        </p:nvSpPr>
        <p:spPr>
          <a:xfrm>
            <a:off x="324373" y="2482604"/>
            <a:ext cx="2236510" cy="338554"/>
          </a:xfrm>
          <a:prstGeom prst="rect">
            <a:avLst/>
          </a:prstGeom>
        </p:spPr>
        <p:txBody>
          <a:bodyPr wrap="none">
            <a:spAutoFit/>
          </a:bodyPr>
          <a:lstStyle/>
          <a:p>
            <a:r>
              <a:rPr lang="zh-CN" altLang="zh-CN" sz="1600" dirty="0">
                <a:ea typeface="等线" panose="02010600030101010101" pitchFamily="2" charset="-122"/>
                <a:cs typeface="Times New Roman" panose="02020603050405020304" pitchFamily="18" charset="0"/>
              </a:rPr>
              <a:t>将上式写成如下形式：</a:t>
            </a:r>
            <a:endParaRPr lang="zh-CN" altLang="en-US" sz="1600" dirty="0"/>
          </a:p>
        </p:txBody>
      </p:sp>
      <mc:AlternateContent xmlns:mc="http://schemas.openxmlformats.org/markup-compatibility/2006" xmlns:a14="http://schemas.microsoft.com/office/drawing/2010/main">
        <mc:Choice Requires="a14">
          <p:sp>
            <p:nvSpPr>
              <p:cNvPr id="21" name="矩形 20"/>
              <p:cNvSpPr/>
              <p:nvPr/>
            </p:nvSpPr>
            <p:spPr>
              <a:xfrm>
                <a:off x="584114" y="2829093"/>
                <a:ext cx="5860094" cy="338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𝑞</m:t>
                                  </m:r>
                                </m:e>
                              </m:acc>
                            </m:e>
                            <m:sub>
                              <m:r>
                                <a:rPr lang="zh-CN" altLang="en-US" sz="1600" i="0">
                                  <a:latin typeface="Cambria Math" panose="02040503050406030204" pitchFamily="18" charset="0"/>
                                </a:rPr>
                                <m:t>12</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12</m:t>
                              </m:r>
                            </m:sub>
                          </m:sSub>
                          <m:r>
                            <a:rPr lang="zh-CN" altLang="en-US" sz="1600" i="0">
                              <a:latin typeface="Cambria Math" panose="02040503050406030204" pitchFamily="18" charset="0"/>
                            </a:rPr>
                            <m:t>+</m:t>
                          </m:r>
                          <m:r>
                            <a:rPr lang="zh-CN" altLang="en-US" sz="1600" i="1">
                              <a:latin typeface="Cambria Math" panose="02040503050406030204" pitchFamily="18" charset="0"/>
                            </a:rPr>
                            <m:t>𝜀</m:t>
                          </m:r>
                          <m:sSup>
                            <m:sSupPr>
                              <m:ctrlPr>
                                <a:rPr lang="zh-CN" altLang="en-US" sz="1600" i="1">
                                  <a:latin typeface="Cambria Math" panose="02040503050406030204" pitchFamily="18" charset="0"/>
                                </a:rPr>
                              </m:ctrlPr>
                            </m:sSup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12</m:t>
                                  </m:r>
                                </m:sub>
                              </m:sSub>
                            </m:e>
                            <m:sup>
                              <m:r>
                                <a:rPr lang="zh-CN" altLang="en-US" sz="1600" i="1">
                                  <a:latin typeface="Cambria Math" panose="02040503050406030204" pitchFamily="18" charset="0"/>
                                </a:rPr>
                                <m:t>𝑜</m:t>
                              </m:r>
                            </m:sup>
                          </m:sSup>
                          <m:r>
                            <a:rPr lang="zh-CN" altLang="en-US" sz="1600" i="0">
                              <a:latin typeface="Cambria Math" panose="02040503050406030204" pitchFamily="18" charset="0"/>
                            </a:rPr>
                            <m:t>=</m:t>
                          </m:r>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12</m:t>
                                  </m:r>
                                  <m:r>
                                    <a:rPr lang="zh-CN" altLang="en-US" sz="1600" i="1">
                                      <a:latin typeface="Cambria Math" panose="02040503050406030204" pitchFamily="18" charset="0"/>
                                    </a:rPr>
                                    <m:t>𝑆</m:t>
                                  </m:r>
                                </m:sub>
                              </m:sSub>
                              <m:r>
                                <a:rPr lang="zh-CN" altLang="en-US" sz="1600" i="0">
                                  <a:latin typeface="Cambria Math" panose="02040503050406030204" pitchFamily="18" charset="0"/>
                                </a:rPr>
                                <m:t>, </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12</m:t>
                                  </m:r>
                                  <m:r>
                                    <a:rPr lang="zh-CN" altLang="en-US" sz="1600" i="1">
                                      <a:latin typeface="Cambria Math" panose="02040503050406030204" pitchFamily="18" charset="0"/>
                                    </a:rPr>
                                    <m:t>𝑉</m:t>
                                  </m:r>
                                </m:sub>
                              </m:sSub>
                            </m:e>
                          </m:d>
                          <m:r>
                            <a:rPr lang="zh-CN" altLang="en-US" sz="1600" i="0">
                              <a:latin typeface="Cambria Math" panose="02040503050406030204" pitchFamily="18" charset="0"/>
                            </a:rPr>
                            <m:t>+</m:t>
                          </m:r>
                          <m:r>
                            <a:rPr lang="zh-CN" altLang="en-US" sz="1600" i="1">
                              <a:latin typeface="Cambria Math" panose="02040503050406030204" pitchFamily="18" charset="0"/>
                            </a:rPr>
                            <m:t>𝜀</m:t>
                          </m:r>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12</m:t>
                                  </m:r>
                                  <m:r>
                                    <a:rPr lang="zh-CN" altLang="en-US" sz="1600" i="1">
                                      <a:latin typeface="Cambria Math" panose="02040503050406030204" pitchFamily="18" charset="0"/>
                                    </a:rPr>
                                    <m:t>𝑆</m:t>
                                  </m:r>
                                </m:sub>
                              </m:sSub>
                            </m:e>
                            <m:sup>
                              <m:r>
                                <a:rPr lang="zh-CN" altLang="en-US" sz="1600" i="1">
                                  <a:latin typeface="Cambria Math" panose="02040503050406030204" pitchFamily="18" charset="0"/>
                                </a:rPr>
                                <m:t>𝑜</m:t>
                              </m:r>
                            </m:sup>
                          </m:sSup>
                          <m:r>
                            <a:rPr lang="zh-CN" altLang="en-US" sz="1600" i="0">
                              <a:latin typeface="Cambria Math" panose="02040503050406030204" pitchFamily="18" charset="0"/>
                            </a:rPr>
                            <m:t>, </m:t>
                          </m:r>
                          <m:sSup>
                            <m:sSupPr>
                              <m:ctrlPr>
                                <a:rPr lang="zh-CN" altLang="en-US" sz="1600" i="1">
                                  <a:latin typeface="Cambria Math" panose="02040503050406030204" pitchFamily="18" charset="0"/>
                                </a:rPr>
                              </m:ctrlPr>
                            </m:sSup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12</m:t>
                                  </m:r>
                                  <m:r>
                                    <a:rPr lang="zh-CN" altLang="en-US" sz="1600" i="1">
                                      <a:latin typeface="Cambria Math" panose="02040503050406030204" pitchFamily="18" charset="0"/>
                                    </a:rPr>
                                    <m:t>𝑉</m:t>
                                  </m:r>
                                </m:sub>
                              </m:sSub>
                            </m:e>
                            <m:sup>
                              <m:r>
                                <a:rPr lang="zh-CN" altLang="en-US" sz="1600" i="1">
                                  <a:latin typeface="Cambria Math" panose="02040503050406030204" pitchFamily="18" charset="0"/>
                                </a:rPr>
                                <m:t>𝑜</m:t>
                              </m:r>
                            </m:sup>
                          </m:sSup>
                        </m:e>
                      </m:d>
                    </m:oMath>
                  </m:oMathPara>
                </a14:m>
                <a:endParaRPr lang="zh-CN" altLang="en-US" sz="1600" dirty="0"/>
              </a:p>
            </p:txBody>
          </p:sp>
        </mc:Choice>
        <mc:Fallback xmlns="">
          <p:sp>
            <p:nvSpPr>
              <p:cNvPr id="21" name="矩形 20"/>
              <p:cNvSpPr>
                <a:spLocks noRot="1" noChangeAspect="1" noMove="1" noResize="1" noEditPoints="1" noAdjustHandles="1" noChangeArrowheads="1" noChangeShapeType="1" noTextEdit="1"/>
              </p:cNvSpPr>
              <p:nvPr/>
            </p:nvSpPr>
            <p:spPr>
              <a:xfrm>
                <a:off x="584114" y="2829093"/>
                <a:ext cx="5860094" cy="338554"/>
              </a:xfrm>
              <a:prstGeom prst="rect">
                <a:avLst/>
              </a:prstGeom>
              <a:blipFill>
                <a:blip r:embed="rId7"/>
                <a:stretch>
                  <a:fillRect t="-108929" b="-1678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1835696" y="3161366"/>
                <a:ext cx="4572000" cy="830997"/>
              </a:xfrm>
              <a:prstGeom prst="rect">
                <a:avLst/>
              </a:prstGeom>
            </p:spPr>
            <p:txBody>
              <a:bodyPr>
                <a:spAutoFit/>
              </a:bodyPr>
              <a:lstStyle/>
              <a:p>
                <a14:m>
                  <m:oMath xmlns:m="http://schemas.openxmlformats.org/officeDocument/2006/math">
                    <m:sSub>
                      <m:sSubPr>
                        <m:ctrlPr>
                          <a:rPr lang="zh-CN" altLang="zh-CN" sz="1200" i="1">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12</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𝑆</m:t>
                        </m:r>
                      </m:sub>
                    </m:sSub>
                  </m:oMath>
                </a14:m>
                <a:r>
                  <a:rPr lang="zh-CN" altLang="zh-CN" sz="1200" dirty="0">
                    <a:ea typeface="等线" panose="02010600030101010101" pitchFamily="2" charset="-122"/>
                    <a:cs typeface="Times New Roman" panose="02020603050405020304" pitchFamily="18" charset="0"/>
                  </a:rPr>
                  <a:t>表示两个对偶四元数乘积的实部的标量部分，</a:t>
                </a:r>
                <a14:m>
                  <m:oMath xmlns:m="http://schemas.openxmlformats.org/officeDocument/2006/math">
                    <m:sSup>
                      <m:sSupPr>
                        <m:ctrlPr>
                          <a:rPr lang="zh-CN" altLang="zh-CN" sz="1200" i="1">
                            <a:effectLst/>
                            <a:latin typeface="Cambria Math" panose="02040503050406030204" pitchFamily="18" charset="0"/>
                            <a:ea typeface="Cambria Math" panose="02040503050406030204" pitchFamily="18" charset="0"/>
                          </a:rPr>
                        </m:ctrlPr>
                      </m:sSupPr>
                      <m:e>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12</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𝑆</m:t>
                            </m:r>
                          </m:sub>
                        </m:sSub>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𝑜</m:t>
                        </m:r>
                      </m:sup>
                    </m:sSup>
                  </m:oMath>
                </a14:m>
                <a:r>
                  <a:rPr lang="zh-CN" altLang="zh-CN" sz="1200" dirty="0">
                    <a:ea typeface="等线" panose="02010600030101010101" pitchFamily="2" charset="-122"/>
                    <a:cs typeface="Times New Roman" panose="02020603050405020304" pitchFamily="18" charset="0"/>
                  </a:rPr>
                  <a:t>表示两个对偶四元数乘积的对偶部的标量部分，</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12</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𝑉</m:t>
                        </m:r>
                      </m:sub>
                    </m:sSub>
                  </m:oMath>
                </a14:m>
                <a:r>
                  <a:rPr lang="zh-CN" altLang="zh-CN" sz="1200" dirty="0">
                    <a:ea typeface="等线" panose="02010600030101010101" pitchFamily="2" charset="-122"/>
                    <a:cs typeface="Times New Roman" panose="02020603050405020304" pitchFamily="18" charset="0"/>
                  </a:rPr>
                  <a:t>表示两个对偶四元数乘积的实部的向量部分，</a:t>
                </a:r>
                <a14:m>
                  <m:oMath xmlns:m="http://schemas.openxmlformats.org/officeDocument/2006/math">
                    <m:sSup>
                      <m:sSupPr>
                        <m:ctrlPr>
                          <a:rPr lang="zh-CN" altLang="zh-CN" sz="1200" i="1">
                            <a:effectLst/>
                            <a:latin typeface="Cambria Math" panose="02040503050406030204" pitchFamily="18" charset="0"/>
                            <a:ea typeface="Cambria Math" panose="02040503050406030204" pitchFamily="18" charset="0"/>
                          </a:rPr>
                        </m:ctrlPr>
                      </m:sSupPr>
                      <m:e>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12</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𝑉</m:t>
                            </m:r>
                          </m:sub>
                        </m:sSub>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𝑜</m:t>
                        </m:r>
                      </m:sup>
                    </m:sSup>
                  </m:oMath>
                </a14:m>
                <a:r>
                  <a:rPr lang="zh-CN" altLang="zh-CN" sz="1200" dirty="0">
                    <a:ea typeface="等线" panose="02010600030101010101" pitchFamily="2" charset="-122"/>
                    <a:cs typeface="Times New Roman" panose="02020603050405020304" pitchFamily="18" charset="0"/>
                  </a:rPr>
                  <a:t>表示两个对偶四元数乘积的对偶部的向量部分。</a:t>
                </a:r>
                <a:endParaRPr lang="zh-CN" altLang="en-US" sz="1200" dirty="0"/>
              </a:p>
            </p:txBody>
          </p:sp>
        </mc:Choice>
        <mc:Fallback xmlns="">
          <p:sp>
            <p:nvSpPr>
              <p:cNvPr id="22" name="矩形 21"/>
              <p:cNvSpPr>
                <a:spLocks noRot="1" noChangeAspect="1" noMove="1" noResize="1" noEditPoints="1" noAdjustHandles="1" noChangeArrowheads="1" noChangeShapeType="1" noTextEdit="1"/>
              </p:cNvSpPr>
              <p:nvPr/>
            </p:nvSpPr>
            <p:spPr>
              <a:xfrm>
                <a:off x="1835696" y="3161366"/>
                <a:ext cx="4572000" cy="830997"/>
              </a:xfrm>
              <a:prstGeom prst="rect">
                <a:avLst/>
              </a:prstGeom>
              <a:blipFill>
                <a:blip r:embed="rId8"/>
                <a:stretch>
                  <a:fillRect t="-735" b="-5147"/>
                </a:stretch>
              </a:blipFill>
            </p:spPr>
            <p:txBody>
              <a:bodyPr/>
              <a:lstStyle/>
              <a:p>
                <a:r>
                  <a:rPr lang="zh-CN" altLang="en-US">
                    <a:noFill/>
                  </a:rPr>
                  <a:t> </a:t>
                </a:r>
              </a:p>
            </p:txBody>
          </p:sp>
        </mc:Fallback>
      </mc:AlternateContent>
      <p:sp>
        <p:nvSpPr>
          <p:cNvPr id="23" name="矩形 22"/>
          <p:cNvSpPr/>
          <p:nvPr/>
        </p:nvSpPr>
        <p:spPr>
          <a:xfrm>
            <a:off x="323528" y="4002895"/>
            <a:ext cx="6011445" cy="338554"/>
          </a:xfrm>
          <a:prstGeom prst="rect">
            <a:avLst/>
          </a:prstGeom>
        </p:spPr>
        <p:txBody>
          <a:bodyPr wrap="square">
            <a:spAutoFit/>
          </a:bodyPr>
          <a:lstStyle/>
          <a:p>
            <a:r>
              <a:rPr lang="zh-CN" altLang="zh-CN" sz="1600" b="1" dirty="0">
                <a:solidFill>
                  <a:srgbClr val="002060"/>
                </a:solidFill>
                <a:ea typeface="等线" panose="02010600030101010101" pitchFamily="2" charset="-122"/>
                <a:cs typeface="Times New Roman" panose="02020603050405020304" pitchFamily="18" charset="0"/>
              </a:rPr>
              <a:t>机械臂末端执行器的姿态和位置计算公式如下：</a:t>
            </a:r>
            <a:endParaRPr lang="zh-CN" altLang="en-US" sz="1600" b="1" dirty="0">
              <a:solidFill>
                <a:srgbClr val="002060"/>
              </a:solidFill>
            </a:endParaRPr>
          </a:p>
        </p:txBody>
      </p:sp>
      <mc:AlternateContent xmlns:mc="http://schemas.openxmlformats.org/markup-compatibility/2006" xmlns:a14="http://schemas.microsoft.com/office/drawing/2010/main">
        <mc:Choice Requires="a14">
          <p:sp>
            <p:nvSpPr>
              <p:cNvPr id="24" name="矩形 23"/>
              <p:cNvSpPr/>
              <p:nvPr/>
            </p:nvSpPr>
            <p:spPr>
              <a:xfrm>
                <a:off x="323528" y="4458831"/>
                <a:ext cx="1980607" cy="351828"/>
              </a:xfrm>
              <a:prstGeom prst="rect">
                <a:avLst/>
              </a:prstGeom>
            </p:spPr>
            <p:txBody>
              <a:bodyPr wrap="none">
                <a:spAutoFit/>
              </a:bodyPr>
              <a:lstStyle/>
              <a:p>
                <a:r>
                  <a:rPr lang="zh-CN" altLang="zh-CN" sz="1600" b="1" dirty="0">
                    <a:solidFill>
                      <a:srgbClr val="002060"/>
                    </a:solidFill>
                    <a:ea typeface="等线" panose="02010600030101010101" pitchFamily="2" charset="-122"/>
                    <a:cs typeface="Times New Roman" panose="02020603050405020304" pitchFamily="18" charset="0"/>
                  </a:rPr>
                  <a:t>姿态</a:t>
                </a:r>
                <a:r>
                  <a:rPr lang="zh-CN" altLang="zh-CN" sz="1600" dirty="0">
                    <a:ea typeface="等线" panose="02010600030101010101" pitchFamily="2" charset="-122"/>
                    <a:cs typeface="Times New Roman" panose="02020603050405020304" pitchFamily="18" charset="0"/>
                  </a:rPr>
                  <a:t>为</a:t>
                </a:r>
                <a14:m>
                  <m:oMath xmlns:m="http://schemas.openxmlformats.org/officeDocument/2006/math">
                    <m:sSub>
                      <m:sSubPr>
                        <m:ctrlPr>
                          <a:rPr lang="zh-CN" altLang="zh-CN" sz="1600" i="1">
                            <a:effectLst/>
                            <a:latin typeface="Cambria Math" panose="02040503050406030204" pitchFamily="18" charset="0"/>
                            <a:ea typeface="Cambria Math" panose="02040503050406030204" pitchFamily="18" charset="0"/>
                          </a:rPr>
                        </m:ctrlPr>
                      </m:sSubPr>
                      <m:e>
                        <m:acc>
                          <m:accPr>
                            <m:chr m:val="̂"/>
                            <m:ctrlPr>
                              <a:rPr lang="zh-CN" altLang="zh-CN" sz="1600" i="1">
                                <a:effectLst/>
                                <a:latin typeface="Cambria Math" panose="02040503050406030204" pitchFamily="18" charset="0"/>
                                <a:ea typeface="Cambria Math" panose="02040503050406030204" pitchFamily="18" charset="0"/>
                              </a:rPr>
                            </m:ctrlPr>
                          </m:acc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𝑙</m:t>
                            </m:r>
                          </m:e>
                        </m:acc>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𝑜</m:t>
                        </m:r>
                        <m:r>
                          <a:rPr lang="en-US" altLang="zh-CN" sz="1600" i="1">
                            <a:latin typeface="Cambria Math" panose="02040503050406030204" pitchFamily="18" charset="0"/>
                            <a:ea typeface="等线" panose="02010600030101010101" pitchFamily="2" charset="-122"/>
                            <a:cs typeface="Times New Roman" panose="02020603050405020304" pitchFamily="18" charset="0"/>
                          </a:rPr>
                          <m:t>+1</m:t>
                        </m:r>
                      </m:sub>
                    </m:sSub>
                  </m:oMath>
                </a14:m>
                <a:r>
                  <a:rPr lang="zh-CN" altLang="zh-CN" sz="1600" dirty="0">
                    <a:ea typeface="等线" panose="02010600030101010101" pitchFamily="2" charset="-122"/>
                    <a:cs typeface="Times New Roman" panose="02020603050405020304" pitchFamily="18" charset="0"/>
                  </a:rPr>
                  <a:t>的实部：</a:t>
                </a:r>
                <a:endParaRPr lang="zh-CN" altLang="en-US" sz="1600" dirty="0"/>
              </a:p>
            </p:txBody>
          </p:sp>
        </mc:Choice>
        <mc:Fallback xmlns="">
          <p:sp>
            <p:nvSpPr>
              <p:cNvPr id="24" name="矩形 23"/>
              <p:cNvSpPr>
                <a:spLocks noRot="1" noChangeAspect="1" noMove="1" noResize="1" noEditPoints="1" noAdjustHandles="1" noChangeArrowheads="1" noChangeShapeType="1" noTextEdit="1"/>
              </p:cNvSpPr>
              <p:nvPr/>
            </p:nvSpPr>
            <p:spPr>
              <a:xfrm>
                <a:off x="323528" y="4458831"/>
                <a:ext cx="1980607" cy="351828"/>
              </a:xfrm>
              <a:prstGeom prst="rect">
                <a:avLst/>
              </a:prstGeom>
              <a:blipFill>
                <a:blip r:embed="rId9"/>
                <a:stretch>
                  <a:fillRect l="-1538" b="-224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p:cNvSpPr/>
              <p:nvPr/>
            </p:nvSpPr>
            <p:spPr>
              <a:xfrm>
                <a:off x="2065799" y="4473746"/>
                <a:ext cx="1967397" cy="3518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𝑙</m:t>
                              </m:r>
                            </m:e>
                          </m:acc>
                        </m:e>
                        <m:sub>
                          <m:r>
                            <a:rPr lang="zh-CN" altLang="en-US" sz="1600" i="1">
                              <a:latin typeface="Cambria Math" panose="02040503050406030204" pitchFamily="18" charset="0"/>
                            </a:rPr>
                            <m:t>𝑜</m:t>
                          </m:r>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𝑞</m:t>
                              </m:r>
                            </m:e>
                          </m:acc>
                        </m:e>
                        <m:sub>
                          <m:r>
                            <a:rPr lang="zh-CN" altLang="en-US" sz="1600" i="0">
                              <a:latin typeface="Cambria Math" panose="02040503050406030204" pitchFamily="18" charset="0"/>
                            </a:rPr>
                            <m:t>1</m:t>
                          </m:r>
                          <m:r>
                            <a:rPr lang="zh-CN" altLang="en-US" sz="1600" i="1">
                              <a:latin typeface="Cambria Math" panose="02040503050406030204" pitchFamily="18" charset="0"/>
                            </a:rPr>
                            <m:t>𝑛</m:t>
                          </m:r>
                        </m:sub>
                      </m:sSub>
                      <m:r>
                        <m:rPr>
                          <m:sty m:val="p"/>
                        </m:rPr>
                        <a:rPr lang="zh-CN" altLang="en-US" sz="1600" i="0">
                          <a:latin typeface="Cambria Math" panose="02040503050406030204" pitchFamily="18" charset="0"/>
                        </a:rPr>
                        <m:t>Θ</m:t>
                      </m:r>
                      <m:acc>
                        <m:accPr>
                          <m:chr m:val="̂"/>
                          <m:ctrlPr>
                            <a:rPr lang="zh-CN" altLang="en-US" sz="1600" i="1">
                              <a:latin typeface="Cambria Math" panose="02040503050406030204" pitchFamily="18" charset="0"/>
                            </a:rPr>
                          </m:ctrlPr>
                        </m:acc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𝑙</m:t>
                              </m:r>
                            </m:e>
                            <m:sub>
                              <m:r>
                                <a:rPr lang="zh-CN" altLang="en-US" sz="1600" i="1">
                                  <a:latin typeface="Cambria Math" panose="02040503050406030204" pitchFamily="18" charset="0"/>
                                </a:rPr>
                                <m:t>𝑜</m:t>
                              </m:r>
                            </m:sub>
                          </m:sSub>
                        </m:e>
                      </m:acc>
                      <m:r>
                        <m:rPr>
                          <m:sty m:val="p"/>
                        </m:rPr>
                        <a:rPr lang="zh-CN" altLang="en-US" sz="1600">
                          <a:latin typeface="Cambria Math" panose="02040503050406030204" pitchFamily="18" charset="0"/>
                        </a:rPr>
                        <m:t>Θ</m:t>
                      </m:r>
                      <m:sSup>
                        <m:sSupPr>
                          <m:ctrlPr>
                            <a:rPr lang="zh-CN" altLang="en-US" sz="1600" i="1">
                              <a:latin typeface="Cambria Math" panose="02040503050406030204" pitchFamily="18" charset="0"/>
                            </a:rPr>
                          </m:ctrlPr>
                        </m:sSupPr>
                        <m:e>
                          <m:sSub>
                            <m:sSubPr>
                              <m:ctrlPr>
                                <a:rPr lang="zh-CN" altLang="en-US" sz="1600" i="1">
                                  <a:latin typeface="Cambria Math" panose="02040503050406030204" pitchFamily="18" charset="0"/>
                                </a:rPr>
                              </m:ctrlPr>
                            </m:sSub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𝑞</m:t>
                                  </m:r>
                                </m:e>
                              </m:acc>
                            </m:e>
                            <m:sub>
                              <m:r>
                                <a:rPr lang="zh-CN" altLang="en-US" sz="1600">
                                  <a:latin typeface="Cambria Math" panose="02040503050406030204" pitchFamily="18" charset="0"/>
                                </a:rPr>
                                <m:t>1</m:t>
                              </m:r>
                              <m:r>
                                <a:rPr lang="zh-CN" altLang="en-US" sz="1600" i="1">
                                  <a:latin typeface="Cambria Math" panose="02040503050406030204" pitchFamily="18" charset="0"/>
                                </a:rPr>
                                <m:t>𝑛</m:t>
                              </m:r>
                            </m:sub>
                          </m:sSub>
                        </m:e>
                        <m:sup>
                          <m:r>
                            <a:rPr lang="zh-CN" altLang="en-US" sz="1600">
                              <a:latin typeface="Cambria Math" panose="02040503050406030204" pitchFamily="18" charset="0"/>
                            </a:rPr>
                            <m:t>∗</m:t>
                          </m:r>
                        </m:sup>
                      </m:sSup>
                    </m:oMath>
                  </m:oMathPara>
                </a14:m>
                <a:endParaRPr lang="zh-CN" altLang="en-US" sz="1600" dirty="0"/>
              </a:p>
            </p:txBody>
          </p:sp>
        </mc:Choice>
        <mc:Fallback xmlns="">
          <p:sp>
            <p:nvSpPr>
              <p:cNvPr id="25" name="矩形 24"/>
              <p:cNvSpPr>
                <a:spLocks noRot="1" noChangeAspect="1" noMove="1" noResize="1" noEditPoints="1" noAdjustHandles="1" noChangeArrowheads="1" noChangeShapeType="1" noTextEdit="1"/>
              </p:cNvSpPr>
              <p:nvPr/>
            </p:nvSpPr>
            <p:spPr>
              <a:xfrm>
                <a:off x="2065799" y="4473746"/>
                <a:ext cx="1967397" cy="351828"/>
              </a:xfrm>
              <a:prstGeom prst="rect">
                <a:avLst/>
              </a:prstGeom>
              <a:blipFill>
                <a:blip r:embed="rId10"/>
                <a:stretch>
                  <a:fillRect b="-3448"/>
                </a:stretch>
              </a:blipFill>
            </p:spPr>
            <p:txBody>
              <a:bodyPr/>
              <a:lstStyle/>
              <a:p>
                <a:r>
                  <a:rPr lang="zh-CN" altLang="en-US">
                    <a:noFill/>
                  </a:rPr>
                  <a:t> </a:t>
                </a:r>
              </a:p>
            </p:txBody>
          </p:sp>
        </mc:Fallback>
      </mc:AlternateContent>
      <p:sp>
        <p:nvSpPr>
          <p:cNvPr id="26" name="矩形 25"/>
          <p:cNvSpPr/>
          <p:nvPr/>
        </p:nvSpPr>
        <p:spPr>
          <a:xfrm>
            <a:off x="4116206" y="4381620"/>
            <a:ext cx="4572000" cy="584775"/>
          </a:xfrm>
          <a:prstGeom prst="rect">
            <a:avLst/>
          </a:prstGeom>
        </p:spPr>
        <p:txBody>
          <a:bodyPr>
            <a:spAutoFit/>
          </a:bodyPr>
          <a:lstStyle/>
          <a:p>
            <a:r>
              <a:rPr lang="zh-CN" altLang="zh-CN" sz="1600" b="1" dirty="0">
                <a:solidFill>
                  <a:srgbClr val="002060"/>
                </a:solidFill>
                <a:ea typeface="等线" panose="02010600030101010101" pitchFamily="2" charset="-122"/>
                <a:cs typeface="Times New Roman" panose="02020603050405020304" pitchFamily="18" charset="0"/>
              </a:rPr>
              <a:t>位置</a:t>
            </a:r>
            <a:r>
              <a:rPr lang="zh-CN" altLang="zh-CN" sz="1600" dirty="0">
                <a:ea typeface="等线" panose="02010600030101010101" pitchFamily="2" charset="-122"/>
                <a:cs typeface="Times New Roman" panose="02020603050405020304" pitchFamily="18" charset="0"/>
              </a:rPr>
              <a:t>为根据式（</a:t>
            </a:r>
            <a:r>
              <a:rPr lang="en-US" altLang="zh-CN" sz="1600" dirty="0">
                <a:ea typeface="等线" panose="02010600030101010101" pitchFamily="2" charset="-122"/>
                <a:cs typeface="Times New Roman" panose="02020603050405020304" pitchFamily="18" charset="0"/>
              </a:rPr>
              <a:t>3-53</a:t>
            </a:r>
            <a:r>
              <a:rPr lang="zh-CN" altLang="zh-CN" sz="1600" dirty="0">
                <a:ea typeface="等线" panose="02010600030101010101" pitchFamily="2" charset="-122"/>
                <a:cs typeface="Times New Roman" panose="02020603050405020304" pitchFamily="18" charset="0"/>
              </a:rPr>
              <a:t>）计算出来的对偶四元数乘积的对偶部的向量部分：</a:t>
            </a:r>
            <a:endParaRPr lang="zh-CN" altLang="en-US" sz="1600" dirty="0"/>
          </a:p>
        </p:txBody>
      </p:sp>
      <p:sp>
        <p:nvSpPr>
          <p:cNvPr id="27" name="矩形 26"/>
          <p:cNvSpPr/>
          <p:nvPr/>
        </p:nvSpPr>
        <p:spPr>
          <a:xfrm>
            <a:off x="3799073" y="1090940"/>
            <a:ext cx="970137" cy="338554"/>
          </a:xfrm>
          <a:prstGeom prst="rect">
            <a:avLst/>
          </a:prstGeom>
        </p:spPr>
        <p:txBody>
          <a:bodyPr wrap="none">
            <a:spAutoFit/>
          </a:bodyPr>
          <a:lstStyle/>
          <a:p>
            <a:r>
              <a:rPr lang="zh-CN" altLang="zh-CN" sz="1600" dirty="0">
                <a:ea typeface="等线" panose="02010600030101010101" pitchFamily="2" charset="-122"/>
                <a:cs typeface="Times New Roman" panose="02020603050405020304" pitchFamily="18" charset="0"/>
              </a:rPr>
              <a:t>（</a:t>
            </a:r>
            <a:r>
              <a:rPr lang="en-US" altLang="zh-CN" sz="1600" dirty="0">
                <a:ea typeface="等线" panose="02010600030101010101" pitchFamily="2" charset="-122"/>
                <a:cs typeface="Times New Roman" panose="02020603050405020304" pitchFamily="18" charset="0"/>
              </a:rPr>
              <a:t>3-53</a:t>
            </a:r>
            <a:r>
              <a:rPr lang="zh-CN" altLang="zh-CN" sz="1600" dirty="0">
                <a:ea typeface="等线" panose="02010600030101010101" pitchFamily="2" charset="-122"/>
                <a:cs typeface="Times New Roman" panose="02020603050405020304" pitchFamily="18" charset="0"/>
              </a:rPr>
              <a:t>）</a:t>
            </a:r>
            <a:endParaRPr lang="zh-CN" altLang="en-US" sz="1600" dirty="0"/>
          </a:p>
        </p:txBody>
      </p:sp>
      <mc:AlternateContent xmlns:mc="http://schemas.openxmlformats.org/markup-compatibility/2006" xmlns:a14="http://schemas.microsoft.com/office/drawing/2010/main">
        <mc:Choice Requires="a14">
          <p:sp>
            <p:nvSpPr>
              <p:cNvPr id="28" name="矩形 27"/>
              <p:cNvSpPr/>
              <p:nvPr/>
            </p:nvSpPr>
            <p:spPr>
              <a:xfrm>
                <a:off x="6301757" y="4608861"/>
                <a:ext cx="1269322" cy="3575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𝑃</m:t>
                          </m:r>
                        </m:e>
                        <m:sub>
                          <m:r>
                            <a:rPr lang="zh-CN" altLang="en-US" sz="1600" i="1">
                              <a:latin typeface="Cambria Math" panose="02040503050406030204" pitchFamily="18" charset="0"/>
                            </a:rPr>
                            <m:t>𝑒𝑝</m:t>
                          </m:r>
                        </m:sub>
                      </m:sSub>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r>
                                <a:rPr lang="zh-CN" altLang="en-US" sz="1600" i="1">
                                  <a:latin typeface="Cambria Math" panose="02040503050406030204" pitchFamily="18" charset="0"/>
                                </a:rPr>
                                <m:t>𝑛𝑉</m:t>
                              </m:r>
                            </m:sub>
                          </m:sSub>
                        </m:e>
                        <m:sup>
                          <m:r>
                            <a:rPr lang="zh-CN" altLang="en-US" sz="1600" i="1">
                              <a:latin typeface="Cambria Math" panose="02040503050406030204" pitchFamily="18" charset="0"/>
                            </a:rPr>
                            <m:t>𝑜</m:t>
                          </m:r>
                        </m:sup>
                      </m:sSup>
                    </m:oMath>
                  </m:oMathPara>
                </a14:m>
                <a:endParaRPr lang="zh-CN" altLang="en-US" sz="1600" dirty="0"/>
              </a:p>
            </p:txBody>
          </p:sp>
        </mc:Choice>
        <mc:Fallback xmlns="">
          <p:sp>
            <p:nvSpPr>
              <p:cNvPr id="28" name="矩形 27"/>
              <p:cNvSpPr>
                <a:spLocks noRot="1" noChangeAspect="1" noMove="1" noResize="1" noEditPoints="1" noAdjustHandles="1" noChangeArrowheads="1" noChangeShapeType="1" noTextEdit="1"/>
              </p:cNvSpPr>
              <p:nvPr/>
            </p:nvSpPr>
            <p:spPr>
              <a:xfrm>
                <a:off x="6301757" y="4608861"/>
                <a:ext cx="1269322" cy="357534"/>
              </a:xfrm>
              <a:prstGeom prst="rect">
                <a:avLst/>
              </a:prstGeom>
              <a:blipFill>
                <a:blip r:embed="rId11"/>
                <a:stretch>
                  <a:fillRect b="-33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7106307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Dual-Quaternions </a:t>
              </a:r>
              <a:r>
                <a:rPr lang="en-US" altLang="zh-CN" sz="1000" dirty="0">
                  <a:latin typeface="Arial" panose="020B0604020202020204" pitchFamily="34" charset="0"/>
                  <a:ea typeface="微软雅黑" panose="020B0503020204020204" charset="-122"/>
                  <a:sym typeface="+mn-ea"/>
                </a:rPr>
                <a:t>method</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对偶四元数</a:t>
              </a:r>
              <a:r>
                <a:rPr lang="zh-CN" altLang="en-US" sz="2000" b="1" dirty="0">
                  <a:latin typeface="Arial" panose="020B0604020202020204" pitchFamily="34" charset="0"/>
                  <a:ea typeface="微软雅黑" panose="020B0503020204020204" charset="-122"/>
                  <a:sym typeface="+mn-ea"/>
                </a:rPr>
                <a:t>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文本框 11"/>
          <p:cNvSpPr txBox="1"/>
          <p:nvPr/>
        </p:nvSpPr>
        <p:spPr>
          <a:xfrm>
            <a:off x="2620373" y="721965"/>
            <a:ext cx="3605474" cy="400110"/>
          </a:xfrm>
          <a:prstGeom prst="rect">
            <a:avLst/>
          </a:prstGeom>
          <a:noFill/>
        </p:spPr>
        <p:txBody>
          <a:bodyPr wrap="none" rtlCol="0">
            <a:spAutoFit/>
          </a:bodyPr>
          <a:lstStyle/>
          <a:p>
            <a:r>
              <a:rPr lang="zh-CN" altLang="en-US" sz="2000" b="1" dirty="0" smtClean="0">
                <a:solidFill>
                  <a:srgbClr val="002060"/>
                </a:solidFill>
              </a:rPr>
              <a:t>实例：</a:t>
            </a:r>
            <a:r>
              <a:rPr lang="en-US" altLang="zh-CN" sz="2000" b="1" dirty="0" smtClean="0">
                <a:solidFill>
                  <a:srgbClr val="002060"/>
                </a:solidFill>
              </a:rPr>
              <a:t>Aubo-i5</a:t>
            </a:r>
            <a:r>
              <a:rPr lang="zh-CN" altLang="en-US" sz="2000" b="1" dirty="0" smtClean="0">
                <a:solidFill>
                  <a:srgbClr val="002060"/>
                </a:solidFill>
              </a:rPr>
              <a:t>对偶四元数正解</a:t>
            </a:r>
            <a:endParaRPr lang="zh-CN" altLang="en-US" sz="2000" b="1" dirty="0">
              <a:solidFill>
                <a:srgbClr val="002060"/>
              </a:solidFill>
            </a:endParaRPr>
          </a:p>
        </p:txBody>
      </p:sp>
      <p:pic>
        <p:nvPicPr>
          <p:cNvPr id="13" name="图片 12"/>
          <p:cNvPicPr>
            <a:picLocks noChangeAspect="1"/>
          </p:cNvPicPr>
          <p:nvPr/>
        </p:nvPicPr>
        <p:blipFill>
          <a:blip r:embed="rId3"/>
          <a:stretch>
            <a:fillRect/>
          </a:stretch>
        </p:blipFill>
        <p:spPr>
          <a:xfrm>
            <a:off x="41328" y="1563638"/>
            <a:ext cx="3822256" cy="2592288"/>
          </a:xfrm>
          <a:prstGeom prst="rect">
            <a:avLst/>
          </a:prstGeom>
        </p:spPr>
      </p:pic>
      <mc:AlternateContent xmlns:mc="http://schemas.openxmlformats.org/markup-compatibility/2006" xmlns:a14="http://schemas.microsoft.com/office/drawing/2010/main">
        <mc:Choice Requires="a14">
          <p:sp>
            <p:nvSpPr>
              <p:cNvPr id="14" name="矩形 13"/>
              <p:cNvSpPr/>
              <p:nvPr/>
            </p:nvSpPr>
            <p:spPr>
              <a:xfrm>
                <a:off x="3713736" y="1553054"/>
                <a:ext cx="4150390" cy="414729"/>
              </a:xfrm>
              <a:prstGeom prst="rect">
                <a:avLst/>
              </a:prstGeom>
            </p:spPr>
            <p:txBody>
              <a:bodyPr wrap="square">
                <a:spAutoFit/>
              </a:bodyPr>
              <a:lstStyle/>
              <a:p>
                <a14:m>
                  <m:oMath xmlns:m="http://schemas.openxmlformats.org/officeDocument/2006/math">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𝑄</m:t>
                        </m:r>
                      </m:e>
                      <m:sub>
                        <m:r>
                          <a:rPr lang="zh-CN" altLang="en-US" sz="1400">
                            <a:latin typeface="Cambria Math" panose="02040503050406030204" pitchFamily="18" charset="0"/>
                          </a:rPr>
                          <m:t>1</m:t>
                        </m:r>
                      </m:sub>
                    </m:sSub>
                    <m:r>
                      <a:rPr lang="zh-CN" altLang="en-US" sz="1400">
                        <a:latin typeface="Cambria Math" panose="02040503050406030204" pitchFamily="18" charset="0"/>
                      </a:rPr>
                      <m:t>=([</m:t>
                    </m:r>
                    <m:func>
                      <m:funcPr>
                        <m:ctrlPr>
                          <a:rPr lang="zh-CN" altLang="en-US" sz="1400" i="1">
                            <a:latin typeface="Cambria Math" panose="02040503050406030204" pitchFamily="18" charset="0"/>
                          </a:rPr>
                        </m:ctrlPr>
                      </m:funcPr>
                      <m:fName>
                        <m:func>
                          <m:funcPr>
                            <m:ctrlPr>
                              <a:rPr lang="zh-CN" altLang="en-US" sz="1400" i="1">
                                <a:latin typeface="Cambria Math" panose="02040503050406030204" pitchFamily="18" charset="0"/>
                              </a:rPr>
                            </m:ctrlPr>
                          </m:funcPr>
                          <m:fName>
                            <m:r>
                              <m:rPr>
                                <m:sty m:val="p"/>
                              </m:rPr>
                              <a:rPr lang="zh-CN" altLang="en-US" sz="1400">
                                <a:latin typeface="Cambria Math" panose="02040503050406030204" pitchFamily="18" charset="0"/>
                              </a:rPr>
                              <m:t>cos</m:t>
                            </m:r>
                          </m:fName>
                          <m:e>
                            <m:r>
                              <a:rPr lang="zh-CN" altLang="en-US" sz="1400">
                                <a:latin typeface="Cambria Math" panose="02040503050406030204" pitchFamily="18" charset="0"/>
                              </a:rPr>
                              <m:t>(</m:t>
                            </m:r>
                          </m:e>
                        </m:func>
                      </m:fName>
                      <m:e>
                        <m:d>
                          <m:dPr>
                            <m:begChr m:val=""/>
                            <m:ctrlPr>
                              <a:rPr lang="zh-CN" altLang="en-US" sz="1400" i="1">
                                <a:latin typeface="Cambria Math" panose="02040503050406030204" pitchFamily="18" charset="0"/>
                              </a:rPr>
                            </m:ctrlPr>
                          </m:dPr>
                          <m:e>
                            <m:f>
                              <m:fPr>
                                <m:ctrlPr>
                                  <a:rPr lang="zh-CN" altLang="en-US" sz="1400" i="1">
                                    <a:latin typeface="Cambria Math" panose="02040503050406030204" pitchFamily="18" charset="0"/>
                                  </a:rPr>
                                </m:ctrlPr>
                              </m:fPr>
                              <m:num>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a:latin typeface="Cambria Math" panose="02040503050406030204" pitchFamily="18" charset="0"/>
                                      </a:rPr>
                                      <m:t>1</m:t>
                                    </m:r>
                                  </m:sub>
                                </m:sSub>
                              </m:num>
                              <m:den>
                                <m:r>
                                  <a:rPr lang="zh-CN" altLang="en-US" sz="1400">
                                    <a:latin typeface="Cambria Math" panose="02040503050406030204" pitchFamily="18" charset="0"/>
                                  </a:rPr>
                                  <m:t>2</m:t>
                                </m:r>
                              </m:den>
                            </m:f>
                          </m:e>
                        </m:d>
                      </m:e>
                    </m:func>
                    <m:r>
                      <a:rPr lang="zh-CN" altLang="en-US" sz="1400">
                        <a:latin typeface="Cambria Math" panose="02040503050406030204" pitchFamily="18" charset="0"/>
                      </a:rPr>
                      <m:t>, </m:t>
                    </m:r>
                    <m:func>
                      <m:funcPr>
                        <m:ctrlPr>
                          <a:rPr lang="zh-CN" altLang="en-US" sz="1400" i="1">
                            <a:latin typeface="Cambria Math" panose="02040503050406030204" pitchFamily="18" charset="0"/>
                          </a:rPr>
                        </m:ctrlPr>
                      </m:funcPr>
                      <m:fName>
                        <m:r>
                          <m:rPr>
                            <m:sty m:val="p"/>
                          </m:rPr>
                          <a:rPr lang="zh-CN" altLang="en-US" sz="1400">
                            <a:latin typeface="Cambria Math" panose="02040503050406030204" pitchFamily="18" charset="0"/>
                          </a:rPr>
                          <m:t>sin</m:t>
                        </m:r>
                      </m:fName>
                      <m:e>
                        <m:d>
                          <m:dPr>
                            <m:ctrlPr>
                              <a:rPr lang="zh-CN" altLang="en-US" sz="1400" i="1">
                                <a:latin typeface="Cambria Math" panose="02040503050406030204" pitchFamily="18" charset="0"/>
                              </a:rPr>
                            </m:ctrlPr>
                          </m:dPr>
                          <m:e>
                            <m:f>
                              <m:fPr>
                                <m:ctrlPr>
                                  <a:rPr lang="zh-CN" altLang="en-US" sz="1400" i="1">
                                    <a:latin typeface="Cambria Math" panose="02040503050406030204" pitchFamily="18" charset="0"/>
                                  </a:rPr>
                                </m:ctrlPr>
                              </m:fPr>
                              <m:num>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a:latin typeface="Cambria Math" panose="02040503050406030204" pitchFamily="18" charset="0"/>
                                      </a:rPr>
                                      <m:t>1</m:t>
                                    </m:r>
                                  </m:sub>
                                </m:sSub>
                              </m:num>
                              <m:den>
                                <m:r>
                                  <a:rPr lang="zh-CN" altLang="en-US" sz="1400">
                                    <a:latin typeface="Cambria Math" panose="02040503050406030204" pitchFamily="18" charset="0"/>
                                  </a:rPr>
                                  <m:t>2</m:t>
                                </m:r>
                              </m:den>
                            </m:f>
                          </m:e>
                        </m:d>
                      </m:e>
                    </m:func>
                    <m:r>
                      <a:rPr lang="zh-CN" altLang="en-US" sz="1400">
                        <a:latin typeface="Cambria Math" panose="02040503050406030204" pitchFamily="18" charset="0"/>
                      </a:rPr>
                      <m:t>&lt;0,0,1&gt;],[0,&lt;0, 0, </m:t>
                    </m:r>
                    <m:sSub>
                      <m:sSubPr>
                        <m:ctrlPr>
                          <a:rPr lang="zh-CN" altLang="en-US" sz="1400" i="1">
                            <a:latin typeface="Cambria Math" panose="02040503050406030204" pitchFamily="18" charset="0"/>
                          </a:rPr>
                        </m:ctrlPr>
                      </m:sSubPr>
                      <m:e>
                        <m:r>
                          <a:rPr lang="zh-CN" altLang="en-US" sz="1400">
                            <a:latin typeface="Cambria Math" panose="02040503050406030204" pitchFamily="18" charset="0"/>
                          </a:rPr>
                          <m:t> </m:t>
                        </m:r>
                        <m:r>
                          <a:rPr lang="zh-CN" altLang="en-US" sz="1400" i="1">
                            <a:latin typeface="Cambria Math" panose="02040503050406030204" pitchFamily="18" charset="0"/>
                          </a:rPr>
                          <m:t>𝑑</m:t>
                        </m:r>
                      </m:e>
                      <m:sub>
                        <m:r>
                          <a:rPr lang="zh-CN" altLang="en-US" sz="1400">
                            <a:latin typeface="Cambria Math" panose="02040503050406030204" pitchFamily="18" charset="0"/>
                          </a:rPr>
                          <m:t>1</m:t>
                        </m:r>
                      </m:sub>
                    </m:sSub>
                    <m:r>
                      <a:rPr lang="zh-CN" altLang="en-US" sz="1400">
                        <a:latin typeface="Cambria Math" panose="02040503050406030204" pitchFamily="18" charset="0"/>
                      </a:rPr>
                      <m:t>&gt;]</m:t>
                    </m:r>
                  </m:oMath>
                </a14:m>
                <a:r>
                  <a:rPr lang="en-US" altLang="zh-CN" sz="1400" dirty="0" smtClean="0"/>
                  <a:t>)</a:t>
                </a:r>
                <a:endParaRPr lang="zh-CN" altLang="en-US" sz="1400" dirty="0"/>
              </a:p>
            </p:txBody>
          </p:sp>
        </mc:Choice>
        <mc:Fallback xmlns="">
          <p:sp>
            <p:nvSpPr>
              <p:cNvPr id="14" name="矩形 13"/>
              <p:cNvSpPr>
                <a:spLocks noRot="1" noChangeAspect="1" noMove="1" noResize="1" noEditPoints="1" noAdjustHandles="1" noChangeArrowheads="1" noChangeShapeType="1" noTextEdit="1"/>
              </p:cNvSpPr>
              <p:nvPr/>
            </p:nvSpPr>
            <p:spPr>
              <a:xfrm>
                <a:off x="3713736" y="1553054"/>
                <a:ext cx="4150390" cy="414729"/>
              </a:xfrm>
              <a:prstGeom prst="rect">
                <a:avLst/>
              </a:prstGeom>
              <a:blipFill>
                <a:blip r:embed="rId4"/>
                <a:stretch>
                  <a:fillRect t="-161765" b="-2441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3713736" y="2000285"/>
                <a:ext cx="5255216" cy="414729"/>
              </a:xfrm>
              <a:prstGeom prst="rect">
                <a:avLst/>
              </a:prstGeom>
            </p:spPr>
            <p:txBody>
              <a:bodyPr wrap="square">
                <a:spAutoFit/>
              </a:bodyPr>
              <a:lstStyle/>
              <a:p>
                <a14:m>
                  <m:oMath xmlns:m="http://schemas.openxmlformats.org/officeDocument/2006/math">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𝑄</m:t>
                        </m:r>
                      </m:e>
                      <m:sub>
                        <m:r>
                          <a:rPr lang="zh-CN" altLang="en-US" sz="1400">
                            <a:latin typeface="Cambria Math" panose="02040503050406030204" pitchFamily="18" charset="0"/>
                          </a:rPr>
                          <m:t>2</m:t>
                        </m:r>
                      </m:sub>
                    </m:sSub>
                    <m:r>
                      <a:rPr lang="zh-CN" altLang="en-US" sz="1400">
                        <a:latin typeface="Cambria Math" panose="02040503050406030204" pitchFamily="18" charset="0"/>
                      </a:rPr>
                      <m:t>=([</m:t>
                    </m:r>
                    <m:func>
                      <m:funcPr>
                        <m:ctrlPr>
                          <a:rPr lang="zh-CN" altLang="en-US" sz="1400" i="1">
                            <a:latin typeface="Cambria Math" panose="02040503050406030204" pitchFamily="18" charset="0"/>
                          </a:rPr>
                        </m:ctrlPr>
                      </m:funcPr>
                      <m:fName>
                        <m:func>
                          <m:funcPr>
                            <m:ctrlPr>
                              <a:rPr lang="zh-CN" altLang="en-US" sz="1400" i="1">
                                <a:latin typeface="Cambria Math" panose="02040503050406030204" pitchFamily="18" charset="0"/>
                              </a:rPr>
                            </m:ctrlPr>
                          </m:funcPr>
                          <m:fName>
                            <m:r>
                              <m:rPr>
                                <m:sty m:val="p"/>
                              </m:rPr>
                              <a:rPr lang="zh-CN" altLang="en-US" sz="1400">
                                <a:latin typeface="Cambria Math" panose="02040503050406030204" pitchFamily="18" charset="0"/>
                              </a:rPr>
                              <m:t>cos</m:t>
                            </m:r>
                          </m:fName>
                          <m:e>
                            <m:r>
                              <a:rPr lang="zh-CN" altLang="en-US" sz="1400">
                                <a:latin typeface="Cambria Math" panose="02040503050406030204" pitchFamily="18" charset="0"/>
                              </a:rPr>
                              <m:t>(</m:t>
                            </m:r>
                          </m:e>
                        </m:func>
                      </m:fName>
                      <m:e>
                        <m:d>
                          <m:dPr>
                            <m:begChr m:val=""/>
                            <m:ctrlPr>
                              <a:rPr lang="zh-CN" altLang="en-US" sz="1400" i="1">
                                <a:latin typeface="Cambria Math" panose="02040503050406030204" pitchFamily="18" charset="0"/>
                              </a:rPr>
                            </m:ctrlPr>
                          </m:dPr>
                          <m:e>
                            <m:f>
                              <m:fPr>
                                <m:ctrlPr>
                                  <a:rPr lang="zh-CN" altLang="en-US" sz="1400" i="1">
                                    <a:latin typeface="Cambria Math" panose="02040503050406030204" pitchFamily="18" charset="0"/>
                                  </a:rPr>
                                </m:ctrlPr>
                              </m:fPr>
                              <m:num>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a:latin typeface="Cambria Math" panose="02040503050406030204" pitchFamily="18" charset="0"/>
                                      </a:rPr>
                                      <m:t>2</m:t>
                                    </m:r>
                                  </m:sub>
                                </m:sSub>
                              </m:num>
                              <m:den>
                                <m:r>
                                  <a:rPr lang="zh-CN" altLang="en-US" sz="1400">
                                    <a:latin typeface="Cambria Math" panose="02040503050406030204" pitchFamily="18" charset="0"/>
                                  </a:rPr>
                                  <m:t>2</m:t>
                                </m:r>
                              </m:den>
                            </m:f>
                          </m:e>
                        </m:d>
                      </m:e>
                    </m:func>
                    <m:r>
                      <a:rPr lang="zh-CN" altLang="en-US" sz="1400">
                        <a:latin typeface="Cambria Math" panose="02040503050406030204" pitchFamily="18" charset="0"/>
                      </a:rPr>
                      <m:t>, </m:t>
                    </m:r>
                    <m:func>
                      <m:funcPr>
                        <m:ctrlPr>
                          <a:rPr lang="zh-CN" altLang="en-US" sz="1400" i="1">
                            <a:latin typeface="Cambria Math" panose="02040503050406030204" pitchFamily="18" charset="0"/>
                          </a:rPr>
                        </m:ctrlPr>
                      </m:funcPr>
                      <m:fName>
                        <m:r>
                          <m:rPr>
                            <m:sty m:val="p"/>
                          </m:rPr>
                          <a:rPr lang="zh-CN" altLang="en-US" sz="1400">
                            <a:latin typeface="Cambria Math" panose="02040503050406030204" pitchFamily="18" charset="0"/>
                          </a:rPr>
                          <m:t>sin</m:t>
                        </m:r>
                      </m:fName>
                      <m:e>
                        <m:d>
                          <m:dPr>
                            <m:ctrlPr>
                              <a:rPr lang="zh-CN" altLang="en-US" sz="1400" i="1">
                                <a:latin typeface="Cambria Math" panose="02040503050406030204" pitchFamily="18" charset="0"/>
                              </a:rPr>
                            </m:ctrlPr>
                          </m:dPr>
                          <m:e>
                            <m:f>
                              <m:fPr>
                                <m:ctrlPr>
                                  <a:rPr lang="zh-CN" altLang="en-US" sz="1400" i="1">
                                    <a:latin typeface="Cambria Math" panose="02040503050406030204" pitchFamily="18" charset="0"/>
                                  </a:rPr>
                                </m:ctrlPr>
                              </m:fPr>
                              <m:num>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a:latin typeface="Cambria Math" panose="02040503050406030204" pitchFamily="18" charset="0"/>
                                      </a:rPr>
                                      <m:t>2</m:t>
                                    </m:r>
                                  </m:sub>
                                </m:sSub>
                              </m:num>
                              <m:den>
                                <m:r>
                                  <a:rPr lang="zh-CN" altLang="en-US" sz="1400">
                                    <a:latin typeface="Cambria Math" panose="02040503050406030204" pitchFamily="18" charset="0"/>
                                  </a:rPr>
                                  <m:t>2</m:t>
                                </m:r>
                              </m:den>
                            </m:f>
                          </m:e>
                        </m:d>
                      </m:e>
                    </m:func>
                    <m:r>
                      <a:rPr lang="zh-CN" altLang="en-US" sz="1400">
                        <a:latin typeface="Cambria Math" panose="02040503050406030204" pitchFamily="18" charset="0"/>
                      </a:rPr>
                      <m:t>&lt;0,−1,0&gt;],[0,&lt;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𝑎</m:t>
                        </m:r>
                      </m:e>
                      <m:sub>
                        <m:r>
                          <a:rPr lang="zh-CN" altLang="en-US" sz="1400">
                            <a:latin typeface="Cambria Math" panose="02040503050406030204" pitchFamily="18" charset="0"/>
                          </a:rPr>
                          <m:t>2</m:t>
                        </m:r>
                      </m:sub>
                    </m:sSub>
                    <m:r>
                      <a:rPr lang="zh-CN" altLang="en-US" sz="1400" i="1">
                        <a:latin typeface="Cambria Math" panose="02040503050406030204" pitchFamily="18" charset="0"/>
                      </a:rPr>
                      <m:t>𝑐𝑜𝑠</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a:latin typeface="Cambria Math" panose="02040503050406030204" pitchFamily="18" charset="0"/>
                          </a:rPr>
                          <m:t>2</m:t>
                        </m:r>
                      </m:sub>
                    </m:sSub>
                    <m:r>
                      <a:rPr lang="zh-CN" altLang="en-US" sz="1400">
                        <a:latin typeface="Cambria Math" panose="02040503050406030204" pitchFamily="18" charset="0"/>
                      </a:rPr>
                      <m:t>, 0, </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𝑎</m:t>
                        </m:r>
                      </m:e>
                      <m:sub>
                        <m:r>
                          <a:rPr lang="zh-CN" altLang="en-US" sz="1400">
                            <a:latin typeface="Cambria Math" panose="02040503050406030204" pitchFamily="18" charset="0"/>
                          </a:rPr>
                          <m:t>2</m:t>
                        </m:r>
                      </m:sub>
                    </m:sSub>
                    <m:r>
                      <a:rPr lang="zh-CN" altLang="en-US" sz="1400" i="1">
                        <a:latin typeface="Cambria Math" panose="02040503050406030204" pitchFamily="18" charset="0"/>
                      </a:rPr>
                      <m:t>𝑠𝑖𝑛</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a:latin typeface="Cambria Math" panose="02040503050406030204" pitchFamily="18" charset="0"/>
                          </a:rPr>
                          <m:t>2</m:t>
                        </m:r>
                      </m:sub>
                    </m:sSub>
                    <m:r>
                      <a:rPr lang="zh-CN" altLang="en-US" sz="1400">
                        <a:latin typeface="Cambria Math" panose="02040503050406030204" pitchFamily="18" charset="0"/>
                      </a:rPr>
                      <m:t>&gt;]</m:t>
                    </m:r>
                  </m:oMath>
                </a14:m>
                <a:r>
                  <a:rPr lang="en-US" altLang="zh-CN" sz="1400" dirty="0" smtClean="0"/>
                  <a:t>)</a:t>
                </a:r>
                <a:endParaRPr lang="zh-CN" altLang="en-US" sz="1400" dirty="0"/>
              </a:p>
            </p:txBody>
          </p:sp>
        </mc:Choice>
        <mc:Fallback xmlns="">
          <p:sp>
            <p:nvSpPr>
              <p:cNvPr id="15" name="矩形 14"/>
              <p:cNvSpPr>
                <a:spLocks noRot="1" noChangeAspect="1" noMove="1" noResize="1" noEditPoints="1" noAdjustHandles="1" noChangeArrowheads="1" noChangeShapeType="1" noTextEdit="1"/>
              </p:cNvSpPr>
              <p:nvPr/>
            </p:nvSpPr>
            <p:spPr>
              <a:xfrm>
                <a:off x="3713736" y="2000285"/>
                <a:ext cx="5255216" cy="414729"/>
              </a:xfrm>
              <a:prstGeom prst="rect">
                <a:avLst/>
              </a:prstGeom>
              <a:blipFill>
                <a:blip r:embed="rId5"/>
                <a:stretch>
                  <a:fillRect t="-161765" b="-2441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3713736" y="2467278"/>
                <a:ext cx="5466776" cy="414729"/>
              </a:xfrm>
              <a:prstGeom prst="rect">
                <a:avLst/>
              </a:prstGeom>
            </p:spPr>
            <p:txBody>
              <a:bodyPr wrap="square">
                <a:spAutoFit/>
              </a:bodyPr>
              <a:lstStyle/>
              <a:p>
                <a14:m>
                  <m:oMath xmlns:m="http://schemas.openxmlformats.org/officeDocument/2006/math">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𝑄</m:t>
                        </m:r>
                      </m:e>
                      <m:sub>
                        <m:r>
                          <a:rPr lang="zh-CN" altLang="en-US" sz="1400">
                            <a:latin typeface="Cambria Math" panose="02040503050406030204" pitchFamily="18" charset="0"/>
                          </a:rPr>
                          <m:t>3</m:t>
                        </m:r>
                      </m:sub>
                    </m:sSub>
                    <m:r>
                      <a:rPr lang="zh-CN" altLang="en-US" sz="1400">
                        <a:latin typeface="Cambria Math" panose="02040503050406030204" pitchFamily="18" charset="0"/>
                      </a:rPr>
                      <m:t>=([</m:t>
                    </m:r>
                    <m:func>
                      <m:funcPr>
                        <m:ctrlPr>
                          <a:rPr lang="zh-CN" altLang="en-US" sz="1400" i="1">
                            <a:latin typeface="Cambria Math" panose="02040503050406030204" pitchFamily="18" charset="0"/>
                          </a:rPr>
                        </m:ctrlPr>
                      </m:funcPr>
                      <m:fName>
                        <m:func>
                          <m:funcPr>
                            <m:ctrlPr>
                              <a:rPr lang="zh-CN" altLang="en-US" sz="1400" i="1">
                                <a:latin typeface="Cambria Math" panose="02040503050406030204" pitchFamily="18" charset="0"/>
                              </a:rPr>
                            </m:ctrlPr>
                          </m:funcPr>
                          <m:fName>
                            <m:r>
                              <m:rPr>
                                <m:sty m:val="p"/>
                              </m:rPr>
                              <a:rPr lang="zh-CN" altLang="en-US" sz="1400">
                                <a:latin typeface="Cambria Math" panose="02040503050406030204" pitchFamily="18" charset="0"/>
                              </a:rPr>
                              <m:t>cos</m:t>
                            </m:r>
                          </m:fName>
                          <m:e>
                            <m:r>
                              <a:rPr lang="zh-CN" altLang="en-US" sz="1400">
                                <a:latin typeface="Cambria Math" panose="02040503050406030204" pitchFamily="18" charset="0"/>
                              </a:rPr>
                              <m:t>(</m:t>
                            </m:r>
                          </m:e>
                        </m:func>
                      </m:fName>
                      <m:e>
                        <m:d>
                          <m:dPr>
                            <m:begChr m:val=""/>
                            <m:ctrlPr>
                              <a:rPr lang="zh-CN" altLang="en-US" sz="1400" i="1">
                                <a:latin typeface="Cambria Math" panose="02040503050406030204" pitchFamily="18" charset="0"/>
                              </a:rPr>
                            </m:ctrlPr>
                          </m:dPr>
                          <m:e>
                            <m:f>
                              <m:fPr>
                                <m:ctrlPr>
                                  <a:rPr lang="zh-CN" altLang="en-US" sz="1400" i="1">
                                    <a:latin typeface="Cambria Math" panose="02040503050406030204" pitchFamily="18" charset="0"/>
                                  </a:rPr>
                                </m:ctrlPr>
                              </m:fPr>
                              <m:num>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a:latin typeface="Cambria Math" panose="02040503050406030204" pitchFamily="18" charset="0"/>
                                      </a:rPr>
                                      <m:t>3</m:t>
                                    </m:r>
                                  </m:sub>
                                </m:sSub>
                              </m:num>
                              <m:den>
                                <m:r>
                                  <a:rPr lang="zh-CN" altLang="en-US" sz="1400">
                                    <a:latin typeface="Cambria Math" panose="02040503050406030204" pitchFamily="18" charset="0"/>
                                  </a:rPr>
                                  <m:t>2</m:t>
                                </m:r>
                              </m:den>
                            </m:f>
                          </m:e>
                        </m:d>
                      </m:e>
                    </m:func>
                    <m:r>
                      <a:rPr lang="zh-CN" altLang="en-US" sz="1400">
                        <a:latin typeface="Cambria Math" panose="02040503050406030204" pitchFamily="18" charset="0"/>
                      </a:rPr>
                      <m:t>, </m:t>
                    </m:r>
                    <m:func>
                      <m:funcPr>
                        <m:ctrlPr>
                          <a:rPr lang="zh-CN" altLang="en-US" sz="1400" i="1">
                            <a:latin typeface="Cambria Math" panose="02040503050406030204" pitchFamily="18" charset="0"/>
                          </a:rPr>
                        </m:ctrlPr>
                      </m:funcPr>
                      <m:fName>
                        <m:r>
                          <m:rPr>
                            <m:sty m:val="p"/>
                          </m:rPr>
                          <a:rPr lang="zh-CN" altLang="en-US" sz="1400">
                            <a:latin typeface="Cambria Math" panose="02040503050406030204" pitchFamily="18" charset="0"/>
                          </a:rPr>
                          <m:t>sin</m:t>
                        </m:r>
                      </m:fName>
                      <m:e>
                        <m:d>
                          <m:dPr>
                            <m:ctrlPr>
                              <a:rPr lang="zh-CN" altLang="en-US" sz="1400" i="1">
                                <a:latin typeface="Cambria Math" panose="02040503050406030204" pitchFamily="18" charset="0"/>
                              </a:rPr>
                            </m:ctrlPr>
                          </m:dPr>
                          <m:e>
                            <m:f>
                              <m:fPr>
                                <m:ctrlPr>
                                  <a:rPr lang="zh-CN" altLang="en-US" sz="1400" i="1">
                                    <a:latin typeface="Cambria Math" panose="02040503050406030204" pitchFamily="18" charset="0"/>
                                  </a:rPr>
                                </m:ctrlPr>
                              </m:fPr>
                              <m:num>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a:latin typeface="Cambria Math" panose="02040503050406030204" pitchFamily="18" charset="0"/>
                                      </a:rPr>
                                      <m:t>3</m:t>
                                    </m:r>
                                  </m:sub>
                                </m:sSub>
                              </m:num>
                              <m:den>
                                <m:r>
                                  <a:rPr lang="zh-CN" altLang="en-US" sz="1400">
                                    <a:latin typeface="Cambria Math" panose="02040503050406030204" pitchFamily="18" charset="0"/>
                                  </a:rPr>
                                  <m:t>2</m:t>
                                </m:r>
                              </m:den>
                            </m:f>
                          </m:e>
                        </m:d>
                      </m:e>
                    </m:func>
                    <m:r>
                      <a:rPr lang="zh-CN" altLang="en-US" sz="1400">
                        <a:latin typeface="Cambria Math" panose="02040503050406030204" pitchFamily="18" charset="0"/>
                      </a:rPr>
                      <m:t>&lt;0,−1,0&gt;],[0,&lt;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𝑎</m:t>
                        </m:r>
                      </m:e>
                      <m:sub>
                        <m:r>
                          <a:rPr lang="zh-CN" altLang="en-US" sz="1400">
                            <a:latin typeface="Cambria Math" panose="02040503050406030204" pitchFamily="18" charset="0"/>
                          </a:rPr>
                          <m:t>3</m:t>
                        </m:r>
                      </m:sub>
                    </m:sSub>
                    <m:r>
                      <a:rPr lang="zh-CN" altLang="en-US" sz="1400" i="1">
                        <a:latin typeface="Cambria Math" panose="02040503050406030204" pitchFamily="18" charset="0"/>
                      </a:rPr>
                      <m:t>𝑐𝑜𝑠</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a:latin typeface="Cambria Math" panose="02040503050406030204" pitchFamily="18" charset="0"/>
                          </a:rPr>
                          <m:t>3</m:t>
                        </m:r>
                      </m:sub>
                    </m:sSub>
                    <m:r>
                      <a:rPr lang="zh-CN" altLang="en-US" sz="1400">
                        <a:latin typeface="Cambria Math" panose="02040503050406030204" pitchFamily="18" charset="0"/>
                      </a:rPr>
                      <m:t>, −</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𝑑</m:t>
                        </m:r>
                      </m:e>
                      <m:sub>
                        <m:r>
                          <a:rPr lang="zh-CN" altLang="en-US" sz="1400">
                            <a:latin typeface="Cambria Math" panose="02040503050406030204" pitchFamily="18" charset="0"/>
                          </a:rPr>
                          <m:t>4</m:t>
                        </m:r>
                      </m:sub>
                    </m:sSub>
                    <m:r>
                      <a:rPr lang="zh-CN" altLang="en-US" sz="1400">
                        <a:latin typeface="Cambria Math" panose="02040503050406030204" pitchFamily="18" charset="0"/>
                      </a:rPr>
                      <m:t>, </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𝑎</m:t>
                        </m:r>
                      </m:e>
                      <m:sub>
                        <m:r>
                          <a:rPr lang="zh-CN" altLang="en-US" sz="1400">
                            <a:latin typeface="Cambria Math" panose="02040503050406030204" pitchFamily="18" charset="0"/>
                          </a:rPr>
                          <m:t>3</m:t>
                        </m:r>
                      </m:sub>
                    </m:sSub>
                    <m:r>
                      <a:rPr lang="zh-CN" altLang="en-US" sz="1400" i="1">
                        <a:latin typeface="Cambria Math" panose="02040503050406030204" pitchFamily="18" charset="0"/>
                      </a:rPr>
                      <m:t>𝑠𝑖𝑛</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a:latin typeface="Cambria Math" panose="02040503050406030204" pitchFamily="18" charset="0"/>
                          </a:rPr>
                          <m:t>3</m:t>
                        </m:r>
                      </m:sub>
                    </m:sSub>
                    <m:r>
                      <a:rPr lang="zh-CN" altLang="en-US" sz="1400">
                        <a:latin typeface="Cambria Math" panose="02040503050406030204" pitchFamily="18" charset="0"/>
                      </a:rPr>
                      <m:t>&gt;]</m:t>
                    </m:r>
                  </m:oMath>
                </a14:m>
                <a:r>
                  <a:rPr lang="en-US" altLang="zh-CN" sz="1400" dirty="0" smtClean="0"/>
                  <a:t>)</a:t>
                </a:r>
                <a:endParaRPr lang="zh-CN" altLang="en-US" sz="1400" dirty="0"/>
              </a:p>
            </p:txBody>
          </p:sp>
        </mc:Choice>
        <mc:Fallback xmlns="">
          <p:sp>
            <p:nvSpPr>
              <p:cNvPr id="16" name="矩形 15"/>
              <p:cNvSpPr>
                <a:spLocks noRot="1" noChangeAspect="1" noMove="1" noResize="1" noEditPoints="1" noAdjustHandles="1" noChangeArrowheads="1" noChangeShapeType="1" noTextEdit="1"/>
              </p:cNvSpPr>
              <p:nvPr/>
            </p:nvSpPr>
            <p:spPr>
              <a:xfrm>
                <a:off x="3713736" y="2467278"/>
                <a:ext cx="5466776" cy="414729"/>
              </a:xfrm>
              <a:prstGeom prst="rect">
                <a:avLst/>
              </a:prstGeom>
              <a:blipFill>
                <a:blip r:embed="rId6"/>
                <a:stretch>
                  <a:fillRect t="-161765" b="-2441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3713736" y="2910842"/>
                <a:ext cx="5394768" cy="414729"/>
              </a:xfrm>
              <a:prstGeom prst="rect">
                <a:avLst/>
              </a:prstGeom>
            </p:spPr>
            <p:txBody>
              <a:bodyPr wrap="square">
                <a:spAutoFit/>
              </a:bodyPr>
              <a:lstStyle/>
              <a:p>
                <a14:m>
                  <m:oMath xmlns:m="http://schemas.openxmlformats.org/officeDocument/2006/math">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𝑄</m:t>
                        </m:r>
                      </m:e>
                      <m:sub>
                        <m:r>
                          <a:rPr lang="zh-CN" altLang="en-US" sz="1400">
                            <a:latin typeface="Cambria Math" panose="02040503050406030204" pitchFamily="18" charset="0"/>
                          </a:rPr>
                          <m:t>4</m:t>
                        </m:r>
                      </m:sub>
                    </m:sSub>
                    <m:r>
                      <a:rPr lang="zh-CN" altLang="en-US" sz="1400">
                        <a:latin typeface="Cambria Math" panose="02040503050406030204" pitchFamily="18" charset="0"/>
                      </a:rPr>
                      <m:t>=([</m:t>
                    </m:r>
                    <m:func>
                      <m:funcPr>
                        <m:ctrlPr>
                          <a:rPr lang="zh-CN" altLang="en-US" sz="1400" i="1">
                            <a:latin typeface="Cambria Math" panose="02040503050406030204" pitchFamily="18" charset="0"/>
                          </a:rPr>
                        </m:ctrlPr>
                      </m:funcPr>
                      <m:fName>
                        <m:func>
                          <m:funcPr>
                            <m:ctrlPr>
                              <a:rPr lang="zh-CN" altLang="en-US" sz="1400" i="1">
                                <a:latin typeface="Cambria Math" panose="02040503050406030204" pitchFamily="18" charset="0"/>
                              </a:rPr>
                            </m:ctrlPr>
                          </m:funcPr>
                          <m:fName>
                            <m:r>
                              <m:rPr>
                                <m:sty m:val="p"/>
                              </m:rPr>
                              <a:rPr lang="zh-CN" altLang="en-US" sz="1400">
                                <a:latin typeface="Cambria Math" panose="02040503050406030204" pitchFamily="18" charset="0"/>
                              </a:rPr>
                              <m:t>cos</m:t>
                            </m:r>
                          </m:fName>
                          <m:e>
                            <m:r>
                              <a:rPr lang="zh-CN" altLang="en-US" sz="1400">
                                <a:latin typeface="Cambria Math" panose="02040503050406030204" pitchFamily="18" charset="0"/>
                              </a:rPr>
                              <m:t>(</m:t>
                            </m:r>
                          </m:e>
                        </m:func>
                      </m:fName>
                      <m:e>
                        <m:d>
                          <m:dPr>
                            <m:begChr m:val=""/>
                            <m:ctrlPr>
                              <a:rPr lang="zh-CN" altLang="en-US" sz="1400" i="1">
                                <a:latin typeface="Cambria Math" panose="02040503050406030204" pitchFamily="18" charset="0"/>
                              </a:rPr>
                            </m:ctrlPr>
                          </m:dPr>
                          <m:e>
                            <m:f>
                              <m:fPr>
                                <m:ctrlPr>
                                  <a:rPr lang="zh-CN" altLang="en-US" sz="1400" i="1">
                                    <a:latin typeface="Cambria Math" panose="02040503050406030204" pitchFamily="18" charset="0"/>
                                  </a:rPr>
                                </m:ctrlPr>
                              </m:fPr>
                              <m:num>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a:latin typeface="Cambria Math" panose="02040503050406030204" pitchFamily="18" charset="0"/>
                                      </a:rPr>
                                      <m:t>4</m:t>
                                    </m:r>
                                  </m:sub>
                                </m:sSub>
                              </m:num>
                              <m:den>
                                <m:r>
                                  <a:rPr lang="zh-CN" altLang="en-US" sz="1400">
                                    <a:latin typeface="Cambria Math" panose="02040503050406030204" pitchFamily="18" charset="0"/>
                                  </a:rPr>
                                  <m:t>2</m:t>
                                </m:r>
                              </m:den>
                            </m:f>
                          </m:e>
                        </m:d>
                      </m:e>
                    </m:func>
                    <m:r>
                      <a:rPr lang="zh-CN" altLang="en-US" sz="1400">
                        <a:latin typeface="Cambria Math" panose="02040503050406030204" pitchFamily="18" charset="0"/>
                      </a:rPr>
                      <m:t>, </m:t>
                    </m:r>
                    <m:func>
                      <m:funcPr>
                        <m:ctrlPr>
                          <a:rPr lang="zh-CN" altLang="en-US" sz="1400" i="1">
                            <a:latin typeface="Cambria Math" panose="02040503050406030204" pitchFamily="18" charset="0"/>
                          </a:rPr>
                        </m:ctrlPr>
                      </m:funcPr>
                      <m:fName>
                        <m:r>
                          <m:rPr>
                            <m:sty m:val="p"/>
                          </m:rPr>
                          <a:rPr lang="zh-CN" altLang="en-US" sz="1400">
                            <a:latin typeface="Cambria Math" panose="02040503050406030204" pitchFamily="18" charset="0"/>
                          </a:rPr>
                          <m:t>sin</m:t>
                        </m:r>
                      </m:fName>
                      <m:e>
                        <m:d>
                          <m:dPr>
                            <m:ctrlPr>
                              <a:rPr lang="zh-CN" altLang="en-US" sz="1400" i="1">
                                <a:latin typeface="Cambria Math" panose="02040503050406030204" pitchFamily="18" charset="0"/>
                              </a:rPr>
                            </m:ctrlPr>
                          </m:dPr>
                          <m:e>
                            <m:f>
                              <m:fPr>
                                <m:ctrlPr>
                                  <a:rPr lang="zh-CN" altLang="en-US" sz="1400" i="1">
                                    <a:latin typeface="Cambria Math" panose="02040503050406030204" pitchFamily="18" charset="0"/>
                                  </a:rPr>
                                </m:ctrlPr>
                              </m:fPr>
                              <m:num>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a:latin typeface="Cambria Math" panose="02040503050406030204" pitchFamily="18" charset="0"/>
                                      </a:rPr>
                                      <m:t>4</m:t>
                                    </m:r>
                                  </m:sub>
                                </m:sSub>
                              </m:num>
                              <m:den>
                                <m:r>
                                  <a:rPr lang="zh-CN" altLang="en-US" sz="1400">
                                    <a:latin typeface="Cambria Math" panose="02040503050406030204" pitchFamily="18" charset="0"/>
                                  </a:rPr>
                                  <m:t>2</m:t>
                                </m:r>
                              </m:den>
                            </m:f>
                          </m:e>
                        </m:d>
                      </m:e>
                    </m:func>
                    <m:r>
                      <a:rPr lang="zh-CN" altLang="en-US" sz="1400">
                        <a:latin typeface="Cambria Math" panose="02040503050406030204" pitchFamily="18" charset="0"/>
                      </a:rPr>
                      <m:t>&lt;0,−1,0&gt;],[0,&lt;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𝑑</m:t>
                        </m:r>
                      </m:e>
                      <m:sub>
                        <m:r>
                          <a:rPr lang="zh-CN" altLang="en-US" sz="1400">
                            <a:latin typeface="Cambria Math" panose="02040503050406030204" pitchFamily="18" charset="0"/>
                          </a:rPr>
                          <m:t>5</m:t>
                        </m:r>
                      </m:sub>
                    </m:sSub>
                    <m:r>
                      <a:rPr lang="zh-CN" altLang="en-US" sz="1400" i="1">
                        <a:latin typeface="Cambria Math" panose="02040503050406030204" pitchFamily="18" charset="0"/>
                      </a:rPr>
                      <m:t>𝑠𝑖𝑛</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a:latin typeface="Cambria Math" panose="02040503050406030204" pitchFamily="18" charset="0"/>
                          </a:rPr>
                          <m:t>4</m:t>
                        </m:r>
                      </m:sub>
                    </m:sSub>
                    <m:r>
                      <a:rPr lang="zh-CN" altLang="en-US" sz="1400">
                        <a:latin typeface="Cambria Math" panose="02040503050406030204" pitchFamily="18" charset="0"/>
                      </a:rPr>
                      <m:t>, 0, </m:t>
                    </m:r>
                    <m:sSub>
                      <m:sSubPr>
                        <m:ctrlPr>
                          <a:rPr lang="zh-CN" altLang="en-US" sz="1400" i="1">
                            <a:latin typeface="Cambria Math" panose="02040503050406030204" pitchFamily="18" charset="0"/>
                          </a:rPr>
                        </m:ctrlPr>
                      </m:sSubPr>
                      <m:e>
                        <m:r>
                          <a:rPr lang="zh-CN" altLang="en-US" sz="1400">
                            <a:latin typeface="Cambria Math" panose="02040503050406030204" pitchFamily="18" charset="0"/>
                          </a:rPr>
                          <m:t>−</m:t>
                        </m:r>
                        <m:r>
                          <a:rPr lang="zh-CN" altLang="en-US" sz="1400" i="1">
                            <a:latin typeface="Cambria Math" panose="02040503050406030204" pitchFamily="18" charset="0"/>
                          </a:rPr>
                          <m:t>𝑑</m:t>
                        </m:r>
                      </m:e>
                      <m:sub>
                        <m:r>
                          <a:rPr lang="zh-CN" altLang="en-US" sz="1400">
                            <a:latin typeface="Cambria Math" panose="02040503050406030204" pitchFamily="18" charset="0"/>
                          </a:rPr>
                          <m:t>5</m:t>
                        </m:r>
                      </m:sub>
                    </m:sSub>
                    <m:r>
                      <a:rPr lang="zh-CN" altLang="en-US" sz="1400" i="1">
                        <a:latin typeface="Cambria Math" panose="02040503050406030204" pitchFamily="18" charset="0"/>
                      </a:rPr>
                      <m:t>𝑐𝑜𝑠</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a:latin typeface="Cambria Math" panose="02040503050406030204" pitchFamily="18" charset="0"/>
                          </a:rPr>
                          <m:t>4</m:t>
                        </m:r>
                      </m:sub>
                    </m:sSub>
                    <m:r>
                      <a:rPr lang="zh-CN" altLang="en-US" sz="1400">
                        <a:latin typeface="Cambria Math" panose="02040503050406030204" pitchFamily="18" charset="0"/>
                      </a:rPr>
                      <m:t>&gt;]</m:t>
                    </m:r>
                  </m:oMath>
                </a14:m>
                <a:r>
                  <a:rPr lang="en-US" altLang="zh-CN" sz="1400" dirty="0" smtClean="0"/>
                  <a:t>)</a:t>
                </a:r>
                <a:endParaRPr lang="zh-CN" altLang="en-US" sz="1400" dirty="0"/>
              </a:p>
            </p:txBody>
          </p:sp>
        </mc:Choice>
        <mc:Fallback xmlns="">
          <p:sp>
            <p:nvSpPr>
              <p:cNvPr id="17" name="矩形 16"/>
              <p:cNvSpPr>
                <a:spLocks noRot="1" noChangeAspect="1" noMove="1" noResize="1" noEditPoints="1" noAdjustHandles="1" noChangeArrowheads="1" noChangeShapeType="1" noTextEdit="1"/>
              </p:cNvSpPr>
              <p:nvPr/>
            </p:nvSpPr>
            <p:spPr>
              <a:xfrm>
                <a:off x="3713736" y="2910842"/>
                <a:ext cx="5394768" cy="414729"/>
              </a:xfrm>
              <a:prstGeom prst="rect">
                <a:avLst/>
              </a:prstGeom>
              <a:blipFill>
                <a:blip r:embed="rId7"/>
                <a:stretch>
                  <a:fillRect t="-161765" b="-2426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3713736" y="3314081"/>
                <a:ext cx="5538784" cy="414729"/>
              </a:xfrm>
              <a:prstGeom prst="rect">
                <a:avLst/>
              </a:prstGeom>
            </p:spPr>
            <p:txBody>
              <a:bodyPr wrap="square">
                <a:spAutoFit/>
              </a:bodyPr>
              <a:lstStyle/>
              <a:p>
                <a14:m>
                  <m:oMath xmlns:m="http://schemas.openxmlformats.org/officeDocument/2006/math">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𝑄</m:t>
                        </m:r>
                      </m:e>
                      <m:sub>
                        <m:r>
                          <a:rPr lang="zh-CN" altLang="en-US" sz="1400">
                            <a:latin typeface="Cambria Math" panose="02040503050406030204" pitchFamily="18" charset="0"/>
                          </a:rPr>
                          <m:t>5</m:t>
                        </m:r>
                      </m:sub>
                    </m:sSub>
                    <m:r>
                      <a:rPr lang="zh-CN" altLang="en-US" sz="1400">
                        <a:latin typeface="Cambria Math" panose="02040503050406030204" pitchFamily="18" charset="0"/>
                      </a:rPr>
                      <m:t>=([</m:t>
                    </m:r>
                    <m:func>
                      <m:funcPr>
                        <m:ctrlPr>
                          <a:rPr lang="zh-CN" altLang="en-US" sz="1400" i="1">
                            <a:latin typeface="Cambria Math" panose="02040503050406030204" pitchFamily="18" charset="0"/>
                          </a:rPr>
                        </m:ctrlPr>
                      </m:funcPr>
                      <m:fName>
                        <m:func>
                          <m:funcPr>
                            <m:ctrlPr>
                              <a:rPr lang="zh-CN" altLang="en-US" sz="1400" i="1">
                                <a:latin typeface="Cambria Math" panose="02040503050406030204" pitchFamily="18" charset="0"/>
                              </a:rPr>
                            </m:ctrlPr>
                          </m:funcPr>
                          <m:fName>
                            <m:r>
                              <m:rPr>
                                <m:sty m:val="p"/>
                              </m:rPr>
                              <a:rPr lang="zh-CN" altLang="en-US" sz="1400">
                                <a:latin typeface="Cambria Math" panose="02040503050406030204" pitchFamily="18" charset="0"/>
                              </a:rPr>
                              <m:t>cos</m:t>
                            </m:r>
                          </m:fName>
                          <m:e>
                            <m:r>
                              <a:rPr lang="zh-CN" altLang="en-US" sz="1400">
                                <a:latin typeface="Cambria Math" panose="02040503050406030204" pitchFamily="18" charset="0"/>
                              </a:rPr>
                              <m:t>(</m:t>
                            </m:r>
                          </m:e>
                        </m:func>
                      </m:fName>
                      <m:e>
                        <m:d>
                          <m:dPr>
                            <m:begChr m:val=""/>
                            <m:ctrlPr>
                              <a:rPr lang="zh-CN" altLang="en-US" sz="1400" i="1">
                                <a:latin typeface="Cambria Math" panose="02040503050406030204" pitchFamily="18" charset="0"/>
                              </a:rPr>
                            </m:ctrlPr>
                          </m:dPr>
                          <m:e>
                            <m:f>
                              <m:fPr>
                                <m:ctrlPr>
                                  <a:rPr lang="zh-CN" altLang="en-US" sz="1400" i="1">
                                    <a:latin typeface="Cambria Math" panose="02040503050406030204" pitchFamily="18" charset="0"/>
                                  </a:rPr>
                                </m:ctrlPr>
                              </m:fPr>
                              <m:num>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a:latin typeface="Cambria Math" panose="02040503050406030204" pitchFamily="18" charset="0"/>
                                      </a:rPr>
                                      <m:t>5</m:t>
                                    </m:r>
                                  </m:sub>
                                </m:sSub>
                              </m:num>
                              <m:den>
                                <m:r>
                                  <a:rPr lang="zh-CN" altLang="en-US" sz="1400">
                                    <a:latin typeface="Cambria Math" panose="02040503050406030204" pitchFamily="18" charset="0"/>
                                  </a:rPr>
                                  <m:t>2</m:t>
                                </m:r>
                              </m:den>
                            </m:f>
                          </m:e>
                        </m:d>
                      </m:e>
                    </m:func>
                    <m:r>
                      <a:rPr lang="zh-CN" altLang="en-US" sz="1400">
                        <a:latin typeface="Cambria Math" panose="02040503050406030204" pitchFamily="18" charset="0"/>
                      </a:rPr>
                      <m:t>, </m:t>
                    </m:r>
                    <m:func>
                      <m:funcPr>
                        <m:ctrlPr>
                          <a:rPr lang="zh-CN" altLang="en-US" sz="1400" i="1">
                            <a:latin typeface="Cambria Math" panose="02040503050406030204" pitchFamily="18" charset="0"/>
                          </a:rPr>
                        </m:ctrlPr>
                      </m:funcPr>
                      <m:fName>
                        <m:r>
                          <m:rPr>
                            <m:sty m:val="p"/>
                          </m:rPr>
                          <a:rPr lang="zh-CN" altLang="en-US" sz="1400">
                            <a:latin typeface="Cambria Math" panose="02040503050406030204" pitchFamily="18" charset="0"/>
                          </a:rPr>
                          <m:t>sin</m:t>
                        </m:r>
                      </m:fName>
                      <m:e>
                        <m:d>
                          <m:dPr>
                            <m:ctrlPr>
                              <a:rPr lang="zh-CN" altLang="en-US" sz="1400" i="1">
                                <a:latin typeface="Cambria Math" panose="02040503050406030204" pitchFamily="18" charset="0"/>
                              </a:rPr>
                            </m:ctrlPr>
                          </m:dPr>
                          <m:e>
                            <m:f>
                              <m:fPr>
                                <m:ctrlPr>
                                  <a:rPr lang="zh-CN" altLang="en-US" sz="1400" i="1">
                                    <a:latin typeface="Cambria Math" panose="02040503050406030204" pitchFamily="18" charset="0"/>
                                  </a:rPr>
                                </m:ctrlPr>
                              </m:fPr>
                              <m:num>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a:latin typeface="Cambria Math" panose="02040503050406030204" pitchFamily="18" charset="0"/>
                                      </a:rPr>
                                      <m:t>5</m:t>
                                    </m:r>
                                  </m:sub>
                                </m:sSub>
                              </m:num>
                              <m:den>
                                <m:r>
                                  <a:rPr lang="zh-CN" altLang="en-US" sz="1400">
                                    <a:latin typeface="Cambria Math" panose="02040503050406030204" pitchFamily="18" charset="0"/>
                                  </a:rPr>
                                  <m:t>2</m:t>
                                </m:r>
                              </m:den>
                            </m:f>
                          </m:e>
                        </m:d>
                      </m:e>
                    </m:func>
                    <m:r>
                      <a:rPr lang="zh-CN" altLang="en-US" sz="1400">
                        <a:latin typeface="Cambria Math" panose="02040503050406030204" pitchFamily="18" charset="0"/>
                      </a:rPr>
                      <m:t>&lt;0,0,−1&gt;],[0,&lt;−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𝑑</m:t>
                        </m:r>
                      </m:e>
                      <m:sub>
                        <m:r>
                          <a:rPr lang="zh-CN" altLang="en-US" sz="1400">
                            <a:latin typeface="Cambria Math" panose="02040503050406030204" pitchFamily="18" charset="0"/>
                          </a:rPr>
                          <m:t>6</m:t>
                        </m:r>
                      </m:sub>
                    </m:sSub>
                    <m:r>
                      <a:rPr lang="zh-CN" altLang="en-US" sz="1400" i="1">
                        <a:latin typeface="Cambria Math" panose="02040503050406030204" pitchFamily="18" charset="0"/>
                      </a:rPr>
                      <m:t>𝑠𝑖𝑛</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a:latin typeface="Cambria Math" panose="02040503050406030204" pitchFamily="18" charset="0"/>
                          </a:rPr>
                          <m:t>5</m:t>
                        </m:r>
                      </m:sub>
                    </m:sSub>
                    <m:r>
                      <a:rPr lang="zh-CN" altLang="en-US" sz="1400">
                        <a:latin typeface="Cambria Math" panose="02040503050406030204" pitchFamily="18" charset="0"/>
                      </a:rPr>
                      <m:t>, </m:t>
                    </m:r>
                    <m:sSub>
                      <m:sSubPr>
                        <m:ctrlPr>
                          <a:rPr lang="zh-CN" altLang="en-US" sz="1400" i="1">
                            <a:latin typeface="Cambria Math" panose="02040503050406030204" pitchFamily="18" charset="0"/>
                          </a:rPr>
                        </m:ctrlPr>
                      </m:sSubPr>
                      <m:e>
                        <m:r>
                          <a:rPr lang="zh-CN" altLang="en-US" sz="1400">
                            <a:latin typeface="Cambria Math" panose="02040503050406030204" pitchFamily="18" charset="0"/>
                          </a:rPr>
                          <m:t>−</m:t>
                        </m:r>
                        <m:r>
                          <a:rPr lang="zh-CN" altLang="en-US" sz="1400" i="1">
                            <a:latin typeface="Cambria Math" panose="02040503050406030204" pitchFamily="18" charset="0"/>
                          </a:rPr>
                          <m:t>𝑑</m:t>
                        </m:r>
                      </m:e>
                      <m:sub>
                        <m:r>
                          <a:rPr lang="zh-CN" altLang="en-US" sz="1400">
                            <a:latin typeface="Cambria Math" panose="02040503050406030204" pitchFamily="18" charset="0"/>
                          </a:rPr>
                          <m:t>6</m:t>
                        </m:r>
                      </m:sub>
                    </m:sSub>
                    <m:r>
                      <a:rPr lang="zh-CN" altLang="en-US" sz="1400" i="1">
                        <a:latin typeface="Cambria Math" panose="02040503050406030204" pitchFamily="18" charset="0"/>
                      </a:rPr>
                      <m:t>𝑐𝑜𝑠</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a:latin typeface="Cambria Math" panose="02040503050406030204" pitchFamily="18" charset="0"/>
                          </a:rPr>
                          <m:t>5</m:t>
                        </m:r>
                      </m:sub>
                    </m:sSub>
                    <m:r>
                      <a:rPr lang="zh-CN" altLang="en-US" sz="1400">
                        <a:latin typeface="Cambria Math" panose="02040503050406030204" pitchFamily="18" charset="0"/>
                      </a:rPr>
                      <m:t>, 0&gt;]</m:t>
                    </m:r>
                  </m:oMath>
                </a14:m>
                <a:r>
                  <a:rPr lang="en-US" altLang="zh-CN" sz="1400" dirty="0" smtClean="0"/>
                  <a:t>)</a:t>
                </a:r>
                <a:endParaRPr lang="zh-CN" altLang="en-US" sz="1400" dirty="0"/>
              </a:p>
            </p:txBody>
          </p:sp>
        </mc:Choice>
        <mc:Fallback xmlns="">
          <p:sp>
            <p:nvSpPr>
              <p:cNvPr id="18" name="矩形 17"/>
              <p:cNvSpPr>
                <a:spLocks noRot="1" noChangeAspect="1" noMove="1" noResize="1" noEditPoints="1" noAdjustHandles="1" noChangeArrowheads="1" noChangeShapeType="1" noTextEdit="1"/>
              </p:cNvSpPr>
              <p:nvPr/>
            </p:nvSpPr>
            <p:spPr>
              <a:xfrm>
                <a:off x="3713736" y="3314081"/>
                <a:ext cx="5538784" cy="414729"/>
              </a:xfrm>
              <a:prstGeom prst="rect">
                <a:avLst/>
              </a:prstGeom>
              <a:blipFill>
                <a:blip r:embed="rId8"/>
                <a:stretch>
                  <a:fillRect t="-161765" b="-2441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3713736" y="3755644"/>
                <a:ext cx="4214624" cy="414729"/>
              </a:xfrm>
              <a:prstGeom prst="rect">
                <a:avLst/>
              </a:prstGeom>
            </p:spPr>
            <p:txBody>
              <a:bodyPr wrap="square">
                <a:spAutoFit/>
              </a:bodyPr>
              <a:lstStyle/>
              <a:p>
                <a14:m>
                  <m:oMath xmlns:m="http://schemas.openxmlformats.org/officeDocument/2006/math">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𝑄</m:t>
                        </m:r>
                      </m:e>
                      <m:sub>
                        <m:r>
                          <a:rPr lang="zh-CN" altLang="en-US" sz="1400">
                            <a:latin typeface="Cambria Math" panose="02040503050406030204" pitchFamily="18" charset="0"/>
                          </a:rPr>
                          <m:t>6</m:t>
                        </m:r>
                      </m:sub>
                    </m:sSub>
                    <m:r>
                      <a:rPr lang="zh-CN" altLang="en-US" sz="1400">
                        <a:latin typeface="Cambria Math" panose="02040503050406030204" pitchFamily="18" charset="0"/>
                      </a:rPr>
                      <m:t>=([</m:t>
                    </m:r>
                    <m:func>
                      <m:funcPr>
                        <m:ctrlPr>
                          <a:rPr lang="zh-CN" altLang="en-US" sz="1400" i="1">
                            <a:latin typeface="Cambria Math" panose="02040503050406030204" pitchFamily="18" charset="0"/>
                          </a:rPr>
                        </m:ctrlPr>
                      </m:funcPr>
                      <m:fName>
                        <m:func>
                          <m:funcPr>
                            <m:ctrlPr>
                              <a:rPr lang="zh-CN" altLang="en-US" sz="1400" i="1">
                                <a:latin typeface="Cambria Math" panose="02040503050406030204" pitchFamily="18" charset="0"/>
                              </a:rPr>
                            </m:ctrlPr>
                          </m:funcPr>
                          <m:fName>
                            <m:r>
                              <m:rPr>
                                <m:sty m:val="p"/>
                              </m:rPr>
                              <a:rPr lang="zh-CN" altLang="en-US" sz="1400">
                                <a:latin typeface="Cambria Math" panose="02040503050406030204" pitchFamily="18" charset="0"/>
                              </a:rPr>
                              <m:t>cos</m:t>
                            </m:r>
                          </m:fName>
                          <m:e>
                            <m:r>
                              <a:rPr lang="zh-CN" altLang="en-US" sz="1400">
                                <a:latin typeface="Cambria Math" panose="02040503050406030204" pitchFamily="18" charset="0"/>
                              </a:rPr>
                              <m:t>(</m:t>
                            </m:r>
                          </m:e>
                        </m:func>
                      </m:fName>
                      <m:e>
                        <m:d>
                          <m:dPr>
                            <m:begChr m:val=""/>
                            <m:ctrlPr>
                              <a:rPr lang="zh-CN" altLang="en-US" sz="1400" i="1">
                                <a:latin typeface="Cambria Math" panose="02040503050406030204" pitchFamily="18" charset="0"/>
                              </a:rPr>
                            </m:ctrlPr>
                          </m:dPr>
                          <m:e>
                            <m:f>
                              <m:fPr>
                                <m:ctrlPr>
                                  <a:rPr lang="zh-CN" altLang="en-US" sz="1400" i="1">
                                    <a:latin typeface="Cambria Math" panose="02040503050406030204" pitchFamily="18" charset="0"/>
                                  </a:rPr>
                                </m:ctrlPr>
                              </m:fPr>
                              <m:num>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a:latin typeface="Cambria Math" panose="02040503050406030204" pitchFamily="18" charset="0"/>
                                      </a:rPr>
                                      <m:t>6</m:t>
                                    </m:r>
                                  </m:sub>
                                </m:sSub>
                              </m:num>
                              <m:den>
                                <m:r>
                                  <a:rPr lang="zh-CN" altLang="en-US" sz="1400">
                                    <a:latin typeface="Cambria Math" panose="02040503050406030204" pitchFamily="18" charset="0"/>
                                  </a:rPr>
                                  <m:t>2</m:t>
                                </m:r>
                              </m:den>
                            </m:f>
                          </m:e>
                        </m:d>
                      </m:e>
                    </m:func>
                    <m:r>
                      <a:rPr lang="zh-CN" altLang="en-US" sz="1400">
                        <a:latin typeface="Cambria Math" panose="02040503050406030204" pitchFamily="18" charset="0"/>
                      </a:rPr>
                      <m:t>, </m:t>
                    </m:r>
                    <m:func>
                      <m:funcPr>
                        <m:ctrlPr>
                          <a:rPr lang="zh-CN" altLang="en-US" sz="1400" i="1">
                            <a:latin typeface="Cambria Math" panose="02040503050406030204" pitchFamily="18" charset="0"/>
                          </a:rPr>
                        </m:ctrlPr>
                      </m:funcPr>
                      <m:fName>
                        <m:r>
                          <m:rPr>
                            <m:sty m:val="p"/>
                          </m:rPr>
                          <a:rPr lang="zh-CN" altLang="en-US" sz="1400">
                            <a:latin typeface="Cambria Math" panose="02040503050406030204" pitchFamily="18" charset="0"/>
                          </a:rPr>
                          <m:t>sin</m:t>
                        </m:r>
                      </m:fName>
                      <m:e>
                        <m:d>
                          <m:dPr>
                            <m:ctrlPr>
                              <a:rPr lang="zh-CN" altLang="en-US" sz="1400" i="1">
                                <a:latin typeface="Cambria Math" panose="02040503050406030204" pitchFamily="18" charset="0"/>
                              </a:rPr>
                            </m:ctrlPr>
                          </m:dPr>
                          <m:e>
                            <m:f>
                              <m:fPr>
                                <m:ctrlPr>
                                  <a:rPr lang="zh-CN" altLang="en-US" sz="1400" i="1">
                                    <a:latin typeface="Cambria Math" panose="02040503050406030204" pitchFamily="18" charset="0"/>
                                  </a:rPr>
                                </m:ctrlPr>
                              </m:fPr>
                              <m:num>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a:latin typeface="Cambria Math" panose="02040503050406030204" pitchFamily="18" charset="0"/>
                                      </a:rPr>
                                      <m:t>6</m:t>
                                    </m:r>
                                  </m:sub>
                                </m:sSub>
                              </m:num>
                              <m:den>
                                <m:r>
                                  <a:rPr lang="zh-CN" altLang="en-US" sz="1400">
                                    <a:latin typeface="Cambria Math" panose="02040503050406030204" pitchFamily="18" charset="0"/>
                                  </a:rPr>
                                  <m:t>2</m:t>
                                </m:r>
                              </m:den>
                            </m:f>
                          </m:e>
                        </m:d>
                      </m:e>
                    </m:func>
                    <m:r>
                      <a:rPr lang="zh-CN" altLang="en-US" sz="1400">
                        <a:latin typeface="Cambria Math" panose="02040503050406030204" pitchFamily="18" charset="0"/>
                      </a:rPr>
                      <m:t>&lt;0,−1,0&gt;],[0,&lt;0, 0, 0&gt;]</m:t>
                    </m:r>
                  </m:oMath>
                </a14:m>
                <a:r>
                  <a:rPr lang="en-US" altLang="zh-CN" sz="1400" dirty="0" smtClean="0"/>
                  <a:t>)</a:t>
                </a:r>
                <a:endParaRPr lang="zh-CN" altLang="en-US" sz="1400" dirty="0"/>
              </a:p>
            </p:txBody>
          </p:sp>
        </mc:Choice>
        <mc:Fallback xmlns="">
          <p:sp>
            <p:nvSpPr>
              <p:cNvPr id="19" name="矩形 18"/>
              <p:cNvSpPr>
                <a:spLocks noRot="1" noChangeAspect="1" noMove="1" noResize="1" noEditPoints="1" noAdjustHandles="1" noChangeArrowheads="1" noChangeShapeType="1" noTextEdit="1"/>
              </p:cNvSpPr>
              <p:nvPr/>
            </p:nvSpPr>
            <p:spPr>
              <a:xfrm>
                <a:off x="3713736" y="3755644"/>
                <a:ext cx="4214624" cy="414729"/>
              </a:xfrm>
              <a:prstGeom prst="rect">
                <a:avLst/>
              </a:prstGeom>
              <a:blipFill>
                <a:blip r:embed="rId9"/>
                <a:stretch>
                  <a:fillRect t="-161765" r="-289" b="-244118"/>
                </a:stretch>
              </a:blipFill>
            </p:spPr>
            <p:txBody>
              <a:bodyPr/>
              <a:lstStyle/>
              <a:p>
                <a:r>
                  <a:rPr lang="zh-CN" altLang="en-US">
                    <a:noFill/>
                  </a:rPr>
                  <a:t> </a:t>
                </a:r>
              </a:p>
            </p:txBody>
          </p:sp>
        </mc:Fallback>
      </mc:AlternateContent>
      <p:sp>
        <p:nvSpPr>
          <p:cNvPr id="20" name="矩形 19"/>
          <p:cNvSpPr/>
          <p:nvPr/>
        </p:nvSpPr>
        <p:spPr>
          <a:xfrm>
            <a:off x="-318" y="4208190"/>
            <a:ext cx="3863902" cy="276999"/>
          </a:xfrm>
          <a:prstGeom prst="rect">
            <a:avLst/>
          </a:prstGeom>
        </p:spPr>
        <p:txBody>
          <a:bodyPr wrap="square">
            <a:spAutoFit/>
          </a:bodyPr>
          <a:lstStyle/>
          <a:p>
            <a:r>
              <a:rPr lang="zh-CN" altLang="en-US" sz="1200" dirty="0"/>
              <a:t>结合旋转轴以及MDH表示法建立对偶四元数法坐标系图</a:t>
            </a:r>
          </a:p>
        </p:txBody>
      </p:sp>
      <p:sp>
        <p:nvSpPr>
          <p:cNvPr id="21" name="矩形 20"/>
          <p:cNvSpPr/>
          <p:nvPr/>
        </p:nvSpPr>
        <p:spPr>
          <a:xfrm>
            <a:off x="3940606" y="1194306"/>
            <a:ext cx="4083169" cy="338554"/>
          </a:xfrm>
          <a:prstGeom prst="rect">
            <a:avLst/>
          </a:prstGeom>
        </p:spPr>
        <p:txBody>
          <a:bodyPr wrap="none">
            <a:spAutoFit/>
          </a:bodyPr>
          <a:lstStyle/>
          <a:p>
            <a:r>
              <a:rPr lang="zh-CN" altLang="en-US" sz="1600" b="1" dirty="0">
                <a:solidFill>
                  <a:srgbClr val="002060"/>
                </a:solidFill>
              </a:rPr>
              <a:t>普吕克坐标系下各连杆所对应的对偶四元数</a:t>
            </a:r>
          </a:p>
        </p:txBody>
      </p:sp>
    </p:spTree>
    <p:extLst>
      <p:ext uri="{BB962C8B-B14F-4D97-AF65-F5344CB8AC3E}">
        <p14:creationId xmlns:p14="http://schemas.microsoft.com/office/powerpoint/2010/main" val="88785716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Dual-Quaternions </a:t>
              </a:r>
              <a:r>
                <a:rPr lang="en-US" altLang="zh-CN" sz="1000" dirty="0">
                  <a:latin typeface="Arial" panose="020B0604020202020204" pitchFamily="34" charset="0"/>
                  <a:ea typeface="微软雅黑" panose="020B0503020204020204" charset="-122"/>
                  <a:sym typeface="+mn-ea"/>
                </a:rPr>
                <a:t>method</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对偶四元数</a:t>
              </a:r>
              <a:r>
                <a:rPr lang="zh-CN" altLang="en-US" sz="2000" b="1" dirty="0">
                  <a:latin typeface="Arial" panose="020B0604020202020204" pitchFamily="34" charset="0"/>
                  <a:ea typeface="微软雅黑" panose="020B0503020204020204" charset="-122"/>
                  <a:sym typeface="+mn-ea"/>
                </a:rPr>
                <a:t>法</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17" name="矩形 16"/>
              <p:cNvSpPr/>
              <p:nvPr/>
            </p:nvSpPr>
            <p:spPr>
              <a:xfrm>
                <a:off x="4536504" y="547998"/>
                <a:ext cx="3707904" cy="738664"/>
              </a:xfrm>
              <a:prstGeom prst="rect">
                <a:avLst/>
              </a:prstGeom>
            </p:spPr>
            <p:txBody>
              <a:bodyPr wrap="square">
                <a:spAutoFit/>
              </a:bodyPr>
              <a:lstStyle/>
              <a:p>
                <a:r>
                  <a:rPr lang="zh-CN" altLang="zh-CN" sz="1400" dirty="0" smtClean="0">
                    <a:solidFill>
                      <a:srgbClr val="00A1DA"/>
                    </a:solidFill>
                    <a:ea typeface="等线" panose="02010600030101010101" pitchFamily="2" charset="-122"/>
                    <a:cs typeface="Times New Roman" panose="02020603050405020304" pitchFamily="18" charset="0"/>
                  </a:rPr>
                  <a:t>需要注意的是，如果串行机械臂的某个关节为平移关节，则其对偶四元数的旋转部分分量应设为</a:t>
                </a:r>
                <a14:m>
                  <m:oMath xmlns:m="http://schemas.openxmlformats.org/officeDocument/2006/math">
                    <m:r>
                      <a:rPr lang="en-US" altLang="zh-CN" sz="1400" i="1">
                        <a:solidFill>
                          <a:srgbClr val="00A1DA"/>
                        </a:solidFill>
                        <a:latin typeface="Cambria Math" panose="02040503050406030204" pitchFamily="18" charset="0"/>
                        <a:ea typeface="等线" panose="02010600030101010101" pitchFamily="2" charset="-122"/>
                        <a:cs typeface="Times New Roman" panose="02020603050405020304" pitchFamily="18" charset="0"/>
                      </a:rPr>
                      <m:t>[1, 0,0,0</m:t>
                    </m:r>
                    <m:r>
                      <a:rPr lang="en-US" altLang="zh-CN" sz="1400">
                        <a:solidFill>
                          <a:srgbClr val="00A1DA"/>
                        </a:solidFill>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1400" dirty="0">
                    <a:solidFill>
                      <a:srgbClr val="00A1DA"/>
                    </a:solidFill>
                    <a:ea typeface="等线" panose="02010600030101010101" pitchFamily="2" charset="-122"/>
                    <a:cs typeface="Times New Roman" panose="02020603050405020304" pitchFamily="18" charset="0"/>
                  </a:rPr>
                  <a:t>，位移部分为其位移变量。</a:t>
                </a:r>
                <a:endParaRPr lang="zh-CN" altLang="en-US" sz="1400" dirty="0">
                  <a:solidFill>
                    <a:srgbClr val="00A1DA"/>
                  </a:solidFill>
                </a:endParaRPr>
              </a:p>
            </p:txBody>
          </p:sp>
        </mc:Choice>
        <mc:Fallback xmlns="">
          <p:sp>
            <p:nvSpPr>
              <p:cNvPr id="17" name="矩形 16"/>
              <p:cNvSpPr>
                <a:spLocks noRot="1" noChangeAspect="1" noMove="1" noResize="1" noEditPoints="1" noAdjustHandles="1" noChangeArrowheads="1" noChangeShapeType="1" noTextEdit="1"/>
              </p:cNvSpPr>
              <p:nvPr/>
            </p:nvSpPr>
            <p:spPr>
              <a:xfrm>
                <a:off x="4536504" y="547998"/>
                <a:ext cx="3707904" cy="738664"/>
              </a:xfrm>
              <a:prstGeom prst="rect">
                <a:avLst/>
              </a:prstGeom>
              <a:blipFill>
                <a:blip r:embed="rId7"/>
                <a:stretch>
                  <a:fillRect l="-493" t="-1653" b="-7438"/>
                </a:stretch>
              </a:blipFill>
            </p:spPr>
            <p:txBody>
              <a:bodyPr/>
              <a:lstStyle/>
              <a:p>
                <a:r>
                  <a:rPr lang="zh-CN" altLang="en-US">
                    <a:noFill/>
                  </a:rPr>
                  <a:t> </a:t>
                </a:r>
              </a:p>
            </p:txBody>
          </p:sp>
        </mc:Fallback>
      </mc:AlternateContent>
      <p:grpSp>
        <p:nvGrpSpPr>
          <p:cNvPr id="2" name="组合 1"/>
          <p:cNvGrpSpPr/>
          <p:nvPr/>
        </p:nvGrpSpPr>
        <p:grpSpPr>
          <a:xfrm>
            <a:off x="1043608" y="1563638"/>
            <a:ext cx="7200800" cy="2858536"/>
            <a:chOff x="1043608" y="1563638"/>
            <a:chExt cx="7200800" cy="2858536"/>
          </a:xfrm>
        </p:grpSpPr>
        <mc:AlternateContent xmlns:mc="http://schemas.openxmlformats.org/markup-compatibility/2006" xmlns:a14="http://schemas.microsoft.com/office/drawing/2010/main">
          <mc:Choice Requires="a14">
            <p:sp>
              <p:nvSpPr>
                <p:cNvPr id="12" name="矩形 11"/>
                <p:cNvSpPr/>
                <p:nvPr/>
              </p:nvSpPr>
              <p:spPr>
                <a:xfrm>
                  <a:off x="1043608" y="1563638"/>
                  <a:ext cx="7200800" cy="338554"/>
                </a:xfrm>
                <a:prstGeom prst="rect">
                  <a:avLst/>
                </a:prstGeom>
              </p:spPr>
              <p:txBody>
                <a:bodyPr wrap="square">
                  <a:spAutoFit/>
                </a:bodyPr>
                <a:lstStyle/>
                <a:p>
                  <a:r>
                    <a:rPr lang="zh-CN" altLang="zh-CN" sz="1600" dirty="0">
                      <a:ea typeface="等线" panose="02010600030101010101" pitchFamily="2" charset="-122"/>
                      <a:cs typeface="Times New Roman" panose="02020603050405020304" pitchFamily="18" charset="0"/>
                    </a:rPr>
                    <a:t>假设：</a:t>
                  </a:r>
                  <a14:m>
                    <m:oMath xmlns:m="http://schemas.openxmlformats.org/officeDocument/2006/math">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sz="1600" dirty="0">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𝜋</m:t>
                      </m:r>
                      <m:r>
                        <a:rPr lang="en-US" altLang="zh-CN" sz="1600" i="1">
                          <a:latin typeface="Cambria Math" panose="02040503050406030204" pitchFamily="18" charset="0"/>
                          <a:ea typeface="等线" panose="02010600030101010101" pitchFamily="2" charset="-122"/>
                          <a:cs typeface="Times New Roman" panose="02020603050405020304" pitchFamily="18" charset="0"/>
                        </a:rPr>
                        <m:t>/2</m:t>
                      </m:r>
                    </m:oMath>
                  </a14:m>
                  <a:r>
                    <a:rPr lang="zh-CN" altLang="zh-CN" sz="1600" dirty="0">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3</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sz="1600" dirty="0">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4</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𝜋</m:t>
                      </m:r>
                      <m:r>
                        <a:rPr lang="en-US" altLang="zh-CN" sz="1600" i="1">
                          <a:latin typeface="Cambria Math" panose="02040503050406030204" pitchFamily="18" charset="0"/>
                          <a:ea typeface="等线" panose="02010600030101010101" pitchFamily="2" charset="-122"/>
                          <a:cs typeface="Times New Roman" panose="02020603050405020304" pitchFamily="18" charset="0"/>
                        </a:rPr>
                        <m:t>/2</m:t>
                      </m:r>
                    </m:oMath>
                  </a14:m>
                  <a:r>
                    <a:rPr lang="zh-CN" altLang="zh-CN" sz="1600" dirty="0">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5</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sz="1600" dirty="0">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6</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sz="1600" dirty="0">
                      <a:ea typeface="等线" panose="02010600030101010101" pitchFamily="2" charset="-122"/>
                      <a:cs typeface="Times New Roman" panose="02020603050405020304" pitchFamily="18" charset="0"/>
                    </a:rPr>
                    <a:t>，则，</a:t>
                  </a:r>
                  <a:endParaRPr lang="zh-CN" altLang="en-US" sz="1600" dirty="0"/>
                </a:p>
              </p:txBody>
            </p:sp>
          </mc:Choice>
          <mc:Fallback xmlns="">
            <p:sp>
              <p:nvSpPr>
                <p:cNvPr id="12" name="矩形 11"/>
                <p:cNvSpPr>
                  <a:spLocks noRot="1" noChangeAspect="1" noMove="1" noResize="1" noEditPoints="1" noAdjustHandles="1" noChangeArrowheads="1" noChangeShapeType="1" noTextEdit="1"/>
                </p:cNvSpPr>
                <p:nvPr/>
              </p:nvSpPr>
              <p:spPr>
                <a:xfrm>
                  <a:off x="1043608" y="1563638"/>
                  <a:ext cx="7200800" cy="338554"/>
                </a:xfrm>
                <a:prstGeom prst="rect">
                  <a:avLst/>
                </a:prstGeom>
                <a:blipFill>
                  <a:blip r:embed="rId8"/>
                  <a:stretch>
                    <a:fillRect l="-423" t="-5455" b="-2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1342458" y="2092912"/>
                  <a:ext cx="4536504" cy="58637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eqArr>
                          <m:eqArrPr>
                            <m:ctrlPr>
                              <a:rPr lang="zh-CN" altLang="en-US" sz="1600" i="1" smtClean="0">
                                <a:latin typeface="Cambria Math" panose="02040503050406030204" pitchFamily="18" charset="0"/>
                              </a:rPr>
                            </m:ctrlPr>
                          </m:eqArr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𝑄</m:t>
                                </m:r>
                              </m:e>
                              <m:sub>
                                <m:r>
                                  <a:rPr lang="zh-CN" altLang="en-US" sz="1600">
                                    <a:latin typeface="Cambria Math" panose="02040503050406030204" pitchFamily="18" charset="0"/>
                                  </a:rPr>
                                  <m:t>16</m:t>
                                </m:r>
                              </m:sub>
                            </m:sSub>
                            <m:r>
                              <a:rPr lang="zh-CN" altLang="en-US" sz="160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𝑄</m:t>
                                </m:r>
                              </m:e>
                              <m:sub>
                                <m:r>
                                  <a:rPr lang="zh-CN" altLang="en-US" sz="1600">
                                    <a:latin typeface="Cambria Math" panose="02040503050406030204" pitchFamily="18" charset="0"/>
                                  </a:rPr>
                                  <m:t>1</m:t>
                                </m:r>
                              </m:sub>
                            </m:sSub>
                            <m:r>
                              <m:rPr>
                                <m:sty m:val="p"/>
                              </m:rPr>
                              <a:rPr lang="en-US" altLang="zh-CN">
                                <a:latin typeface="Cambria Math" panose="02040503050406030204" pitchFamily="18" charset="0"/>
                              </a:rPr>
                              <m:t>Θ</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𝑄</m:t>
                                </m:r>
                              </m:e>
                              <m:sub>
                                <m:r>
                                  <a:rPr lang="zh-CN" altLang="en-US" sz="1600">
                                    <a:latin typeface="Cambria Math" panose="02040503050406030204" pitchFamily="18" charset="0"/>
                                  </a:rPr>
                                  <m:t>2</m:t>
                                </m:r>
                              </m:sub>
                            </m:sSub>
                            <m:r>
                              <m:rPr>
                                <m:sty m:val="p"/>
                              </m:rPr>
                              <a:rPr lang="en-US" altLang="zh-CN">
                                <a:latin typeface="Cambria Math" panose="02040503050406030204" pitchFamily="18" charset="0"/>
                              </a:rPr>
                              <m:t>Θ</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𝑄</m:t>
                                </m:r>
                              </m:e>
                              <m:sub>
                                <m:r>
                                  <a:rPr lang="zh-CN" altLang="en-US" sz="1600">
                                    <a:latin typeface="Cambria Math" panose="02040503050406030204" pitchFamily="18" charset="0"/>
                                  </a:rPr>
                                  <m:t>3</m:t>
                                </m:r>
                              </m:sub>
                            </m:sSub>
                            <m:r>
                              <m:rPr>
                                <m:sty m:val="p"/>
                              </m:rPr>
                              <a:rPr lang="en-US" altLang="zh-CN">
                                <a:latin typeface="Cambria Math" panose="02040503050406030204" pitchFamily="18" charset="0"/>
                              </a:rPr>
                              <m:t>Θ</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𝑄</m:t>
                                </m:r>
                              </m:e>
                              <m:sub>
                                <m:r>
                                  <a:rPr lang="zh-CN" altLang="en-US" sz="1600">
                                    <a:latin typeface="Cambria Math" panose="02040503050406030204" pitchFamily="18" charset="0"/>
                                  </a:rPr>
                                  <m:t>4</m:t>
                                </m:r>
                              </m:sub>
                            </m:sSub>
                            <m:r>
                              <m:rPr>
                                <m:sty m:val="p"/>
                              </m:rPr>
                              <a:rPr lang="en-US" altLang="zh-CN">
                                <a:latin typeface="Cambria Math" panose="02040503050406030204" pitchFamily="18" charset="0"/>
                              </a:rPr>
                              <m:t>Θ</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𝑄</m:t>
                                </m:r>
                              </m:e>
                              <m:sub>
                                <m:r>
                                  <a:rPr lang="zh-CN" altLang="en-US" sz="1600">
                                    <a:latin typeface="Cambria Math" panose="02040503050406030204" pitchFamily="18" charset="0"/>
                                  </a:rPr>
                                  <m:t>5</m:t>
                                </m:r>
                              </m:sub>
                            </m:sSub>
                            <m:r>
                              <m:rPr>
                                <m:sty m:val="p"/>
                              </m:rPr>
                              <a:rPr lang="en-US" altLang="zh-CN">
                                <a:latin typeface="Cambria Math" panose="02040503050406030204" pitchFamily="18" charset="0"/>
                              </a:rPr>
                              <m:t>Θ</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𝑄</m:t>
                                </m:r>
                              </m:e>
                              <m:sub>
                                <m:r>
                                  <a:rPr lang="zh-CN" altLang="en-US" sz="1600">
                                    <a:latin typeface="Cambria Math" panose="02040503050406030204" pitchFamily="18" charset="0"/>
                                  </a:rPr>
                                  <m:t>6</m:t>
                                </m:r>
                              </m:sub>
                            </m:sSub>
                            <m:r>
                              <a:rPr lang="en-US" altLang="zh-CN" sz="1600">
                                <a:latin typeface="Cambria Math" panose="02040503050406030204" pitchFamily="18" charset="0"/>
                              </a:rPr>
                              <m:t> </m:t>
                            </m:r>
                          </m:e>
                          <m:e>
                            <m:r>
                              <a:rPr lang="en-US" altLang="zh-CN" sz="1600" i="1">
                                <a:latin typeface="Cambria Math" panose="02040503050406030204" pitchFamily="18" charset="0"/>
                              </a:rPr>
                              <m:t>               </m:t>
                            </m:r>
                            <m:r>
                              <a:rPr lang="zh-CN" altLang="en-US" sz="1600">
                                <a:latin typeface="Cambria Math" panose="02040503050406030204" pitchFamily="18" charset="0"/>
                              </a:rPr>
                              <m:t>=(</m:t>
                            </m:r>
                            <m:d>
                              <m:dPr>
                                <m:begChr m:val="["/>
                                <m:endChr m:val="]"/>
                                <m:ctrlPr>
                                  <a:rPr lang="zh-CN" altLang="en-US" sz="1600" i="1">
                                    <a:latin typeface="Cambria Math" panose="02040503050406030204" pitchFamily="18" charset="0"/>
                                  </a:rPr>
                                </m:ctrlPr>
                              </m:dPr>
                              <m:e>
                                <m:r>
                                  <a:rPr lang="zh-CN" altLang="en-US" sz="1600">
                                    <a:latin typeface="Cambria Math" panose="02040503050406030204" pitchFamily="18" charset="0"/>
                                  </a:rPr>
                                  <m:t>0,0,1,0</m:t>
                                </m:r>
                              </m:e>
                            </m:d>
                            <m:r>
                              <a:rPr lang="zh-CN" altLang="en-US" sz="1600">
                                <a:latin typeface="Cambria Math" panose="02040503050406030204" pitchFamily="18" charset="0"/>
                              </a:rPr>
                              <m:t>,</m:t>
                            </m:r>
                            <m:d>
                              <m:dPr>
                                <m:begChr m:val="["/>
                                <m:endChr m:val="]"/>
                                <m:ctrlPr>
                                  <a:rPr lang="zh-CN" altLang="en-US" sz="1600" i="1">
                                    <a:latin typeface="Cambria Math" panose="02040503050406030204" pitchFamily="18" charset="0"/>
                                  </a:rPr>
                                </m:ctrlPr>
                              </m:dPr>
                              <m:e>
                                <m:r>
                                  <a:rPr lang="zh-CN" altLang="en-US" sz="1600">
                                    <a:latin typeface="Cambria Math" panose="02040503050406030204" pitchFamily="18" charset="0"/>
                                  </a:rPr>
                                  <m:t>0,0,−0.2155,0.985</m:t>
                                </m:r>
                              </m:e>
                            </m:d>
                            <m:r>
                              <a:rPr lang="en-US" altLang="zh-CN" sz="1600" b="0" i="1" smtClean="0">
                                <a:latin typeface="Cambria Math" panose="02040503050406030204" pitchFamily="18" charset="0"/>
                              </a:rPr>
                              <m:t>)</m:t>
                            </m:r>
                          </m:e>
                        </m:eqArr>
                      </m:oMath>
                    </m:oMathPara>
                  </a14:m>
                  <a:endParaRPr lang="zh-CN" altLang="en-US" sz="1600" dirty="0"/>
                </a:p>
              </p:txBody>
            </p:sp>
          </mc:Choice>
          <mc:Fallback xmlns="">
            <p:sp>
              <p:nvSpPr>
                <p:cNvPr id="13" name="矩形 12"/>
                <p:cNvSpPr>
                  <a:spLocks noRot="1" noChangeAspect="1" noMove="1" noResize="1" noEditPoints="1" noAdjustHandles="1" noChangeArrowheads="1" noChangeShapeType="1" noTextEdit="1"/>
                </p:cNvSpPr>
                <p:nvPr/>
              </p:nvSpPr>
              <p:spPr>
                <a:xfrm>
                  <a:off x="1342458" y="2092912"/>
                  <a:ext cx="4536504" cy="586379"/>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1891155" y="2937966"/>
                  <a:ext cx="2216761" cy="38427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𝑙</m:t>
                                </m:r>
                              </m:e>
                            </m:acc>
                          </m:e>
                          <m:sub>
                            <m:r>
                              <a:rPr lang="zh-CN" altLang="en-US" i="1">
                                <a:latin typeface="Cambria Math" panose="02040503050406030204" pitchFamily="18" charset="0"/>
                              </a:rPr>
                              <m:t>𝑜</m:t>
                            </m:r>
                            <m:r>
                              <a:rPr lang="zh-CN" altLang="en-US" i="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𝑄</m:t>
                            </m:r>
                          </m:e>
                          <m:sub>
                            <m:r>
                              <a:rPr lang="zh-CN" altLang="en-US" i="0">
                                <a:latin typeface="Cambria Math" panose="02040503050406030204" pitchFamily="18" charset="0"/>
                              </a:rPr>
                              <m:t>16</m:t>
                            </m:r>
                          </m:sub>
                        </m:sSub>
                        <m:r>
                          <m:rPr>
                            <m:sty m:val="p"/>
                          </m:rPr>
                          <a:rPr lang="zh-CN" altLang="en-US" i="0">
                            <a:latin typeface="Cambria Math" panose="02040503050406030204" pitchFamily="18" charset="0"/>
                          </a:rPr>
                          <m:t>Θ</m:t>
                        </m:r>
                        <m:acc>
                          <m:accPr>
                            <m:chr m:val="̂"/>
                            <m:ctrlPr>
                              <a:rPr lang="zh-CN" altLang="en-US" i="1">
                                <a:latin typeface="Cambria Math" panose="02040503050406030204" pitchFamily="18" charset="0"/>
                              </a:rPr>
                            </m:ctrlPr>
                          </m:accPr>
                          <m:e>
                            <m:sSub>
                              <m:sSubPr>
                                <m:ctrlPr>
                                  <a:rPr lang="zh-CN" altLang="en-US" i="1">
                                    <a:latin typeface="Cambria Math" panose="02040503050406030204" pitchFamily="18" charset="0"/>
                                  </a:rPr>
                                </m:ctrlPr>
                              </m:sSubPr>
                              <m:e>
                                <m:r>
                                  <a:rPr lang="zh-CN" altLang="en-US" i="1">
                                    <a:latin typeface="Cambria Math" panose="02040503050406030204" pitchFamily="18" charset="0"/>
                                  </a:rPr>
                                  <m:t>𝑙</m:t>
                                </m:r>
                              </m:e>
                              <m:sub>
                                <m:r>
                                  <a:rPr lang="zh-CN" altLang="en-US" i="1">
                                    <a:latin typeface="Cambria Math" panose="02040503050406030204" pitchFamily="18" charset="0"/>
                                  </a:rPr>
                                  <m:t>𝑜</m:t>
                                </m:r>
                              </m:sub>
                            </m:sSub>
                          </m:e>
                        </m:acc>
                        <m:r>
                          <m:rPr>
                            <m:sty m:val="p"/>
                          </m:rPr>
                          <a:rPr lang="en-US" altLang="zh-CN">
                            <a:latin typeface="Cambria Math" panose="02040503050406030204" pitchFamily="18" charset="0"/>
                          </a:rPr>
                          <m:t>Θ</m:t>
                        </m:r>
                        <m:sSup>
                          <m:sSupPr>
                            <m:ctrlPr>
                              <a:rPr lang="zh-CN" altLang="en-US" i="1">
                                <a:latin typeface="Cambria Math" panose="02040503050406030204" pitchFamily="18" charset="0"/>
                              </a:rPr>
                            </m:ctrlPr>
                          </m:sSupPr>
                          <m:e>
                            <m:sSub>
                              <m:sSubPr>
                                <m:ctrlPr>
                                  <a:rPr lang="zh-CN" altLang="en-US" i="1">
                                    <a:latin typeface="Cambria Math" panose="02040503050406030204" pitchFamily="18" charset="0"/>
                                  </a:rPr>
                                </m:ctrlPr>
                              </m:sSubPr>
                              <m:e>
                                <m:r>
                                  <a:rPr lang="zh-CN" altLang="en-US" i="1">
                                    <a:latin typeface="Cambria Math" panose="02040503050406030204" pitchFamily="18" charset="0"/>
                                  </a:rPr>
                                  <m:t>𝑄</m:t>
                                </m:r>
                              </m:e>
                              <m:sub>
                                <m:r>
                                  <a:rPr lang="zh-CN" altLang="en-US">
                                    <a:latin typeface="Cambria Math" panose="02040503050406030204" pitchFamily="18" charset="0"/>
                                  </a:rPr>
                                  <m:t>16</m:t>
                                </m:r>
                              </m:sub>
                            </m:sSub>
                          </m:e>
                          <m:sup>
                            <m:r>
                              <a:rPr lang="zh-CN" altLang="en-US">
                                <a:latin typeface="Cambria Math" panose="02040503050406030204" pitchFamily="18" charset="0"/>
                              </a:rPr>
                              <m:t>∗</m:t>
                            </m:r>
                          </m:sup>
                        </m:sSup>
                      </m:oMath>
                    </m:oMathPara>
                  </a14:m>
                  <a:endParaRPr lang="zh-CN" altLang="en-US" dirty="0"/>
                </a:p>
              </p:txBody>
            </p:sp>
          </mc:Choice>
          <mc:Fallback xmlns="">
            <p:sp>
              <p:nvSpPr>
                <p:cNvPr id="14" name="矩形 13"/>
                <p:cNvSpPr>
                  <a:spLocks noRot="1" noChangeAspect="1" noMove="1" noResize="1" noEditPoints="1" noAdjustHandles="1" noChangeArrowheads="1" noChangeShapeType="1" noTextEdit="1"/>
                </p:cNvSpPr>
                <p:nvPr/>
              </p:nvSpPr>
              <p:spPr>
                <a:xfrm>
                  <a:off x="1891155" y="2937966"/>
                  <a:ext cx="2216761" cy="384272"/>
                </a:xfrm>
                <a:prstGeom prst="rect">
                  <a:avLst/>
                </a:prstGeom>
                <a:blipFill>
                  <a:blip r:embed="rId10"/>
                  <a:stretch>
                    <a:fillRect t="-7937" b="-95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2312837" y="3313316"/>
                  <a:ext cx="5224251"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600" i="1">
                                <a:latin typeface="Cambria Math" panose="02040503050406030204" pitchFamily="18" charset="0"/>
                              </a:rPr>
                            </m:ctrlPr>
                          </m:dPr>
                          <m:e>
                            <m:r>
                              <a:rPr lang="zh-CN" altLang="en-US" sz="1600">
                                <a:latin typeface="Cambria Math" panose="02040503050406030204" pitchFamily="18" charset="0"/>
                              </a:rPr>
                              <m:t>=</m:t>
                            </m:r>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a:rPr lang="zh-CN" altLang="en-US" sz="1600" i="0">
                                    <a:latin typeface="Cambria Math" panose="02040503050406030204" pitchFamily="18" charset="0"/>
                                  </a:rPr>
                                  <m:t>0.707107,−0.707107,0,0</m:t>
                                </m:r>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r>
                                  <a:rPr lang="zh-CN" altLang="en-US" sz="1600" i="0">
                                    <a:latin typeface="Cambria Math" panose="02040503050406030204" pitchFamily="18" charset="0"/>
                                  </a:rPr>
                                  <m:t>0,0.784,−1.416,1.2045</m:t>
                                </m:r>
                              </m:e>
                            </m:d>
                          </m:e>
                        </m:d>
                      </m:oMath>
                    </m:oMathPara>
                  </a14:m>
                  <a:endParaRPr lang="zh-CN" altLang="en-US" sz="1600" dirty="0"/>
                </a:p>
              </p:txBody>
            </p:sp>
          </mc:Choice>
          <mc:Fallback xmlns="">
            <p:sp>
              <p:nvSpPr>
                <p:cNvPr id="15" name="矩形 14"/>
                <p:cNvSpPr>
                  <a:spLocks noRot="1" noChangeAspect="1" noMove="1" noResize="1" noEditPoints="1" noAdjustHandles="1" noChangeArrowheads="1" noChangeShapeType="1" noTextEdit="1"/>
                </p:cNvSpPr>
                <p:nvPr/>
              </p:nvSpPr>
              <p:spPr>
                <a:xfrm>
                  <a:off x="2312837" y="3313316"/>
                  <a:ext cx="5224251" cy="338554"/>
                </a:xfrm>
                <a:prstGeom prst="rect">
                  <a:avLst/>
                </a:prstGeom>
                <a:blipFill>
                  <a:blip r:embed="rId11"/>
                  <a:stretch>
                    <a:fillRect t="-110909" r="-7935" b="-172727"/>
                  </a:stretch>
                </a:blipFill>
              </p:spPr>
              <p:txBody>
                <a:bodyPr/>
                <a:lstStyle/>
                <a:p>
                  <a:r>
                    <a:rPr lang="zh-CN" altLang="en-US">
                      <a:noFill/>
                    </a:rPr>
                    <a:t> </a:t>
                  </a:r>
                </a:p>
              </p:txBody>
            </p:sp>
          </mc:Fallback>
        </mc:AlternateContent>
        <p:sp>
          <p:nvSpPr>
            <p:cNvPr id="16" name="矩形 15"/>
            <p:cNvSpPr/>
            <p:nvPr/>
          </p:nvSpPr>
          <p:spPr>
            <a:xfrm>
              <a:off x="1763688" y="3837399"/>
              <a:ext cx="5904656" cy="584775"/>
            </a:xfrm>
            <a:prstGeom prst="rect">
              <a:avLst/>
            </a:prstGeom>
          </p:spPr>
          <p:txBody>
            <a:bodyPr wrap="square">
              <a:spAutoFit/>
            </a:bodyPr>
            <a:lstStyle/>
            <a:p>
              <a:r>
                <a:rPr lang="zh-CN" altLang="zh-CN" sz="1600" b="1" dirty="0">
                  <a:solidFill>
                    <a:srgbClr val="002060"/>
                  </a:solidFill>
                  <a:ea typeface="等线" panose="02010600030101010101" pitchFamily="2" charset="-122"/>
                  <a:cs typeface="Times New Roman" panose="02020603050405020304" pitchFamily="18" charset="0"/>
                </a:rPr>
                <a:t>相比前面描述的算法，</a:t>
              </a:r>
              <a:r>
                <a:rPr lang="zh-CN" altLang="zh-CN" sz="1600" b="1" dirty="0">
                  <a:solidFill>
                    <a:srgbClr val="002060"/>
                  </a:solidFill>
                  <a:latin typeface="Cambria Math" panose="02040503050406030204" pitchFamily="18" charset="0"/>
                  <a:ea typeface="等线" panose="02010600030101010101" pitchFamily="2" charset="-122"/>
                  <a:cs typeface="Times New Roman" panose="02020603050405020304" pitchFamily="18" charset="0"/>
                </a:rPr>
                <a:t>使用</a:t>
              </a:r>
              <a:r>
                <a:rPr lang="zh-CN" altLang="zh-CN" sz="1600" b="1" dirty="0">
                  <a:solidFill>
                    <a:srgbClr val="002060"/>
                  </a:solidFill>
                  <a:ea typeface="等线" panose="02010600030101010101" pitchFamily="2" charset="-122"/>
                  <a:cs typeface="Times New Roman" panose="02020603050405020304" pitchFamily="18" charset="0"/>
                </a:rPr>
                <a:t>对偶四元数求解的方法综合了</a:t>
              </a:r>
              <a:r>
                <a:rPr lang="en-US" altLang="zh-CN" sz="1600" b="1" dirty="0">
                  <a:solidFill>
                    <a:srgbClr val="002060"/>
                  </a:solidFill>
                  <a:ea typeface="等线" panose="02010600030101010101" pitchFamily="2" charset="-122"/>
                  <a:cs typeface="Times New Roman" panose="02020603050405020304" pitchFamily="18" charset="0"/>
                </a:rPr>
                <a:t>MDH</a:t>
              </a:r>
              <a:r>
                <a:rPr lang="zh-CN" altLang="zh-CN" sz="1600" b="1" dirty="0">
                  <a:solidFill>
                    <a:srgbClr val="002060"/>
                  </a:solidFill>
                  <a:ea typeface="等线" panose="02010600030101010101" pitchFamily="2" charset="-122"/>
                  <a:cs typeface="Times New Roman" panose="02020603050405020304" pitchFamily="18" charset="0"/>
                </a:rPr>
                <a:t>表示法与四元数法的优点，算法更紧凑、计算效率更高。</a:t>
              </a:r>
              <a:endParaRPr lang="zh-CN" altLang="en-US" sz="1600" b="1" dirty="0">
                <a:solidFill>
                  <a:srgbClr val="002060"/>
                </a:solidFill>
              </a:endParaRPr>
            </a:p>
          </p:txBody>
        </p:sp>
        <p:sp>
          <p:nvSpPr>
            <p:cNvPr id="18" name="圆角矩形 17"/>
            <p:cNvSpPr/>
            <p:nvPr/>
          </p:nvSpPr>
          <p:spPr>
            <a:xfrm>
              <a:off x="3491880" y="2409513"/>
              <a:ext cx="2016224" cy="30625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5744125" y="2036349"/>
              <a:ext cx="646331" cy="369332"/>
            </a:xfrm>
            <a:prstGeom prst="rect">
              <a:avLst/>
            </a:prstGeom>
            <a:noFill/>
          </p:spPr>
          <p:txBody>
            <a:bodyPr wrap="none" rtlCol="0">
              <a:spAutoFit/>
            </a:bodyPr>
            <a:lstStyle/>
            <a:p>
              <a:r>
                <a:rPr lang="zh-CN" altLang="en-US" b="1" dirty="0" smtClean="0">
                  <a:solidFill>
                    <a:srgbClr val="002060"/>
                  </a:solidFill>
                </a:rPr>
                <a:t>位置</a:t>
              </a:r>
              <a:endParaRPr lang="zh-CN" altLang="en-US" b="1" dirty="0">
                <a:solidFill>
                  <a:srgbClr val="002060"/>
                </a:solidFill>
              </a:endParaRPr>
            </a:p>
          </p:txBody>
        </p:sp>
        <p:sp>
          <p:nvSpPr>
            <p:cNvPr id="20" name="圆角矩形 19"/>
            <p:cNvSpPr/>
            <p:nvPr/>
          </p:nvSpPr>
          <p:spPr>
            <a:xfrm>
              <a:off x="2627784" y="3345617"/>
              <a:ext cx="2520280" cy="30625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5263534" y="2920842"/>
              <a:ext cx="649537" cy="369332"/>
            </a:xfrm>
            <a:prstGeom prst="rect">
              <a:avLst/>
            </a:prstGeom>
            <a:noFill/>
          </p:spPr>
          <p:txBody>
            <a:bodyPr wrap="none" rtlCol="0">
              <a:spAutoFit/>
            </a:bodyPr>
            <a:lstStyle/>
            <a:p>
              <a:r>
                <a:rPr lang="zh-CN" altLang="en-US" b="1" dirty="0" smtClean="0">
                  <a:solidFill>
                    <a:srgbClr val="002060"/>
                  </a:solidFill>
                </a:rPr>
                <a:t>姿态</a:t>
              </a:r>
              <a:endParaRPr lang="zh-CN" altLang="en-US" b="1" dirty="0">
                <a:solidFill>
                  <a:srgbClr val="002060"/>
                </a:solidFill>
              </a:endParaRPr>
            </a:p>
          </p:txBody>
        </p:sp>
        <p:cxnSp>
          <p:nvCxnSpPr>
            <p:cNvPr id="23" name="直接箭头连接符 22"/>
            <p:cNvCxnSpPr/>
            <p:nvPr/>
          </p:nvCxnSpPr>
          <p:spPr>
            <a:xfrm flipH="1">
              <a:off x="5508104" y="2221015"/>
              <a:ext cx="370858" cy="15643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H="1">
              <a:off x="5076056" y="3141324"/>
              <a:ext cx="288032" cy="18091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3" name="矩形 2"/>
          <p:cNvSpPr/>
          <p:nvPr/>
        </p:nvSpPr>
        <p:spPr>
          <a:xfrm>
            <a:off x="1781944" y="4660336"/>
            <a:ext cx="5886400" cy="276999"/>
          </a:xfrm>
          <a:prstGeom prst="rect">
            <a:avLst/>
          </a:prstGeom>
        </p:spPr>
        <p:txBody>
          <a:bodyPr wrap="square">
            <a:spAutoFit/>
          </a:bodyPr>
          <a:lstStyle/>
          <a:p>
            <a:r>
              <a:rPr lang="zh-CN" altLang="en-US" sz="1200" dirty="0">
                <a:solidFill>
                  <a:schemeClr val="tx2"/>
                </a:solidFill>
              </a:rPr>
              <a:t>https://github.com/mhuasong/Basics-of-Robotics-Theory-and-Technology/tree/main/ch3</a:t>
            </a:r>
          </a:p>
        </p:txBody>
      </p:sp>
    </p:spTree>
    <p:extLst>
      <p:ext uri="{BB962C8B-B14F-4D97-AF65-F5344CB8AC3E}">
        <p14:creationId xmlns:p14="http://schemas.microsoft.com/office/powerpoint/2010/main" val="260230210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539552" y="483518"/>
            <a:ext cx="8016427" cy="4414848"/>
            <a:chOff x="227981" y="170090"/>
            <a:chExt cx="8697948" cy="5090744"/>
          </a:xfrm>
        </p:grpSpPr>
        <p:sp>
          <p:nvSpPr>
            <p:cNvPr id="2" name="文本框 1">
              <a:extLst>
                <a:ext uri="{FF2B5EF4-FFF2-40B4-BE49-F238E27FC236}">
                  <a16:creationId xmlns:a16="http://schemas.microsoft.com/office/drawing/2014/main" id="{3F5A7BE5-7FF2-4975-9008-ADD8C27A5D87}"/>
                </a:ext>
              </a:extLst>
            </p:cNvPr>
            <p:cNvSpPr txBox="1"/>
            <p:nvPr/>
          </p:nvSpPr>
          <p:spPr>
            <a:xfrm>
              <a:off x="1321798" y="2392235"/>
              <a:ext cx="2696931" cy="390381"/>
            </a:xfrm>
            <a:prstGeom prst="rect">
              <a:avLst/>
            </a:prstGeom>
            <a:noFill/>
          </p:spPr>
          <p:txBody>
            <a:bodyPr wrap="square" lIns="121917" tIns="60958" rIns="121917" bIns="60958" rtlCol="0">
              <a:spAutoFit/>
            </a:bodyPr>
            <a:lstStyle/>
            <a:p>
              <a:pPr algn="ct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获取</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AUBO-I5</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关节连杆参数</a:t>
              </a:r>
            </a:p>
          </p:txBody>
        </p:sp>
        <p:pic>
          <p:nvPicPr>
            <p:cNvPr id="3" name="图片 2">
              <a:extLst>
                <a:ext uri="{FF2B5EF4-FFF2-40B4-BE49-F238E27FC236}">
                  <a16:creationId xmlns:a16="http://schemas.microsoft.com/office/drawing/2014/main" id="{E2CCBD8C-82B3-4412-B097-23586CC4F127}"/>
                </a:ext>
              </a:extLst>
            </p:cNvPr>
            <p:cNvPicPr>
              <a:picLocks noChangeAspect="1"/>
            </p:cNvPicPr>
            <p:nvPr/>
          </p:nvPicPr>
          <p:blipFill>
            <a:blip r:embed="rId2"/>
            <a:stretch>
              <a:fillRect/>
            </a:stretch>
          </p:blipFill>
          <p:spPr>
            <a:xfrm>
              <a:off x="6444208" y="170090"/>
              <a:ext cx="2285519" cy="2019243"/>
            </a:xfrm>
            <a:prstGeom prst="rect">
              <a:avLst/>
            </a:prstGeom>
          </p:spPr>
        </p:pic>
        <p:sp>
          <p:nvSpPr>
            <p:cNvPr id="4" name="文本框 3">
              <a:extLst>
                <a:ext uri="{FF2B5EF4-FFF2-40B4-BE49-F238E27FC236}">
                  <a16:creationId xmlns:a16="http://schemas.microsoft.com/office/drawing/2014/main" id="{65E51623-BF3B-4EB3-AA80-3222BCD10782}"/>
                </a:ext>
              </a:extLst>
            </p:cNvPr>
            <p:cNvSpPr txBox="1"/>
            <p:nvPr/>
          </p:nvSpPr>
          <p:spPr>
            <a:xfrm>
              <a:off x="6444208" y="2204224"/>
              <a:ext cx="2409713" cy="338555"/>
            </a:xfrm>
            <a:prstGeom prst="rect">
              <a:avLst/>
            </a:prstGeom>
            <a:noFill/>
          </p:spPr>
          <p:txBody>
            <a:bodyPr wrap="square" lIns="121917" tIns="60958" rIns="121917" bIns="60958" rtlCol="0">
              <a:spAutoFit/>
            </a:bodyPr>
            <a:lstStyle/>
            <a:p>
              <a:pPr algn="ct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URDF</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描述文件</a:t>
              </a:r>
            </a:p>
          </p:txBody>
        </p:sp>
        <p:pic>
          <p:nvPicPr>
            <p:cNvPr id="5" name="图片 4">
              <a:extLst>
                <a:ext uri="{FF2B5EF4-FFF2-40B4-BE49-F238E27FC236}">
                  <a16:creationId xmlns:a16="http://schemas.microsoft.com/office/drawing/2014/main" id="{B1E2B8C1-F413-4B54-BE6D-23EFFEEFD006}"/>
                </a:ext>
              </a:extLst>
            </p:cNvPr>
            <p:cNvPicPr>
              <a:picLocks noChangeAspect="1"/>
            </p:cNvPicPr>
            <p:nvPr/>
          </p:nvPicPr>
          <p:blipFill>
            <a:blip r:embed="rId3"/>
            <a:stretch>
              <a:fillRect/>
            </a:stretch>
          </p:blipFill>
          <p:spPr>
            <a:xfrm>
              <a:off x="6335968" y="2663301"/>
              <a:ext cx="2409713" cy="1551776"/>
            </a:xfrm>
            <a:prstGeom prst="rect">
              <a:avLst/>
            </a:prstGeom>
          </p:spPr>
        </p:pic>
        <p:sp>
          <p:nvSpPr>
            <p:cNvPr id="6" name="箭头: 右 10">
              <a:extLst>
                <a:ext uri="{FF2B5EF4-FFF2-40B4-BE49-F238E27FC236}">
                  <a16:creationId xmlns:a16="http://schemas.microsoft.com/office/drawing/2014/main" id="{6D861115-631E-4527-9EC2-731711C352E7}"/>
                </a:ext>
              </a:extLst>
            </p:cNvPr>
            <p:cNvSpPr/>
            <p:nvPr/>
          </p:nvSpPr>
          <p:spPr>
            <a:xfrm>
              <a:off x="4844442" y="1109778"/>
              <a:ext cx="1344707" cy="3980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sz="1400"/>
            </a:p>
          </p:txBody>
        </p:sp>
        <p:sp>
          <p:nvSpPr>
            <p:cNvPr id="7" name="箭头: 右 11">
              <a:extLst>
                <a:ext uri="{FF2B5EF4-FFF2-40B4-BE49-F238E27FC236}">
                  <a16:creationId xmlns:a16="http://schemas.microsoft.com/office/drawing/2014/main" id="{8F18BDE8-9444-4DAD-879E-788ADFD97536}"/>
                </a:ext>
              </a:extLst>
            </p:cNvPr>
            <p:cNvSpPr/>
            <p:nvPr/>
          </p:nvSpPr>
          <p:spPr>
            <a:xfrm rot="9105864">
              <a:off x="4824190" y="2417014"/>
              <a:ext cx="1344707" cy="3980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sz="1400" dirty="0"/>
            </a:p>
          </p:txBody>
        </p:sp>
        <p:sp>
          <p:nvSpPr>
            <p:cNvPr id="8" name="文本框 7">
              <a:extLst>
                <a:ext uri="{FF2B5EF4-FFF2-40B4-BE49-F238E27FC236}">
                  <a16:creationId xmlns:a16="http://schemas.microsoft.com/office/drawing/2014/main" id="{957620D8-E04F-446D-BF81-6A71F2890136}"/>
                </a:ext>
              </a:extLst>
            </p:cNvPr>
            <p:cNvSpPr txBox="1"/>
            <p:nvPr/>
          </p:nvSpPr>
          <p:spPr>
            <a:xfrm>
              <a:off x="1321798" y="4426515"/>
              <a:ext cx="2696930" cy="390381"/>
            </a:xfrm>
            <a:prstGeom prst="rect">
              <a:avLst/>
            </a:prstGeom>
            <a:noFill/>
          </p:spPr>
          <p:txBody>
            <a:bodyPr wrap="square" lIns="121917" tIns="60958" rIns="121917" bIns="60958" rtlCol="0">
              <a:spAutoFit/>
            </a:bodyPr>
            <a:lstStyle/>
            <a:p>
              <a:pPr algn="ct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建立</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AUBO ROS</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工作空间</a:t>
              </a:r>
            </a:p>
          </p:txBody>
        </p:sp>
        <p:pic>
          <p:nvPicPr>
            <p:cNvPr id="9" name="图片 8">
              <a:extLst>
                <a:ext uri="{FF2B5EF4-FFF2-40B4-BE49-F238E27FC236}">
                  <a16:creationId xmlns:a16="http://schemas.microsoft.com/office/drawing/2014/main" id="{473F30FB-053A-441F-BAFC-F0205A12058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7213" y="2793036"/>
              <a:ext cx="3231507" cy="1633479"/>
            </a:xfrm>
            <a:prstGeom prst="rect">
              <a:avLst/>
            </a:prstGeom>
          </p:spPr>
        </p:pic>
        <p:sp>
          <p:nvSpPr>
            <p:cNvPr id="10" name="文本框 9">
              <a:extLst>
                <a:ext uri="{FF2B5EF4-FFF2-40B4-BE49-F238E27FC236}">
                  <a16:creationId xmlns:a16="http://schemas.microsoft.com/office/drawing/2014/main" id="{D2DEE80B-A76F-4599-8400-1E6F98BEBE67}"/>
                </a:ext>
              </a:extLst>
            </p:cNvPr>
            <p:cNvSpPr txBox="1"/>
            <p:nvPr/>
          </p:nvSpPr>
          <p:spPr>
            <a:xfrm>
              <a:off x="6516216" y="4289555"/>
              <a:ext cx="2409713" cy="338555"/>
            </a:xfrm>
            <a:prstGeom prst="rect">
              <a:avLst/>
            </a:prstGeom>
            <a:noFill/>
          </p:spPr>
          <p:txBody>
            <a:bodyPr wrap="square" lIns="121917" tIns="60958" rIns="121917" bIns="60958" rtlCol="0">
              <a:spAutoFit/>
            </a:bodyPr>
            <a:lstStyle/>
            <a:p>
              <a:pPr algn="ct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RVIZ </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仿真</a:t>
              </a:r>
            </a:p>
          </p:txBody>
        </p:sp>
        <p:sp>
          <p:nvSpPr>
            <p:cNvPr id="11" name="箭头: 右 16">
              <a:extLst>
                <a:ext uri="{FF2B5EF4-FFF2-40B4-BE49-F238E27FC236}">
                  <a16:creationId xmlns:a16="http://schemas.microsoft.com/office/drawing/2014/main" id="{03C24046-A43B-49E8-A208-2E506DC807E5}"/>
                </a:ext>
              </a:extLst>
            </p:cNvPr>
            <p:cNvSpPr/>
            <p:nvPr/>
          </p:nvSpPr>
          <p:spPr>
            <a:xfrm>
              <a:off x="4824190" y="3713419"/>
              <a:ext cx="1344707" cy="3980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sz="1400"/>
            </a:p>
          </p:txBody>
        </p:sp>
        <p:pic>
          <p:nvPicPr>
            <p:cNvPr id="13"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7981" y="556301"/>
              <a:ext cx="2814383" cy="12788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13683" y="273132"/>
              <a:ext cx="1113222" cy="2149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Box 22"/>
            <p:cNvSpPr txBox="1"/>
            <p:nvPr/>
          </p:nvSpPr>
          <p:spPr>
            <a:xfrm>
              <a:off x="1092050" y="4976918"/>
              <a:ext cx="7495819" cy="283916"/>
            </a:xfrm>
            <a:prstGeom prst="rect">
              <a:avLst/>
            </a:prstGeom>
            <a:noFill/>
          </p:spPr>
          <p:txBody>
            <a:bodyPr vert="horz" wrap="square" lIns="0" tIns="0" rIns="0" bIns="0" rtlCol="0">
              <a:spAutoFit/>
            </a:bodyPr>
            <a:lstStyle/>
            <a:p>
              <a:r>
                <a:rPr lang="zh-CN" altLang="en-US" sz="1600" dirty="0">
                  <a:solidFill>
                    <a:srgbClr val="00B050"/>
                  </a:solidFill>
                </a:rPr>
                <a:t>相关教程及开源代码参见：</a:t>
              </a:r>
              <a:r>
                <a:rPr lang="en-US" altLang="zh-CN" sz="1600" dirty="0">
                  <a:solidFill>
                    <a:srgbClr val="00B050"/>
                  </a:solidFill>
                </a:rPr>
                <a:t>https://github.com/mhuasong/AUBO-Robot-on-ROS</a:t>
              </a:r>
              <a:endParaRPr lang="zh-CN" altLang="en-US" sz="1600" dirty="0" err="1">
                <a:solidFill>
                  <a:srgbClr val="00B050"/>
                </a:solidFill>
              </a:endParaRPr>
            </a:p>
          </p:txBody>
        </p:sp>
      </p:grpSp>
      <p:grpSp>
        <p:nvGrpSpPr>
          <p:cNvPr id="17" name="组合 16"/>
          <p:cNvGrpSpPr/>
          <p:nvPr/>
        </p:nvGrpSpPr>
        <p:grpSpPr>
          <a:xfrm>
            <a:off x="-236220" y="219075"/>
            <a:ext cx="5153660" cy="598805"/>
            <a:chOff x="-372" y="345"/>
            <a:chExt cx="8116" cy="943"/>
          </a:xfrm>
        </p:grpSpPr>
        <p:sp>
          <p:nvSpPr>
            <p:cNvPr id="18" name="矩形 17"/>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Examples for Aubo-i5</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19" name="文本框 18"/>
            <p:cNvSpPr txBox="1"/>
            <p:nvPr/>
          </p:nvSpPr>
          <p:spPr>
            <a:xfrm>
              <a:off x="443" y="363"/>
              <a:ext cx="7301" cy="628"/>
            </a:xfrm>
            <a:prstGeom prst="rect">
              <a:avLst/>
            </a:prstGeom>
            <a:noFill/>
          </p:spPr>
          <p:txBody>
            <a:bodyPr wrap="square" rtlCol="0" anchor="t">
              <a:spAutoFit/>
            </a:bodyPr>
            <a:lstStyle/>
            <a:p>
              <a:r>
                <a:rPr lang="en-US" altLang="zh-CN" sz="2000" b="1" dirty="0" smtClean="0">
                  <a:latin typeface="Arial" panose="020B0604020202020204" pitchFamily="34" charset="0"/>
                  <a:ea typeface="微软雅黑" panose="020B0503020204020204" charset="-122"/>
                  <a:sym typeface="+mn-ea"/>
                </a:rPr>
                <a:t>Aubo-i5</a:t>
              </a:r>
              <a:r>
                <a:rPr lang="zh-CN" altLang="en-US" sz="2000" b="1" dirty="0" smtClean="0">
                  <a:latin typeface="Arial" panose="020B0604020202020204" pitchFamily="34" charset="0"/>
                  <a:ea typeface="微软雅黑" panose="020B0503020204020204" charset="-122"/>
                  <a:sym typeface="+mn-ea"/>
                </a:rPr>
                <a:t>实例</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0" name="椭圆 19"/>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1650601" y="4852194"/>
            <a:ext cx="5886400" cy="276999"/>
          </a:xfrm>
          <a:prstGeom prst="rect">
            <a:avLst/>
          </a:prstGeom>
        </p:spPr>
        <p:txBody>
          <a:bodyPr wrap="square">
            <a:spAutoFit/>
          </a:bodyPr>
          <a:lstStyle/>
          <a:p>
            <a:r>
              <a:rPr lang="zh-CN" altLang="en-US" sz="1200" dirty="0">
                <a:solidFill>
                  <a:schemeClr val="tx2"/>
                </a:solidFill>
              </a:rPr>
              <a:t>https://github.com/mhuasong/Basics-of-Robotics-Theory-and-Technology/tree/main/ch3</a:t>
            </a:r>
          </a:p>
        </p:txBody>
      </p:sp>
    </p:spTree>
    <p:extLst>
      <p:ext uri="{BB962C8B-B14F-4D97-AF65-F5344CB8AC3E}">
        <p14:creationId xmlns:p14="http://schemas.microsoft.com/office/powerpoint/2010/main" val="4963605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236220" y="219075"/>
            <a:ext cx="5153660" cy="598805"/>
            <a:chOff x="-372" y="345"/>
            <a:chExt cx="8116" cy="943"/>
          </a:xfrm>
        </p:grpSpPr>
        <p:sp>
          <p:nvSpPr>
            <p:cNvPr id="18" name="矩形 17"/>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Examples for Aubo-i5</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19" name="文本框 18"/>
            <p:cNvSpPr txBox="1"/>
            <p:nvPr/>
          </p:nvSpPr>
          <p:spPr>
            <a:xfrm>
              <a:off x="443" y="363"/>
              <a:ext cx="7301" cy="628"/>
            </a:xfrm>
            <a:prstGeom prst="rect">
              <a:avLst/>
            </a:prstGeom>
            <a:noFill/>
          </p:spPr>
          <p:txBody>
            <a:bodyPr wrap="square" rtlCol="0" anchor="t">
              <a:spAutoFit/>
            </a:bodyPr>
            <a:lstStyle/>
            <a:p>
              <a:r>
                <a:rPr lang="en-US" altLang="zh-CN" sz="2000" b="1" dirty="0" smtClean="0">
                  <a:latin typeface="Arial" panose="020B0604020202020204" pitchFamily="34" charset="0"/>
                  <a:ea typeface="微软雅黑" panose="020B0503020204020204" charset="-122"/>
                  <a:sym typeface="+mn-ea"/>
                </a:rPr>
                <a:t>Aubo-i5</a:t>
              </a:r>
              <a:r>
                <a:rPr lang="zh-CN" altLang="en-US" sz="2000" b="1" dirty="0" smtClean="0">
                  <a:latin typeface="Arial" panose="020B0604020202020204" pitchFamily="34" charset="0"/>
                  <a:ea typeface="微软雅黑" panose="020B0503020204020204" charset="-122"/>
                  <a:sym typeface="+mn-ea"/>
                </a:rPr>
                <a:t>实例</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0" name="椭圆 19"/>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p:nvGrpSpPr>
        <p:grpSpPr>
          <a:xfrm>
            <a:off x="42742" y="1029335"/>
            <a:ext cx="9101258" cy="3688946"/>
            <a:chOff x="407623" y="1102695"/>
            <a:chExt cx="11713507" cy="5250447"/>
          </a:xfrm>
        </p:grpSpPr>
        <p:pic>
          <p:nvPicPr>
            <p:cNvPr id="2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853" y="1328462"/>
              <a:ext cx="2834644" cy="1698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Box 1"/>
            <p:cNvSpPr txBox="1"/>
            <p:nvPr/>
          </p:nvSpPr>
          <p:spPr>
            <a:xfrm>
              <a:off x="2076379" y="3185451"/>
              <a:ext cx="460071" cy="262834"/>
            </a:xfrm>
            <a:prstGeom prst="rect">
              <a:avLst/>
            </a:prstGeom>
            <a:noFill/>
          </p:spPr>
          <p:txBody>
            <a:bodyPr vert="horz" wrap="none" lIns="0" tIns="0" rIns="0" bIns="0" rtlCol="0">
              <a:spAutoFit/>
            </a:bodyPr>
            <a:lstStyle/>
            <a:p>
              <a:r>
                <a:rPr lang="en-US" altLang="zh-CN" sz="1200" dirty="0"/>
                <a:t>MDH </a:t>
              </a:r>
              <a:endParaRPr lang="zh-CN" altLang="en-US" sz="1200" dirty="0" err="1"/>
            </a:p>
          </p:txBody>
        </p:sp>
        <p:pic>
          <p:nvPicPr>
            <p:cNvPr id="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7193" y="1102695"/>
              <a:ext cx="2424455" cy="21498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0700" y="1210066"/>
              <a:ext cx="5273675" cy="2268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 name="右箭头 24"/>
            <p:cNvSpPr/>
            <p:nvPr/>
          </p:nvSpPr>
          <p:spPr>
            <a:xfrm>
              <a:off x="3470313" y="2177634"/>
              <a:ext cx="253388" cy="166700"/>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200"/>
            </a:p>
          </p:txBody>
        </p:sp>
        <p:sp>
          <p:nvSpPr>
            <p:cNvPr id="26" name="右箭头 25"/>
            <p:cNvSpPr/>
            <p:nvPr/>
          </p:nvSpPr>
          <p:spPr>
            <a:xfrm>
              <a:off x="6334699" y="2177633"/>
              <a:ext cx="275422" cy="166701"/>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200"/>
            </a:p>
          </p:txBody>
        </p:sp>
        <p:pic>
          <p:nvPicPr>
            <p:cNvPr id="27"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43157" y="3602053"/>
              <a:ext cx="2346727" cy="1935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 name="矩形 27"/>
            <p:cNvSpPr/>
            <p:nvPr/>
          </p:nvSpPr>
          <p:spPr>
            <a:xfrm>
              <a:off x="1425072" y="5533035"/>
              <a:ext cx="1090224" cy="394251"/>
            </a:xfrm>
            <a:prstGeom prst="rect">
              <a:avLst/>
            </a:prstGeom>
          </p:spPr>
          <p:txBody>
            <a:bodyPr wrap="none">
              <a:spAutoFit/>
            </a:bodyPr>
            <a:lstStyle/>
            <a:p>
              <a:r>
                <a:rPr lang="en-US" altLang="zh-CN" sz="1200" dirty="0"/>
                <a:t>Screw Axis</a:t>
              </a:r>
              <a:endParaRPr lang="zh-CN" altLang="en-US" sz="1200" dirty="0"/>
            </a:p>
          </p:txBody>
        </p:sp>
        <p:pic>
          <p:nvPicPr>
            <p:cNvPr id="29"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34935" y="3323951"/>
              <a:ext cx="2452933" cy="22496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 name="右箭头 29"/>
            <p:cNvSpPr/>
            <p:nvPr/>
          </p:nvSpPr>
          <p:spPr>
            <a:xfrm>
              <a:off x="3470313" y="4569972"/>
              <a:ext cx="253388" cy="211348"/>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200"/>
            </a:p>
          </p:txBody>
        </p:sp>
        <p:pic>
          <p:nvPicPr>
            <p:cNvPr id="31"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03750" y="3613070"/>
              <a:ext cx="5273675"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32" name="矩形 31"/>
                <p:cNvSpPr/>
                <p:nvPr/>
              </p:nvSpPr>
              <p:spPr>
                <a:xfrm>
                  <a:off x="6713951" y="5466789"/>
                  <a:ext cx="4464627" cy="412412"/>
                </a:xfrm>
                <a:prstGeom prst="rect">
                  <a:avLst/>
                </a:prstGeom>
                <a:blipFill>
                  <a:blip r:embed="rId8"/>
                  <a:tile tx="0" ty="0" sx="100000" sy="100000" flip="none" algn="tl"/>
                </a:blipFill>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1200" i="1">
                            <a:latin typeface="Cambria Math"/>
                            <a:ea typeface="宋体"/>
                            <a:cs typeface="Times New Roman"/>
                          </a:rPr>
                          <m:t>𝑇</m:t>
                        </m:r>
                        <m:r>
                          <a:rPr lang="en-US" altLang="zh-CN" sz="1200">
                            <a:effectLst/>
                            <a:latin typeface="Cambria Math"/>
                            <a:ea typeface="宋体"/>
                            <a:cs typeface="Times New Roman"/>
                          </a:rPr>
                          <m:t>(</m:t>
                        </m:r>
                        <m:r>
                          <a:rPr lang="en-US" altLang="zh-CN" sz="1200" i="1">
                            <a:effectLst/>
                            <a:latin typeface="Cambria Math"/>
                            <a:ea typeface="宋体"/>
                            <a:cs typeface="Times New Roman"/>
                          </a:rPr>
                          <m:t>𝜃</m:t>
                        </m:r>
                        <m:r>
                          <a:rPr lang="en-US" altLang="zh-CN" sz="1200">
                            <a:effectLst/>
                            <a:latin typeface="Cambria Math"/>
                            <a:ea typeface="宋体"/>
                            <a:cs typeface="Times New Roman"/>
                          </a:rPr>
                          <m:t>)=</m:t>
                        </m:r>
                        <m:sSup>
                          <m:sSupPr>
                            <m:ctrlPr>
                              <a:rPr lang="zh-CN" altLang="zh-CN" sz="1200" i="1">
                                <a:effectLst/>
                                <a:latin typeface="Cambria Math" panose="02040503050406030204" pitchFamily="18" charset="0"/>
                                <a:ea typeface="Cambria Math"/>
                              </a:rPr>
                            </m:ctrlPr>
                          </m:sSupPr>
                          <m:e>
                            <m:r>
                              <a:rPr lang="en-US" altLang="zh-CN" sz="1200" i="1">
                                <a:effectLst/>
                                <a:latin typeface="Cambria Math"/>
                                <a:ea typeface="宋体"/>
                                <a:cs typeface="Times New Roman"/>
                              </a:rPr>
                              <m:t>𝑒</m:t>
                            </m:r>
                          </m:e>
                          <m:sup>
                            <m:d>
                              <m:dPr>
                                <m:begChr m:val="["/>
                                <m:endChr m:val="]"/>
                                <m:ctrlPr>
                                  <a:rPr lang="zh-CN" altLang="zh-CN" sz="1200" i="1">
                                    <a:effectLst/>
                                    <a:latin typeface="Cambria Math" panose="02040503050406030204" pitchFamily="18" charset="0"/>
                                    <a:ea typeface="Cambria Math"/>
                                  </a:rPr>
                                </m:ctrlPr>
                              </m:dPr>
                              <m:e>
                                <m:r>
                                  <m:rPr>
                                    <m:sty m:val="p"/>
                                  </m:rPr>
                                  <a:rPr lang="en-US" altLang="zh-CN" sz="1200">
                                    <a:effectLst/>
                                    <a:latin typeface="Cambria Math"/>
                                    <a:ea typeface="宋体"/>
                                    <a:cs typeface="Times New Roman"/>
                                  </a:rPr>
                                  <m:t>S</m:t>
                                </m:r>
                                <m:r>
                                  <a:rPr lang="en-US" altLang="zh-CN" sz="1200">
                                    <a:effectLst/>
                                    <a:latin typeface="Cambria Math"/>
                                    <a:ea typeface="宋体"/>
                                    <a:cs typeface="Times New Roman"/>
                                  </a:rPr>
                                  <m:t>1</m:t>
                                </m:r>
                              </m:e>
                            </m:d>
                            <m:r>
                              <m:rPr>
                                <m:sty m:val="p"/>
                              </m:rPr>
                              <a:rPr lang="zh-CN" altLang="zh-CN" sz="1200">
                                <a:effectLst/>
                                <a:latin typeface="Cambria Math"/>
                                <a:ea typeface="宋体"/>
                                <a:cs typeface="Times New Roman"/>
                              </a:rPr>
                              <m:t>θ</m:t>
                            </m:r>
                            <m:r>
                              <a:rPr lang="en-US" altLang="zh-CN" sz="1200">
                                <a:effectLst/>
                                <a:latin typeface="Cambria Math"/>
                                <a:ea typeface="宋体"/>
                                <a:cs typeface="Times New Roman"/>
                              </a:rPr>
                              <m:t>1</m:t>
                            </m:r>
                          </m:sup>
                        </m:sSup>
                        <m:sSup>
                          <m:sSupPr>
                            <m:ctrlPr>
                              <a:rPr lang="zh-CN" altLang="zh-CN" sz="1200" i="1">
                                <a:effectLst/>
                                <a:latin typeface="Cambria Math" panose="02040503050406030204" pitchFamily="18" charset="0"/>
                                <a:ea typeface="Cambria Math"/>
                              </a:rPr>
                            </m:ctrlPr>
                          </m:sSupPr>
                          <m:e>
                            <m:r>
                              <a:rPr lang="en-US" altLang="zh-CN" sz="1200" i="1">
                                <a:effectLst/>
                                <a:latin typeface="Cambria Math"/>
                                <a:ea typeface="宋体"/>
                                <a:cs typeface="Times New Roman"/>
                              </a:rPr>
                              <m:t>𝑒</m:t>
                            </m:r>
                          </m:e>
                          <m:sup>
                            <m:d>
                              <m:dPr>
                                <m:begChr m:val="["/>
                                <m:endChr m:val="]"/>
                                <m:ctrlPr>
                                  <a:rPr lang="zh-CN" altLang="zh-CN" sz="1200" i="1">
                                    <a:effectLst/>
                                    <a:latin typeface="Cambria Math" panose="02040503050406030204" pitchFamily="18" charset="0"/>
                                    <a:ea typeface="Cambria Math"/>
                                  </a:rPr>
                                </m:ctrlPr>
                              </m:dPr>
                              <m:e>
                                <m:r>
                                  <m:rPr>
                                    <m:sty m:val="p"/>
                                  </m:rPr>
                                  <a:rPr lang="en-US" altLang="zh-CN" sz="1200">
                                    <a:effectLst/>
                                    <a:latin typeface="Cambria Math"/>
                                    <a:ea typeface="宋体"/>
                                    <a:cs typeface="Times New Roman"/>
                                  </a:rPr>
                                  <m:t>S</m:t>
                                </m:r>
                                <m:r>
                                  <a:rPr lang="en-US" altLang="zh-CN" sz="1200">
                                    <a:effectLst/>
                                    <a:latin typeface="Cambria Math"/>
                                    <a:ea typeface="宋体"/>
                                    <a:cs typeface="Times New Roman"/>
                                  </a:rPr>
                                  <m:t>2</m:t>
                                </m:r>
                              </m:e>
                            </m:d>
                            <m:r>
                              <m:rPr>
                                <m:sty m:val="p"/>
                              </m:rPr>
                              <a:rPr lang="zh-CN" altLang="zh-CN" sz="1200">
                                <a:effectLst/>
                                <a:latin typeface="Cambria Math"/>
                                <a:ea typeface="宋体"/>
                                <a:cs typeface="Times New Roman"/>
                              </a:rPr>
                              <m:t>θ</m:t>
                            </m:r>
                            <m:r>
                              <a:rPr lang="en-US" altLang="zh-CN" sz="1200">
                                <a:effectLst/>
                                <a:latin typeface="Cambria Math"/>
                                <a:ea typeface="宋体"/>
                                <a:cs typeface="Times New Roman"/>
                              </a:rPr>
                              <m:t>2</m:t>
                            </m:r>
                          </m:sup>
                        </m:sSup>
                        <m:sSup>
                          <m:sSupPr>
                            <m:ctrlPr>
                              <a:rPr lang="zh-CN" altLang="zh-CN" sz="1200" i="1">
                                <a:effectLst/>
                                <a:latin typeface="Cambria Math" panose="02040503050406030204" pitchFamily="18" charset="0"/>
                                <a:ea typeface="Cambria Math"/>
                              </a:rPr>
                            </m:ctrlPr>
                          </m:sSupPr>
                          <m:e>
                            <m:r>
                              <a:rPr lang="en-US" altLang="zh-CN" sz="1200" i="1">
                                <a:effectLst/>
                                <a:latin typeface="Cambria Math"/>
                                <a:ea typeface="宋体"/>
                                <a:cs typeface="Times New Roman"/>
                              </a:rPr>
                              <m:t>𝑒</m:t>
                            </m:r>
                          </m:e>
                          <m:sup>
                            <m:d>
                              <m:dPr>
                                <m:begChr m:val="["/>
                                <m:endChr m:val="]"/>
                                <m:ctrlPr>
                                  <a:rPr lang="zh-CN" altLang="zh-CN" sz="1200" i="1">
                                    <a:effectLst/>
                                    <a:latin typeface="Cambria Math" panose="02040503050406030204" pitchFamily="18" charset="0"/>
                                    <a:ea typeface="Cambria Math"/>
                                  </a:rPr>
                                </m:ctrlPr>
                              </m:dPr>
                              <m:e>
                                <m:r>
                                  <m:rPr>
                                    <m:sty m:val="p"/>
                                  </m:rPr>
                                  <a:rPr lang="en-US" altLang="zh-CN" sz="1200">
                                    <a:effectLst/>
                                    <a:latin typeface="Cambria Math"/>
                                    <a:ea typeface="宋体"/>
                                    <a:cs typeface="Times New Roman"/>
                                  </a:rPr>
                                  <m:t>S</m:t>
                                </m:r>
                                <m:r>
                                  <a:rPr lang="en-US" altLang="zh-CN" sz="1200">
                                    <a:effectLst/>
                                    <a:latin typeface="Cambria Math"/>
                                    <a:ea typeface="宋体"/>
                                    <a:cs typeface="Times New Roman"/>
                                  </a:rPr>
                                  <m:t>3</m:t>
                                </m:r>
                              </m:e>
                            </m:d>
                            <m:r>
                              <m:rPr>
                                <m:sty m:val="p"/>
                              </m:rPr>
                              <a:rPr lang="zh-CN" altLang="zh-CN" sz="1200">
                                <a:effectLst/>
                                <a:latin typeface="Cambria Math"/>
                                <a:ea typeface="宋体"/>
                                <a:cs typeface="Times New Roman"/>
                              </a:rPr>
                              <m:t>θ</m:t>
                            </m:r>
                            <m:r>
                              <a:rPr lang="en-US" altLang="zh-CN" sz="1200">
                                <a:effectLst/>
                                <a:latin typeface="Cambria Math"/>
                                <a:ea typeface="宋体"/>
                                <a:cs typeface="Times New Roman"/>
                              </a:rPr>
                              <m:t>3</m:t>
                            </m:r>
                          </m:sup>
                        </m:sSup>
                        <m:sSup>
                          <m:sSupPr>
                            <m:ctrlPr>
                              <a:rPr lang="zh-CN" altLang="zh-CN" sz="1200" i="1">
                                <a:effectLst/>
                                <a:latin typeface="Cambria Math" panose="02040503050406030204" pitchFamily="18" charset="0"/>
                                <a:ea typeface="Cambria Math"/>
                              </a:rPr>
                            </m:ctrlPr>
                          </m:sSupPr>
                          <m:e>
                            <m:r>
                              <a:rPr lang="en-US" altLang="zh-CN" sz="1200" i="1">
                                <a:effectLst/>
                                <a:latin typeface="Cambria Math"/>
                                <a:ea typeface="宋体"/>
                                <a:cs typeface="Times New Roman"/>
                              </a:rPr>
                              <m:t>𝑒</m:t>
                            </m:r>
                          </m:e>
                          <m:sup>
                            <m:d>
                              <m:dPr>
                                <m:begChr m:val="["/>
                                <m:endChr m:val="]"/>
                                <m:ctrlPr>
                                  <a:rPr lang="zh-CN" altLang="zh-CN" sz="1200" i="1">
                                    <a:effectLst/>
                                    <a:latin typeface="Cambria Math" panose="02040503050406030204" pitchFamily="18" charset="0"/>
                                    <a:ea typeface="Cambria Math"/>
                                  </a:rPr>
                                </m:ctrlPr>
                              </m:dPr>
                              <m:e>
                                <m:r>
                                  <m:rPr>
                                    <m:sty m:val="p"/>
                                  </m:rPr>
                                  <a:rPr lang="en-US" altLang="zh-CN" sz="1200">
                                    <a:effectLst/>
                                    <a:latin typeface="Cambria Math"/>
                                    <a:ea typeface="宋体"/>
                                    <a:cs typeface="Times New Roman"/>
                                  </a:rPr>
                                  <m:t>S</m:t>
                                </m:r>
                                <m:r>
                                  <a:rPr lang="en-US" altLang="zh-CN" sz="1200">
                                    <a:effectLst/>
                                    <a:latin typeface="Cambria Math"/>
                                    <a:ea typeface="宋体"/>
                                    <a:cs typeface="Times New Roman"/>
                                  </a:rPr>
                                  <m:t>4</m:t>
                                </m:r>
                              </m:e>
                            </m:d>
                            <m:r>
                              <m:rPr>
                                <m:sty m:val="p"/>
                              </m:rPr>
                              <a:rPr lang="zh-CN" altLang="zh-CN" sz="1200">
                                <a:effectLst/>
                                <a:latin typeface="Cambria Math"/>
                                <a:ea typeface="宋体"/>
                                <a:cs typeface="Times New Roman"/>
                              </a:rPr>
                              <m:t>θ</m:t>
                            </m:r>
                            <m:r>
                              <a:rPr lang="en-US" altLang="zh-CN" sz="1200">
                                <a:effectLst/>
                                <a:latin typeface="Cambria Math"/>
                                <a:ea typeface="宋体"/>
                                <a:cs typeface="Times New Roman"/>
                              </a:rPr>
                              <m:t>4</m:t>
                            </m:r>
                          </m:sup>
                        </m:sSup>
                        <m:sSup>
                          <m:sSupPr>
                            <m:ctrlPr>
                              <a:rPr lang="zh-CN" altLang="zh-CN" sz="1200" i="1">
                                <a:effectLst/>
                                <a:latin typeface="Cambria Math" panose="02040503050406030204" pitchFamily="18" charset="0"/>
                                <a:ea typeface="Cambria Math"/>
                              </a:rPr>
                            </m:ctrlPr>
                          </m:sSupPr>
                          <m:e>
                            <m:r>
                              <a:rPr lang="en-US" altLang="zh-CN" sz="1200" i="1">
                                <a:effectLst/>
                                <a:latin typeface="Cambria Math"/>
                                <a:ea typeface="宋体"/>
                                <a:cs typeface="Times New Roman"/>
                              </a:rPr>
                              <m:t>𝑒</m:t>
                            </m:r>
                          </m:e>
                          <m:sup>
                            <m:d>
                              <m:dPr>
                                <m:begChr m:val="["/>
                                <m:endChr m:val="]"/>
                                <m:ctrlPr>
                                  <a:rPr lang="zh-CN" altLang="zh-CN" sz="1200" i="1">
                                    <a:effectLst/>
                                    <a:latin typeface="Cambria Math" panose="02040503050406030204" pitchFamily="18" charset="0"/>
                                    <a:ea typeface="Cambria Math"/>
                                  </a:rPr>
                                </m:ctrlPr>
                              </m:dPr>
                              <m:e>
                                <m:r>
                                  <m:rPr>
                                    <m:sty m:val="p"/>
                                  </m:rPr>
                                  <a:rPr lang="en-US" altLang="zh-CN" sz="1200">
                                    <a:effectLst/>
                                    <a:latin typeface="Cambria Math"/>
                                    <a:ea typeface="宋体"/>
                                    <a:cs typeface="Times New Roman"/>
                                  </a:rPr>
                                  <m:t>S</m:t>
                                </m:r>
                                <m:r>
                                  <a:rPr lang="en-US" altLang="zh-CN" sz="1200">
                                    <a:effectLst/>
                                    <a:latin typeface="Cambria Math"/>
                                    <a:ea typeface="宋体"/>
                                    <a:cs typeface="Times New Roman"/>
                                  </a:rPr>
                                  <m:t>5</m:t>
                                </m:r>
                              </m:e>
                            </m:d>
                            <m:r>
                              <m:rPr>
                                <m:sty m:val="p"/>
                              </m:rPr>
                              <a:rPr lang="zh-CN" altLang="zh-CN" sz="1200">
                                <a:effectLst/>
                                <a:latin typeface="Cambria Math"/>
                                <a:ea typeface="宋体"/>
                                <a:cs typeface="Times New Roman"/>
                              </a:rPr>
                              <m:t>θ</m:t>
                            </m:r>
                            <m:r>
                              <a:rPr lang="en-US" altLang="zh-CN" sz="1200">
                                <a:effectLst/>
                                <a:latin typeface="Cambria Math"/>
                                <a:ea typeface="宋体"/>
                                <a:cs typeface="Times New Roman"/>
                              </a:rPr>
                              <m:t>5</m:t>
                            </m:r>
                          </m:sup>
                        </m:sSup>
                        <m:sSup>
                          <m:sSupPr>
                            <m:ctrlPr>
                              <a:rPr lang="zh-CN" altLang="zh-CN" sz="1200" i="1">
                                <a:effectLst/>
                                <a:latin typeface="Cambria Math" panose="02040503050406030204" pitchFamily="18" charset="0"/>
                                <a:ea typeface="Cambria Math"/>
                              </a:rPr>
                            </m:ctrlPr>
                          </m:sSupPr>
                          <m:e>
                            <m:r>
                              <a:rPr lang="en-US" altLang="zh-CN" sz="1200" i="1">
                                <a:effectLst/>
                                <a:latin typeface="Cambria Math"/>
                                <a:ea typeface="宋体"/>
                                <a:cs typeface="Times New Roman"/>
                              </a:rPr>
                              <m:t>𝑒</m:t>
                            </m:r>
                          </m:e>
                          <m:sup>
                            <m:d>
                              <m:dPr>
                                <m:begChr m:val="["/>
                                <m:endChr m:val="]"/>
                                <m:ctrlPr>
                                  <a:rPr lang="zh-CN" altLang="zh-CN" sz="1200" i="1">
                                    <a:effectLst/>
                                    <a:latin typeface="Cambria Math" panose="02040503050406030204" pitchFamily="18" charset="0"/>
                                    <a:ea typeface="Cambria Math"/>
                                  </a:rPr>
                                </m:ctrlPr>
                              </m:dPr>
                              <m:e>
                                <m:r>
                                  <m:rPr>
                                    <m:sty m:val="p"/>
                                  </m:rPr>
                                  <a:rPr lang="en-US" altLang="zh-CN" sz="1200">
                                    <a:effectLst/>
                                    <a:latin typeface="Cambria Math"/>
                                    <a:ea typeface="宋体"/>
                                    <a:cs typeface="Times New Roman"/>
                                  </a:rPr>
                                  <m:t>S</m:t>
                                </m:r>
                                <m:r>
                                  <a:rPr lang="en-US" altLang="zh-CN" sz="1200">
                                    <a:effectLst/>
                                    <a:latin typeface="Cambria Math"/>
                                    <a:ea typeface="宋体"/>
                                    <a:cs typeface="Times New Roman"/>
                                  </a:rPr>
                                  <m:t>6</m:t>
                                </m:r>
                              </m:e>
                            </m:d>
                            <m:r>
                              <m:rPr>
                                <m:sty m:val="p"/>
                              </m:rPr>
                              <a:rPr lang="zh-CN" altLang="zh-CN" sz="1200">
                                <a:effectLst/>
                                <a:latin typeface="Cambria Math"/>
                                <a:ea typeface="宋体"/>
                                <a:cs typeface="Times New Roman"/>
                              </a:rPr>
                              <m:t>θ</m:t>
                            </m:r>
                            <m:r>
                              <a:rPr lang="en-US" altLang="zh-CN" sz="1200">
                                <a:effectLst/>
                                <a:latin typeface="Cambria Math"/>
                                <a:ea typeface="宋体"/>
                                <a:cs typeface="Times New Roman"/>
                              </a:rPr>
                              <m:t>6</m:t>
                            </m:r>
                          </m:sup>
                        </m:sSup>
                        <m:r>
                          <a:rPr lang="en-US" altLang="zh-CN" sz="1200" i="1">
                            <a:effectLst/>
                            <a:latin typeface="Cambria Math"/>
                            <a:ea typeface="宋体"/>
                            <a:cs typeface="Times New Roman"/>
                          </a:rPr>
                          <m:t>𝑀</m:t>
                        </m:r>
                      </m:oMath>
                    </m:oMathPara>
                  </a14:m>
                  <a:endParaRPr lang="zh-CN" altLang="en-US" sz="1200" dirty="0"/>
                </a:p>
              </p:txBody>
            </p:sp>
          </mc:Choice>
          <mc:Fallback xmlns="">
            <p:sp>
              <p:nvSpPr>
                <p:cNvPr id="32" name="矩形 31"/>
                <p:cNvSpPr>
                  <a:spLocks noRot="1" noChangeAspect="1" noMove="1" noResize="1" noEditPoints="1" noAdjustHandles="1" noChangeArrowheads="1" noChangeShapeType="1" noTextEdit="1"/>
                </p:cNvSpPr>
                <p:nvPr/>
              </p:nvSpPr>
              <p:spPr>
                <a:xfrm>
                  <a:off x="6713951" y="5466789"/>
                  <a:ext cx="4464627" cy="412412"/>
                </a:xfrm>
                <a:prstGeom prst="rect">
                  <a:avLst/>
                </a:prstGeom>
                <a:blipFill>
                  <a:blip r:embed="rId9"/>
                  <a:stretch>
                    <a:fillRect b="-10638"/>
                  </a:stretch>
                </a:blipFill>
              </p:spPr>
              <p:txBody>
                <a:bodyPr/>
                <a:lstStyle/>
                <a:p>
                  <a:r>
                    <a:rPr lang="zh-CN" altLang="en-US">
                      <a:noFill/>
                    </a:rPr>
                    <a:t> </a:t>
                  </a:r>
                </a:p>
              </p:txBody>
            </p:sp>
          </mc:Fallback>
        </mc:AlternateContent>
        <p:sp>
          <p:nvSpPr>
            <p:cNvPr id="33" name="右箭头 32"/>
            <p:cNvSpPr/>
            <p:nvPr/>
          </p:nvSpPr>
          <p:spPr>
            <a:xfrm>
              <a:off x="6428342" y="4569972"/>
              <a:ext cx="241541" cy="211348"/>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200"/>
            </a:p>
          </p:txBody>
        </p:sp>
        <p:sp>
          <p:nvSpPr>
            <p:cNvPr id="34" name="矩形 33"/>
            <p:cNvSpPr/>
            <p:nvPr/>
          </p:nvSpPr>
          <p:spPr>
            <a:xfrm>
              <a:off x="407623" y="5915085"/>
              <a:ext cx="11713507" cy="438057"/>
            </a:xfrm>
            <a:prstGeom prst="rect">
              <a:avLst/>
            </a:prstGeom>
          </p:spPr>
          <p:txBody>
            <a:bodyPr wrap="square">
              <a:spAutoFit/>
            </a:bodyPr>
            <a:lstStyle/>
            <a:p>
              <a:r>
                <a:rPr lang="zh-CN" altLang="en-US" sz="1400" b="1" dirty="0">
                  <a:solidFill>
                    <a:srgbClr val="FF0000"/>
                  </a:solidFill>
                </a:rPr>
                <a:t>正运动学</a:t>
              </a:r>
              <a:r>
                <a:rPr lang="zh-CN" altLang="en-US" sz="1400" b="1" dirty="0"/>
                <a:t>：</a:t>
              </a:r>
              <a:r>
                <a:rPr lang="zh-CN" altLang="en-US" sz="1400" b="1" dirty="0">
                  <a:solidFill>
                    <a:srgbClr val="00B050"/>
                  </a:solidFill>
                </a:rPr>
                <a:t>标准</a:t>
              </a:r>
              <a:r>
                <a:rPr lang="en-US" altLang="zh-CN" sz="1400" b="1" dirty="0">
                  <a:solidFill>
                    <a:srgbClr val="00B050"/>
                  </a:solidFill>
                </a:rPr>
                <a:t>DH</a:t>
              </a:r>
              <a:r>
                <a:rPr lang="zh-CN" altLang="en-US" sz="1400" b="1" dirty="0">
                  <a:solidFill>
                    <a:srgbClr val="00B050"/>
                  </a:solidFill>
                </a:rPr>
                <a:t>法（</a:t>
              </a:r>
              <a:r>
                <a:rPr lang="en-US" altLang="zh-CN" sz="1400" b="1" dirty="0">
                  <a:solidFill>
                    <a:srgbClr val="00B050"/>
                  </a:solidFill>
                </a:rPr>
                <a:t>SDH</a:t>
              </a:r>
              <a:r>
                <a:rPr lang="zh-CN" altLang="en-US" sz="1400" b="1" dirty="0">
                  <a:solidFill>
                    <a:srgbClr val="00B050"/>
                  </a:solidFill>
                </a:rPr>
                <a:t>）、改进</a:t>
              </a:r>
              <a:r>
                <a:rPr lang="en-US" altLang="zh-CN" sz="1400" b="1" dirty="0">
                  <a:solidFill>
                    <a:srgbClr val="00B050"/>
                  </a:solidFill>
                </a:rPr>
                <a:t>DH</a:t>
              </a:r>
              <a:r>
                <a:rPr lang="zh-CN" altLang="en-US" sz="1400" b="1" dirty="0">
                  <a:solidFill>
                    <a:srgbClr val="00B050"/>
                  </a:solidFill>
                </a:rPr>
                <a:t>法（</a:t>
              </a:r>
              <a:r>
                <a:rPr lang="en-US" altLang="zh-CN" sz="1400" b="1" dirty="0">
                  <a:solidFill>
                    <a:srgbClr val="00B050"/>
                  </a:solidFill>
                </a:rPr>
                <a:t>MDH</a:t>
              </a:r>
              <a:r>
                <a:rPr lang="zh-CN" altLang="en-US" sz="1400" b="1" dirty="0">
                  <a:solidFill>
                    <a:srgbClr val="00B050"/>
                  </a:solidFill>
                </a:rPr>
                <a:t>）、旋量法（</a:t>
              </a:r>
              <a:r>
                <a:rPr lang="en-US" altLang="zh-CN" sz="1400" b="1" dirty="0">
                  <a:solidFill>
                    <a:srgbClr val="00B050"/>
                  </a:solidFill>
                </a:rPr>
                <a:t>Screw theory</a:t>
              </a:r>
              <a:r>
                <a:rPr lang="zh-CN" altLang="en-US" sz="1400" b="1" dirty="0">
                  <a:solidFill>
                    <a:srgbClr val="00B050"/>
                  </a:solidFill>
                </a:rPr>
                <a:t>）以及四元数（</a:t>
              </a:r>
              <a:r>
                <a:rPr lang="en-US" altLang="zh-CN" sz="1400" b="1" dirty="0">
                  <a:solidFill>
                    <a:srgbClr val="00B050"/>
                  </a:solidFill>
                </a:rPr>
                <a:t>Quaternion</a:t>
              </a:r>
              <a:r>
                <a:rPr lang="zh-CN" altLang="en-US" sz="1400" b="1" dirty="0" smtClean="0">
                  <a:solidFill>
                    <a:srgbClr val="00B050"/>
                  </a:solidFill>
                </a:rPr>
                <a:t>）等</a:t>
              </a:r>
              <a:r>
                <a:rPr lang="zh-CN" altLang="en-US" sz="1400" b="1" dirty="0">
                  <a:solidFill>
                    <a:srgbClr val="00B050"/>
                  </a:solidFill>
                </a:rPr>
                <a:t>方法</a:t>
              </a:r>
            </a:p>
          </p:txBody>
        </p:sp>
      </p:grpSp>
      <p:sp>
        <p:nvSpPr>
          <p:cNvPr id="35" name="矩形 34"/>
          <p:cNvSpPr/>
          <p:nvPr/>
        </p:nvSpPr>
        <p:spPr>
          <a:xfrm>
            <a:off x="281305" y="4743494"/>
            <a:ext cx="3329116" cy="307777"/>
          </a:xfrm>
          <a:prstGeom prst="rect">
            <a:avLst/>
          </a:prstGeom>
        </p:spPr>
        <p:txBody>
          <a:bodyPr wrap="none">
            <a:spAutoFit/>
          </a:bodyPr>
          <a:lstStyle/>
          <a:p>
            <a:r>
              <a:rPr lang="zh-CN" altLang="en-US" sz="1400" b="1" dirty="0" smtClean="0">
                <a:solidFill>
                  <a:srgbClr val="7030A0"/>
                </a:solidFill>
              </a:rPr>
              <a:t>对偶</a:t>
            </a:r>
            <a:r>
              <a:rPr lang="zh-CN" altLang="en-US" sz="1400" b="1" dirty="0">
                <a:solidFill>
                  <a:srgbClr val="7030A0"/>
                </a:solidFill>
              </a:rPr>
              <a:t>四元数</a:t>
            </a:r>
            <a:r>
              <a:rPr lang="en-US" altLang="zh-CN" sz="1400" b="1" dirty="0">
                <a:solidFill>
                  <a:srgbClr val="7030A0"/>
                </a:solidFill>
              </a:rPr>
              <a:t>(Dual </a:t>
            </a:r>
            <a:r>
              <a:rPr lang="en-US" altLang="zh-CN" sz="1400" b="1" dirty="0" smtClean="0">
                <a:solidFill>
                  <a:srgbClr val="7030A0"/>
                </a:solidFill>
              </a:rPr>
              <a:t>Quaternion)</a:t>
            </a:r>
            <a:r>
              <a:rPr lang="zh-CN" altLang="en-US" sz="1400" b="1" dirty="0" smtClean="0">
                <a:solidFill>
                  <a:srgbClr val="7030A0"/>
                </a:solidFill>
              </a:rPr>
              <a:t>法已补充：</a:t>
            </a:r>
            <a:endParaRPr lang="zh-CN" altLang="en-US" sz="1400" dirty="0">
              <a:solidFill>
                <a:srgbClr val="7030A0"/>
              </a:solidFill>
            </a:endParaRPr>
          </a:p>
        </p:txBody>
      </p:sp>
      <p:sp>
        <p:nvSpPr>
          <p:cNvPr id="36" name="矩形 35"/>
          <p:cNvSpPr/>
          <p:nvPr/>
        </p:nvSpPr>
        <p:spPr>
          <a:xfrm>
            <a:off x="2017984" y="695842"/>
            <a:ext cx="7014359" cy="338554"/>
          </a:xfrm>
          <a:prstGeom prst="rect">
            <a:avLst/>
          </a:prstGeom>
        </p:spPr>
        <p:txBody>
          <a:bodyPr wrap="square">
            <a:spAutoFit/>
          </a:bodyPr>
          <a:lstStyle/>
          <a:p>
            <a:r>
              <a:rPr lang="zh-CN" altLang="en-US" sz="1600" dirty="0">
                <a:solidFill>
                  <a:srgbClr val="00B050"/>
                </a:solidFill>
              </a:rPr>
              <a:t>相关教程及开源代码参见：</a:t>
            </a:r>
            <a:r>
              <a:rPr lang="en-US" altLang="zh-CN" sz="1600" dirty="0">
                <a:solidFill>
                  <a:srgbClr val="00B050"/>
                </a:solidFill>
              </a:rPr>
              <a:t>https://github.com/mhuasong/AUBO-Robot-on-ROS</a:t>
            </a:r>
            <a:endParaRPr lang="zh-CN" altLang="en-US" sz="1600" dirty="0" err="1">
              <a:solidFill>
                <a:srgbClr val="00B050"/>
              </a:solidFill>
            </a:endParaRPr>
          </a:p>
        </p:txBody>
      </p:sp>
      <p:sp>
        <p:nvSpPr>
          <p:cNvPr id="37" name="矩形 36"/>
          <p:cNvSpPr/>
          <p:nvPr/>
        </p:nvSpPr>
        <p:spPr>
          <a:xfrm>
            <a:off x="3347864" y="4746086"/>
            <a:ext cx="5886400" cy="276999"/>
          </a:xfrm>
          <a:prstGeom prst="rect">
            <a:avLst/>
          </a:prstGeom>
        </p:spPr>
        <p:txBody>
          <a:bodyPr wrap="square">
            <a:spAutoFit/>
          </a:bodyPr>
          <a:lstStyle/>
          <a:p>
            <a:r>
              <a:rPr lang="zh-CN" altLang="en-US" sz="1200" dirty="0">
                <a:solidFill>
                  <a:schemeClr val="tx2"/>
                </a:solidFill>
              </a:rPr>
              <a:t>https://github.com/mhuasong/Basics-of-Robotics-Theory-and-Technology/tree/main/ch3</a:t>
            </a:r>
          </a:p>
        </p:txBody>
      </p:sp>
    </p:spTree>
    <p:extLst>
      <p:ext uri="{BB962C8B-B14F-4D97-AF65-F5344CB8AC3E}">
        <p14:creationId xmlns:p14="http://schemas.microsoft.com/office/powerpoint/2010/main" val="381444767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175254" y="1509544"/>
            <a:ext cx="3849370" cy="3416320"/>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已知机器人各关节的运动变量（旋转或平移），我们可以利用机器人的运动学模型求出机器人末端乃至各关节相对基坐标系的位姿，但在机器人的有些应用中，需要根据机器人作业轨迹的要求和相关约束，计算对应关节的运动变量，控制机器人完成作业轨迹，这个求解的方法被称为运动学逆解。</a:t>
            </a:r>
            <a:endParaRPr lang="en-US" altLang="zh-CN" sz="1200" dirty="0" smtClean="0">
              <a:latin typeface="Arial" panose="020B0604020202020204" pitchFamily="34" charset="0"/>
              <a:ea typeface="微软雅黑" panose="020B0503020204020204" charset="-122"/>
              <a:sym typeface="+mn-ea"/>
            </a:endParaRPr>
          </a:p>
          <a:p>
            <a:pPr>
              <a:lnSpc>
                <a:spcPct val="150000"/>
              </a:lnSpc>
            </a:pPr>
            <a:r>
              <a:rPr lang="zh-CN" altLang="en-US" sz="1200" dirty="0" smtClean="0">
                <a:latin typeface="Arial" panose="020B0604020202020204" pitchFamily="34" charset="0"/>
                <a:ea typeface="微软雅黑" panose="020B0503020204020204" charset="-122"/>
                <a:sym typeface="+mn-ea"/>
              </a:rPr>
              <a:t>本</a:t>
            </a:r>
            <a:r>
              <a:rPr lang="zh-CN" altLang="en-US" sz="1200" dirty="0">
                <a:latin typeface="Arial" panose="020B0604020202020204" pitchFamily="34" charset="0"/>
                <a:ea typeface="微软雅黑" panose="020B0503020204020204" charset="-122"/>
                <a:sym typeface="+mn-ea"/>
              </a:rPr>
              <a:t>节</a:t>
            </a:r>
            <a:r>
              <a:rPr lang="zh-CN" altLang="en-US" sz="1200" dirty="0" smtClean="0">
                <a:latin typeface="Arial" panose="020B0604020202020204" pitchFamily="34" charset="0"/>
                <a:ea typeface="微软雅黑" panose="020B0503020204020204" charset="-122"/>
                <a:sym typeface="+mn-ea"/>
              </a:rPr>
              <a:t>以</a:t>
            </a:r>
            <a:r>
              <a:rPr lang="en-US" altLang="zh-CN" sz="1200" dirty="0" smtClean="0">
                <a:latin typeface="Arial" panose="020B0604020202020204" pitchFamily="34" charset="0"/>
                <a:ea typeface="微软雅黑" panose="020B0503020204020204" charset="-122"/>
                <a:sym typeface="+mn-ea"/>
              </a:rPr>
              <a:t>AUBO-i5</a:t>
            </a:r>
            <a:r>
              <a:rPr lang="zh-CN" altLang="en-US" sz="1200" dirty="0" smtClean="0">
                <a:latin typeface="Arial" panose="020B0604020202020204" pitchFamily="34" charset="0"/>
                <a:ea typeface="微软雅黑" panose="020B0503020204020204" charset="-122"/>
                <a:sym typeface="+mn-ea"/>
              </a:rPr>
              <a:t>机器人</a:t>
            </a:r>
            <a:r>
              <a:rPr lang="zh-CN" altLang="en-US" sz="1200" dirty="0">
                <a:latin typeface="Arial" panose="020B0604020202020204" pitchFamily="34" charset="0"/>
                <a:ea typeface="微软雅黑" panose="020B0503020204020204" charset="-122"/>
                <a:sym typeface="+mn-ea"/>
              </a:rPr>
              <a:t>为例</a:t>
            </a:r>
            <a:r>
              <a:rPr lang="zh-CN" altLang="en-US" sz="1200" dirty="0" smtClean="0">
                <a:latin typeface="Arial" panose="020B0604020202020204" pitchFamily="34" charset="0"/>
                <a:ea typeface="微软雅黑" panose="020B0503020204020204" charset="-122"/>
                <a:sym typeface="+mn-ea"/>
              </a:rPr>
              <a:t>，实例介绍</a:t>
            </a:r>
            <a:r>
              <a:rPr lang="zh-CN" altLang="en-US" sz="1200" b="1" dirty="0" smtClean="0">
                <a:solidFill>
                  <a:srgbClr val="002060"/>
                </a:solidFill>
                <a:latin typeface="Arial" panose="020B0604020202020204" pitchFamily="34" charset="0"/>
                <a:ea typeface="微软雅黑" panose="020B0503020204020204" charset="-122"/>
                <a:sym typeface="+mn-ea"/>
              </a:rPr>
              <a:t>解析</a:t>
            </a:r>
            <a:r>
              <a:rPr lang="zh-CN" altLang="en-US" sz="1200" b="1" dirty="0">
                <a:solidFill>
                  <a:srgbClr val="002060"/>
                </a:solidFill>
                <a:latin typeface="Arial" panose="020B0604020202020204" pitchFamily="34" charset="0"/>
                <a:ea typeface="微软雅黑" panose="020B0503020204020204" charset="-122"/>
                <a:sym typeface="+mn-ea"/>
              </a:rPr>
              <a:t>解求法</a:t>
            </a:r>
            <a:r>
              <a:rPr lang="zh-CN" altLang="en-US" sz="1200" dirty="0">
                <a:latin typeface="Arial" panose="020B0604020202020204" pitchFamily="34" charset="0"/>
                <a:ea typeface="微软雅黑" panose="020B0503020204020204" charset="-122"/>
                <a:sym typeface="+mn-ea"/>
              </a:rPr>
              <a:t>、解析法与几何法的</a:t>
            </a:r>
            <a:r>
              <a:rPr lang="zh-CN" altLang="en-US" sz="1200" b="1" dirty="0">
                <a:solidFill>
                  <a:srgbClr val="002060"/>
                </a:solidFill>
                <a:latin typeface="Arial" panose="020B0604020202020204" pitchFamily="34" charset="0"/>
                <a:ea typeface="微软雅黑" panose="020B0503020204020204" charset="-122"/>
                <a:sym typeface="+mn-ea"/>
              </a:rPr>
              <a:t>混合求法</a:t>
            </a:r>
            <a:r>
              <a:rPr lang="zh-CN" altLang="en-US" sz="1200" dirty="0">
                <a:latin typeface="Arial" panose="020B0604020202020204" pitchFamily="34" charset="0"/>
                <a:ea typeface="微软雅黑" panose="020B0503020204020204" charset="-122"/>
                <a:sym typeface="+mn-ea"/>
              </a:rPr>
              <a:t>，介绍了</a:t>
            </a:r>
            <a:r>
              <a:rPr lang="zh-CN" altLang="en-US" sz="1200" b="1" dirty="0">
                <a:solidFill>
                  <a:srgbClr val="002060"/>
                </a:solidFill>
                <a:latin typeface="Arial" panose="020B0604020202020204" pitchFamily="34" charset="0"/>
                <a:ea typeface="微软雅黑" panose="020B0503020204020204" charset="-122"/>
                <a:sym typeface="+mn-ea"/>
              </a:rPr>
              <a:t>空间雅可比</a:t>
            </a:r>
            <a:r>
              <a:rPr lang="en-US" altLang="zh-CN" sz="1200" dirty="0">
                <a:latin typeface="Arial" panose="020B0604020202020204" pitchFamily="34" charset="0"/>
                <a:ea typeface="微软雅黑" panose="020B0503020204020204" charset="-122"/>
                <a:sym typeface="+mn-ea"/>
              </a:rPr>
              <a:t>(Space Jacobian)</a:t>
            </a:r>
            <a:r>
              <a:rPr lang="zh-CN" altLang="en-US" sz="1200" dirty="0">
                <a:latin typeface="Arial" panose="020B0604020202020204" pitchFamily="34" charset="0"/>
                <a:ea typeface="微软雅黑" panose="020B0503020204020204" charset="-122"/>
                <a:sym typeface="+mn-ea"/>
              </a:rPr>
              <a:t>、</a:t>
            </a:r>
            <a:r>
              <a:rPr lang="zh-CN" altLang="en-US" sz="1200" b="1" dirty="0">
                <a:solidFill>
                  <a:srgbClr val="002060"/>
                </a:solidFill>
                <a:latin typeface="Arial" panose="020B0604020202020204" pitchFamily="34" charset="0"/>
                <a:ea typeface="微软雅黑" panose="020B0503020204020204" charset="-122"/>
                <a:sym typeface="+mn-ea"/>
              </a:rPr>
              <a:t>物体雅可比</a:t>
            </a:r>
            <a:r>
              <a:rPr lang="zh-CN" altLang="en-US" sz="1200" dirty="0">
                <a:latin typeface="Arial" panose="020B0604020202020204" pitchFamily="34" charset="0"/>
                <a:ea typeface="微软雅黑" panose="020B0503020204020204" charset="-122"/>
                <a:sym typeface="+mn-ea"/>
              </a:rPr>
              <a:t>（</a:t>
            </a:r>
            <a:r>
              <a:rPr lang="en-US" altLang="zh-CN" sz="1200" dirty="0">
                <a:latin typeface="Arial" panose="020B0604020202020204" pitchFamily="34" charset="0"/>
                <a:ea typeface="微软雅黑" panose="020B0503020204020204" charset="-122"/>
                <a:sym typeface="+mn-ea"/>
              </a:rPr>
              <a:t>Body </a:t>
            </a:r>
            <a:r>
              <a:rPr lang="en-US" altLang="zh-CN" sz="1200" dirty="0" smtClean="0">
                <a:latin typeface="Arial" panose="020B0604020202020204" pitchFamily="34" charset="0"/>
                <a:ea typeface="微软雅黑" panose="020B0503020204020204" charset="-122"/>
                <a:sym typeface="+mn-ea"/>
              </a:rPr>
              <a:t>Jacobian)</a:t>
            </a:r>
            <a:r>
              <a:rPr lang="zh-CN" altLang="en-US" sz="1200" dirty="0">
                <a:latin typeface="Arial" panose="020B0604020202020204" pitchFamily="34" charset="0"/>
                <a:ea typeface="微软雅黑" panose="020B0503020204020204" charset="-122"/>
                <a:sym typeface="+mn-ea"/>
              </a:rPr>
              <a:t>以及其</a:t>
            </a:r>
            <a:r>
              <a:rPr lang="zh-CN" altLang="en-US" sz="1200" b="1" dirty="0">
                <a:solidFill>
                  <a:srgbClr val="002060"/>
                </a:solidFill>
                <a:latin typeface="Arial" panose="020B0604020202020204" pitchFamily="34" charset="0"/>
                <a:ea typeface="微软雅黑" panose="020B0503020204020204" charset="-122"/>
                <a:sym typeface="+mn-ea"/>
              </a:rPr>
              <a:t>矢量积求法</a:t>
            </a:r>
            <a:r>
              <a:rPr lang="zh-CN" altLang="en-US" sz="1200" dirty="0">
                <a:latin typeface="Arial" panose="020B0604020202020204" pitchFamily="34" charset="0"/>
                <a:ea typeface="微软雅黑" panose="020B0503020204020204" charset="-122"/>
                <a:sym typeface="+mn-ea"/>
              </a:rPr>
              <a:t>、</a:t>
            </a:r>
            <a:r>
              <a:rPr lang="zh-CN" altLang="en-US" sz="1200" b="1" dirty="0">
                <a:solidFill>
                  <a:srgbClr val="002060"/>
                </a:solidFill>
                <a:latin typeface="Arial" panose="020B0604020202020204" pitchFamily="34" charset="0"/>
                <a:ea typeface="微软雅黑" panose="020B0503020204020204" charset="-122"/>
                <a:sym typeface="+mn-ea"/>
              </a:rPr>
              <a:t>微分变换求法</a:t>
            </a:r>
            <a:r>
              <a:rPr lang="zh-CN" altLang="en-US" sz="1200" dirty="0">
                <a:latin typeface="Arial" panose="020B0604020202020204" pitchFamily="34" charset="0"/>
                <a:ea typeface="微软雅黑" panose="020B0503020204020204" charset="-122"/>
                <a:sym typeface="+mn-ea"/>
              </a:rPr>
              <a:t>、</a:t>
            </a:r>
            <a:r>
              <a:rPr lang="zh-CN" altLang="en-US" sz="1200" b="1" dirty="0">
                <a:solidFill>
                  <a:srgbClr val="002060"/>
                </a:solidFill>
                <a:latin typeface="Arial" panose="020B0604020202020204" pitchFamily="34" charset="0"/>
                <a:ea typeface="微软雅黑" panose="020B0503020204020204" charset="-122"/>
                <a:sym typeface="+mn-ea"/>
              </a:rPr>
              <a:t>指数积求</a:t>
            </a:r>
            <a:r>
              <a:rPr lang="zh-CN" altLang="en-US" sz="1200" b="1" dirty="0" smtClean="0">
                <a:solidFill>
                  <a:srgbClr val="002060"/>
                </a:solidFill>
                <a:latin typeface="Arial" panose="020B0604020202020204" pitchFamily="34" charset="0"/>
                <a:ea typeface="微软雅黑" panose="020B0503020204020204" charset="-122"/>
                <a:sym typeface="+mn-ea"/>
              </a:rPr>
              <a:t>法</a:t>
            </a:r>
            <a:r>
              <a:rPr lang="zh-CN" altLang="en-US" sz="1200" dirty="0" smtClean="0">
                <a:latin typeface="Arial" panose="020B0604020202020204" pitchFamily="34" charset="0"/>
                <a:ea typeface="微软雅黑" panose="020B0503020204020204" charset="-122"/>
                <a:sym typeface="+mn-ea"/>
              </a:rPr>
              <a:t>；在此基础上实例介绍逆解</a:t>
            </a:r>
            <a:r>
              <a:rPr lang="zh-CN" altLang="en-US" sz="1200" b="1" dirty="0" smtClean="0">
                <a:solidFill>
                  <a:srgbClr val="002060"/>
                </a:solidFill>
                <a:latin typeface="Arial" panose="020B0604020202020204" pitchFamily="34" charset="0"/>
                <a:ea typeface="微软雅黑" panose="020B0503020204020204" charset="-122"/>
                <a:sym typeface="+mn-ea"/>
              </a:rPr>
              <a:t>数值求解</a:t>
            </a:r>
            <a:r>
              <a:rPr lang="en-US" altLang="zh-CN" sz="1200" dirty="0" smtClean="0">
                <a:latin typeface="Arial" panose="020B0604020202020204" pitchFamily="34" charset="0"/>
                <a:ea typeface="微软雅黑" panose="020B0503020204020204" charset="-122"/>
                <a:sym typeface="+mn-ea"/>
              </a:rPr>
              <a:t>(</a:t>
            </a:r>
            <a:r>
              <a:rPr lang="zh-CN" altLang="en-US" sz="1200" b="1" dirty="0" smtClean="0">
                <a:solidFill>
                  <a:srgbClr val="002060"/>
                </a:solidFill>
                <a:latin typeface="Arial" panose="020B0604020202020204" pitchFamily="34" charset="0"/>
                <a:ea typeface="微软雅黑" panose="020B0503020204020204" charset="-122"/>
                <a:sym typeface="+mn-ea"/>
              </a:rPr>
              <a:t>雅</a:t>
            </a:r>
            <a:r>
              <a:rPr lang="zh-CN" altLang="en-US" sz="1200" b="1" dirty="0">
                <a:solidFill>
                  <a:srgbClr val="002060"/>
                </a:solidFill>
                <a:latin typeface="Arial" panose="020B0604020202020204" pitchFamily="34" charset="0"/>
                <a:ea typeface="微软雅黑" panose="020B0503020204020204" charset="-122"/>
                <a:sym typeface="+mn-ea"/>
              </a:rPr>
              <a:t>可比逆矩阵迭代法</a:t>
            </a:r>
            <a:r>
              <a:rPr lang="zh-CN" altLang="en-US" sz="1200" dirty="0">
                <a:latin typeface="Arial" panose="020B0604020202020204" pitchFamily="34" charset="0"/>
                <a:ea typeface="微软雅黑" panose="020B0503020204020204" charset="-122"/>
                <a:sym typeface="+mn-ea"/>
              </a:rPr>
              <a:t>、</a:t>
            </a:r>
            <a:r>
              <a:rPr lang="zh-CN" altLang="en-US" sz="1200" b="1" dirty="0">
                <a:solidFill>
                  <a:srgbClr val="002060"/>
                </a:solidFill>
                <a:latin typeface="Arial" panose="020B0604020202020204" pitchFamily="34" charset="0"/>
                <a:ea typeface="微软雅黑" panose="020B0503020204020204" charset="-122"/>
                <a:sym typeface="+mn-ea"/>
              </a:rPr>
              <a:t>雅可比转置矩阵迭代法</a:t>
            </a:r>
            <a:r>
              <a:rPr lang="zh-CN" altLang="en-US" sz="1200" dirty="0">
                <a:latin typeface="Arial" panose="020B0604020202020204" pitchFamily="34" charset="0"/>
                <a:ea typeface="微软雅黑" panose="020B0503020204020204" charset="-122"/>
                <a:sym typeface="+mn-ea"/>
              </a:rPr>
              <a:t>、</a:t>
            </a:r>
            <a:r>
              <a:rPr lang="zh-CN" altLang="en-US" sz="1200" b="1" dirty="0">
                <a:solidFill>
                  <a:srgbClr val="002060"/>
                </a:solidFill>
                <a:latin typeface="Arial" panose="020B0604020202020204" pitchFamily="34" charset="0"/>
                <a:ea typeface="微软雅黑" panose="020B0503020204020204" charset="-122"/>
                <a:sym typeface="+mn-ea"/>
              </a:rPr>
              <a:t>雅可比伪逆矩阵</a:t>
            </a:r>
            <a:r>
              <a:rPr lang="zh-CN" altLang="en-US" sz="1200" b="1" dirty="0" smtClean="0">
                <a:solidFill>
                  <a:srgbClr val="002060"/>
                </a:solidFill>
                <a:latin typeface="Arial" panose="020B0604020202020204" pitchFamily="34" charset="0"/>
                <a:ea typeface="微软雅黑" panose="020B0503020204020204" charset="-122"/>
                <a:sym typeface="+mn-ea"/>
              </a:rPr>
              <a:t>迭代法</a:t>
            </a:r>
            <a:r>
              <a:rPr lang="en-US" altLang="zh-CN" sz="1200" dirty="0" smtClean="0">
                <a:latin typeface="Arial" panose="020B0604020202020204" pitchFamily="34" charset="0"/>
                <a:ea typeface="微软雅黑" panose="020B0503020204020204" charset="-122"/>
                <a:sym typeface="+mn-ea"/>
              </a:rPr>
              <a:t>)</a:t>
            </a:r>
            <a:r>
              <a:rPr lang="zh-CN" altLang="en-US" sz="1200" dirty="0" smtClean="0">
                <a:latin typeface="Arial" panose="020B0604020202020204" pitchFamily="34" charset="0"/>
                <a:ea typeface="微软雅黑" panose="020B0503020204020204" charset="-122"/>
                <a:sym typeface="+mn-ea"/>
              </a:rPr>
              <a:t>。</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7" name="文本框 6"/>
          <p:cNvSpPr txBox="1"/>
          <p:nvPr/>
        </p:nvSpPr>
        <p:spPr>
          <a:xfrm>
            <a:off x="4175254" y="987574"/>
            <a:ext cx="4213170" cy="523220"/>
          </a:xfrm>
          <a:prstGeom prst="rect">
            <a:avLst/>
          </a:prstGeom>
          <a:noFill/>
        </p:spPr>
        <p:txBody>
          <a:bodyPr wrap="square" rtlCol="0" anchor="t">
            <a:spAutoFit/>
          </a:bodyPr>
          <a:lstStyle/>
          <a:p>
            <a:r>
              <a:rPr lang="zh-CN" altLang="en-US" sz="2800" b="1" dirty="0">
                <a:latin typeface="Arial" panose="020B0604020202020204" pitchFamily="34" charset="0"/>
                <a:ea typeface="微软雅黑" panose="020B0503020204020204" charset="-122"/>
                <a:sym typeface="+mn-ea"/>
              </a:rPr>
              <a:t>多轴</a:t>
            </a:r>
            <a:r>
              <a:rPr lang="zh-CN" altLang="en-US" sz="2800" b="1" dirty="0" smtClean="0">
                <a:latin typeface="Arial" panose="020B0604020202020204" pitchFamily="34" charset="0"/>
                <a:ea typeface="微软雅黑" panose="020B0503020204020204" charset="-122"/>
                <a:sym typeface="+mn-ea"/>
              </a:rPr>
              <a:t>串联</a:t>
            </a:r>
            <a:r>
              <a:rPr lang="zh-CN" altLang="en-US" sz="2800" b="1" dirty="0">
                <a:latin typeface="Arial" panose="020B0604020202020204" pitchFamily="34" charset="0"/>
                <a:ea typeface="微软雅黑" panose="020B0503020204020204" charset="-122"/>
                <a:sym typeface="+mn-ea"/>
              </a:rPr>
              <a:t>机器人逆运动学</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07</a:t>
            </a:r>
            <a:endParaRPr lang="en-US" altLang="zh-CN" sz="6600" b="1" dirty="0">
              <a:solidFill>
                <a:schemeClr val="bg1"/>
              </a:solidFill>
              <a:latin typeface="微软雅黑" panose="020B0503020204020204" charset="-122"/>
              <a:ea typeface="微软雅黑" panose="020B0503020204020204" charset="-122"/>
              <a:sym typeface="+mn-ea"/>
            </a:endParaRPr>
          </a:p>
        </p:txBody>
      </p:sp>
    </p:spTree>
    <p:extLst>
      <p:ext uri="{BB962C8B-B14F-4D97-AF65-F5344CB8AC3E}">
        <p14:creationId xmlns:p14="http://schemas.microsoft.com/office/powerpoint/2010/main" val="393287963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Inverse Kinematics of 6R </a:t>
              </a:r>
              <a:r>
                <a:rPr lang="en-US" altLang="zh-CN" sz="1000" dirty="0">
                  <a:latin typeface="Arial" panose="020B0604020202020204" pitchFamily="34" charset="0"/>
                  <a:ea typeface="微软雅黑" panose="020B0503020204020204" charset="-122"/>
                  <a:sym typeface="+mn-ea"/>
                </a:rPr>
                <a:t>S</a:t>
              </a:r>
              <a:r>
                <a:rPr lang="en-US" altLang="zh-CN" sz="1000" dirty="0" smtClean="0">
                  <a:latin typeface="Arial" panose="020B0604020202020204" pitchFamily="34" charset="0"/>
                  <a:ea typeface="微软雅黑" panose="020B0503020204020204" charset="-122"/>
                  <a:sym typeface="+mn-ea"/>
                </a:rPr>
                <a:t>erial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6R</a:t>
              </a:r>
              <a:r>
                <a:rPr lang="zh-CN" altLang="en-US" sz="2000" b="1" dirty="0">
                  <a:latin typeface="Arial" panose="020B0604020202020204" pitchFamily="34" charset="0"/>
                  <a:ea typeface="微软雅黑" panose="020B0503020204020204" charset="-122"/>
                  <a:sym typeface="+mn-ea"/>
                </a:rPr>
                <a:t>串联机器人逆运动学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2" name="矩形 1"/>
              <p:cNvSpPr/>
              <p:nvPr/>
            </p:nvSpPr>
            <p:spPr>
              <a:xfrm>
                <a:off x="1884871" y="3647855"/>
                <a:ext cx="5598368" cy="99944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sPre>
                            <m:sPrePr>
                              <m:ctrlPr>
                                <a:rPr lang="zh-CN" altLang="en-US" sz="1600" i="1">
                                  <a:latin typeface="Cambria Math" panose="02040503050406030204" pitchFamily="18" charset="0"/>
                                </a:rPr>
                              </m:ctrlPr>
                            </m:sPrePr>
                            <m:sub/>
                            <m:sup>
                              <m:r>
                                <a:rPr lang="zh-CN" altLang="en-US" sz="1600" i="0">
                                  <a:latin typeface="Cambria Math" panose="02040503050406030204" pitchFamily="18" charset="0"/>
                                </a:rPr>
                                <m:t>0</m:t>
                              </m:r>
                            </m:sup>
                            <m:e>
                              <m:r>
                                <a:rPr lang="zh-CN" altLang="en-US" sz="1600" i="1">
                                  <a:latin typeface="Cambria Math" panose="02040503050406030204" pitchFamily="18" charset="0"/>
                                </a:rPr>
                                <m:t>𝑇</m:t>
                              </m:r>
                            </m:e>
                          </m:sPre>
                        </m:e>
                        <m:sub>
                          <m:r>
                            <a:rPr lang="zh-CN" altLang="en-US" sz="1600" i="1">
                              <a:latin typeface="Cambria Math" panose="02040503050406030204" pitchFamily="18" charset="0"/>
                            </a:rPr>
                            <m:t>𝑛</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1">
                              <a:latin typeface="Cambria Math" panose="02040503050406030204" pitchFamily="18" charset="0"/>
                            </a:rPr>
                            <m:t>𝑛</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sPre>
                            <m:sPrePr>
                              <m:ctrlPr>
                                <a:rPr lang="zh-CN" altLang="en-US" sz="1600" i="1">
                                  <a:latin typeface="Cambria Math" panose="02040503050406030204" pitchFamily="18" charset="0"/>
                                </a:rPr>
                              </m:ctrlPr>
                            </m:sPrePr>
                            <m:sub/>
                            <m:sup>
                              <m:r>
                                <a:rPr lang="zh-CN" altLang="en-US" sz="1600" i="0">
                                  <a:latin typeface="Cambria Math" panose="02040503050406030204" pitchFamily="18" charset="0"/>
                                </a:rPr>
                                <m:t>0</m:t>
                              </m:r>
                            </m:sup>
                            <m:e>
                              <m:r>
                                <a:rPr lang="zh-CN" altLang="en-US" sz="1600" i="1">
                                  <a:latin typeface="Cambria Math" panose="02040503050406030204" pitchFamily="18" charset="0"/>
                                </a:rPr>
                                <m:t>𝑇</m:t>
                              </m:r>
                            </m:e>
                          </m:sPre>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sPre>
                            <m:sPrePr>
                              <m:ctrlPr>
                                <a:rPr lang="zh-CN" altLang="en-US" sz="1600" i="1">
                                  <a:latin typeface="Cambria Math" panose="02040503050406030204" pitchFamily="18" charset="0"/>
                                </a:rPr>
                              </m:ctrlPr>
                            </m:sPrePr>
                            <m:sub/>
                            <m:sup>
                              <m:r>
                                <a:rPr lang="zh-CN" altLang="en-US" sz="1600" i="1">
                                  <a:latin typeface="Cambria Math" panose="02040503050406030204" pitchFamily="18" charset="0"/>
                                </a:rPr>
                                <m:t>𝑛</m:t>
                              </m:r>
                              <m:r>
                                <a:rPr lang="zh-CN" altLang="en-US" sz="1600" i="0">
                                  <a:latin typeface="Cambria Math" panose="02040503050406030204" pitchFamily="18" charset="0"/>
                                </a:rPr>
                                <m:t>−1</m:t>
                              </m:r>
                            </m:sup>
                            <m:e>
                              <m:r>
                                <a:rPr lang="zh-CN" altLang="en-US" sz="1600" i="1">
                                  <a:latin typeface="Cambria Math" panose="02040503050406030204" pitchFamily="18" charset="0"/>
                                </a:rPr>
                                <m:t>𝑇</m:t>
                              </m:r>
                            </m:e>
                          </m:sPre>
                        </m:e>
                        <m:sub>
                          <m:r>
                            <a:rPr lang="zh-CN" altLang="en-US" sz="1600" i="1">
                              <a:latin typeface="Cambria Math" panose="02040503050406030204" pitchFamily="18" charset="0"/>
                            </a:rPr>
                            <m:t>𝑛</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1">
                              <a:latin typeface="Cambria Math" panose="02040503050406030204" pitchFamily="18" charset="0"/>
                            </a:rPr>
                            <m:t>𝑛</m:t>
                          </m:r>
                        </m:sub>
                      </m:sSub>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m>
                            <m:mPr>
                              <m:mcs>
                                <m:mc>
                                  <m:mcPr>
                                    <m:count m:val="2"/>
                                    <m:mcJc m:val="center"/>
                                  </m:mcPr>
                                </m:mc>
                              </m:mcs>
                              <m:ctrlPr>
                                <a:rPr lang="zh-CN" altLang="en-US" sz="1600" i="1">
                                  <a:latin typeface="Cambria Math" panose="02040503050406030204" pitchFamily="18" charset="0"/>
                                </a:rPr>
                              </m:ctrlPr>
                            </m:mPr>
                            <m:mr>
                              <m:e>
                                <m:m>
                                  <m:mPr>
                                    <m:mcs>
                                      <m:mc>
                                        <m:mcPr>
                                          <m:count m:val="2"/>
                                          <m:mcJc m:val="center"/>
                                        </m:mcPr>
                                      </m:mc>
                                    </m:mcs>
                                    <m:ctrlPr>
                                      <a:rPr lang="zh-CN" altLang="en-US" sz="1600" i="1">
                                        <a:latin typeface="Cambria Math" panose="02040503050406030204" pitchFamily="18" charset="0"/>
                                      </a:rPr>
                                    </m:ctrlPr>
                                  </m:mP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𝑛</m:t>
                                          </m:r>
                                        </m:e>
                                        <m:sub>
                                          <m:r>
                                            <a:rPr lang="zh-CN" altLang="en-US" sz="1600" i="1">
                                              <a:latin typeface="Cambria Math" panose="02040503050406030204" pitchFamily="18" charset="0"/>
                                            </a:rPr>
                                            <m:t>𝑥</m:t>
                                          </m:r>
                                        </m:sub>
                                      </m:sSub>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𝑜</m:t>
                                          </m:r>
                                        </m:e>
                                        <m:sub>
                                          <m:r>
                                            <a:rPr lang="zh-CN" altLang="en-US" sz="1600" i="1">
                                              <a:latin typeface="Cambria Math" panose="02040503050406030204" pitchFamily="18" charset="0"/>
                                            </a:rPr>
                                            <m:t>𝑥</m:t>
                                          </m:r>
                                        </m:sub>
                                      </m:sSub>
                                    </m:e>
                                  </m:m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𝑛</m:t>
                                          </m:r>
                                        </m:e>
                                        <m:sub>
                                          <m:r>
                                            <a:rPr lang="zh-CN" altLang="en-US" sz="1600" i="1">
                                              <a:latin typeface="Cambria Math" panose="02040503050406030204" pitchFamily="18" charset="0"/>
                                            </a:rPr>
                                            <m:t>𝑦</m:t>
                                          </m:r>
                                        </m:sub>
                                      </m:sSub>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𝑜</m:t>
                                          </m:r>
                                        </m:e>
                                        <m:sub>
                                          <m:r>
                                            <a:rPr lang="zh-CN" altLang="en-US" sz="1600" i="1">
                                              <a:latin typeface="Cambria Math" panose="02040503050406030204" pitchFamily="18" charset="0"/>
                                            </a:rPr>
                                            <m:t>𝑦</m:t>
                                          </m:r>
                                        </m:sub>
                                      </m:sSub>
                                    </m:e>
                                  </m:mr>
                                </m:m>
                              </m:e>
                              <m:e>
                                <m:m>
                                  <m:mPr>
                                    <m:mcs>
                                      <m:mc>
                                        <m:mcPr>
                                          <m:count m:val="2"/>
                                          <m:mcJc m:val="center"/>
                                        </m:mcPr>
                                      </m:mc>
                                    </m:mcs>
                                    <m:ctrlPr>
                                      <a:rPr lang="zh-CN" altLang="en-US" sz="1600" i="1">
                                        <a:latin typeface="Cambria Math" panose="02040503050406030204" pitchFamily="18" charset="0"/>
                                      </a:rPr>
                                    </m:ctrlPr>
                                  </m:mP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1">
                                              <a:latin typeface="Cambria Math" panose="02040503050406030204" pitchFamily="18" charset="0"/>
                                            </a:rPr>
                                            <m:t>𝑥</m:t>
                                          </m:r>
                                        </m:sub>
                                      </m:sSub>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𝑝</m:t>
                                          </m:r>
                                        </m:e>
                                        <m:sub>
                                          <m:r>
                                            <a:rPr lang="zh-CN" altLang="en-US" sz="1600" i="1">
                                              <a:latin typeface="Cambria Math" panose="02040503050406030204" pitchFamily="18" charset="0"/>
                                            </a:rPr>
                                            <m:t>𝑥</m:t>
                                          </m:r>
                                        </m:sub>
                                      </m:sSub>
                                    </m:e>
                                  </m:m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1">
                                              <a:latin typeface="Cambria Math" panose="02040503050406030204" pitchFamily="18" charset="0"/>
                                            </a:rPr>
                                            <m:t>𝑦</m:t>
                                          </m:r>
                                        </m:sub>
                                      </m:sSub>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𝑝</m:t>
                                          </m:r>
                                        </m:e>
                                        <m:sub>
                                          <m:r>
                                            <a:rPr lang="zh-CN" altLang="en-US" sz="1600" i="1">
                                              <a:latin typeface="Cambria Math" panose="02040503050406030204" pitchFamily="18" charset="0"/>
                                            </a:rPr>
                                            <m:t>𝑦</m:t>
                                          </m:r>
                                        </m:sub>
                                      </m:sSub>
                                    </m:e>
                                  </m:mr>
                                </m:m>
                              </m:e>
                            </m:mr>
                            <m:mr>
                              <m:e>
                                <m:m>
                                  <m:mPr>
                                    <m:mcs>
                                      <m:mc>
                                        <m:mcPr>
                                          <m:count m:val="2"/>
                                          <m:mcJc m:val="center"/>
                                        </m:mcPr>
                                      </m:mc>
                                    </m:mcs>
                                    <m:ctrlPr>
                                      <a:rPr lang="zh-CN" altLang="en-US" sz="1600" i="1">
                                        <a:latin typeface="Cambria Math" panose="02040503050406030204" pitchFamily="18" charset="0"/>
                                      </a:rPr>
                                    </m:ctrlPr>
                                  </m:mP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𝑛</m:t>
                                          </m:r>
                                        </m:e>
                                        <m:sub>
                                          <m:r>
                                            <a:rPr lang="zh-CN" altLang="en-US" sz="1600" i="1">
                                              <a:latin typeface="Cambria Math" panose="02040503050406030204" pitchFamily="18" charset="0"/>
                                            </a:rPr>
                                            <m:t>𝑧</m:t>
                                          </m:r>
                                        </m:sub>
                                      </m:sSub>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𝑜</m:t>
                                          </m:r>
                                        </m:e>
                                        <m:sub>
                                          <m:r>
                                            <a:rPr lang="zh-CN" altLang="en-US" sz="1600" i="1">
                                              <a:latin typeface="Cambria Math" panose="02040503050406030204" pitchFamily="18" charset="0"/>
                                            </a:rPr>
                                            <m:t>𝑧</m:t>
                                          </m:r>
                                        </m:sub>
                                      </m:sSub>
                                    </m:e>
                                  </m:mr>
                                  <m:mr>
                                    <m:e>
                                      <m:r>
                                        <a:rPr lang="zh-CN" altLang="en-US" sz="1600" i="0">
                                          <a:latin typeface="Cambria Math" panose="02040503050406030204" pitchFamily="18" charset="0"/>
                                        </a:rPr>
                                        <m:t>0</m:t>
                                      </m:r>
                                    </m:e>
                                    <m:e>
                                      <m:r>
                                        <a:rPr lang="zh-CN" altLang="en-US" sz="1600" i="0">
                                          <a:latin typeface="Cambria Math" panose="02040503050406030204" pitchFamily="18" charset="0"/>
                                        </a:rPr>
                                        <m:t>0</m:t>
                                      </m:r>
                                    </m:e>
                                  </m:mr>
                                </m:m>
                              </m:e>
                              <m:e>
                                <m:m>
                                  <m:mPr>
                                    <m:mcs>
                                      <m:mc>
                                        <m:mcPr>
                                          <m:count m:val="2"/>
                                          <m:mcJc m:val="center"/>
                                        </m:mcPr>
                                      </m:mc>
                                    </m:mcs>
                                    <m:ctrlPr>
                                      <a:rPr lang="zh-CN" altLang="en-US" sz="1600" i="1">
                                        <a:latin typeface="Cambria Math" panose="02040503050406030204" pitchFamily="18" charset="0"/>
                                      </a:rPr>
                                    </m:ctrlPr>
                                  </m:mP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1">
                                              <a:latin typeface="Cambria Math" panose="02040503050406030204" pitchFamily="18" charset="0"/>
                                            </a:rPr>
                                            <m:t>𝑧</m:t>
                                          </m:r>
                                        </m:sub>
                                      </m:sSub>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𝑝</m:t>
                                          </m:r>
                                        </m:e>
                                        <m:sub>
                                          <m:r>
                                            <a:rPr lang="zh-CN" altLang="en-US" sz="1600" i="1">
                                              <a:latin typeface="Cambria Math" panose="02040503050406030204" pitchFamily="18" charset="0"/>
                                            </a:rPr>
                                            <m:t>𝑧</m:t>
                                          </m:r>
                                        </m:sub>
                                      </m:sSub>
                                    </m:e>
                                  </m:mr>
                                  <m:mr>
                                    <m:e>
                                      <m:r>
                                        <a:rPr lang="zh-CN" altLang="en-US" sz="1600" i="0">
                                          <a:latin typeface="Cambria Math" panose="02040503050406030204" pitchFamily="18" charset="0"/>
                                        </a:rPr>
                                        <m:t>0</m:t>
                                      </m:r>
                                    </m:e>
                                    <m:e>
                                      <m:r>
                                        <a:rPr lang="zh-CN" altLang="en-US" sz="1600" i="0">
                                          <a:latin typeface="Cambria Math" panose="02040503050406030204" pitchFamily="18" charset="0"/>
                                        </a:rPr>
                                        <m:t>1</m:t>
                                      </m:r>
                                    </m:e>
                                  </m:mr>
                                </m:m>
                              </m:e>
                            </m:mr>
                          </m:m>
                        </m:e>
                      </m:d>
                    </m:oMath>
                  </m:oMathPara>
                </a14:m>
                <a:endParaRPr lang="zh-CN" altLang="en-US" sz="1600" dirty="0"/>
              </a:p>
            </p:txBody>
          </p:sp>
        </mc:Choice>
        <mc:Fallback xmlns="">
          <p:sp>
            <p:nvSpPr>
              <p:cNvPr id="2" name="矩形 1"/>
              <p:cNvSpPr>
                <a:spLocks noRot="1" noChangeAspect="1" noMove="1" noResize="1" noEditPoints="1" noAdjustHandles="1" noChangeArrowheads="1" noChangeShapeType="1" noTextEdit="1"/>
              </p:cNvSpPr>
              <p:nvPr/>
            </p:nvSpPr>
            <p:spPr>
              <a:xfrm>
                <a:off x="1884871" y="3647855"/>
                <a:ext cx="5598368" cy="999441"/>
              </a:xfrm>
              <a:prstGeom prst="rect">
                <a:avLst/>
              </a:prstGeom>
              <a:blipFill>
                <a:blip r:embed="rId4"/>
                <a:stretch>
                  <a:fillRect/>
                </a:stretch>
              </a:blipFill>
            </p:spPr>
            <p:txBody>
              <a:bodyPr/>
              <a:lstStyle/>
              <a:p>
                <a:r>
                  <a:rPr lang="zh-CN" altLang="en-US">
                    <a:noFill/>
                  </a:rPr>
                  <a:t> </a:t>
                </a:r>
              </a:p>
            </p:txBody>
          </p:sp>
        </mc:Fallback>
      </mc:AlternateContent>
      <p:pic>
        <p:nvPicPr>
          <p:cNvPr id="22" name="图片 21"/>
          <p:cNvPicPr>
            <a:picLocks noChangeAspect="1"/>
          </p:cNvPicPr>
          <p:nvPr/>
        </p:nvPicPr>
        <p:blipFill>
          <a:blip r:embed="rId5"/>
          <a:stretch>
            <a:fillRect/>
          </a:stretch>
        </p:blipFill>
        <p:spPr>
          <a:xfrm>
            <a:off x="2722902" y="288816"/>
            <a:ext cx="4169366" cy="3418682"/>
          </a:xfrm>
          <a:prstGeom prst="rect">
            <a:avLst/>
          </a:prstGeom>
        </p:spPr>
      </p:pic>
      <p:sp>
        <p:nvSpPr>
          <p:cNvPr id="21542" name="矩形 21541"/>
          <p:cNvSpPr/>
          <p:nvPr/>
        </p:nvSpPr>
        <p:spPr>
          <a:xfrm>
            <a:off x="2599372" y="4687216"/>
            <a:ext cx="4564916" cy="338554"/>
          </a:xfrm>
          <a:prstGeom prst="rect">
            <a:avLst/>
          </a:prstGeom>
        </p:spPr>
        <p:txBody>
          <a:bodyPr wrap="square">
            <a:spAutoFit/>
          </a:bodyPr>
          <a:lstStyle/>
          <a:p>
            <a:r>
              <a:rPr lang="zh-CN" altLang="en-US" sz="1600" b="1" dirty="0">
                <a:solidFill>
                  <a:srgbClr val="002060"/>
                </a:solidFill>
              </a:rPr>
              <a:t>等式右边位姿矩阵已知，求等式左边的关节变量</a:t>
            </a:r>
          </a:p>
        </p:txBody>
      </p:sp>
    </p:spTree>
    <p:extLst>
      <p:ext uri="{BB962C8B-B14F-4D97-AF65-F5344CB8AC3E}">
        <p14:creationId xmlns:p14="http://schemas.microsoft.com/office/powerpoint/2010/main" val="156746921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Inverse Kinematics of 6R </a:t>
              </a:r>
              <a:r>
                <a:rPr lang="en-US" altLang="zh-CN" sz="1000" dirty="0">
                  <a:latin typeface="Arial" panose="020B0604020202020204" pitchFamily="34" charset="0"/>
                  <a:ea typeface="微软雅黑" panose="020B0503020204020204" charset="-122"/>
                  <a:sym typeface="+mn-ea"/>
                </a:rPr>
                <a:t>S</a:t>
              </a:r>
              <a:r>
                <a:rPr lang="en-US" altLang="zh-CN" sz="1000" dirty="0" smtClean="0">
                  <a:latin typeface="Arial" panose="020B0604020202020204" pitchFamily="34" charset="0"/>
                  <a:ea typeface="微软雅黑" panose="020B0503020204020204" charset="-122"/>
                  <a:sym typeface="+mn-ea"/>
                </a:rPr>
                <a:t>erial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6R</a:t>
              </a:r>
              <a:r>
                <a:rPr lang="zh-CN" altLang="en-US" sz="2000" b="1" dirty="0">
                  <a:latin typeface="Arial" panose="020B0604020202020204" pitchFamily="34" charset="0"/>
                  <a:ea typeface="微软雅黑" panose="020B0503020204020204" charset="-122"/>
                  <a:sym typeface="+mn-ea"/>
                </a:rPr>
                <a:t>串联机器人逆运动学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2" name="矩形 1"/>
              <p:cNvSpPr/>
              <p:nvPr/>
            </p:nvSpPr>
            <p:spPr>
              <a:xfrm>
                <a:off x="1691680" y="845604"/>
                <a:ext cx="5598368" cy="99944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sPre>
                            <m:sPrePr>
                              <m:ctrlPr>
                                <a:rPr lang="zh-CN" altLang="en-US" sz="1600" i="1">
                                  <a:latin typeface="Cambria Math" panose="02040503050406030204" pitchFamily="18" charset="0"/>
                                </a:rPr>
                              </m:ctrlPr>
                            </m:sPrePr>
                            <m:sub/>
                            <m:sup>
                              <m:r>
                                <a:rPr lang="zh-CN" altLang="en-US" sz="1600" i="0">
                                  <a:latin typeface="Cambria Math" panose="02040503050406030204" pitchFamily="18" charset="0"/>
                                </a:rPr>
                                <m:t>0</m:t>
                              </m:r>
                            </m:sup>
                            <m:e>
                              <m:r>
                                <a:rPr lang="zh-CN" altLang="en-US" sz="1600" i="1">
                                  <a:latin typeface="Cambria Math" panose="02040503050406030204" pitchFamily="18" charset="0"/>
                                </a:rPr>
                                <m:t>𝑇</m:t>
                              </m:r>
                            </m:e>
                          </m:sPre>
                        </m:e>
                        <m:sub>
                          <m:r>
                            <a:rPr lang="zh-CN" altLang="en-US" sz="1600" i="1">
                              <a:latin typeface="Cambria Math" panose="02040503050406030204" pitchFamily="18" charset="0"/>
                            </a:rPr>
                            <m:t>𝑛</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1">
                              <a:latin typeface="Cambria Math" panose="02040503050406030204" pitchFamily="18" charset="0"/>
                            </a:rPr>
                            <m:t>𝑛</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sPre>
                            <m:sPrePr>
                              <m:ctrlPr>
                                <a:rPr lang="zh-CN" altLang="en-US" sz="1600" i="1">
                                  <a:latin typeface="Cambria Math" panose="02040503050406030204" pitchFamily="18" charset="0"/>
                                </a:rPr>
                              </m:ctrlPr>
                            </m:sPrePr>
                            <m:sub/>
                            <m:sup>
                              <m:r>
                                <a:rPr lang="zh-CN" altLang="en-US" sz="1600" i="0">
                                  <a:latin typeface="Cambria Math" panose="02040503050406030204" pitchFamily="18" charset="0"/>
                                </a:rPr>
                                <m:t>0</m:t>
                              </m:r>
                            </m:sup>
                            <m:e>
                              <m:r>
                                <a:rPr lang="zh-CN" altLang="en-US" sz="1600" i="1">
                                  <a:latin typeface="Cambria Math" panose="02040503050406030204" pitchFamily="18" charset="0"/>
                                </a:rPr>
                                <m:t>𝑇</m:t>
                              </m:r>
                            </m:e>
                          </m:sPre>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sPre>
                            <m:sPrePr>
                              <m:ctrlPr>
                                <a:rPr lang="zh-CN" altLang="en-US" sz="1600" i="1">
                                  <a:latin typeface="Cambria Math" panose="02040503050406030204" pitchFamily="18" charset="0"/>
                                </a:rPr>
                              </m:ctrlPr>
                            </m:sPrePr>
                            <m:sub/>
                            <m:sup>
                              <m:r>
                                <a:rPr lang="zh-CN" altLang="en-US" sz="1600" i="1">
                                  <a:latin typeface="Cambria Math" panose="02040503050406030204" pitchFamily="18" charset="0"/>
                                </a:rPr>
                                <m:t>𝑛</m:t>
                              </m:r>
                              <m:r>
                                <a:rPr lang="zh-CN" altLang="en-US" sz="1600" i="0">
                                  <a:latin typeface="Cambria Math" panose="02040503050406030204" pitchFamily="18" charset="0"/>
                                </a:rPr>
                                <m:t>−1</m:t>
                              </m:r>
                            </m:sup>
                            <m:e>
                              <m:r>
                                <a:rPr lang="zh-CN" altLang="en-US" sz="1600" i="1">
                                  <a:latin typeface="Cambria Math" panose="02040503050406030204" pitchFamily="18" charset="0"/>
                                </a:rPr>
                                <m:t>𝑇</m:t>
                              </m:r>
                            </m:e>
                          </m:sPre>
                        </m:e>
                        <m:sub>
                          <m:r>
                            <a:rPr lang="zh-CN" altLang="en-US" sz="1600" i="1">
                              <a:latin typeface="Cambria Math" panose="02040503050406030204" pitchFamily="18" charset="0"/>
                            </a:rPr>
                            <m:t>𝑛</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1">
                              <a:latin typeface="Cambria Math" panose="02040503050406030204" pitchFamily="18" charset="0"/>
                            </a:rPr>
                            <m:t>𝑛</m:t>
                          </m:r>
                        </m:sub>
                      </m:sSub>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m>
                            <m:mPr>
                              <m:mcs>
                                <m:mc>
                                  <m:mcPr>
                                    <m:count m:val="2"/>
                                    <m:mcJc m:val="center"/>
                                  </m:mcPr>
                                </m:mc>
                              </m:mcs>
                              <m:ctrlPr>
                                <a:rPr lang="zh-CN" altLang="en-US" sz="1600" i="1">
                                  <a:latin typeface="Cambria Math" panose="02040503050406030204" pitchFamily="18" charset="0"/>
                                </a:rPr>
                              </m:ctrlPr>
                            </m:mPr>
                            <m:mr>
                              <m:e>
                                <m:m>
                                  <m:mPr>
                                    <m:mcs>
                                      <m:mc>
                                        <m:mcPr>
                                          <m:count m:val="2"/>
                                          <m:mcJc m:val="center"/>
                                        </m:mcPr>
                                      </m:mc>
                                    </m:mcs>
                                    <m:ctrlPr>
                                      <a:rPr lang="zh-CN" altLang="en-US" sz="1600" i="1">
                                        <a:latin typeface="Cambria Math" panose="02040503050406030204" pitchFamily="18" charset="0"/>
                                      </a:rPr>
                                    </m:ctrlPr>
                                  </m:mP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𝑛</m:t>
                                          </m:r>
                                        </m:e>
                                        <m:sub>
                                          <m:r>
                                            <a:rPr lang="zh-CN" altLang="en-US" sz="1600" i="1">
                                              <a:latin typeface="Cambria Math" panose="02040503050406030204" pitchFamily="18" charset="0"/>
                                            </a:rPr>
                                            <m:t>𝑥</m:t>
                                          </m:r>
                                        </m:sub>
                                      </m:sSub>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𝑜</m:t>
                                          </m:r>
                                        </m:e>
                                        <m:sub>
                                          <m:r>
                                            <a:rPr lang="zh-CN" altLang="en-US" sz="1600" i="1">
                                              <a:latin typeface="Cambria Math" panose="02040503050406030204" pitchFamily="18" charset="0"/>
                                            </a:rPr>
                                            <m:t>𝑥</m:t>
                                          </m:r>
                                        </m:sub>
                                      </m:sSub>
                                    </m:e>
                                  </m:m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𝑛</m:t>
                                          </m:r>
                                        </m:e>
                                        <m:sub>
                                          <m:r>
                                            <a:rPr lang="zh-CN" altLang="en-US" sz="1600" i="1">
                                              <a:latin typeface="Cambria Math" panose="02040503050406030204" pitchFamily="18" charset="0"/>
                                            </a:rPr>
                                            <m:t>𝑦</m:t>
                                          </m:r>
                                        </m:sub>
                                      </m:sSub>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𝑜</m:t>
                                          </m:r>
                                        </m:e>
                                        <m:sub>
                                          <m:r>
                                            <a:rPr lang="zh-CN" altLang="en-US" sz="1600" i="1">
                                              <a:latin typeface="Cambria Math" panose="02040503050406030204" pitchFamily="18" charset="0"/>
                                            </a:rPr>
                                            <m:t>𝑦</m:t>
                                          </m:r>
                                        </m:sub>
                                      </m:sSub>
                                    </m:e>
                                  </m:mr>
                                </m:m>
                              </m:e>
                              <m:e>
                                <m:m>
                                  <m:mPr>
                                    <m:mcs>
                                      <m:mc>
                                        <m:mcPr>
                                          <m:count m:val="2"/>
                                          <m:mcJc m:val="center"/>
                                        </m:mcPr>
                                      </m:mc>
                                    </m:mcs>
                                    <m:ctrlPr>
                                      <a:rPr lang="zh-CN" altLang="en-US" sz="1600" i="1">
                                        <a:latin typeface="Cambria Math" panose="02040503050406030204" pitchFamily="18" charset="0"/>
                                      </a:rPr>
                                    </m:ctrlPr>
                                  </m:mP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1">
                                              <a:latin typeface="Cambria Math" panose="02040503050406030204" pitchFamily="18" charset="0"/>
                                            </a:rPr>
                                            <m:t>𝑥</m:t>
                                          </m:r>
                                        </m:sub>
                                      </m:sSub>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𝑝</m:t>
                                          </m:r>
                                        </m:e>
                                        <m:sub>
                                          <m:r>
                                            <a:rPr lang="zh-CN" altLang="en-US" sz="1600" i="1">
                                              <a:latin typeface="Cambria Math" panose="02040503050406030204" pitchFamily="18" charset="0"/>
                                            </a:rPr>
                                            <m:t>𝑥</m:t>
                                          </m:r>
                                        </m:sub>
                                      </m:sSub>
                                    </m:e>
                                  </m:m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1">
                                              <a:latin typeface="Cambria Math" panose="02040503050406030204" pitchFamily="18" charset="0"/>
                                            </a:rPr>
                                            <m:t>𝑦</m:t>
                                          </m:r>
                                        </m:sub>
                                      </m:sSub>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𝑝</m:t>
                                          </m:r>
                                        </m:e>
                                        <m:sub>
                                          <m:r>
                                            <a:rPr lang="zh-CN" altLang="en-US" sz="1600" i="1">
                                              <a:latin typeface="Cambria Math" panose="02040503050406030204" pitchFamily="18" charset="0"/>
                                            </a:rPr>
                                            <m:t>𝑦</m:t>
                                          </m:r>
                                        </m:sub>
                                      </m:sSub>
                                    </m:e>
                                  </m:mr>
                                </m:m>
                              </m:e>
                            </m:mr>
                            <m:mr>
                              <m:e>
                                <m:m>
                                  <m:mPr>
                                    <m:mcs>
                                      <m:mc>
                                        <m:mcPr>
                                          <m:count m:val="2"/>
                                          <m:mcJc m:val="center"/>
                                        </m:mcPr>
                                      </m:mc>
                                    </m:mcs>
                                    <m:ctrlPr>
                                      <a:rPr lang="zh-CN" altLang="en-US" sz="1600" i="1">
                                        <a:latin typeface="Cambria Math" panose="02040503050406030204" pitchFamily="18" charset="0"/>
                                      </a:rPr>
                                    </m:ctrlPr>
                                  </m:mP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𝑛</m:t>
                                          </m:r>
                                        </m:e>
                                        <m:sub>
                                          <m:r>
                                            <a:rPr lang="zh-CN" altLang="en-US" sz="1600" i="1">
                                              <a:latin typeface="Cambria Math" panose="02040503050406030204" pitchFamily="18" charset="0"/>
                                            </a:rPr>
                                            <m:t>𝑧</m:t>
                                          </m:r>
                                        </m:sub>
                                      </m:sSub>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𝑜</m:t>
                                          </m:r>
                                        </m:e>
                                        <m:sub>
                                          <m:r>
                                            <a:rPr lang="zh-CN" altLang="en-US" sz="1600" i="1">
                                              <a:latin typeface="Cambria Math" panose="02040503050406030204" pitchFamily="18" charset="0"/>
                                            </a:rPr>
                                            <m:t>𝑧</m:t>
                                          </m:r>
                                        </m:sub>
                                      </m:sSub>
                                    </m:e>
                                  </m:mr>
                                  <m:mr>
                                    <m:e>
                                      <m:r>
                                        <a:rPr lang="zh-CN" altLang="en-US" sz="1600" i="0">
                                          <a:latin typeface="Cambria Math" panose="02040503050406030204" pitchFamily="18" charset="0"/>
                                        </a:rPr>
                                        <m:t>0</m:t>
                                      </m:r>
                                    </m:e>
                                    <m:e>
                                      <m:r>
                                        <a:rPr lang="zh-CN" altLang="en-US" sz="1600" i="0">
                                          <a:latin typeface="Cambria Math" panose="02040503050406030204" pitchFamily="18" charset="0"/>
                                        </a:rPr>
                                        <m:t>0</m:t>
                                      </m:r>
                                    </m:e>
                                  </m:mr>
                                </m:m>
                              </m:e>
                              <m:e>
                                <m:m>
                                  <m:mPr>
                                    <m:mcs>
                                      <m:mc>
                                        <m:mcPr>
                                          <m:count m:val="2"/>
                                          <m:mcJc m:val="center"/>
                                        </m:mcPr>
                                      </m:mc>
                                    </m:mcs>
                                    <m:ctrlPr>
                                      <a:rPr lang="zh-CN" altLang="en-US" sz="1600" i="1">
                                        <a:latin typeface="Cambria Math" panose="02040503050406030204" pitchFamily="18" charset="0"/>
                                      </a:rPr>
                                    </m:ctrlPr>
                                  </m:mP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1">
                                              <a:latin typeface="Cambria Math" panose="02040503050406030204" pitchFamily="18" charset="0"/>
                                            </a:rPr>
                                            <m:t>𝑧</m:t>
                                          </m:r>
                                        </m:sub>
                                      </m:sSub>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𝑝</m:t>
                                          </m:r>
                                        </m:e>
                                        <m:sub>
                                          <m:r>
                                            <a:rPr lang="zh-CN" altLang="en-US" sz="1600" i="1">
                                              <a:latin typeface="Cambria Math" panose="02040503050406030204" pitchFamily="18" charset="0"/>
                                            </a:rPr>
                                            <m:t>𝑧</m:t>
                                          </m:r>
                                        </m:sub>
                                      </m:sSub>
                                    </m:e>
                                  </m:mr>
                                  <m:mr>
                                    <m:e>
                                      <m:r>
                                        <a:rPr lang="zh-CN" altLang="en-US" sz="1600" i="0">
                                          <a:latin typeface="Cambria Math" panose="02040503050406030204" pitchFamily="18" charset="0"/>
                                        </a:rPr>
                                        <m:t>0</m:t>
                                      </m:r>
                                    </m:e>
                                    <m:e>
                                      <m:r>
                                        <a:rPr lang="zh-CN" altLang="en-US" sz="1600" i="0">
                                          <a:latin typeface="Cambria Math" panose="02040503050406030204" pitchFamily="18" charset="0"/>
                                        </a:rPr>
                                        <m:t>1</m:t>
                                      </m:r>
                                    </m:e>
                                  </m:mr>
                                </m:m>
                              </m:e>
                            </m:mr>
                          </m:m>
                        </m:e>
                      </m:d>
                    </m:oMath>
                  </m:oMathPara>
                </a14:m>
                <a:endParaRPr lang="zh-CN" altLang="en-US" sz="1600" dirty="0"/>
              </a:p>
            </p:txBody>
          </p:sp>
        </mc:Choice>
        <mc:Fallback xmlns="">
          <p:sp>
            <p:nvSpPr>
              <p:cNvPr id="2" name="矩形 1"/>
              <p:cNvSpPr>
                <a:spLocks noRot="1" noChangeAspect="1" noMove="1" noResize="1" noEditPoints="1" noAdjustHandles="1" noChangeArrowheads="1" noChangeShapeType="1" noTextEdit="1"/>
              </p:cNvSpPr>
              <p:nvPr/>
            </p:nvSpPr>
            <p:spPr>
              <a:xfrm>
                <a:off x="1691680" y="845604"/>
                <a:ext cx="5598368" cy="999441"/>
              </a:xfrm>
              <a:prstGeom prst="rect">
                <a:avLst/>
              </a:prstGeom>
              <a:blipFill>
                <a:blip r:embed="rId3"/>
                <a:stretch>
                  <a:fillRect/>
                </a:stretch>
              </a:blipFill>
            </p:spPr>
            <p:txBody>
              <a:bodyPr/>
              <a:lstStyle/>
              <a:p>
                <a:r>
                  <a:rPr lang="zh-CN" altLang="en-US">
                    <a:noFill/>
                  </a:rPr>
                  <a:t> </a:t>
                </a:r>
              </a:p>
            </p:txBody>
          </p:sp>
        </mc:Fallback>
      </mc:AlternateContent>
      <p:sp>
        <p:nvSpPr>
          <p:cNvPr id="21542" name="矩形 21541"/>
          <p:cNvSpPr/>
          <p:nvPr/>
        </p:nvSpPr>
        <p:spPr>
          <a:xfrm>
            <a:off x="2483768" y="1892087"/>
            <a:ext cx="4564916" cy="338554"/>
          </a:xfrm>
          <a:prstGeom prst="rect">
            <a:avLst/>
          </a:prstGeom>
        </p:spPr>
        <p:txBody>
          <a:bodyPr wrap="square">
            <a:spAutoFit/>
          </a:bodyPr>
          <a:lstStyle/>
          <a:p>
            <a:r>
              <a:rPr lang="zh-CN" altLang="en-US" sz="1600" b="1" dirty="0">
                <a:solidFill>
                  <a:srgbClr val="002060"/>
                </a:solidFill>
              </a:rPr>
              <a:t>等式右边位姿矩阵已知，求等式左边的关节变量</a:t>
            </a:r>
          </a:p>
        </p:txBody>
      </p:sp>
      <mc:AlternateContent xmlns:mc="http://schemas.openxmlformats.org/markup-compatibility/2006" xmlns:a14="http://schemas.microsoft.com/office/drawing/2010/main">
        <mc:Choice Requires="a14">
          <p:sp>
            <p:nvSpPr>
              <p:cNvPr id="3" name="矩形 2"/>
              <p:cNvSpPr/>
              <p:nvPr/>
            </p:nvSpPr>
            <p:spPr>
              <a:xfrm>
                <a:off x="3049769" y="2608422"/>
                <a:ext cx="3998915" cy="358368"/>
              </a:xfrm>
              <a:prstGeom prst="rect">
                <a:avLst/>
              </a:prstGeom>
            </p:spPr>
            <p:txBody>
              <a:bodyPr wrap="none">
                <a:spAutoFit/>
              </a:bodyPr>
              <a:lstStyle/>
              <a:p>
                <a14:m>
                  <m:oMath xmlns:m="http://schemas.openxmlformats.org/officeDocument/2006/math">
                    <m:sSub>
                      <m:sSubPr>
                        <m:ctrlPr>
                          <a:rPr lang="zh-CN" altLang="zh-CN" sz="1600" i="1">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𝑇</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𝑖𝑗</m:t>
                        </m:r>
                      </m:sub>
                    </m:sSub>
                    <m:d>
                      <m:dPr>
                        <m:ctrlPr>
                          <a:rPr lang="zh-CN" altLang="zh-CN" sz="1600" i="1">
                            <a:effectLst/>
                            <a:latin typeface="Cambria Math" panose="02040503050406030204" pitchFamily="18" charset="0"/>
                            <a:ea typeface="Cambria Math" panose="02040503050406030204" pitchFamily="18" charset="0"/>
                          </a:rPr>
                        </m:ctrlPr>
                      </m:dPr>
                      <m:e>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sub>
                        </m:sSub>
                      </m:e>
                    </m:d>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h</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𝑖𝑗</m:t>
                        </m:r>
                        <m:r>
                          <a:rPr lang="en-US" altLang="zh-CN" sz="1600" i="1">
                            <a:latin typeface="Cambria Math" panose="02040503050406030204" pitchFamily="18" charset="0"/>
                            <a:ea typeface="等线" panose="02010600030101010101" pitchFamily="2" charset="-122"/>
                            <a:cs typeface="Times New Roman" panose="02020603050405020304" pitchFamily="18" charset="0"/>
                          </a:rPr>
                          <m:t> </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  </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𝑖</m:t>
                    </m:r>
                    <m:r>
                      <a:rPr lang="en-US" altLang="zh-CN" sz="1600" i="1">
                        <a:latin typeface="Cambria Math" panose="02040503050406030204" pitchFamily="18" charset="0"/>
                        <a:ea typeface="等线" panose="02010600030101010101" pitchFamily="2" charset="-122"/>
                        <a:cs typeface="Times New Roman" panose="02020603050405020304" pitchFamily="18" charset="0"/>
                      </a:rPr>
                      <m:t>=1,2,3,   </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𝑗</m:t>
                    </m:r>
                    <m:r>
                      <a:rPr lang="en-US" altLang="zh-CN" sz="1600" i="1">
                        <a:latin typeface="Cambria Math" panose="02040503050406030204" pitchFamily="18" charset="0"/>
                        <a:ea typeface="等线" panose="02010600030101010101" pitchFamily="2" charset="-122"/>
                        <a:cs typeface="Times New Roman" panose="02020603050405020304" pitchFamily="18" charset="0"/>
                      </a:rPr>
                      <m:t>=1,2,3,4</m:t>
                    </m:r>
                  </m:oMath>
                </a14:m>
                <a:r>
                  <a:rPr lang="en-US" altLang="zh-CN" sz="1600" dirty="0">
                    <a:latin typeface="等线" panose="02010600030101010101" pitchFamily="2" charset="-122"/>
                    <a:cs typeface="Times New Roman" panose="02020603050405020304" pitchFamily="18" charset="0"/>
                  </a:rPr>
                  <a:t> </a:t>
                </a:r>
                <a:endParaRPr lang="zh-CN" altLang="en-US" sz="1600" dirty="0"/>
              </a:p>
            </p:txBody>
          </p:sp>
        </mc:Choice>
        <mc:Fallback xmlns="">
          <p:sp>
            <p:nvSpPr>
              <p:cNvPr id="3" name="矩形 2"/>
              <p:cNvSpPr>
                <a:spLocks noRot="1" noChangeAspect="1" noMove="1" noResize="1" noEditPoints="1" noAdjustHandles="1" noChangeArrowheads="1" noChangeShapeType="1" noTextEdit="1"/>
              </p:cNvSpPr>
              <p:nvPr/>
            </p:nvSpPr>
            <p:spPr>
              <a:xfrm>
                <a:off x="3049769" y="2608422"/>
                <a:ext cx="3998915" cy="358368"/>
              </a:xfrm>
              <a:prstGeom prst="rect">
                <a:avLst/>
              </a:prstGeom>
              <a:blipFill>
                <a:blip r:embed="rId4"/>
                <a:stretch>
                  <a:fillRect b="-6780"/>
                </a:stretch>
              </a:blipFill>
            </p:spPr>
            <p:txBody>
              <a:bodyPr/>
              <a:lstStyle/>
              <a:p>
                <a:r>
                  <a:rPr lang="zh-CN" altLang="en-US">
                    <a:noFill/>
                  </a:rPr>
                  <a:t> </a:t>
                </a:r>
              </a:p>
            </p:txBody>
          </p:sp>
        </mc:Fallback>
      </mc:AlternateContent>
      <p:sp>
        <p:nvSpPr>
          <p:cNvPr id="8" name="右箭头 7"/>
          <p:cNvSpPr/>
          <p:nvPr/>
        </p:nvSpPr>
        <p:spPr>
          <a:xfrm rot="5400000">
            <a:off x="4519101" y="2269480"/>
            <a:ext cx="432048" cy="2691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9" name="矩形 8"/>
              <p:cNvSpPr/>
              <p:nvPr/>
            </p:nvSpPr>
            <p:spPr>
              <a:xfrm>
                <a:off x="3869599" y="3035685"/>
                <a:ext cx="3386183" cy="338554"/>
              </a:xfrm>
              <a:prstGeom prst="rect">
                <a:avLst/>
              </a:prstGeom>
            </p:spPr>
            <p:txBody>
              <a:bodyPr wrap="none">
                <a:spAutoFit/>
              </a:bodyPr>
              <a:lstStyle/>
              <a:p>
                <a:r>
                  <a:rPr lang="zh-CN" altLang="zh-CN" sz="1600" dirty="0"/>
                  <a:t>包含</a:t>
                </a:r>
                <a14:m>
                  <m:oMath xmlns:m="http://schemas.openxmlformats.org/officeDocument/2006/math">
                    <m:r>
                      <a:rPr lang="en-US" altLang="zh-CN" sz="1600" i="1">
                        <a:latin typeface="Cambria Math" panose="02040503050406030204" pitchFamily="18" charset="0"/>
                      </a:rPr>
                      <m:t>𝑛</m:t>
                    </m:r>
                  </m:oMath>
                </a14:m>
                <a:r>
                  <a:rPr lang="zh-CN" altLang="zh-CN" sz="1600" dirty="0"/>
                  <a:t>个未知变量的</a:t>
                </a:r>
                <a:r>
                  <a:rPr lang="en-US" altLang="zh-CN" sz="1600" dirty="0"/>
                  <a:t>12</a:t>
                </a:r>
                <a:r>
                  <a:rPr lang="zh-CN" altLang="zh-CN" sz="1600" dirty="0"/>
                  <a:t>个非线性方程</a:t>
                </a:r>
                <a:endParaRPr lang="zh-CN" altLang="en-US" sz="1600" dirty="0"/>
              </a:p>
            </p:txBody>
          </p:sp>
        </mc:Choice>
        <mc:Fallback xmlns="">
          <p:sp>
            <p:nvSpPr>
              <p:cNvPr id="9" name="矩形 8"/>
              <p:cNvSpPr>
                <a:spLocks noRot="1" noChangeAspect="1" noMove="1" noResize="1" noEditPoints="1" noAdjustHandles="1" noChangeArrowheads="1" noChangeShapeType="1" noTextEdit="1"/>
              </p:cNvSpPr>
              <p:nvPr/>
            </p:nvSpPr>
            <p:spPr>
              <a:xfrm>
                <a:off x="3869599" y="3035685"/>
                <a:ext cx="3386183" cy="338554"/>
              </a:xfrm>
              <a:prstGeom prst="rect">
                <a:avLst/>
              </a:prstGeom>
              <a:blipFill>
                <a:blip r:embed="rId5"/>
                <a:stretch>
                  <a:fillRect l="-1081" t="-8929" b="-23214"/>
                </a:stretch>
              </a:blipFill>
            </p:spPr>
            <p:txBody>
              <a:bodyPr/>
              <a:lstStyle/>
              <a:p>
                <a:r>
                  <a:rPr lang="zh-CN" altLang="en-US">
                    <a:noFill/>
                  </a:rPr>
                  <a:t> </a:t>
                </a:r>
              </a:p>
            </p:txBody>
          </p:sp>
        </mc:Fallback>
      </mc:AlternateContent>
      <p:sp>
        <p:nvSpPr>
          <p:cNvPr id="10" name="矩形 9"/>
          <p:cNvSpPr/>
          <p:nvPr/>
        </p:nvSpPr>
        <p:spPr>
          <a:xfrm>
            <a:off x="3469495" y="3647882"/>
            <a:ext cx="2262158" cy="369332"/>
          </a:xfrm>
          <a:prstGeom prst="rect">
            <a:avLst/>
          </a:prstGeom>
        </p:spPr>
        <p:txBody>
          <a:bodyPr wrap="none">
            <a:spAutoFit/>
          </a:bodyPr>
          <a:lstStyle/>
          <a:p>
            <a:r>
              <a:rPr lang="zh-CN" altLang="zh-CN" b="1" dirty="0">
                <a:solidFill>
                  <a:srgbClr val="FF0000"/>
                </a:solidFill>
                <a:ea typeface="等线" panose="02010600030101010101" pitchFamily="2" charset="-122"/>
                <a:cs typeface="Times New Roman" panose="02020603050405020304" pitchFamily="18" charset="0"/>
              </a:rPr>
              <a:t>非线性的超越方程组</a:t>
            </a:r>
            <a:endParaRPr lang="zh-CN" altLang="en-US" b="1" dirty="0">
              <a:solidFill>
                <a:srgbClr val="FF0000"/>
              </a:solidFill>
            </a:endParaRPr>
          </a:p>
        </p:txBody>
      </p:sp>
      <p:sp>
        <p:nvSpPr>
          <p:cNvPr id="11" name="矩形 10"/>
          <p:cNvSpPr/>
          <p:nvPr/>
        </p:nvSpPr>
        <p:spPr>
          <a:xfrm>
            <a:off x="2060895" y="4179283"/>
            <a:ext cx="5823474" cy="523220"/>
          </a:xfrm>
          <a:prstGeom prst="rect">
            <a:avLst/>
          </a:prstGeom>
        </p:spPr>
        <p:txBody>
          <a:bodyPr wrap="square">
            <a:spAutoFit/>
          </a:bodyPr>
          <a:lstStyle/>
          <a:p>
            <a:r>
              <a:rPr lang="zh-CN" altLang="en-US" sz="1400" dirty="0"/>
              <a:t>𝑛=6，则未知变量有6个，12个方程中，和姿态关联的9个方程中只有3个是独立的，和位置关联的3个方程独立，由6个独立方程求解6个</a:t>
            </a:r>
            <a:r>
              <a:rPr lang="zh-CN" altLang="en-US" sz="1400" dirty="0" smtClean="0"/>
              <a:t>未知数</a:t>
            </a:r>
            <a:r>
              <a:rPr lang="zh-CN" altLang="en-US" sz="1400" dirty="0"/>
              <a:t>。</a:t>
            </a:r>
          </a:p>
        </p:txBody>
      </p:sp>
    </p:spTree>
    <p:extLst>
      <p:ext uri="{BB962C8B-B14F-4D97-AF65-F5344CB8AC3E}">
        <p14:creationId xmlns:p14="http://schemas.microsoft.com/office/powerpoint/2010/main" val="406255458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Inverse Kinematics of 6R </a:t>
              </a:r>
              <a:r>
                <a:rPr lang="en-US" altLang="zh-CN" sz="1000" dirty="0">
                  <a:latin typeface="Arial" panose="020B0604020202020204" pitchFamily="34" charset="0"/>
                  <a:ea typeface="微软雅黑" panose="020B0503020204020204" charset="-122"/>
                  <a:sym typeface="+mn-ea"/>
                </a:rPr>
                <a:t>S</a:t>
              </a:r>
              <a:r>
                <a:rPr lang="en-US" altLang="zh-CN" sz="1000" dirty="0" smtClean="0">
                  <a:latin typeface="Arial" panose="020B0604020202020204" pitchFamily="34" charset="0"/>
                  <a:ea typeface="微软雅黑" panose="020B0503020204020204" charset="-122"/>
                  <a:sym typeface="+mn-ea"/>
                </a:rPr>
                <a:t>erial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6R</a:t>
              </a:r>
              <a:r>
                <a:rPr lang="zh-CN" altLang="en-US" sz="2000" b="1" dirty="0">
                  <a:latin typeface="Arial" panose="020B0604020202020204" pitchFamily="34" charset="0"/>
                  <a:ea typeface="微软雅黑" panose="020B0503020204020204" charset="-122"/>
                  <a:sym typeface="+mn-ea"/>
                </a:rPr>
                <a:t>串联机器人逆运动学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p:nvSpPr>
        <p:spPr>
          <a:xfrm>
            <a:off x="2915816" y="925949"/>
            <a:ext cx="4645824" cy="400110"/>
          </a:xfrm>
          <a:prstGeom prst="rect">
            <a:avLst/>
          </a:prstGeom>
        </p:spPr>
        <p:txBody>
          <a:bodyPr wrap="none">
            <a:spAutoFit/>
          </a:bodyPr>
          <a:lstStyle/>
          <a:p>
            <a:r>
              <a:rPr lang="zh-CN" altLang="en-US" sz="2000" b="1" dirty="0">
                <a:solidFill>
                  <a:srgbClr val="002060"/>
                </a:solidFill>
              </a:rPr>
              <a:t>满足Pieper准则的解析解求</a:t>
            </a:r>
            <a:r>
              <a:rPr lang="zh-CN" altLang="en-US" sz="2000" b="1" dirty="0" smtClean="0">
                <a:solidFill>
                  <a:srgbClr val="002060"/>
                </a:solidFill>
              </a:rPr>
              <a:t>法</a:t>
            </a:r>
            <a:r>
              <a:rPr lang="en-US" altLang="zh-CN" sz="2000" b="1" dirty="0" smtClean="0">
                <a:solidFill>
                  <a:srgbClr val="002060"/>
                </a:solidFill>
              </a:rPr>
              <a:t>(</a:t>
            </a:r>
            <a:r>
              <a:rPr lang="zh-CN" altLang="en-US" sz="2000" b="1" dirty="0" smtClean="0">
                <a:solidFill>
                  <a:srgbClr val="002060"/>
                </a:solidFill>
              </a:rPr>
              <a:t>实例讲解</a:t>
            </a:r>
            <a:r>
              <a:rPr lang="en-US" altLang="zh-CN" sz="2000" b="1" dirty="0" smtClean="0">
                <a:solidFill>
                  <a:srgbClr val="002060"/>
                </a:solidFill>
              </a:rPr>
              <a:t>)</a:t>
            </a:r>
            <a:endParaRPr lang="zh-CN" altLang="en-US" sz="2000" b="1" dirty="0">
              <a:solidFill>
                <a:srgbClr val="002060"/>
              </a:solidFill>
            </a:endParaRPr>
          </a:p>
        </p:txBody>
      </p:sp>
      <p:pic>
        <p:nvPicPr>
          <p:cNvPr id="14" name="图片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1305" y="1347614"/>
            <a:ext cx="3240360" cy="2667453"/>
          </a:xfrm>
          <a:prstGeom prst="rect">
            <a:avLst/>
          </a:prstGeom>
        </p:spPr>
      </p:pic>
      <p:graphicFrame>
        <p:nvGraphicFramePr>
          <p:cNvPr id="15" name="对象 14"/>
          <p:cNvGraphicFramePr>
            <a:graphicFrameLocks noChangeAspect="1"/>
          </p:cNvGraphicFramePr>
          <p:nvPr>
            <p:extLst>
              <p:ext uri="{D42A27DB-BD31-4B8C-83A1-F6EECF244321}">
                <p14:modId xmlns:p14="http://schemas.microsoft.com/office/powerpoint/2010/main" val="1006087622"/>
              </p:ext>
            </p:extLst>
          </p:nvPr>
        </p:nvGraphicFramePr>
        <p:xfrm>
          <a:off x="3521665" y="1329415"/>
          <a:ext cx="4506719" cy="2696244"/>
        </p:xfrm>
        <a:graphic>
          <a:graphicData uri="http://schemas.openxmlformats.org/presentationml/2006/ole">
            <mc:AlternateContent xmlns:mc="http://schemas.openxmlformats.org/markup-compatibility/2006">
              <mc:Choice xmlns:v="urn:schemas-microsoft-com:vml" Requires="v">
                <p:oleObj spid="_x0000_s22606" name="Visio" r:id="rId5" imgW="6447330" imgH="3857086" progId="Visio.Drawing.11">
                  <p:embed/>
                </p:oleObj>
              </mc:Choice>
              <mc:Fallback>
                <p:oleObj name="Visio" r:id="rId5" imgW="6447330" imgH="3857086" progId="Visio.Drawing.11">
                  <p:embed/>
                  <p:pic>
                    <p:nvPicPr>
                      <p:cNvPr id="9" name="对象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21665" y="1329415"/>
                        <a:ext cx="4506719" cy="2696244"/>
                      </a:xfrm>
                      <a:prstGeom prst="rect">
                        <a:avLst/>
                      </a:prstGeom>
                      <a:noFill/>
                    </p:spPr>
                  </p:pic>
                </p:oleObj>
              </mc:Fallback>
            </mc:AlternateContent>
          </a:graphicData>
        </a:graphic>
      </p:graphicFrame>
      <p:sp>
        <p:nvSpPr>
          <p:cNvPr id="13" name="文本框 12"/>
          <p:cNvSpPr txBox="1"/>
          <p:nvPr/>
        </p:nvSpPr>
        <p:spPr>
          <a:xfrm>
            <a:off x="3230971" y="4027281"/>
            <a:ext cx="2255746" cy="338554"/>
          </a:xfrm>
          <a:prstGeom prst="rect">
            <a:avLst/>
          </a:prstGeom>
          <a:noFill/>
        </p:spPr>
        <p:txBody>
          <a:bodyPr wrap="none" rtlCol="0">
            <a:spAutoFit/>
          </a:bodyPr>
          <a:lstStyle/>
          <a:p>
            <a:r>
              <a:rPr lang="en-US" altLang="zh-CN" sz="1600" dirty="0" smtClean="0"/>
              <a:t>MDH</a:t>
            </a:r>
            <a:r>
              <a:rPr lang="zh-CN" altLang="en-US" sz="1600" dirty="0" smtClean="0"/>
              <a:t>参数表前面已分析</a:t>
            </a:r>
            <a:endParaRPr lang="zh-CN" altLang="en-US" sz="1600" dirty="0"/>
          </a:p>
        </p:txBody>
      </p:sp>
      <p:sp>
        <p:nvSpPr>
          <p:cNvPr id="16" name="矩形 15"/>
          <p:cNvSpPr/>
          <p:nvPr/>
        </p:nvSpPr>
        <p:spPr>
          <a:xfrm>
            <a:off x="1242806" y="4383757"/>
            <a:ext cx="6768752" cy="523220"/>
          </a:xfrm>
          <a:prstGeom prst="rect">
            <a:avLst/>
          </a:prstGeom>
        </p:spPr>
        <p:txBody>
          <a:bodyPr wrap="square">
            <a:spAutoFit/>
          </a:bodyPr>
          <a:lstStyle/>
          <a:p>
            <a:r>
              <a:rPr lang="zh-CN" altLang="en-US" sz="1400" b="1" dirty="0">
                <a:solidFill>
                  <a:srgbClr val="002060"/>
                </a:solidFill>
              </a:rPr>
              <a:t>该机器人肩部、肘部与第一个腕关节，也就是第2、3、4这三个相邻关节互相平行,满足Pieper准则，具有可解出封闭解（指解析法、几何法能解出的精确解）的充分条件</a:t>
            </a:r>
          </a:p>
        </p:txBody>
      </p:sp>
    </p:spTree>
    <p:extLst>
      <p:ext uri="{BB962C8B-B14F-4D97-AF65-F5344CB8AC3E}">
        <p14:creationId xmlns:p14="http://schemas.microsoft.com/office/powerpoint/2010/main" val="267162500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Inverse Kinematics of 6R </a:t>
              </a:r>
              <a:r>
                <a:rPr lang="en-US" altLang="zh-CN" sz="1000" dirty="0">
                  <a:latin typeface="Arial" panose="020B0604020202020204" pitchFamily="34" charset="0"/>
                  <a:ea typeface="微软雅黑" panose="020B0503020204020204" charset="-122"/>
                  <a:sym typeface="+mn-ea"/>
                </a:rPr>
                <a:t>S</a:t>
              </a:r>
              <a:r>
                <a:rPr lang="en-US" altLang="zh-CN" sz="1000" dirty="0" smtClean="0">
                  <a:latin typeface="Arial" panose="020B0604020202020204" pitchFamily="34" charset="0"/>
                  <a:ea typeface="微软雅黑" panose="020B0503020204020204" charset="-122"/>
                  <a:sym typeface="+mn-ea"/>
                </a:rPr>
                <a:t>erial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6R</a:t>
              </a:r>
              <a:r>
                <a:rPr lang="zh-CN" altLang="en-US" sz="2000" b="1" dirty="0">
                  <a:latin typeface="Arial" panose="020B0604020202020204" pitchFamily="34" charset="0"/>
                  <a:ea typeface="微软雅黑" panose="020B0503020204020204" charset="-122"/>
                  <a:sym typeface="+mn-ea"/>
                </a:rPr>
                <a:t>串联机器人逆运动学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p:nvSpPr>
        <p:spPr>
          <a:xfrm>
            <a:off x="2178137" y="882209"/>
            <a:ext cx="4999115" cy="400110"/>
          </a:xfrm>
          <a:prstGeom prst="rect">
            <a:avLst/>
          </a:prstGeom>
        </p:spPr>
        <p:txBody>
          <a:bodyPr wrap="square">
            <a:spAutoFit/>
          </a:bodyPr>
          <a:lstStyle/>
          <a:p>
            <a:r>
              <a:rPr lang="zh-CN" altLang="en-US" sz="2000" b="1" dirty="0">
                <a:solidFill>
                  <a:srgbClr val="002060"/>
                </a:solidFill>
              </a:rPr>
              <a:t>满足Pieper准则的解析解求</a:t>
            </a:r>
            <a:r>
              <a:rPr lang="zh-CN" altLang="en-US" sz="2000" b="1" dirty="0" smtClean="0">
                <a:solidFill>
                  <a:srgbClr val="002060"/>
                </a:solidFill>
              </a:rPr>
              <a:t>法</a:t>
            </a:r>
            <a:r>
              <a:rPr lang="en-US" altLang="zh-CN" sz="2000" b="1" dirty="0">
                <a:solidFill>
                  <a:srgbClr val="002060"/>
                </a:solidFill>
              </a:rPr>
              <a:t>(</a:t>
            </a:r>
            <a:r>
              <a:rPr lang="zh-CN" altLang="en-US" sz="2000" b="1" dirty="0">
                <a:solidFill>
                  <a:srgbClr val="002060"/>
                </a:solidFill>
              </a:rPr>
              <a:t>实例讲解</a:t>
            </a:r>
            <a:r>
              <a:rPr lang="en-US" altLang="zh-CN" sz="2000" b="1" dirty="0" smtClean="0">
                <a:solidFill>
                  <a:srgbClr val="002060"/>
                </a:solidFill>
              </a:rPr>
              <a:t>)</a:t>
            </a:r>
            <a:endParaRPr lang="zh-CN" altLang="en-US" sz="2000" b="1" dirty="0">
              <a:solidFill>
                <a:srgbClr val="002060"/>
              </a:solidFill>
            </a:endParaRPr>
          </a:p>
        </p:txBody>
      </p:sp>
      <mc:AlternateContent xmlns:mc="http://schemas.openxmlformats.org/markup-compatibility/2006" xmlns:a14="http://schemas.microsoft.com/office/drawing/2010/main">
        <mc:Choice Requires="a14">
          <p:sp>
            <p:nvSpPr>
              <p:cNvPr id="8" name="矩形 7"/>
              <p:cNvSpPr/>
              <p:nvPr/>
            </p:nvSpPr>
            <p:spPr>
              <a:xfrm>
                <a:off x="3050647" y="2182658"/>
                <a:ext cx="3254096" cy="338554"/>
              </a:xfrm>
              <a:prstGeom prst="rect">
                <a:avLst/>
              </a:prstGeom>
            </p:spPr>
            <p:txBody>
              <a:bodyPr wrap="none">
                <a:spAutoFit/>
              </a:bodyPr>
              <a:lstStyle/>
              <a:p>
                <a:r>
                  <a:rPr lang="zh-CN" altLang="zh-CN" sz="1600" dirty="0">
                    <a:ea typeface="等线" panose="02010600030101010101" pitchFamily="2" charset="-122"/>
                    <a:cs typeface="Times New Roman" panose="02020603050405020304" pitchFamily="18" charset="0"/>
                  </a:rPr>
                  <a:t>将</a:t>
                </a:r>
                <a:r>
                  <a:rPr lang="en-US" altLang="zh-CN" sz="1600" dirty="0">
                    <a:ea typeface="等线" panose="02010600030101010101" pitchFamily="2" charset="-122"/>
                    <a:cs typeface="Times New Roman" panose="02020603050405020304" pitchFamily="18" charset="0"/>
                  </a:rPr>
                  <a:t>MDH</a:t>
                </a:r>
                <a:r>
                  <a:rPr lang="zh-CN" altLang="zh-CN" sz="1600" dirty="0">
                    <a:ea typeface="等线" panose="02010600030101010101" pitchFamily="2" charset="-122"/>
                    <a:cs typeface="Times New Roman" panose="02020603050405020304" pitchFamily="18" charset="0"/>
                  </a:rPr>
                  <a:t>参数代入</a:t>
                </a:r>
                <a:r>
                  <a:rPr lang="en-US" altLang="zh-CN" sz="1600" dirty="0">
                    <a:ea typeface="等线" panose="02010600030101010101" pitchFamily="2" charset="-122"/>
                    <a:cs typeface="Times New Roman" panose="02020603050405020304" pitchFamily="18" charset="0"/>
                  </a:rPr>
                  <a:t>,</a:t>
                </a:r>
                <a:r>
                  <a:rPr lang="zh-CN" altLang="zh-CN" sz="1600" dirty="0">
                    <a:ea typeface="等线" panose="02010600030101010101" pitchFamily="2" charset="-122"/>
                    <a:cs typeface="Times New Roman" panose="02020603050405020304" pitchFamily="18" charset="0"/>
                  </a:rPr>
                  <a:t>求出六个</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𝑇</m:t>
                    </m:r>
                  </m:oMath>
                </a14:m>
                <a:r>
                  <a:rPr lang="zh-CN" altLang="zh-CN" sz="1600" dirty="0">
                    <a:ea typeface="等线" panose="02010600030101010101" pitchFamily="2" charset="-122"/>
                    <a:cs typeface="Times New Roman" panose="02020603050405020304" pitchFamily="18" charset="0"/>
                  </a:rPr>
                  <a:t>矩阵：</a:t>
                </a:r>
                <a:endParaRPr lang="zh-CN" altLang="en-US" sz="1600" dirty="0"/>
              </a:p>
            </p:txBody>
          </p:sp>
        </mc:Choice>
        <mc:Fallback xmlns="">
          <p:sp>
            <p:nvSpPr>
              <p:cNvPr id="8" name="矩形 7"/>
              <p:cNvSpPr>
                <a:spLocks noRot="1" noChangeAspect="1" noMove="1" noResize="1" noEditPoints="1" noAdjustHandles="1" noChangeArrowheads="1" noChangeShapeType="1" noTextEdit="1"/>
              </p:cNvSpPr>
              <p:nvPr/>
            </p:nvSpPr>
            <p:spPr>
              <a:xfrm>
                <a:off x="3050647" y="2182658"/>
                <a:ext cx="3254096" cy="338554"/>
              </a:xfrm>
              <a:prstGeom prst="rect">
                <a:avLst/>
              </a:prstGeom>
              <a:blipFill>
                <a:blip r:embed="rId6"/>
                <a:stretch>
                  <a:fillRect l="-936" t="-5357" b="-2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2228826" y="2643758"/>
                <a:ext cx="2184316" cy="6671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000" b="1" i="1" smtClean="0">
                              <a:solidFill>
                                <a:srgbClr val="002060"/>
                              </a:solidFill>
                              <a:latin typeface="Cambria Math" panose="02040503050406030204" pitchFamily="18" charset="0"/>
                            </a:rPr>
                          </m:ctrlPr>
                        </m:sSubPr>
                        <m:e>
                          <m:sPre>
                            <m:sPrePr>
                              <m:ctrlPr>
                                <a:rPr lang="zh-CN" altLang="en-US" sz="1000" b="1" i="1">
                                  <a:solidFill>
                                    <a:srgbClr val="002060"/>
                                  </a:solidFill>
                                  <a:latin typeface="Cambria Math" panose="02040503050406030204" pitchFamily="18" charset="0"/>
                                </a:rPr>
                              </m:ctrlPr>
                            </m:sPrePr>
                            <m:sub/>
                            <m:sup>
                              <m:r>
                                <a:rPr lang="zh-CN" altLang="en-US" sz="1000" b="1" i="0">
                                  <a:solidFill>
                                    <a:srgbClr val="002060"/>
                                  </a:solidFill>
                                  <a:latin typeface="Cambria Math" panose="02040503050406030204" pitchFamily="18" charset="0"/>
                                </a:rPr>
                                <m:t>𝟎</m:t>
                              </m:r>
                            </m:sup>
                            <m:e>
                              <m:r>
                                <a:rPr lang="zh-CN" altLang="en-US" sz="1000" b="1" i="1">
                                  <a:solidFill>
                                    <a:srgbClr val="002060"/>
                                  </a:solidFill>
                                  <a:latin typeface="Cambria Math" panose="02040503050406030204" pitchFamily="18" charset="0"/>
                                </a:rPr>
                                <m:t>𝑻</m:t>
                              </m:r>
                            </m:e>
                          </m:sPre>
                        </m:e>
                        <m:sub>
                          <m:r>
                            <a:rPr lang="zh-CN" altLang="en-US" sz="1000" b="1" i="0">
                              <a:solidFill>
                                <a:srgbClr val="002060"/>
                              </a:solidFill>
                              <a:latin typeface="Cambria Math" panose="02040503050406030204" pitchFamily="18" charset="0"/>
                            </a:rPr>
                            <m:t>𝟏</m:t>
                          </m:r>
                        </m:sub>
                      </m:sSub>
                      <m:r>
                        <a:rPr lang="zh-CN" altLang="en-US" sz="1000" b="1" i="0">
                          <a:solidFill>
                            <a:srgbClr val="002060"/>
                          </a:solidFill>
                          <a:latin typeface="Cambria Math" panose="02040503050406030204" pitchFamily="18" charset="0"/>
                        </a:rPr>
                        <m:t>=</m:t>
                      </m:r>
                      <m:d>
                        <m:dPr>
                          <m:ctrlPr>
                            <a:rPr lang="zh-CN" altLang="en-US" sz="1000" b="1" i="1">
                              <a:solidFill>
                                <a:srgbClr val="002060"/>
                              </a:solidFill>
                              <a:latin typeface="Cambria Math" panose="02040503050406030204" pitchFamily="18" charset="0"/>
                            </a:rPr>
                          </m:ctrlPr>
                        </m:dPr>
                        <m:e>
                          <m:m>
                            <m:mPr>
                              <m:mcs>
                                <m:mc>
                                  <m:mcPr>
                                    <m:count m:val="2"/>
                                    <m:mcJc m:val="center"/>
                                  </m:mcPr>
                                </m:mc>
                              </m:mcs>
                              <m:ctrlPr>
                                <a:rPr lang="zh-CN" altLang="en-US" sz="1000" b="1" i="1">
                                  <a:solidFill>
                                    <a:srgbClr val="002060"/>
                                  </a:solidFill>
                                  <a:latin typeface="Cambria Math" panose="02040503050406030204" pitchFamily="18" charset="0"/>
                                </a:rPr>
                              </m:ctrlPr>
                            </m:mPr>
                            <m:mr>
                              <m:e>
                                <m:m>
                                  <m:mPr>
                                    <m:mcs>
                                      <m:mc>
                                        <m:mcPr>
                                          <m:count m:val="2"/>
                                          <m:mcJc m:val="center"/>
                                        </m:mcPr>
                                      </m:mc>
                                    </m:mcs>
                                    <m:ctrlPr>
                                      <a:rPr lang="zh-CN" altLang="en-US" sz="1000" b="1" i="1">
                                        <a:solidFill>
                                          <a:srgbClr val="002060"/>
                                        </a:solidFill>
                                        <a:latin typeface="Cambria Math" panose="02040503050406030204" pitchFamily="18" charset="0"/>
                                      </a:rPr>
                                    </m:ctrlPr>
                                  </m:mPr>
                                  <m:mr>
                                    <m:e>
                                      <m:r>
                                        <a:rPr lang="zh-CN" altLang="en-US" sz="1000" b="1" i="1">
                                          <a:solidFill>
                                            <a:srgbClr val="002060"/>
                                          </a:solidFill>
                                          <a:latin typeface="Cambria Math" panose="02040503050406030204" pitchFamily="18" charset="0"/>
                                        </a:rPr>
                                        <m:t>𝒄𝒐𝒔</m:t>
                                      </m:r>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𝜽</m:t>
                                          </m:r>
                                        </m:e>
                                        <m:sub>
                                          <m:r>
                                            <a:rPr lang="zh-CN" altLang="en-US" sz="1000" b="1" i="0">
                                              <a:solidFill>
                                                <a:srgbClr val="002060"/>
                                              </a:solidFill>
                                              <a:latin typeface="Cambria Math" panose="02040503050406030204" pitchFamily="18" charset="0"/>
                                            </a:rPr>
                                            <m:t>𝟏</m:t>
                                          </m:r>
                                        </m:sub>
                                      </m:sSub>
                                    </m:e>
                                    <m:e>
                                      <m:r>
                                        <a:rPr lang="zh-CN" altLang="en-US" sz="1000" b="1" i="0">
                                          <a:solidFill>
                                            <a:srgbClr val="002060"/>
                                          </a:solidFill>
                                          <a:latin typeface="Cambria Math" panose="02040503050406030204" pitchFamily="18" charset="0"/>
                                        </a:rPr>
                                        <m:t>−</m:t>
                                      </m:r>
                                      <m:r>
                                        <a:rPr lang="zh-CN" altLang="en-US" sz="1000" b="1" i="1">
                                          <a:solidFill>
                                            <a:srgbClr val="002060"/>
                                          </a:solidFill>
                                          <a:latin typeface="Cambria Math" panose="02040503050406030204" pitchFamily="18" charset="0"/>
                                        </a:rPr>
                                        <m:t>𝒔𝒊𝒏</m:t>
                                      </m:r>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𝜽</m:t>
                                          </m:r>
                                        </m:e>
                                        <m:sub>
                                          <m:r>
                                            <a:rPr lang="zh-CN" altLang="en-US" sz="1000" b="1" i="0">
                                              <a:solidFill>
                                                <a:srgbClr val="002060"/>
                                              </a:solidFill>
                                              <a:latin typeface="Cambria Math" panose="02040503050406030204" pitchFamily="18" charset="0"/>
                                            </a:rPr>
                                            <m:t>𝟏</m:t>
                                          </m:r>
                                        </m:sub>
                                      </m:sSub>
                                    </m:e>
                                  </m:mr>
                                  <m:mr>
                                    <m:e>
                                      <m:r>
                                        <a:rPr lang="zh-CN" altLang="en-US" sz="1000" b="1" i="1">
                                          <a:solidFill>
                                            <a:srgbClr val="002060"/>
                                          </a:solidFill>
                                          <a:latin typeface="Cambria Math" panose="02040503050406030204" pitchFamily="18" charset="0"/>
                                        </a:rPr>
                                        <m:t>𝒔𝒊𝒏</m:t>
                                      </m:r>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𝜽</m:t>
                                          </m:r>
                                        </m:e>
                                        <m:sub>
                                          <m:r>
                                            <a:rPr lang="zh-CN" altLang="en-US" sz="1000" b="1" i="0">
                                              <a:solidFill>
                                                <a:srgbClr val="002060"/>
                                              </a:solidFill>
                                              <a:latin typeface="Cambria Math" panose="02040503050406030204" pitchFamily="18" charset="0"/>
                                            </a:rPr>
                                            <m:t>𝟏</m:t>
                                          </m:r>
                                        </m:sub>
                                      </m:sSub>
                                    </m:e>
                                    <m:e>
                                      <m:r>
                                        <a:rPr lang="zh-CN" altLang="en-US" sz="1000" b="1" i="1">
                                          <a:solidFill>
                                            <a:srgbClr val="002060"/>
                                          </a:solidFill>
                                          <a:latin typeface="Cambria Math" panose="02040503050406030204" pitchFamily="18" charset="0"/>
                                        </a:rPr>
                                        <m:t>𝒄𝒐𝒔</m:t>
                                      </m:r>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𝜽</m:t>
                                          </m:r>
                                        </m:e>
                                        <m:sub>
                                          <m:r>
                                            <a:rPr lang="zh-CN" altLang="en-US" sz="1000" b="1" i="0">
                                              <a:solidFill>
                                                <a:srgbClr val="002060"/>
                                              </a:solidFill>
                                              <a:latin typeface="Cambria Math" panose="02040503050406030204" pitchFamily="18" charset="0"/>
                                            </a:rPr>
                                            <m:t>𝟏</m:t>
                                          </m:r>
                                        </m:sub>
                                      </m:sSub>
                                    </m:e>
                                  </m:mr>
                                </m:m>
                              </m:e>
                              <m:e>
                                <m:m>
                                  <m:mPr>
                                    <m:mcs>
                                      <m:mc>
                                        <m:mcPr>
                                          <m:count m:val="2"/>
                                          <m:mcJc m:val="center"/>
                                        </m:mcPr>
                                      </m:mc>
                                    </m:mcs>
                                    <m:ctrlPr>
                                      <a:rPr lang="zh-CN" altLang="en-US" sz="1000" b="1" i="1">
                                        <a:solidFill>
                                          <a:srgbClr val="002060"/>
                                        </a:solidFill>
                                        <a:latin typeface="Cambria Math" panose="02040503050406030204" pitchFamily="18" charset="0"/>
                                      </a:rPr>
                                    </m:ctrlPr>
                                  </m:mP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𝟎</m:t>
                                      </m:r>
                                    </m:e>
                                  </m:m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𝟎</m:t>
                                      </m:r>
                                    </m:e>
                                  </m:mr>
                                </m:m>
                              </m:e>
                            </m:mr>
                            <m:mr>
                              <m:e>
                                <m:m>
                                  <m:mPr>
                                    <m:mcs>
                                      <m:mc>
                                        <m:mcPr>
                                          <m:count m:val="2"/>
                                          <m:mcJc m:val="center"/>
                                        </m:mcPr>
                                      </m:mc>
                                    </m:mcs>
                                    <m:ctrlPr>
                                      <a:rPr lang="zh-CN" altLang="en-US" sz="1000" b="1" i="1">
                                        <a:solidFill>
                                          <a:srgbClr val="002060"/>
                                        </a:solidFill>
                                        <a:latin typeface="Cambria Math" panose="02040503050406030204" pitchFamily="18" charset="0"/>
                                      </a:rPr>
                                    </m:ctrlPr>
                                  </m:mP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𝟎</m:t>
                                      </m:r>
                                    </m:e>
                                  </m:m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𝟎</m:t>
                                      </m:r>
                                    </m:e>
                                  </m:mr>
                                </m:m>
                              </m:e>
                              <m:e>
                                <m:m>
                                  <m:mPr>
                                    <m:mcs>
                                      <m:mc>
                                        <m:mcPr>
                                          <m:count m:val="2"/>
                                          <m:mcJc m:val="center"/>
                                        </m:mcPr>
                                      </m:mc>
                                    </m:mcs>
                                    <m:ctrlPr>
                                      <a:rPr lang="zh-CN" altLang="en-US" sz="1000" b="1" i="1">
                                        <a:solidFill>
                                          <a:srgbClr val="002060"/>
                                        </a:solidFill>
                                        <a:latin typeface="Cambria Math" panose="02040503050406030204" pitchFamily="18" charset="0"/>
                                      </a:rPr>
                                    </m:ctrlPr>
                                  </m:mPr>
                                  <m:mr>
                                    <m:e>
                                      <m:r>
                                        <a:rPr lang="zh-CN" altLang="en-US" sz="1000" b="1" i="0">
                                          <a:solidFill>
                                            <a:srgbClr val="002060"/>
                                          </a:solidFill>
                                          <a:latin typeface="Cambria Math" panose="02040503050406030204" pitchFamily="18" charset="0"/>
                                        </a:rPr>
                                        <m:t>𝟏</m:t>
                                      </m:r>
                                    </m:e>
                                    <m:e>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𝒅</m:t>
                                          </m:r>
                                        </m:e>
                                        <m:sub>
                                          <m:r>
                                            <a:rPr lang="zh-CN" altLang="en-US" sz="1000" b="1" i="0">
                                              <a:solidFill>
                                                <a:srgbClr val="002060"/>
                                              </a:solidFill>
                                              <a:latin typeface="Cambria Math" panose="02040503050406030204" pitchFamily="18" charset="0"/>
                                            </a:rPr>
                                            <m:t>𝟏</m:t>
                                          </m:r>
                                        </m:sub>
                                      </m:sSub>
                                    </m:e>
                                  </m:m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𝟏</m:t>
                                      </m:r>
                                    </m:e>
                                  </m:mr>
                                </m:m>
                              </m:e>
                            </m:mr>
                          </m:m>
                        </m:e>
                      </m:d>
                    </m:oMath>
                  </m:oMathPara>
                </a14:m>
                <a:endParaRPr lang="zh-CN" altLang="en-US" sz="1000" b="1" dirty="0">
                  <a:solidFill>
                    <a:srgbClr val="002060"/>
                  </a:solidFill>
                </a:endParaRPr>
              </a:p>
            </p:txBody>
          </p:sp>
        </mc:Choice>
        <mc:Fallback xmlns="">
          <p:sp>
            <p:nvSpPr>
              <p:cNvPr id="9" name="矩形 8"/>
              <p:cNvSpPr>
                <a:spLocks noRot="1" noChangeAspect="1" noMove="1" noResize="1" noEditPoints="1" noAdjustHandles="1" noChangeArrowheads="1" noChangeShapeType="1" noTextEdit="1"/>
              </p:cNvSpPr>
              <p:nvPr/>
            </p:nvSpPr>
            <p:spPr>
              <a:xfrm>
                <a:off x="2228826" y="2643758"/>
                <a:ext cx="2184316" cy="66717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2113297" y="3480553"/>
                <a:ext cx="2214261" cy="6671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000" b="1" i="1" smtClean="0">
                              <a:solidFill>
                                <a:srgbClr val="002060"/>
                              </a:solidFill>
                              <a:latin typeface="Cambria Math" panose="02040503050406030204" pitchFamily="18" charset="0"/>
                            </a:rPr>
                          </m:ctrlPr>
                        </m:sSubPr>
                        <m:e>
                          <m:sPre>
                            <m:sPrePr>
                              <m:ctrlPr>
                                <a:rPr lang="zh-CN" altLang="en-US" sz="1000" b="1" i="1">
                                  <a:solidFill>
                                    <a:srgbClr val="002060"/>
                                  </a:solidFill>
                                  <a:latin typeface="Cambria Math" panose="02040503050406030204" pitchFamily="18" charset="0"/>
                                </a:rPr>
                              </m:ctrlPr>
                            </m:sPrePr>
                            <m:sub/>
                            <m:sup>
                              <m:r>
                                <a:rPr lang="zh-CN" altLang="en-US" sz="1000" b="1" i="0">
                                  <a:solidFill>
                                    <a:srgbClr val="002060"/>
                                  </a:solidFill>
                                  <a:latin typeface="Cambria Math" panose="02040503050406030204" pitchFamily="18" charset="0"/>
                                </a:rPr>
                                <m:t>𝟏</m:t>
                              </m:r>
                            </m:sup>
                            <m:e>
                              <m:r>
                                <a:rPr lang="zh-CN" altLang="en-US" sz="1000" b="1" i="1">
                                  <a:solidFill>
                                    <a:srgbClr val="002060"/>
                                  </a:solidFill>
                                  <a:latin typeface="Cambria Math" panose="02040503050406030204" pitchFamily="18" charset="0"/>
                                </a:rPr>
                                <m:t>𝑻</m:t>
                              </m:r>
                            </m:e>
                          </m:sPre>
                        </m:e>
                        <m:sub>
                          <m:r>
                            <a:rPr lang="zh-CN" altLang="en-US" sz="1000" b="1" i="0">
                              <a:solidFill>
                                <a:srgbClr val="002060"/>
                              </a:solidFill>
                              <a:latin typeface="Cambria Math" panose="02040503050406030204" pitchFamily="18" charset="0"/>
                            </a:rPr>
                            <m:t>𝟐</m:t>
                          </m:r>
                        </m:sub>
                      </m:sSub>
                      <m:r>
                        <a:rPr lang="zh-CN" altLang="en-US" sz="1000" b="1" i="0">
                          <a:solidFill>
                            <a:srgbClr val="002060"/>
                          </a:solidFill>
                          <a:latin typeface="Cambria Math" panose="02040503050406030204" pitchFamily="18" charset="0"/>
                        </a:rPr>
                        <m:t>=</m:t>
                      </m:r>
                      <m:d>
                        <m:dPr>
                          <m:ctrlPr>
                            <a:rPr lang="zh-CN" altLang="en-US" sz="1000" b="1" i="1">
                              <a:solidFill>
                                <a:srgbClr val="002060"/>
                              </a:solidFill>
                              <a:latin typeface="Cambria Math" panose="02040503050406030204" pitchFamily="18" charset="0"/>
                            </a:rPr>
                          </m:ctrlPr>
                        </m:dPr>
                        <m:e>
                          <m:m>
                            <m:mPr>
                              <m:mcs>
                                <m:mc>
                                  <m:mcPr>
                                    <m:count m:val="2"/>
                                    <m:mcJc m:val="center"/>
                                  </m:mcPr>
                                </m:mc>
                              </m:mcs>
                              <m:ctrlPr>
                                <a:rPr lang="zh-CN" altLang="en-US" sz="1000" b="1" i="1">
                                  <a:solidFill>
                                    <a:srgbClr val="002060"/>
                                  </a:solidFill>
                                  <a:latin typeface="Cambria Math" panose="02040503050406030204" pitchFamily="18" charset="0"/>
                                </a:rPr>
                              </m:ctrlPr>
                            </m:mPr>
                            <m:mr>
                              <m:e>
                                <m:m>
                                  <m:mPr>
                                    <m:mcs>
                                      <m:mc>
                                        <m:mcPr>
                                          <m:count m:val="2"/>
                                          <m:mcJc m:val="center"/>
                                        </m:mcPr>
                                      </m:mc>
                                    </m:mcs>
                                    <m:ctrlPr>
                                      <a:rPr lang="zh-CN" altLang="en-US" sz="1000" b="1" i="1">
                                        <a:solidFill>
                                          <a:srgbClr val="002060"/>
                                        </a:solidFill>
                                        <a:latin typeface="Cambria Math" panose="02040503050406030204" pitchFamily="18" charset="0"/>
                                      </a:rPr>
                                    </m:ctrlPr>
                                  </m:mPr>
                                  <m:mr>
                                    <m:e>
                                      <m:r>
                                        <a:rPr lang="zh-CN" altLang="en-US" sz="1000" b="1" i="1">
                                          <a:solidFill>
                                            <a:srgbClr val="002060"/>
                                          </a:solidFill>
                                          <a:latin typeface="Cambria Math" panose="02040503050406030204" pitchFamily="18" charset="0"/>
                                        </a:rPr>
                                        <m:t>𝒄𝒐𝒔</m:t>
                                      </m:r>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𝜽</m:t>
                                          </m:r>
                                        </m:e>
                                        <m:sub>
                                          <m:r>
                                            <a:rPr lang="zh-CN" altLang="en-US" sz="1000" b="1" i="0">
                                              <a:solidFill>
                                                <a:srgbClr val="002060"/>
                                              </a:solidFill>
                                              <a:latin typeface="Cambria Math" panose="02040503050406030204" pitchFamily="18" charset="0"/>
                                            </a:rPr>
                                            <m:t>𝟐</m:t>
                                          </m:r>
                                        </m:sub>
                                      </m:sSub>
                                    </m:e>
                                    <m:e>
                                      <m:r>
                                        <a:rPr lang="zh-CN" altLang="en-US" sz="1000" b="1" i="0">
                                          <a:solidFill>
                                            <a:srgbClr val="002060"/>
                                          </a:solidFill>
                                          <a:latin typeface="Cambria Math" panose="02040503050406030204" pitchFamily="18" charset="0"/>
                                        </a:rPr>
                                        <m:t>−</m:t>
                                      </m:r>
                                      <m:r>
                                        <a:rPr lang="zh-CN" altLang="en-US" sz="1000" b="1" i="1">
                                          <a:solidFill>
                                            <a:srgbClr val="002060"/>
                                          </a:solidFill>
                                          <a:latin typeface="Cambria Math" panose="02040503050406030204" pitchFamily="18" charset="0"/>
                                        </a:rPr>
                                        <m:t>𝒔𝒊𝒏</m:t>
                                      </m:r>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𝜽</m:t>
                                          </m:r>
                                        </m:e>
                                        <m:sub>
                                          <m:r>
                                            <a:rPr lang="zh-CN" altLang="en-US" sz="1000" b="1" i="0">
                                              <a:solidFill>
                                                <a:srgbClr val="002060"/>
                                              </a:solidFill>
                                              <a:latin typeface="Cambria Math" panose="02040503050406030204" pitchFamily="18" charset="0"/>
                                            </a:rPr>
                                            <m:t>𝟐</m:t>
                                          </m:r>
                                        </m:sub>
                                      </m:sSub>
                                    </m:e>
                                  </m:m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𝟎</m:t>
                                      </m:r>
                                    </m:e>
                                  </m:mr>
                                </m:m>
                              </m:e>
                              <m:e>
                                <m:m>
                                  <m:mPr>
                                    <m:mcs>
                                      <m:mc>
                                        <m:mcPr>
                                          <m:count m:val="2"/>
                                          <m:mcJc m:val="center"/>
                                        </m:mcPr>
                                      </m:mc>
                                    </m:mcs>
                                    <m:ctrlPr>
                                      <a:rPr lang="zh-CN" altLang="en-US" sz="1000" b="1" i="1">
                                        <a:solidFill>
                                          <a:srgbClr val="002060"/>
                                        </a:solidFill>
                                        <a:latin typeface="Cambria Math" panose="02040503050406030204" pitchFamily="18" charset="0"/>
                                      </a:rPr>
                                    </m:ctrlPr>
                                  </m:mP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𝟎</m:t>
                                      </m:r>
                                    </m:e>
                                  </m:mr>
                                  <m:mr>
                                    <m:e>
                                      <m:r>
                                        <a:rPr lang="zh-CN" altLang="en-US" sz="1000" b="1" i="0">
                                          <a:solidFill>
                                            <a:srgbClr val="002060"/>
                                          </a:solidFill>
                                          <a:latin typeface="Cambria Math" panose="02040503050406030204" pitchFamily="18" charset="0"/>
                                        </a:rPr>
                                        <m:t>−</m:t>
                                      </m:r>
                                      <m:r>
                                        <a:rPr lang="zh-CN" altLang="en-US" sz="1000" b="1" i="0">
                                          <a:solidFill>
                                            <a:srgbClr val="002060"/>
                                          </a:solidFill>
                                          <a:latin typeface="Cambria Math" panose="02040503050406030204" pitchFamily="18" charset="0"/>
                                        </a:rPr>
                                        <m:t>𝟏</m:t>
                                      </m:r>
                                    </m:e>
                                    <m:e>
                                      <m:r>
                                        <a:rPr lang="zh-CN" altLang="en-US" sz="1000" b="1" i="0">
                                          <a:solidFill>
                                            <a:srgbClr val="002060"/>
                                          </a:solidFill>
                                          <a:latin typeface="Cambria Math" panose="02040503050406030204" pitchFamily="18" charset="0"/>
                                        </a:rPr>
                                        <m:t>𝟎</m:t>
                                      </m:r>
                                    </m:e>
                                  </m:mr>
                                </m:m>
                              </m:e>
                            </m:mr>
                            <m:mr>
                              <m:e>
                                <m:m>
                                  <m:mPr>
                                    <m:mcs>
                                      <m:mc>
                                        <m:mcPr>
                                          <m:count m:val="2"/>
                                          <m:mcJc m:val="center"/>
                                        </m:mcPr>
                                      </m:mc>
                                    </m:mcs>
                                    <m:ctrlPr>
                                      <a:rPr lang="zh-CN" altLang="en-US" sz="1000" b="1" i="1">
                                        <a:solidFill>
                                          <a:srgbClr val="002060"/>
                                        </a:solidFill>
                                        <a:latin typeface="Cambria Math" panose="02040503050406030204" pitchFamily="18" charset="0"/>
                                      </a:rPr>
                                    </m:ctrlPr>
                                  </m:mPr>
                                  <m:mr>
                                    <m:e>
                                      <m:r>
                                        <a:rPr lang="zh-CN" altLang="en-US" sz="1000" b="1" i="1">
                                          <a:solidFill>
                                            <a:srgbClr val="002060"/>
                                          </a:solidFill>
                                          <a:latin typeface="Cambria Math" panose="02040503050406030204" pitchFamily="18" charset="0"/>
                                        </a:rPr>
                                        <m:t>𝒔𝒊𝒏</m:t>
                                      </m:r>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𝜽</m:t>
                                          </m:r>
                                        </m:e>
                                        <m:sub>
                                          <m:r>
                                            <a:rPr lang="zh-CN" altLang="en-US" sz="1000" b="1" i="0">
                                              <a:solidFill>
                                                <a:srgbClr val="002060"/>
                                              </a:solidFill>
                                              <a:latin typeface="Cambria Math" panose="02040503050406030204" pitchFamily="18" charset="0"/>
                                            </a:rPr>
                                            <m:t>𝟐</m:t>
                                          </m:r>
                                        </m:sub>
                                      </m:sSub>
                                    </m:e>
                                    <m:e>
                                      <m:r>
                                        <a:rPr lang="zh-CN" altLang="en-US" sz="1000" b="1" i="1">
                                          <a:solidFill>
                                            <a:srgbClr val="002060"/>
                                          </a:solidFill>
                                          <a:latin typeface="Cambria Math" panose="02040503050406030204" pitchFamily="18" charset="0"/>
                                        </a:rPr>
                                        <m:t>𝒄𝒐𝒔</m:t>
                                      </m:r>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𝜽</m:t>
                                          </m:r>
                                        </m:e>
                                        <m:sub>
                                          <m:r>
                                            <a:rPr lang="zh-CN" altLang="en-US" sz="1000" b="1" i="0">
                                              <a:solidFill>
                                                <a:srgbClr val="002060"/>
                                              </a:solidFill>
                                              <a:latin typeface="Cambria Math" panose="02040503050406030204" pitchFamily="18" charset="0"/>
                                            </a:rPr>
                                            <m:t>𝟐</m:t>
                                          </m:r>
                                        </m:sub>
                                      </m:sSub>
                                    </m:e>
                                  </m:m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𝟎</m:t>
                                      </m:r>
                                    </m:e>
                                  </m:mr>
                                </m:m>
                              </m:e>
                              <m:e>
                                <m:m>
                                  <m:mPr>
                                    <m:mcs>
                                      <m:mc>
                                        <m:mcPr>
                                          <m:count m:val="2"/>
                                          <m:mcJc m:val="center"/>
                                        </m:mcPr>
                                      </m:mc>
                                    </m:mcs>
                                    <m:ctrlPr>
                                      <a:rPr lang="zh-CN" altLang="en-US" sz="1000" b="1" i="1">
                                        <a:solidFill>
                                          <a:srgbClr val="002060"/>
                                        </a:solidFill>
                                        <a:latin typeface="Cambria Math" panose="02040503050406030204" pitchFamily="18" charset="0"/>
                                      </a:rPr>
                                    </m:ctrlPr>
                                  </m:mP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𝟎</m:t>
                                      </m:r>
                                    </m:e>
                                  </m:m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𝟏</m:t>
                                      </m:r>
                                    </m:e>
                                  </m:mr>
                                </m:m>
                              </m:e>
                            </m:mr>
                          </m:m>
                        </m:e>
                      </m:d>
                    </m:oMath>
                  </m:oMathPara>
                </a14:m>
                <a:endParaRPr lang="zh-CN" altLang="en-US" sz="1000" b="1" dirty="0">
                  <a:solidFill>
                    <a:srgbClr val="002060"/>
                  </a:solidFill>
                </a:endParaRPr>
              </a:p>
            </p:txBody>
          </p:sp>
        </mc:Choice>
        <mc:Fallback xmlns="">
          <p:sp>
            <p:nvSpPr>
              <p:cNvPr id="10" name="矩形 9"/>
              <p:cNvSpPr>
                <a:spLocks noRot="1" noChangeAspect="1" noMove="1" noResize="1" noEditPoints="1" noAdjustHandles="1" noChangeArrowheads="1" noChangeShapeType="1" noTextEdit="1"/>
              </p:cNvSpPr>
              <p:nvPr/>
            </p:nvSpPr>
            <p:spPr>
              <a:xfrm>
                <a:off x="2113297" y="3480553"/>
                <a:ext cx="2214261" cy="66717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2113297" y="4328117"/>
                <a:ext cx="2182713" cy="6671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000" b="1" i="1" smtClean="0">
                              <a:solidFill>
                                <a:srgbClr val="002060"/>
                              </a:solidFill>
                              <a:latin typeface="Cambria Math" panose="02040503050406030204" pitchFamily="18" charset="0"/>
                            </a:rPr>
                          </m:ctrlPr>
                        </m:sSubPr>
                        <m:e>
                          <m:sPre>
                            <m:sPrePr>
                              <m:ctrlPr>
                                <a:rPr lang="zh-CN" altLang="en-US" sz="1000" b="1" i="1">
                                  <a:solidFill>
                                    <a:srgbClr val="002060"/>
                                  </a:solidFill>
                                  <a:latin typeface="Cambria Math" panose="02040503050406030204" pitchFamily="18" charset="0"/>
                                </a:rPr>
                              </m:ctrlPr>
                            </m:sPrePr>
                            <m:sub/>
                            <m:sup>
                              <m:r>
                                <a:rPr lang="zh-CN" altLang="en-US" sz="1000" b="1" i="0">
                                  <a:solidFill>
                                    <a:srgbClr val="002060"/>
                                  </a:solidFill>
                                  <a:latin typeface="Cambria Math" panose="02040503050406030204" pitchFamily="18" charset="0"/>
                                </a:rPr>
                                <m:t>𝟐</m:t>
                              </m:r>
                            </m:sup>
                            <m:e>
                              <m:r>
                                <a:rPr lang="zh-CN" altLang="en-US" sz="1000" b="1" i="1">
                                  <a:solidFill>
                                    <a:srgbClr val="002060"/>
                                  </a:solidFill>
                                  <a:latin typeface="Cambria Math" panose="02040503050406030204" pitchFamily="18" charset="0"/>
                                </a:rPr>
                                <m:t>𝑻</m:t>
                              </m:r>
                            </m:e>
                          </m:sPre>
                        </m:e>
                        <m:sub>
                          <m:r>
                            <a:rPr lang="zh-CN" altLang="en-US" sz="1000" b="1" i="0">
                              <a:solidFill>
                                <a:srgbClr val="002060"/>
                              </a:solidFill>
                              <a:latin typeface="Cambria Math" panose="02040503050406030204" pitchFamily="18" charset="0"/>
                            </a:rPr>
                            <m:t>𝟑</m:t>
                          </m:r>
                        </m:sub>
                      </m:sSub>
                      <m:r>
                        <a:rPr lang="zh-CN" altLang="en-US" sz="1000" b="1" i="0">
                          <a:solidFill>
                            <a:srgbClr val="002060"/>
                          </a:solidFill>
                          <a:latin typeface="Cambria Math" panose="02040503050406030204" pitchFamily="18" charset="0"/>
                        </a:rPr>
                        <m:t>=</m:t>
                      </m:r>
                      <m:d>
                        <m:dPr>
                          <m:ctrlPr>
                            <a:rPr lang="zh-CN" altLang="en-US" sz="1000" b="1" i="1">
                              <a:solidFill>
                                <a:srgbClr val="002060"/>
                              </a:solidFill>
                              <a:latin typeface="Cambria Math" panose="02040503050406030204" pitchFamily="18" charset="0"/>
                            </a:rPr>
                          </m:ctrlPr>
                        </m:dPr>
                        <m:e>
                          <m:m>
                            <m:mPr>
                              <m:mcs>
                                <m:mc>
                                  <m:mcPr>
                                    <m:count m:val="2"/>
                                    <m:mcJc m:val="center"/>
                                  </m:mcPr>
                                </m:mc>
                              </m:mcs>
                              <m:ctrlPr>
                                <a:rPr lang="zh-CN" altLang="en-US" sz="1000" b="1" i="1">
                                  <a:solidFill>
                                    <a:srgbClr val="002060"/>
                                  </a:solidFill>
                                  <a:latin typeface="Cambria Math" panose="02040503050406030204" pitchFamily="18" charset="0"/>
                                </a:rPr>
                              </m:ctrlPr>
                            </m:mPr>
                            <m:mr>
                              <m:e>
                                <m:m>
                                  <m:mPr>
                                    <m:mcs>
                                      <m:mc>
                                        <m:mcPr>
                                          <m:count m:val="2"/>
                                          <m:mcJc m:val="center"/>
                                        </m:mcPr>
                                      </m:mc>
                                    </m:mcs>
                                    <m:ctrlPr>
                                      <a:rPr lang="zh-CN" altLang="en-US" sz="1000" b="1" i="1">
                                        <a:solidFill>
                                          <a:srgbClr val="002060"/>
                                        </a:solidFill>
                                        <a:latin typeface="Cambria Math" panose="02040503050406030204" pitchFamily="18" charset="0"/>
                                      </a:rPr>
                                    </m:ctrlPr>
                                  </m:mPr>
                                  <m:mr>
                                    <m:e>
                                      <m:r>
                                        <a:rPr lang="zh-CN" altLang="en-US" sz="1000" b="1" i="1">
                                          <a:solidFill>
                                            <a:srgbClr val="002060"/>
                                          </a:solidFill>
                                          <a:latin typeface="Cambria Math" panose="02040503050406030204" pitchFamily="18" charset="0"/>
                                        </a:rPr>
                                        <m:t>𝒄𝒐𝒔</m:t>
                                      </m:r>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𝜽</m:t>
                                          </m:r>
                                        </m:e>
                                        <m:sub>
                                          <m:r>
                                            <a:rPr lang="zh-CN" altLang="en-US" sz="1000" b="1" i="0">
                                              <a:solidFill>
                                                <a:srgbClr val="002060"/>
                                              </a:solidFill>
                                              <a:latin typeface="Cambria Math" panose="02040503050406030204" pitchFamily="18" charset="0"/>
                                            </a:rPr>
                                            <m:t>𝟑</m:t>
                                          </m:r>
                                        </m:sub>
                                      </m:sSub>
                                    </m:e>
                                    <m:e>
                                      <m:r>
                                        <a:rPr lang="zh-CN" altLang="en-US" sz="1000" b="1" i="0">
                                          <a:solidFill>
                                            <a:srgbClr val="002060"/>
                                          </a:solidFill>
                                          <a:latin typeface="Cambria Math" panose="02040503050406030204" pitchFamily="18" charset="0"/>
                                        </a:rPr>
                                        <m:t>−</m:t>
                                      </m:r>
                                      <m:r>
                                        <a:rPr lang="zh-CN" altLang="en-US" sz="1000" b="1" i="1">
                                          <a:solidFill>
                                            <a:srgbClr val="002060"/>
                                          </a:solidFill>
                                          <a:latin typeface="Cambria Math" panose="02040503050406030204" pitchFamily="18" charset="0"/>
                                        </a:rPr>
                                        <m:t>𝒔𝒊𝒏</m:t>
                                      </m:r>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𝜽</m:t>
                                          </m:r>
                                        </m:e>
                                        <m:sub>
                                          <m:r>
                                            <a:rPr lang="zh-CN" altLang="en-US" sz="1000" b="1" i="0">
                                              <a:solidFill>
                                                <a:srgbClr val="002060"/>
                                              </a:solidFill>
                                              <a:latin typeface="Cambria Math" panose="02040503050406030204" pitchFamily="18" charset="0"/>
                                            </a:rPr>
                                            <m:t>𝟑</m:t>
                                          </m:r>
                                        </m:sub>
                                      </m:sSub>
                                    </m:e>
                                  </m:mr>
                                  <m:mr>
                                    <m:e>
                                      <m:r>
                                        <a:rPr lang="zh-CN" altLang="en-US" sz="1000" b="1" i="1">
                                          <a:solidFill>
                                            <a:srgbClr val="002060"/>
                                          </a:solidFill>
                                          <a:latin typeface="Cambria Math" panose="02040503050406030204" pitchFamily="18" charset="0"/>
                                        </a:rPr>
                                        <m:t>𝒔𝒊𝒏</m:t>
                                      </m:r>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𝜽</m:t>
                                          </m:r>
                                        </m:e>
                                        <m:sub>
                                          <m:r>
                                            <a:rPr lang="zh-CN" altLang="en-US" sz="1000" b="1" i="0">
                                              <a:solidFill>
                                                <a:srgbClr val="002060"/>
                                              </a:solidFill>
                                              <a:latin typeface="Cambria Math" panose="02040503050406030204" pitchFamily="18" charset="0"/>
                                            </a:rPr>
                                            <m:t>𝟑</m:t>
                                          </m:r>
                                        </m:sub>
                                      </m:sSub>
                                    </m:e>
                                    <m:e>
                                      <m:r>
                                        <a:rPr lang="zh-CN" altLang="en-US" sz="1000" b="1" i="1">
                                          <a:solidFill>
                                            <a:srgbClr val="002060"/>
                                          </a:solidFill>
                                          <a:latin typeface="Cambria Math" panose="02040503050406030204" pitchFamily="18" charset="0"/>
                                        </a:rPr>
                                        <m:t>𝒄𝒐𝒔</m:t>
                                      </m:r>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𝜽</m:t>
                                          </m:r>
                                        </m:e>
                                        <m:sub>
                                          <m:r>
                                            <a:rPr lang="zh-CN" altLang="en-US" sz="1000" b="1" i="0">
                                              <a:solidFill>
                                                <a:srgbClr val="002060"/>
                                              </a:solidFill>
                                              <a:latin typeface="Cambria Math" panose="02040503050406030204" pitchFamily="18" charset="0"/>
                                            </a:rPr>
                                            <m:t>𝟑</m:t>
                                          </m:r>
                                        </m:sub>
                                      </m:sSub>
                                    </m:e>
                                  </m:mr>
                                </m:m>
                              </m:e>
                              <m:e>
                                <m:m>
                                  <m:mPr>
                                    <m:mcs>
                                      <m:mc>
                                        <m:mcPr>
                                          <m:count m:val="2"/>
                                          <m:mcJc m:val="center"/>
                                        </m:mcPr>
                                      </m:mc>
                                    </m:mcs>
                                    <m:ctrlPr>
                                      <a:rPr lang="zh-CN" altLang="en-US" sz="1000" b="1" i="1">
                                        <a:solidFill>
                                          <a:srgbClr val="002060"/>
                                        </a:solidFill>
                                        <a:latin typeface="Cambria Math" panose="02040503050406030204" pitchFamily="18" charset="0"/>
                                      </a:rPr>
                                    </m:ctrlPr>
                                  </m:mPr>
                                  <m:mr>
                                    <m:e>
                                      <m:r>
                                        <a:rPr lang="zh-CN" altLang="en-US" sz="1000" b="1" i="0">
                                          <a:solidFill>
                                            <a:srgbClr val="002060"/>
                                          </a:solidFill>
                                          <a:latin typeface="Cambria Math" panose="02040503050406030204" pitchFamily="18" charset="0"/>
                                        </a:rPr>
                                        <m:t>𝟎</m:t>
                                      </m:r>
                                    </m:e>
                                    <m:e>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𝒂</m:t>
                                          </m:r>
                                        </m:e>
                                        <m:sub>
                                          <m:r>
                                            <a:rPr lang="zh-CN" altLang="en-US" sz="1000" b="1" i="0">
                                              <a:solidFill>
                                                <a:srgbClr val="002060"/>
                                              </a:solidFill>
                                              <a:latin typeface="Cambria Math" panose="02040503050406030204" pitchFamily="18" charset="0"/>
                                            </a:rPr>
                                            <m:t>𝟑</m:t>
                                          </m:r>
                                        </m:sub>
                                      </m:sSub>
                                    </m:e>
                                  </m:m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𝟎</m:t>
                                      </m:r>
                                    </m:e>
                                  </m:mr>
                                </m:m>
                              </m:e>
                            </m:mr>
                            <m:mr>
                              <m:e>
                                <m:m>
                                  <m:mPr>
                                    <m:mcs>
                                      <m:mc>
                                        <m:mcPr>
                                          <m:count m:val="2"/>
                                          <m:mcJc m:val="center"/>
                                        </m:mcPr>
                                      </m:mc>
                                    </m:mcs>
                                    <m:ctrlPr>
                                      <a:rPr lang="zh-CN" altLang="en-US" sz="1000" b="1" i="1">
                                        <a:solidFill>
                                          <a:srgbClr val="002060"/>
                                        </a:solidFill>
                                        <a:latin typeface="Cambria Math" panose="02040503050406030204" pitchFamily="18" charset="0"/>
                                      </a:rPr>
                                    </m:ctrlPr>
                                  </m:mP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𝟎</m:t>
                                      </m:r>
                                    </m:e>
                                  </m:m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𝟎</m:t>
                                      </m:r>
                                    </m:e>
                                  </m:mr>
                                </m:m>
                              </m:e>
                              <m:e>
                                <m:m>
                                  <m:mPr>
                                    <m:mcs>
                                      <m:mc>
                                        <m:mcPr>
                                          <m:count m:val="2"/>
                                          <m:mcJc m:val="center"/>
                                        </m:mcPr>
                                      </m:mc>
                                    </m:mcs>
                                    <m:ctrlPr>
                                      <a:rPr lang="zh-CN" altLang="en-US" sz="1000" b="1" i="1">
                                        <a:solidFill>
                                          <a:srgbClr val="002060"/>
                                        </a:solidFill>
                                        <a:latin typeface="Cambria Math" panose="02040503050406030204" pitchFamily="18" charset="0"/>
                                      </a:rPr>
                                    </m:ctrlPr>
                                  </m:mPr>
                                  <m:mr>
                                    <m:e>
                                      <m:r>
                                        <a:rPr lang="zh-CN" altLang="en-US" sz="1000" b="1" i="0">
                                          <a:solidFill>
                                            <a:srgbClr val="002060"/>
                                          </a:solidFill>
                                          <a:latin typeface="Cambria Math" panose="02040503050406030204" pitchFamily="18" charset="0"/>
                                        </a:rPr>
                                        <m:t>𝟏</m:t>
                                      </m:r>
                                    </m:e>
                                    <m:e>
                                      <m:r>
                                        <a:rPr lang="zh-CN" altLang="en-US" sz="1000" b="1" i="0">
                                          <a:solidFill>
                                            <a:srgbClr val="002060"/>
                                          </a:solidFill>
                                          <a:latin typeface="Cambria Math" panose="02040503050406030204" pitchFamily="18" charset="0"/>
                                        </a:rPr>
                                        <m:t>𝟎</m:t>
                                      </m:r>
                                    </m:e>
                                  </m:m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𝟏</m:t>
                                      </m:r>
                                    </m:e>
                                  </m:mr>
                                </m:m>
                              </m:e>
                            </m:mr>
                          </m:m>
                        </m:e>
                      </m:d>
                    </m:oMath>
                  </m:oMathPara>
                </a14:m>
                <a:endParaRPr lang="zh-CN" altLang="en-US" sz="1000" b="1" dirty="0">
                  <a:solidFill>
                    <a:srgbClr val="002060"/>
                  </a:solidFill>
                </a:endParaRPr>
              </a:p>
            </p:txBody>
          </p:sp>
        </mc:Choice>
        <mc:Fallback xmlns="">
          <p:sp>
            <p:nvSpPr>
              <p:cNvPr id="11" name="矩形 10"/>
              <p:cNvSpPr>
                <a:spLocks noRot="1" noChangeAspect="1" noMove="1" noResize="1" noEditPoints="1" noAdjustHandles="1" noChangeArrowheads="1" noChangeShapeType="1" noTextEdit="1"/>
              </p:cNvSpPr>
              <p:nvPr/>
            </p:nvSpPr>
            <p:spPr>
              <a:xfrm>
                <a:off x="2113297" y="4328117"/>
                <a:ext cx="2182713" cy="66717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4435442" y="2643758"/>
                <a:ext cx="2184316" cy="6671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000" b="1" i="1" smtClean="0">
                              <a:solidFill>
                                <a:srgbClr val="002060"/>
                              </a:solidFill>
                              <a:latin typeface="Cambria Math" panose="02040503050406030204" pitchFamily="18" charset="0"/>
                            </a:rPr>
                          </m:ctrlPr>
                        </m:sSubPr>
                        <m:e>
                          <m:sPre>
                            <m:sPrePr>
                              <m:ctrlPr>
                                <a:rPr lang="zh-CN" altLang="en-US" sz="1000" b="1" i="1">
                                  <a:solidFill>
                                    <a:srgbClr val="002060"/>
                                  </a:solidFill>
                                  <a:latin typeface="Cambria Math" panose="02040503050406030204" pitchFamily="18" charset="0"/>
                                </a:rPr>
                              </m:ctrlPr>
                            </m:sPrePr>
                            <m:sub/>
                            <m:sup>
                              <m:r>
                                <a:rPr lang="zh-CN" altLang="en-US" sz="1000" b="1" i="0">
                                  <a:solidFill>
                                    <a:srgbClr val="002060"/>
                                  </a:solidFill>
                                  <a:latin typeface="Cambria Math" panose="02040503050406030204" pitchFamily="18" charset="0"/>
                                </a:rPr>
                                <m:t>𝟑</m:t>
                              </m:r>
                            </m:sup>
                            <m:e>
                              <m:r>
                                <a:rPr lang="zh-CN" altLang="en-US" sz="1000" b="1" i="1">
                                  <a:solidFill>
                                    <a:srgbClr val="002060"/>
                                  </a:solidFill>
                                  <a:latin typeface="Cambria Math" panose="02040503050406030204" pitchFamily="18" charset="0"/>
                                </a:rPr>
                                <m:t>𝑻</m:t>
                              </m:r>
                            </m:e>
                          </m:sPre>
                        </m:e>
                        <m:sub>
                          <m:r>
                            <a:rPr lang="zh-CN" altLang="en-US" sz="1000" b="1" i="0">
                              <a:solidFill>
                                <a:srgbClr val="002060"/>
                              </a:solidFill>
                              <a:latin typeface="Cambria Math" panose="02040503050406030204" pitchFamily="18" charset="0"/>
                            </a:rPr>
                            <m:t>𝟒</m:t>
                          </m:r>
                        </m:sub>
                      </m:sSub>
                      <m:r>
                        <a:rPr lang="zh-CN" altLang="en-US" sz="1000" b="1" i="0">
                          <a:solidFill>
                            <a:srgbClr val="002060"/>
                          </a:solidFill>
                          <a:latin typeface="Cambria Math" panose="02040503050406030204" pitchFamily="18" charset="0"/>
                        </a:rPr>
                        <m:t>=</m:t>
                      </m:r>
                      <m:d>
                        <m:dPr>
                          <m:ctrlPr>
                            <a:rPr lang="zh-CN" altLang="en-US" sz="1000" b="1" i="1">
                              <a:solidFill>
                                <a:srgbClr val="002060"/>
                              </a:solidFill>
                              <a:latin typeface="Cambria Math" panose="02040503050406030204" pitchFamily="18" charset="0"/>
                            </a:rPr>
                          </m:ctrlPr>
                        </m:dPr>
                        <m:e>
                          <m:m>
                            <m:mPr>
                              <m:mcs>
                                <m:mc>
                                  <m:mcPr>
                                    <m:count m:val="2"/>
                                    <m:mcJc m:val="center"/>
                                  </m:mcPr>
                                </m:mc>
                              </m:mcs>
                              <m:ctrlPr>
                                <a:rPr lang="zh-CN" altLang="en-US" sz="1000" b="1" i="1">
                                  <a:solidFill>
                                    <a:srgbClr val="002060"/>
                                  </a:solidFill>
                                  <a:latin typeface="Cambria Math" panose="02040503050406030204" pitchFamily="18" charset="0"/>
                                </a:rPr>
                              </m:ctrlPr>
                            </m:mPr>
                            <m:mr>
                              <m:e>
                                <m:m>
                                  <m:mPr>
                                    <m:mcs>
                                      <m:mc>
                                        <m:mcPr>
                                          <m:count m:val="2"/>
                                          <m:mcJc m:val="center"/>
                                        </m:mcPr>
                                      </m:mc>
                                    </m:mcs>
                                    <m:ctrlPr>
                                      <a:rPr lang="zh-CN" altLang="en-US" sz="1000" b="1" i="1">
                                        <a:solidFill>
                                          <a:srgbClr val="002060"/>
                                        </a:solidFill>
                                        <a:latin typeface="Cambria Math" panose="02040503050406030204" pitchFamily="18" charset="0"/>
                                      </a:rPr>
                                    </m:ctrlPr>
                                  </m:mPr>
                                  <m:mr>
                                    <m:e>
                                      <m:r>
                                        <a:rPr lang="zh-CN" altLang="en-US" sz="1000" b="1" i="1">
                                          <a:solidFill>
                                            <a:srgbClr val="002060"/>
                                          </a:solidFill>
                                          <a:latin typeface="Cambria Math" panose="02040503050406030204" pitchFamily="18" charset="0"/>
                                        </a:rPr>
                                        <m:t>𝒄𝒐𝒔</m:t>
                                      </m:r>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𝜽</m:t>
                                          </m:r>
                                        </m:e>
                                        <m:sub>
                                          <m:r>
                                            <a:rPr lang="zh-CN" altLang="en-US" sz="1000" b="1" i="0">
                                              <a:solidFill>
                                                <a:srgbClr val="002060"/>
                                              </a:solidFill>
                                              <a:latin typeface="Cambria Math" panose="02040503050406030204" pitchFamily="18" charset="0"/>
                                            </a:rPr>
                                            <m:t>𝟒</m:t>
                                          </m:r>
                                        </m:sub>
                                      </m:sSub>
                                    </m:e>
                                    <m:e>
                                      <m:r>
                                        <a:rPr lang="zh-CN" altLang="en-US" sz="1000" b="1" i="0">
                                          <a:solidFill>
                                            <a:srgbClr val="002060"/>
                                          </a:solidFill>
                                          <a:latin typeface="Cambria Math" panose="02040503050406030204" pitchFamily="18" charset="0"/>
                                        </a:rPr>
                                        <m:t>−</m:t>
                                      </m:r>
                                      <m:r>
                                        <a:rPr lang="zh-CN" altLang="en-US" sz="1000" b="1" i="1">
                                          <a:solidFill>
                                            <a:srgbClr val="002060"/>
                                          </a:solidFill>
                                          <a:latin typeface="Cambria Math" panose="02040503050406030204" pitchFamily="18" charset="0"/>
                                        </a:rPr>
                                        <m:t>𝒔𝒊𝒏</m:t>
                                      </m:r>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𝜽</m:t>
                                          </m:r>
                                        </m:e>
                                        <m:sub>
                                          <m:r>
                                            <a:rPr lang="zh-CN" altLang="en-US" sz="1000" b="1" i="0">
                                              <a:solidFill>
                                                <a:srgbClr val="002060"/>
                                              </a:solidFill>
                                              <a:latin typeface="Cambria Math" panose="02040503050406030204" pitchFamily="18" charset="0"/>
                                            </a:rPr>
                                            <m:t>𝟒</m:t>
                                          </m:r>
                                        </m:sub>
                                      </m:sSub>
                                    </m:e>
                                  </m:mr>
                                  <m:mr>
                                    <m:e>
                                      <m:r>
                                        <a:rPr lang="zh-CN" altLang="en-US" sz="1000" b="1" i="1">
                                          <a:solidFill>
                                            <a:srgbClr val="002060"/>
                                          </a:solidFill>
                                          <a:latin typeface="Cambria Math" panose="02040503050406030204" pitchFamily="18" charset="0"/>
                                        </a:rPr>
                                        <m:t>𝒔𝒊𝒏</m:t>
                                      </m:r>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𝜽</m:t>
                                          </m:r>
                                        </m:e>
                                        <m:sub>
                                          <m:r>
                                            <a:rPr lang="zh-CN" altLang="en-US" sz="1000" b="1" i="0">
                                              <a:solidFill>
                                                <a:srgbClr val="002060"/>
                                              </a:solidFill>
                                              <a:latin typeface="Cambria Math" panose="02040503050406030204" pitchFamily="18" charset="0"/>
                                            </a:rPr>
                                            <m:t>𝟒</m:t>
                                          </m:r>
                                        </m:sub>
                                      </m:sSub>
                                    </m:e>
                                    <m:e>
                                      <m:r>
                                        <a:rPr lang="zh-CN" altLang="en-US" sz="1000" b="1" i="1">
                                          <a:solidFill>
                                            <a:srgbClr val="002060"/>
                                          </a:solidFill>
                                          <a:latin typeface="Cambria Math" panose="02040503050406030204" pitchFamily="18" charset="0"/>
                                        </a:rPr>
                                        <m:t>𝒄𝒐𝒔</m:t>
                                      </m:r>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𝜽</m:t>
                                          </m:r>
                                        </m:e>
                                        <m:sub>
                                          <m:r>
                                            <a:rPr lang="zh-CN" altLang="en-US" sz="1000" b="1" i="0">
                                              <a:solidFill>
                                                <a:srgbClr val="002060"/>
                                              </a:solidFill>
                                              <a:latin typeface="Cambria Math" panose="02040503050406030204" pitchFamily="18" charset="0"/>
                                            </a:rPr>
                                            <m:t>𝟒</m:t>
                                          </m:r>
                                        </m:sub>
                                      </m:sSub>
                                    </m:e>
                                  </m:mr>
                                </m:m>
                              </m:e>
                              <m:e>
                                <m:m>
                                  <m:mPr>
                                    <m:mcs>
                                      <m:mc>
                                        <m:mcPr>
                                          <m:count m:val="2"/>
                                          <m:mcJc m:val="center"/>
                                        </m:mcPr>
                                      </m:mc>
                                    </m:mcs>
                                    <m:ctrlPr>
                                      <a:rPr lang="zh-CN" altLang="en-US" sz="1000" b="1" i="1">
                                        <a:solidFill>
                                          <a:srgbClr val="002060"/>
                                        </a:solidFill>
                                        <a:latin typeface="Cambria Math" panose="02040503050406030204" pitchFamily="18" charset="0"/>
                                      </a:rPr>
                                    </m:ctrlPr>
                                  </m:mPr>
                                  <m:mr>
                                    <m:e>
                                      <m:r>
                                        <a:rPr lang="zh-CN" altLang="en-US" sz="1000" b="1" i="0">
                                          <a:solidFill>
                                            <a:srgbClr val="002060"/>
                                          </a:solidFill>
                                          <a:latin typeface="Cambria Math" panose="02040503050406030204" pitchFamily="18" charset="0"/>
                                        </a:rPr>
                                        <m:t>𝟎</m:t>
                                      </m:r>
                                    </m:e>
                                    <m:e>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𝒂</m:t>
                                          </m:r>
                                        </m:e>
                                        <m:sub>
                                          <m:r>
                                            <a:rPr lang="zh-CN" altLang="en-US" sz="1000" b="1" i="0">
                                              <a:solidFill>
                                                <a:srgbClr val="002060"/>
                                              </a:solidFill>
                                              <a:latin typeface="Cambria Math" panose="02040503050406030204" pitchFamily="18" charset="0"/>
                                            </a:rPr>
                                            <m:t>𝟒</m:t>
                                          </m:r>
                                        </m:sub>
                                      </m:sSub>
                                    </m:e>
                                  </m:m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𝟎</m:t>
                                      </m:r>
                                    </m:e>
                                  </m:mr>
                                </m:m>
                              </m:e>
                            </m:mr>
                            <m:mr>
                              <m:e>
                                <m:m>
                                  <m:mPr>
                                    <m:mcs>
                                      <m:mc>
                                        <m:mcPr>
                                          <m:count m:val="2"/>
                                          <m:mcJc m:val="center"/>
                                        </m:mcPr>
                                      </m:mc>
                                    </m:mcs>
                                    <m:ctrlPr>
                                      <a:rPr lang="zh-CN" altLang="en-US" sz="1000" b="1" i="1">
                                        <a:solidFill>
                                          <a:srgbClr val="002060"/>
                                        </a:solidFill>
                                        <a:latin typeface="Cambria Math" panose="02040503050406030204" pitchFamily="18" charset="0"/>
                                      </a:rPr>
                                    </m:ctrlPr>
                                  </m:mP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𝟎</m:t>
                                      </m:r>
                                    </m:e>
                                  </m:m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𝟎</m:t>
                                      </m:r>
                                    </m:e>
                                  </m:mr>
                                </m:m>
                              </m:e>
                              <m:e>
                                <m:m>
                                  <m:mPr>
                                    <m:mcs>
                                      <m:mc>
                                        <m:mcPr>
                                          <m:count m:val="2"/>
                                          <m:mcJc m:val="center"/>
                                        </m:mcPr>
                                      </m:mc>
                                    </m:mcs>
                                    <m:ctrlPr>
                                      <a:rPr lang="zh-CN" altLang="en-US" sz="1000" b="1" i="1">
                                        <a:solidFill>
                                          <a:srgbClr val="002060"/>
                                        </a:solidFill>
                                        <a:latin typeface="Cambria Math" panose="02040503050406030204" pitchFamily="18" charset="0"/>
                                      </a:rPr>
                                    </m:ctrlPr>
                                  </m:mPr>
                                  <m:mr>
                                    <m:e>
                                      <m:r>
                                        <a:rPr lang="zh-CN" altLang="en-US" sz="1000" b="1" i="0">
                                          <a:solidFill>
                                            <a:srgbClr val="002060"/>
                                          </a:solidFill>
                                          <a:latin typeface="Cambria Math" panose="02040503050406030204" pitchFamily="18" charset="0"/>
                                        </a:rPr>
                                        <m:t>𝟏</m:t>
                                      </m:r>
                                    </m:e>
                                    <m:e>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𝒅</m:t>
                                          </m:r>
                                        </m:e>
                                        <m:sub>
                                          <m:r>
                                            <a:rPr lang="zh-CN" altLang="en-US" sz="1000" b="1" i="0">
                                              <a:solidFill>
                                                <a:srgbClr val="002060"/>
                                              </a:solidFill>
                                              <a:latin typeface="Cambria Math" panose="02040503050406030204" pitchFamily="18" charset="0"/>
                                            </a:rPr>
                                            <m:t>𝟒</m:t>
                                          </m:r>
                                        </m:sub>
                                      </m:sSub>
                                    </m:e>
                                  </m:m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𝟏</m:t>
                                      </m:r>
                                    </m:e>
                                  </m:mr>
                                </m:m>
                              </m:e>
                            </m:mr>
                          </m:m>
                        </m:e>
                      </m:d>
                    </m:oMath>
                  </m:oMathPara>
                </a14:m>
                <a:endParaRPr lang="zh-CN" altLang="en-US" sz="1000" b="1" dirty="0">
                  <a:solidFill>
                    <a:srgbClr val="002060"/>
                  </a:solidFill>
                </a:endParaRPr>
              </a:p>
            </p:txBody>
          </p:sp>
        </mc:Choice>
        <mc:Fallback xmlns="">
          <p:sp>
            <p:nvSpPr>
              <p:cNvPr id="17" name="矩形 16"/>
              <p:cNvSpPr>
                <a:spLocks noRot="1" noChangeAspect="1" noMove="1" noResize="1" noEditPoints="1" noAdjustHandles="1" noChangeArrowheads="1" noChangeShapeType="1" noTextEdit="1"/>
              </p:cNvSpPr>
              <p:nvPr/>
            </p:nvSpPr>
            <p:spPr>
              <a:xfrm>
                <a:off x="4435442" y="2643758"/>
                <a:ext cx="2184316" cy="667170"/>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4306446" y="3459713"/>
                <a:ext cx="2376676" cy="6671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000" b="1" i="1" smtClean="0">
                              <a:solidFill>
                                <a:srgbClr val="002060"/>
                              </a:solidFill>
                              <a:latin typeface="Cambria Math" panose="02040503050406030204" pitchFamily="18" charset="0"/>
                            </a:rPr>
                          </m:ctrlPr>
                        </m:sSubPr>
                        <m:e>
                          <m:sPre>
                            <m:sPrePr>
                              <m:ctrlPr>
                                <a:rPr lang="zh-CN" altLang="en-US" sz="1000" b="1" i="1">
                                  <a:solidFill>
                                    <a:srgbClr val="002060"/>
                                  </a:solidFill>
                                  <a:latin typeface="Cambria Math" panose="02040503050406030204" pitchFamily="18" charset="0"/>
                                </a:rPr>
                              </m:ctrlPr>
                            </m:sPrePr>
                            <m:sub/>
                            <m:sup>
                              <m:r>
                                <a:rPr lang="zh-CN" altLang="en-US" sz="1000" b="1" i="0">
                                  <a:solidFill>
                                    <a:srgbClr val="002060"/>
                                  </a:solidFill>
                                  <a:latin typeface="Cambria Math" panose="02040503050406030204" pitchFamily="18" charset="0"/>
                                </a:rPr>
                                <m:t>𝟒</m:t>
                              </m:r>
                            </m:sup>
                            <m:e>
                              <m:r>
                                <a:rPr lang="zh-CN" altLang="en-US" sz="1000" b="1" i="1">
                                  <a:solidFill>
                                    <a:srgbClr val="002060"/>
                                  </a:solidFill>
                                  <a:latin typeface="Cambria Math" panose="02040503050406030204" pitchFamily="18" charset="0"/>
                                </a:rPr>
                                <m:t>𝑻</m:t>
                              </m:r>
                            </m:e>
                          </m:sPre>
                        </m:e>
                        <m:sub>
                          <m:r>
                            <a:rPr lang="zh-CN" altLang="en-US" sz="1000" b="1" i="0">
                              <a:solidFill>
                                <a:srgbClr val="002060"/>
                              </a:solidFill>
                              <a:latin typeface="Cambria Math" panose="02040503050406030204" pitchFamily="18" charset="0"/>
                            </a:rPr>
                            <m:t>𝟓</m:t>
                          </m:r>
                        </m:sub>
                      </m:sSub>
                      <m:r>
                        <a:rPr lang="zh-CN" altLang="en-US" sz="1000" b="1" i="0">
                          <a:solidFill>
                            <a:srgbClr val="002060"/>
                          </a:solidFill>
                          <a:latin typeface="Cambria Math" panose="02040503050406030204" pitchFamily="18" charset="0"/>
                        </a:rPr>
                        <m:t>=</m:t>
                      </m:r>
                      <m:d>
                        <m:dPr>
                          <m:ctrlPr>
                            <a:rPr lang="zh-CN" altLang="en-US" sz="1000" b="1" i="1">
                              <a:solidFill>
                                <a:srgbClr val="002060"/>
                              </a:solidFill>
                              <a:latin typeface="Cambria Math" panose="02040503050406030204" pitchFamily="18" charset="0"/>
                            </a:rPr>
                          </m:ctrlPr>
                        </m:dPr>
                        <m:e>
                          <m:m>
                            <m:mPr>
                              <m:mcs>
                                <m:mc>
                                  <m:mcPr>
                                    <m:count m:val="2"/>
                                    <m:mcJc m:val="center"/>
                                  </m:mcPr>
                                </m:mc>
                              </m:mcs>
                              <m:ctrlPr>
                                <a:rPr lang="zh-CN" altLang="en-US" sz="1000" b="1" i="1">
                                  <a:solidFill>
                                    <a:srgbClr val="002060"/>
                                  </a:solidFill>
                                  <a:latin typeface="Cambria Math" panose="02040503050406030204" pitchFamily="18" charset="0"/>
                                </a:rPr>
                              </m:ctrlPr>
                            </m:mPr>
                            <m:mr>
                              <m:e>
                                <m:m>
                                  <m:mPr>
                                    <m:mcs>
                                      <m:mc>
                                        <m:mcPr>
                                          <m:count m:val="2"/>
                                          <m:mcJc m:val="center"/>
                                        </m:mcPr>
                                      </m:mc>
                                    </m:mcs>
                                    <m:ctrlPr>
                                      <a:rPr lang="zh-CN" altLang="en-US" sz="1000" b="1" i="1">
                                        <a:solidFill>
                                          <a:srgbClr val="002060"/>
                                        </a:solidFill>
                                        <a:latin typeface="Cambria Math" panose="02040503050406030204" pitchFamily="18" charset="0"/>
                                      </a:rPr>
                                    </m:ctrlPr>
                                  </m:mPr>
                                  <m:mr>
                                    <m:e>
                                      <m:r>
                                        <a:rPr lang="zh-CN" altLang="en-US" sz="1000" b="1" i="1">
                                          <a:solidFill>
                                            <a:srgbClr val="002060"/>
                                          </a:solidFill>
                                          <a:latin typeface="Cambria Math" panose="02040503050406030204" pitchFamily="18" charset="0"/>
                                        </a:rPr>
                                        <m:t>𝒄𝒐𝒔</m:t>
                                      </m:r>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𝜽</m:t>
                                          </m:r>
                                        </m:e>
                                        <m:sub>
                                          <m:r>
                                            <a:rPr lang="zh-CN" altLang="en-US" sz="1000" b="1" i="0">
                                              <a:solidFill>
                                                <a:srgbClr val="002060"/>
                                              </a:solidFill>
                                              <a:latin typeface="Cambria Math" panose="02040503050406030204" pitchFamily="18" charset="0"/>
                                            </a:rPr>
                                            <m:t>𝟓</m:t>
                                          </m:r>
                                        </m:sub>
                                      </m:sSub>
                                    </m:e>
                                    <m:e>
                                      <m:r>
                                        <a:rPr lang="zh-CN" altLang="en-US" sz="1000" b="1" i="0">
                                          <a:solidFill>
                                            <a:srgbClr val="002060"/>
                                          </a:solidFill>
                                          <a:latin typeface="Cambria Math" panose="02040503050406030204" pitchFamily="18" charset="0"/>
                                        </a:rPr>
                                        <m:t>−</m:t>
                                      </m:r>
                                      <m:r>
                                        <a:rPr lang="zh-CN" altLang="en-US" sz="1000" b="1" i="1">
                                          <a:solidFill>
                                            <a:srgbClr val="002060"/>
                                          </a:solidFill>
                                          <a:latin typeface="Cambria Math" panose="02040503050406030204" pitchFamily="18" charset="0"/>
                                        </a:rPr>
                                        <m:t>𝒔𝒊𝒏</m:t>
                                      </m:r>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𝜽</m:t>
                                          </m:r>
                                        </m:e>
                                        <m:sub>
                                          <m:r>
                                            <a:rPr lang="zh-CN" altLang="en-US" sz="1000" b="1" i="0">
                                              <a:solidFill>
                                                <a:srgbClr val="002060"/>
                                              </a:solidFill>
                                              <a:latin typeface="Cambria Math" panose="02040503050406030204" pitchFamily="18" charset="0"/>
                                            </a:rPr>
                                            <m:t>𝟓</m:t>
                                          </m:r>
                                        </m:sub>
                                      </m:sSub>
                                    </m:e>
                                  </m:m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𝟎</m:t>
                                      </m:r>
                                    </m:e>
                                  </m:mr>
                                </m:m>
                              </m:e>
                              <m:e>
                                <m:m>
                                  <m:mPr>
                                    <m:mcs>
                                      <m:mc>
                                        <m:mcPr>
                                          <m:count m:val="2"/>
                                          <m:mcJc m:val="center"/>
                                        </m:mcPr>
                                      </m:mc>
                                    </m:mcs>
                                    <m:ctrlPr>
                                      <a:rPr lang="zh-CN" altLang="en-US" sz="1000" b="1" i="1">
                                        <a:solidFill>
                                          <a:srgbClr val="002060"/>
                                        </a:solidFill>
                                        <a:latin typeface="Cambria Math" panose="02040503050406030204" pitchFamily="18" charset="0"/>
                                      </a:rPr>
                                    </m:ctrlPr>
                                  </m:mP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𝟎</m:t>
                                      </m:r>
                                    </m:e>
                                  </m:mr>
                                  <m:mr>
                                    <m:e>
                                      <m:r>
                                        <a:rPr lang="zh-CN" altLang="en-US" sz="1000" b="1" i="0">
                                          <a:solidFill>
                                            <a:srgbClr val="002060"/>
                                          </a:solidFill>
                                          <a:latin typeface="Cambria Math" panose="02040503050406030204" pitchFamily="18" charset="0"/>
                                        </a:rPr>
                                        <m:t>−</m:t>
                                      </m:r>
                                      <m:r>
                                        <a:rPr lang="zh-CN" altLang="en-US" sz="1000" b="1" i="0">
                                          <a:solidFill>
                                            <a:srgbClr val="002060"/>
                                          </a:solidFill>
                                          <a:latin typeface="Cambria Math" panose="02040503050406030204" pitchFamily="18" charset="0"/>
                                        </a:rPr>
                                        <m:t>𝟏</m:t>
                                      </m:r>
                                    </m:e>
                                    <m:e>
                                      <m:r>
                                        <a:rPr lang="zh-CN" altLang="en-US" sz="1000" b="1" i="0">
                                          <a:solidFill>
                                            <a:srgbClr val="002060"/>
                                          </a:solidFill>
                                          <a:latin typeface="Cambria Math" panose="02040503050406030204" pitchFamily="18" charset="0"/>
                                        </a:rPr>
                                        <m:t>−</m:t>
                                      </m:r>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𝒅</m:t>
                                          </m:r>
                                        </m:e>
                                        <m:sub>
                                          <m:r>
                                            <a:rPr lang="zh-CN" altLang="en-US" sz="1000" b="1" i="0">
                                              <a:solidFill>
                                                <a:srgbClr val="002060"/>
                                              </a:solidFill>
                                              <a:latin typeface="Cambria Math" panose="02040503050406030204" pitchFamily="18" charset="0"/>
                                            </a:rPr>
                                            <m:t>𝟓</m:t>
                                          </m:r>
                                        </m:sub>
                                      </m:sSub>
                                    </m:e>
                                  </m:mr>
                                </m:m>
                              </m:e>
                            </m:mr>
                            <m:mr>
                              <m:e>
                                <m:m>
                                  <m:mPr>
                                    <m:mcs>
                                      <m:mc>
                                        <m:mcPr>
                                          <m:count m:val="2"/>
                                          <m:mcJc m:val="center"/>
                                        </m:mcPr>
                                      </m:mc>
                                    </m:mcs>
                                    <m:ctrlPr>
                                      <a:rPr lang="zh-CN" altLang="en-US" sz="1000" b="1" i="1">
                                        <a:solidFill>
                                          <a:srgbClr val="002060"/>
                                        </a:solidFill>
                                        <a:latin typeface="Cambria Math" panose="02040503050406030204" pitchFamily="18" charset="0"/>
                                      </a:rPr>
                                    </m:ctrlPr>
                                  </m:mPr>
                                  <m:mr>
                                    <m:e>
                                      <m:r>
                                        <a:rPr lang="zh-CN" altLang="en-US" sz="1000" b="1" i="1">
                                          <a:solidFill>
                                            <a:srgbClr val="002060"/>
                                          </a:solidFill>
                                          <a:latin typeface="Cambria Math" panose="02040503050406030204" pitchFamily="18" charset="0"/>
                                        </a:rPr>
                                        <m:t>𝒔𝒊𝒏</m:t>
                                      </m:r>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𝜽</m:t>
                                          </m:r>
                                        </m:e>
                                        <m:sub>
                                          <m:r>
                                            <a:rPr lang="zh-CN" altLang="en-US" sz="1000" b="1" i="0">
                                              <a:solidFill>
                                                <a:srgbClr val="002060"/>
                                              </a:solidFill>
                                              <a:latin typeface="Cambria Math" panose="02040503050406030204" pitchFamily="18" charset="0"/>
                                            </a:rPr>
                                            <m:t>𝟓</m:t>
                                          </m:r>
                                        </m:sub>
                                      </m:sSub>
                                    </m:e>
                                    <m:e>
                                      <m:r>
                                        <a:rPr lang="zh-CN" altLang="en-US" sz="1000" b="1" i="1">
                                          <a:solidFill>
                                            <a:srgbClr val="002060"/>
                                          </a:solidFill>
                                          <a:latin typeface="Cambria Math" panose="02040503050406030204" pitchFamily="18" charset="0"/>
                                        </a:rPr>
                                        <m:t>𝒄𝒐𝒔</m:t>
                                      </m:r>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𝜽</m:t>
                                          </m:r>
                                        </m:e>
                                        <m:sub>
                                          <m:r>
                                            <a:rPr lang="zh-CN" altLang="en-US" sz="1000" b="1" i="0">
                                              <a:solidFill>
                                                <a:srgbClr val="002060"/>
                                              </a:solidFill>
                                              <a:latin typeface="Cambria Math" panose="02040503050406030204" pitchFamily="18" charset="0"/>
                                            </a:rPr>
                                            <m:t>𝟓</m:t>
                                          </m:r>
                                        </m:sub>
                                      </m:sSub>
                                    </m:e>
                                  </m:m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𝟎</m:t>
                                      </m:r>
                                    </m:e>
                                  </m:mr>
                                </m:m>
                              </m:e>
                              <m:e>
                                <m:m>
                                  <m:mPr>
                                    <m:mcs>
                                      <m:mc>
                                        <m:mcPr>
                                          <m:count m:val="2"/>
                                          <m:mcJc m:val="center"/>
                                        </m:mcPr>
                                      </m:mc>
                                    </m:mcs>
                                    <m:ctrlPr>
                                      <a:rPr lang="zh-CN" altLang="en-US" sz="1000" b="1" i="1">
                                        <a:solidFill>
                                          <a:srgbClr val="002060"/>
                                        </a:solidFill>
                                        <a:latin typeface="Cambria Math" panose="02040503050406030204" pitchFamily="18" charset="0"/>
                                      </a:rPr>
                                    </m:ctrlPr>
                                  </m:mP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𝟎</m:t>
                                      </m:r>
                                    </m:e>
                                  </m:m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𝟏</m:t>
                                      </m:r>
                                    </m:e>
                                  </m:mr>
                                </m:m>
                              </m:e>
                            </m:mr>
                          </m:m>
                        </m:e>
                      </m:d>
                    </m:oMath>
                  </m:oMathPara>
                </a14:m>
                <a:endParaRPr lang="zh-CN" altLang="en-US" sz="1000" b="1" dirty="0">
                  <a:solidFill>
                    <a:srgbClr val="002060"/>
                  </a:solidFill>
                </a:endParaRPr>
              </a:p>
            </p:txBody>
          </p:sp>
        </mc:Choice>
        <mc:Fallback xmlns="">
          <p:sp>
            <p:nvSpPr>
              <p:cNvPr id="18" name="矩形 17"/>
              <p:cNvSpPr>
                <a:spLocks noRot="1" noChangeAspect="1" noMove="1" noResize="1" noEditPoints="1" noAdjustHandles="1" noChangeArrowheads="1" noChangeShapeType="1" noTextEdit="1"/>
              </p:cNvSpPr>
              <p:nvPr/>
            </p:nvSpPr>
            <p:spPr>
              <a:xfrm>
                <a:off x="4306446" y="3459713"/>
                <a:ext cx="2376676" cy="667170"/>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4402626" y="4242090"/>
                <a:ext cx="2280496" cy="6671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000" b="1" i="1" smtClean="0">
                              <a:solidFill>
                                <a:srgbClr val="002060"/>
                              </a:solidFill>
                              <a:latin typeface="Cambria Math" panose="02040503050406030204" pitchFamily="18" charset="0"/>
                            </a:rPr>
                          </m:ctrlPr>
                        </m:sSubPr>
                        <m:e>
                          <m:sPre>
                            <m:sPrePr>
                              <m:ctrlPr>
                                <a:rPr lang="zh-CN" altLang="en-US" sz="1000" b="1" i="1">
                                  <a:solidFill>
                                    <a:srgbClr val="002060"/>
                                  </a:solidFill>
                                  <a:latin typeface="Cambria Math" panose="02040503050406030204" pitchFamily="18" charset="0"/>
                                </a:rPr>
                              </m:ctrlPr>
                            </m:sPrePr>
                            <m:sub/>
                            <m:sup>
                              <m:r>
                                <a:rPr lang="zh-CN" altLang="en-US" sz="1000" b="1" i="0">
                                  <a:solidFill>
                                    <a:srgbClr val="002060"/>
                                  </a:solidFill>
                                  <a:latin typeface="Cambria Math" panose="02040503050406030204" pitchFamily="18" charset="0"/>
                                </a:rPr>
                                <m:t>𝟓</m:t>
                              </m:r>
                            </m:sup>
                            <m:e>
                              <m:r>
                                <a:rPr lang="zh-CN" altLang="en-US" sz="1000" b="1" i="1">
                                  <a:solidFill>
                                    <a:srgbClr val="002060"/>
                                  </a:solidFill>
                                  <a:latin typeface="Cambria Math" panose="02040503050406030204" pitchFamily="18" charset="0"/>
                                </a:rPr>
                                <m:t>𝑻</m:t>
                              </m:r>
                            </m:e>
                          </m:sPre>
                        </m:e>
                        <m:sub>
                          <m:r>
                            <a:rPr lang="zh-CN" altLang="en-US" sz="1000" b="1" i="0">
                              <a:solidFill>
                                <a:srgbClr val="002060"/>
                              </a:solidFill>
                              <a:latin typeface="Cambria Math" panose="02040503050406030204" pitchFamily="18" charset="0"/>
                            </a:rPr>
                            <m:t>𝟔</m:t>
                          </m:r>
                        </m:sub>
                      </m:sSub>
                      <m:r>
                        <a:rPr lang="zh-CN" altLang="en-US" sz="1000" b="1" i="0">
                          <a:solidFill>
                            <a:srgbClr val="002060"/>
                          </a:solidFill>
                          <a:latin typeface="Cambria Math" panose="02040503050406030204" pitchFamily="18" charset="0"/>
                        </a:rPr>
                        <m:t>=</m:t>
                      </m:r>
                      <m:d>
                        <m:dPr>
                          <m:ctrlPr>
                            <a:rPr lang="zh-CN" altLang="en-US" sz="1000" b="1" i="1">
                              <a:solidFill>
                                <a:srgbClr val="002060"/>
                              </a:solidFill>
                              <a:latin typeface="Cambria Math" panose="02040503050406030204" pitchFamily="18" charset="0"/>
                            </a:rPr>
                          </m:ctrlPr>
                        </m:dPr>
                        <m:e>
                          <m:m>
                            <m:mPr>
                              <m:mcs>
                                <m:mc>
                                  <m:mcPr>
                                    <m:count m:val="2"/>
                                    <m:mcJc m:val="center"/>
                                  </m:mcPr>
                                </m:mc>
                              </m:mcs>
                              <m:ctrlPr>
                                <a:rPr lang="zh-CN" altLang="en-US" sz="1000" b="1" i="1">
                                  <a:solidFill>
                                    <a:srgbClr val="002060"/>
                                  </a:solidFill>
                                  <a:latin typeface="Cambria Math" panose="02040503050406030204" pitchFamily="18" charset="0"/>
                                </a:rPr>
                              </m:ctrlPr>
                            </m:mPr>
                            <m:mr>
                              <m:e>
                                <m:m>
                                  <m:mPr>
                                    <m:mcs>
                                      <m:mc>
                                        <m:mcPr>
                                          <m:count m:val="2"/>
                                          <m:mcJc m:val="center"/>
                                        </m:mcPr>
                                      </m:mc>
                                    </m:mcs>
                                    <m:ctrlPr>
                                      <a:rPr lang="zh-CN" altLang="en-US" sz="1000" b="1" i="1">
                                        <a:solidFill>
                                          <a:srgbClr val="002060"/>
                                        </a:solidFill>
                                        <a:latin typeface="Cambria Math" panose="02040503050406030204" pitchFamily="18" charset="0"/>
                                      </a:rPr>
                                    </m:ctrlPr>
                                  </m:mPr>
                                  <m:mr>
                                    <m:e>
                                      <m:r>
                                        <a:rPr lang="zh-CN" altLang="en-US" sz="1000" b="1" i="1">
                                          <a:solidFill>
                                            <a:srgbClr val="002060"/>
                                          </a:solidFill>
                                          <a:latin typeface="Cambria Math" panose="02040503050406030204" pitchFamily="18" charset="0"/>
                                        </a:rPr>
                                        <m:t>𝒄𝒐𝒔</m:t>
                                      </m:r>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𝜽</m:t>
                                          </m:r>
                                        </m:e>
                                        <m:sub>
                                          <m:r>
                                            <a:rPr lang="zh-CN" altLang="en-US" sz="1000" b="1" i="0">
                                              <a:solidFill>
                                                <a:srgbClr val="002060"/>
                                              </a:solidFill>
                                              <a:latin typeface="Cambria Math" panose="02040503050406030204" pitchFamily="18" charset="0"/>
                                            </a:rPr>
                                            <m:t>𝟔</m:t>
                                          </m:r>
                                        </m:sub>
                                      </m:sSub>
                                    </m:e>
                                    <m:e>
                                      <m:r>
                                        <a:rPr lang="zh-CN" altLang="en-US" sz="1000" b="1" i="0">
                                          <a:solidFill>
                                            <a:srgbClr val="002060"/>
                                          </a:solidFill>
                                          <a:latin typeface="Cambria Math" panose="02040503050406030204" pitchFamily="18" charset="0"/>
                                        </a:rPr>
                                        <m:t>−</m:t>
                                      </m:r>
                                      <m:r>
                                        <a:rPr lang="zh-CN" altLang="en-US" sz="1000" b="1" i="1">
                                          <a:solidFill>
                                            <a:srgbClr val="002060"/>
                                          </a:solidFill>
                                          <a:latin typeface="Cambria Math" panose="02040503050406030204" pitchFamily="18" charset="0"/>
                                        </a:rPr>
                                        <m:t>𝒔𝒊𝒏</m:t>
                                      </m:r>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𝜽</m:t>
                                          </m:r>
                                        </m:e>
                                        <m:sub>
                                          <m:r>
                                            <a:rPr lang="zh-CN" altLang="en-US" sz="1000" b="1" i="0">
                                              <a:solidFill>
                                                <a:srgbClr val="002060"/>
                                              </a:solidFill>
                                              <a:latin typeface="Cambria Math" panose="02040503050406030204" pitchFamily="18" charset="0"/>
                                            </a:rPr>
                                            <m:t>𝟔</m:t>
                                          </m:r>
                                        </m:sub>
                                      </m:sSub>
                                    </m:e>
                                  </m:m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𝟎</m:t>
                                      </m:r>
                                    </m:e>
                                  </m:mr>
                                </m:m>
                              </m:e>
                              <m:e>
                                <m:m>
                                  <m:mPr>
                                    <m:mcs>
                                      <m:mc>
                                        <m:mcPr>
                                          <m:count m:val="2"/>
                                          <m:mcJc m:val="center"/>
                                        </m:mcPr>
                                      </m:mc>
                                    </m:mcs>
                                    <m:ctrlPr>
                                      <a:rPr lang="zh-CN" altLang="en-US" sz="1000" b="1" i="1">
                                        <a:solidFill>
                                          <a:srgbClr val="002060"/>
                                        </a:solidFill>
                                        <a:latin typeface="Cambria Math" panose="02040503050406030204" pitchFamily="18" charset="0"/>
                                      </a:rPr>
                                    </m:ctrlPr>
                                  </m:mP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𝟎</m:t>
                                      </m:r>
                                    </m:e>
                                  </m:mr>
                                  <m:mr>
                                    <m:e>
                                      <m:r>
                                        <a:rPr lang="zh-CN" altLang="en-US" sz="1000" b="1" i="0">
                                          <a:solidFill>
                                            <a:srgbClr val="002060"/>
                                          </a:solidFill>
                                          <a:latin typeface="Cambria Math" panose="02040503050406030204" pitchFamily="18" charset="0"/>
                                        </a:rPr>
                                        <m:t>𝟏</m:t>
                                      </m:r>
                                    </m:e>
                                    <m:e>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𝒅</m:t>
                                          </m:r>
                                        </m:e>
                                        <m:sub>
                                          <m:r>
                                            <a:rPr lang="zh-CN" altLang="en-US" sz="1000" b="1" i="0">
                                              <a:solidFill>
                                                <a:srgbClr val="002060"/>
                                              </a:solidFill>
                                              <a:latin typeface="Cambria Math" panose="02040503050406030204" pitchFamily="18" charset="0"/>
                                            </a:rPr>
                                            <m:t>𝟔</m:t>
                                          </m:r>
                                        </m:sub>
                                      </m:sSub>
                                    </m:e>
                                  </m:mr>
                                </m:m>
                              </m:e>
                            </m:mr>
                            <m:mr>
                              <m:e>
                                <m:m>
                                  <m:mPr>
                                    <m:mcs>
                                      <m:mc>
                                        <m:mcPr>
                                          <m:count m:val="2"/>
                                          <m:mcJc m:val="center"/>
                                        </m:mcPr>
                                      </m:mc>
                                    </m:mcs>
                                    <m:ctrlPr>
                                      <a:rPr lang="zh-CN" altLang="en-US" sz="1000" b="1" i="1">
                                        <a:solidFill>
                                          <a:srgbClr val="002060"/>
                                        </a:solidFill>
                                        <a:latin typeface="Cambria Math" panose="02040503050406030204" pitchFamily="18" charset="0"/>
                                      </a:rPr>
                                    </m:ctrlPr>
                                  </m:mPr>
                                  <m:mr>
                                    <m:e>
                                      <m:r>
                                        <a:rPr lang="zh-CN" altLang="en-US" sz="1000" b="1" i="0">
                                          <a:solidFill>
                                            <a:srgbClr val="002060"/>
                                          </a:solidFill>
                                          <a:latin typeface="Cambria Math" panose="02040503050406030204" pitchFamily="18" charset="0"/>
                                        </a:rPr>
                                        <m:t>−</m:t>
                                      </m:r>
                                      <m:r>
                                        <a:rPr lang="zh-CN" altLang="en-US" sz="1000" b="1" i="1">
                                          <a:solidFill>
                                            <a:srgbClr val="002060"/>
                                          </a:solidFill>
                                          <a:latin typeface="Cambria Math" panose="02040503050406030204" pitchFamily="18" charset="0"/>
                                        </a:rPr>
                                        <m:t>𝒔𝒊𝒏</m:t>
                                      </m:r>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𝜽</m:t>
                                          </m:r>
                                        </m:e>
                                        <m:sub>
                                          <m:r>
                                            <a:rPr lang="zh-CN" altLang="en-US" sz="1000" b="1" i="0">
                                              <a:solidFill>
                                                <a:srgbClr val="002060"/>
                                              </a:solidFill>
                                              <a:latin typeface="Cambria Math" panose="02040503050406030204" pitchFamily="18" charset="0"/>
                                            </a:rPr>
                                            <m:t>𝟔</m:t>
                                          </m:r>
                                        </m:sub>
                                      </m:sSub>
                                    </m:e>
                                    <m:e>
                                      <m:r>
                                        <a:rPr lang="zh-CN" altLang="en-US" sz="1000" b="1" i="0">
                                          <a:solidFill>
                                            <a:srgbClr val="002060"/>
                                          </a:solidFill>
                                          <a:latin typeface="Cambria Math" panose="02040503050406030204" pitchFamily="18" charset="0"/>
                                        </a:rPr>
                                        <m:t>−</m:t>
                                      </m:r>
                                      <m:r>
                                        <a:rPr lang="zh-CN" altLang="en-US" sz="1000" b="1" i="1">
                                          <a:solidFill>
                                            <a:srgbClr val="002060"/>
                                          </a:solidFill>
                                          <a:latin typeface="Cambria Math" panose="02040503050406030204" pitchFamily="18" charset="0"/>
                                        </a:rPr>
                                        <m:t>𝒄𝒐𝒔</m:t>
                                      </m:r>
                                      <m:sSub>
                                        <m:sSubPr>
                                          <m:ctrlPr>
                                            <a:rPr lang="zh-CN" altLang="en-US" sz="1000" b="1" i="1">
                                              <a:solidFill>
                                                <a:srgbClr val="002060"/>
                                              </a:solidFill>
                                              <a:latin typeface="Cambria Math" panose="02040503050406030204" pitchFamily="18" charset="0"/>
                                            </a:rPr>
                                          </m:ctrlPr>
                                        </m:sSubPr>
                                        <m:e>
                                          <m:r>
                                            <a:rPr lang="zh-CN" altLang="en-US" sz="1000" b="1" i="1">
                                              <a:solidFill>
                                                <a:srgbClr val="002060"/>
                                              </a:solidFill>
                                              <a:latin typeface="Cambria Math" panose="02040503050406030204" pitchFamily="18" charset="0"/>
                                            </a:rPr>
                                            <m:t>𝜽</m:t>
                                          </m:r>
                                        </m:e>
                                        <m:sub>
                                          <m:r>
                                            <a:rPr lang="zh-CN" altLang="en-US" sz="1000" b="1" i="0">
                                              <a:solidFill>
                                                <a:srgbClr val="002060"/>
                                              </a:solidFill>
                                              <a:latin typeface="Cambria Math" panose="02040503050406030204" pitchFamily="18" charset="0"/>
                                            </a:rPr>
                                            <m:t>𝟔</m:t>
                                          </m:r>
                                        </m:sub>
                                      </m:sSub>
                                    </m:e>
                                  </m:m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𝟎</m:t>
                                      </m:r>
                                    </m:e>
                                  </m:mr>
                                </m:m>
                              </m:e>
                              <m:e>
                                <m:m>
                                  <m:mPr>
                                    <m:mcs>
                                      <m:mc>
                                        <m:mcPr>
                                          <m:count m:val="2"/>
                                          <m:mcJc m:val="center"/>
                                        </m:mcPr>
                                      </m:mc>
                                    </m:mcs>
                                    <m:ctrlPr>
                                      <a:rPr lang="zh-CN" altLang="en-US" sz="1000" b="1" i="1">
                                        <a:solidFill>
                                          <a:srgbClr val="002060"/>
                                        </a:solidFill>
                                        <a:latin typeface="Cambria Math" panose="02040503050406030204" pitchFamily="18" charset="0"/>
                                      </a:rPr>
                                    </m:ctrlPr>
                                  </m:mP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𝟎</m:t>
                                      </m:r>
                                    </m:e>
                                  </m:mr>
                                  <m:mr>
                                    <m:e>
                                      <m:r>
                                        <a:rPr lang="zh-CN" altLang="en-US" sz="1000" b="1" i="0">
                                          <a:solidFill>
                                            <a:srgbClr val="002060"/>
                                          </a:solidFill>
                                          <a:latin typeface="Cambria Math" panose="02040503050406030204" pitchFamily="18" charset="0"/>
                                        </a:rPr>
                                        <m:t>𝟎</m:t>
                                      </m:r>
                                    </m:e>
                                    <m:e>
                                      <m:r>
                                        <a:rPr lang="zh-CN" altLang="en-US" sz="1000" b="1" i="0">
                                          <a:solidFill>
                                            <a:srgbClr val="002060"/>
                                          </a:solidFill>
                                          <a:latin typeface="Cambria Math" panose="02040503050406030204" pitchFamily="18" charset="0"/>
                                        </a:rPr>
                                        <m:t>𝟏</m:t>
                                      </m:r>
                                    </m:e>
                                  </m:mr>
                                </m:m>
                              </m:e>
                            </m:mr>
                          </m:m>
                        </m:e>
                      </m:d>
                    </m:oMath>
                  </m:oMathPara>
                </a14:m>
                <a:endParaRPr lang="zh-CN" altLang="en-US" sz="1000" b="1" dirty="0">
                  <a:solidFill>
                    <a:srgbClr val="002060"/>
                  </a:solidFill>
                </a:endParaRPr>
              </a:p>
            </p:txBody>
          </p:sp>
        </mc:Choice>
        <mc:Fallback xmlns="">
          <p:sp>
            <p:nvSpPr>
              <p:cNvPr id="19" name="矩形 18"/>
              <p:cNvSpPr>
                <a:spLocks noRot="1" noChangeAspect="1" noMove="1" noResize="1" noEditPoints="1" noAdjustHandles="1" noChangeArrowheads="1" noChangeShapeType="1" noTextEdit="1"/>
              </p:cNvSpPr>
              <p:nvPr/>
            </p:nvSpPr>
            <p:spPr>
              <a:xfrm>
                <a:off x="4402626" y="4242090"/>
                <a:ext cx="2280496" cy="667170"/>
              </a:xfrm>
              <a:prstGeom prst="rect">
                <a:avLst/>
              </a:prstGeom>
              <a:blipFill>
                <a:blip r:embed="rId12"/>
                <a:stretch>
                  <a:fillRect/>
                </a:stretch>
              </a:blipFill>
            </p:spPr>
            <p:txBody>
              <a:bodyPr/>
              <a:lstStyle/>
              <a:p>
                <a:r>
                  <a:rPr lang="zh-CN" altLang="en-US">
                    <a:noFill/>
                  </a:rPr>
                  <a:t> </a:t>
                </a:r>
              </a:p>
            </p:txBody>
          </p:sp>
        </mc:Fallback>
      </mc:AlternateContent>
      <p:sp>
        <p:nvSpPr>
          <p:cNvPr id="20" name="形状"/>
          <p:cNvSpPr/>
          <p:nvPr>
            <p:custDataLst>
              <p:tags r:id="rId1"/>
            </p:custDataLst>
          </p:nvPr>
        </p:nvSpPr>
        <p:spPr>
          <a:xfrm>
            <a:off x="365396" y="1589217"/>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2" name="矩形 21"/>
          <p:cNvSpPr/>
          <p:nvPr/>
        </p:nvSpPr>
        <p:spPr>
          <a:xfrm>
            <a:off x="682355" y="1569691"/>
            <a:ext cx="763351" cy="369332"/>
          </a:xfrm>
          <a:prstGeom prst="rect">
            <a:avLst/>
          </a:prstGeom>
        </p:spPr>
        <p:txBody>
          <a:bodyPr wrap="none">
            <a:spAutoFit/>
          </a:bodyPr>
          <a:lstStyle/>
          <a:p>
            <a:r>
              <a:rPr lang="zh-CN" altLang="en-US" b="1" dirty="0">
                <a:solidFill>
                  <a:srgbClr val="002060"/>
                </a:solidFill>
              </a:rPr>
              <a:t>第1步</a:t>
            </a:r>
          </a:p>
        </p:txBody>
      </p:sp>
      <mc:AlternateContent xmlns:mc="http://schemas.openxmlformats.org/markup-compatibility/2006" xmlns:a14="http://schemas.microsoft.com/office/drawing/2010/main">
        <mc:Choice Requires="a14">
          <p:sp>
            <p:nvSpPr>
              <p:cNvPr id="13" name="矩形 12"/>
              <p:cNvSpPr/>
              <p:nvPr/>
            </p:nvSpPr>
            <p:spPr>
              <a:xfrm>
                <a:off x="1689144" y="1325230"/>
                <a:ext cx="5201832" cy="78303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r>
                            <a:rPr lang="zh-CN" altLang="en-US" sz="1200" i="0">
                              <a:latin typeface="Cambria Math" panose="02040503050406030204" pitchFamily="18" charset="0"/>
                            </a:rPr>
                            <m:t>−1</m:t>
                          </m:r>
                        </m:sup>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1">
                                  <a:latin typeface="Cambria Math" panose="02040503050406030204" pitchFamily="18" charset="0"/>
                                </a:rPr>
                                <m:t>𝑖</m:t>
                              </m:r>
                            </m:sub>
                          </m:sSub>
                        </m:e>
                      </m:sPre>
                      <m:r>
                        <a:rPr lang="zh-CN" altLang="en-US" sz="1200" i="0">
                          <a:latin typeface="Cambria Math" panose="02040503050406030204" pitchFamily="18" charset="0"/>
                        </a:rPr>
                        <m:t>=</m:t>
                      </m:r>
                      <m:d>
                        <m:dPr>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m>
                                  <m:mPr>
                                    <m:mcs>
                                      <m:mc>
                                        <m:mcPr>
                                          <m:count m:val="2"/>
                                          <m:mcJc m:val="center"/>
                                        </m:mcPr>
                                      </m:mc>
                                    </m:mcs>
                                    <m:ctrlPr>
                                      <a:rPr lang="zh-CN" altLang="en-US" sz="1200" i="1">
                                        <a:latin typeface="Cambria Math" panose="02040503050406030204" pitchFamily="18" charset="0"/>
                                      </a:rPr>
                                    </m:ctrlPr>
                                  </m:mPr>
                                  <m:mr>
                                    <m:e>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cos</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𝑖</m:t>
                                              </m:r>
                                            </m:sub>
                                          </m:sSub>
                                        </m:e>
                                      </m:func>
                                    </m:e>
                                    <m:e>
                                      <m:r>
                                        <a:rPr lang="zh-CN" altLang="en-US" sz="1200" i="0">
                                          <a:latin typeface="Cambria Math" panose="02040503050406030204" pitchFamily="18" charset="0"/>
                                        </a:rPr>
                                        <m:t>−</m:t>
                                      </m:r>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sin</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𝑖</m:t>
                                              </m:r>
                                            </m:sub>
                                          </m:sSub>
                                        </m:e>
                                      </m:func>
                                    </m:e>
                                  </m:mr>
                                  <m:mr>
                                    <m:e>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sin</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𝑖</m:t>
                                              </m:r>
                                            </m:sub>
                                          </m:sSub>
                                        </m:e>
                                      </m:func>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cos</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e>
                                      </m:func>
                                    </m:e>
                                    <m:e>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cos</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𝑖</m:t>
                                              </m:r>
                                            </m:sub>
                                          </m:sSub>
                                        </m:e>
                                      </m:func>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cos</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e>
                                      </m:func>
                                    </m:e>
                                  </m:mr>
                                </m:m>
                              </m:e>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0</m:t>
                                      </m:r>
                                    </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𝑎</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e>
                                  </m:mr>
                                  <m:mr>
                                    <m:e>
                                      <m:r>
                                        <a:rPr lang="zh-CN" altLang="en-US" sz="1200" i="0">
                                          <a:latin typeface="Cambria Math" panose="02040503050406030204" pitchFamily="18" charset="0"/>
                                        </a:rPr>
                                        <m:t>−</m:t>
                                      </m:r>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sin</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e>
                                      </m:func>
                                    </m:e>
                                    <m:e>
                                      <m:r>
                                        <a:rPr lang="zh-CN" altLang="en-US" sz="1200" i="0">
                                          <a:latin typeface="Cambria Math" panose="02040503050406030204" pitchFamily="18" charset="0"/>
                                        </a:rPr>
                                        <m:t>−</m:t>
                                      </m:r>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sin</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e>
                                      </m:func>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r>
                                            <a:rPr lang="zh-CN" altLang="en-US" sz="1200" i="1">
                                              <a:latin typeface="Cambria Math" panose="02040503050406030204" pitchFamily="18" charset="0"/>
                                            </a:rPr>
                                            <m:t>𝑖</m:t>
                                          </m:r>
                                        </m:sub>
                                      </m:sSub>
                                    </m:e>
                                  </m:mr>
                                </m:m>
                              </m:e>
                            </m:mr>
                            <m:mr>
                              <m:e>
                                <m:m>
                                  <m:mPr>
                                    <m:mcs>
                                      <m:mc>
                                        <m:mcPr>
                                          <m:count m:val="2"/>
                                          <m:mcJc m:val="center"/>
                                        </m:mcPr>
                                      </m:mc>
                                    </m:mcs>
                                    <m:ctrlPr>
                                      <a:rPr lang="zh-CN" altLang="en-US" sz="1200" i="1">
                                        <a:latin typeface="Cambria Math" panose="02040503050406030204" pitchFamily="18" charset="0"/>
                                      </a:rPr>
                                    </m:ctrlPr>
                                  </m:mPr>
                                  <m:mr>
                                    <m:e>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sin</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𝑖</m:t>
                                              </m:r>
                                            </m:sub>
                                          </m:sSub>
                                        </m:e>
                                      </m:func>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sin</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e>
                                      </m:func>
                                    </m:e>
                                    <m:e>
                                      <m:func>
                                        <m:funcPr>
                                          <m:ctrlPr>
                                            <a:rPr lang="zh-CN" altLang="en-US" sz="1200" i="1">
                                              <a:latin typeface="Cambria Math" panose="02040503050406030204" pitchFamily="18" charset="0"/>
                                            </a:rPr>
                                          </m:ctrlPr>
                                        </m:funcPr>
                                        <m:fName>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cos</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𝑖</m:t>
                                                  </m:r>
                                                </m:sub>
                                              </m:sSub>
                                            </m:e>
                                          </m:func>
                                          <m:r>
                                            <m:rPr>
                                              <m:sty m:val="p"/>
                                            </m:rPr>
                                            <a:rPr lang="zh-CN" altLang="en-US" sz="1200" i="0">
                                              <a:latin typeface="Cambria Math" panose="02040503050406030204" pitchFamily="18" charset="0"/>
                                            </a:rPr>
                                            <m:t>sin</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e>
                                      </m:func>
                                    </m:e>
                                  </m:mr>
                                  <m:mr>
                                    <m:e>
                                      <m:r>
                                        <a:rPr lang="zh-CN" altLang="en-US" sz="1200" i="0">
                                          <a:latin typeface="Cambria Math" panose="02040503050406030204" pitchFamily="18" charset="0"/>
                                        </a:rPr>
                                        <m:t>0</m:t>
                                      </m:r>
                                    </m:e>
                                    <m:e>
                                      <m:r>
                                        <a:rPr lang="zh-CN" altLang="en-US" sz="1200" i="0">
                                          <a:latin typeface="Cambria Math" panose="02040503050406030204" pitchFamily="18" charset="0"/>
                                        </a:rPr>
                                        <m:t>0</m:t>
                                      </m:r>
                                    </m:e>
                                  </m:mr>
                                </m:m>
                              </m:e>
                              <m:e>
                                <m:m>
                                  <m:mPr>
                                    <m:mcs>
                                      <m:mc>
                                        <m:mcPr>
                                          <m:count m:val="2"/>
                                          <m:mcJc m:val="center"/>
                                        </m:mcPr>
                                      </m:mc>
                                    </m:mcs>
                                    <m:ctrlPr>
                                      <a:rPr lang="zh-CN" altLang="en-US" sz="1200" i="1">
                                        <a:latin typeface="Cambria Math" panose="02040503050406030204" pitchFamily="18" charset="0"/>
                                      </a:rPr>
                                    </m:ctrlPr>
                                  </m:mPr>
                                  <m:mr>
                                    <m:e>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cos</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e>
                                      </m:func>
                                    </m:e>
                                    <m:e>
                                      <m:sSub>
                                        <m:sSubPr>
                                          <m:ctrlPr>
                                            <a:rPr lang="zh-CN" altLang="en-US" sz="1200" i="1">
                                              <a:latin typeface="Cambria Math" panose="02040503050406030204" pitchFamily="18" charset="0"/>
                                            </a:rPr>
                                          </m:ctrlPr>
                                        </m:sSubPr>
                                        <m:e>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cos</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e>
                                          </m:func>
                                          <m:r>
                                            <a:rPr lang="zh-CN" altLang="en-US" sz="1200" i="1">
                                              <a:latin typeface="Cambria Math" panose="02040503050406030204" pitchFamily="18" charset="0"/>
                                            </a:rPr>
                                            <m:t>𝑑</m:t>
                                          </m:r>
                                        </m:e>
                                        <m:sub>
                                          <m:r>
                                            <a:rPr lang="zh-CN" altLang="en-US" sz="1200" i="1">
                                              <a:latin typeface="Cambria Math" panose="02040503050406030204" pitchFamily="18" charset="0"/>
                                            </a:rPr>
                                            <m:t>𝑖</m:t>
                                          </m:r>
                                        </m:sub>
                                      </m:sSub>
                                    </m:e>
                                  </m:mr>
                                  <m:mr>
                                    <m:e>
                                      <m:r>
                                        <a:rPr lang="zh-CN" altLang="en-US" sz="1200" i="0">
                                          <a:latin typeface="Cambria Math" panose="02040503050406030204" pitchFamily="18" charset="0"/>
                                        </a:rPr>
                                        <m:t>0</m:t>
                                      </m:r>
                                    </m:e>
                                    <m:e>
                                      <m:r>
                                        <a:rPr lang="zh-CN" altLang="en-US" sz="1200" i="0">
                                          <a:latin typeface="Cambria Math" panose="02040503050406030204" pitchFamily="18" charset="0"/>
                                        </a:rPr>
                                        <m:t>1</m:t>
                                      </m:r>
                                    </m:e>
                                  </m:mr>
                                </m:m>
                              </m:e>
                            </m:mr>
                          </m:m>
                        </m:e>
                      </m:d>
                    </m:oMath>
                  </m:oMathPara>
                </a14:m>
                <a:endParaRPr lang="zh-CN" altLang="en-US" sz="1200" dirty="0"/>
              </a:p>
            </p:txBody>
          </p:sp>
        </mc:Choice>
        <mc:Fallback xmlns="">
          <p:sp>
            <p:nvSpPr>
              <p:cNvPr id="13" name="矩形 12"/>
              <p:cNvSpPr>
                <a:spLocks noRot="1" noChangeAspect="1" noMove="1" noResize="1" noEditPoints="1" noAdjustHandles="1" noChangeArrowheads="1" noChangeShapeType="1" noTextEdit="1"/>
              </p:cNvSpPr>
              <p:nvPr/>
            </p:nvSpPr>
            <p:spPr>
              <a:xfrm>
                <a:off x="1689144" y="1325230"/>
                <a:ext cx="5201832" cy="783035"/>
              </a:xfrm>
              <a:prstGeom prst="rect">
                <a:avLst/>
              </a:prstGeom>
              <a:blipFill>
                <a:blip r:embed="rId1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6929686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Inverse Kinematics of 6R </a:t>
              </a:r>
              <a:r>
                <a:rPr lang="en-US" altLang="zh-CN" sz="1000" dirty="0">
                  <a:latin typeface="Arial" panose="020B0604020202020204" pitchFamily="34" charset="0"/>
                  <a:ea typeface="微软雅黑" panose="020B0503020204020204" charset="-122"/>
                  <a:sym typeface="+mn-ea"/>
                </a:rPr>
                <a:t>S</a:t>
              </a:r>
              <a:r>
                <a:rPr lang="en-US" altLang="zh-CN" sz="1000" dirty="0" smtClean="0">
                  <a:latin typeface="Arial" panose="020B0604020202020204" pitchFamily="34" charset="0"/>
                  <a:ea typeface="微软雅黑" panose="020B0503020204020204" charset="-122"/>
                  <a:sym typeface="+mn-ea"/>
                </a:rPr>
                <a:t>erial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6R</a:t>
              </a:r>
              <a:r>
                <a:rPr lang="zh-CN" altLang="en-US" sz="2000" b="1" dirty="0">
                  <a:latin typeface="Arial" panose="020B0604020202020204" pitchFamily="34" charset="0"/>
                  <a:ea typeface="微软雅黑" panose="020B0503020204020204" charset="-122"/>
                  <a:sym typeface="+mn-ea"/>
                </a:rPr>
                <a:t>串联机器人逆运动学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p:nvSpPr>
        <p:spPr>
          <a:xfrm>
            <a:off x="2178137" y="882209"/>
            <a:ext cx="4999115" cy="400110"/>
          </a:xfrm>
          <a:prstGeom prst="rect">
            <a:avLst/>
          </a:prstGeom>
        </p:spPr>
        <p:txBody>
          <a:bodyPr wrap="square">
            <a:spAutoFit/>
          </a:bodyPr>
          <a:lstStyle/>
          <a:p>
            <a:r>
              <a:rPr lang="zh-CN" altLang="en-US" sz="2000" b="1" dirty="0">
                <a:solidFill>
                  <a:srgbClr val="002060"/>
                </a:solidFill>
              </a:rPr>
              <a:t>满足Pieper准则的解析解求</a:t>
            </a:r>
            <a:r>
              <a:rPr lang="zh-CN" altLang="en-US" sz="2000" b="1" dirty="0" smtClean="0">
                <a:solidFill>
                  <a:srgbClr val="002060"/>
                </a:solidFill>
              </a:rPr>
              <a:t>法</a:t>
            </a:r>
            <a:r>
              <a:rPr lang="en-US" altLang="zh-CN" sz="2000" b="1" dirty="0">
                <a:solidFill>
                  <a:srgbClr val="002060"/>
                </a:solidFill>
              </a:rPr>
              <a:t>(</a:t>
            </a:r>
            <a:r>
              <a:rPr lang="zh-CN" altLang="en-US" sz="2000" b="1" dirty="0">
                <a:solidFill>
                  <a:srgbClr val="002060"/>
                </a:solidFill>
              </a:rPr>
              <a:t>实例讲解</a:t>
            </a:r>
            <a:r>
              <a:rPr lang="en-US" altLang="zh-CN" sz="2000" b="1" dirty="0" smtClean="0">
                <a:solidFill>
                  <a:srgbClr val="002060"/>
                </a:solidFill>
              </a:rPr>
              <a:t>)</a:t>
            </a:r>
            <a:endParaRPr lang="zh-CN" altLang="en-US" sz="2000" b="1" dirty="0">
              <a:solidFill>
                <a:srgbClr val="002060"/>
              </a:solidFill>
            </a:endParaRPr>
          </a:p>
        </p:txBody>
      </p:sp>
      <p:sp>
        <p:nvSpPr>
          <p:cNvPr id="20" name="形状"/>
          <p:cNvSpPr/>
          <p:nvPr>
            <p:custDataLst>
              <p:tags r:id="rId1"/>
            </p:custDataLst>
          </p:nvPr>
        </p:nvSpPr>
        <p:spPr>
          <a:xfrm>
            <a:off x="365396" y="1589217"/>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2" name="矩形 21"/>
          <p:cNvSpPr/>
          <p:nvPr/>
        </p:nvSpPr>
        <p:spPr>
          <a:xfrm>
            <a:off x="682355" y="1569691"/>
            <a:ext cx="763351" cy="369332"/>
          </a:xfrm>
          <a:prstGeom prst="rect">
            <a:avLst/>
          </a:prstGeom>
        </p:spPr>
        <p:txBody>
          <a:bodyPr wrap="none">
            <a:spAutoFit/>
          </a:bodyPr>
          <a:lstStyle/>
          <a:p>
            <a:r>
              <a:rPr lang="zh-CN" altLang="en-US" b="1" dirty="0">
                <a:solidFill>
                  <a:srgbClr val="002060"/>
                </a:solidFill>
              </a:rPr>
              <a:t>第1步</a:t>
            </a:r>
          </a:p>
        </p:txBody>
      </p:sp>
      <p:sp>
        <p:nvSpPr>
          <p:cNvPr id="13" name="矩形 12"/>
          <p:cNvSpPr/>
          <p:nvPr/>
        </p:nvSpPr>
        <p:spPr>
          <a:xfrm>
            <a:off x="2161534" y="1203598"/>
            <a:ext cx="2441694" cy="338554"/>
          </a:xfrm>
          <a:prstGeom prst="rect">
            <a:avLst/>
          </a:prstGeom>
        </p:spPr>
        <p:txBody>
          <a:bodyPr wrap="none">
            <a:spAutoFit/>
          </a:bodyPr>
          <a:lstStyle/>
          <a:p>
            <a:r>
              <a:rPr lang="zh-CN" altLang="zh-CN" sz="1600" dirty="0">
                <a:ea typeface="等线" panose="02010600030101010101" pitchFamily="2" charset="-122"/>
                <a:cs typeface="Times New Roman" panose="02020603050405020304" pitchFamily="18" charset="0"/>
              </a:rPr>
              <a:t>继续求取一些中间矩阵：</a:t>
            </a:r>
            <a:endParaRPr lang="zh-CN" altLang="en-US" sz="1600" dirty="0"/>
          </a:p>
        </p:txBody>
      </p:sp>
      <mc:AlternateContent xmlns:mc="http://schemas.openxmlformats.org/markup-compatibility/2006" xmlns:a14="http://schemas.microsoft.com/office/drawing/2010/main">
        <mc:Choice Requires="a14">
          <p:sp>
            <p:nvSpPr>
              <p:cNvPr id="14" name="矩形 13"/>
              <p:cNvSpPr/>
              <p:nvPr/>
            </p:nvSpPr>
            <p:spPr>
              <a:xfrm>
                <a:off x="827584" y="1542152"/>
                <a:ext cx="7848872" cy="124200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000" i="1">
                              <a:latin typeface="Cambria Math" panose="02040503050406030204" pitchFamily="18" charset="0"/>
                            </a:rPr>
                          </m:ctrlPr>
                        </m:sSubPr>
                        <m:e>
                          <m:sPre>
                            <m:sPrePr>
                              <m:ctrlPr>
                                <a:rPr lang="zh-CN" altLang="en-US" sz="1000" i="1">
                                  <a:latin typeface="Cambria Math" panose="02040503050406030204" pitchFamily="18" charset="0"/>
                                </a:rPr>
                              </m:ctrlPr>
                            </m:sPrePr>
                            <m:sub/>
                            <m:sup>
                              <m:r>
                                <a:rPr lang="zh-CN" altLang="en-US" sz="1000" i="0">
                                  <a:latin typeface="Cambria Math" panose="02040503050406030204" pitchFamily="18" charset="0"/>
                                </a:rPr>
                                <m:t>1</m:t>
                              </m:r>
                            </m:sup>
                            <m:e>
                              <m:r>
                                <a:rPr lang="zh-CN" altLang="en-US" sz="1000" i="1">
                                  <a:latin typeface="Cambria Math" panose="02040503050406030204" pitchFamily="18" charset="0"/>
                                </a:rPr>
                                <m:t>𝑇</m:t>
                              </m:r>
                            </m:e>
                          </m:sPre>
                        </m:e>
                        <m:sub>
                          <m:r>
                            <a:rPr lang="zh-CN" altLang="en-US" sz="1000" i="0">
                              <a:latin typeface="Cambria Math" panose="02040503050406030204" pitchFamily="18" charset="0"/>
                            </a:rPr>
                            <m:t>3</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sPre>
                            <m:sPrePr>
                              <m:ctrlPr>
                                <a:rPr lang="zh-CN" altLang="en-US" sz="1000" i="1">
                                  <a:latin typeface="Cambria Math" panose="02040503050406030204" pitchFamily="18" charset="0"/>
                                </a:rPr>
                              </m:ctrlPr>
                            </m:sPrePr>
                            <m:sub/>
                            <m:sup>
                              <m:r>
                                <a:rPr lang="zh-CN" altLang="en-US" sz="1000" i="0">
                                  <a:latin typeface="Cambria Math" panose="02040503050406030204" pitchFamily="18" charset="0"/>
                                </a:rPr>
                                <m:t>1</m:t>
                              </m:r>
                            </m:sup>
                            <m:e>
                              <m:r>
                                <a:rPr lang="zh-CN" altLang="en-US" sz="1000" i="1">
                                  <a:latin typeface="Cambria Math" panose="02040503050406030204" pitchFamily="18" charset="0"/>
                                </a:rPr>
                                <m:t>𝑇</m:t>
                              </m:r>
                            </m:e>
                          </m:sPre>
                        </m:e>
                        <m:sub>
                          <m:r>
                            <a:rPr lang="zh-CN" altLang="en-US" sz="1000" i="0">
                              <a:latin typeface="Cambria Math" panose="02040503050406030204" pitchFamily="18" charset="0"/>
                            </a:rPr>
                            <m:t>2</m:t>
                          </m:r>
                        </m:sub>
                      </m:sSub>
                      <m:sSub>
                        <m:sSubPr>
                          <m:ctrlPr>
                            <a:rPr lang="zh-CN" altLang="en-US" sz="1000" i="1">
                              <a:latin typeface="Cambria Math" panose="02040503050406030204" pitchFamily="18" charset="0"/>
                            </a:rPr>
                          </m:ctrlPr>
                        </m:sSubPr>
                        <m:e>
                          <m:sPre>
                            <m:sPrePr>
                              <m:ctrlPr>
                                <a:rPr lang="zh-CN" altLang="en-US" sz="1000" i="1">
                                  <a:latin typeface="Cambria Math" panose="02040503050406030204" pitchFamily="18" charset="0"/>
                                </a:rPr>
                              </m:ctrlPr>
                            </m:sPrePr>
                            <m:sub/>
                            <m:sup>
                              <m:r>
                                <a:rPr lang="zh-CN" altLang="en-US" sz="1000" i="0">
                                  <a:latin typeface="Cambria Math" panose="02040503050406030204" pitchFamily="18" charset="0"/>
                                </a:rPr>
                                <m:t>2</m:t>
                              </m:r>
                            </m:sup>
                            <m:e>
                              <m:r>
                                <a:rPr lang="zh-CN" altLang="en-US" sz="1000" i="1">
                                  <a:latin typeface="Cambria Math" panose="02040503050406030204" pitchFamily="18" charset="0"/>
                                </a:rPr>
                                <m:t>𝑇</m:t>
                              </m:r>
                            </m:e>
                          </m:sPre>
                        </m:e>
                        <m:sub>
                          <m:r>
                            <a:rPr lang="zh-CN" altLang="en-US" sz="1000" i="0">
                              <a:latin typeface="Cambria Math" panose="02040503050406030204" pitchFamily="18" charset="0"/>
                            </a:rPr>
                            <m:t>3</m:t>
                          </m:r>
                        </m:sub>
                      </m:sSub>
                      <m:r>
                        <a:rPr lang="zh-CN" altLang="en-US" sz="1000" i="0">
                          <a:latin typeface="Cambria Math" panose="02040503050406030204" pitchFamily="18" charset="0"/>
                        </a:rPr>
                        <m:t>=</m:t>
                      </m:r>
                      <m:d>
                        <m:dPr>
                          <m:ctrlPr>
                            <a:rPr lang="zh-CN" altLang="en-US" sz="1000" i="1">
                              <a:latin typeface="Cambria Math" panose="02040503050406030204" pitchFamily="18" charset="0"/>
                            </a:rPr>
                          </m:ctrlPr>
                        </m:dPr>
                        <m:e>
                          <m:m>
                            <m:mPr>
                              <m:mcs>
                                <m:mc>
                                  <m:mcPr>
                                    <m:count m:val="2"/>
                                    <m:mcJc m:val="center"/>
                                  </m:mcPr>
                                </m:mc>
                              </m:mcs>
                              <m:ctrlPr>
                                <a:rPr lang="zh-CN" altLang="en-US" sz="1000" i="1">
                                  <a:latin typeface="Cambria Math" panose="02040503050406030204" pitchFamily="18" charset="0"/>
                                </a:rPr>
                              </m:ctrlPr>
                            </m:mPr>
                            <m:mr>
                              <m:e>
                                <m:m>
                                  <m:mPr>
                                    <m:mcs>
                                      <m:mc>
                                        <m:mcPr>
                                          <m:count m:val="2"/>
                                          <m:mcJc m:val="center"/>
                                        </m:mcPr>
                                      </m:mc>
                                    </m:mcs>
                                    <m:ctrlPr>
                                      <a:rPr lang="zh-CN" altLang="en-US" sz="1000" i="1">
                                        <a:latin typeface="Cambria Math" panose="02040503050406030204" pitchFamily="18" charset="0"/>
                                      </a:rPr>
                                    </m:ctrlPr>
                                  </m:mPr>
                                  <m:mr>
                                    <m:e>
                                      <m:r>
                                        <a:rPr lang="zh-CN" altLang="en-US" sz="1000" i="1">
                                          <a:latin typeface="Cambria Math" panose="02040503050406030204" pitchFamily="18" charset="0"/>
                                        </a:rPr>
                                        <m:t>𝑐𝑜𝑠</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2</m:t>
                                          </m:r>
                                        </m:sub>
                                      </m:sSub>
                                    </m:e>
                                    <m:e>
                                      <m:r>
                                        <a:rPr lang="zh-CN" altLang="en-US" sz="1000" i="0">
                                          <a:latin typeface="Cambria Math" panose="02040503050406030204" pitchFamily="18" charset="0"/>
                                        </a:rPr>
                                        <m:t>−</m:t>
                                      </m:r>
                                      <m:r>
                                        <a:rPr lang="zh-CN" altLang="en-US" sz="1000" i="1">
                                          <a:latin typeface="Cambria Math" panose="02040503050406030204" pitchFamily="18" charset="0"/>
                                        </a:rPr>
                                        <m:t>𝑠𝑖𝑛</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2</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
                              </m:e>
                              <m:e>
                                <m:m>
                                  <m:mPr>
                                    <m:mcs>
                                      <m:mc>
                                        <m:mcPr>
                                          <m:count m:val="2"/>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r>
                                    <m:e>
                                      <m:r>
                                        <a:rPr lang="zh-CN" altLang="en-US" sz="1000" i="0">
                                          <a:latin typeface="Cambria Math" panose="02040503050406030204" pitchFamily="18" charset="0"/>
                                        </a:rPr>
                                        <m:t>−1</m:t>
                                      </m:r>
                                    </m:e>
                                    <m:e>
                                      <m:r>
                                        <a:rPr lang="zh-CN" altLang="en-US" sz="1000" i="0">
                                          <a:latin typeface="Cambria Math" panose="02040503050406030204" pitchFamily="18" charset="0"/>
                                        </a:rPr>
                                        <m:t>0</m:t>
                                      </m:r>
                                    </m:e>
                                  </m:mr>
                                </m:m>
                              </m:e>
                            </m:mr>
                            <m:mr>
                              <m:e>
                                <m:m>
                                  <m:mPr>
                                    <m:mcs>
                                      <m:mc>
                                        <m:mcPr>
                                          <m:count m:val="2"/>
                                          <m:mcJc m:val="center"/>
                                        </m:mcPr>
                                      </m:mc>
                                    </m:mcs>
                                    <m:ctrlPr>
                                      <a:rPr lang="zh-CN" altLang="en-US" sz="1000" i="1">
                                        <a:latin typeface="Cambria Math" panose="02040503050406030204" pitchFamily="18" charset="0"/>
                                      </a:rPr>
                                    </m:ctrlPr>
                                  </m:mPr>
                                  <m:mr>
                                    <m:e>
                                      <m:r>
                                        <a:rPr lang="zh-CN" altLang="en-US" sz="1000" i="1">
                                          <a:latin typeface="Cambria Math" panose="02040503050406030204" pitchFamily="18" charset="0"/>
                                        </a:rPr>
                                        <m:t>𝑠𝑖𝑛</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2</m:t>
                                          </m:r>
                                        </m:sub>
                                      </m:sSub>
                                    </m:e>
                                    <m:e>
                                      <m:r>
                                        <a:rPr lang="zh-CN" altLang="en-US" sz="1000" i="1">
                                          <a:latin typeface="Cambria Math" panose="02040503050406030204" pitchFamily="18" charset="0"/>
                                        </a:rPr>
                                        <m:t>𝑐𝑜𝑠</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2</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
                              </m:e>
                              <m:e>
                                <m:m>
                                  <m:mPr>
                                    <m:mcs>
                                      <m:mc>
                                        <m:mcPr>
                                          <m:count m:val="2"/>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r>
                                    <m:e>
                                      <m:r>
                                        <a:rPr lang="zh-CN" altLang="en-US" sz="1000" i="0">
                                          <a:latin typeface="Cambria Math" panose="02040503050406030204" pitchFamily="18" charset="0"/>
                                        </a:rPr>
                                        <m:t>0</m:t>
                                      </m:r>
                                    </m:e>
                                    <m:e>
                                      <m:r>
                                        <a:rPr lang="zh-CN" altLang="en-US" sz="1000" i="0">
                                          <a:latin typeface="Cambria Math" panose="02040503050406030204" pitchFamily="18" charset="0"/>
                                        </a:rPr>
                                        <m:t>1</m:t>
                                      </m:r>
                                    </m:e>
                                  </m:mr>
                                </m:m>
                              </m:e>
                            </m:mr>
                          </m:m>
                        </m:e>
                      </m:d>
                      <m:d>
                        <m:dPr>
                          <m:ctrlPr>
                            <a:rPr lang="zh-CN" altLang="en-US" sz="1000" i="1">
                              <a:latin typeface="Cambria Math" panose="02040503050406030204" pitchFamily="18" charset="0"/>
                            </a:rPr>
                          </m:ctrlPr>
                        </m:dPr>
                        <m:e>
                          <m:m>
                            <m:mPr>
                              <m:mcs>
                                <m:mc>
                                  <m:mcPr>
                                    <m:count m:val="2"/>
                                    <m:mcJc m:val="center"/>
                                  </m:mcPr>
                                </m:mc>
                              </m:mcs>
                              <m:ctrlPr>
                                <a:rPr lang="zh-CN" altLang="en-US" sz="1000" i="1">
                                  <a:latin typeface="Cambria Math" panose="02040503050406030204" pitchFamily="18" charset="0"/>
                                </a:rPr>
                              </m:ctrlPr>
                            </m:mPr>
                            <m:mr>
                              <m:e>
                                <m:m>
                                  <m:mPr>
                                    <m:mcs>
                                      <m:mc>
                                        <m:mcPr>
                                          <m:count m:val="2"/>
                                          <m:mcJc m:val="center"/>
                                        </m:mcPr>
                                      </m:mc>
                                    </m:mcs>
                                    <m:ctrlPr>
                                      <a:rPr lang="zh-CN" altLang="en-US" sz="1000" i="1">
                                        <a:latin typeface="Cambria Math" panose="02040503050406030204" pitchFamily="18" charset="0"/>
                                      </a:rPr>
                                    </m:ctrlPr>
                                  </m:mPr>
                                  <m:mr>
                                    <m:e>
                                      <m:r>
                                        <a:rPr lang="zh-CN" altLang="en-US" sz="1000" i="1">
                                          <a:latin typeface="Cambria Math" panose="02040503050406030204" pitchFamily="18" charset="0"/>
                                        </a:rPr>
                                        <m:t>𝑐𝑜𝑠</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3</m:t>
                                          </m:r>
                                        </m:sub>
                                      </m:sSub>
                                    </m:e>
                                    <m:e>
                                      <m:r>
                                        <a:rPr lang="zh-CN" altLang="en-US" sz="1000" i="0">
                                          <a:latin typeface="Cambria Math" panose="02040503050406030204" pitchFamily="18" charset="0"/>
                                        </a:rPr>
                                        <m:t>−</m:t>
                                      </m:r>
                                      <m:r>
                                        <a:rPr lang="zh-CN" altLang="en-US" sz="1000" i="1">
                                          <a:latin typeface="Cambria Math" panose="02040503050406030204" pitchFamily="18" charset="0"/>
                                        </a:rPr>
                                        <m:t>𝑠𝑖𝑛</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3</m:t>
                                          </m:r>
                                        </m:sub>
                                      </m:sSub>
                                    </m:e>
                                  </m:mr>
                                  <m:mr>
                                    <m:e>
                                      <m:r>
                                        <a:rPr lang="zh-CN" altLang="en-US" sz="1000" i="1">
                                          <a:latin typeface="Cambria Math" panose="02040503050406030204" pitchFamily="18" charset="0"/>
                                        </a:rPr>
                                        <m:t>𝑠𝑖𝑛</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3</m:t>
                                          </m:r>
                                        </m:sub>
                                      </m:sSub>
                                    </m:e>
                                    <m:e>
                                      <m:r>
                                        <a:rPr lang="zh-CN" altLang="en-US" sz="1000" i="1">
                                          <a:latin typeface="Cambria Math" panose="02040503050406030204" pitchFamily="18" charset="0"/>
                                        </a:rPr>
                                        <m:t>𝑐𝑜𝑠</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3</m:t>
                                          </m:r>
                                        </m:sub>
                                      </m:sSub>
                                    </m:e>
                                  </m:mr>
                                </m:m>
                              </m:e>
                              <m:e>
                                <m:m>
                                  <m:mPr>
                                    <m:mcs>
                                      <m:mc>
                                        <m:mcPr>
                                          <m:count m:val="2"/>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0</m:t>
                                      </m:r>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𝑎</m:t>
                                          </m:r>
                                        </m:e>
                                        <m:sub>
                                          <m:r>
                                            <a:rPr lang="zh-CN" altLang="en-US" sz="1000" i="0">
                                              <a:latin typeface="Cambria Math" panose="02040503050406030204" pitchFamily="18" charset="0"/>
                                            </a:rPr>
                                            <m:t>3</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
                              </m:e>
                            </m:mr>
                            <m:mr>
                              <m:e>
                                <m:m>
                                  <m:mPr>
                                    <m:mcs>
                                      <m:mc>
                                        <m:mcPr>
                                          <m:count m:val="2"/>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
                              </m:e>
                              <m:e>
                                <m:m>
                                  <m:mPr>
                                    <m:mcs>
                                      <m:mc>
                                        <m:mcPr>
                                          <m:count m:val="2"/>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1</m:t>
                                      </m:r>
                                    </m:e>
                                    <m:e>
                                      <m:r>
                                        <a:rPr lang="zh-CN" altLang="en-US" sz="1000" i="0">
                                          <a:latin typeface="Cambria Math" panose="02040503050406030204" pitchFamily="18" charset="0"/>
                                        </a:rPr>
                                        <m:t>0</m:t>
                                      </m:r>
                                    </m:e>
                                  </m:mr>
                                  <m:mr>
                                    <m:e>
                                      <m:r>
                                        <a:rPr lang="zh-CN" altLang="en-US" sz="1000" i="0">
                                          <a:latin typeface="Cambria Math" panose="02040503050406030204" pitchFamily="18" charset="0"/>
                                        </a:rPr>
                                        <m:t>0</m:t>
                                      </m:r>
                                    </m:e>
                                    <m:e>
                                      <m:r>
                                        <a:rPr lang="zh-CN" altLang="en-US" sz="1000" i="0">
                                          <a:latin typeface="Cambria Math" panose="02040503050406030204" pitchFamily="18" charset="0"/>
                                        </a:rPr>
                                        <m:t>1</m:t>
                                      </m:r>
                                    </m:e>
                                  </m:mr>
                                </m:m>
                              </m:e>
                            </m:mr>
                          </m:m>
                        </m:e>
                      </m:d>
                      <m:r>
                        <a:rPr lang="zh-CN" altLang="en-US" sz="1000" i="0">
                          <a:latin typeface="Cambria Math" panose="02040503050406030204" pitchFamily="18" charset="0"/>
                        </a:rPr>
                        <m:t>=</m:t>
                      </m:r>
                      <m:d>
                        <m:dPr>
                          <m:ctrlPr>
                            <a:rPr lang="zh-CN" altLang="en-US" sz="1000" i="1">
                              <a:latin typeface="Cambria Math" panose="02040503050406030204" pitchFamily="18" charset="0"/>
                            </a:rPr>
                          </m:ctrlPr>
                        </m:dPr>
                        <m:e>
                          <m:m>
                            <m:mPr>
                              <m:mcs>
                                <m:mc>
                                  <m:mcPr>
                                    <m:count m:val="2"/>
                                    <m:mcJc m:val="center"/>
                                  </m:mcPr>
                                </m:mc>
                              </m:mcs>
                              <m:ctrlPr>
                                <a:rPr lang="zh-CN" altLang="en-US" sz="1000" i="1">
                                  <a:latin typeface="Cambria Math" panose="02040503050406030204" pitchFamily="18" charset="0"/>
                                </a:rPr>
                              </m:ctrlPr>
                            </m:mPr>
                            <m:mr>
                              <m:e>
                                <m:m>
                                  <m:mPr>
                                    <m:mcs>
                                      <m:mc>
                                        <m:mcPr>
                                          <m:count m:val="2"/>
                                          <m:mcJc m:val="center"/>
                                        </m:mcPr>
                                      </m:mc>
                                    </m:mcs>
                                    <m:ctrlPr>
                                      <a:rPr lang="zh-CN" altLang="en-US" sz="1000" i="1">
                                        <a:latin typeface="Cambria Math" panose="02040503050406030204" pitchFamily="18" charset="0"/>
                                      </a:rPr>
                                    </m:ctrlPr>
                                  </m:mPr>
                                  <m:mr>
                                    <m:e>
                                      <m:r>
                                        <a:rPr lang="zh-CN" altLang="en-US" sz="1000" i="1">
                                          <a:latin typeface="Cambria Math" panose="02040503050406030204" pitchFamily="18" charset="0"/>
                                        </a:rPr>
                                        <m:t>𝑐𝑜𝑠</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2</m:t>
                                          </m:r>
                                        </m:sub>
                                      </m:sSub>
                                      <m:r>
                                        <a:rPr lang="zh-CN" altLang="en-US" sz="1000" i="1">
                                          <a:latin typeface="Cambria Math" panose="02040503050406030204" pitchFamily="18" charset="0"/>
                                        </a:rPr>
                                        <m:t>𝑐𝑜𝑠</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3</m:t>
                                          </m:r>
                                        </m:sub>
                                      </m:sSub>
                                      <m:r>
                                        <a:rPr lang="zh-CN" altLang="en-US" sz="1000" i="0">
                                          <a:latin typeface="Cambria Math" panose="02040503050406030204" pitchFamily="18" charset="0"/>
                                        </a:rPr>
                                        <m:t>−</m:t>
                                      </m:r>
                                      <m:r>
                                        <a:rPr lang="zh-CN" altLang="en-US" sz="1000" i="1">
                                          <a:latin typeface="Cambria Math" panose="02040503050406030204" pitchFamily="18" charset="0"/>
                                        </a:rPr>
                                        <m:t>𝑠𝑖𝑛</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2</m:t>
                                          </m:r>
                                        </m:sub>
                                      </m:sSub>
                                      <m:r>
                                        <a:rPr lang="zh-CN" altLang="en-US" sz="1000" i="1">
                                          <a:latin typeface="Cambria Math" panose="02040503050406030204" pitchFamily="18" charset="0"/>
                                        </a:rPr>
                                        <m:t>𝑠𝑖𝑛</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3</m:t>
                                          </m:r>
                                        </m:sub>
                                      </m:sSub>
                                    </m:e>
                                    <m:e>
                                      <m:r>
                                        <a:rPr lang="zh-CN" altLang="en-US" sz="1000" i="0">
                                          <a:latin typeface="Cambria Math" panose="02040503050406030204" pitchFamily="18" charset="0"/>
                                        </a:rPr>
                                        <m:t>−</m:t>
                                      </m:r>
                                      <m:r>
                                        <a:rPr lang="zh-CN" altLang="en-US" sz="1000" i="1">
                                          <a:latin typeface="Cambria Math" panose="02040503050406030204" pitchFamily="18" charset="0"/>
                                        </a:rPr>
                                        <m:t>𝑐𝑜𝑠</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2</m:t>
                                          </m:r>
                                        </m:sub>
                                      </m:sSub>
                                      <m:r>
                                        <a:rPr lang="zh-CN" altLang="en-US" sz="1000" i="1">
                                          <a:latin typeface="Cambria Math" panose="02040503050406030204" pitchFamily="18" charset="0"/>
                                        </a:rPr>
                                        <m:t>𝑠𝑖𝑛</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3</m:t>
                                          </m:r>
                                        </m:sub>
                                      </m:sSub>
                                      <m:r>
                                        <a:rPr lang="zh-CN" altLang="en-US" sz="1000" i="0">
                                          <a:latin typeface="Cambria Math" panose="02040503050406030204" pitchFamily="18" charset="0"/>
                                        </a:rPr>
                                        <m:t>−</m:t>
                                      </m:r>
                                      <m:r>
                                        <a:rPr lang="zh-CN" altLang="en-US" sz="1000" i="1">
                                          <a:latin typeface="Cambria Math" panose="02040503050406030204" pitchFamily="18" charset="0"/>
                                        </a:rPr>
                                        <m:t>𝑠𝑖𝑛</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2</m:t>
                                          </m:r>
                                        </m:sub>
                                      </m:sSub>
                                      <m:r>
                                        <a:rPr lang="zh-CN" altLang="en-US" sz="1000" i="1">
                                          <a:latin typeface="Cambria Math" panose="02040503050406030204" pitchFamily="18" charset="0"/>
                                        </a:rPr>
                                        <m:t>𝑐𝑜𝑠</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3</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
                              </m:e>
                              <m:e>
                                <m:m>
                                  <m:mPr>
                                    <m:mcs>
                                      <m:mc>
                                        <m:mcPr>
                                          <m:count m:val="2"/>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0</m:t>
                                      </m:r>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𝑐𝑜𝑠</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2</m:t>
                                              </m:r>
                                            </m:sub>
                                          </m:sSub>
                                          <m:r>
                                            <a:rPr lang="zh-CN" altLang="en-US" sz="1000" i="1">
                                              <a:latin typeface="Cambria Math" panose="02040503050406030204" pitchFamily="18" charset="0"/>
                                            </a:rPr>
                                            <m:t>𝑎</m:t>
                                          </m:r>
                                        </m:e>
                                        <m:sub>
                                          <m:r>
                                            <a:rPr lang="zh-CN" altLang="en-US" sz="1000" i="0">
                                              <a:latin typeface="Cambria Math" panose="02040503050406030204" pitchFamily="18" charset="0"/>
                                            </a:rPr>
                                            <m:t>3</m:t>
                                          </m:r>
                                        </m:sub>
                                      </m:sSub>
                                    </m:e>
                                  </m:mr>
                                  <m:mr>
                                    <m:e>
                                      <m:r>
                                        <a:rPr lang="zh-CN" altLang="en-US" sz="1000" i="0">
                                          <a:latin typeface="Cambria Math" panose="02040503050406030204" pitchFamily="18" charset="0"/>
                                        </a:rPr>
                                        <m:t>−1</m:t>
                                      </m:r>
                                    </m:e>
                                    <m:e>
                                      <m:r>
                                        <a:rPr lang="zh-CN" altLang="en-US" sz="1000" i="0">
                                          <a:latin typeface="Cambria Math" panose="02040503050406030204" pitchFamily="18" charset="0"/>
                                        </a:rPr>
                                        <m:t>0</m:t>
                                      </m:r>
                                    </m:e>
                                  </m:mr>
                                </m:m>
                              </m:e>
                            </m:mr>
                            <m:mr>
                              <m:e>
                                <m:m>
                                  <m:mPr>
                                    <m:mcs>
                                      <m:mc>
                                        <m:mcPr>
                                          <m:count m:val="2"/>
                                          <m:mcJc m:val="center"/>
                                        </m:mcPr>
                                      </m:mc>
                                    </m:mcs>
                                    <m:ctrlPr>
                                      <a:rPr lang="zh-CN" altLang="en-US" sz="1000" i="1">
                                        <a:latin typeface="Cambria Math" panose="02040503050406030204" pitchFamily="18" charset="0"/>
                                      </a:rPr>
                                    </m:ctrlPr>
                                  </m:mPr>
                                  <m:mr>
                                    <m:e>
                                      <m:r>
                                        <a:rPr lang="zh-CN" altLang="en-US" sz="1000" i="1">
                                          <a:latin typeface="Cambria Math" panose="02040503050406030204" pitchFamily="18" charset="0"/>
                                        </a:rPr>
                                        <m:t>𝑠𝑖𝑛</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2</m:t>
                                          </m:r>
                                        </m:sub>
                                      </m:sSub>
                                      <m:r>
                                        <a:rPr lang="zh-CN" altLang="en-US" sz="1000" i="1">
                                          <a:latin typeface="Cambria Math" panose="02040503050406030204" pitchFamily="18" charset="0"/>
                                        </a:rPr>
                                        <m:t>𝑐𝑜𝑠</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3</m:t>
                                          </m:r>
                                        </m:sub>
                                      </m:sSub>
                                      <m:r>
                                        <a:rPr lang="zh-CN" altLang="en-US" sz="1000" i="0">
                                          <a:latin typeface="Cambria Math" panose="02040503050406030204" pitchFamily="18" charset="0"/>
                                        </a:rPr>
                                        <m:t>+</m:t>
                                      </m:r>
                                      <m:r>
                                        <a:rPr lang="zh-CN" altLang="en-US" sz="1000" i="1">
                                          <a:latin typeface="Cambria Math" panose="02040503050406030204" pitchFamily="18" charset="0"/>
                                        </a:rPr>
                                        <m:t>𝑐𝑜𝑠</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2</m:t>
                                          </m:r>
                                        </m:sub>
                                      </m:sSub>
                                      <m:r>
                                        <a:rPr lang="zh-CN" altLang="en-US" sz="1000" i="1">
                                          <a:latin typeface="Cambria Math" panose="02040503050406030204" pitchFamily="18" charset="0"/>
                                        </a:rPr>
                                        <m:t>𝑠𝑖𝑛</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3</m:t>
                                          </m:r>
                                        </m:sub>
                                      </m:sSub>
                                    </m:e>
                                    <m:e>
                                      <m:r>
                                        <a:rPr lang="zh-CN" altLang="en-US" sz="1000" i="0">
                                          <a:latin typeface="Cambria Math" panose="02040503050406030204" pitchFamily="18" charset="0"/>
                                        </a:rPr>
                                        <m:t>−</m:t>
                                      </m:r>
                                      <m:r>
                                        <a:rPr lang="zh-CN" altLang="en-US" sz="1000" i="1">
                                          <a:latin typeface="Cambria Math" panose="02040503050406030204" pitchFamily="18" charset="0"/>
                                        </a:rPr>
                                        <m:t>𝑠𝑖𝑛</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2</m:t>
                                          </m:r>
                                        </m:sub>
                                      </m:sSub>
                                      <m:r>
                                        <a:rPr lang="zh-CN" altLang="en-US" sz="1000" i="1">
                                          <a:latin typeface="Cambria Math" panose="02040503050406030204" pitchFamily="18" charset="0"/>
                                        </a:rPr>
                                        <m:t>𝑠𝑖𝑛</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3</m:t>
                                          </m:r>
                                        </m:sub>
                                      </m:sSub>
                                      <m:r>
                                        <a:rPr lang="zh-CN" altLang="en-US" sz="1000" i="0">
                                          <a:latin typeface="Cambria Math" panose="02040503050406030204" pitchFamily="18" charset="0"/>
                                        </a:rPr>
                                        <m:t>+</m:t>
                                      </m:r>
                                      <m:r>
                                        <a:rPr lang="zh-CN" altLang="en-US" sz="1000" i="1">
                                          <a:latin typeface="Cambria Math" panose="02040503050406030204" pitchFamily="18" charset="0"/>
                                        </a:rPr>
                                        <m:t>𝑐𝑜𝑠</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2</m:t>
                                          </m:r>
                                        </m:sub>
                                      </m:sSub>
                                      <m:r>
                                        <a:rPr lang="zh-CN" altLang="en-US" sz="1000" i="1">
                                          <a:latin typeface="Cambria Math" panose="02040503050406030204" pitchFamily="18" charset="0"/>
                                        </a:rPr>
                                        <m:t>𝑐𝑜𝑠</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3</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
                              </m:e>
                              <m:e>
                                <m:m>
                                  <m:mPr>
                                    <m:mcs>
                                      <m:mc>
                                        <m:mcPr>
                                          <m:count m:val="2"/>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0</m:t>
                                      </m:r>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𝑎</m:t>
                                          </m:r>
                                        </m:e>
                                        <m:sub>
                                          <m:r>
                                            <a:rPr lang="zh-CN" altLang="en-US" sz="1000" i="0">
                                              <a:latin typeface="Cambria Math" panose="02040503050406030204" pitchFamily="18" charset="0"/>
                                            </a:rPr>
                                            <m:t>3</m:t>
                                          </m:r>
                                        </m:sub>
                                      </m:sSub>
                                      <m:r>
                                        <a:rPr lang="zh-CN" altLang="en-US" sz="1000" i="1">
                                          <a:latin typeface="Cambria Math" panose="02040503050406030204" pitchFamily="18" charset="0"/>
                                        </a:rPr>
                                        <m:t>𝑠𝑖𝑛</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𝜃</m:t>
                                          </m:r>
                                        </m:e>
                                        <m:sub>
                                          <m:r>
                                            <a:rPr lang="zh-CN" altLang="en-US" sz="1000" i="0">
                                              <a:latin typeface="Cambria Math" panose="02040503050406030204" pitchFamily="18" charset="0"/>
                                            </a:rPr>
                                            <m:t>2</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1</m:t>
                                      </m:r>
                                    </m:e>
                                  </m:mr>
                                </m:m>
                              </m:e>
                            </m:mr>
                          </m:m>
                        </m:e>
                      </m:d>
                      <m:r>
                        <a:rPr lang="zh-CN" altLang="en-US" sz="1000" i="0">
                          <a:latin typeface="Cambria Math" panose="02040503050406030204" pitchFamily="18" charset="0"/>
                        </a:rPr>
                        <m:t>=</m:t>
                      </m:r>
                      <m:d>
                        <m:dPr>
                          <m:ctrlPr>
                            <a:rPr lang="zh-CN" altLang="en-US" sz="1000" i="1">
                              <a:latin typeface="Cambria Math" panose="02040503050406030204" pitchFamily="18" charset="0"/>
                            </a:rPr>
                          </m:ctrlPr>
                        </m:dPr>
                        <m:e>
                          <m:m>
                            <m:mPr>
                              <m:mcs>
                                <m:mc>
                                  <m:mcPr>
                                    <m:count m:val="2"/>
                                    <m:mcJc m:val="center"/>
                                  </m:mcPr>
                                </m:mc>
                              </m:mcs>
                              <m:ctrlPr>
                                <a:rPr lang="zh-CN" altLang="en-US" sz="1000" i="1">
                                  <a:latin typeface="Cambria Math" panose="02040503050406030204" pitchFamily="18" charset="0"/>
                                </a:rPr>
                              </m:ctrlPr>
                            </m:mPr>
                            <m:mr>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23</m:t>
                                          </m:r>
                                        </m:sub>
                                      </m:sSub>
                                    </m:e>
                                    <m:e>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23</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
                              </m:e>
                              <m:e>
                                <m:m>
                                  <m:mPr>
                                    <m:mcs>
                                      <m:mc>
                                        <m:mcPr>
                                          <m:count m:val="2"/>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0</m:t>
                                      </m:r>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𝑎</m:t>
                                          </m:r>
                                        </m:e>
                                        <m:sub>
                                          <m:r>
                                            <a:rPr lang="zh-CN" altLang="en-US" sz="1000" i="0">
                                              <a:latin typeface="Cambria Math" panose="02040503050406030204" pitchFamily="18" charset="0"/>
                                            </a:rPr>
                                            <m:t>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m:t>
                                          </m:r>
                                        </m:sub>
                                      </m:sSub>
                                    </m:e>
                                  </m:mr>
                                  <m:mr>
                                    <m:e>
                                      <m:r>
                                        <a:rPr lang="zh-CN" altLang="en-US" sz="1000" i="0">
                                          <a:latin typeface="Cambria Math" panose="02040503050406030204" pitchFamily="18" charset="0"/>
                                        </a:rPr>
                                        <m:t>−1</m:t>
                                      </m:r>
                                    </m:e>
                                    <m:e>
                                      <m:r>
                                        <a:rPr lang="zh-CN" altLang="en-US" sz="1000" i="0">
                                          <a:latin typeface="Cambria Math" panose="02040503050406030204" pitchFamily="18" charset="0"/>
                                        </a:rPr>
                                        <m:t>0</m:t>
                                      </m:r>
                                    </m:e>
                                  </m:mr>
                                </m:m>
                              </m:e>
                            </m:mr>
                            <m:mr>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23</m:t>
                                          </m:r>
                                        </m:sub>
                                      </m:sSub>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23</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
                              </m:e>
                              <m:e>
                                <m:m>
                                  <m:mPr>
                                    <m:mcs>
                                      <m:mc>
                                        <m:mcPr>
                                          <m:count m:val="2"/>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0</m:t>
                                      </m:r>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𝑎</m:t>
                                          </m:r>
                                        </m:e>
                                        <m:sub>
                                          <m:r>
                                            <a:rPr lang="zh-CN" altLang="en-US" sz="1000" i="0">
                                              <a:latin typeface="Cambria Math" panose="02040503050406030204" pitchFamily="18" charset="0"/>
                                            </a:rPr>
                                            <m:t>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1</m:t>
                                      </m:r>
                                    </m:e>
                                  </m:mr>
                                </m:m>
                              </m:e>
                            </m:mr>
                          </m:m>
                        </m:e>
                      </m:d>
                    </m:oMath>
                  </m:oMathPara>
                </a14:m>
                <a:endParaRPr lang="zh-CN" altLang="en-US" sz="1000" dirty="0"/>
              </a:p>
            </p:txBody>
          </p:sp>
        </mc:Choice>
        <mc:Fallback xmlns="">
          <p:sp>
            <p:nvSpPr>
              <p:cNvPr id="14" name="矩形 13"/>
              <p:cNvSpPr>
                <a:spLocks noRot="1" noChangeAspect="1" noMove="1" noResize="1" noEditPoints="1" noAdjustHandles="1" noChangeArrowheads="1" noChangeShapeType="1" noTextEdit="1"/>
              </p:cNvSpPr>
              <p:nvPr/>
            </p:nvSpPr>
            <p:spPr>
              <a:xfrm>
                <a:off x="827584" y="1542152"/>
                <a:ext cx="7848872" cy="124200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1270953" y="2759520"/>
                <a:ext cx="4572000" cy="667170"/>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Sub>
                        <m:sSubPr>
                          <m:ctrlPr>
                            <a:rPr lang="zh-CN" altLang="en-US" sz="1000" i="1">
                              <a:latin typeface="Cambria Math" panose="02040503050406030204" pitchFamily="18" charset="0"/>
                            </a:rPr>
                          </m:ctrlPr>
                        </m:sSubPr>
                        <m:e>
                          <m:sPre>
                            <m:sPrePr>
                              <m:ctrlPr>
                                <a:rPr lang="zh-CN" altLang="en-US" sz="1000" i="1">
                                  <a:latin typeface="Cambria Math" panose="02040503050406030204" pitchFamily="18" charset="0"/>
                                </a:rPr>
                              </m:ctrlPr>
                            </m:sPrePr>
                            <m:sub/>
                            <m:sup>
                              <m:r>
                                <a:rPr lang="zh-CN" altLang="en-US" sz="1000" i="0">
                                  <a:latin typeface="Cambria Math" panose="02040503050406030204" pitchFamily="18" charset="0"/>
                                </a:rPr>
                                <m:t>1</m:t>
                              </m:r>
                            </m:sup>
                            <m:e>
                              <m:r>
                                <a:rPr lang="zh-CN" altLang="en-US" sz="1000" i="1">
                                  <a:latin typeface="Cambria Math" panose="02040503050406030204" pitchFamily="18" charset="0"/>
                                </a:rPr>
                                <m:t>𝑇</m:t>
                              </m:r>
                            </m:e>
                          </m:sPre>
                        </m:e>
                        <m:sub>
                          <m:r>
                            <a:rPr lang="zh-CN" altLang="en-US" sz="1000" i="0">
                              <a:latin typeface="Cambria Math" panose="02040503050406030204" pitchFamily="18" charset="0"/>
                            </a:rPr>
                            <m:t>4</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sPre>
                            <m:sPrePr>
                              <m:ctrlPr>
                                <a:rPr lang="zh-CN" altLang="en-US" sz="1000" i="1">
                                  <a:latin typeface="Cambria Math" panose="02040503050406030204" pitchFamily="18" charset="0"/>
                                </a:rPr>
                              </m:ctrlPr>
                            </m:sPrePr>
                            <m:sub/>
                            <m:sup>
                              <m:r>
                                <a:rPr lang="zh-CN" altLang="en-US" sz="1000" i="0">
                                  <a:latin typeface="Cambria Math" panose="02040503050406030204" pitchFamily="18" charset="0"/>
                                </a:rPr>
                                <m:t>1</m:t>
                              </m:r>
                            </m:sup>
                            <m:e>
                              <m:r>
                                <a:rPr lang="zh-CN" altLang="en-US" sz="1000" i="1">
                                  <a:latin typeface="Cambria Math" panose="02040503050406030204" pitchFamily="18" charset="0"/>
                                </a:rPr>
                                <m:t>𝑇</m:t>
                              </m:r>
                            </m:e>
                          </m:sPre>
                        </m:e>
                        <m:sub>
                          <m:r>
                            <a:rPr lang="zh-CN" altLang="en-US" sz="1000" i="0">
                              <a:latin typeface="Cambria Math" panose="02040503050406030204" pitchFamily="18" charset="0"/>
                            </a:rPr>
                            <m:t>3</m:t>
                          </m:r>
                        </m:sub>
                      </m:sSub>
                      <m:sSub>
                        <m:sSubPr>
                          <m:ctrlPr>
                            <a:rPr lang="zh-CN" altLang="en-US" sz="1000" i="1">
                              <a:latin typeface="Cambria Math" panose="02040503050406030204" pitchFamily="18" charset="0"/>
                            </a:rPr>
                          </m:ctrlPr>
                        </m:sSubPr>
                        <m:e>
                          <m:sPre>
                            <m:sPrePr>
                              <m:ctrlPr>
                                <a:rPr lang="zh-CN" altLang="en-US" sz="1000" i="1">
                                  <a:latin typeface="Cambria Math" panose="02040503050406030204" pitchFamily="18" charset="0"/>
                                </a:rPr>
                              </m:ctrlPr>
                            </m:sPrePr>
                            <m:sub/>
                            <m:sup>
                              <m:r>
                                <a:rPr lang="zh-CN" altLang="en-US" sz="1000" i="0">
                                  <a:latin typeface="Cambria Math" panose="02040503050406030204" pitchFamily="18" charset="0"/>
                                </a:rPr>
                                <m:t>3</m:t>
                              </m:r>
                            </m:sup>
                            <m:e>
                              <m:r>
                                <a:rPr lang="zh-CN" altLang="en-US" sz="1000" i="1">
                                  <a:latin typeface="Cambria Math" panose="02040503050406030204" pitchFamily="18" charset="0"/>
                                </a:rPr>
                                <m:t>𝑇</m:t>
                              </m:r>
                            </m:e>
                          </m:sPre>
                        </m:e>
                        <m:sub>
                          <m:r>
                            <a:rPr lang="zh-CN" altLang="en-US" sz="1000" i="0">
                              <a:latin typeface="Cambria Math" panose="02040503050406030204" pitchFamily="18" charset="0"/>
                            </a:rPr>
                            <m:t>4</m:t>
                          </m:r>
                        </m:sub>
                      </m:sSub>
                      <m:r>
                        <a:rPr lang="zh-CN" altLang="en-US" sz="1000" i="0">
                          <a:latin typeface="Cambria Math" panose="02040503050406030204" pitchFamily="18" charset="0"/>
                        </a:rPr>
                        <m:t>=</m:t>
                      </m:r>
                      <m:d>
                        <m:dPr>
                          <m:ctrlPr>
                            <a:rPr lang="zh-CN" altLang="en-US" sz="1000" i="1">
                              <a:latin typeface="Cambria Math" panose="02040503050406030204" pitchFamily="18" charset="0"/>
                            </a:rPr>
                          </m:ctrlPr>
                        </m:dPr>
                        <m:e>
                          <m:m>
                            <m:mPr>
                              <m:mcs>
                                <m:mc>
                                  <m:mcPr>
                                    <m:count m:val="2"/>
                                    <m:mcJc m:val="center"/>
                                  </m:mcPr>
                                </m:mc>
                              </m:mcs>
                              <m:ctrlPr>
                                <a:rPr lang="zh-CN" altLang="en-US" sz="1000" i="1">
                                  <a:latin typeface="Cambria Math" panose="02040503050406030204" pitchFamily="18" charset="0"/>
                                </a:rPr>
                              </m:ctrlPr>
                            </m:mPr>
                            <m:mr>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23</m:t>
                                          </m:r>
                                        </m:sub>
                                      </m:sSub>
                                    </m:e>
                                    <m:e>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23</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
                              </m:e>
                              <m:e>
                                <m:m>
                                  <m:mPr>
                                    <m:mcs>
                                      <m:mc>
                                        <m:mcPr>
                                          <m:count m:val="2"/>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r>
                                    <m:e>
                                      <m:r>
                                        <a:rPr lang="zh-CN" altLang="en-US" sz="1000" i="0">
                                          <a:latin typeface="Cambria Math" panose="02040503050406030204" pitchFamily="18" charset="0"/>
                                        </a:rPr>
                                        <m:t>−1</m:t>
                                      </m:r>
                                    </m:e>
                                    <m:e>
                                      <m:r>
                                        <a:rPr lang="zh-CN" altLang="en-US" sz="1000" i="0">
                                          <a:latin typeface="Cambria Math" panose="02040503050406030204" pitchFamily="18" charset="0"/>
                                        </a:rPr>
                                        <m:t>0</m:t>
                                      </m:r>
                                    </m:e>
                                  </m:mr>
                                </m:m>
                              </m:e>
                            </m:mr>
                            <m:mr>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23</m:t>
                                          </m:r>
                                        </m:sub>
                                      </m:sSub>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23</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
                              </m:e>
                              <m:e>
                                <m:m>
                                  <m:mPr>
                                    <m:mcs>
                                      <m:mc>
                                        <m:mcPr>
                                          <m:count m:val="2"/>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0</m:t>
                                      </m:r>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𝑎</m:t>
                                          </m:r>
                                        </m:e>
                                        <m:sub>
                                          <m:r>
                                            <a:rPr lang="zh-CN" altLang="en-US" sz="1000" i="0">
                                              <a:latin typeface="Cambria Math" panose="02040503050406030204" pitchFamily="18" charset="0"/>
                                            </a:rPr>
                                            <m:t>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1</m:t>
                                      </m:r>
                                    </m:e>
                                  </m:mr>
                                </m:m>
                              </m:e>
                            </m:mr>
                          </m:m>
                        </m:e>
                      </m:d>
                      <m:d>
                        <m:dPr>
                          <m:ctrlPr>
                            <a:rPr lang="zh-CN" altLang="en-US" sz="1000" i="1">
                              <a:latin typeface="Cambria Math" panose="02040503050406030204" pitchFamily="18" charset="0"/>
                            </a:rPr>
                          </m:ctrlPr>
                        </m:dPr>
                        <m:e>
                          <m:m>
                            <m:mPr>
                              <m:mcs>
                                <m:mc>
                                  <m:mcPr>
                                    <m:count m:val="2"/>
                                    <m:mcJc m:val="center"/>
                                  </m:mcPr>
                                </m:mc>
                              </m:mcs>
                              <m:ctrlPr>
                                <a:rPr lang="zh-CN" altLang="en-US" sz="1000" i="1">
                                  <a:latin typeface="Cambria Math" panose="02040503050406030204" pitchFamily="18" charset="0"/>
                                </a:rPr>
                              </m:ctrlPr>
                            </m:mPr>
                            <m:mr>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4</m:t>
                                          </m:r>
                                        </m:sub>
                                      </m:sSub>
                                    </m:e>
                                    <m:e>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4</m:t>
                                          </m:r>
                                        </m:sub>
                                      </m:sSub>
                                    </m:e>
                                  </m:m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4</m:t>
                                          </m:r>
                                        </m:sub>
                                      </m:sSub>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4</m:t>
                                          </m:r>
                                        </m:sub>
                                      </m:sSub>
                                    </m:e>
                                  </m:mr>
                                </m:m>
                              </m:e>
                              <m:e>
                                <m:m>
                                  <m:mPr>
                                    <m:mcs>
                                      <m:mc>
                                        <m:mcPr>
                                          <m:count m:val="2"/>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0</m:t>
                                      </m:r>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𝑎</m:t>
                                          </m:r>
                                        </m:e>
                                        <m:sub>
                                          <m:r>
                                            <a:rPr lang="zh-CN" altLang="en-US" sz="1000" i="0">
                                              <a:latin typeface="Cambria Math" panose="02040503050406030204" pitchFamily="18" charset="0"/>
                                            </a:rPr>
                                            <m:t>4</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
                              </m:e>
                            </m:mr>
                            <m:mr>
                              <m:e>
                                <m:m>
                                  <m:mPr>
                                    <m:mcs>
                                      <m:mc>
                                        <m:mcPr>
                                          <m:count m:val="2"/>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
                              </m:e>
                              <m:e>
                                <m:m>
                                  <m:mPr>
                                    <m:mcs>
                                      <m:mc>
                                        <m:mcPr>
                                          <m:count m:val="2"/>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1</m:t>
                                      </m:r>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0">
                                              <a:latin typeface="Cambria Math" panose="02040503050406030204" pitchFamily="18" charset="0"/>
                                            </a:rPr>
                                            <m:t>4</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1</m:t>
                                      </m:r>
                                    </m:e>
                                  </m:mr>
                                </m:m>
                              </m:e>
                            </m:mr>
                          </m:m>
                        </m:e>
                      </m:d>
                    </m:oMath>
                  </m:oMathPara>
                </a14:m>
                <a:endParaRPr lang="zh-CN" altLang="en-US" sz="1000" dirty="0"/>
              </a:p>
            </p:txBody>
          </p:sp>
        </mc:Choice>
        <mc:Fallback xmlns="">
          <p:sp>
            <p:nvSpPr>
              <p:cNvPr id="15" name="矩形 14"/>
              <p:cNvSpPr>
                <a:spLocks noRot="1" noChangeAspect="1" noMove="1" noResize="1" noEditPoints="1" noAdjustHandles="1" noChangeArrowheads="1" noChangeShapeType="1" noTextEdit="1"/>
              </p:cNvSpPr>
              <p:nvPr/>
            </p:nvSpPr>
            <p:spPr>
              <a:xfrm>
                <a:off x="1270953" y="2759520"/>
                <a:ext cx="4572000" cy="66717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5216390" y="2701767"/>
                <a:ext cx="2379946" cy="6671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000">
                          <a:latin typeface="Cambria Math" panose="02040503050406030204" pitchFamily="18" charset="0"/>
                        </a:rPr>
                        <m:t>=</m:t>
                      </m:r>
                      <m:d>
                        <m:dPr>
                          <m:ctrlPr>
                            <a:rPr lang="zh-CN" altLang="en-US" sz="1000" i="1">
                              <a:latin typeface="Cambria Math" panose="02040503050406030204" pitchFamily="18" charset="0"/>
                            </a:rPr>
                          </m:ctrlPr>
                        </m:dPr>
                        <m:e>
                          <m:m>
                            <m:mPr>
                              <m:mcs>
                                <m:mc>
                                  <m:mcPr>
                                    <m:count m:val="2"/>
                                    <m:mcJc m:val="center"/>
                                  </m:mcPr>
                                </m:mc>
                              </m:mcs>
                              <m:ctrlPr>
                                <a:rPr lang="zh-CN" altLang="en-US" sz="1000" i="1">
                                  <a:latin typeface="Cambria Math" panose="02040503050406030204" pitchFamily="18" charset="0"/>
                                </a:rPr>
                              </m:ctrlPr>
                            </m:mPr>
                            <m:mr>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234</m:t>
                                          </m:r>
                                        </m:sub>
                                      </m:sSub>
                                    </m:e>
                                    <m:e>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234</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
                              </m:e>
                              <m:e>
                                <m:m>
                                  <m:mPr>
                                    <m:mcs>
                                      <m:mc>
                                        <m:mcPr>
                                          <m:count m:val="2"/>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0</m:t>
                                      </m:r>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𝑎</m:t>
                                          </m:r>
                                        </m:e>
                                        <m:sub>
                                          <m:r>
                                            <a:rPr lang="zh-CN" altLang="en-US" sz="1000" i="0">
                                              <a:latin typeface="Cambria Math" panose="02040503050406030204" pitchFamily="18" charset="0"/>
                                            </a:rPr>
                                            <m:t>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23</m:t>
                                          </m:r>
                                        </m:sub>
                                      </m:sSub>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𝑎</m:t>
                                          </m:r>
                                        </m:e>
                                        <m:sub>
                                          <m:r>
                                            <a:rPr lang="zh-CN" altLang="en-US" sz="1000" i="0">
                                              <a:latin typeface="Cambria Math" panose="02040503050406030204" pitchFamily="18" charset="0"/>
                                            </a:rPr>
                                            <m:t>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m:t>
                                          </m:r>
                                        </m:sub>
                                      </m:sSub>
                                    </m:e>
                                  </m:mr>
                                  <m:mr>
                                    <m:e>
                                      <m:r>
                                        <a:rPr lang="zh-CN" altLang="en-US" sz="1000" i="0">
                                          <a:latin typeface="Cambria Math" panose="02040503050406030204" pitchFamily="18" charset="0"/>
                                        </a:rPr>
                                        <m:t>−1</m:t>
                                      </m:r>
                                    </m:e>
                                    <m:e>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0">
                                              <a:latin typeface="Cambria Math" panose="02040503050406030204" pitchFamily="18" charset="0"/>
                                            </a:rPr>
                                            <m:t>4</m:t>
                                          </m:r>
                                        </m:sub>
                                      </m:sSub>
                                    </m:e>
                                  </m:mr>
                                </m:m>
                              </m:e>
                            </m:mr>
                            <m:mr>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234</m:t>
                                          </m:r>
                                        </m:sub>
                                      </m:sSub>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234</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
                              </m:e>
                              <m:e>
                                <m:m>
                                  <m:mPr>
                                    <m:mcs>
                                      <m:mc>
                                        <m:mcPr>
                                          <m:count m:val="2"/>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0</m:t>
                                      </m:r>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𝑎</m:t>
                                          </m:r>
                                        </m:e>
                                        <m:sub>
                                          <m:r>
                                            <a:rPr lang="zh-CN" altLang="en-US" sz="1000" i="0">
                                              <a:latin typeface="Cambria Math" panose="02040503050406030204" pitchFamily="18" charset="0"/>
                                            </a:rPr>
                                            <m:t>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23</m:t>
                                          </m:r>
                                        </m:sub>
                                      </m:sSub>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𝑎</m:t>
                                          </m:r>
                                        </m:e>
                                        <m:sub>
                                          <m:r>
                                            <a:rPr lang="zh-CN" altLang="en-US" sz="1000" i="0">
                                              <a:latin typeface="Cambria Math" panose="02040503050406030204" pitchFamily="18" charset="0"/>
                                            </a:rPr>
                                            <m:t>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1</m:t>
                                      </m:r>
                                    </m:e>
                                  </m:mr>
                                </m:m>
                              </m:e>
                            </m:mr>
                          </m:m>
                        </m:e>
                      </m:d>
                    </m:oMath>
                  </m:oMathPara>
                </a14:m>
                <a:endParaRPr lang="zh-CN" altLang="en-US" sz="1000" dirty="0"/>
              </a:p>
            </p:txBody>
          </p:sp>
        </mc:Choice>
        <mc:Fallback xmlns="">
          <p:sp>
            <p:nvSpPr>
              <p:cNvPr id="16" name="矩形 15"/>
              <p:cNvSpPr>
                <a:spLocks noRot="1" noChangeAspect="1" noMove="1" noResize="1" noEditPoints="1" noAdjustHandles="1" noChangeArrowheads="1" noChangeShapeType="1" noTextEdit="1"/>
              </p:cNvSpPr>
              <p:nvPr/>
            </p:nvSpPr>
            <p:spPr>
              <a:xfrm>
                <a:off x="5216390" y="2701767"/>
                <a:ext cx="2379946" cy="66717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999334" y="3460404"/>
                <a:ext cx="4572000" cy="667170"/>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Sub>
                        <m:sSubPr>
                          <m:ctrlPr>
                            <a:rPr lang="zh-CN" altLang="en-US" sz="1000" i="1">
                              <a:latin typeface="Cambria Math" panose="02040503050406030204" pitchFamily="18" charset="0"/>
                            </a:rPr>
                          </m:ctrlPr>
                        </m:sSubPr>
                        <m:e>
                          <m:sPre>
                            <m:sPrePr>
                              <m:ctrlPr>
                                <a:rPr lang="zh-CN" altLang="en-US" sz="1000" i="1">
                                  <a:latin typeface="Cambria Math" panose="02040503050406030204" pitchFamily="18" charset="0"/>
                                </a:rPr>
                              </m:ctrlPr>
                            </m:sPrePr>
                            <m:sub/>
                            <m:sup>
                              <m:r>
                                <a:rPr lang="zh-CN" altLang="en-US" sz="1000" i="0">
                                  <a:latin typeface="Cambria Math" panose="02040503050406030204" pitchFamily="18" charset="0"/>
                                </a:rPr>
                                <m:t>1</m:t>
                              </m:r>
                            </m:sup>
                            <m:e>
                              <m:r>
                                <a:rPr lang="zh-CN" altLang="en-US" sz="1000" i="1">
                                  <a:latin typeface="Cambria Math" panose="02040503050406030204" pitchFamily="18" charset="0"/>
                                </a:rPr>
                                <m:t>𝑇</m:t>
                              </m:r>
                            </m:e>
                          </m:sPre>
                        </m:e>
                        <m:sub>
                          <m:r>
                            <a:rPr lang="zh-CN" altLang="en-US" sz="1000" i="0">
                              <a:latin typeface="Cambria Math" panose="02040503050406030204" pitchFamily="18" charset="0"/>
                            </a:rPr>
                            <m:t>5</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sPre>
                            <m:sPrePr>
                              <m:ctrlPr>
                                <a:rPr lang="zh-CN" altLang="en-US" sz="1000" i="1">
                                  <a:latin typeface="Cambria Math" panose="02040503050406030204" pitchFamily="18" charset="0"/>
                                </a:rPr>
                              </m:ctrlPr>
                            </m:sPrePr>
                            <m:sub/>
                            <m:sup>
                              <m:r>
                                <a:rPr lang="zh-CN" altLang="en-US" sz="1000" i="0">
                                  <a:latin typeface="Cambria Math" panose="02040503050406030204" pitchFamily="18" charset="0"/>
                                </a:rPr>
                                <m:t>1</m:t>
                              </m:r>
                            </m:sup>
                            <m:e>
                              <m:r>
                                <a:rPr lang="zh-CN" altLang="en-US" sz="1000" i="1">
                                  <a:latin typeface="Cambria Math" panose="02040503050406030204" pitchFamily="18" charset="0"/>
                                </a:rPr>
                                <m:t>𝑇</m:t>
                              </m:r>
                            </m:e>
                          </m:sPre>
                        </m:e>
                        <m:sub>
                          <m:r>
                            <a:rPr lang="zh-CN" altLang="en-US" sz="1000" i="0">
                              <a:latin typeface="Cambria Math" panose="02040503050406030204" pitchFamily="18" charset="0"/>
                            </a:rPr>
                            <m:t>4</m:t>
                          </m:r>
                        </m:sub>
                      </m:sSub>
                      <m:sSub>
                        <m:sSubPr>
                          <m:ctrlPr>
                            <a:rPr lang="zh-CN" altLang="en-US" sz="1000" i="1">
                              <a:latin typeface="Cambria Math" panose="02040503050406030204" pitchFamily="18" charset="0"/>
                            </a:rPr>
                          </m:ctrlPr>
                        </m:sSubPr>
                        <m:e>
                          <m:sPre>
                            <m:sPrePr>
                              <m:ctrlPr>
                                <a:rPr lang="zh-CN" altLang="en-US" sz="1000" i="1">
                                  <a:latin typeface="Cambria Math" panose="02040503050406030204" pitchFamily="18" charset="0"/>
                                </a:rPr>
                              </m:ctrlPr>
                            </m:sPrePr>
                            <m:sub/>
                            <m:sup>
                              <m:r>
                                <a:rPr lang="zh-CN" altLang="en-US" sz="1000" i="0">
                                  <a:latin typeface="Cambria Math" panose="02040503050406030204" pitchFamily="18" charset="0"/>
                                </a:rPr>
                                <m:t>4</m:t>
                              </m:r>
                            </m:sup>
                            <m:e>
                              <m:r>
                                <a:rPr lang="zh-CN" altLang="en-US" sz="1000" i="1">
                                  <a:latin typeface="Cambria Math" panose="02040503050406030204" pitchFamily="18" charset="0"/>
                                </a:rPr>
                                <m:t>𝑇</m:t>
                              </m:r>
                            </m:e>
                          </m:sPre>
                        </m:e>
                        <m:sub>
                          <m:r>
                            <a:rPr lang="zh-CN" altLang="en-US" sz="1000" i="0">
                              <a:latin typeface="Cambria Math" panose="02040503050406030204" pitchFamily="18" charset="0"/>
                            </a:rPr>
                            <m:t>5</m:t>
                          </m:r>
                        </m:sub>
                      </m:sSub>
                      <m:r>
                        <a:rPr lang="zh-CN" altLang="en-US" sz="1000" i="0">
                          <a:latin typeface="Cambria Math" panose="02040503050406030204" pitchFamily="18" charset="0"/>
                        </a:rPr>
                        <m:t>=</m:t>
                      </m:r>
                      <m:d>
                        <m:dPr>
                          <m:ctrlPr>
                            <a:rPr lang="zh-CN" altLang="en-US" sz="1000" i="1">
                              <a:latin typeface="Cambria Math" panose="02040503050406030204" pitchFamily="18" charset="0"/>
                            </a:rPr>
                          </m:ctrlPr>
                        </m:dPr>
                        <m:e>
                          <m:m>
                            <m:mPr>
                              <m:mcs>
                                <m:mc>
                                  <m:mcPr>
                                    <m:count m:val="2"/>
                                    <m:mcJc m:val="center"/>
                                  </m:mcPr>
                                </m:mc>
                              </m:mcs>
                              <m:ctrlPr>
                                <a:rPr lang="zh-CN" altLang="en-US" sz="1000" i="1">
                                  <a:latin typeface="Cambria Math" panose="02040503050406030204" pitchFamily="18" charset="0"/>
                                </a:rPr>
                              </m:ctrlPr>
                            </m:mPr>
                            <m:mr>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234</m:t>
                                          </m:r>
                                        </m:sub>
                                      </m:sSub>
                                    </m:e>
                                    <m:e>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234</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
                              </m:e>
                              <m:e>
                                <m:m>
                                  <m:mPr>
                                    <m:mcs>
                                      <m:mc>
                                        <m:mcPr>
                                          <m:count m:val="2"/>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0</m:t>
                                      </m:r>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𝑎</m:t>
                                          </m:r>
                                        </m:e>
                                        <m:sub>
                                          <m:r>
                                            <a:rPr lang="zh-CN" altLang="en-US" sz="1000" i="0">
                                              <a:latin typeface="Cambria Math" panose="02040503050406030204" pitchFamily="18" charset="0"/>
                                            </a:rPr>
                                            <m:t>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23</m:t>
                                          </m:r>
                                        </m:sub>
                                      </m:sSub>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𝑎</m:t>
                                          </m:r>
                                        </m:e>
                                        <m:sub>
                                          <m:r>
                                            <a:rPr lang="zh-CN" altLang="en-US" sz="1000" i="0">
                                              <a:latin typeface="Cambria Math" panose="02040503050406030204" pitchFamily="18" charset="0"/>
                                            </a:rPr>
                                            <m:t>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m:t>
                                          </m:r>
                                        </m:sub>
                                      </m:sSub>
                                    </m:e>
                                  </m:mr>
                                  <m:mr>
                                    <m:e>
                                      <m:r>
                                        <a:rPr lang="zh-CN" altLang="en-US" sz="1000" i="0">
                                          <a:latin typeface="Cambria Math" panose="02040503050406030204" pitchFamily="18" charset="0"/>
                                        </a:rPr>
                                        <m:t>−1</m:t>
                                      </m:r>
                                    </m:e>
                                    <m:e>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0">
                                              <a:latin typeface="Cambria Math" panose="02040503050406030204" pitchFamily="18" charset="0"/>
                                            </a:rPr>
                                            <m:t>4</m:t>
                                          </m:r>
                                        </m:sub>
                                      </m:sSub>
                                    </m:e>
                                  </m:mr>
                                </m:m>
                              </m:e>
                            </m:mr>
                            <m:mr>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234</m:t>
                                          </m:r>
                                        </m:sub>
                                      </m:sSub>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234</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
                              </m:e>
                              <m:e>
                                <m:m>
                                  <m:mPr>
                                    <m:mcs>
                                      <m:mc>
                                        <m:mcPr>
                                          <m:count m:val="2"/>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0</m:t>
                                      </m:r>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𝑎</m:t>
                                          </m:r>
                                        </m:e>
                                        <m:sub>
                                          <m:r>
                                            <a:rPr lang="zh-CN" altLang="en-US" sz="1000" i="0">
                                              <a:latin typeface="Cambria Math" panose="02040503050406030204" pitchFamily="18" charset="0"/>
                                            </a:rPr>
                                            <m:t>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23</m:t>
                                          </m:r>
                                        </m:sub>
                                      </m:sSub>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𝑎</m:t>
                                          </m:r>
                                        </m:e>
                                        <m:sub>
                                          <m:r>
                                            <a:rPr lang="zh-CN" altLang="en-US" sz="1000" i="0">
                                              <a:latin typeface="Cambria Math" panose="02040503050406030204" pitchFamily="18" charset="0"/>
                                            </a:rPr>
                                            <m:t>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1</m:t>
                                      </m:r>
                                    </m:e>
                                  </m:mr>
                                </m:m>
                              </m:e>
                            </m:mr>
                          </m:m>
                        </m:e>
                      </m:d>
                      <m:d>
                        <m:dPr>
                          <m:ctrlPr>
                            <a:rPr lang="zh-CN" altLang="en-US" sz="1000" i="1">
                              <a:latin typeface="Cambria Math" panose="02040503050406030204" pitchFamily="18" charset="0"/>
                            </a:rPr>
                          </m:ctrlPr>
                        </m:dPr>
                        <m:e>
                          <m:m>
                            <m:mPr>
                              <m:mcs>
                                <m:mc>
                                  <m:mcPr>
                                    <m:count m:val="2"/>
                                    <m:mcJc m:val="center"/>
                                  </m:mcPr>
                                </m:mc>
                              </m:mcs>
                              <m:ctrlPr>
                                <a:rPr lang="zh-CN" altLang="en-US" sz="1000" i="1">
                                  <a:latin typeface="Cambria Math" panose="02040503050406030204" pitchFamily="18" charset="0"/>
                                </a:rPr>
                              </m:ctrlPr>
                            </m:mPr>
                            <m:mr>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5</m:t>
                                          </m:r>
                                        </m:sub>
                                      </m:sSub>
                                    </m:e>
                                    <m:e>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5</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
                              </m:e>
                              <m:e>
                                <m:m>
                                  <m:mPr>
                                    <m:mcs>
                                      <m:mc>
                                        <m:mcPr>
                                          <m:count m:val="2"/>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r>
                                    <m:e>
                                      <m:r>
                                        <a:rPr lang="zh-CN" altLang="en-US" sz="1000" i="0">
                                          <a:latin typeface="Cambria Math" panose="02040503050406030204" pitchFamily="18" charset="0"/>
                                        </a:rPr>
                                        <m:t>−1</m:t>
                                      </m:r>
                                    </m:e>
                                    <m:e>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0">
                                              <a:latin typeface="Cambria Math" panose="02040503050406030204" pitchFamily="18" charset="0"/>
                                            </a:rPr>
                                            <m:t>5</m:t>
                                          </m:r>
                                        </m:sub>
                                      </m:sSub>
                                    </m:e>
                                  </m:mr>
                                </m:m>
                              </m:e>
                            </m:mr>
                            <m:mr>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5</m:t>
                                          </m:r>
                                        </m:sub>
                                      </m:sSub>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5</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
                              </m:e>
                              <m:e>
                                <m:m>
                                  <m:mPr>
                                    <m:mcs>
                                      <m:mc>
                                        <m:mcPr>
                                          <m:count m:val="2"/>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r>
                                    <m:e>
                                      <m:r>
                                        <a:rPr lang="zh-CN" altLang="en-US" sz="1000" i="0">
                                          <a:latin typeface="Cambria Math" panose="02040503050406030204" pitchFamily="18" charset="0"/>
                                        </a:rPr>
                                        <m:t>0</m:t>
                                      </m:r>
                                    </m:e>
                                    <m:e>
                                      <m:r>
                                        <a:rPr lang="zh-CN" altLang="en-US" sz="1000" i="0">
                                          <a:latin typeface="Cambria Math" panose="02040503050406030204" pitchFamily="18" charset="0"/>
                                        </a:rPr>
                                        <m:t>1</m:t>
                                      </m:r>
                                    </m:e>
                                  </m:mr>
                                </m:m>
                              </m:e>
                            </m:mr>
                          </m:m>
                        </m:e>
                      </m:d>
                    </m:oMath>
                  </m:oMathPara>
                </a14:m>
                <a:endParaRPr lang="zh-CN" altLang="en-US" sz="1000" dirty="0"/>
              </a:p>
            </p:txBody>
          </p:sp>
        </mc:Choice>
        <mc:Fallback xmlns="">
          <p:sp>
            <p:nvSpPr>
              <p:cNvPr id="21" name="矩形 20"/>
              <p:cNvSpPr>
                <a:spLocks noRot="1" noChangeAspect="1" noMove="1" noResize="1" noEditPoints="1" noAdjustHandles="1" noChangeArrowheads="1" noChangeShapeType="1" noTextEdit="1"/>
              </p:cNvSpPr>
              <p:nvPr/>
            </p:nvSpPr>
            <p:spPr>
              <a:xfrm>
                <a:off x="999334" y="3460404"/>
                <a:ext cx="4572000" cy="66717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5360805" y="3426690"/>
                <a:ext cx="3315651" cy="6702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000">
                          <a:latin typeface="Cambria Math" panose="02040503050406030204" pitchFamily="18" charset="0"/>
                        </a:rPr>
                        <m:t>=</m:t>
                      </m:r>
                      <m:d>
                        <m:dPr>
                          <m:ctrlPr>
                            <a:rPr lang="zh-CN" altLang="en-US" sz="1000" i="1">
                              <a:latin typeface="Cambria Math" panose="02040503050406030204" pitchFamily="18" charset="0"/>
                            </a:rPr>
                          </m:ctrlPr>
                        </m:dPr>
                        <m:e>
                          <m:m>
                            <m:mPr>
                              <m:mcs>
                                <m:mc>
                                  <m:mcPr>
                                    <m:count m:val="2"/>
                                    <m:mcJc m:val="center"/>
                                  </m:mcPr>
                                </m:mc>
                              </m:mcs>
                              <m:ctrlPr>
                                <a:rPr lang="zh-CN" altLang="en-US" sz="1000" i="1">
                                  <a:latin typeface="Cambria Math" panose="02040503050406030204" pitchFamily="18" charset="0"/>
                                </a:rPr>
                              </m:ctrlPr>
                            </m:mPr>
                            <m:mr>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234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5</m:t>
                                          </m:r>
                                        </m:sub>
                                      </m:sSub>
                                    </m:e>
                                    <m:e>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𝐶</m:t>
                                          </m:r>
                                        </m:e>
                                        <m:sub>
                                          <m:r>
                                            <a:rPr lang="zh-CN" altLang="en-US" sz="1000" i="0">
                                              <a:latin typeface="Cambria Math" panose="02040503050406030204" pitchFamily="18" charset="0"/>
                                            </a:rPr>
                                            <m:t>234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5</m:t>
                                          </m:r>
                                        </m:sub>
                                      </m:sSub>
                                    </m:e>
                                  </m:mr>
                                  <m:mr>
                                    <m:e>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𝑆</m:t>
                                          </m:r>
                                        </m:e>
                                        <m:sub>
                                          <m:r>
                                            <a:rPr lang="zh-CN" altLang="en-US" sz="1000" i="0">
                                              <a:latin typeface="Cambria Math" panose="02040503050406030204" pitchFamily="18" charset="0"/>
                                            </a:rPr>
                                            <m:t>5</m:t>
                                          </m:r>
                                        </m:sub>
                                      </m:sSub>
                                    </m:e>
                                    <m:e>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𝐶</m:t>
                                          </m:r>
                                        </m:e>
                                        <m:sub>
                                          <m:r>
                                            <a:rPr lang="zh-CN" altLang="en-US" sz="1000" i="0">
                                              <a:latin typeface="Cambria Math" panose="02040503050406030204" pitchFamily="18" charset="0"/>
                                            </a:rPr>
                                            <m:t>5</m:t>
                                          </m:r>
                                        </m:sub>
                                      </m:sSub>
                                    </m:e>
                                  </m:mr>
                                </m:m>
                              </m:e>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234</m:t>
                                          </m:r>
                                        </m:sub>
                                      </m:sSub>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𝑎</m:t>
                                          </m:r>
                                        </m:e>
                                        <m:sub>
                                          <m:r>
                                            <a:rPr lang="zh-CN" altLang="en-US" sz="1000" i="0">
                                              <a:latin typeface="Cambria Math" panose="02040503050406030204" pitchFamily="18" charset="0"/>
                                            </a:rPr>
                                            <m:t>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23</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0">
                                              <a:latin typeface="Cambria Math" panose="02040503050406030204" pitchFamily="18" charset="0"/>
                                            </a:rPr>
                                            <m:t>5</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234</m:t>
                                          </m:r>
                                        </m:sub>
                                      </m:sSub>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𝑎</m:t>
                                          </m:r>
                                        </m:e>
                                        <m:sub>
                                          <m:r>
                                            <a:rPr lang="zh-CN" altLang="en-US" sz="1000" i="0">
                                              <a:latin typeface="Cambria Math" panose="02040503050406030204" pitchFamily="18" charset="0"/>
                                            </a:rPr>
                                            <m:t>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0">
                                              <a:latin typeface="Cambria Math" panose="02040503050406030204" pitchFamily="18" charset="0"/>
                                            </a:rPr>
                                            <m:t>4</m:t>
                                          </m:r>
                                        </m:sub>
                                      </m:sSub>
                                    </m:e>
                                  </m:mr>
                                </m:m>
                              </m:e>
                            </m:mr>
                            <m:mr>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234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5</m:t>
                                          </m:r>
                                        </m:sub>
                                      </m:sSub>
                                    </m:e>
                                    <m:e>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𝑆</m:t>
                                          </m:r>
                                        </m:e>
                                        <m:sub>
                                          <m:r>
                                            <a:rPr lang="zh-CN" altLang="en-US" sz="1000" i="0">
                                              <a:latin typeface="Cambria Math" panose="02040503050406030204" pitchFamily="18" charset="0"/>
                                            </a:rPr>
                                            <m:t>234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5</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
                              </m:e>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𝐶</m:t>
                                          </m:r>
                                        </m:e>
                                        <m:sub>
                                          <m:r>
                                            <a:rPr lang="zh-CN" altLang="en-US" sz="1000" i="0">
                                              <a:latin typeface="Cambria Math" panose="02040503050406030204" pitchFamily="18" charset="0"/>
                                            </a:rPr>
                                            <m:t>234</m:t>
                                          </m:r>
                                        </m:sub>
                                      </m:sSub>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𝑎</m:t>
                                          </m:r>
                                        </m:e>
                                        <m:sub>
                                          <m:r>
                                            <a:rPr lang="zh-CN" altLang="en-US" sz="1000" i="0">
                                              <a:latin typeface="Cambria Math" panose="02040503050406030204" pitchFamily="18" charset="0"/>
                                            </a:rPr>
                                            <m:t>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23</m:t>
                                          </m:r>
                                        </m:sub>
                                      </m:sSub>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𝑎</m:t>
                                          </m:r>
                                        </m:e>
                                        <m:sub>
                                          <m:r>
                                            <a:rPr lang="zh-CN" altLang="en-US" sz="1000" i="0">
                                              <a:latin typeface="Cambria Math" panose="02040503050406030204" pitchFamily="18" charset="0"/>
                                            </a:rPr>
                                            <m:t>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0">
                                              <a:latin typeface="Cambria Math" panose="02040503050406030204" pitchFamily="18" charset="0"/>
                                            </a:rPr>
                                            <m:t>5</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234</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1</m:t>
                                      </m:r>
                                    </m:e>
                                  </m:mr>
                                </m:m>
                              </m:e>
                            </m:mr>
                          </m:m>
                        </m:e>
                      </m:d>
                    </m:oMath>
                  </m:oMathPara>
                </a14:m>
                <a:endParaRPr lang="zh-CN" altLang="en-US" sz="1000" dirty="0"/>
              </a:p>
            </p:txBody>
          </p:sp>
        </mc:Choice>
        <mc:Fallback xmlns="">
          <p:sp>
            <p:nvSpPr>
              <p:cNvPr id="23" name="矩形 22"/>
              <p:cNvSpPr>
                <a:spLocks noRot="1" noChangeAspect="1" noMove="1" noResize="1" noEditPoints="1" noAdjustHandles="1" noChangeArrowheads="1" noChangeShapeType="1" noTextEdit="1"/>
              </p:cNvSpPr>
              <p:nvPr/>
            </p:nvSpPr>
            <p:spPr>
              <a:xfrm>
                <a:off x="5360805" y="3426690"/>
                <a:ext cx="3315651" cy="670248"/>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737802" y="4202207"/>
                <a:ext cx="8154678" cy="69365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800" i="1" smtClean="0">
                              <a:latin typeface="Cambria Math" panose="02040503050406030204" pitchFamily="18" charset="0"/>
                            </a:rPr>
                          </m:ctrlPr>
                        </m:sSubPr>
                        <m:e>
                          <m:sPre>
                            <m:sPrePr>
                              <m:ctrlPr>
                                <a:rPr lang="zh-CN" altLang="en-US" sz="800" i="1">
                                  <a:latin typeface="Cambria Math" panose="02040503050406030204" pitchFamily="18" charset="0"/>
                                </a:rPr>
                              </m:ctrlPr>
                            </m:sPrePr>
                            <m:sub/>
                            <m:sup>
                              <m:r>
                                <a:rPr lang="zh-CN" altLang="en-US" sz="800" i="0">
                                  <a:latin typeface="Cambria Math" panose="02040503050406030204" pitchFamily="18" charset="0"/>
                                </a:rPr>
                                <m:t>1</m:t>
                              </m:r>
                            </m:sup>
                            <m:e>
                              <m:r>
                                <a:rPr lang="zh-CN" altLang="en-US" sz="800" i="1">
                                  <a:latin typeface="Cambria Math" panose="02040503050406030204" pitchFamily="18" charset="0"/>
                                </a:rPr>
                                <m:t>𝑇</m:t>
                              </m:r>
                            </m:e>
                          </m:sPre>
                        </m:e>
                        <m:sub>
                          <m:r>
                            <a:rPr lang="zh-CN" altLang="en-US" sz="800" i="0">
                              <a:latin typeface="Cambria Math" panose="02040503050406030204" pitchFamily="18" charset="0"/>
                            </a:rPr>
                            <m:t>6</m:t>
                          </m:r>
                        </m:sub>
                      </m:sSub>
                      <m:r>
                        <a:rPr lang="zh-CN" altLang="en-US" sz="800" i="0">
                          <a:latin typeface="Cambria Math" panose="02040503050406030204" pitchFamily="18" charset="0"/>
                        </a:rPr>
                        <m:t>=</m:t>
                      </m:r>
                      <m:sSub>
                        <m:sSubPr>
                          <m:ctrlPr>
                            <a:rPr lang="zh-CN" altLang="en-US" sz="800" i="1">
                              <a:latin typeface="Cambria Math" panose="02040503050406030204" pitchFamily="18" charset="0"/>
                            </a:rPr>
                          </m:ctrlPr>
                        </m:sSubPr>
                        <m:e>
                          <m:sPre>
                            <m:sPrePr>
                              <m:ctrlPr>
                                <a:rPr lang="zh-CN" altLang="en-US" sz="800" i="1">
                                  <a:latin typeface="Cambria Math" panose="02040503050406030204" pitchFamily="18" charset="0"/>
                                </a:rPr>
                              </m:ctrlPr>
                            </m:sPrePr>
                            <m:sub/>
                            <m:sup>
                              <m:r>
                                <a:rPr lang="zh-CN" altLang="en-US" sz="800" i="0">
                                  <a:latin typeface="Cambria Math" panose="02040503050406030204" pitchFamily="18" charset="0"/>
                                </a:rPr>
                                <m:t>1</m:t>
                              </m:r>
                            </m:sup>
                            <m:e>
                              <m:r>
                                <a:rPr lang="zh-CN" altLang="en-US" sz="800" i="1">
                                  <a:latin typeface="Cambria Math" panose="02040503050406030204" pitchFamily="18" charset="0"/>
                                </a:rPr>
                                <m:t>𝑇</m:t>
                              </m:r>
                            </m:e>
                          </m:sPre>
                        </m:e>
                        <m:sub>
                          <m:r>
                            <a:rPr lang="zh-CN" altLang="en-US" sz="800" i="0">
                              <a:latin typeface="Cambria Math" panose="02040503050406030204" pitchFamily="18" charset="0"/>
                            </a:rPr>
                            <m:t>5</m:t>
                          </m:r>
                        </m:sub>
                      </m:sSub>
                      <m:sSub>
                        <m:sSubPr>
                          <m:ctrlPr>
                            <a:rPr lang="zh-CN" altLang="en-US" sz="800" i="1">
                              <a:latin typeface="Cambria Math" panose="02040503050406030204" pitchFamily="18" charset="0"/>
                            </a:rPr>
                          </m:ctrlPr>
                        </m:sSubPr>
                        <m:e>
                          <m:sPre>
                            <m:sPrePr>
                              <m:ctrlPr>
                                <a:rPr lang="zh-CN" altLang="en-US" sz="800" i="1">
                                  <a:latin typeface="Cambria Math" panose="02040503050406030204" pitchFamily="18" charset="0"/>
                                </a:rPr>
                              </m:ctrlPr>
                            </m:sPrePr>
                            <m:sub/>
                            <m:sup>
                              <m:r>
                                <a:rPr lang="zh-CN" altLang="en-US" sz="800" i="0">
                                  <a:latin typeface="Cambria Math" panose="02040503050406030204" pitchFamily="18" charset="0"/>
                                </a:rPr>
                                <m:t>5</m:t>
                              </m:r>
                            </m:sup>
                            <m:e>
                              <m:r>
                                <a:rPr lang="zh-CN" altLang="en-US" sz="800" i="1">
                                  <a:latin typeface="Cambria Math" panose="02040503050406030204" pitchFamily="18" charset="0"/>
                                </a:rPr>
                                <m:t>𝑇</m:t>
                              </m:r>
                            </m:e>
                          </m:sPre>
                        </m:e>
                        <m:sub>
                          <m:r>
                            <a:rPr lang="zh-CN" altLang="en-US" sz="800" i="0">
                              <a:latin typeface="Cambria Math" panose="02040503050406030204" pitchFamily="18" charset="0"/>
                            </a:rPr>
                            <m:t>6</m:t>
                          </m:r>
                        </m:sub>
                      </m:sSub>
                    </m:oMath>
                  </m:oMathPara>
                </a14:m>
                <a:endParaRPr lang="en-US" altLang="zh-CN" sz="800" i="1" dirty="0" smtClean="0">
                  <a:latin typeface="Cambria Math" panose="02040503050406030204" pitchFamily="18" charset="0"/>
                </a:endParaRPr>
              </a:p>
              <a:p>
                <a14:m>
                  <m:oMath xmlns:m="http://schemas.openxmlformats.org/officeDocument/2006/math">
                    <m:r>
                      <a:rPr lang="zh-CN" altLang="en-US" sz="800" i="0">
                        <a:latin typeface="Cambria Math" panose="02040503050406030204" pitchFamily="18" charset="0"/>
                      </a:rPr>
                      <m:t>=</m:t>
                    </m:r>
                    <m:d>
                      <m:dPr>
                        <m:ctrlPr>
                          <a:rPr lang="zh-CN" altLang="en-US" sz="800" i="1">
                            <a:latin typeface="Cambria Math" panose="02040503050406030204" pitchFamily="18" charset="0"/>
                          </a:rPr>
                        </m:ctrlPr>
                      </m:dPr>
                      <m:e>
                        <m:m>
                          <m:mPr>
                            <m:mcs>
                              <m:mc>
                                <m:mcPr>
                                  <m:count m:val="2"/>
                                  <m:mcJc m:val="center"/>
                                </m:mcPr>
                              </m:mc>
                            </m:mcs>
                            <m:ctrlPr>
                              <a:rPr lang="zh-CN" altLang="en-US" sz="800" i="1">
                                <a:latin typeface="Cambria Math" panose="02040503050406030204" pitchFamily="18" charset="0"/>
                              </a:rPr>
                            </m:ctrlPr>
                          </m:mPr>
                          <m:mr>
                            <m:e>
                              <m:m>
                                <m:mPr>
                                  <m:mcs>
                                    <m:mc>
                                      <m:mcPr>
                                        <m:count m:val="2"/>
                                        <m:mcJc m:val="center"/>
                                      </m:mcPr>
                                    </m:mc>
                                  </m:mcs>
                                  <m:ctrlPr>
                                    <a:rPr lang="zh-CN" altLang="en-US" sz="800" i="1">
                                      <a:latin typeface="Cambria Math" panose="02040503050406030204" pitchFamily="18" charset="0"/>
                                    </a:rPr>
                                  </m:ctrlPr>
                                </m:mPr>
                                <m:mr>
                                  <m:e>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𝐶</m:t>
                                        </m:r>
                                      </m:e>
                                      <m:sub>
                                        <m:r>
                                          <a:rPr lang="zh-CN" altLang="en-US" sz="800" i="0">
                                            <a:latin typeface="Cambria Math" panose="02040503050406030204" pitchFamily="18" charset="0"/>
                                          </a:rPr>
                                          <m:t>234</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𝐶</m:t>
                                        </m:r>
                                      </m:e>
                                      <m:sub>
                                        <m:r>
                                          <a:rPr lang="zh-CN" altLang="en-US" sz="800" i="0">
                                            <a:latin typeface="Cambria Math" panose="02040503050406030204" pitchFamily="18" charset="0"/>
                                          </a:rPr>
                                          <m:t>5</m:t>
                                        </m:r>
                                      </m:sub>
                                    </m:sSub>
                                  </m:e>
                                  <m:e>
                                    <m:sSub>
                                      <m:sSubPr>
                                        <m:ctrlPr>
                                          <a:rPr lang="zh-CN" altLang="en-US" sz="800" i="1">
                                            <a:latin typeface="Cambria Math" panose="02040503050406030204" pitchFamily="18" charset="0"/>
                                          </a:rPr>
                                        </m:ctrlPr>
                                      </m:sSubPr>
                                      <m:e>
                                        <m:r>
                                          <a:rPr lang="zh-CN" altLang="en-US" sz="800" i="0">
                                            <a:latin typeface="Cambria Math" panose="02040503050406030204" pitchFamily="18" charset="0"/>
                                          </a:rPr>
                                          <m:t>−</m:t>
                                        </m:r>
                                        <m:r>
                                          <a:rPr lang="zh-CN" altLang="en-US" sz="800" i="1">
                                            <a:latin typeface="Cambria Math" panose="02040503050406030204" pitchFamily="18" charset="0"/>
                                          </a:rPr>
                                          <m:t>𝐶</m:t>
                                        </m:r>
                                      </m:e>
                                      <m:sub>
                                        <m:r>
                                          <a:rPr lang="zh-CN" altLang="en-US" sz="800" i="0">
                                            <a:latin typeface="Cambria Math" panose="02040503050406030204" pitchFamily="18" charset="0"/>
                                          </a:rPr>
                                          <m:t>234</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𝑆</m:t>
                                        </m:r>
                                      </m:e>
                                      <m:sub>
                                        <m:r>
                                          <a:rPr lang="zh-CN" altLang="en-US" sz="800" i="0">
                                            <a:latin typeface="Cambria Math" panose="02040503050406030204" pitchFamily="18" charset="0"/>
                                          </a:rPr>
                                          <m:t>5</m:t>
                                        </m:r>
                                      </m:sub>
                                    </m:sSub>
                                  </m:e>
                                </m:mr>
                                <m:mr>
                                  <m:e>
                                    <m:sSub>
                                      <m:sSubPr>
                                        <m:ctrlPr>
                                          <a:rPr lang="zh-CN" altLang="en-US" sz="800" i="1">
                                            <a:latin typeface="Cambria Math" panose="02040503050406030204" pitchFamily="18" charset="0"/>
                                          </a:rPr>
                                        </m:ctrlPr>
                                      </m:sSubPr>
                                      <m:e>
                                        <m:r>
                                          <a:rPr lang="zh-CN" altLang="en-US" sz="800" i="0">
                                            <a:latin typeface="Cambria Math" panose="02040503050406030204" pitchFamily="18" charset="0"/>
                                          </a:rPr>
                                          <m:t>−</m:t>
                                        </m:r>
                                        <m:r>
                                          <a:rPr lang="zh-CN" altLang="en-US" sz="800" i="1">
                                            <a:latin typeface="Cambria Math" panose="02040503050406030204" pitchFamily="18" charset="0"/>
                                          </a:rPr>
                                          <m:t>𝑆</m:t>
                                        </m:r>
                                      </m:e>
                                      <m:sub>
                                        <m:r>
                                          <a:rPr lang="zh-CN" altLang="en-US" sz="800" i="0">
                                            <a:latin typeface="Cambria Math" panose="02040503050406030204" pitchFamily="18" charset="0"/>
                                          </a:rPr>
                                          <m:t>5</m:t>
                                        </m:r>
                                      </m:sub>
                                    </m:sSub>
                                  </m:e>
                                  <m:e>
                                    <m:sSub>
                                      <m:sSubPr>
                                        <m:ctrlPr>
                                          <a:rPr lang="zh-CN" altLang="en-US" sz="800" i="1">
                                            <a:latin typeface="Cambria Math" panose="02040503050406030204" pitchFamily="18" charset="0"/>
                                          </a:rPr>
                                        </m:ctrlPr>
                                      </m:sSubPr>
                                      <m:e>
                                        <m:r>
                                          <a:rPr lang="zh-CN" altLang="en-US" sz="800" i="0">
                                            <a:latin typeface="Cambria Math" panose="02040503050406030204" pitchFamily="18" charset="0"/>
                                          </a:rPr>
                                          <m:t>−</m:t>
                                        </m:r>
                                        <m:r>
                                          <a:rPr lang="zh-CN" altLang="en-US" sz="800" i="1">
                                            <a:latin typeface="Cambria Math" panose="02040503050406030204" pitchFamily="18" charset="0"/>
                                          </a:rPr>
                                          <m:t>𝐶</m:t>
                                        </m:r>
                                      </m:e>
                                      <m:sub>
                                        <m:r>
                                          <a:rPr lang="zh-CN" altLang="en-US" sz="800" i="0">
                                            <a:latin typeface="Cambria Math" panose="02040503050406030204" pitchFamily="18" charset="0"/>
                                          </a:rPr>
                                          <m:t>5</m:t>
                                        </m:r>
                                      </m:sub>
                                    </m:sSub>
                                  </m:e>
                                </m:mr>
                              </m:m>
                            </m:e>
                            <m:e>
                              <m:m>
                                <m:mPr>
                                  <m:mcs>
                                    <m:mc>
                                      <m:mcPr>
                                        <m:count m:val="2"/>
                                        <m:mcJc m:val="center"/>
                                      </m:mcPr>
                                    </m:mc>
                                  </m:mcs>
                                  <m:ctrlPr>
                                    <a:rPr lang="zh-CN" altLang="en-US" sz="800" i="1">
                                      <a:latin typeface="Cambria Math" panose="02040503050406030204" pitchFamily="18" charset="0"/>
                                    </a:rPr>
                                  </m:ctrlPr>
                                </m:mPr>
                                <m:mr>
                                  <m:e>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𝑆</m:t>
                                        </m:r>
                                      </m:e>
                                      <m:sub>
                                        <m:r>
                                          <a:rPr lang="zh-CN" altLang="en-US" sz="800" i="0">
                                            <a:latin typeface="Cambria Math" panose="02040503050406030204" pitchFamily="18" charset="0"/>
                                          </a:rPr>
                                          <m:t>234</m:t>
                                        </m:r>
                                      </m:sub>
                                    </m:sSub>
                                  </m:e>
                                  <m:e>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𝑎</m:t>
                                        </m:r>
                                      </m:e>
                                      <m:sub>
                                        <m:r>
                                          <a:rPr lang="zh-CN" altLang="en-US" sz="800" i="0">
                                            <a:latin typeface="Cambria Math" panose="02040503050406030204" pitchFamily="18" charset="0"/>
                                          </a:rPr>
                                          <m:t>4</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𝐶</m:t>
                                        </m:r>
                                      </m:e>
                                      <m:sub>
                                        <m:r>
                                          <a:rPr lang="zh-CN" altLang="en-US" sz="800" i="0">
                                            <a:latin typeface="Cambria Math" panose="02040503050406030204" pitchFamily="18" charset="0"/>
                                          </a:rPr>
                                          <m:t>23</m:t>
                                        </m:r>
                                      </m:sub>
                                    </m:sSub>
                                    <m:r>
                                      <a:rPr lang="zh-CN" altLang="en-US" sz="800" i="0">
                                        <a:latin typeface="Cambria Math" panose="02040503050406030204" pitchFamily="18" charset="0"/>
                                      </a:rPr>
                                      <m:t>+</m:t>
                                    </m:r>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𝑑</m:t>
                                        </m:r>
                                      </m:e>
                                      <m:sub>
                                        <m:r>
                                          <a:rPr lang="zh-CN" altLang="en-US" sz="800" i="0">
                                            <a:latin typeface="Cambria Math" panose="02040503050406030204" pitchFamily="18" charset="0"/>
                                          </a:rPr>
                                          <m:t>5</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𝑆</m:t>
                                        </m:r>
                                      </m:e>
                                      <m:sub>
                                        <m:r>
                                          <a:rPr lang="zh-CN" altLang="en-US" sz="800" i="0">
                                            <a:latin typeface="Cambria Math" panose="02040503050406030204" pitchFamily="18" charset="0"/>
                                          </a:rPr>
                                          <m:t>234</m:t>
                                        </m:r>
                                      </m:sub>
                                    </m:sSub>
                                    <m:sSub>
                                      <m:sSubPr>
                                        <m:ctrlPr>
                                          <a:rPr lang="zh-CN" altLang="en-US" sz="800" i="1">
                                            <a:latin typeface="Cambria Math" panose="02040503050406030204" pitchFamily="18" charset="0"/>
                                          </a:rPr>
                                        </m:ctrlPr>
                                      </m:sSubPr>
                                      <m:e>
                                        <m:r>
                                          <a:rPr lang="zh-CN" altLang="en-US" sz="800" i="0">
                                            <a:latin typeface="Cambria Math" panose="02040503050406030204" pitchFamily="18" charset="0"/>
                                          </a:rPr>
                                          <m:t>+</m:t>
                                        </m:r>
                                        <m:r>
                                          <a:rPr lang="zh-CN" altLang="en-US" sz="800" i="1">
                                            <a:latin typeface="Cambria Math" panose="02040503050406030204" pitchFamily="18" charset="0"/>
                                          </a:rPr>
                                          <m:t>𝑎</m:t>
                                        </m:r>
                                      </m:e>
                                      <m:sub>
                                        <m:r>
                                          <a:rPr lang="zh-CN" altLang="en-US" sz="800" i="0">
                                            <a:latin typeface="Cambria Math" panose="02040503050406030204" pitchFamily="18" charset="0"/>
                                          </a:rPr>
                                          <m:t>3</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𝐶</m:t>
                                        </m:r>
                                      </m:e>
                                      <m:sub>
                                        <m:r>
                                          <a:rPr lang="zh-CN" altLang="en-US" sz="800" i="0">
                                            <a:latin typeface="Cambria Math" panose="02040503050406030204" pitchFamily="18" charset="0"/>
                                          </a:rPr>
                                          <m:t>2</m:t>
                                        </m:r>
                                      </m:sub>
                                    </m:sSub>
                                  </m:e>
                                </m:mr>
                                <m:mr>
                                  <m:e>
                                    <m:r>
                                      <a:rPr lang="zh-CN" altLang="en-US" sz="800" i="0">
                                        <a:latin typeface="Cambria Math" panose="02040503050406030204" pitchFamily="18" charset="0"/>
                                      </a:rPr>
                                      <m:t>0</m:t>
                                    </m:r>
                                  </m:e>
                                  <m:e>
                                    <m:r>
                                      <a:rPr lang="zh-CN" altLang="en-US" sz="800" i="0">
                                        <a:latin typeface="Cambria Math" panose="02040503050406030204" pitchFamily="18" charset="0"/>
                                      </a:rPr>
                                      <m:t>−</m:t>
                                    </m:r>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𝑑</m:t>
                                        </m:r>
                                      </m:e>
                                      <m:sub>
                                        <m:r>
                                          <a:rPr lang="zh-CN" altLang="en-US" sz="800" i="0">
                                            <a:latin typeface="Cambria Math" panose="02040503050406030204" pitchFamily="18" charset="0"/>
                                          </a:rPr>
                                          <m:t>4</m:t>
                                        </m:r>
                                      </m:sub>
                                    </m:sSub>
                                  </m:e>
                                </m:mr>
                              </m:m>
                            </m:e>
                          </m:mr>
                          <m:mr>
                            <m:e>
                              <m:m>
                                <m:mPr>
                                  <m:mcs>
                                    <m:mc>
                                      <m:mcPr>
                                        <m:count m:val="2"/>
                                        <m:mcJc m:val="center"/>
                                      </m:mcPr>
                                    </m:mc>
                                  </m:mcs>
                                  <m:ctrlPr>
                                    <a:rPr lang="zh-CN" altLang="en-US" sz="800" i="1">
                                      <a:latin typeface="Cambria Math" panose="02040503050406030204" pitchFamily="18" charset="0"/>
                                    </a:rPr>
                                  </m:ctrlPr>
                                </m:mPr>
                                <m:mr>
                                  <m:e>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𝑆</m:t>
                                        </m:r>
                                      </m:e>
                                      <m:sub>
                                        <m:r>
                                          <a:rPr lang="zh-CN" altLang="en-US" sz="800" i="0">
                                            <a:latin typeface="Cambria Math" panose="02040503050406030204" pitchFamily="18" charset="0"/>
                                          </a:rPr>
                                          <m:t>234</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𝐶</m:t>
                                        </m:r>
                                      </m:e>
                                      <m:sub>
                                        <m:r>
                                          <a:rPr lang="zh-CN" altLang="en-US" sz="800" i="0">
                                            <a:latin typeface="Cambria Math" panose="02040503050406030204" pitchFamily="18" charset="0"/>
                                          </a:rPr>
                                          <m:t>5</m:t>
                                        </m:r>
                                      </m:sub>
                                    </m:sSub>
                                  </m:e>
                                  <m:e>
                                    <m:sSub>
                                      <m:sSubPr>
                                        <m:ctrlPr>
                                          <a:rPr lang="zh-CN" altLang="en-US" sz="800" i="1">
                                            <a:latin typeface="Cambria Math" panose="02040503050406030204" pitchFamily="18" charset="0"/>
                                          </a:rPr>
                                        </m:ctrlPr>
                                      </m:sSubPr>
                                      <m:e>
                                        <m:r>
                                          <a:rPr lang="zh-CN" altLang="en-US" sz="800" i="0">
                                            <a:latin typeface="Cambria Math" panose="02040503050406030204" pitchFamily="18" charset="0"/>
                                          </a:rPr>
                                          <m:t>−</m:t>
                                        </m:r>
                                        <m:r>
                                          <a:rPr lang="zh-CN" altLang="en-US" sz="800" i="1">
                                            <a:latin typeface="Cambria Math" panose="02040503050406030204" pitchFamily="18" charset="0"/>
                                          </a:rPr>
                                          <m:t>𝑆</m:t>
                                        </m:r>
                                      </m:e>
                                      <m:sub>
                                        <m:r>
                                          <a:rPr lang="zh-CN" altLang="en-US" sz="800" i="0">
                                            <a:latin typeface="Cambria Math" panose="02040503050406030204" pitchFamily="18" charset="0"/>
                                          </a:rPr>
                                          <m:t>234</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𝑆</m:t>
                                        </m:r>
                                      </m:e>
                                      <m:sub>
                                        <m:r>
                                          <a:rPr lang="zh-CN" altLang="en-US" sz="800" i="0">
                                            <a:latin typeface="Cambria Math" panose="02040503050406030204" pitchFamily="18" charset="0"/>
                                          </a:rPr>
                                          <m:t>5</m:t>
                                        </m:r>
                                      </m:sub>
                                    </m:sSub>
                                  </m:e>
                                </m:mr>
                                <m:mr>
                                  <m:e>
                                    <m:r>
                                      <a:rPr lang="zh-CN" altLang="en-US" sz="800" i="0">
                                        <a:latin typeface="Cambria Math" panose="02040503050406030204" pitchFamily="18" charset="0"/>
                                      </a:rPr>
                                      <m:t>0</m:t>
                                    </m:r>
                                  </m:e>
                                  <m:e>
                                    <m:r>
                                      <a:rPr lang="zh-CN" altLang="en-US" sz="800" i="0">
                                        <a:latin typeface="Cambria Math" panose="02040503050406030204" pitchFamily="18" charset="0"/>
                                      </a:rPr>
                                      <m:t>0</m:t>
                                    </m:r>
                                  </m:e>
                                </m:mr>
                              </m:m>
                            </m:e>
                            <m:e>
                              <m:m>
                                <m:mPr>
                                  <m:mcs>
                                    <m:mc>
                                      <m:mcPr>
                                        <m:count m:val="2"/>
                                        <m:mcJc m:val="center"/>
                                      </m:mcPr>
                                    </m:mc>
                                  </m:mcs>
                                  <m:ctrlPr>
                                    <a:rPr lang="zh-CN" altLang="en-US" sz="800" i="1">
                                      <a:latin typeface="Cambria Math" panose="02040503050406030204" pitchFamily="18" charset="0"/>
                                    </a:rPr>
                                  </m:ctrlPr>
                                </m:mPr>
                                <m:mr>
                                  <m:e>
                                    <m:sSub>
                                      <m:sSubPr>
                                        <m:ctrlPr>
                                          <a:rPr lang="zh-CN" altLang="en-US" sz="800" i="1">
                                            <a:latin typeface="Cambria Math" panose="02040503050406030204" pitchFamily="18" charset="0"/>
                                          </a:rPr>
                                        </m:ctrlPr>
                                      </m:sSubPr>
                                      <m:e>
                                        <m:r>
                                          <a:rPr lang="zh-CN" altLang="en-US" sz="800" i="0">
                                            <a:latin typeface="Cambria Math" panose="02040503050406030204" pitchFamily="18" charset="0"/>
                                          </a:rPr>
                                          <m:t>−</m:t>
                                        </m:r>
                                        <m:r>
                                          <a:rPr lang="zh-CN" altLang="en-US" sz="800" i="1">
                                            <a:latin typeface="Cambria Math" panose="02040503050406030204" pitchFamily="18" charset="0"/>
                                          </a:rPr>
                                          <m:t>𝐶</m:t>
                                        </m:r>
                                      </m:e>
                                      <m:sub>
                                        <m:r>
                                          <a:rPr lang="zh-CN" altLang="en-US" sz="800" i="0">
                                            <a:latin typeface="Cambria Math" panose="02040503050406030204" pitchFamily="18" charset="0"/>
                                          </a:rPr>
                                          <m:t>234</m:t>
                                        </m:r>
                                      </m:sub>
                                    </m:sSub>
                                  </m:e>
                                  <m:e>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𝑎</m:t>
                                        </m:r>
                                      </m:e>
                                      <m:sub>
                                        <m:r>
                                          <a:rPr lang="zh-CN" altLang="en-US" sz="800" i="0">
                                            <a:latin typeface="Cambria Math" panose="02040503050406030204" pitchFamily="18" charset="0"/>
                                          </a:rPr>
                                          <m:t>4</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𝑆</m:t>
                                        </m:r>
                                      </m:e>
                                      <m:sub>
                                        <m:r>
                                          <a:rPr lang="zh-CN" altLang="en-US" sz="800" i="0">
                                            <a:latin typeface="Cambria Math" panose="02040503050406030204" pitchFamily="18" charset="0"/>
                                          </a:rPr>
                                          <m:t>23</m:t>
                                        </m:r>
                                      </m:sub>
                                    </m:sSub>
                                    <m:sSub>
                                      <m:sSubPr>
                                        <m:ctrlPr>
                                          <a:rPr lang="zh-CN" altLang="en-US" sz="800" i="1">
                                            <a:latin typeface="Cambria Math" panose="02040503050406030204" pitchFamily="18" charset="0"/>
                                          </a:rPr>
                                        </m:ctrlPr>
                                      </m:sSubPr>
                                      <m:e>
                                        <m:r>
                                          <a:rPr lang="zh-CN" altLang="en-US" sz="800" i="0">
                                            <a:latin typeface="Cambria Math" panose="02040503050406030204" pitchFamily="18" charset="0"/>
                                          </a:rPr>
                                          <m:t>+</m:t>
                                        </m:r>
                                        <m:r>
                                          <a:rPr lang="zh-CN" altLang="en-US" sz="800" i="1">
                                            <a:latin typeface="Cambria Math" panose="02040503050406030204" pitchFamily="18" charset="0"/>
                                          </a:rPr>
                                          <m:t>𝑎</m:t>
                                        </m:r>
                                      </m:e>
                                      <m:sub>
                                        <m:r>
                                          <a:rPr lang="zh-CN" altLang="en-US" sz="800" i="0">
                                            <a:latin typeface="Cambria Math" panose="02040503050406030204" pitchFamily="18" charset="0"/>
                                          </a:rPr>
                                          <m:t>3</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𝑆</m:t>
                                        </m:r>
                                      </m:e>
                                      <m:sub>
                                        <m:r>
                                          <a:rPr lang="zh-CN" altLang="en-US" sz="800" i="0">
                                            <a:latin typeface="Cambria Math" panose="02040503050406030204" pitchFamily="18" charset="0"/>
                                          </a:rPr>
                                          <m:t>2</m:t>
                                        </m:r>
                                      </m:sub>
                                    </m:sSub>
                                    <m:r>
                                      <a:rPr lang="zh-CN" altLang="en-US" sz="800" i="0">
                                        <a:latin typeface="Cambria Math" panose="02040503050406030204" pitchFamily="18" charset="0"/>
                                      </a:rPr>
                                      <m:t>−</m:t>
                                    </m:r>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𝑑</m:t>
                                        </m:r>
                                      </m:e>
                                      <m:sub>
                                        <m:r>
                                          <a:rPr lang="zh-CN" altLang="en-US" sz="800" i="0">
                                            <a:latin typeface="Cambria Math" panose="02040503050406030204" pitchFamily="18" charset="0"/>
                                          </a:rPr>
                                          <m:t>5</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𝐶</m:t>
                                        </m:r>
                                      </m:e>
                                      <m:sub>
                                        <m:r>
                                          <a:rPr lang="zh-CN" altLang="en-US" sz="800" i="0">
                                            <a:latin typeface="Cambria Math" panose="02040503050406030204" pitchFamily="18" charset="0"/>
                                          </a:rPr>
                                          <m:t>234</m:t>
                                        </m:r>
                                      </m:sub>
                                    </m:sSub>
                                  </m:e>
                                </m:mr>
                                <m:mr>
                                  <m:e>
                                    <m:r>
                                      <a:rPr lang="zh-CN" altLang="en-US" sz="800" i="0">
                                        <a:latin typeface="Cambria Math" panose="02040503050406030204" pitchFamily="18" charset="0"/>
                                      </a:rPr>
                                      <m:t>0</m:t>
                                    </m:r>
                                  </m:e>
                                  <m:e>
                                    <m:r>
                                      <a:rPr lang="zh-CN" altLang="en-US" sz="800" i="0">
                                        <a:latin typeface="Cambria Math" panose="02040503050406030204" pitchFamily="18" charset="0"/>
                                      </a:rPr>
                                      <m:t>1</m:t>
                                    </m:r>
                                  </m:e>
                                </m:mr>
                              </m:m>
                            </m:e>
                          </m:mr>
                        </m:m>
                      </m:e>
                    </m:d>
                    <m:d>
                      <m:dPr>
                        <m:ctrlPr>
                          <a:rPr lang="zh-CN" altLang="en-US" sz="800" i="1">
                            <a:latin typeface="Cambria Math" panose="02040503050406030204" pitchFamily="18" charset="0"/>
                          </a:rPr>
                        </m:ctrlPr>
                      </m:dPr>
                      <m:e>
                        <m:m>
                          <m:mPr>
                            <m:mcs>
                              <m:mc>
                                <m:mcPr>
                                  <m:count m:val="2"/>
                                  <m:mcJc m:val="center"/>
                                </m:mcPr>
                              </m:mc>
                            </m:mcs>
                            <m:ctrlPr>
                              <a:rPr lang="zh-CN" altLang="en-US" sz="800" i="1">
                                <a:latin typeface="Cambria Math" panose="02040503050406030204" pitchFamily="18" charset="0"/>
                              </a:rPr>
                            </m:ctrlPr>
                          </m:mPr>
                          <m:mr>
                            <m:e>
                              <m:m>
                                <m:mPr>
                                  <m:mcs>
                                    <m:mc>
                                      <m:mcPr>
                                        <m:count m:val="2"/>
                                        <m:mcJc m:val="center"/>
                                      </m:mcPr>
                                    </m:mc>
                                  </m:mcs>
                                  <m:ctrlPr>
                                    <a:rPr lang="zh-CN" altLang="en-US" sz="800" i="1">
                                      <a:latin typeface="Cambria Math" panose="02040503050406030204" pitchFamily="18" charset="0"/>
                                    </a:rPr>
                                  </m:ctrlPr>
                                </m:mPr>
                                <m:mr>
                                  <m:e>
                                    <m:r>
                                      <a:rPr lang="zh-CN" altLang="en-US" sz="800" i="1">
                                        <a:latin typeface="Cambria Math" panose="02040503050406030204" pitchFamily="18" charset="0"/>
                                      </a:rPr>
                                      <m:t>𝑐𝑜𝑠</m:t>
                                    </m:r>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𝜃</m:t>
                                        </m:r>
                                      </m:e>
                                      <m:sub>
                                        <m:r>
                                          <a:rPr lang="zh-CN" altLang="en-US" sz="800" i="0">
                                            <a:latin typeface="Cambria Math" panose="02040503050406030204" pitchFamily="18" charset="0"/>
                                          </a:rPr>
                                          <m:t>6</m:t>
                                        </m:r>
                                      </m:sub>
                                    </m:sSub>
                                  </m:e>
                                  <m:e>
                                    <m:r>
                                      <a:rPr lang="zh-CN" altLang="en-US" sz="800" i="0">
                                        <a:latin typeface="Cambria Math" panose="02040503050406030204" pitchFamily="18" charset="0"/>
                                      </a:rPr>
                                      <m:t>−</m:t>
                                    </m:r>
                                    <m:r>
                                      <a:rPr lang="zh-CN" altLang="en-US" sz="800" i="1">
                                        <a:latin typeface="Cambria Math" panose="02040503050406030204" pitchFamily="18" charset="0"/>
                                      </a:rPr>
                                      <m:t>𝑠𝑖𝑛</m:t>
                                    </m:r>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𝜃</m:t>
                                        </m:r>
                                      </m:e>
                                      <m:sub>
                                        <m:r>
                                          <a:rPr lang="zh-CN" altLang="en-US" sz="800" i="0">
                                            <a:latin typeface="Cambria Math" panose="02040503050406030204" pitchFamily="18" charset="0"/>
                                          </a:rPr>
                                          <m:t>6</m:t>
                                        </m:r>
                                      </m:sub>
                                    </m:sSub>
                                  </m:e>
                                </m:mr>
                                <m:mr>
                                  <m:e>
                                    <m:r>
                                      <a:rPr lang="zh-CN" altLang="en-US" sz="800" i="0">
                                        <a:latin typeface="Cambria Math" panose="02040503050406030204" pitchFamily="18" charset="0"/>
                                      </a:rPr>
                                      <m:t>0</m:t>
                                    </m:r>
                                  </m:e>
                                  <m:e>
                                    <m:r>
                                      <a:rPr lang="zh-CN" altLang="en-US" sz="800" i="0">
                                        <a:latin typeface="Cambria Math" panose="02040503050406030204" pitchFamily="18" charset="0"/>
                                      </a:rPr>
                                      <m:t>0</m:t>
                                    </m:r>
                                  </m:e>
                                </m:mr>
                              </m:m>
                            </m:e>
                            <m:e>
                              <m:m>
                                <m:mPr>
                                  <m:mcs>
                                    <m:mc>
                                      <m:mcPr>
                                        <m:count m:val="2"/>
                                        <m:mcJc m:val="center"/>
                                      </m:mcPr>
                                    </m:mc>
                                  </m:mcs>
                                  <m:ctrlPr>
                                    <a:rPr lang="zh-CN" altLang="en-US" sz="800" i="1">
                                      <a:latin typeface="Cambria Math" panose="02040503050406030204" pitchFamily="18" charset="0"/>
                                    </a:rPr>
                                  </m:ctrlPr>
                                </m:mPr>
                                <m:mr>
                                  <m:e>
                                    <m:r>
                                      <a:rPr lang="zh-CN" altLang="en-US" sz="800" i="0">
                                        <a:latin typeface="Cambria Math" panose="02040503050406030204" pitchFamily="18" charset="0"/>
                                      </a:rPr>
                                      <m:t>0</m:t>
                                    </m:r>
                                  </m:e>
                                  <m:e>
                                    <m:r>
                                      <a:rPr lang="zh-CN" altLang="en-US" sz="800" i="0">
                                        <a:latin typeface="Cambria Math" panose="02040503050406030204" pitchFamily="18" charset="0"/>
                                      </a:rPr>
                                      <m:t>0</m:t>
                                    </m:r>
                                  </m:e>
                                </m:mr>
                                <m:mr>
                                  <m:e>
                                    <m:r>
                                      <a:rPr lang="zh-CN" altLang="en-US" sz="800" i="0">
                                        <a:latin typeface="Cambria Math" panose="02040503050406030204" pitchFamily="18" charset="0"/>
                                      </a:rPr>
                                      <m:t>1</m:t>
                                    </m:r>
                                  </m:e>
                                  <m:e>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𝑑</m:t>
                                        </m:r>
                                      </m:e>
                                      <m:sub>
                                        <m:r>
                                          <a:rPr lang="zh-CN" altLang="en-US" sz="800" i="0">
                                            <a:latin typeface="Cambria Math" panose="02040503050406030204" pitchFamily="18" charset="0"/>
                                          </a:rPr>
                                          <m:t>6</m:t>
                                        </m:r>
                                      </m:sub>
                                    </m:sSub>
                                  </m:e>
                                </m:mr>
                              </m:m>
                            </m:e>
                          </m:mr>
                          <m:mr>
                            <m:e>
                              <m:m>
                                <m:mPr>
                                  <m:mcs>
                                    <m:mc>
                                      <m:mcPr>
                                        <m:count m:val="2"/>
                                        <m:mcJc m:val="center"/>
                                      </m:mcPr>
                                    </m:mc>
                                  </m:mcs>
                                  <m:ctrlPr>
                                    <a:rPr lang="zh-CN" altLang="en-US" sz="800" i="1">
                                      <a:latin typeface="Cambria Math" panose="02040503050406030204" pitchFamily="18" charset="0"/>
                                    </a:rPr>
                                  </m:ctrlPr>
                                </m:mPr>
                                <m:mr>
                                  <m:e>
                                    <m:r>
                                      <a:rPr lang="zh-CN" altLang="en-US" sz="800" i="0">
                                        <a:latin typeface="Cambria Math" panose="02040503050406030204" pitchFamily="18" charset="0"/>
                                      </a:rPr>
                                      <m:t>−</m:t>
                                    </m:r>
                                    <m:r>
                                      <a:rPr lang="zh-CN" altLang="en-US" sz="800" i="1">
                                        <a:latin typeface="Cambria Math" panose="02040503050406030204" pitchFamily="18" charset="0"/>
                                      </a:rPr>
                                      <m:t>𝑠𝑖𝑛</m:t>
                                    </m:r>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𝜃</m:t>
                                        </m:r>
                                      </m:e>
                                      <m:sub>
                                        <m:r>
                                          <a:rPr lang="zh-CN" altLang="en-US" sz="800" i="0">
                                            <a:latin typeface="Cambria Math" panose="02040503050406030204" pitchFamily="18" charset="0"/>
                                          </a:rPr>
                                          <m:t>6</m:t>
                                        </m:r>
                                      </m:sub>
                                    </m:sSub>
                                  </m:e>
                                  <m:e>
                                    <m:r>
                                      <a:rPr lang="zh-CN" altLang="en-US" sz="800" i="0">
                                        <a:latin typeface="Cambria Math" panose="02040503050406030204" pitchFamily="18" charset="0"/>
                                      </a:rPr>
                                      <m:t>−</m:t>
                                    </m:r>
                                    <m:r>
                                      <a:rPr lang="zh-CN" altLang="en-US" sz="800" i="1">
                                        <a:latin typeface="Cambria Math" panose="02040503050406030204" pitchFamily="18" charset="0"/>
                                      </a:rPr>
                                      <m:t>𝑐𝑜𝑠</m:t>
                                    </m:r>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𝜃</m:t>
                                        </m:r>
                                      </m:e>
                                      <m:sub>
                                        <m:r>
                                          <a:rPr lang="zh-CN" altLang="en-US" sz="800" i="0">
                                            <a:latin typeface="Cambria Math" panose="02040503050406030204" pitchFamily="18" charset="0"/>
                                          </a:rPr>
                                          <m:t>6</m:t>
                                        </m:r>
                                      </m:sub>
                                    </m:sSub>
                                  </m:e>
                                </m:mr>
                                <m:mr>
                                  <m:e>
                                    <m:r>
                                      <a:rPr lang="zh-CN" altLang="en-US" sz="800" i="0">
                                        <a:latin typeface="Cambria Math" panose="02040503050406030204" pitchFamily="18" charset="0"/>
                                      </a:rPr>
                                      <m:t>0</m:t>
                                    </m:r>
                                  </m:e>
                                  <m:e>
                                    <m:r>
                                      <a:rPr lang="zh-CN" altLang="en-US" sz="800" i="0">
                                        <a:latin typeface="Cambria Math" panose="02040503050406030204" pitchFamily="18" charset="0"/>
                                      </a:rPr>
                                      <m:t>0</m:t>
                                    </m:r>
                                  </m:e>
                                </m:mr>
                              </m:m>
                            </m:e>
                            <m:e>
                              <m:m>
                                <m:mPr>
                                  <m:mcs>
                                    <m:mc>
                                      <m:mcPr>
                                        <m:count m:val="2"/>
                                        <m:mcJc m:val="center"/>
                                      </m:mcPr>
                                    </m:mc>
                                  </m:mcs>
                                  <m:ctrlPr>
                                    <a:rPr lang="zh-CN" altLang="en-US" sz="800" i="1">
                                      <a:latin typeface="Cambria Math" panose="02040503050406030204" pitchFamily="18" charset="0"/>
                                    </a:rPr>
                                  </m:ctrlPr>
                                </m:mPr>
                                <m:mr>
                                  <m:e>
                                    <m:r>
                                      <a:rPr lang="zh-CN" altLang="en-US" sz="800" i="0">
                                        <a:latin typeface="Cambria Math" panose="02040503050406030204" pitchFamily="18" charset="0"/>
                                      </a:rPr>
                                      <m:t>0</m:t>
                                    </m:r>
                                  </m:e>
                                  <m:e>
                                    <m:r>
                                      <a:rPr lang="zh-CN" altLang="en-US" sz="800" i="0">
                                        <a:latin typeface="Cambria Math" panose="02040503050406030204" pitchFamily="18" charset="0"/>
                                      </a:rPr>
                                      <m:t>0</m:t>
                                    </m:r>
                                  </m:e>
                                </m:mr>
                                <m:mr>
                                  <m:e>
                                    <m:r>
                                      <a:rPr lang="zh-CN" altLang="en-US" sz="800" i="0">
                                        <a:latin typeface="Cambria Math" panose="02040503050406030204" pitchFamily="18" charset="0"/>
                                      </a:rPr>
                                      <m:t>0</m:t>
                                    </m:r>
                                  </m:e>
                                  <m:e>
                                    <m:r>
                                      <a:rPr lang="zh-CN" altLang="en-US" sz="800" i="0">
                                        <a:latin typeface="Cambria Math" panose="02040503050406030204" pitchFamily="18" charset="0"/>
                                      </a:rPr>
                                      <m:t>1</m:t>
                                    </m:r>
                                  </m:e>
                                </m:mr>
                              </m:m>
                            </m:e>
                          </m:mr>
                        </m:m>
                      </m:e>
                    </m:d>
                  </m:oMath>
                </a14:m>
                <a:r>
                  <a:rPr lang="zh-CN" altLang="en-US" sz="800" dirty="0"/>
                  <a:t> </a:t>
                </a:r>
                <a14:m>
                  <m:oMath xmlns:m="http://schemas.openxmlformats.org/officeDocument/2006/math">
                    <m:r>
                      <a:rPr lang="zh-CN" altLang="en-US" sz="800">
                        <a:latin typeface="Cambria Math" panose="02040503050406030204" pitchFamily="18" charset="0"/>
                      </a:rPr>
                      <m:t>=</m:t>
                    </m:r>
                    <m:d>
                      <m:dPr>
                        <m:ctrlPr>
                          <a:rPr lang="zh-CN" altLang="en-US" sz="800" i="1">
                            <a:latin typeface="Cambria Math" panose="02040503050406030204" pitchFamily="18" charset="0"/>
                          </a:rPr>
                        </m:ctrlPr>
                      </m:dPr>
                      <m:e>
                        <m:m>
                          <m:mPr>
                            <m:mcs>
                              <m:mc>
                                <m:mcPr>
                                  <m:count m:val="2"/>
                                  <m:mcJc m:val="center"/>
                                </m:mcPr>
                              </m:mc>
                            </m:mcs>
                            <m:ctrlPr>
                              <a:rPr lang="zh-CN" altLang="en-US" sz="800" i="1">
                                <a:latin typeface="Cambria Math" panose="02040503050406030204" pitchFamily="18" charset="0"/>
                              </a:rPr>
                            </m:ctrlPr>
                          </m:mPr>
                          <m:mr>
                            <m:e>
                              <m:m>
                                <m:mPr>
                                  <m:mcs>
                                    <m:mc>
                                      <m:mcPr>
                                        <m:count m:val="2"/>
                                        <m:mcJc m:val="center"/>
                                      </m:mcPr>
                                    </m:mc>
                                  </m:mcs>
                                  <m:ctrlPr>
                                    <a:rPr lang="zh-CN" altLang="en-US" sz="800" i="1">
                                      <a:latin typeface="Cambria Math" panose="02040503050406030204" pitchFamily="18" charset="0"/>
                                    </a:rPr>
                                  </m:ctrlPr>
                                </m:mPr>
                                <m:mr>
                                  <m:e>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𝐶</m:t>
                                        </m:r>
                                      </m:e>
                                      <m:sub>
                                        <m:r>
                                          <a:rPr lang="zh-CN" altLang="en-US" sz="800">
                                            <a:latin typeface="Cambria Math" panose="02040503050406030204" pitchFamily="18" charset="0"/>
                                          </a:rPr>
                                          <m:t>234</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𝐶</m:t>
                                        </m:r>
                                      </m:e>
                                      <m:sub>
                                        <m:r>
                                          <a:rPr lang="zh-CN" altLang="en-US" sz="800">
                                            <a:latin typeface="Cambria Math" panose="02040503050406030204" pitchFamily="18" charset="0"/>
                                          </a:rPr>
                                          <m:t>5</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𝐶</m:t>
                                        </m:r>
                                      </m:e>
                                      <m:sub>
                                        <m:r>
                                          <a:rPr lang="zh-CN" altLang="en-US" sz="800">
                                            <a:latin typeface="Cambria Math" panose="02040503050406030204" pitchFamily="18" charset="0"/>
                                          </a:rPr>
                                          <m:t>6</m:t>
                                        </m:r>
                                      </m:sub>
                                    </m:sSub>
                                    <m:r>
                                      <a:rPr lang="zh-CN" altLang="en-US" sz="800">
                                        <a:latin typeface="Cambria Math" panose="02040503050406030204" pitchFamily="18" charset="0"/>
                                      </a:rPr>
                                      <m:t>−</m:t>
                                    </m:r>
                                    <m:sSub>
                                      <m:sSubPr>
                                        <m:ctrlPr>
                                          <a:rPr lang="zh-CN" altLang="en-US" sz="800" i="1">
                                            <a:latin typeface="Cambria Math" panose="02040503050406030204" pitchFamily="18" charset="0"/>
                                          </a:rPr>
                                        </m:ctrlPr>
                                      </m:sSubPr>
                                      <m:e>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𝑆</m:t>
                                            </m:r>
                                          </m:e>
                                          <m:sub>
                                            <m:r>
                                              <a:rPr lang="zh-CN" altLang="en-US" sz="800">
                                                <a:latin typeface="Cambria Math" panose="02040503050406030204" pitchFamily="18" charset="0"/>
                                              </a:rPr>
                                              <m:t>234</m:t>
                                            </m:r>
                                          </m:sub>
                                        </m:sSub>
                                        <m:r>
                                          <a:rPr lang="zh-CN" altLang="en-US" sz="800" i="1">
                                            <a:latin typeface="Cambria Math" panose="02040503050406030204" pitchFamily="18" charset="0"/>
                                          </a:rPr>
                                          <m:t>𝑆</m:t>
                                        </m:r>
                                      </m:e>
                                      <m:sub>
                                        <m:r>
                                          <a:rPr lang="zh-CN" altLang="en-US" sz="800">
                                            <a:latin typeface="Cambria Math" panose="02040503050406030204" pitchFamily="18" charset="0"/>
                                          </a:rPr>
                                          <m:t>5</m:t>
                                        </m:r>
                                      </m:sub>
                                    </m:sSub>
                                  </m:e>
                                  <m:e>
                                    <m:r>
                                      <a:rPr lang="zh-CN" altLang="en-US" sz="800">
                                        <a:latin typeface="Cambria Math" panose="02040503050406030204" pitchFamily="18" charset="0"/>
                                      </a:rPr>
                                      <m:t>−</m:t>
                                    </m:r>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𝐶</m:t>
                                        </m:r>
                                      </m:e>
                                      <m:sub>
                                        <m:r>
                                          <a:rPr lang="zh-CN" altLang="en-US" sz="800">
                                            <a:latin typeface="Cambria Math" panose="02040503050406030204" pitchFamily="18" charset="0"/>
                                          </a:rPr>
                                          <m:t>234</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𝐶</m:t>
                                        </m:r>
                                      </m:e>
                                      <m:sub>
                                        <m:r>
                                          <a:rPr lang="zh-CN" altLang="en-US" sz="800">
                                            <a:latin typeface="Cambria Math" panose="02040503050406030204" pitchFamily="18" charset="0"/>
                                          </a:rPr>
                                          <m:t>5</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𝑆</m:t>
                                        </m:r>
                                      </m:e>
                                      <m:sub>
                                        <m:r>
                                          <a:rPr lang="zh-CN" altLang="en-US" sz="800">
                                            <a:latin typeface="Cambria Math" panose="02040503050406030204" pitchFamily="18" charset="0"/>
                                          </a:rPr>
                                          <m:t>6</m:t>
                                        </m:r>
                                      </m:sub>
                                    </m:sSub>
                                    <m:r>
                                      <a:rPr lang="zh-CN" altLang="en-US" sz="800">
                                        <a:latin typeface="Cambria Math" panose="02040503050406030204" pitchFamily="18" charset="0"/>
                                      </a:rPr>
                                      <m:t>−</m:t>
                                    </m:r>
                                    <m:sSub>
                                      <m:sSubPr>
                                        <m:ctrlPr>
                                          <a:rPr lang="zh-CN" altLang="en-US" sz="800" i="1">
                                            <a:latin typeface="Cambria Math" panose="02040503050406030204" pitchFamily="18" charset="0"/>
                                          </a:rPr>
                                        </m:ctrlPr>
                                      </m:sSubPr>
                                      <m:e>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𝑆</m:t>
                                            </m:r>
                                          </m:e>
                                          <m:sub>
                                            <m:r>
                                              <a:rPr lang="zh-CN" altLang="en-US" sz="800">
                                                <a:latin typeface="Cambria Math" panose="02040503050406030204" pitchFamily="18" charset="0"/>
                                              </a:rPr>
                                              <m:t>234</m:t>
                                            </m:r>
                                          </m:sub>
                                        </m:sSub>
                                        <m:r>
                                          <a:rPr lang="zh-CN" altLang="en-US" sz="800" i="1">
                                            <a:latin typeface="Cambria Math" panose="02040503050406030204" pitchFamily="18" charset="0"/>
                                          </a:rPr>
                                          <m:t>𝐶</m:t>
                                        </m:r>
                                      </m:e>
                                      <m:sub>
                                        <m:r>
                                          <a:rPr lang="zh-CN" altLang="en-US" sz="800">
                                            <a:latin typeface="Cambria Math" panose="02040503050406030204" pitchFamily="18" charset="0"/>
                                          </a:rPr>
                                          <m:t>6</m:t>
                                        </m:r>
                                      </m:sub>
                                    </m:sSub>
                                  </m:e>
                                </m:mr>
                                <m:mr>
                                  <m:e>
                                    <m:sSub>
                                      <m:sSubPr>
                                        <m:ctrlPr>
                                          <a:rPr lang="zh-CN" altLang="en-US" sz="800" i="1">
                                            <a:latin typeface="Cambria Math" panose="02040503050406030204" pitchFamily="18" charset="0"/>
                                          </a:rPr>
                                        </m:ctrlPr>
                                      </m:sSubPr>
                                      <m:e>
                                        <m:r>
                                          <a:rPr lang="zh-CN" altLang="en-US" sz="800">
                                            <a:latin typeface="Cambria Math" panose="02040503050406030204" pitchFamily="18" charset="0"/>
                                          </a:rPr>
                                          <m:t>−</m:t>
                                        </m:r>
                                        <m:r>
                                          <a:rPr lang="zh-CN" altLang="en-US" sz="800" i="1">
                                            <a:latin typeface="Cambria Math" panose="02040503050406030204" pitchFamily="18" charset="0"/>
                                          </a:rPr>
                                          <m:t>𝑆</m:t>
                                        </m:r>
                                      </m:e>
                                      <m:sub>
                                        <m:r>
                                          <a:rPr lang="zh-CN" altLang="en-US" sz="800">
                                            <a:latin typeface="Cambria Math" panose="02040503050406030204" pitchFamily="18" charset="0"/>
                                          </a:rPr>
                                          <m:t>5</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𝐶</m:t>
                                        </m:r>
                                      </m:e>
                                      <m:sub>
                                        <m:r>
                                          <a:rPr lang="zh-CN" altLang="en-US" sz="800">
                                            <a:latin typeface="Cambria Math" panose="02040503050406030204" pitchFamily="18" charset="0"/>
                                          </a:rPr>
                                          <m:t>6</m:t>
                                        </m:r>
                                      </m:sub>
                                    </m:sSub>
                                  </m:e>
                                  <m:e>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𝑆</m:t>
                                        </m:r>
                                      </m:e>
                                      <m:sub>
                                        <m:r>
                                          <a:rPr lang="zh-CN" altLang="en-US" sz="800">
                                            <a:latin typeface="Cambria Math" panose="02040503050406030204" pitchFamily="18" charset="0"/>
                                          </a:rPr>
                                          <m:t>5</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𝑆</m:t>
                                        </m:r>
                                      </m:e>
                                      <m:sub>
                                        <m:r>
                                          <a:rPr lang="zh-CN" altLang="en-US" sz="800">
                                            <a:latin typeface="Cambria Math" panose="02040503050406030204" pitchFamily="18" charset="0"/>
                                          </a:rPr>
                                          <m:t>6</m:t>
                                        </m:r>
                                      </m:sub>
                                    </m:sSub>
                                  </m:e>
                                </m:mr>
                              </m:m>
                            </m:e>
                            <m:e>
                              <m:m>
                                <m:mPr>
                                  <m:mcs>
                                    <m:mc>
                                      <m:mcPr>
                                        <m:count m:val="2"/>
                                        <m:mcJc m:val="center"/>
                                      </m:mcPr>
                                    </m:mc>
                                  </m:mcs>
                                  <m:ctrlPr>
                                    <a:rPr lang="zh-CN" altLang="en-US" sz="800" i="1">
                                      <a:latin typeface="Cambria Math" panose="02040503050406030204" pitchFamily="18" charset="0"/>
                                    </a:rPr>
                                  </m:ctrlPr>
                                </m:mPr>
                                <m:mr>
                                  <m:e>
                                    <m:sSub>
                                      <m:sSubPr>
                                        <m:ctrlPr>
                                          <a:rPr lang="zh-CN" altLang="en-US" sz="800" i="1">
                                            <a:latin typeface="Cambria Math" panose="02040503050406030204" pitchFamily="18" charset="0"/>
                                          </a:rPr>
                                        </m:ctrlPr>
                                      </m:sSubPr>
                                      <m:e>
                                        <m:r>
                                          <a:rPr lang="zh-CN" altLang="en-US" sz="800">
                                            <a:latin typeface="Cambria Math" panose="02040503050406030204" pitchFamily="18" charset="0"/>
                                          </a:rPr>
                                          <m:t>−</m:t>
                                        </m:r>
                                        <m:r>
                                          <a:rPr lang="zh-CN" altLang="en-US" sz="800" i="1">
                                            <a:latin typeface="Cambria Math" panose="02040503050406030204" pitchFamily="18" charset="0"/>
                                          </a:rPr>
                                          <m:t>𝐶</m:t>
                                        </m:r>
                                      </m:e>
                                      <m:sub>
                                        <m:r>
                                          <a:rPr lang="zh-CN" altLang="en-US" sz="800">
                                            <a:latin typeface="Cambria Math" panose="02040503050406030204" pitchFamily="18" charset="0"/>
                                          </a:rPr>
                                          <m:t>234</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𝑆</m:t>
                                        </m:r>
                                      </m:e>
                                      <m:sub>
                                        <m:r>
                                          <a:rPr lang="zh-CN" altLang="en-US" sz="800">
                                            <a:latin typeface="Cambria Math" panose="02040503050406030204" pitchFamily="18" charset="0"/>
                                          </a:rPr>
                                          <m:t>5</m:t>
                                        </m:r>
                                      </m:sub>
                                    </m:sSub>
                                  </m:e>
                                  <m:e>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𝑎</m:t>
                                        </m:r>
                                      </m:e>
                                      <m:sub>
                                        <m:r>
                                          <a:rPr lang="zh-CN" altLang="en-US" sz="800">
                                            <a:latin typeface="Cambria Math" panose="02040503050406030204" pitchFamily="18" charset="0"/>
                                          </a:rPr>
                                          <m:t>4</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𝐶</m:t>
                                        </m:r>
                                      </m:e>
                                      <m:sub>
                                        <m:r>
                                          <a:rPr lang="zh-CN" altLang="en-US" sz="800">
                                            <a:latin typeface="Cambria Math" panose="02040503050406030204" pitchFamily="18" charset="0"/>
                                          </a:rPr>
                                          <m:t>23</m:t>
                                        </m:r>
                                      </m:sub>
                                    </m:sSub>
                                    <m:r>
                                      <a:rPr lang="zh-CN" altLang="en-US" sz="800">
                                        <a:latin typeface="Cambria Math" panose="02040503050406030204" pitchFamily="18" charset="0"/>
                                      </a:rPr>
                                      <m:t>+</m:t>
                                    </m:r>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𝑑</m:t>
                                        </m:r>
                                      </m:e>
                                      <m:sub>
                                        <m:r>
                                          <a:rPr lang="zh-CN" altLang="en-US" sz="800">
                                            <a:latin typeface="Cambria Math" panose="02040503050406030204" pitchFamily="18" charset="0"/>
                                          </a:rPr>
                                          <m:t>5</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𝑆</m:t>
                                        </m:r>
                                      </m:e>
                                      <m:sub>
                                        <m:r>
                                          <a:rPr lang="zh-CN" altLang="en-US" sz="800">
                                            <a:latin typeface="Cambria Math" panose="02040503050406030204" pitchFamily="18" charset="0"/>
                                          </a:rPr>
                                          <m:t>234</m:t>
                                        </m:r>
                                      </m:sub>
                                    </m:sSub>
                                    <m:r>
                                      <a:rPr lang="zh-CN" altLang="en-US" sz="800">
                                        <a:latin typeface="Cambria Math" panose="02040503050406030204" pitchFamily="18" charset="0"/>
                                      </a:rPr>
                                      <m:t>−</m:t>
                                    </m:r>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𝑑</m:t>
                                        </m:r>
                                      </m:e>
                                      <m:sub>
                                        <m:r>
                                          <a:rPr lang="zh-CN" altLang="en-US" sz="800">
                                            <a:latin typeface="Cambria Math" panose="02040503050406030204" pitchFamily="18" charset="0"/>
                                          </a:rPr>
                                          <m:t>6</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𝐶</m:t>
                                        </m:r>
                                      </m:e>
                                      <m:sub>
                                        <m:r>
                                          <a:rPr lang="zh-CN" altLang="en-US" sz="800">
                                            <a:latin typeface="Cambria Math" panose="02040503050406030204" pitchFamily="18" charset="0"/>
                                          </a:rPr>
                                          <m:t>234</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𝑆</m:t>
                                        </m:r>
                                      </m:e>
                                      <m:sub>
                                        <m:r>
                                          <a:rPr lang="zh-CN" altLang="en-US" sz="800">
                                            <a:latin typeface="Cambria Math" panose="02040503050406030204" pitchFamily="18" charset="0"/>
                                          </a:rPr>
                                          <m:t>5</m:t>
                                        </m:r>
                                      </m:sub>
                                    </m:sSub>
                                    <m:sSub>
                                      <m:sSubPr>
                                        <m:ctrlPr>
                                          <a:rPr lang="zh-CN" altLang="en-US" sz="800" i="1">
                                            <a:latin typeface="Cambria Math" panose="02040503050406030204" pitchFamily="18" charset="0"/>
                                          </a:rPr>
                                        </m:ctrlPr>
                                      </m:sSubPr>
                                      <m:e>
                                        <m:r>
                                          <a:rPr lang="zh-CN" altLang="en-US" sz="800">
                                            <a:latin typeface="Cambria Math" panose="02040503050406030204" pitchFamily="18" charset="0"/>
                                          </a:rPr>
                                          <m:t>+</m:t>
                                        </m:r>
                                        <m:r>
                                          <a:rPr lang="zh-CN" altLang="en-US" sz="800" i="1">
                                            <a:latin typeface="Cambria Math" panose="02040503050406030204" pitchFamily="18" charset="0"/>
                                          </a:rPr>
                                          <m:t>𝑎</m:t>
                                        </m:r>
                                      </m:e>
                                      <m:sub>
                                        <m:r>
                                          <a:rPr lang="zh-CN" altLang="en-US" sz="800">
                                            <a:latin typeface="Cambria Math" panose="02040503050406030204" pitchFamily="18" charset="0"/>
                                          </a:rPr>
                                          <m:t>3</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𝐶</m:t>
                                        </m:r>
                                      </m:e>
                                      <m:sub>
                                        <m:r>
                                          <a:rPr lang="zh-CN" altLang="en-US" sz="800">
                                            <a:latin typeface="Cambria Math" panose="02040503050406030204" pitchFamily="18" charset="0"/>
                                          </a:rPr>
                                          <m:t>2</m:t>
                                        </m:r>
                                      </m:sub>
                                    </m:sSub>
                                  </m:e>
                                </m:mr>
                                <m:mr>
                                  <m:e>
                                    <m:sSub>
                                      <m:sSubPr>
                                        <m:ctrlPr>
                                          <a:rPr lang="zh-CN" altLang="en-US" sz="800" i="1">
                                            <a:latin typeface="Cambria Math" panose="02040503050406030204" pitchFamily="18" charset="0"/>
                                          </a:rPr>
                                        </m:ctrlPr>
                                      </m:sSubPr>
                                      <m:e>
                                        <m:r>
                                          <a:rPr lang="zh-CN" altLang="en-US" sz="800">
                                            <a:latin typeface="Cambria Math" panose="02040503050406030204" pitchFamily="18" charset="0"/>
                                          </a:rPr>
                                          <m:t>−</m:t>
                                        </m:r>
                                        <m:r>
                                          <a:rPr lang="zh-CN" altLang="en-US" sz="800" i="1">
                                            <a:latin typeface="Cambria Math" panose="02040503050406030204" pitchFamily="18" charset="0"/>
                                          </a:rPr>
                                          <m:t>𝐶</m:t>
                                        </m:r>
                                      </m:e>
                                      <m:sub>
                                        <m:r>
                                          <a:rPr lang="zh-CN" altLang="en-US" sz="800">
                                            <a:latin typeface="Cambria Math" panose="02040503050406030204" pitchFamily="18" charset="0"/>
                                          </a:rPr>
                                          <m:t>5</m:t>
                                        </m:r>
                                      </m:sub>
                                    </m:sSub>
                                  </m:e>
                                  <m:e>
                                    <m:r>
                                      <a:rPr lang="zh-CN" altLang="en-US" sz="800">
                                        <a:latin typeface="Cambria Math" panose="02040503050406030204" pitchFamily="18" charset="0"/>
                                      </a:rPr>
                                      <m:t>−</m:t>
                                    </m:r>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𝑑</m:t>
                                        </m:r>
                                      </m:e>
                                      <m:sub>
                                        <m:r>
                                          <a:rPr lang="zh-CN" altLang="en-US" sz="800">
                                            <a:latin typeface="Cambria Math" panose="02040503050406030204" pitchFamily="18" charset="0"/>
                                          </a:rPr>
                                          <m:t>4</m:t>
                                        </m:r>
                                      </m:sub>
                                    </m:sSub>
                                    <m:r>
                                      <a:rPr lang="zh-CN" altLang="en-US" sz="800">
                                        <a:latin typeface="Cambria Math" panose="02040503050406030204" pitchFamily="18" charset="0"/>
                                      </a:rPr>
                                      <m:t>−</m:t>
                                    </m:r>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𝑑</m:t>
                                        </m:r>
                                      </m:e>
                                      <m:sub>
                                        <m:r>
                                          <a:rPr lang="zh-CN" altLang="en-US" sz="800">
                                            <a:latin typeface="Cambria Math" panose="02040503050406030204" pitchFamily="18" charset="0"/>
                                          </a:rPr>
                                          <m:t>6</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𝐶</m:t>
                                        </m:r>
                                      </m:e>
                                      <m:sub>
                                        <m:r>
                                          <a:rPr lang="zh-CN" altLang="en-US" sz="800">
                                            <a:latin typeface="Cambria Math" panose="02040503050406030204" pitchFamily="18" charset="0"/>
                                          </a:rPr>
                                          <m:t>5</m:t>
                                        </m:r>
                                      </m:sub>
                                    </m:sSub>
                                  </m:e>
                                </m:mr>
                              </m:m>
                            </m:e>
                          </m:mr>
                          <m:mr>
                            <m:e>
                              <m:m>
                                <m:mPr>
                                  <m:mcs>
                                    <m:mc>
                                      <m:mcPr>
                                        <m:count m:val="2"/>
                                        <m:mcJc m:val="center"/>
                                      </m:mcPr>
                                    </m:mc>
                                  </m:mcs>
                                  <m:ctrlPr>
                                    <a:rPr lang="zh-CN" altLang="en-US" sz="800" i="1">
                                      <a:latin typeface="Cambria Math" panose="02040503050406030204" pitchFamily="18" charset="0"/>
                                    </a:rPr>
                                  </m:ctrlPr>
                                </m:mPr>
                                <m:mr>
                                  <m:e>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𝑆</m:t>
                                        </m:r>
                                      </m:e>
                                      <m:sub>
                                        <m:r>
                                          <a:rPr lang="zh-CN" altLang="en-US" sz="800">
                                            <a:latin typeface="Cambria Math" panose="02040503050406030204" pitchFamily="18" charset="0"/>
                                          </a:rPr>
                                          <m:t>234</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𝐶</m:t>
                                        </m:r>
                                      </m:e>
                                      <m:sub>
                                        <m:r>
                                          <a:rPr lang="zh-CN" altLang="en-US" sz="800">
                                            <a:latin typeface="Cambria Math" panose="02040503050406030204" pitchFamily="18" charset="0"/>
                                          </a:rPr>
                                          <m:t>5</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𝐶</m:t>
                                        </m:r>
                                      </m:e>
                                      <m:sub>
                                        <m:r>
                                          <a:rPr lang="zh-CN" altLang="en-US" sz="800">
                                            <a:latin typeface="Cambria Math" panose="02040503050406030204" pitchFamily="18" charset="0"/>
                                          </a:rPr>
                                          <m:t>6</m:t>
                                        </m:r>
                                      </m:sub>
                                    </m:sSub>
                                    <m:r>
                                      <a:rPr lang="zh-CN" altLang="en-US" sz="800">
                                        <a:latin typeface="Cambria Math" panose="02040503050406030204" pitchFamily="18" charset="0"/>
                                      </a:rPr>
                                      <m:t>+</m:t>
                                    </m:r>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𝐶</m:t>
                                        </m:r>
                                      </m:e>
                                      <m:sub>
                                        <m:r>
                                          <a:rPr lang="zh-CN" altLang="en-US" sz="800">
                                            <a:latin typeface="Cambria Math" panose="02040503050406030204" pitchFamily="18" charset="0"/>
                                          </a:rPr>
                                          <m:t>234</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𝑆</m:t>
                                        </m:r>
                                      </m:e>
                                      <m:sub>
                                        <m:r>
                                          <a:rPr lang="zh-CN" altLang="en-US" sz="800">
                                            <a:latin typeface="Cambria Math" panose="02040503050406030204" pitchFamily="18" charset="0"/>
                                          </a:rPr>
                                          <m:t>6</m:t>
                                        </m:r>
                                      </m:sub>
                                    </m:sSub>
                                  </m:e>
                                  <m:e>
                                    <m:r>
                                      <a:rPr lang="zh-CN" altLang="en-US" sz="800">
                                        <a:latin typeface="Cambria Math" panose="02040503050406030204" pitchFamily="18" charset="0"/>
                                      </a:rPr>
                                      <m:t>−</m:t>
                                    </m:r>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𝑆</m:t>
                                        </m:r>
                                      </m:e>
                                      <m:sub>
                                        <m:r>
                                          <a:rPr lang="zh-CN" altLang="en-US" sz="800">
                                            <a:latin typeface="Cambria Math" panose="02040503050406030204" pitchFamily="18" charset="0"/>
                                          </a:rPr>
                                          <m:t>234</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𝐶</m:t>
                                        </m:r>
                                      </m:e>
                                      <m:sub>
                                        <m:r>
                                          <a:rPr lang="zh-CN" altLang="en-US" sz="800">
                                            <a:latin typeface="Cambria Math" panose="02040503050406030204" pitchFamily="18" charset="0"/>
                                          </a:rPr>
                                          <m:t>5</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𝑆</m:t>
                                        </m:r>
                                      </m:e>
                                      <m:sub>
                                        <m:r>
                                          <a:rPr lang="zh-CN" altLang="en-US" sz="800">
                                            <a:latin typeface="Cambria Math" panose="02040503050406030204" pitchFamily="18" charset="0"/>
                                          </a:rPr>
                                          <m:t>6</m:t>
                                        </m:r>
                                      </m:sub>
                                    </m:sSub>
                                    <m:r>
                                      <a:rPr lang="zh-CN" altLang="en-US" sz="800">
                                        <a:latin typeface="Cambria Math" panose="02040503050406030204" pitchFamily="18" charset="0"/>
                                      </a:rPr>
                                      <m:t>+</m:t>
                                    </m:r>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𝐶</m:t>
                                        </m:r>
                                      </m:e>
                                      <m:sub>
                                        <m:r>
                                          <a:rPr lang="zh-CN" altLang="en-US" sz="800">
                                            <a:latin typeface="Cambria Math" panose="02040503050406030204" pitchFamily="18" charset="0"/>
                                          </a:rPr>
                                          <m:t>234</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𝐶</m:t>
                                        </m:r>
                                      </m:e>
                                      <m:sub>
                                        <m:r>
                                          <a:rPr lang="zh-CN" altLang="en-US" sz="800">
                                            <a:latin typeface="Cambria Math" panose="02040503050406030204" pitchFamily="18" charset="0"/>
                                          </a:rPr>
                                          <m:t>6</m:t>
                                        </m:r>
                                      </m:sub>
                                    </m:sSub>
                                  </m:e>
                                </m:mr>
                                <m:mr>
                                  <m:e>
                                    <m:r>
                                      <a:rPr lang="zh-CN" altLang="en-US" sz="800">
                                        <a:latin typeface="Cambria Math" panose="02040503050406030204" pitchFamily="18" charset="0"/>
                                      </a:rPr>
                                      <m:t>0</m:t>
                                    </m:r>
                                  </m:e>
                                  <m:e>
                                    <m:r>
                                      <a:rPr lang="zh-CN" altLang="en-US" sz="800">
                                        <a:latin typeface="Cambria Math" panose="02040503050406030204" pitchFamily="18" charset="0"/>
                                      </a:rPr>
                                      <m:t>0</m:t>
                                    </m:r>
                                  </m:e>
                                </m:mr>
                              </m:m>
                            </m:e>
                            <m:e>
                              <m:m>
                                <m:mPr>
                                  <m:mcs>
                                    <m:mc>
                                      <m:mcPr>
                                        <m:count m:val="2"/>
                                        <m:mcJc m:val="center"/>
                                      </m:mcPr>
                                    </m:mc>
                                  </m:mcs>
                                  <m:ctrlPr>
                                    <a:rPr lang="zh-CN" altLang="en-US" sz="800" i="1">
                                      <a:latin typeface="Cambria Math" panose="02040503050406030204" pitchFamily="18" charset="0"/>
                                    </a:rPr>
                                  </m:ctrlPr>
                                </m:mPr>
                                <m:mr>
                                  <m:e>
                                    <m:sSub>
                                      <m:sSubPr>
                                        <m:ctrlPr>
                                          <a:rPr lang="zh-CN" altLang="en-US" sz="800" i="1">
                                            <a:latin typeface="Cambria Math" panose="02040503050406030204" pitchFamily="18" charset="0"/>
                                          </a:rPr>
                                        </m:ctrlPr>
                                      </m:sSubPr>
                                      <m:e>
                                        <m:r>
                                          <a:rPr lang="zh-CN" altLang="en-US" sz="800">
                                            <a:latin typeface="Cambria Math" panose="02040503050406030204" pitchFamily="18" charset="0"/>
                                          </a:rPr>
                                          <m:t>−</m:t>
                                        </m:r>
                                        <m:r>
                                          <a:rPr lang="zh-CN" altLang="en-US" sz="800" i="1">
                                            <a:latin typeface="Cambria Math" panose="02040503050406030204" pitchFamily="18" charset="0"/>
                                          </a:rPr>
                                          <m:t>𝑆</m:t>
                                        </m:r>
                                      </m:e>
                                      <m:sub>
                                        <m:r>
                                          <a:rPr lang="zh-CN" altLang="en-US" sz="800">
                                            <a:latin typeface="Cambria Math" panose="02040503050406030204" pitchFamily="18" charset="0"/>
                                          </a:rPr>
                                          <m:t>234</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𝑆</m:t>
                                        </m:r>
                                      </m:e>
                                      <m:sub>
                                        <m:r>
                                          <a:rPr lang="zh-CN" altLang="en-US" sz="800">
                                            <a:latin typeface="Cambria Math" panose="02040503050406030204" pitchFamily="18" charset="0"/>
                                          </a:rPr>
                                          <m:t>5</m:t>
                                        </m:r>
                                      </m:sub>
                                    </m:sSub>
                                  </m:e>
                                  <m:e>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𝑎</m:t>
                                        </m:r>
                                      </m:e>
                                      <m:sub>
                                        <m:r>
                                          <a:rPr lang="zh-CN" altLang="en-US" sz="800">
                                            <a:latin typeface="Cambria Math" panose="02040503050406030204" pitchFamily="18" charset="0"/>
                                          </a:rPr>
                                          <m:t>4</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𝑆</m:t>
                                        </m:r>
                                      </m:e>
                                      <m:sub>
                                        <m:r>
                                          <a:rPr lang="zh-CN" altLang="en-US" sz="800">
                                            <a:latin typeface="Cambria Math" panose="02040503050406030204" pitchFamily="18" charset="0"/>
                                          </a:rPr>
                                          <m:t>23</m:t>
                                        </m:r>
                                      </m:sub>
                                    </m:sSub>
                                    <m:sSub>
                                      <m:sSubPr>
                                        <m:ctrlPr>
                                          <a:rPr lang="zh-CN" altLang="en-US" sz="800" i="1">
                                            <a:latin typeface="Cambria Math" panose="02040503050406030204" pitchFamily="18" charset="0"/>
                                          </a:rPr>
                                        </m:ctrlPr>
                                      </m:sSubPr>
                                      <m:e>
                                        <m:r>
                                          <a:rPr lang="zh-CN" altLang="en-US" sz="800">
                                            <a:latin typeface="Cambria Math" panose="02040503050406030204" pitchFamily="18" charset="0"/>
                                          </a:rPr>
                                          <m:t>+</m:t>
                                        </m:r>
                                        <m:r>
                                          <a:rPr lang="zh-CN" altLang="en-US" sz="800" i="1">
                                            <a:latin typeface="Cambria Math" panose="02040503050406030204" pitchFamily="18" charset="0"/>
                                          </a:rPr>
                                          <m:t>𝑎</m:t>
                                        </m:r>
                                      </m:e>
                                      <m:sub>
                                        <m:r>
                                          <a:rPr lang="zh-CN" altLang="en-US" sz="800">
                                            <a:latin typeface="Cambria Math" panose="02040503050406030204" pitchFamily="18" charset="0"/>
                                          </a:rPr>
                                          <m:t>3</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𝑆</m:t>
                                        </m:r>
                                      </m:e>
                                      <m:sub>
                                        <m:r>
                                          <a:rPr lang="zh-CN" altLang="en-US" sz="800">
                                            <a:latin typeface="Cambria Math" panose="02040503050406030204" pitchFamily="18" charset="0"/>
                                          </a:rPr>
                                          <m:t>2</m:t>
                                        </m:r>
                                      </m:sub>
                                    </m:sSub>
                                    <m:r>
                                      <a:rPr lang="zh-CN" altLang="en-US" sz="800">
                                        <a:latin typeface="Cambria Math" panose="02040503050406030204" pitchFamily="18" charset="0"/>
                                      </a:rPr>
                                      <m:t>−</m:t>
                                    </m:r>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𝑑</m:t>
                                        </m:r>
                                      </m:e>
                                      <m:sub>
                                        <m:r>
                                          <a:rPr lang="zh-CN" altLang="en-US" sz="800">
                                            <a:latin typeface="Cambria Math" panose="02040503050406030204" pitchFamily="18" charset="0"/>
                                          </a:rPr>
                                          <m:t>5</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𝐶</m:t>
                                        </m:r>
                                      </m:e>
                                      <m:sub>
                                        <m:r>
                                          <a:rPr lang="zh-CN" altLang="en-US" sz="800">
                                            <a:latin typeface="Cambria Math" panose="02040503050406030204" pitchFamily="18" charset="0"/>
                                          </a:rPr>
                                          <m:t>234</m:t>
                                        </m:r>
                                      </m:sub>
                                    </m:sSub>
                                    <m:r>
                                      <a:rPr lang="zh-CN" altLang="en-US" sz="800">
                                        <a:latin typeface="Cambria Math" panose="02040503050406030204" pitchFamily="18" charset="0"/>
                                      </a:rPr>
                                      <m:t>−</m:t>
                                    </m:r>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𝑑</m:t>
                                        </m:r>
                                      </m:e>
                                      <m:sub>
                                        <m:r>
                                          <a:rPr lang="zh-CN" altLang="en-US" sz="800">
                                            <a:latin typeface="Cambria Math" panose="02040503050406030204" pitchFamily="18" charset="0"/>
                                          </a:rPr>
                                          <m:t>6</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𝑆</m:t>
                                        </m:r>
                                      </m:e>
                                      <m:sub>
                                        <m:r>
                                          <a:rPr lang="zh-CN" altLang="en-US" sz="800">
                                            <a:latin typeface="Cambria Math" panose="02040503050406030204" pitchFamily="18" charset="0"/>
                                          </a:rPr>
                                          <m:t>234</m:t>
                                        </m:r>
                                      </m:sub>
                                    </m:sSub>
                                    <m:sSub>
                                      <m:sSubPr>
                                        <m:ctrlPr>
                                          <a:rPr lang="zh-CN" altLang="en-US" sz="800" i="1">
                                            <a:latin typeface="Cambria Math" panose="02040503050406030204" pitchFamily="18" charset="0"/>
                                          </a:rPr>
                                        </m:ctrlPr>
                                      </m:sSubPr>
                                      <m:e>
                                        <m:r>
                                          <a:rPr lang="zh-CN" altLang="en-US" sz="800" i="1">
                                            <a:latin typeface="Cambria Math" panose="02040503050406030204" pitchFamily="18" charset="0"/>
                                          </a:rPr>
                                          <m:t>𝑆</m:t>
                                        </m:r>
                                      </m:e>
                                      <m:sub>
                                        <m:r>
                                          <a:rPr lang="zh-CN" altLang="en-US" sz="800">
                                            <a:latin typeface="Cambria Math" panose="02040503050406030204" pitchFamily="18" charset="0"/>
                                          </a:rPr>
                                          <m:t>5</m:t>
                                        </m:r>
                                      </m:sub>
                                    </m:sSub>
                                  </m:e>
                                </m:mr>
                                <m:mr>
                                  <m:e>
                                    <m:r>
                                      <a:rPr lang="zh-CN" altLang="en-US" sz="800">
                                        <a:latin typeface="Cambria Math" panose="02040503050406030204" pitchFamily="18" charset="0"/>
                                      </a:rPr>
                                      <m:t>0</m:t>
                                    </m:r>
                                  </m:e>
                                  <m:e>
                                    <m:r>
                                      <a:rPr lang="zh-CN" altLang="en-US" sz="800">
                                        <a:latin typeface="Cambria Math" panose="02040503050406030204" pitchFamily="18" charset="0"/>
                                      </a:rPr>
                                      <m:t>1</m:t>
                                    </m:r>
                                  </m:e>
                                </m:mr>
                              </m:m>
                            </m:e>
                          </m:mr>
                        </m:m>
                      </m:e>
                    </m:d>
                  </m:oMath>
                </a14:m>
                <a:endParaRPr lang="zh-CN" altLang="en-US" sz="800" dirty="0"/>
              </a:p>
            </p:txBody>
          </p:sp>
        </mc:Choice>
        <mc:Fallback xmlns="">
          <p:sp>
            <p:nvSpPr>
              <p:cNvPr id="24" name="矩形 23"/>
              <p:cNvSpPr>
                <a:spLocks noRot="1" noChangeAspect="1" noMove="1" noResize="1" noEditPoints="1" noAdjustHandles="1" noChangeArrowheads="1" noChangeShapeType="1" noTextEdit="1"/>
              </p:cNvSpPr>
              <p:nvPr/>
            </p:nvSpPr>
            <p:spPr>
              <a:xfrm>
                <a:off x="737802" y="4202207"/>
                <a:ext cx="8154678" cy="693651"/>
              </a:xfrm>
              <a:prstGeom prst="rect">
                <a:avLst/>
              </a:prstGeom>
              <a:blipFill>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7427999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Inverse Kinematics of 6R </a:t>
              </a:r>
              <a:r>
                <a:rPr lang="en-US" altLang="zh-CN" sz="1000" dirty="0">
                  <a:latin typeface="Arial" panose="020B0604020202020204" pitchFamily="34" charset="0"/>
                  <a:ea typeface="微软雅黑" panose="020B0503020204020204" charset="-122"/>
                  <a:sym typeface="+mn-ea"/>
                </a:rPr>
                <a:t>S</a:t>
              </a:r>
              <a:r>
                <a:rPr lang="en-US" altLang="zh-CN" sz="1000" dirty="0" smtClean="0">
                  <a:latin typeface="Arial" panose="020B0604020202020204" pitchFamily="34" charset="0"/>
                  <a:ea typeface="微软雅黑" panose="020B0503020204020204" charset="-122"/>
                  <a:sym typeface="+mn-ea"/>
                </a:rPr>
                <a:t>erial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6R</a:t>
              </a:r>
              <a:r>
                <a:rPr lang="zh-CN" altLang="en-US" sz="2000" b="1" dirty="0">
                  <a:latin typeface="Arial" panose="020B0604020202020204" pitchFamily="34" charset="0"/>
                  <a:ea typeface="微软雅黑" panose="020B0503020204020204" charset="-122"/>
                  <a:sym typeface="+mn-ea"/>
                </a:rPr>
                <a:t>串联机器人逆运动学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p:nvSpPr>
        <p:spPr>
          <a:xfrm>
            <a:off x="2178137" y="882209"/>
            <a:ext cx="4999115" cy="400110"/>
          </a:xfrm>
          <a:prstGeom prst="rect">
            <a:avLst/>
          </a:prstGeom>
        </p:spPr>
        <p:txBody>
          <a:bodyPr wrap="square">
            <a:spAutoFit/>
          </a:bodyPr>
          <a:lstStyle/>
          <a:p>
            <a:r>
              <a:rPr lang="zh-CN" altLang="en-US" sz="2000" b="1" dirty="0">
                <a:solidFill>
                  <a:srgbClr val="002060"/>
                </a:solidFill>
              </a:rPr>
              <a:t>满足Pieper准则的解析解求</a:t>
            </a:r>
            <a:r>
              <a:rPr lang="zh-CN" altLang="en-US" sz="2000" b="1" dirty="0" smtClean="0">
                <a:solidFill>
                  <a:srgbClr val="002060"/>
                </a:solidFill>
              </a:rPr>
              <a:t>法</a:t>
            </a:r>
            <a:r>
              <a:rPr lang="en-US" altLang="zh-CN" sz="2000" b="1" dirty="0">
                <a:solidFill>
                  <a:srgbClr val="002060"/>
                </a:solidFill>
              </a:rPr>
              <a:t>(</a:t>
            </a:r>
            <a:r>
              <a:rPr lang="zh-CN" altLang="en-US" sz="2000" b="1" dirty="0">
                <a:solidFill>
                  <a:srgbClr val="002060"/>
                </a:solidFill>
              </a:rPr>
              <a:t>实例讲解</a:t>
            </a:r>
            <a:r>
              <a:rPr lang="en-US" altLang="zh-CN" sz="2000" b="1" dirty="0" smtClean="0">
                <a:solidFill>
                  <a:srgbClr val="002060"/>
                </a:solidFill>
              </a:rPr>
              <a:t>)</a:t>
            </a:r>
            <a:endParaRPr lang="zh-CN" altLang="en-US" sz="2000" b="1" dirty="0">
              <a:solidFill>
                <a:srgbClr val="002060"/>
              </a:solidFill>
            </a:endParaRPr>
          </a:p>
        </p:txBody>
      </p:sp>
      <p:sp>
        <p:nvSpPr>
          <p:cNvPr id="20" name="形状"/>
          <p:cNvSpPr/>
          <p:nvPr>
            <p:custDataLst>
              <p:tags r:id="rId1"/>
            </p:custDataLst>
          </p:nvPr>
        </p:nvSpPr>
        <p:spPr>
          <a:xfrm>
            <a:off x="365396" y="1589217"/>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2" name="矩形 21"/>
          <p:cNvSpPr/>
          <p:nvPr/>
        </p:nvSpPr>
        <p:spPr>
          <a:xfrm>
            <a:off x="682355" y="1569691"/>
            <a:ext cx="763351" cy="369332"/>
          </a:xfrm>
          <a:prstGeom prst="rect">
            <a:avLst/>
          </a:prstGeom>
        </p:spPr>
        <p:txBody>
          <a:bodyPr wrap="none">
            <a:spAutoFit/>
          </a:bodyPr>
          <a:lstStyle/>
          <a:p>
            <a:r>
              <a:rPr lang="zh-CN" altLang="en-US" b="1" dirty="0" smtClean="0">
                <a:solidFill>
                  <a:srgbClr val="002060"/>
                </a:solidFill>
              </a:rPr>
              <a:t>第</a:t>
            </a:r>
            <a:r>
              <a:rPr lang="en-US" altLang="zh-CN" b="1" dirty="0" smtClean="0">
                <a:solidFill>
                  <a:srgbClr val="002060"/>
                </a:solidFill>
              </a:rPr>
              <a:t>2</a:t>
            </a:r>
            <a:r>
              <a:rPr lang="zh-CN" altLang="en-US" b="1" dirty="0" smtClean="0">
                <a:solidFill>
                  <a:srgbClr val="002060"/>
                </a:solidFill>
              </a:rPr>
              <a:t>步</a:t>
            </a:r>
            <a:endParaRPr lang="zh-CN" altLang="en-US" b="1" dirty="0">
              <a:solidFill>
                <a:srgbClr val="002060"/>
              </a:solidFill>
            </a:endParaRPr>
          </a:p>
        </p:txBody>
      </p:sp>
      <mc:AlternateContent xmlns:mc="http://schemas.openxmlformats.org/markup-compatibility/2006" xmlns:a14="http://schemas.microsoft.com/office/drawing/2010/main">
        <mc:Choice Requires="a14">
          <p:sp>
            <p:nvSpPr>
              <p:cNvPr id="2" name="矩形 1"/>
              <p:cNvSpPr/>
              <p:nvPr/>
            </p:nvSpPr>
            <p:spPr>
              <a:xfrm>
                <a:off x="1474059" y="1282319"/>
                <a:ext cx="6678488" cy="374783"/>
              </a:xfrm>
              <a:prstGeom prst="rect">
                <a:avLst/>
              </a:prstGeom>
            </p:spPr>
            <p:txBody>
              <a:bodyPr wrap="square">
                <a:spAutoFit/>
              </a:bodyPr>
              <a:lstStyle/>
              <a:p>
                <a:r>
                  <a:rPr lang="zh-CN" altLang="zh-CN" sz="1600" b="1" dirty="0" smtClean="0">
                    <a:solidFill>
                      <a:srgbClr val="002060"/>
                    </a:solidFill>
                    <a:ea typeface="等线" panose="02010600030101010101" pitchFamily="2" charset="-122"/>
                    <a:cs typeface="Times New Roman" panose="02020603050405020304" pitchFamily="18" charset="0"/>
                  </a:rPr>
                  <a:t>解</a:t>
                </a:r>
                <a14:m>
                  <m:oMath xmlns:m="http://schemas.openxmlformats.org/officeDocument/2006/math">
                    <m:sSub>
                      <m:sSubPr>
                        <m:ctrlPr>
                          <a:rPr lang="zh-CN" altLang="zh-CN" sz="1600" b="1" i="1">
                            <a:solidFill>
                              <a:srgbClr val="002060"/>
                            </a:solidFill>
                            <a:latin typeface="Cambria Math" panose="02040503050406030204" pitchFamily="18" charset="0"/>
                            <a:ea typeface="Cambria Math" panose="02040503050406030204" pitchFamily="18" charset="0"/>
                          </a:rPr>
                        </m:ctrlPr>
                      </m:sSubPr>
                      <m:e>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𝜽</m:t>
                        </m:r>
                      </m:e>
                      <m:sub>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𝟏</m:t>
                        </m:r>
                      </m:sub>
                    </m:sSub>
                  </m:oMath>
                </a14:m>
                <a:r>
                  <a:rPr lang="zh-CN" altLang="zh-CN" sz="1600" b="1" dirty="0">
                    <a:solidFill>
                      <a:srgbClr val="002060"/>
                    </a:solidFill>
                    <a:ea typeface="等线" panose="02010600030101010101" pitchFamily="2" charset="-122"/>
                    <a:cs typeface="Times New Roman" panose="02020603050405020304" pitchFamily="18" charset="0"/>
                  </a:rPr>
                  <a:t>：将式（</a:t>
                </a:r>
                <a:r>
                  <a:rPr lang="en-US" altLang="zh-CN" sz="1600" b="1" dirty="0">
                    <a:solidFill>
                      <a:srgbClr val="002060"/>
                    </a:solidFill>
                    <a:ea typeface="等线" panose="02010600030101010101" pitchFamily="2" charset="-122"/>
                    <a:cs typeface="Times New Roman" panose="02020603050405020304" pitchFamily="18" charset="0"/>
                  </a:rPr>
                  <a:t>3-59</a:t>
                </a:r>
                <a:r>
                  <a:rPr lang="zh-CN" altLang="zh-CN" sz="1600" b="1" dirty="0">
                    <a:solidFill>
                      <a:srgbClr val="002060"/>
                    </a:solidFill>
                    <a:ea typeface="等线" panose="02010600030101010101" pitchFamily="2" charset="-122"/>
                    <a:cs typeface="Times New Roman" panose="02020603050405020304" pitchFamily="18" charset="0"/>
                  </a:rPr>
                  <a:t>）等式两边同时乘以</a:t>
                </a:r>
                <a:r>
                  <a:rPr lang="zh-CN" altLang="zh-CN" sz="1600" b="1" dirty="0">
                    <a:solidFill>
                      <a:srgbClr val="002060"/>
                    </a:solidFill>
                    <a:effectLst/>
                    <a:ea typeface="等线" panose="02010600030101010101" pitchFamily="2" charset="-122"/>
                    <a:cs typeface="Times New Roman" panose="02020603050405020304" pitchFamily="18" charset="0"/>
                  </a:rPr>
                  <a:t> </a:t>
                </a:r>
                <a14:m>
                  <m:oMath xmlns:m="http://schemas.openxmlformats.org/officeDocument/2006/math">
                    <m:sSup>
                      <m:sSupPr>
                        <m:ctrlPr>
                          <a:rPr lang="zh-CN" altLang="zh-CN" sz="1600" b="1" i="1" kern="0">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6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b="1" i="1">
                                <a:solidFill>
                                  <a:srgbClr val="002060"/>
                                </a:solidFill>
                                <a:effectLst/>
                                <a:latin typeface="Cambria Math" panose="02040503050406030204" pitchFamily="18" charset="0"/>
                                <a:ea typeface="Cambria Math" panose="02040503050406030204" pitchFamily="18" charset="0"/>
                              </a:rPr>
                            </m:ctrlPr>
                          </m:sSubPr>
                          <m:e>
                            <m:sPre>
                              <m:sPrePr>
                                <m:ctrlPr>
                                  <a:rPr lang="zh-CN" altLang="zh-CN" sz="1600" b="1" i="1">
                                    <a:solidFill>
                                      <a:srgbClr val="002060"/>
                                    </a:solidFill>
                                    <a:effectLst/>
                                    <a:latin typeface="Cambria Math" panose="02040503050406030204" pitchFamily="18" charset="0"/>
                                    <a:ea typeface="Cambria Math" panose="02040503050406030204" pitchFamily="18" charset="0"/>
                                  </a:rPr>
                                </m:ctrlPr>
                              </m:sPrePr>
                              <m:sub/>
                              <m:sup>
                                <m:r>
                                  <a:rPr lang="en-US" altLang="zh-CN" sz="16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𝟎</m:t>
                                </m:r>
                              </m:sup>
                              <m:e>
                                <m:r>
                                  <a:rPr lang="en-US" altLang="zh-CN" sz="16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𝑻</m:t>
                                </m:r>
                              </m:e>
                            </m:sPre>
                          </m:e>
                          <m:sub>
                            <m:r>
                              <a:rPr lang="en-US" altLang="zh-CN" sz="16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𝟏</m:t>
                            </m:r>
                          </m:sub>
                        </m:sSub>
                        <m:r>
                          <a:rPr lang="en-US" altLang="zh-CN" sz="16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m:t>
                        </m:r>
                      </m:e>
                      <m:sup>
                        <m:r>
                          <a:rPr lang="en-US" altLang="zh-CN" sz="16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6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𝟏</m:t>
                        </m:r>
                      </m:sup>
                    </m:sSup>
                  </m:oMath>
                </a14:m>
                <a:r>
                  <a:rPr lang="zh-CN" altLang="zh-CN" sz="1600" b="1" dirty="0">
                    <a:solidFill>
                      <a:srgbClr val="002060"/>
                    </a:solidFill>
                    <a:effectLst/>
                    <a:ea typeface="等线" panose="02010600030101010101" pitchFamily="2" charset="-122"/>
                    <a:cs typeface="Times New Roman" panose="02020603050405020304" pitchFamily="18" charset="0"/>
                  </a:rPr>
                  <a:t>，</a:t>
                </a:r>
                <a14:m>
                  <m:oMath xmlns:m="http://schemas.openxmlformats.org/officeDocument/2006/math">
                    <m:r>
                      <a:rPr lang="en-US" altLang="zh-CN" sz="16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b="1" i="1">
                            <a:solidFill>
                              <a:srgbClr val="002060"/>
                            </a:solidFill>
                            <a:effectLst/>
                            <a:latin typeface="Cambria Math" panose="02040503050406030204" pitchFamily="18" charset="0"/>
                            <a:ea typeface="Cambria Math" panose="02040503050406030204" pitchFamily="18" charset="0"/>
                          </a:rPr>
                        </m:ctrlPr>
                      </m:sSubPr>
                      <m:e>
                        <m:sPre>
                          <m:sPrePr>
                            <m:ctrlPr>
                              <a:rPr lang="zh-CN" altLang="zh-CN" sz="1600" b="1" i="1">
                                <a:solidFill>
                                  <a:srgbClr val="002060"/>
                                </a:solidFill>
                                <a:effectLst/>
                                <a:latin typeface="Cambria Math" panose="02040503050406030204" pitchFamily="18" charset="0"/>
                                <a:ea typeface="Cambria Math" panose="02040503050406030204" pitchFamily="18" charset="0"/>
                              </a:rPr>
                            </m:ctrlPr>
                          </m:sPrePr>
                          <m:sub/>
                          <m:sup>
                            <m:r>
                              <a:rPr lang="en-US" altLang="zh-CN" sz="16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𝟓</m:t>
                            </m:r>
                          </m:sup>
                          <m:e>
                            <m:r>
                              <a:rPr lang="en-US" altLang="zh-CN" sz="16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𝑻</m:t>
                            </m:r>
                          </m:e>
                        </m:sPre>
                      </m:e>
                      <m:sub>
                        <m:r>
                          <a:rPr lang="en-US" altLang="zh-CN" sz="16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𝟔</m:t>
                        </m:r>
                      </m:sub>
                    </m:sSub>
                    <m:sSup>
                      <m:sSupPr>
                        <m:ctrlPr>
                          <a:rPr lang="zh-CN" altLang="zh-CN" sz="1600" b="1" i="1">
                            <a:solidFill>
                              <a:srgbClr val="002060"/>
                            </a:solidFill>
                            <a:effectLst/>
                            <a:latin typeface="Cambria Math" panose="02040503050406030204" pitchFamily="18" charset="0"/>
                            <a:ea typeface="Cambria Math" panose="02040503050406030204" pitchFamily="18" charset="0"/>
                          </a:rPr>
                        </m:ctrlPr>
                      </m:sSupPr>
                      <m:e>
                        <m:r>
                          <a:rPr lang="en-US" altLang="zh-CN" sz="16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m:t>
                        </m:r>
                      </m:e>
                      <m:sup>
                        <m:r>
                          <a:rPr lang="en-US" altLang="zh-CN" sz="1600" b="1" i="1">
                            <a:solidFill>
                              <a:srgbClr val="002060"/>
                            </a:solidFill>
                            <a:effectLst/>
                            <a:latin typeface="Cambria Math" panose="02040503050406030204" pitchFamily="18" charset="0"/>
                            <a:cs typeface="Times New Roman" panose="02020603050405020304" pitchFamily="18" charset="0"/>
                          </a:rPr>
                          <m:t>−</m:t>
                        </m:r>
                        <m:r>
                          <a:rPr lang="en-US" altLang="zh-CN" sz="16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𝟏</m:t>
                        </m:r>
                      </m:sup>
                    </m:sSup>
                  </m:oMath>
                </a14:m>
                <a:r>
                  <a:rPr lang="zh-CN" altLang="zh-CN" sz="1600" b="1" dirty="0">
                    <a:solidFill>
                      <a:srgbClr val="002060"/>
                    </a:solidFill>
                    <a:effectLst/>
                    <a:ea typeface="等线" panose="02010600030101010101" pitchFamily="2" charset="-122"/>
                    <a:cs typeface="Times New Roman" panose="02020603050405020304" pitchFamily="18" charset="0"/>
                  </a:rPr>
                  <a:t>，即可得到</a:t>
                </a:r>
                <a:endParaRPr lang="zh-CN" altLang="en-US" sz="1600" b="1" dirty="0">
                  <a:solidFill>
                    <a:srgbClr val="002060"/>
                  </a:solidFill>
                </a:endParaRPr>
              </a:p>
            </p:txBody>
          </p:sp>
        </mc:Choice>
        <mc:Fallback xmlns="">
          <p:sp>
            <p:nvSpPr>
              <p:cNvPr id="2" name="矩形 1"/>
              <p:cNvSpPr>
                <a:spLocks noRot="1" noChangeAspect="1" noMove="1" noResize="1" noEditPoints="1" noAdjustHandles="1" noChangeArrowheads="1" noChangeShapeType="1" noTextEdit="1"/>
              </p:cNvSpPr>
              <p:nvPr/>
            </p:nvSpPr>
            <p:spPr>
              <a:xfrm>
                <a:off x="1474059" y="1282319"/>
                <a:ext cx="6678488" cy="374783"/>
              </a:xfrm>
              <a:prstGeom prst="rect">
                <a:avLst/>
              </a:prstGeom>
              <a:blipFill>
                <a:blip r:embed="rId4"/>
                <a:stretch>
                  <a:fillRect l="-548" b="-193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1907704" y="1651074"/>
                <a:ext cx="6138279" cy="33906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1200" i="1">
                              <a:latin typeface="Cambria Math" panose="02040503050406030204" pitchFamily="18" charset="0"/>
                            </a:rPr>
                          </m:ctrlPr>
                        </m:sSupPr>
                        <m:e>
                          <m:d>
                            <m:dPr>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0</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1</m:t>
                                  </m:r>
                                </m:sub>
                              </m:sSub>
                            </m:e>
                          </m:d>
                        </m:e>
                        <m:sup>
                          <m:r>
                            <a:rPr lang="zh-CN" altLang="en-US" sz="1200" i="0">
                              <a:latin typeface="Cambria Math" panose="02040503050406030204" pitchFamily="18" charset="0"/>
                            </a:rPr>
                            <m:t>−1</m:t>
                          </m:r>
                        </m:sup>
                      </m:sSup>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0</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6</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5</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6</m:t>
                          </m:r>
                        </m:sub>
                      </m:sSub>
                      <m:sSup>
                        <m:sSupPr>
                          <m:ctrlPr>
                            <a:rPr lang="zh-CN" altLang="en-US" sz="1200" i="1">
                              <a:latin typeface="Cambria Math" panose="02040503050406030204" pitchFamily="18" charset="0"/>
                            </a:rPr>
                          </m:ctrlPr>
                        </m:sSupPr>
                        <m:e>
                          <m:d>
                            <m:dPr>
                              <m:begChr m:val=")"/>
                              <m:endChr m:val=""/>
                              <m:ctrlPr>
                                <a:rPr lang="zh-CN" altLang="en-US" sz="1200" i="1">
                                  <a:latin typeface="Cambria Math" panose="02040503050406030204" pitchFamily="18" charset="0"/>
                                </a:rPr>
                              </m:ctrlPr>
                            </m:dPr>
                            <m:e/>
                          </m:d>
                        </m:e>
                        <m:sup>
                          <m:r>
                            <a:rPr lang="zh-CN" altLang="en-US" sz="1200" i="0">
                              <a:latin typeface="Cambria Math" panose="02040503050406030204" pitchFamily="18" charset="0"/>
                            </a:rPr>
                            <m:t>−1</m:t>
                          </m:r>
                        </m:sup>
                      </m:sSup>
                      <m:r>
                        <a:rPr lang="zh-CN" altLang="en-US" sz="1200" i="0">
                          <a:latin typeface="Cambria Math" panose="02040503050406030204" pitchFamily="18" charset="0"/>
                        </a:rPr>
                        <m:t>= </m:t>
                      </m:r>
                      <m:sSup>
                        <m:sSupPr>
                          <m:ctrlPr>
                            <a:rPr lang="zh-CN" altLang="en-US" sz="1200" i="1">
                              <a:latin typeface="Cambria Math" panose="02040503050406030204" pitchFamily="18" charset="0"/>
                            </a:rPr>
                          </m:ctrlPr>
                        </m:sSupPr>
                        <m:e>
                          <m:d>
                            <m:dPr>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0</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1</m:t>
                                  </m:r>
                                </m:sub>
                              </m:sSub>
                            </m:e>
                          </m:d>
                        </m:e>
                        <m:sup>
                          <m:r>
                            <a:rPr lang="zh-CN" altLang="en-US" sz="1200" i="0">
                              <a:latin typeface="Cambria Math" panose="02040503050406030204" pitchFamily="18" charset="0"/>
                            </a:rPr>
                            <m:t>−1</m:t>
                          </m:r>
                        </m:sup>
                      </m:sSup>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0</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1</m:t>
                          </m:r>
                        </m:sub>
                      </m:sSub>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1</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2</m:t>
                          </m:r>
                        </m:sub>
                      </m:sSub>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2</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3</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5</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6</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5</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6</m:t>
                          </m:r>
                        </m:sub>
                      </m:sSub>
                      <m:sSup>
                        <m:sSupPr>
                          <m:ctrlPr>
                            <a:rPr lang="zh-CN" altLang="en-US" sz="1200" i="1">
                              <a:latin typeface="Cambria Math" panose="02040503050406030204" pitchFamily="18" charset="0"/>
                            </a:rPr>
                          </m:ctrlPr>
                        </m:sSupPr>
                        <m:e>
                          <m:d>
                            <m:dPr>
                              <m:begChr m:val=")"/>
                              <m:endChr m:val=""/>
                              <m:ctrlPr>
                                <a:rPr lang="zh-CN" altLang="en-US" sz="1200" i="1">
                                  <a:latin typeface="Cambria Math" panose="02040503050406030204" pitchFamily="18" charset="0"/>
                                </a:rPr>
                              </m:ctrlPr>
                            </m:dPr>
                            <m:e/>
                          </m:d>
                        </m:e>
                        <m:sup>
                          <m:r>
                            <a:rPr lang="zh-CN" altLang="en-US" sz="1200" i="0">
                              <a:latin typeface="Cambria Math" panose="02040503050406030204" pitchFamily="18" charset="0"/>
                            </a:rPr>
                            <m:t>−1</m:t>
                          </m:r>
                        </m:sup>
                      </m:sSup>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1</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2</m:t>
                          </m:r>
                        </m:sub>
                      </m:sSub>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2</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3</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4</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5</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1</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5</m:t>
                          </m:r>
                        </m:sub>
                      </m:sSub>
                    </m:oMath>
                  </m:oMathPara>
                </a14:m>
                <a:endParaRPr lang="zh-CN" altLang="en-US" sz="1200" dirty="0"/>
              </a:p>
            </p:txBody>
          </p:sp>
        </mc:Choice>
        <mc:Fallback xmlns="">
          <p:sp>
            <p:nvSpPr>
              <p:cNvPr id="3" name="矩形 2"/>
              <p:cNvSpPr>
                <a:spLocks noRot="1" noChangeAspect="1" noMove="1" noResize="1" noEditPoints="1" noAdjustHandles="1" noChangeArrowheads="1" noChangeShapeType="1" noTextEdit="1"/>
              </p:cNvSpPr>
              <p:nvPr/>
            </p:nvSpPr>
            <p:spPr>
              <a:xfrm>
                <a:off x="1907704" y="1651074"/>
                <a:ext cx="6138279" cy="339067"/>
              </a:xfrm>
              <a:prstGeom prst="rect">
                <a:avLst/>
              </a:prstGeom>
              <a:blipFill>
                <a:blip r:embed="rId5"/>
                <a:stretch>
                  <a:fillRect t="-72727" b="-1345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20196" y="2342838"/>
                <a:ext cx="9200708" cy="12984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ctrlPr>
                            <a:rPr lang="zh-CN" altLang="en-US" sz="1000" i="1">
                              <a:latin typeface="Cambria Math" panose="02040503050406030204" pitchFamily="18" charset="0"/>
                            </a:rPr>
                          </m:ctrlPr>
                        </m:dPr>
                        <m:e>
                          <m:m>
                            <m:mPr>
                              <m:mcs>
                                <m:mc>
                                  <m:mcPr>
                                    <m:count m:val="2"/>
                                    <m:mcJc m:val="center"/>
                                  </m:mcPr>
                                </m:mc>
                              </m:mcs>
                              <m:ctrlPr>
                                <a:rPr lang="zh-CN" altLang="en-US" sz="1000" i="1">
                                  <a:latin typeface="Cambria Math" panose="02040503050406030204" pitchFamily="18" charset="0"/>
                                </a:rPr>
                              </m:ctrlPr>
                            </m:mPr>
                            <m:mr>
                              <m:e>
                                <m:m>
                                  <m:mPr>
                                    <m:mcs>
                                      <m:mc>
                                        <m:mcPr>
                                          <m:count m:val="2"/>
                                          <m:mcJc m:val="center"/>
                                        </m:mcPr>
                                      </m:mc>
                                    </m:mcs>
                                    <m:ctrlPr>
                                      <a:rPr lang="zh-CN" altLang="en-US" sz="1000" i="1">
                                        <a:latin typeface="Cambria Math" panose="02040503050406030204" pitchFamily="18" charset="0"/>
                                      </a:rPr>
                                    </m:ctrlPr>
                                  </m:mPr>
                                  <m:mr>
                                    <m:e>
                                      <m:d>
                                        <m:dPr>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e>
                                      </m:d>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6</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6</m:t>
                                          </m:r>
                                        </m:sub>
                                      </m:sSub>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e>
                                  </m:mr>
                                  <m:mr>
                                    <m:e>
                                      <m:d>
                                        <m:dPr>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e>
                                      </m:d>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6</m:t>
                                          </m:r>
                                        </m:sub>
                                      </m:sSub>
                                      <m:r>
                                        <a:rPr lang="zh-CN" altLang="en-US" sz="1000" i="0">
                                          <a:latin typeface="Cambria Math" panose="02040503050406030204" pitchFamily="18" charset="0"/>
                                        </a:rPr>
                                        <m:t>−</m:t>
                                      </m:r>
                                      <m:d>
                                        <m:dPr>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e>
                                      </m:d>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6</m:t>
                                          </m:r>
                                        </m:sub>
                                      </m:sSub>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23</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13</m:t>
                                          </m:r>
                                        </m:sub>
                                      </m:sSub>
                                    </m:e>
                                  </m:mr>
                                </m:m>
                              </m:e>
                              <m:e>
                                <m:m>
                                  <m:mPr>
                                    <m:mcs>
                                      <m:mc>
                                        <m:mcPr>
                                          <m:count m:val="2"/>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6</m:t>
                                          </m:r>
                                        </m:sub>
                                      </m:sSub>
                                      <m:r>
                                        <a:rPr lang="zh-CN" altLang="en-US" sz="1000" i="0">
                                          <a:latin typeface="Cambria Math" panose="02040503050406030204" pitchFamily="18" charset="0"/>
                                        </a:rPr>
                                        <m:t>−</m:t>
                                      </m:r>
                                      <m:d>
                                        <m:dPr>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e>
                                      </m:d>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6</m:t>
                                          </m:r>
                                        </m:sub>
                                      </m:sSub>
                                    </m:e>
                                    <m:e>
                                      <m:d>
                                        <m:dPr>
                                          <m:begChr m:val=""/>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𝑑</m:t>
                                              </m:r>
                                            </m:e>
                                            <m:sub>
                                              <m:r>
                                                <a:rPr lang="zh-CN" altLang="en-US" sz="1000" i="0">
                                                  <a:latin typeface="Cambria Math" panose="02040503050406030204" pitchFamily="18" charset="0"/>
                                                </a:rPr>
                                                <m:t>6</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e>
                                      </m:d>
                                    </m:e>
                                  </m:mr>
                                  <m:mr>
                                    <m:e>
                                      <m:d>
                                        <m:dPr>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e>
                                      </m:d>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6</m:t>
                                          </m:r>
                                        </m:sub>
                                      </m:sSub>
                                      <m:r>
                                        <a:rPr lang="zh-CN" altLang="en-US" sz="1000" i="0">
                                          <a:latin typeface="Cambria Math" panose="02040503050406030204" pitchFamily="18" charset="0"/>
                                        </a:rPr>
                                        <m:t>+</m:t>
                                      </m:r>
                                      <m:d>
                                        <m:dPr>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e>
                                      </m:d>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6</m:t>
                                          </m:r>
                                        </m:sub>
                                      </m:sSub>
                                    </m:e>
                                    <m:e>
                                      <m:d>
                                        <m:dPr>
                                          <m:begChr m:val=""/>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𝑝</m:t>
                                              </m:r>
                                            </m:e>
                                            <m:sub>
                                              <m:r>
                                                <a:rPr lang="zh-CN" altLang="en-US" sz="1000" i="1">
                                                  <a:latin typeface="Cambria Math" panose="02040503050406030204" pitchFamily="18" charset="0"/>
                                                </a:rPr>
                                                <m:t>𝑦</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𝑝</m:t>
                                              </m:r>
                                            </m:e>
                                            <m:sub>
                                              <m:r>
                                                <a:rPr lang="zh-CN" altLang="en-US" sz="1000" i="1">
                                                  <a:latin typeface="Cambria Math" panose="02040503050406030204" pitchFamily="18" charset="0"/>
                                                </a:rPr>
                                                <m:t>𝑥</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0">
                                                  <a:latin typeface="Cambria Math" panose="02040503050406030204" pitchFamily="18" charset="0"/>
                                                </a:rPr>
                                                <m:t>6</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13</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23</m:t>
                                              </m:r>
                                            </m:sub>
                                          </m:sSub>
                                        </m:e>
                                      </m:d>
                                    </m:e>
                                  </m:mr>
                                </m:m>
                              </m:e>
                            </m:mr>
                            <m:mr>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31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6</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32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6</m:t>
                                          </m:r>
                                        </m:sub>
                                      </m:sSub>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33</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
                              </m:e>
                              <m:e>
                                <m:m>
                                  <m:mPr>
                                    <m:mcs>
                                      <m:mc>
                                        <m:mcPr>
                                          <m:count m:val="2"/>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31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6</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32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6</m:t>
                                          </m:r>
                                        </m:sub>
                                      </m:sSub>
                                    </m:e>
                                    <m:e>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𝑑</m:t>
                                          </m:r>
                                        </m:e>
                                        <m:sub>
                                          <m:r>
                                            <a:rPr lang="zh-CN" altLang="en-US" sz="1000" i="0">
                                              <a:latin typeface="Cambria Math" panose="02040503050406030204" pitchFamily="18" charset="0"/>
                                            </a:rPr>
                                            <m:t>6</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33</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𝑝</m:t>
                                          </m:r>
                                        </m:e>
                                        <m:sub>
                                          <m:r>
                                            <a:rPr lang="zh-CN" altLang="en-US" sz="1000" i="1">
                                              <a:latin typeface="Cambria Math" panose="02040503050406030204" pitchFamily="18" charset="0"/>
                                            </a:rPr>
                                            <m:t>𝑧</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0">
                                              <a:latin typeface="Cambria Math" panose="02040503050406030204" pitchFamily="18" charset="0"/>
                                            </a:rPr>
                                            <m:t>1</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1</m:t>
                                      </m:r>
                                    </m:e>
                                  </m:mr>
                                </m:m>
                              </m:e>
                            </m:mr>
                          </m:m>
                        </m:e>
                      </m:d>
                      <m:r>
                        <a:rPr lang="zh-CN" altLang="en-US" sz="1000" i="0">
                          <a:latin typeface="Cambria Math" panose="02040503050406030204" pitchFamily="18" charset="0"/>
                        </a:rPr>
                        <m:t>=</m:t>
                      </m:r>
                      <m:d>
                        <m:dPr>
                          <m:ctrlPr>
                            <a:rPr lang="zh-CN" altLang="en-US" sz="1000" i="1">
                              <a:latin typeface="Cambria Math" panose="02040503050406030204" pitchFamily="18" charset="0"/>
                            </a:rPr>
                          </m:ctrlPr>
                        </m:dPr>
                        <m:e>
                          <m:m>
                            <m:mPr>
                              <m:mcs>
                                <m:mc>
                                  <m:mcPr>
                                    <m:count m:val="2"/>
                                    <m:mcJc m:val="center"/>
                                  </m:mcPr>
                                </m:mc>
                              </m:mcs>
                              <m:ctrlPr>
                                <a:rPr lang="zh-CN" altLang="en-US" sz="1000" i="1">
                                  <a:latin typeface="Cambria Math" panose="02040503050406030204" pitchFamily="18" charset="0"/>
                                </a:rPr>
                              </m:ctrlPr>
                            </m:mPr>
                            <m:mr>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234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5</m:t>
                                          </m:r>
                                        </m:sub>
                                      </m:sSub>
                                    </m:e>
                                    <m:e>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𝐶</m:t>
                                          </m:r>
                                        </m:e>
                                        <m:sub>
                                          <m:r>
                                            <a:rPr lang="zh-CN" altLang="en-US" sz="1000" i="0">
                                              <a:latin typeface="Cambria Math" panose="02040503050406030204" pitchFamily="18" charset="0"/>
                                            </a:rPr>
                                            <m:t>234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5</m:t>
                                          </m:r>
                                        </m:sub>
                                      </m:sSub>
                                    </m:e>
                                  </m:mr>
                                  <m:mr>
                                    <m:e>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𝑆</m:t>
                                          </m:r>
                                        </m:e>
                                        <m:sub>
                                          <m:r>
                                            <a:rPr lang="zh-CN" altLang="en-US" sz="1000" i="0">
                                              <a:latin typeface="Cambria Math" panose="02040503050406030204" pitchFamily="18" charset="0"/>
                                            </a:rPr>
                                            <m:t>5</m:t>
                                          </m:r>
                                        </m:sub>
                                      </m:sSub>
                                    </m:e>
                                    <m:e>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𝐶</m:t>
                                          </m:r>
                                        </m:e>
                                        <m:sub>
                                          <m:r>
                                            <a:rPr lang="zh-CN" altLang="en-US" sz="1000" i="0">
                                              <a:latin typeface="Cambria Math" panose="02040503050406030204" pitchFamily="18" charset="0"/>
                                            </a:rPr>
                                            <m:t>5</m:t>
                                          </m:r>
                                        </m:sub>
                                      </m:sSub>
                                    </m:e>
                                  </m:mr>
                                </m:m>
                              </m:e>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234</m:t>
                                          </m:r>
                                        </m:sub>
                                      </m:sSub>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𝑎</m:t>
                                          </m:r>
                                        </m:e>
                                        <m:sub>
                                          <m:r>
                                            <a:rPr lang="zh-CN" altLang="en-US" sz="1000" i="0">
                                              <a:latin typeface="Cambria Math" panose="02040503050406030204" pitchFamily="18" charset="0"/>
                                            </a:rPr>
                                            <m:t>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23</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0">
                                              <a:latin typeface="Cambria Math" panose="02040503050406030204" pitchFamily="18" charset="0"/>
                                            </a:rPr>
                                            <m:t>5</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234</m:t>
                                          </m:r>
                                        </m:sub>
                                      </m:sSub>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𝑎</m:t>
                                          </m:r>
                                        </m:e>
                                        <m:sub>
                                          <m:r>
                                            <a:rPr lang="zh-CN" altLang="en-US" sz="1000" i="0">
                                              <a:latin typeface="Cambria Math" panose="02040503050406030204" pitchFamily="18" charset="0"/>
                                            </a:rPr>
                                            <m:t>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0">
                                              <a:latin typeface="Cambria Math" panose="02040503050406030204" pitchFamily="18" charset="0"/>
                                            </a:rPr>
                                            <m:t>4</m:t>
                                          </m:r>
                                        </m:sub>
                                      </m:sSub>
                                    </m:e>
                                  </m:mr>
                                </m:m>
                              </m:e>
                            </m:mr>
                            <m:mr>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234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5</m:t>
                                          </m:r>
                                        </m:sub>
                                      </m:sSub>
                                    </m:e>
                                    <m:e>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𝑆</m:t>
                                          </m:r>
                                        </m:e>
                                        <m:sub>
                                          <m:r>
                                            <a:rPr lang="zh-CN" altLang="en-US" sz="1000" i="0">
                                              <a:latin typeface="Cambria Math" panose="02040503050406030204" pitchFamily="18" charset="0"/>
                                            </a:rPr>
                                            <m:t>234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5</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
                              </m:e>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𝐶</m:t>
                                          </m:r>
                                        </m:e>
                                        <m:sub>
                                          <m:r>
                                            <a:rPr lang="zh-CN" altLang="en-US" sz="1000" i="0">
                                              <a:latin typeface="Cambria Math" panose="02040503050406030204" pitchFamily="18" charset="0"/>
                                            </a:rPr>
                                            <m:t>234</m:t>
                                          </m:r>
                                        </m:sub>
                                      </m:sSub>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𝑎</m:t>
                                          </m:r>
                                        </m:e>
                                        <m:sub>
                                          <m:r>
                                            <a:rPr lang="zh-CN" altLang="en-US" sz="1000" i="0">
                                              <a:latin typeface="Cambria Math" panose="02040503050406030204" pitchFamily="18" charset="0"/>
                                            </a:rPr>
                                            <m:t>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23</m:t>
                                          </m:r>
                                        </m:sub>
                                      </m:sSub>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𝑎</m:t>
                                          </m:r>
                                        </m:e>
                                        <m:sub>
                                          <m:r>
                                            <a:rPr lang="zh-CN" altLang="en-US" sz="1000" i="0">
                                              <a:latin typeface="Cambria Math" panose="02040503050406030204" pitchFamily="18" charset="0"/>
                                            </a:rPr>
                                            <m:t>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0">
                                              <a:latin typeface="Cambria Math" panose="02040503050406030204" pitchFamily="18" charset="0"/>
                                            </a:rPr>
                                            <m:t>5</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234</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1</m:t>
                                      </m:r>
                                    </m:e>
                                  </m:mr>
                                </m:m>
                              </m:e>
                            </m:mr>
                          </m:m>
                        </m:e>
                      </m:d>
                    </m:oMath>
                  </m:oMathPara>
                </a14:m>
                <a:endParaRPr lang="zh-CN" altLang="en-US" sz="1000" dirty="0"/>
              </a:p>
            </p:txBody>
          </p:sp>
        </mc:Choice>
        <mc:Fallback xmlns="">
          <p:sp>
            <p:nvSpPr>
              <p:cNvPr id="8" name="矩形 7"/>
              <p:cNvSpPr>
                <a:spLocks noRot="1" noChangeAspect="1" noMove="1" noResize="1" noEditPoints="1" noAdjustHandles="1" noChangeArrowheads="1" noChangeShapeType="1" noTextEdit="1"/>
              </p:cNvSpPr>
              <p:nvPr/>
            </p:nvSpPr>
            <p:spPr>
              <a:xfrm>
                <a:off x="-20196" y="2342838"/>
                <a:ext cx="9200708" cy="12984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1427568" y="1999698"/>
                <a:ext cx="3130281" cy="374783"/>
              </a:xfrm>
              <a:prstGeom prst="rect">
                <a:avLst/>
              </a:prstGeom>
            </p:spPr>
            <p:txBody>
              <a:bodyPr wrap="none">
                <a:spAutoFit/>
              </a:bodyPr>
              <a:lstStyle/>
              <a:p>
                <a:r>
                  <a:rPr lang="zh-CN" altLang="zh-CN" sz="1600" b="1" dirty="0" smtClean="0">
                    <a:solidFill>
                      <a:srgbClr val="002060"/>
                    </a:solidFill>
                    <a:ea typeface="等线" panose="02010600030101010101" pitchFamily="2" charset="-122"/>
                    <a:cs typeface="Times New Roman" panose="02020603050405020304" pitchFamily="18" charset="0"/>
                  </a:rPr>
                  <a:t>将</a:t>
                </a:r>
                <a14:m>
                  <m:oMath xmlns:m="http://schemas.openxmlformats.org/officeDocument/2006/math">
                    <m:sSup>
                      <m:sSupPr>
                        <m:ctrlPr>
                          <a:rPr lang="zh-CN" altLang="zh-CN" sz="1600" b="1" i="1">
                            <a:solidFill>
                              <a:srgbClr val="002060"/>
                            </a:solidFill>
                            <a:effectLst/>
                            <a:latin typeface="Cambria Math" panose="02040503050406030204" pitchFamily="18" charset="0"/>
                            <a:ea typeface="Cambria Math" panose="02040503050406030204" pitchFamily="18" charset="0"/>
                          </a:rPr>
                        </m:ctrlPr>
                      </m:sSupPr>
                      <m:e>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b="1" i="1">
                                <a:solidFill>
                                  <a:srgbClr val="002060"/>
                                </a:solidFill>
                                <a:effectLst/>
                                <a:latin typeface="Cambria Math" panose="02040503050406030204" pitchFamily="18" charset="0"/>
                                <a:ea typeface="Cambria Math" panose="02040503050406030204" pitchFamily="18" charset="0"/>
                              </a:rPr>
                            </m:ctrlPr>
                          </m:sSubPr>
                          <m:e>
                            <m:sPre>
                              <m:sPrePr>
                                <m:ctrlPr>
                                  <a:rPr lang="zh-CN" altLang="zh-CN" sz="1600" b="1" i="1">
                                    <a:solidFill>
                                      <a:srgbClr val="002060"/>
                                    </a:solidFill>
                                    <a:effectLst/>
                                    <a:latin typeface="Cambria Math" panose="02040503050406030204" pitchFamily="18" charset="0"/>
                                    <a:ea typeface="Cambria Math" panose="02040503050406030204" pitchFamily="18" charset="0"/>
                                  </a:rPr>
                                </m:ctrlPr>
                              </m:sPrePr>
                              <m:sub/>
                              <m:sup>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𝟎</m:t>
                                </m:r>
                              </m:sup>
                              <m:e>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𝑻</m:t>
                                </m:r>
                              </m:e>
                            </m:sPre>
                          </m:e>
                          <m:sub>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𝟏</m:t>
                            </m:r>
                          </m:sub>
                        </m:sSub>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m:t>
                        </m:r>
                      </m:e>
                      <m:sup>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𝟏</m:t>
                        </m:r>
                      </m:sup>
                    </m:sSup>
                  </m:oMath>
                </a14:m>
                <a:r>
                  <a:rPr lang="zh-CN" altLang="zh-CN" sz="1600" b="1" dirty="0">
                    <a:solidFill>
                      <a:srgbClr val="002060"/>
                    </a:solidFill>
                    <a:ea typeface="等线" panose="02010600030101010101" pitchFamily="2" charset="-122"/>
                    <a:cs typeface="Times New Roman" panose="02020603050405020304" pitchFamily="18" charset="0"/>
                  </a:rPr>
                  <a:t>、 </a:t>
                </a:r>
                <a14:m>
                  <m:oMath xmlns:m="http://schemas.openxmlformats.org/officeDocument/2006/math">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b="1" i="1">
                            <a:solidFill>
                              <a:srgbClr val="002060"/>
                            </a:solidFill>
                            <a:effectLst/>
                            <a:latin typeface="Cambria Math" panose="02040503050406030204" pitchFamily="18" charset="0"/>
                            <a:ea typeface="Cambria Math" panose="02040503050406030204" pitchFamily="18" charset="0"/>
                          </a:rPr>
                        </m:ctrlPr>
                      </m:sSubPr>
                      <m:e>
                        <m:sPre>
                          <m:sPrePr>
                            <m:ctrlPr>
                              <a:rPr lang="zh-CN" altLang="zh-CN" sz="1600" b="1" i="1">
                                <a:solidFill>
                                  <a:srgbClr val="002060"/>
                                </a:solidFill>
                                <a:effectLst/>
                                <a:latin typeface="Cambria Math" panose="02040503050406030204" pitchFamily="18" charset="0"/>
                                <a:ea typeface="Cambria Math" panose="02040503050406030204" pitchFamily="18" charset="0"/>
                              </a:rPr>
                            </m:ctrlPr>
                          </m:sPrePr>
                          <m:sub/>
                          <m:sup>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𝟓</m:t>
                            </m:r>
                          </m:sup>
                          <m:e>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𝑻</m:t>
                            </m:r>
                          </m:e>
                        </m:sPre>
                      </m:e>
                      <m:sub>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𝟔</m:t>
                        </m:r>
                      </m:sub>
                    </m:sSub>
                    <m:sSup>
                      <m:sSupPr>
                        <m:ctrlPr>
                          <a:rPr lang="zh-CN" altLang="zh-CN" sz="1600" b="1" i="1">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m:t>
                        </m:r>
                      </m:e>
                      <m:sup>
                        <m:r>
                          <a:rPr lang="en-US" altLang="zh-CN" sz="1600" b="1" i="1">
                            <a:solidFill>
                              <a:srgbClr val="002060"/>
                            </a:solidFill>
                            <a:latin typeface="Cambria Math" panose="02040503050406030204" pitchFamily="18" charset="0"/>
                            <a:cs typeface="Times New Roman" panose="02020603050405020304" pitchFamily="18" charset="0"/>
                          </a:rPr>
                          <m:t>−</m:t>
                        </m:r>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𝟏</m:t>
                        </m:r>
                      </m:sup>
                    </m:sSup>
                  </m:oMath>
                </a14:m>
                <a:r>
                  <a:rPr lang="zh-CN" altLang="zh-CN" sz="1600" b="1" dirty="0">
                    <a:solidFill>
                      <a:srgbClr val="002060"/>
                    </a:solidFill>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1600" b="1" i="1">
                            <a:solidFill>
                              <a:srgbClr val="002060"/>
                            </a:solidFill>
                            <a:effectLst/>
                            <a:latin typeface="Cambria Math" panose="02040503050406030204" pitchFamily="18" charset="0"/>
                            <a:ea typeface="Cambria Math" panose="02040503050406030204" pitchFamily="18" charset="0"/>
                          </a:rPr>
                        </m:ctrlPr>
                      </m:sSubPr>
                      <m:e>
                        <m:sPre>
                          <m:sPrePr>
                            <m:ctrlPr>
                              <a:rPr lang="zh-CN" altLang="zh-CN" sz="1600" b="1" i="1">
                                <a:solidFill>
                                  <a:srgbClr val="002060"/>
                                </a:solidFill>
                                <a:effectLst/>
                                <a:latin typeface="Cambria Math" panose="02040503050406030204" pitchFamily="18" charset="0"/>
                                <a:ea typeface="Cambria Math" panose="02040503050406030204" pitchFamily="18" charset="0"/>
                              </a:rPr>
                            </m:ctrlPr>
                          </m:sPrePr>
                          <m:sub/>
                          <m:sup>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𝟏</m:t>
                            </m:r>
                          </m:sup>
                          <m:e>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𝑻</m:t>
                            </m:r>
                          </m:e>
                        </m:sPre>
                      </m:e>
                      <m:sub>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𝟓</m:t>
                        </m:r>
                      </m:sub>
                    </m:sSub>
                  </m:oMath>
                </a14:m>
                <a:r>
                  <a:rPr lang="zh-CN" altLang="zh-CN" sz="1600" b="1" dirty="0">
                    <a:solidFill>
                      <a:srgbClr val="002060"/>
                    </a:solidFill>
                    <a:ea typeface="等线" panose="02010600030101010101" pitchFamily="2" charset="-122"/>
                    <a:cs typeface="Times New Roman" panose="02020603050405020304" pitchFamily="18" charset="0"/>
                  </a:rPr>
                  <a:t>代入</a:t>
                </a:r>
                <a:endParaRPr lang="zh-CN" altLang="en-US" sz="1600" b="1" dirty="0">
                  <a:solidFill>
                    <a:srgbClr val="002060"/>
                  </a:solidFill>
                </a:endParaRPr>
              </a:p>
            </p:txBody>
          </p:sp>
        </mc:Choice>
        <mc:Fallback xmlns="">
          <p:sp>
            <p:nvSpPr>
              <p:cNvPr id="9" name="矩形 8"/>
              <p:cNvSpPr>
                <a:spLocks noRot="1" noChangeAspect="1" noMove="1" noResize="1" noEditPoints="1" noAdjustHandles="1" noChangeArrowheads="1" noChangeShapeType="1" noTextEdit="1"/>
              </p:cNvSpPr>
              <p:nvPr/>
            </p:nvSpPr>
            <p:spPr>
              <a:xfrm>
                <a:off x="1427568" y="1999698"/>
                <a:ext cx="3130281" cy="374783"/>
              </a:xfrm>
              <a:prstGeom prst="rect">
                <a:avLst/>
              </a:prstGeom>
              <a:blipFill>
                <a:blip r:embed="rId7"/>
                <a:stretch>
                  <a:fillRect l="-973" b="-19355"/>
                </a:stretch>
              </a:blipFill>
            </p:spPr>
            <p:txBody>
              <a:bodyPr/>
              <a:lstStyle/>
              <a:p>
                <a:r>
                  <a:rPr lang="zh-CN" altLang="en-US">
                    <a:noFill/>
                  </a:rPr>
                  <a:t> </a:t>
                </a:r>
              </a:p>
            </p:txBody>
          </p:sp>
        </mc:Fallback>
      </mc:AlternateContent>
      <p:sp>
        <p:nvSpPr>
          <p:cNvPr id="10" name="矩形 9"/>
          <p:cNvSpPr/>
          <p:nvPr/>
        </p:nvSpPr>
        <p:spPr>
          <a:xfrm>
            <a:off x="1259632" y="3721919"/>
            <a:ext cx="5472608" cy="338554"/>
          </a:xfrm>
          <a:prstGeom prst="rect">
            <a:avLst/>
          </a:prstGeom>
        </p:spPr>
        <p:txBody>
          <a:bodyPr wrap="square">
            <a:spAutoFit/>
          </a:bodyPr>
          <a:lstStyle/>
          <a:p>
            <a:r>
              <a:rPr lang="zh-CN" altLang="zh-CN" sz="1600" b="1" dirty="0">
                <a:solidFill>
                  <a:srgbClr val="002060"/>
                </a:solidFill>
                <a:ea typeface="等线" panose="02010600030101010101" pitchFamily="2" charset="-122"/>
                <a:cs typeface="Times New Roman" panose="02020603050405020304" pitchFamily="18" charset="0"/>
              </a:rPr>
              <a:t>联立式</a:t>
            </a:r>
            <a:r>
              <a:rPr lang="en-US" altLang="zh-CN" sz="1600" b="1" dirty="0">
                <a:solidFill>
                  <a:srgbClr val="002060"/>
                </a:solidFill>
                <a:ea typeface="等线" panose="02010600030101010101" pitchFamily="2" charset="-122"/>
                <a:cs typeface="Times New Roman" panose="02020603050405020304" pitchFamily="18" charset="0"/>
              </a:rPr>
              <a:t>(3-61)</a:t>
            </a:r>
            <a:r>
              <a:rPr lang="zh-CN" altLang="zh-CN" sz="1600" b="1" dirty="0">
                <a:solidFill>
                  <a:srgbClr val="002060"/>
                </a:solidFill>
                <a:ea typeface="等线" panose="02010600030101010101" pitchFamily="2" charset="-122"/>
                <a:cs typeface="Times New Roman" panose="02020603050405020304" pitchFamily="18" charset="0"/>
              </a:rPr>
              <a:t>两边矩阵元素</a:t>
            </a:r>
            <a:r>
              <a:rPr lang="en-US" altLang="zh-CN" sz="1600" b="1" dirty="0">
                <a:solidFill>
                  <a:srgbClr val="002060"/>
                </a:solidFill>
                <a:ea typeface="等线" panose="02010600030101010101" pitchFamily="2" charset="-122"/>
                <a:cs typeface="Times New Roman" panose="02020603050405020304" pitchFamily="18" charset="0"/>
              </a:rPr>
              <a:t>(2,4)(</a:t>
            </a:r>
            <a:r>
              <a:rPr lang="zh-CN" altLang="zh-CN" sz="1600" b="1" dirty="0">
                <a:solidFill>
                  <a:srgbClr val="002060"/>
                </a:solidFill>
                <a:ea typeface="等线" panose="02010600030101010101" pitchFamily="2" charset="-122"/>
                <a:cs typeface="Times New Roman" panose="02020603050405020304" pitchFamily="18" charset="0"/>
              </a:rPr>
              <a:t>即二行四列元素，下同</a:t>
            </a:r>
            <a:r>
              <a:rPr lang="en-US" altLang="zh-CN" sz="1600" b="1" dirty="0">
                <a:solidFill>
                  <a:srgbClr val="002060"/>
                </a:solidFill>
                <a:ea typeface="等线" panose="02010600030101010101" pitchFamily="2" charset="-122"/>
                <a:cs typeface="Times New Roman" panose="02020603050405020304" pitchFamily="18" charset="0"/>
              </a:rPr>
              <a:t>)</a:t>
            </a:r>
            <a:endParaRPr lang="zh-CN" altLang="en-US" sz="1600" b="1" dirty="0">
              <a:solidFill>
                <a:srgbClr val="002060"/>
              </a:solidFill>
            </a:endParaRPr>
          </a:p>
        </p:txBody>
      </p:sp>
      <mc:AlternateContent xmlns:mc="http://schemas.openxmlformats.org/markup-compatibility/2006" xmlns:a14="http://schemas.microsoft.com/office/drawing/2010/main">
        <mc:Choice Requires="a14">
          <p:sp>
            <p:nvSpPr>
              <p:cNvPr id="11" name="矩形 10"/>
              <p:cNvSpPr/>
              <p:nvPr/>
            </p:nvSpPr>
            <p:spPr>
              <a:xfrm>
                <a:off x="2171682" y="4320183"/>
                <a:ext cx="3694538" cy="3579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𝐶</m:t>
                          </m:r>
                        </m:e>
                        <m:sub>
                          <m:r>
                            <a:rPr lang="zh-CN" altLang="en-US" sz="1600" i="0">
                              <a:latin typeface="Cambria Math" panose="02040503050406030204" pitchFamily="18" charset="0"/>
                            </a:rPr>
                            <m:t>1</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𝑝</m:t>
                          </m:r>
                        </m:e>
                        <m:sub>
                          <m:r>
                            <a:rPr lang="zh-CN" altLang="en-US" sz="1600" i="1">
                              <a:latin typeface="Cambria Math" panose="02040503050406030204" pitchFamily="18" charset="0"/>
                            </a:rPr>
                            <m:t>𝑦</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𝑆</m:t>
                          </m:r>
                        </m:e>
                        <m:sub>
                          <m:r>
                            <a:rPr lang="zh-CN" altLang="en-US" sz="1600" i="0">
                              <a:latin typeface="Cambria Math" panose="02040503050406030204" pitchFamily="18" charset="0"/>
                            </a:rPr>
                            <m:t>1</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𝑝</m:t>
                          </m:r>
                        </m:e>
                        <m:sub>
                          <m:r>
                            <a:rPr lang="zh-CN" altLang="en-US" sz="1600" i="1">
                              <a:latin typeface="Cambria Math" panose="02040503050406030204" pitchFamily="18" charset="0"/>
                            </a:rPr>
                            <m:t>𝑥</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𝑑</m:t>
                          </m:r>
                        </m:e>
                        <m:sub>
                          <m:r>
                            <a:rPr lang="zh-CN" altLang="en-US" sz="1600" i="0">
                              <a:latin typeface="Cambria Math" panose="02040503050406030204" pitchFamily="18" charset="0"/>
                            </a:rPr>
                            <m:t>6</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𝑆</m:t>
                          </m:r>
                        </m:e>
                        <m:sub>
                          <m:r>
                            <a:rPr lang="zh-CN" altLang="en-US" sz="1600" i="0">
                              <a:latin typeface="Cambria Math" panose="02040503050406030204" pitchFamily="18" charset="0"/>
                            </a:rPr>
                            <m:t>1</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𝑟</m:t>
                          </m:r>
                        </m:e>
                        <m:sub>
                          <m:r>
                            <a:rPr lang="zh-CN" altLang="en-US" sz="1600" i="0">
                              <a:latin typeface="Cambria Math" panose="02040503050406030204" pitchFamily="18" charset="0"/>
                            </a:rPr>
                            <m:t>13</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𝐶</m:t>
                          </m:r>
                        </m:e>
                        <m:sub>
                          <m:r>
                            <a:rPr lang="zh-CN" altLang="en-US" sz="1600" i="0">
                              <a:latin typeface="Cambria Math" panose="02040503050406030204" pitchFamily="18" charset="0"/>
                            </a:rPr>
                            <m:t>1</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𝑟</m:t>
                          </m:r>
                        </m:e>
                        <m:sub>
                          <m:r>
                            <a:rPr lang="zh-CN" altLang="en-US" sz="1600" i="0">
                              <a:latin typeface="Cambria Math" panose="02040503050406030204" pitchFamily="18" charset="0"/>
                            </a:rPr>
                            <m:t>23</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𝑑</m:t>
                          </m:r>
                        </m:e>
                        <m:sub>
                          <m:r>
                            <a:rPr lang="zh-CN" altLang="en-US" sz="1600" i="0">
                              <a:latin typeface="Cambria Math" panose="02040503050406030204" pitchFamily="18" charset="0"/>
                            </a:rPr>
                            <m:t>4</m:t>
                          </m:r>
                        </m:sub>
                      </m:sSub>
                    </m:oMath>
                  </m:oMathPara>
                </a14:m>
                <a:endParaRPr lang="zh-CN" altLang="en-US" sz="1600" dirty="0"/>
              </a:p>
            </p:txBody>
          </p:sp>
        </mc:Choice>
        <mc:Fallback xmlns="">
          <p:sp>
            <p:nvSpPr>
              <p:cNvPr id="11" name="矩形 10"/>
              <p:cNvSpPr>
                <a:spLocks noRot="1" noChangeAspect="1" noMove="1" noResize="1" noEditPoints="1" noAdjustHandles="1" noChangeArrowheads="1" noChangeShapeType="1" noTextEdit="1"/>
              </p:cNvSpPr>
              <p:nvPr/>
            </p:nvSpPr>
            <p:spPr>
              <a:xfrm>
                <a:off x="2171682" y="4320183"/>
                <a:ext cx="3694538" cy="357983"/>
              </a:xfrm>
              <a:prstGeom prst="rect">
                <a:avLst/>
              </a:prstGeom>
              <a:blipFill>
                <a:blip r:embed="rId8"/>
                <a:stretch>
                  <a:fillRect b="-6897"/>
                </a:stretch>
              </a:blipFill>
            </p:spPr>
            <p:txBody>
              <a:bodyPr/>
              <a:lstStyle/>
              <a:p>
                <a:r>
                  <a:rPr lang="zh-CN" altLang="en-US">
                    <a:noFill/>
                  </a:rPr>
                  <a:t> </a:t>
                </a:r>
              </a:p>
            </p:txBody>
          </p:sp>
        </mc:Fallback>
      </mc:AlternateContent>
      <p:sp>
        <p:nvSpPr>
          <p:cNvPr id="17" name="圆角矩形 16"/>
          <p:cNvSpPr/>
          <p:nvPr/>
        </p:nvSpPr>
        <p:spPr>
          <a:xfrm>
            <a:off x="2699792" y="3171959"/>
            <a:ext cx="1206537" cy="119871"/>
          </a:xfrm>
          <a:prstGeom prst="round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24"/>
          <p:cNvSpPr/>
          <p:nvPr/>
        </p:nvSpPr>
        <p:spPr>
          <a:xfrm>
            <a:off x="6300192" y="2571750"/>
            <a:ext cx="1800200" cy="164751"/>
          </a:xfrm>
          <a:prstGeom prst="round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十字星 18"/>
          <p:cNvSpPr/>
          <p:nvPr/>
        </p:nvSpPr>
        <p:spPr>
          <a:xfrm>
            <a:off x="6023064" y="4382070"/>
            <a:ext cx="288032" cy="234208"/>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6326750" y="4320183"/>
            <a:ext cx="2031325" cy="338554"/>
          </a:xfrm>
          <a:prstGeom prst="rect">
            <a:avLst/>
          </a:prstGeom>
          <a:noFill/>
        </p:spPr>
        <p:txBody>
          <a:bodyPr wrap="none" rtlCol="0">
            <a:spAutoFit/>
          </a:bodyPr>
          <a:lstStyle/>
          <a:p>
            <a:r>
              <a:rPr lang="zh-CN" altLang="en-US" sz="1600" dirty="0" smtClean="0">
                <a:solidFill>
                  <a:srgbClr val="FF0000"/>
                </a:solidFill>
              </a:rPr>
              <a:t>这个方程如何求解？</a:t>
            </a:r>
            <a:endParaRPr lang="zh-CN" altLang="en-US" sz="1600" dirty="0">
              <a:solidFill>
                <a:srgbClr val="FF0000"/>
              </a:solidFill>
            </a:endParaRPr>
          </a:p>
        </p:txBody>
      </p:sp>
    </p:spTree>
    <p:extLst>
      <p:ext uri="{BB962C8B-B14F-4D97-AF65-F5344CB8AC3E}">
        <p14:creationId xmlns:p14="http://schemas.microsoft.com/office/powerpoint/2010/main" val="180293195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Inverse Kinematics of 6R </a:t>
              </a:r>
              <a:r>
                <a:rPr lang="en-US" altLang="zh-CN" sz="1000" dirty="0">
                  <a:latin typeface="Arial" panose="020B0604020202020204" pitchFamily="34" charset="0"/>
                  <a:ea typeface="微软雅黑" panose="020B0503020204020204" charset="-122"/>
                  <a:sym typeface="+mn-ea"/>
                </a:rPr>
                <a:t>S</a:t>
              </a:r>
              <a:r>
                <a:rPr lang="en-US" altLang="zh-CN" sz="1000" dirty="0" smtClean="0">
                  <a:latin typeface="Arial" panose="020B0604020202020204" pitchFamily="34" charset="0"/>
                  <a:ea typeface="微软雅黑" panose="020B0503020204020204" charset="-122"/>
                  <a:sym typeface="+mn-ea"/>
                </a:rPr>
                <a:t>erial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6R</a:t>
              </a:r>
              <a:r>
                <a:rPr lang="zh-CN" altLang="en-US" sz="2000" b="1" dirty="0">
                  <a:latin typeface="Arial" panose="020B0604020202020204" pitchFamily="34" charset="0"/>
                  <a:ea typeface="微软雅黑" panose="020B0503020204020204" charset="-122"/>
                  <a:sym typeface="+mn-ea"/>
                </a:rPr>
                <a:t>串联机器人逆运动学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p:nvSpPr>
        <p:spPr>
          <a:xfrm>
            <a:off x="2178137" y="699542"/>
            <a:ext cx="4999115" cy="400110"/>
          </a:xfrm>
          <a:prstGeom prst="rect">
            <a:avLst/>
          </a:prstGeom>
        </p:spPr>
        <p:txBody>
          <a:bodyPr wrap="square">
            <a:spAutoFit/>
          </a:bodyPr>
          <a:lstStyle/>
          <a:p>
            <a:r>
              <a:rPr lang="zh-CN" altLang="en-US" sz="2000" b="1" dirty="0">
                <a:solidFill>
                  <a:srgbClr val="002060"/>
                </a:solidFill>
              </a:rPr>
              <a:t>满足Pieper准则的解析解求</a:t>
            </a:r>
            <a:r>
              <a:rPr lang="zh-CN" altLang="en-US" sz="2000" b="1" dirty="0" smtClean="0">
                <a:solidFill>
                  <a:srgbClr val="002060"/>
                </a:solidFill>
              </a:rPr>
              <a:t>法</a:t>
            </a:r>
            <a:r>
              <a:rPr lang="en-US" altLang="zh-CN" sz="2000" b="1" dirty="0">
                <a:solidFill>
                  <a:srgbClr val="002060"/>
                </a:solidFill>
              </a:rPr>
              <a:t>(</a:t>
            </a:r>
            <a:r>
              <a:rPr lang="zh-CN" altLang="en-US" sz="2000" b="1" dirty="0">
                <a:solidFill>
                  <a:srgbClr val="002060"/>
                </a:solidFill>
              </a:rPr>
              <a:t>实例讲解</a:t>
            </a:r>
            <a:r>
              <a:rPr lang="en-US" altLang="zh-CN" sz="2000" b="1" dirty="0" smtClean="0">
                <a:solidFill>
                  <a:srgbClr val="002060"/>
                </a:solidFill>
              </a:rPr>
              <a:t>)</a:t>
            </a:r>
            <a:endParaRPr lang="zh-CN" altLang="en-US" sz="2000" b="1" dirty="0">
              <a:solidFill>
                <a:srgbClr val="002060"/>
              </a:solidFill>
            </a:endParaRPr>
          </a:p>
        </p:txBody>
      </p:sp>
      <p:sp>
        <p:nvSpPr>
          <p:cNvPr id="20" name="形状"/>
          <p:cNvSpPr/>
          <p:nvPr>
            <p:custDataLst>
              <p:tags r:id="rId1"/>
            </p:custDataLst>
          </p:nvPr>
        </p:nvSpPr>
        <p:spPr>
          <a:xfrm>
            <a:off x="365396" y="1406550"/>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2" name="矩形 21"/>
          <p:cNvSpPr/>
          <p:nvPr/>
        </p:nvSpPr>
        <p:spPr>
          <a:xfrm>
            <a:off x="682355" y="1387024"/>
            <a:ext cx="763351" cy="369332"/>
          </a:xfrm>
          <a:prstGeom prst="rect">
            <a:avLst/>
          </a:prstGeom>
        </p:spPr>
        <p:txBody>
          <a:bodyPr wrap="none">
            <a:spAutoFit/>
          </a:bodyPr>
          <a:lstStyle/>
          <a:p>
            <a:r>
              <a:rPr lang="zh-CN" altLang="en-US" b="1" dirty="0" smtClean="0">
                <a:solidFill>
                  <a:srgbClr val="002060"/>
                </a:solidFill>
              </a:rPr>
              <a:t>第</a:t>
            </a:r>
            <a:r>
              <a:rPr lang="en-US" altLang="zh-CN" b="1" dirty="0" smtClean="0">
                <a:solidFill>
                  <a:srgbClr val="002060"/>
                </a:solidFill>
              </a:rPr>
              <a:t>2</a:t>
            </a:r>
            <a:r>
              <a:rPr lang="zh-CN" altLang="en-US" b="1" dirty="0" smtClean="0">
                <a:solidFill>
                  <a:srgbClr val="002060"/>
                </a:solidFill>
              </a:rPr>
              <a:t>步</a:t>
            </a:r>
            <a:endParaRPr lang="zh-CN" altLang="en-US" b="1" dirty="0">
              <a:solidFill>
                <a:srgbClr val="002060"/>
              </a:solidFill>
            </a:endParaRPr>
          </a:p>
        </p:txBody>
      </p:sp>
      <mc:AlternateContent xmlns:mc="http://schemas.openxmlformats.org/markup-compatibility/2006" xmlns:a14="http://schemas.microsoft.com/office/drawing/2010/main">
        <mc:Choice Requires="a14">
          <p:sp>
            <p:nvSpPr>
              <p:cNvPr id="11" name="矩形 10"/>
              <p:cNvSpPr/>
              <p:nvPr/>
            </p:nvSpPr>
            <p:spPr>
              <a:xfrm>
                <a:off x="2178137" y="1173584"/>
                <a:ext cx="3694538" cy="3579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𝐶</m:t>
                          </m:r>
                        </m:e>
                        <m:sub>
                          <m:r>
                            <a:rPr lang="zh-CN" altLang="en-US" sz="1600" i="0">
                              <a:latin typeface="Cambria Math" panose="02040503050406030204" pitchFamily="18" charset="0"/>
                            </a:rPr>
                            <m:t>1</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𝑝</m:t>
                          </m:r>
                        </m:e>
                        <m:sub>
                          <m:r>
                            <a:rPr lang="zh-CN" altLang="en-US" sz="1600" i="1">
                              <a:latin typeface="Cambria Math" panose="02040503050406030204" pitchFamily="18" charset="0"/>
                            </a:rPr>
                            <m:t>𝑦</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𝑆</m:t>
                          </m:r>
                        </m:e>
                        <m:sub>
                          <m:r>
                            <a:rPr lang="zh-CN" altLang="en-US" sz="1600" i="0">
                              <a:latin typeface="Cambria Math" panose="02040503050406030204" pitchFamily="18" charset="0"/>
                            </a:rPr>
                            <m:t>1</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𝑝</m:t>
                          </m:r>
                        </m:e>
                        <m:sub>
                          <m:r>
                            <a:rPr lang="zh-CN" altLang="en-US" sz="1600" i="1">
                              <a:latin typeface="Cambria Math" panose="02040503050406030204" pitchFamily="18" charset="0"/>
                            </a:rPr>
                            <m:t>𝑥</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𝑑</m:t>
                          </m:r>
                        </m:e>
                        <m:sub>
                          <m:r>
                            <a:rPr lang="zh-CN" altLang="en-US" sz="1600" i="0">
                              <a:latin typeface="Cambria Math" panose="02040503050406030204" pitchFamily="18" charset="0"/>
                            </a:rPr>
                            <m:t>6</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𝑆</m:t>
                          </m:r>
                        </m:e>
                        <m:sub>
                          <m:r>
                            <a:rPr lang="zh-CN" altLang="en-US" sz="1600" i="0">
                              <a:latin typeface="Cambria Math" panose="02040503050406030204" pitchFamily="18" charset="0"/>
                            </a:rPr>
                            <m:t>1</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𝑟</m:t>
                          </m:r>
                        </m:e>
                        <m:sub>
                          <m:r>
                            <a:rPr lang="zh-CN" altLang="en-US" sz="1600" i="0">
                              <a:latin typeface="Cambria Math" panose="02040503050406030204" pitchFamily="18" charset="0"/>
                            </a:rPr>
                            <m:t>13</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𝐶</m:t>
                          </m:r>
                        </m:e>
                        <m:sub>
                          <m:r>
                            <a:rPr lang="zh-CN" altLang="en-US" sz="1600" i="0">
                              <a:latin typeface="Cambria Math" panose="02040503050406030204" pitchFamily="18" charset="0"/>
                            </a:rPr>
                            <m:t>1</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𝑟</m:t>
                          </m:r>
                        </m:e>
                        <m:sub>
                          <m:r>
                            <a:rPr lang="zh-CN" altLang="en-US" sz="1600" i="0">
                              <a:latin typeface="Cambria Math" panose="02040503050406030204" pitchFamily="18" charset="0"/>
                            </a:rPr>
                            <m:t>23</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𝑑</m:t>
                          </m:r>
                        </m:e>
                        <m:sub>
                          <m:r>
                            <a:rPr lang="zh-CN" altLang="en-US" sz="1600" i="0">
                              <a:latin typeface="Cambria Math" panose="02040503050406030204" pitchFamily="18" charset="0"/>
                            </a:rPr>
                            <m:t>4</m:t>
                          </m:r>
                        </m:sub>
                      </m:sSub>
                    </m:oMath>
                  </m:oMathPara>
                </a14:m>
                <a:endParaRPr lang="zh-CN" altLang="en-US" sz="1600" dirty="0"/>
              </a:p>
            </p:txBody>
          </p:sp>
        </mc:Choice>
        <mc:Fallback xmlns="">
          <p:sp>
            <p:nvSpPr>
              <p:cNvPr id="11" name="矩形 10"/>
              <p:cNvSpPr>
                <a:spLocks noRot="1" noChangeAspect="1" noMove="1" noResize="1" noEditPoints="1" noAdjustHandles="1" noChangeArrowheads="1" noChangeShapeType="1" noTextEdit="1"/>
              </p:cNvSpPr>
              <p:nvPr/>
            </p:nvSpPr>
            <p:spPr>
              <a:xfrm>
                <a:off x="2178137" y="1173584"/>
                <a:ext cx="3694538" cy="357983"/>
              </a:xfrm>
              <a:prstGeom prst="rect">
                <a:avLst/>
              </a:prstGeom>
              <a:blipFill>
                <a:blip r:embed="rId4"/>
                <a:stretch>
                  <a:fillRect b="-6897"/>
                </a:stretch>
              </a:blipFill>
            </p:spPr>
            <p:txBody>
              <a:bodyPr/>
              <a:lstStyle/>
              <a:p>
                <a:r>
                  <a:rPr lang="zh-CN" altLang="en-US">
                    <a:noFill/>
                  </a:rPr>
                  <a:t> </a:t>
                </a:r>
              </a:p>
            </p:txBody>
          </p:sp>
        </mc:Fallback>
      </mc:AlternateContent>
      <p:sp>
        <p:nvSpPr>
          <p:cNvPr id="13" name="矩形 12"/>
          <p:cNvSpPr/>
          <p:nvPr/>
        </p:nvSpPr>
        <p:spPr>
          <a:xfrm>
            <a:off x="926509" y="2640813"/>
            <a:ext cx="1415772" cy="338554"/>
          </a:xfrm>
          <a:prstGeom prst="rect">
            <a:avLst/>
          </a:prstGeom>
        </p:spPr>
        <p:txBody>
          <a:bodyPr wrap="none">
            <a:spAutoFit/>
          </a:bodyPr>
          <a:lstStyle/>
          <a:p>
            <a:r>
              <a:rPr lang="zh-CN" altLang="zh-CN" sz="1600" dirty="0" smtClean="0">
                <a:solidFill>
                  <a:srgbClr val="0070C0"/>
                </a:solidFill>
                <a:ea typeface="等线" panose="02010600030101010101" pitchFamily="2" charset="-122"/>
                <a:cs typeface="Times New Roman" panose="02020603050405020304" pitchFamily="18" charset="0"/>
              </a:rPr>
              <a:t>三</a:t>
            </a:r>
            <a:r>
              <a:rPr lang="zh-CN" altLang="zh-CN" sz="1600" dirty="0">
                <a:solidFill>
                  <a:srgbClr val="0070C0"/>
                </a:solidFill>
                <a:ea typeface="等线" panose="02010600030101010101" pitchFamily="2" charset="-122"/>
                <a:cs typeface="Times New Roman" panose="02020603050405020304" pitchFamily="18" charset="0"/>
              </a:rPr>
              <a:t>角</a:t>
            </a:r>
            <a:r>
              <a:rPr lang="zh-CN" altLang="zh-CN" sz="1600" dirty="0" smtClean="0">
                <a:solidFill>
                  <a:srgbClr val="0070C0"/>
                </a:solidFill>
                <a:ea typeface="等线" panose="02010600030101010101" pitchFamily="2" charset="-122"/>
                <a:cs typeface="Times New Roman" panose="02020603050405020304" pitchFamily="18" charset="0"/>
              </a:rPr>
              <a:t>代换</a:t>
            </a:r>
            <a:r>
              <a:rPr lang="zh-CN" altLang="en-US" sz="1600" dirty="0" smtClean="0">
                <a:solidFill>
                  <a:srgbClr val="0070C0"/>
                </a:solidFill>
                <a:ea typeface="等线" panose="02010600030101010101" pitchFamily="2" charset="-122"/>
                <a:cs typeface="Times New Roman" panose="02020603050405020304" pitchFamily="18" charset="0"/>
              </a:rPr>
              <a:t>公式</a:t>
            </a:r>
            <a:endParaRPr lang="zh-CN" altLang="en-US" sz="1600" dirty="0">
              <a:solidFill>
                <a:srgbClr val="0070C0"/>
              </a:solidFill>
            </a:endParaRPr>
          </a:p>
        </p:txBody>
      </p:sp>
      <mc:AlternateContent xmlns:mc="http://schemas.openxmlformats.org/markup-compatibility/2006" xmlns:a14="http://schemas.microsoft.com/office/drawing/2010/main">
        <mc:Choice Requires="a14">
          <p:sp>
            <p:nvSpPr>
              <p:cNvPr id="14" name="矩形 13"/>
              <p:cNvSpPr/>
              <p:nvPr/>
            </p:nvSpPr>
            <p:spPr>
              <a:xfrm>
                <a:off x="2122197" y="1646376"/>
                <a:ext cx="3548664" cy="3756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𝑑</m:t>
                              </m:r>
                            </m:e>
                            <m:sub>
                              <m:r>
                                <a:rPr lang="zh-CN" altLang="en-US" sz="1600" i="0">
                                  <a:latin typeface="Cambria Math" panose="02040503050406030204" pitchFamily="18" charset="0"/>
                                </a:rPr>
                                <m:t>6</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𝑟</m:t>
                              </m:r>
                            </m:e>
                            <m:sub>
                              <m:r>
                                <a:rPr lang="zh-CN" altLang="en-US" sz="1600" i="0">
                                  <a:latin typeface="Cambria Math" panose="02040503050406030204" pitchFamily="18" charset="0"/>
                                </a:rPr>
                                <m:t>23</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𝑝</m:t>
                              </m:r>
                            </m:e>
                            <m:sub>
                              <m:r>
                                <a:rPr lang="zh-CN" altLang="en-US" sz="1600" i="1">
                                  <a:latin typeface="Cambria Math" panose="02040503050406030204" pitchFamily="18" charset="0"/>
                                </a:rPr>
                                <m:t>𝑦</m:t>
                              </m:r>
                            </m:sub>
                          </m:sSub>
                        </m:e>
                      </m:d>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𝐶</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𝑑</m:t>
                              </m:r>
                            </m:e>
                            <m:sub>
                              <m:r>
                                <a:rPr lang="zh-CN" altLang="en-US" sz="1600" i="0">
                                  <a:latin typeface="Cambria Math" panose="02040503050406030204" pitchFamily="18" charset="0"/>
                                </a:rPr>
                                <m:t>6</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𝑟</m:t>
                              </m:r>
                            </m:e>
                            <m:sub>
                              <m:r>
                                <a:rPr lang="zh-CN" altLang="en-US" sz="1600" i="0">
                                  <a:latin typeface="Cambria Math" panose="02040503050406030204" pitchFamily="18" charset="0"/>
                                </a:rPr>
                                <m:t>13</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𝑝</m:t>
                              </m:r>
                            </m:e>
                            <m:sub>
                              <m:r>
                                <a:rPr lang="zh-CN" altLang="en-US" sz="1600" i="1">
                                  <a:latin typeface="Cambria Math" panose="02040503050406030204" pitchFamily="18" charset="0"/>
                                </a:rPr>
                                <m:t>𝑥</m:t>
                              </m:r>
                            </m:sub>
                          </m:sSub>
                        </m:e>
                      </m:d>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𝑆</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𝑑</m:t>
                          </m:r>
                        </m:e>
                        <m:sub>
                          <m:r>
                            <a:rPr lang="zh-CN" altLang="en-US" sz="1600" i="0">
                              <a:latin typeface="Cambria Math" panose="02040503050406030204" pitchFamily="18" charset="0"/>
                            </a:rPr>
                            <m:t>4</m:t>
                          </m:r>
                        </m:sub>
                      </m:sSub>
                    </m:oMath>
                  </m:oMathPara>
                </a14:m>
                <a:endParaRPr lang="zh-CN" altLang="en-US" sz="1600" dirty="0"/>
              </a:p>
            </p:txBody>
          </p:sp>
        </mc:Choice>
        <mc:Fallback xmlns="">
          <p:sp>
            <p:nvSpPr>
              <p:cNvPr id="14" name="矩形 13"/>
              <p:cNvSpPr>
                <a:spLocks noRot="1" noChangeAspect="1" noMove="1" noResize="1" noEditPoints="1" noAdjustHandles="1" noChangeArrowheads="1" noChangeShapeType="1" noTextEdit="1"/>
              </p:cNvSpPr>
              <p:nvPr/>
            </p:nvSpPr>
            <p:spPr>
              <a:xfrm>
                <a:off x="2122197" y="1646376"/>
                <a:ext cx="3548664" cy="375616"/>
              </a:xfrm>
              <a:prstGeom prst="rect">
                <a:avLst/>
              </a:prstGeom>
              <a:blipFill>
                <a:blip r:embed="rId5"/>
                <a:stretch>
                  <a:fillRect b="-3226"/>
                </a:stretch>
              </a:blipFill>
            </p:spPr>
            <p:txBody>
              <a:bodyPr/>
              <a:lstStyle/>
              <a:p>
                <a:r>
                  <a:rPr lang="zh-CN" altLang="en-US">
                    <a:noFill/>
                  </a:rPr>
                  <a:t> </a:t>
                </a:r>
              </a:p>
            </p:txBody>
          </p:sp>
        </mc:Fallback>
      </mc:AlternateContent>
      <p:sp>
        <p:nvSpPr>
          <p:cNvPr id="15" name="下箭头 14"/>
          <p:cNvSpPr/>
          <p:nvPr/>
        </p:nvSpPr>
        <p:spPr>
          <a:xfrm>
            <a:off x="3826632" y="1510007"/>
            <a:ext cx="264654" cy="20526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6" name="矩形 15"/>
              <p:cNvSpPr/>
              <p:nvPr/>
            </p:nvSpPr>
            <p:spPr>
              <a:xfrm>
                <a:off x="5901731" y="1756356"/>
                <a:ext cx="2113014" cy="258404"/>
              </a:xfrm>
              <a:prstGeom prst="rect">
                <a:avLst/>
              </a:prstGeom>
            </p:spPr>
            <p:txBody>
              <a:bodyPr wrap="none">
                <a:spAutoFit/>
              </a:bodyPr>
              <a:lstStyle/>
              <a:p>
                <a:r>
                  <a:rPr lang="zh-CN" altLang="en-US" sz="1000" dirty="0" smtClean="0">
                    <a:ea typeface="Cambria Math" panose="02040503050406030204" pitchFamily="18" charset="0"/>
                  </a:rPr>
                  <a:t>令</a:t>
                </a:r>
                <a14:m>
                  <m:oMath xmlns:m="http://schemas.openxmlformats.org/officeDocument/2006/math">
                    <m:r>
                      <a:rPr lang="en-US" altLang="zh-CN" sz="1000" b="0" i="0" smtClean="0">
                        <a:latin typeface="Cambria Math" panose="02040503050406030204" pitchFamily="18" charset="0"/>
                        <a:ea typeface="Cambria Math" panose="02040503050406030204" pitchFamily="18" charset="0"/>
                      </a:rPr>
                      <m:t> </m:t>
                    </m:r>
                    <m:sSub>
                      <m:sSubPr>
                        <m:ctrlPr>
                          <a:rPr lang="zh-CN" altLang="zh-CN" sz="1000" i="1">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6</m:t>
                        </m:r>
                      </m:sub>
                    </m:sSub>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𝑟</m:t>
                        </m:r>
                      </m:e>
                      <m:sub>
                        <m:r>
                          <a:rPr lang="en-US" altLang="zh-CN" sz="1000">
                            <a:latin typeface="Cambria Math" panose="02040503050406030204" pitchFamily="18" charset="0"/>
                            <a:ea typeface="等线" panose="02010600030101010101" pitchFamily="2" charset="-122"/>
                            <a:cs typeface="Times New Roman" panose="02020603050405020304" pitchFamily="18" charset="0"/>
                          </a:rPr>
                          <m:t>23</m:t>
                        </m:r>
                      </m:sub>
                    </m:sSub>
                    <m:r>
                      <a:rPr lang="en-US" altLang="zh-CN" sz="10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𝑦</m:t>
                        </m:r>
                      </m:sub>
                    </m:sSub>
                    <m:r>
                      <a:rPr lang="en-US" altLang="zh-CN" sz="1000" i="1">
                        <a:latin typeface="Cambria Math" panose="02040503050406030204" pitchFamily="18" charset="0"/>
                        <a:ea typeface="等线" panose="02010600030101010101" pitchFamily="2" charset="-122"/>
                        <a:cs typeface="Times New Roman" panose="02020603050405020304" pitchFamily="18" charset="0"/>
                      </a:rPr>
                      <m:t>=</m:t>
                    </m:r>
                    <m:r>
                      <a:rPr lang="en-US" altLang="zh-CN" sz="1000" i="1">
                        <a:latin typeface="Cambria Math" panose="02040503050406030204" pitchFamily="18" charset="0"/>
                        <a:ea typeface="等线" panose="02010600030101010101" pitchFamily="2" charset="-122"/>
                        <a:cs typeface="Times New Roman" panose="02020603050405020304" pitchFamily="18" charset="0"/>
                      </a:rPr>
                      <m:t>𝑚</m:t>
                    </m:r>
                  </m:oMath>
                </a14:m>
                <a:r>
                  <a:rPr lang="en-US" altLang="zh-CN" sz="1000" dirty="0">
                    <a:latin typeface="等线" panose="02010600030101010101" pitchFamily="2" charset="-122"/>
                    <a:cs typeface="Times New Roman" panose="02020603050405020304" pitchFamily="18" charset="0"/>
                  </a:rPr>
                  <a:t>, </a:t>
                </a:r>
                <a14:m>
                  <m:oMath xmlns:m="http://schemas.openxmlformats.org/officeDocument/2006/math">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6</m:t>
                        </m:r>
                      </m:sub>
                    </m:sSub>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𝑟</m:t>
                        </m:r>
                      </m:e>
                      <m:sub>
                        <m:r>
                          <a:rPr lang="en-US" altLang="zh-CN" sz="1000">
                            <a:latin typeface="Cambria Math" panose="02040503050406030204" pitchFamily="18" charset="0"/>
                            <a:ea typeface="等线" panose="02010600030101010101" pitchFamily="2" charset="-122"/>
                            <a:cs typeface="Times New Roman" panose="02020603050405020304" pitchFamily="18" charset="0"/>
                          </a:rPr>
                          <m:t>13</m:t>
                        </m:r>
                      </m:sub>
                    </m:sSub>
                    <m:r>
                      <a:rPr lang="en-US" altLang="zh-CN" sz="10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𝑥</m:t>
                        </m:r>
                      </m:sub>
                    </m:sSub>
                    <m:r>
                      <a:rPr lang="en-US" altLang="zh-CN" sz="1000" i="1">
                        <a:latin typeface="Cambria Math" panose="02040503050406030204" pitchFamily="18" charset="0"/>
                        <a:ea typeface="等线" panose="02010600030101010101" pitchFamily="2" charset="-122"/>
                        <a:cs typeface="Times New Roman" panose="02020603050405020304" pitchFamily="18" charset="0"/>
                      </a:rPr>
                      <m:t>=</m:t>
                    </m:r>
                    <m:r>
                      <a:rPr lang="en-US" altLang="zh-CN" sz="1000" i="1">
                        <a:latin typeface="Cambria Math" panose="02040503050406030204" pitchFamily="18" charset="0"/>
                        <a:ea typeface="等线" panose="02010600030101010101" pitchFamily="2" charset="-122"/>
                        <a:cs typeface="Times New Roman" panose="02020603050405020304" pitchFamily="18" charset="0"/>
                      </a:rPr>
                      <m:t>𝑛</m:t>
                    </m:r>
                  </m:oMath>
                </a14:m>
                <a:endParaRPr lang="zh-CN" altLang="en-US" sz="1000" dirty="0"/>
              </a:p>
            </p:txBody>
          </p:sp>
        </mc:Choice>
        <mc:Fallback xmlns="">
          <p:sp>
            <p:nvSpPr>
              <p:cNvPr id="16" name="矩形 15"/>
              <p:cNvSpPr>
                <a:spLocks noRot="1" noChangeAspect="1" noMove="1" noResize="1" noEditPoints="1" noAdjustHandles="1" noChangeArrowheads="1" noChangeShapeType="1" noTextEdit="1"/>
              </p:cNvSpPr>
              <p:nvPr/>
            </p:nvSpPr>
            <p:spPr>
              <a:xfrm>
                <a:off x="5901731" y="1756356"/>
                <a:ext cx="2113014" cy="258404"/>
              </a:xfrm>
              <a:prstGeom prst="rect">
                <a:avLst/>
              </a:prstGeom>
              <a:blipFill>
                <a:blip r:embed="rId6"/>
                <a:stretch>
                  <a:fillRect b="-930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3156098" y="2158361"/>
                <a:ext cx="164391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𝑚</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𝐶</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r>
                        <a:rPr lang="zh-CN" altLang="en-US" sz="1600" i="1">
                          <a:latin typeface="Cambria Math" panose="02040503050406030204" pitchFamily="18" charset="0"/>
                        </a:rPr>
                        <m:t>𝑛</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𝑆</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𝑑</m:t>
                          </m:r>
                        </m:e>
                        <m:sub>
                          <m:r>
                            <a:rPr lang="zh-CN" altLang="en-US" sz="1600" i="0">
                              <a:latin typeface="Cambria Math" panose="02040503050406030204" pitchFamily="18" charset="0"/>
                            </a:rPr>
                            <m:t>4</m:t>
                          </m:r>
                        </m:sub>
                      </m:sSub>
                    </m:oMath>
                  </m:oMathPara>
                </a14:m>
                <a:endParaRPr lang="zh-CN" altLang="en-US" sz="1600" dirty="0"/>
              </a:p>
            </p:txBody>
          </p:sp>
        </mc:Choice>
        <mc:Fallback xmlns="">
          <p:sp>
            <p:nvSpPr>
              <p:cNvPr id="18" name="矩形 17"/>
              <p:cNvSpPr>
                <a:spLocks noRot="1" noChangeAspect="1" noMove="1" noResize="1" noEditPoints="1" noAdjustHandles="1" noChangeArrowheads="1" noChangeShapeType="1" noTextEdit="1"/>
              </p:cNvSpPr>
              <p:nvPr/>
            </p:nvSpPr>
            <p:spPr>
              <a:xfrm>
                <a:off x="3156098" y="2158361"/>
                <a:ext cx="1643912" cy="338554"/>
              </a:xfrm>
              <a:prstGeom prst="rect">
                <a:avLst/>
              </a:prstGeom>
              <a:blipFill>
                <a:blip r:embed="rId7"/>
                <a:stretch>
                  <a:fillRect/>
                </a:stretch>
              </a:blipFill>
            </p:spPr>
            <p:txBody>
              <a:bodyPr/>
              <a:lstStyle/>
              <a:p>
                <a:r>
                  <a:rPr lang="zh-CN" altLang="en-US">
                    <a:noFill/>
                  </a:rPr>
                  <a:t> </a:t>
                </a:r>
              </a:p>
            </p:txBody>
          </p:sp>
        </mc:Fallback>
      </mc:AlternateContent>
      <p:sp>
        <p:nvSpPr>
          <p:cNvPr id="24" name="下箭头 23"/>
          <p:cNvSpPr/>
          <p:nvPr/>
        </p:nvSpPr>
        <p:spPr>
          <a:xfrm>
            <a:off x="3873855" y="1966057"/>
            <a:ext cx="216024" cy="2706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1" name="矩形 20"/>
              <p:cNvSpPr/>
              <p:nvPr/>
            </p:nvSpPr>
            <p:spPr>
              <a:xfrm>
                <a:off x="2599372" y="2584744"/>
                <a:ext cx="6077084" cy="368691"/>
              </a:xfrm>
              <a:prstGeom prst="rect">
                <a:avLst/>
              </a:prstGeom>
            </p:spPr>
            <p:txBody>
              <a:bodyPr wrap="square">
                <a:spAutoFit/>
              </a:bodyPr>
              <a:lstStyle/>
              <a:p>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𝑚</m:t>
                    </m:r>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𝑅</m:t>
                    </m:r>
                    <m:func>
                      <m:funcPr>
                        <m:ctrlPr>
                          <a:rPr lang="zh-CN" altLang="zh-CN" sz="1600" i="1">
                            <a:latin typeface="Cambria Math" panose="02040503050406030204" pitchFamily="18" charset="0"/>
                            <a:ea typeface="Cambria Math" panose="02040503050406030204" pitchFamily="18" charset="0"/>
                          </a:rPr>
                        </m:ctrlPr>
                      </m:funcPr>
                      <m:fName>
                        <m:r>
                          <a:rPr lang="en-US" altLang="zh-CN" sz="1600" i="1">
                            <a:latin typeface="Cambria Math" panose="02040503050406030204" pitchFamily="18" charset="0"/>
                            <a:ea typeface="等线" panose="02010600030101010101" pitchFamily="2" charset="-122"/>
                            <a:cs typeface="Times New Roman" panose="02020603050405020304" pitchFamily="18" charset="0"/>
                          </a:rPr>
                          <m:t>𝑠𝑖𝑛</m:t>
                        </m:r>
                      </m:fName>
                      <m:e>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e>
                    </m:func>
                    <m:r>
                      <a:rPr lang="en-US" altLang="zh-CN" sz="1600" i="1">
                        <a:latin typeface="Cambria Math" panose="02040503050406030204" pitchFamily="18" charset="0"/>
                        <a:ea typeface="等线" panose="02010600030101010101" pitchFamily="2" charset="-122"/>
                        <a:cs typeface="Times New Roman" panose="02020603050405020304" pitchFamily="18" charset="0"/>
                      </a:rPr>
                      <m:t>𝜙</m:t>
                    </m:r>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oMath>
                </a14:m>
                <a:r>
                  <a:rPr lang="en-US" altLang="zh-CN" sz="1600" dirty="0">
                    <a:latin typeface="等线" panose="02010600030101010101" pitchFamily="2" charset="-122"/>
                    <a:cs typeface="Times New Roman" panose="02020603050405020304" pitchFamily="18" charset="0"/>
                  </a:rPr>
                  <a:t>, </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𝑅</m:t>
                    </m:r>
                    <m:func>
                      <m:funcPr>
                        <m:ctrlPr>
                          <a:rPr lang="zh-CN" altLang="zh-CN" sz="1600" i="1">
                            <a:latin typeface="Cambria Math" panose="02040503050406030204" pitchFamily="18" charset="0"/>
                            <a:ea typeface="Cambria Math" panose="02040503050406030204" pitchFamily="18" charset="0"/>
                          </a:rPr>
                        </m:ctrlPr>
                      </m:funcPr>
                      <m:fName>
                        <m:r>
                          <a:rPr lang="en-US" altLang="zh-CN" sz="1600" i="1">
                            <a:latin typeface="Cambria Math" panose="02040503050406030204" pitchFamily="18" charset="0"/>
                            <a:ea typeface="等线" panose="02010600030101010101" pitchFamily="2" charset="-122"/>
                            <a:cs typeface="Times New Roman" panose="02020603050405020304" pitchFamily="18" charset="0"/>
                          </a:rPr>
                          <m:t>𝑐𝑜𝑠</m:t>
                        </m:r>
                      </m:fName>
                      <m:e>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e>
                    </m:func>
                    <m:r>
                      <a:rPr lang="en-US" altLang="zh-CN" sz="1600" i="1">
                        <a:latin typeface="Cambria Math" panose="02040503050406030204" pitchFamily="18" charset="0"/>
                        <a:ea typeface="等线" panose="02010600030101010101" pitchFamily="2" charset="-122"/>
                        <a:cs typeface="Times New Roman" panose="02020603050405020304" pitchFamily="18" charset="0"/>
                      </a:rPr>
                      <m:t>𝜙</m:t>
                    </m:r>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1600" dirty="0">
                    <a:ea typeface="等线" panose="02010600030101010101" pitchFamily="2" charset="-122"/>
                    <a:cs typeface="Times New Roman" panose="02020603050405020304" pitchFamily="18" charset="0"/>
                  </a:rPr>
                  <a:t>，</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𝜙</m:t>
                    </m:r>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𝐴𝑡𝑎𝑛</m:t>
                    </m:r>
                    <m:r>
                      <a:rPr lang="en-US" altLang="zh-CN" sz="1600" i="1">
                        <a:latin typeface="Cambria Math" panose="02040503050406030204" pitchFamily="18" charset="0"/>
                        <a:ea typeface="等线" panose="02010600030101010101" pitchFamily="2" charset="-122"/>
                        <a:cs typeface="Times New Roman" panose="02020603050405020304" pitchFamily="18" charset="0"/>
                      </a:rPr>
                      <m:t>2(</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𝑚</m:t>
                    </m:r>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1600" dirty="0">
                    <a:ea typeface="等线" panose="02010600030101010101" pitchFamily="2" charset="-122"/>
                    <a:cs typeface="Times New Roman" panose="02020603050405020304" pitchFamily="18" charset="0"/>
                  </a:rPr>
                  <a:t>，</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𝑅</m:t>
                    </m:r>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ad>
                      <m:radPr>
                        <m:degHide m:val="on"/>
                        <m:ctrlPr>
                          <a:rPr lang="zh-CN" altLang="zh-CN" sz="1600" i="1">
                            <a:latin typeface="Cambria Math" panose="02040503050406030204" pitchFamily="18" charset="0"/>
                            <a:ea typeface="Cambria Math" panose="02040503050406030204" pitchFamily="18" charset="0"/>
                          </a:rPr>
                        </m:ctrlPr>
                      </m:radPr>
                      <m:deg/>
                      <m:e>
                        <m:sSup>
                          <m:sSupPr>
                            <m:ctrlPr>
                              <a:rPr lang="zh-CN" altLang="zh-CN" sz="1600" i="1">
                                <a:latin typeface="Cambria Math" panose="02040503050406030204" pitchFamily="18" charset="0"/>
                                <a:ea typeface="Cambria Math" panose="02040503050406030204" pitchFamily="18" charset="0"/>
                              </a:rPr>
                            </m:ctrlPr>
                          </m:sSup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𝑚</m:t>
                            </m:r>
                          </m:e>
                          <m:sup>
                            <m:r>
                              <a:rPr lang="en-US" altLang="zh-CN" sz="16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600" i="1">
                                <a:latin typeface="Cambria Math" panose="02040503050406030204" pitchFamily="18" charset="0"/>
                                <a:ea typeface="Cambria Math" panose="02040503050406030204" pitchFamily="18" charset="0"/>
                              </a:rPr>
                            </m:ctrlPr>
                          </m:sSup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e>
                          <m:sup>
                            <m:r>
                              <a:rPr lang="en-US" altLang="zh-CN" sz="1600" i="1">
                                <a:latin typeface="Cambria Math" panose="02040503050406030204" pitchFamily="18" charset="0"/>
                                <a:ea typeface="等线" panose="02010600030101010101" pitchFamily="2" charset="-122"/>
                                <a:cs typeface="Times New Roman" panose="02020603050405020304" pitchFamily="18" charset="0"/>
                              </a:rPr>
                              <m:t>2</m:t>
                            </m:r>
                          </m:sup>
                        </m:sSup>
                      </m:e>
                    </m:rad>
                  </m:oMath>
                </a14:m>
                <a:endParaRPr lang="zh-CN" altLang="en-US" sz="1600" dirty="0"/>
              </a:p>
            </p:txBody>
          </p:sp>
        </mc:Choice>
        <mc:Fallback xmlns="">
          <p:sp>
            <p:nvSpPr>
              <p:cNvPr id="21" name="矩形 20"/>
              <p:cNvSpPr>
                <a:spLocks noRot="1" noChangeAspect="1" noMove="1" noResize="1" noEditPoints="1" noAdjustHandles="1" noChangeArrowheads="1" noChangeShapeType="1" noTextEdit="1"/>
              </p:cNvSpPr>
              <p:nvPr/>
            </p:nvSpPr>
            <p:spPr>
              <a:xfrm>
                <a:off x="2599372" y="2584744"/>
                <a:ext cx="6077084" cy="368691"/>
              </a:xfrm>
              <a:prstGeom prst="rect">
                <a:avLst/>
              </a:prstGeom>
              <a:blipFill>
                <a:blip r:embed="rId8"/>
                <a:stretch>
                  <a:fillRect b="-21667"/>
                </a:stretch>
              </a:blipFill>
            </p:spPr>
            <p:txBody>
              <a:bodyPr/>
              <a:lstStyle/>
              <a:p>
                <a:r>
                  <a:rPr lang="zh-CN" altLang="en-US">
                    <a:noFill/>
                  </a:rPr>
                  <a:t> </a:t>
                </a:r>
              </a:p>
            </p:txBody>
          </p:sp>
        </mc:Fallback>
      </mc:AlternateContent>
      <p:sp>
        <p:nvSpPr>
          <p:cNvPr id="23" name="矩形 22"/>
          <p:cNvSpPr/>
          <p:nvPr/>
        </p:nvSpPr>
        <p:spPr>
          <a:xfrm>
            <a:off x="926509" y="3105252"/>
            <a:ext cx="1415772" cy="338554"/>
          </a:xfrm>
          <a:prstGeom prst="rect">
            <a:avLst/>
          </a:prstGeom>
        </p:spPr>
        <p:txBody>
          <a:bodyPr wrap="none">
            <a:spAutoFit/>
          </a:bodyPr>
          <a:lstStyle/>
          <a:p>
            <a:r>
              <a:rPr lang="zh-CN" altLang="zh-CN" sz="1600" dirty="0">
                <a:solidFill>
                  <a:srgbClr val="00B050"/>
                </a:solidFill>
                <a:ea typeface="等线" panose="02010600030101010101" pitchFamily="2" charset="-122"/>
                <a:cs typeface="Times New Roman" panose="02020603050405020304" pitchFamily="18" charset="0"/>
              </a:rPr>
              <a:t>两角和差公式</a:t>
            </a:r>
            <a:endParaRPr lang="zh-CN" altLang="en-US" sz="1600" dirty="0">
              <a:solidFill>
                <a:srgbClr val="00B050"/>
              </a:solidFill>
            </a:endParaRPr>
          </a:p>
        </p:txBody>
      </p:sp>
      <mc:AlternateContent xmlns:mc="http://schemas.openxmlformats.org/markup-compatibility/2006" xmlns:a14="http://schemas.microsoft.com/office/drawing/2010/main">
        <mc:Choice Requires="a14">
          <p:sp>
            <p:nvSpPr>
              <p:cNvPr id="27" name="矩形 26"/>
              <p:cNvSpPr/>
              <p:nvPr/>
            </p:nvSpPr>
            <p:spPr>
              <a:xfrm>
                <a:off x="2285682" y="3120633"/>
                <a:ext cx="4572000" cy="338554"/>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func>
                        <m:funcPr>
                          <m:ctrlPr>
                            <a:rPr lang="zh-CN" altLang="en-US" sz="1600" i="1">
                              <a:latin typeface="Cambria Math" panose="02040503050406030204" pitchFamily="18" charset="0"/>
                            </a:rPr>
                          </m:ctrlPr>
                        </m:funcPr>
                        <m:fName>
                          <m:r>
                            <a:rPr lang="zh-CN" altLang="en-US" sz="1600" i="1">
                              <a:latin typeface="Cambria Math" panose="02040503050406030204" pitchFamily="18" charset="0"/>
                            </a:rPr>
                            <m:t>𝑠𝑖𝑛</m:t>
                          </m:r>
                        </m:fName>
                        <m:e>
                          <m:d>
                            <m:dPr>
                              <m:endChr m:val=""/>
                              <m:ctrlPr>
                                <a:rPr lang="zh-CN" altLang="en-US" sz="1600" i="1" smtClean="0">
                                  <a:latin typeface="Cambria Math" panose="02040503050406030204" pitchFamily="18" charset="0"/>
                                </a:rPr>
                              </m:ctrlPr>
                            </m:dPr>
                            <m:e>
                              <m:r>
                                <a:rPr lang="zh-CN" altLang="en-US" sz="1600" i="1">
                                  <a:latin typeface="Cambria Math" panose="02040503050406030204" pitchFamily="18" charset="0"/>
                                </a:rPr>
                                <m:t>𝜙</m:t>
                              </m:r>
                            </m:e>
                          </m:d>
                        </m:e>
                      </m:func>
                      <m:r>
                        <a:rPr lang="zh-CN" altLang="en-US" sz="1600" i="0">
                          <a:latin typeface="Cambria Math" panose="02040503050406030204" pitchFamily="18" charset="0"/>
                        </a:rPr>
                        <m:t>)</m:t>
                      </m:r>
                      <m:func>
                        <m:funcPr>
                          <m:ctrlPr>
                            <a:rPr lang="zh-CN" altLang="en-US" sz="1600" i="1">
                              <a:latin typeface="Cambria Math" panose="02040503050406030204" pitchFamily="18" charset="0"/>
                            </a:rPr>
                          </m:ctrlPr>
                        </m:funcPr>
                        <m:fName>
                          <m:r>
                            <m:rPr>
                              <m:sty m:val="p"/>
                            </m:rPr>
                            <a:rPr lang="zh-CN" altLang="en-US" sz="1600" i="0">
                              <a:latin typeface="Cambria Math" panose="02040503050406030204" pitchFamily="18" charset="0"/>
                            </a:rPr>
                            <m:t>cos</m:t>
                          </m:r>
                        </m:fName>
                        <m:e>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1</m:t>
                                  </m:r>
                                </m:sub>
                              </m:sSub>
                            </m:e>
                          </m:d>
                        </m:e>
                      </m:func>
                      <m:r>
                        <a:rPr lang="zh-CN" altLang="en-US" sz="1600" i="0">
                          <a:latin typeface="Cambria Math" panose="02040503050406030204" pitchFamily="18" charset="0"/>
                        </a:rPr>
                        <m:t>−</m:t>
                      </m:r>
                      <m:func>
                        <m:funcPr>
                          <m:ctrlPr>
                            <a:rPr lang="zh-CN" altLang="en-US" sz="1600" i="1">
                              <a:latin typeface="Cambria Math" panose="02040503050406030204" pitchFamily="18" charset="0"/>
                            </a:rPr>
                          </m:ctrlPr>
                        </m:funcPr>
                        <m:fName>
                          <m:r>
                            <a:rPr lang="zh-CN" altLang="en-US" sz="1600" i="1">
                              <a:latin typeface="Cambria Math" panose="02040503050406030204" pitchFamily="18" charset="0"/>
                            </a:rPr>
                            <m:t>𝑐𝑜𝑠</m:t>
                          </m:r>
                        </m:fName>
                        <m:e>
                          <m:d>
                            <m:dPr>
                              <m:endChr m:val=""/>
                              <m:ctrlPr>
                                <a:rPr lang="zh-CN" altLang="en-US" sz="1600" i="1">
                                  <a:latin typeface="Cambria Math" panose="02040503050406030204" pitchFamily="18" charset="0"/>
                                </a:rPr>
                              </m:ctrlPr>
                            </m:dPr>
                            <m:e>
                              <m:r>
                                <a:rPr lang="zh-CN" altLang="en-US" sz="1600" i="1">
                                  <a:latin typeface="Cambria Math" panose="02040503050406030204" pitchFamily="18" charset="0"/>
                                </a:rPr>
                                <m:t>𝜙</m:t>
                              </m:r>
                            </m:e>
                          </m:d>
                        </m:e>
                      </m:func>
                      <m:r>
                        <a:rPr lang="zh-CN" altLang="en-US" sz="1600" i="0">
                          <a:latin typeface="Cambria Math" panose="02040503050406030204" pitchFamily="18" charset="0"/>
                        </a:rPr>
                        <m:t>)</m:t>
                      </m:r>
                      <m:r>
                        <m:rPr>
                          <m:sty m:val="p"/>
                        </m:rPr>
                        <a:rPr lang="zh-CN" altLang="en-US" sz="1600" i="0">
                          <a:latin typeface="Cambria Math" panose="02040503050406030204" pitchFamily="18" charset="0"/>
                        </a:rPr>
                        <m:t>si</m:t>
                      </m:r>
                      <m:func>
                        <m:funcPr>
                          <m:ctrlPr>
                            <a:rPr lang="zh-CN" altLang="en-US" sz="1600" i="1">
                              <a:latin typeface="Cambria Math" panose="02040503050406030204" pitchFamily="18" charset="0"/>
                            </a:rPr>
                          </m:ctrlPr>
                        </m:funcPr>
                        <m:fName>
                          <m:r>
                            <m:rPr>
                              <m:sty m:val="p"/>
                            </m:rPr>
                            <a:rPr lang="zh-CN" altLang="en-US" sz="1600" i="0">
                              <a:latin typeface="Cambria Math" panose="02040503050406030204" pitchFamily="18" charset="0"/>
                            </a:rPr>
                            <m:t>n</m:t>
                          </m:r>
                        </m:fName>
                        <m:e>
                          <m:r>
                            <a:rPr lang="zh-CN" altLang="en-US" sz="1600" i="0">
                              <a:latin typeface="Cambria Math" panose="02040503050406030204" pitchFamily="18" charset="0"/>
                            </a:rPr>
                            <m:t>(</m:t>
                          </m:r>
                        </m:e>
                      </m:func>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f>
                        <m:fPr>
                          <m:type m:val="lin"/>
                          <m:ctrlPr>
                            <a:rPr lang="zh-CN" altLang="en-US" sz="1600" i="1">
                              <a:latin typeface="Cambria Math" panose="02040503050406030204" pitchFamily="18" charset="0"/>
                            </a:rPr>
                          </m:ctrlPr>
                        </m:fPr>
                        <m:num>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𝑑</m:t>
                              </m:r>
                            </m:e>
                            <m:sub>
                              <m:r>
                                <a:rPr lang="zh-CN" altLang="en-US" sz="1600" i="0">
                                  <a:latin typeface="Cambria Math" panose="02040503050406030204" pitchFamily="18" charset="0"/>
                                </a:rPr>
                                <m:t>4</m:t>
                              </m:r>
                            </m:sub>
                          </m:sSub>
                        </m:num>
                        <m:den>
                          <m:r>
                            <a:rPr lang="zh-CN" altLang="en-US" sz="1600" i="1">
                              <a:latin typeface="Cambria Math" panose="02040503050406030204" pitchFamily="18" charset="0"/>
                            </a:rPr>
                            <m:t>𝑅</m:t>
                          </m:r>
                        </m:den>
                      </m:f>
                    </m:oMath>
                  </m:oMathPara>
                </a14:m>
                <a:endParaRPr lang="zh-CN" altLang="en-US" sz="1600" dirty="0"/>
              </a:p>
            </p:txBody>
          </p:sp>
        </mc:Choice>
        <mc:Fallback xmlns="">
          <p:sp>
            <p:nvSpPr>
              <p:cNvPr id="27" name="矩形 26"/>
              <p:cNvSpPr>
                <a:spLocks noRot="1" noChangeAspect="1" noMove="1" noResize="1" noEditPoints="1" noAdjustHandles="1" noChangeArrowheads="1" noChangeShapeType="1" noTextEdit="1"/>
              </p:cNvSpPr>
              <p:nvPr/>
            </p:nvSpPr>
            <p:spPr>
              <a:xfrm>
                <a:off x="2285682" y="3120633"/>
                <a:ext cx="4572000" cy="338554"/>
              </a:xfrm>
              <a:prstGeom prst="rect">
                <a:avLst/>
              </a:prstGeom>
              <a:blipFill>
                <a:blip r:embed="rId9"/>
                <a:stretch>
                  <a:fillRect t="-110909" b="-172727"/>
                </a:stretch>
              </a:blipFill>
            </p:spPr>
            <p:txBody>
              <a:bodyPr/>
              <a:lstStyle/>
              <a:p>
                <a:r>
                  <a:rPr lang="zh-CN" altLang="en-US">
                    <a:noFill/>
                  </a:rPr>
                  <a:t> </a:t>
                </a:r>
              </a:p>
            </p:txBody>
          </p:sp>
        </mc:Fallback>
      </mc:AlternateContent>
      <p:sp>
        <p:nvSpPr>
          <p:cNvPr id="28" name="下箭头 27"/>
          <p:cNvSpPr/>
          <p:nvPr/>
        </p:nvSpPr>
        <p:spPr>
          <a:xfrm rot="10800000">
            <a:off x="4040356" y="2487518"/>
            <a:ext cx="249703" cy="12675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圆角矩形 28"/>
          <p:cNvSpPr/>
          <p:nvPr/>
        </p:nvSpPr>
        <p:spPr>
          <a:xfrm>
            <a:off x="2599372" y="2640813"/>
            <a:ext cx="5861060" cy="31262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圆角矩形 29"/>
          <p:cNvSpPr/>
          <p:nvPr/>
        </p:nvSpPr>
        <p:spPr>
          <a:xfrm>
            <a:off x="3156098" y="2236733"/>
            <a:ext cx="1643912" cy="26018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右弧形箭头 31"/>
          <p:cNvSpPr/>
          <p:nvPr/>
        </p:nvSpPr>
        <p:spPr>
          <a:xfrm>
            <a:off x="4917440" y="2316289"/>
            <a:ext cx="446648" cy="944438"/>
          </a:xfrm>
          <a:prstGeom prst="curvedLeftArrow">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圆角矩形 32"/>
          <p:cNvSpPr/>
          <p:nvPr/>
        </p:nvSpPr>
        <p:spPr>
          <a:xfrm>
            <a:off x="2599372" y="3120633"/>
            <a:ext cx="3844836" cy="420578"/>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5" name="矩形 34"/>
              <p:cNvSpPr/>
              <p:nvPr/>
            </p:nvSpPr>
            <p:spPr>
              <a:xfrm>
                <a:off x="2576822" y="3890350"/>
                <a:ext cx="2103525" cy="3702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zh-CN" altLang="en-US" sz="1600" b="1" i="1" smtClean="0">
                              <a:solidFill>
                                <a:srgbClr val="002060"/>
                              </a:solidFill>
                              <a:latin typeface="Cambria Math" panose="02040503050406030204" pitchFamily="18" charset="0"/>
                            </a:rPr>
                          </m:ctrlPr>
                        </m:funcPr>
                        <m:fName>
                          <m:r>
                            <a:rPr lang="zh-CN" altLang="en-US" sz="1600" b="1" i="1">
                              <a:solidFill>
                                <a:srgbClr val="002060"/>
                              </a:solidFill>
                              <a:latin typeface="Cambria Math" panose="02040503050406030204" pitchFamily="18" charset="0"/>
                            </a:rPr>
                            <m:t>𝒔𝒊𝒏</m:t>
                          </m:r>
                        </m:fName>
                        <m:e>
                          <m:d>
                            <m:dPr>
                              <m:endChr m:val=""/>
                              <m:ctrlPr>
                                <a:rPr lang="zh-CN" altLang="en-US" sz="1600" b="1" i="1">
                                  <a:solidFill>
                                    <a:srgbClr val="002060"/>
                                  </a:solidFill>
                                  <a:latin typeface="Cambria Math" panose="02040503050406030204" pitchFamily="18" charset="0"/>
                                </a:rPr>
                              </m:ctrlPr>
                            </m:dPr>
                            <m:e>
                              <m:r>
                                <a:rPr lang="zh-CN" altLang="en-US" sz="1600" b="1" i="1">
                                  <a:solidFill>
                                    <a:srgbClr val="002060"/>
                                  </a:solidFill>
                                  <a:latin typeface="Cambria Math" panose="02040503050406030204" pitchFamily="18" charset="0"/>
                                </a:rPr>
                                <m:t>𝝓</m:t>
                              </m:r>
                              <m:r>
                                <a:rPr lang="zh-CN" altLang="en-US" sz="1600" b="1">
                                  <a:solidFill>
                                    <a:srgbClr val="002060"/>
                                  </a:solidFill>
                                  <a:latin typeface="Cambria Math" panose="02040503050406030204" pitchFamily="18" charset="0"/>
                                </a:rPr>
                                <m:t>−</m:t>
                              </m:r>
                              <m:sSub>
                                <m:sSubPr>
                                  <m:ctrlPr>
                                    <a:rPr lang="zh-CN" altLang="en-US" sz="1600" b="1" i="1">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𝜽</m:t>
                                  </m:r>
                                </m:e>
                                <m:sub>
                                  <m:r>
                                    <a:rPr lang="zh-CN" altLang="en-US" sz="1600" b="1" i="1">
                                      <a:solidFill>
                                        <a:srgbClr val="002060"/>
                                      </a:solidFill>
                                      <a:latin typeface="Cambria Math" panose="02040503050406030204" pitchFamily="18" charset="0"/>
                                    </a:rPr>
                                    <m:t>𝟏</m:t>
                                  </m:r>
                                </m:sub>
                              </m:sSub>
                            </m:e>
                          </m:d>
                        </m:e>
                      </m:func>
                      <m:r>
                        <a:rPr lang="zh-CN" altLang="en-US" sz="1600" b="1" i="0">
                          <a:solidFill>
                            <a:srgbClr val="002060"/>
                          </a:solidFill>
                          <a:latin typeface="Cambria Math" panose="02040503050406030204" pitchFamily="18" charset="0"/>
                        </a:rPr>
                        <m:t>)=</m:t>
                      </m:r>
                      <m:f>
                        <m:fPr>
                          <m:type m:val="lin"/>
                          <m:ctrlPr>
                            <a:rPr lang="zh-CN" altLang="en-US" sz="1600" b="1" i="1">
                              <a:solidFill>
                                <a:srgbClr val="002060"/>
                              </a:solidFill>
                              <a:latin typeface="Cambria Math" panose="02040503050406030204" pitchFamily="18" charset="0"/>
                            </a:rPr>
                          </m:ctrlPr>
                        </m:fPr>
                        <m:num>
                          <m:sSub>
                            <m:sSubPr>
                              <m:ctrlPr>
                                <a:rPr lang="zh-CN" altLang="en-US" sz="1600" b="1" i="1">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𝒅</m:t>
                              </m:r>
                            </m:e>
                            <m:sub>
                              <m:r>
                                <a:rPr lang="zh-CN" altLang="en-US" sz="1600" b="1" i="0">
                                  <a:solidFill>
                                    <a:srgbClr val="002060"/>
                                  </a:solidFill>
                                  <a:latin typeface="Cambria Math" panose="02040503050406030204" pitchFamily="18" charset="0"/>
                                </a:rPr>
                                <m:t>𝟒</m:t>
                              </m:r>
                            </m:sub>
                          </m:sSub>
                        </m:num>
                        <m:den>
                          <m:r>
                            <a:rPr lang="zh-CN" altLang="en-US" sz="1600" b="1" i="1">
                              <a:solidFill>
                                <a:srgbClr val="002060"/>
                              </a:solidFill>
                              <a:latin typeface="Cambria Math" panose="02040503050406030204" pitchFamily="18" charset="0"/>
                            </a:rPr>
                            <m:t>𝑹</m:t>
                          </m:r>
                        </m:den>
                      </m:f>
                    </m:oMath>
                  </m:oMathPara>
                </a14:m>
                <a:endParaRPr lang="zh-CN" altLang="en-US" sz="1600" b="1" dirty="0">
                  <a:solidFill>
                    <a:srgbClr val="002060"/>
                  </a:solidFill>
                </a:endParaRPr>
              </a:p>
            </p:txBody>
          </p:sp>
        </mc:Choice>
        <mc:Fallback xmlns="">
          <p:sp>
            <p:nvSpPr>
              <p:cNvPr id="35" name="矩形 34"/>
              <p:cNvSpPr>
                <a:spLocks noRot="1" noChangeAspect="1" noMove="1" noResize="1" noEditPoints="1" noAdjustHandles="1" noChangeArrowheads="1" noChangeShapeType="1" noTextEdit="1"/>
              </p:cNvSpPr>
              <p:nvPr/>
            </p:nvSpPr>
            <p:spPr>
              <a:xfrm>
                <a:off x="2576822" y="3890350"/>
                <a:ext cx="2103525" cy="370294"/>
              </a:xfrm>
              <a:prstGeom prst="rect">
                <a:avLst/>
              </a:prstGeom>
              <a:blipFill>
                <a:blip r:embed="rId10"/>
                <a:stretch>
                  <a:fillRect l="-2899" t="-142623" r="-17391" b="-2180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矩形 35"/>
              <p:cNvSpPr/>
              <p:nvPr/>
            </p:nvSpPr>
            <p:spPr>
              <a:xfrm>
                <a:off x="4652247" y="3613219"/>
                <a:ext cx="2637645" cy="8198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zh-CN" altLang="en-US" sz="1600" b="1" i="1" smtClean="0">
                              <a:solidFill>
                                <a:srgbClr val="002060"/>
                              </a:solidFill>
                              <a:latin typeface="Cambria Math" panose="02040503050406030204" pitchFamily="18" charset="0"/>
                            </a:rPr>
                          </m:ctrlPr>
                        </m:funcPr>
                        <m:fName>
                          <m:r>
                            <a:rPr lang="zh-CN" altLang="en-US" sz="1600" b="1" i="1">
                              <a:solidFill>
                                <a:srgbClr val="002060"/>
                              </a:solidFill>
                              <a:latin typeface="Cambria Math" panose="02040503050406030204" pitchFamily="18" charset="0"/>
                            </a:rPr>
                            <m:t>𝒄𝒐𝒔</m:t>
                          </m:r>
                        </m:fName>
                        <m:e>
                          <m:d>
                            <m:dPr>
                              <m:endChr m:val=""/>
                              <m:ctrlPr>
                                <a:rPr lang="zh-CN" altLang="en-US" sz="1600" b="1" i="1">
                                  <a:solidFill>
                                    <a:srgbClr val="002060"/>
                                  </a:solidFill>
                                  <a:latin typeface="Cambria Math" panose="02040503050406030204" pitchFamily="18" charset="0"/>
                                </a:rPr>
                              </m:ctrlPr>
                            </m:dPr>
                            <m:e>
                              <m:r>
                                <a:rPr lang="zh-CN" altLang="en-US" sz="1600" b="1" i="1">
                                  <a:solidFill>
                                    <a:srgbClr val="002060"/>
                                  </a:solidFill>
                                  <a:latin typeface="Cambria Math" panose="02040503050406030204" pitchFamily="18" charset="0"/>
                                </a:rPr>
                                <m:t>𝝓</m:t>
                              </m:r>
                              <m:r>
                                <a:rPr lang="zh-CN" altLang="en-US" sz="1600" b="1">
                                  <a:solidFill>
                                    <a:srgbClr val="002060"/>
                                  </a:solidFill>
                                  <a:latin typeface="Cambria Math" panose="02040503050406030204" pitchFamily="18" charset="0"/>
                                </a:rPr>
                                <m:t>−</m:t>
                              </m:r>
                              <m:sSub>
                                <m:sSubPr>
                                  <m:ctrlPr>
                                    <a:rPr lang="zh-CN" altLang="en-US" sz="1600" b="1" i="1">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𝜽</m:t>
                                  </m:r>
                                </m:e>
                                <m:sub>
                                  <m:r>
                                    <a:rPr lang="zh-CN" altLang="en-US" sz="1600" b="1">
                                      <a:solidFill>
                                        <a:srgbClr val="002060"/>
                                      </a:solidFill>
                                      <a:latin typeface="Cambria Math" panose="02040503050406030204" pitchFamily="18" charset="0"/>
                                    </a:rPr>
                                    <m:t>𝟏</m:t>
                                  </m:r>
                                </m:sub>
                              </m:sSub>
                            </m:e>
                          </m:d>
                        </m:e>
                      </m:func>
                      <m:r>
                        <a:rPr lang="zh-CN" altLang="en-US" sz="1600" b="1" i="0">
                          <a:solidFill>
                            <a:srgbClr val="002060"/>
                          </a:solidFill>
                          <a:latin typeface="Cambria Math" panose="02040503050406030204" pitchFamily="18" charset="0"/>
                        </a:rPr>
                        <m:t>)=±</m:t>
                      </m:r>
                      <m:rad>
                        <m:radPr>
                          <m:degHide m:val="on"/>
                          <m:ctrlPr>
                            <a:rPr lang="zh-CN" altLang="en-US" sz="1600" b="1" i="1">
                              <a:solidFill>
                                <a:srgbClr val="002060"/>
                              </a:solidFill>
                              <a:latin typeface="Cambria Math" panose="02040503050406030204" pitchFamily="18" charset="0"/>
                            </a:rPr>
                          </m:ctrlPr>
                        </m:radPr>
                        <m:deg/>
                        <m:e>
                          <m:r>
                            <a:rPr lang="zh-CN" altLang="en-US" sz="1600" b="1" i="0">
                              <a:solidFill>
                                <a:srgbClr val="002060"/>
                              </a:solidFill>
                              <a:latin typeface="Cambria Math" panose="02040503050406030204" pitchFamily="18" charset="0"/>
                            </a:rPr>
                            <m:t>𝟏</m:t>
                          </m:r>
                          <m:r>
                            <a:rPr lang="zh-CN" altLang="en-US" sz="1600" b="1" i="0">
                              <a:solidFill>
                                <a:srgbClr val="002060"/>
                              </a:solidFill>
                              <a:latin typeface="Cambria Math" panose="02040503050406030204" pitchFamily="18" charset="0"/>
                            </a:rPr>
                            <m:t>−</m:t>
                          </m:r>
                          <m:f>
                            <m:fPr>
                              <m:ctrlPr>
                                <a:rPr lang="zh-CN" altLang="en-US" sz="1600" b="1" i="1">
                                  <a:solidFill>
                                    <a:srgbClr val="002060"/>
                                  </a:solidFill>
                                  <a:latin typeface="Cambria Math" panose="02040503050406030204" pitchFamily="18" charset="0"/>
                                </a:rPr>
                              </m:ctrlPr>
                            </m:fPr>
                            <m:num>
                              <m:sSup>
                                <m:sSupPr>
                                  <m:ctrlPr>
                                    <a:rPr lang="zh-CN" altLang="en-US" sz="1600" b="1" i="1">
                                      <a:solidFill>
                                        <a:srgbClr val="002060"/>
                                      </a:solidFill>
                                      <a:latin typeface="Cambria Math" panose="02040503050406030204" pitchFamily="18" charset="0"/>
                                    </a:rPr>
                                  </m:ctrlPr>
                                </m:sSupPr>
                                <m:e>
                                  <m:sSub>
                                    <m:sSubPr>
                                      <m:ctrlPr>
                                        <a:rPr lang="zh-CN" altLang="en-US" sz="1600" b="1" i="1">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𝒅</m:t>
                                      </m:r>
                                    </m:e>
                                    <m:sub>
                                      <m:r>
                                        <a:rPr lang="zh-CN" altLang="en-US" sz="1600" b="1" i="0">
                                          <a:solidFill>
                                            <a:srgbClr val="002060"/>
                                          </a:solidFill>
                                          <a:latin typeface="Cambria Math" panose="02040503050406030204" pitchFamily="18" charset="0"/>
                                        </a:rPr>
                                        <m:t>𝟒</m:t>
                                      </m:r>
                                    </m:sub>
                                  </m:sSub>
                                </m:e>
                                <m:sup>
                                  <m:r>
                                    <a:rPr lang="zh-CN" altLang="en-US" sz="1600" b="1" i="0">
                                      <a:solidFill>
                                        <a:srgbClr val="002060"/>
                                      </a:solidFill>
                                      <a:latin typeface="Cambria Math" panose="02040503050406030204" pitchFamily="18" charset="0"/>
                                    </a:rPr>
                                    <m:t>𝟐</m:t>
                                  </m:r>
                                </m:sup>
                              </m:sSup>
                            </m:num>
                            <m:den>
                              <m:sSup>
                                <m:sSupPr>
                                  <m:ctrlPr>
                                    <a:rPr lang="zh-CN" altLang="en-US" sz="1600" b="1" i="1">
                                      <a:solidFill>
                                        <a:srgbClr val="002060"/>
                                      </a:solidFill>
                                      <a:latin typeface="Cambria Math" panose="02040503050406030204" pitchFamily="18" charset="0"/>
                                    </a:rPr>
                                  </m:ctrlPr>
                                </m:sSupPr>
                                <m:e>
                                  <m:r>
                                    <a:rPr lang="zh-CN" altLang="en-US" sz="1600" b="1" i="1">
                                      <a:solidFill>
                                        <a:srgbClr val="002060"/>
                                      </a:solidFill>
                                      <a:latin typeface="Cambria Math" panose="02040503050406030204" pitchFamily="18" charset="0"/>
                                    </a:rPr>
                                    <m:t>𝑹</m:t>
                                  </m:r>
                                </m:e>
                                <m:sup>
                                  <m:r>
                                    <a:rPr lang="zh-CN" altLang="en-US" sz="1600" b="1" i="0">
                                      <a:solidFill>
                                        <a:srgbClr val="002060"/>
                                      </a:solidFill>
                                      <a:latin typeface="Cambria Math" panose="02040503050406030204" pitchFamily="18" charset="0"/>
                                    </a:rPr>
                                    <m:t>𝟐</m:t>
                                  </m:r>
                                </m:sup>
                              </m:sSup>
                            </m:den>
                          </m:f>
                        </m:e>
                      </m:rad>
                    </m:oMath>
                  </m:oMathPara>
                </a14:m>
                <a:endParaRPr lang="zh-CN" altLang="en-US" sz="1600" b="1" dirty="0">
                  <a:solidFill>
                    <a:srgbClr val="002060"/>
                  </a:solidFill>
                </a:endParaRPr>
              </a:p>
            </p:txBody>
          </p:sp>
        </mc:Choice>
        <mc:Fallback xmlns="">
          <p:sp>
            <p:nvSpPr>
              <p:cNvPr id="36" name="矩形 35"/>
              <p:cNvSpPr>
                <a:spLocks noRot="1" noChangeAspect="1" noMove="1" noResize="1" noEditPoints="1" noAdjustHandles="1" noChangeArrowheads="1" noChangeShapeType="1" noTextEdit="1"/>
              </p:cNvSpPr>
              <p:nvPr/>
            </p:nvSpPr>
            <p:spPr>
              <a:xfrm>
                <a:off x="4652247" y="3613219"/>
                <a:ext cx="2637645" cy="819840"/>
              </a:xfrm>
              <a:prstGeom prst="rect">
                <a:avLst/>
              </a:prstGeom>
              <a:blipFill>
                <a:blip r:embed="rId11"/>
                <a:stretch>
                  <a:fillRect/>
                </a:stretch>
              </a:blipFill>
            </p:spPr>
            <p:txBody>
              <a:bodyPr/>
              <a:lstStyle/>
              <a:p>
                <a:r>
                  <a:rPr lang="zh-CN" altLang="en-US">
                    <a:noFill/>
                  </a:rPr>
                  <a:t> </a:t>
                </a:r>
              </a:p>
            </p:txBody>
          </p:sp>
        </mc:Fallback>
      </mc:AlternateContent>
      <p:sp>
        <p:nvSpPr>
          <p:cNvPr id="37" name="圆角矩形 36"/>
          <p:cNvSpPr/>
          <p:nvPr/>
        </p:nvSpPr>
        <p:spPr>
          <a:xfrm>
            <a:off x="2599372" y="3667449"/>
            <a:ext cx="4852948" cy="69192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右弧形箭头 39"/>
          <p:cNvSpPr/>
          <p:nvPr/>
        </p:nvSpPr>
        <p:spPr>
          <a:xfrm>
            <a:off x="7596336" y="3352636"/>
            <a:ext cx="418409" cy="629623"/>
          </a:xfrm>
          <a:prstGeom prst="curvedLef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1" name="五边形 40"/>
          <p:cNvSpPr/>
          <p:nvPr/>
        </p:nvSpPr>
        <p:spPr>
          <a:xfrm>
            <a:off x="7177252" y="3352636"/>
            <a:ext cx="419084" cy="106551"/>
          </a:xfrm>
          <a:prstGeom prst="homePlat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2" name="矩形 41"/>
              <p:cNvSpPr/>
              <p:nvPr/>
            </p:nvSpPr>
            <p:spPr>
              <a:xfrm>
                <a:off x="1848300" y="4479035"/>
                <a:ext cx="6138279" cy="65588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b="1" i="1" smtClean="0">
                              <a:solidFill>
                                <a:srgbClr val="FF0000"/>
                              </a:solidFill>
                              <a:latin typeface="Cambria Math" panose="02040503050406030204" pitchFamily="18" charset="0"/>
                            </a:rPr>
                          </m:ctrlPr>
                        </m:sSubPr>
                        <m:e>
                          <m:r>
                            <a:rPr lang="zh-CN" altLang="en-US" sz="1600" b="1" i="1">
                              <a:solidFill>
                                <a:srgbClr val="FF0000"/>
                              </a:solidFill>
                              <a:latin typeface="Cambria Math" panose="02040503050406030204" pitchFamily="18" charset="0"/>
                            </a:rPr>
                            <m:t>𝜽</m:t>
                          </m:r>
                        </m:e>
                        <m:sub>
                          <m:r>
                            <a:rPr lang="zh-CN" altLang="en-US" sz="1600" b="1" i="0">
                              <a:solidFill>
                                <a:srgbClr val="FF0000"/>
                              </a:solidFill>
                              <a:latin typeface="Cambria Math" panose="02040503050406030204" pitchFamily="18" charset="0"/>
                            </a:rPr>
                            <m:t>𝟏</m:t>
                          </m:r>
                        </m:sub>
                      </m:sSub>
                      <m:r>
                        <a:rPr lang="zh-CN" altLang="en-US" sz="1600" b="1" i="0">
                          <a:solidFill>
                            <a:srgbClr val="FF0000"/>
                          </a:solidFill>
                          <a:latin typeface="Cambria Math" panose="02040503050406030204" pitchFamily="18" charset="0"/>
                        </a:rPr>
                        <m:t>=</m:t>
                      </m:r>
                      <m:r>
                        <a:rPr lang="zh-CN" altLang="en-US" sz="1600" b="1" i="1">
                          <a:solidFill>
                            <a:srgbClr val="FF0000"/>
                          </a:solidFill>
                          <a:latin typeface="Cambria Math" panose="02040503050406030204" pitchFamily="18" charset="0"/>
                        </a:rPr>
                        <m:t>𝑨𝒕𝒂𝒏</m:t>
                      </m:r>
                      <m:r>
                        <a:rPr lang="zh-CN" altLang="en-US" sz="1600" b="1" i="1">
                          <a:solidFill>
                            <a:srgbClr val="FF0000"/>
                          </a:solidFill>
                          <a:latin typeface="Cambria Math" panose="02040503050406030204" pitchFamily="18" charset="0"/>
                        </a:rPr>
                        <m:t>𝟐</m:t>
                      </m:r>
                      <m:r>
                        <a:rPr lang="zh-CN" altLang="en-US" sz="1600" b="1">
                          <a:solidFill>
                            <a:srgbClr val="FF0000"/>
                          </a:solidFill>
                          <a:latin typeface="Cambria Math" panose="02040503050406030204" pitchFamily="18" charset="0"/>
                        </a:rPr>
                        <m:t>(</m:t>
                      </m:r>
                      <m:func>
                        <m:funcPr>
                          <m:ctrlPr>
                            <a:rPr lang="zh-CN" altLang="en-US" sz="1600" b="1" i="1">
                              <a:solidFill>
                                <a:srgbClr val="FF0000"/>
                              </a:solidFill>
                              <a:latin typeface="Cambria Math" panose="02040503050406030204" pitchFamily="18" charset="0"/>
                            </a:rPr>
                          </m:ctrlPr>
                        </m:funcPr>
                        <m:fName>
                          <m:r>
                            <a:rPr lang="zh-CN" altLang="en-US" sz="1600" b="1" i="1">
                              <a:solidFill>
                                <a:srgbClr val="FF0000"/>
                              </a:solidFill>
                              <a:latin typeface="Cambria Math" panose="02040503050406030204" pitchFamily="18" charset="0"/>
                            </a:rPr>
                            <m:t>𝒎</m:t>
                          </m:r>
                        </m:fName>
                        <m:e>
                          <m:r>
                            <a:rPr lang="zh-CN" altLang="en-US" sz="1600" b="1">
                              <a:solidFill>
                                <a:srgbClr val="FF0000"/>
                              </a:solidFill>
                              <a:latin typeface="Cambria Math" panose="02040503050406030204" pitchFamily="18" charset="0"/>
                            </a:rPr>
                            <m:t>,</m:t>
                          </m:r>
                        </m:e>
                      </m:func>
                      <m:r>
                        <a:rPr lang="en-US" altLang="zh-CN" sz="1600" b="1" i="0" smtClean="0">
                          <a:solidFill>
                            <a:srgbClr val="FF0000"/>
                          </a:solidFill>
                          <a:latin typeface="Cambria Math" panose="02040503050406030204" pitchFamily="18" charset="0"/>
                        </a:rPr>
                        <m:t>𝐧</m:t>
                      </m:r>
                      <m:r>
                        <a:rPr lang="en-US" altLang="zh-CN" sz="1600" b="1" i="0" smtClean="0">
                          <a:solidFill>
                            <a:srgbClr val="FF0000"/>
                          </a:solidFill>
                          <a:latin typeface="Cambria Math" panose="02040503050406030204" pitchFamily="18" charset="0"/>
                        </a:rPr>
                        <m:t>)−</m:t>
                      </m:r>
                      <m:r>
                        <a:rPr lang="zh-CN" altLang="en-US" sz="1600" b="1" i="1">
                          <a:solidFill>
                            <a:srgbClr val="FF0000"/>
                          </a:solidFill>
                          <a:latin typeface="Cambria Math" panose="02040503050406030204" pitchFamily="18" charset="0"/>
                        </a:rPr>
                        <m:t>𝑨𝒕𝒂𝒏</m:t>
                      </m:r>
                      <m:r>
                        <a:rPr lang="zh-CN" altLang="en-US" sz="1600" b="1" i="0">
                          <a:solidFill>
                            <a:srgbClr val="FF0000"/>
                          </a:solidFill>
                          <a:latin typeface="Cambria Math" panose="02040503050406030204" pitchFamily="18" charset="0"/>
                        </a:rPr>
                        <m:t>𝟐</m:t>
                      </m:r>
                      <m:d>
                        <m:dPr>
                          <m:ctrlPr>
                            <a:rPr lang="zh-CN" altLang="en-US" sz="1600" b="1" i="1">
                              <a:solidFill>
                                <a:srgbClr val="FF0000"/>
                              </a:solidFill>
                              <a:latin typeface="Cambria Math" panose="02040503050406030204" pitchFamily="18" charset="0"/>
                            </a:rPr>
                          </m:ctrlPr>
                        </m:dPr>
                        <m:e>
                          <m:sSub>
                            <m:sSubPr>
                              <m:ctrlPr>
                                <a:rPr lang="zh-CN" altLang="en-US" sz="1600" b="1" i="1">
                                  <a:solidFill>
                                    <a:srgbClr val="FF0000"/>
                                  </a:solidFill>
                                  <a:latin typeface="Cambria Math" panose="02040503050406030204" pitchFamily="18" charset="0"/>
                                </a:rPr>
                              </m:ctrlPr>
                            </m:sSubPr>
                            <m:e>
                              <m:r>
                                <a:rPr lang="zh-CN" altLang="en-US" sz="1600" b="1" i="1">
                                  <a:solidFill>
                                    <a:srgbClr val="FF0000"/>
                                  </a:solidFill>
                                  <a:latin typeface="Cambria Math" panose="02040503050406030204" pitchFamily="18" charset="0"/>
                                </a:rPr>
                                <m:t>𝒅</m:t>
                              </m:r>
                            </m:e>
                            <m:sub>
                              <m:r>
                                <a:rPr lang="zh-CN" altLang="en-US" sz="1600" b="1" i="0">
                                  <a:solidFill>
                                    <a:srgbClr val="FF0000"/>
                                  </a:solidFill>
                                  <a:latin typeface="Cambria Math" panose="02040503050406030204" pitchFamily="18" charset="0"/>
                                </a:rPr>
                                <m:t>𝟒</m:t>
                              </m:r>
                            </m:sub>
                          </m:sSub>
                          <m:r>
                            <a:rPr lang="zh-CN" altLang="en-US" sz="1600" b="1" i="0">
                              <a:solidFill>
                                <a:srgbClr val="FF0000"/>
                              </a:solidFill>
                              <a:latin typeface="Cambria Math" panose="02040503050406030204" pitchFamily="18" charset="0"/>
                            </a:rPr>
                            <m:t>,±</m:t>
                          </m:r>
                          <m:rad>
                            <m:radPr>
                              <m:degHide m:val="on"/>
                              <m:ctrlPr>
                                <a:rPr lang="zh-CN" altLang="en-US" sz="1600" b="1" i="1">
                                  <a:solidFill>
                                    <a:srgbClr val="FF0000"/>
                                  </a:solidFill>
                                  <a:latin typeface="Cambria Math" panose="02040503050406030204" pitchFamily="18" charset="0"/>
                                </a:rPr>
                              </m:ctrlPr>
                            </m:radPr>
                            <m:deg/>
                            <m:e>
                              <m:sSup>
                                <m:sSupPr>
                                  <m:ctrlPr>
                                    <a:rPr lang="zh-CN" altLang="en-US" sz="1600" b="1" i="1">
                                      <a:solidFill>
                                        <a:srgbClr val="FF0000"/>
                                      </a:solidFill>
                                      <a:latin typeface="Cambria Math" panose="02040503050406030204" pitchFamily="18" charset="0"/>
                                    </a:rPr>
                                  </m:ctrlPr>
                                </m:sSupPr>
                                <m:e>
                                  <m:r>
                                    <a:rPr lang="zh-CN" altLang="en-US" sz="1600" b="1" i="1">
                                      <a:solidFill>
                                        <a:srgbClr val="FF0000"/>
                                      </a:solidFill>
                                      <a:latin typeface="Cambria Math" panose="02040503050406030204" pitchFamily="18" charset="0"/>
                                    </a:rPr>
                                    <m:t>𝒎</m:t>
                                  </m:r>
                                </m:e>
                                <m:sup>
                                  <m:r>
                                    <a:rPr lang="zh-CN" altLang="en-US" sz="1600" b="1" i="0">
                                      <a:solidFill>
                                        <a:srgbClr val="FF0000"/>
                                      </a:solidFill>
                                      <a:latin typeface="Cambria Math" panose="02040503050406030204" pitchFamily="18" charset="0"/>
                                    </a:rPr>
                                    <m:t>𝟐</m:t>
                                  </m:r>
                                </m:sup>
                              </m:sSup>
                              <m:r>
                                <a:rPr lang="zh-CN" altLang="en-US" sz="1600" b="1" i="0">
                                  <a:solidFill>
                                    <a:srgbClr val="FF0000"/>
                                  </a:solidFill>
                                  <a:latin typeface="Cambria Math" panose="02040503050406030204" pitchFamily="18" charset="0"/>
                                </a:rPr>
                                <m:t>+</m:t>
                              </m:r>
                              <m:sSup>
                                <m:sSupPr>
                                  <m:ctrlPr>
                                    <a:rPr lang="zh-CN" altLang="en-US" sz="1600" b="1" i="1">
                                      <a:solidFill>
                                        <a:srgbClr val="FF0000"/>
                                      </a:solidFill>
                                      <a:latin typeface="Cambria Math" panose="02040503050406030204" pitchFamily="18" charset="0"/>
                                    </a:rPr>
                                  </m:ctrlPr>
                                </m:sSupPr>
                                <m:e>
                                  <m:r>
                                    <a:rPr lang="zh-CN" altLang="en-US" sz="1600" b="1" i="1">
                                      <a:solidFill>
                                        <a:srgbClr val="FF0000"/>
                                      </a:solidFill>
                                      <a:latin typeface="Cambria Math" panose="02040503050406030204" pitchFamily="18" charset="0"/>
                                    </a:rPr>
                                    <m:t>𝒏</m:t>
                                  </m:r>
                                </m:e>
                                <m:sup>
                                  <m:r>
                                    <a:rPr lang="zh-CN" altLang="en-US" sz="1600" b="1" i="0">
                                      <a:solidFill>
                                        <a:srgbClr val="FF0000"/>
                                      </a:solidFill>
                                      <a:latin typeface="Cambria Math" panose="02040503050406030204" pitchFamily="18" charset="0"/>
                                    </a:rPr>
                                    <m:t>𝟐</m:t>
                                  </m:r>
                                </m:sup>
                              </m:sSup>
                              <m:r>
                                <a:rPr lang="zh-CN" altLang="en-US" sz="1600" b="1" i="0">
                                  <a:solidFill>
                                    <a:srgbClr val="FF0000"/>
                                  </a:solidFill>
                                  <a:latin typeface="Cambria Math" panose="02040503050406030204" pitchFamily="18" charset="0"/>
                                </a:rPr>
                                <m:t>−</m:t>
                              </m:r>
                              <m:sSup>
                                <m:sSupPr>
                                  <m:ctrlPr>
                                    <a:rPr lang="zh-CN" altLang="en-US" sz="1600" b="1" i="1">
                                      <a:solidFill>
                                        <a:srgbClr val="FF0000"/>
                                      </a:solidFill>
                                      <a:latin typeface="Cambria Math" panose="02040503050406030204" pitchFamily="18" charset="0"/>
                                    </a:rPr>
                                  </m:ctrlPr>
                                </m:sSupPr>
                                <m:e>
                                  <m:sSub>
                                    <m:sSubPr>
                                      <m:ctrlPr>
                                        <a:rPr lang="zh-CN" altLang="en-US" sz="1600" b="1" i="1">
                                          <a:solidFill>
                                            <a:srgbClr val="FF0000"/>
                                          </a:solidFill>
                                          <a:latin typeface="Cambria Math" panose="02040503050406030204" pitchFamily="18" charset="0"/>
                                        </a:rPr>
                                      </m:ctrlPr>
                                    </m:sSubPr>
                                    <m:e>
                                      <m:r>
                                        <a:rPr lang="zh-CN" altLang="en-US" sz="1600" b="1" i="1">
                                          <a:solidFill>
                                            <a:srgbClr val="FF0000"/>
                                          </a:solidFill>
                                          <a:latin typeface="Cambria Math" panose="02040503050406030204" pitchFamily="18" charset="0"/>
                                        </a:rPr>
                                        <m:t>𝒅</m:t>
                                      </m:r>
                                    </m:e>
                                    <m:sub>
                                      <m:r>
                                        <a:rPr lang="zh-CN" altLang="en-US" sz="1600" b="1" i="0">
                                          <a:solidFill>
                                            <a:srgbClr val="FF0000"/>
                                          </a:solidFill>
                                          <a:latin typeface="Cambria Math" panose="02040503050406030204" pitchFamily="18" charset="0"/>
                                        </a:rPr>
                                        <m:t>𝟒</m:t>
                                      </m:r>
                                    </m:sub>
                                  </m:sSub>
                                </m:e>
                                <m:sup>
                                  <m:r>
                                    <a:rPr lang="zh-CN" altLang="en-US" sz="1600" b="1" i="0">
                                      <a:solidFill>
                                        <a:srgbClr val="FF0000"/>
                                      </a:solidFill>
                                      <a:latin typeface="Cambria Math" panose="02040503050406030204" pitchFamily="18" charset="0"/>
                                    </a:rPr>
                                    <m:t>𝟐</m:t>
                                  </m:r>
                                </m:sup>
                              </m:sSup>
                            </m:e>
                          </m:rad>
                        </m:e>
                      </m:d>
                    </m:oMath>
                  </m:oMathPara>
                </a14:m>
                <a:endParaRPr lang="zh-CN" altLang="en-US" sz="1600" b="1" dirty="0">
                  <a:solidFill>
                    <a:srgbClr val="FF0000"/>
                  </a:solidFill>
                </a:endParaRPr>
              </a:p>
            </p:txBody>
          </p:sp>
        </mc:Choice>
        <mc:Fallback xmlns="">
          <p:sp>
            <p:nvSpPr>
              <p:cNvPr id="42" name="矩形 41"/>
              <p:cNvSpPr>
                <a:spLocks noRot="1" noChangeAspect="1" noMove="1" noResize="1" noEditPoints="1" noAdjustHandles="1" noChangeArrowheads="1" noChangeShapeType="1" noTextEdit="1"/>
              </p:cNvSpPr>
              <p:nvPr/>
            </p:nvSpPr>
            <p:spPr>
              <a:xfrm>
                <a:off x="1848300" y="4479035"/>
                <a:ext cx="6138279" cy="655885"/>
              </a:xfrm>
              <a:prstGeom prst="rect">
                <a:avLst/>
              </a:prstGeom>
              <a:blipFill>
                <a:blip r:embed="rId12"/>
                <a:stretch>
                  <a:fillRect/>
                </a:stretch>
              </a:blipFill>
            </p:spPr>
            <p:txBody>
              <a:bodyPr/>
              <a:lstStyle/>
              <a:p>
                <a:r>
                  <a:rPr lang="zh-CN" altLang="en-US">
                    <a:noFill/>
                  </a:rPr>
                  <a:t> </a:t>
                </a:r>
              </a:p>
            </p:txBody>
          </p:sp>
        </mc:Fallback>
      </mc:AlternateContent>
      <p:sp>
        <p:nvSpPr>
          <p:cNvPr id="43" name="十字星 42"/>
          <p:cNvSpPr/>
          <p:nvPr/>
        </p:nvSpPr>
        <p:spPr>
          <a:xfrm>
            <a:off x="1989148" y="4622280"/>
            <a:ext cx="377978" cy="360040"/>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0460048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Inverse Kinematics of 6R </a:t>
              </a:r>
              <a:r>
                <a:rPr lang="en-US" altLang="zh-CN" sz="1000" dirty="0">
                  <a:latin typeface="Arial" panose="020B0604020202020204" pitchFamily="34" charset="0"/>
                  <a:ea typeface="微软雅黑" panose="020B0503020204020204" charset="-122"/>
                  <a:sym typeface="+mn-ea"/>
                </a:rPr>
                <a:t>S</a:t>
              </a:r>
              <a:r>
                <a:rPr lang="en-US" altLang="zh-CN" sz="1000" dirty="0" smtClean="0">
                  <a:latin typeface="Arial" panose="020B0604020202020204" pitchFamily="34" charset="0"/>
                  <a:ea typeface="微软雅黑" panose="020B0503020204020204" charset="-122"/>
                  <a:sym typeface="+mn-ea"/>
                </a:rPr>
                <a:t>erial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6R</a:t>
              </a:r>
              <a:r>
                <a:rPr lang="zh-CN" altLang="en-US" sz="2000" b="1" dirty="0">
                  <a:latin typeface="Arial" panose="020B0604020202020204" pitchFamily="34" charset="0"/>
                  <a:ea typeface="微软雅黑" panose="020B0503020204020204" charset="-122"/>
                  <a:sym typeface="+mn-ea"/>
                </a:rPr>
                <a:t>串联机器人逆运动学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p:nvSpPr>
        <p:spPr>
          <a:xfrm>
            <a:off x="2178137" y="803488"/>
            <a:ext cx="4999115" cy="400110"/>
          </a:xfrm>
          <a:prstGeom prst="rect">
            <a:avLst/>
          </a:prstGeom>
        </p:spPr>
        <p:txBody>
          <a:bodyPr wrap="square">
            <a:spAutoFit/>
          </a:bodyPr>
          <a:lstStyle/>
          <a:p>
            <a:r>
              <a:rPr lang="zh-CN" altLang="en-US" sz="2000" b="1" dirty="0">
                <a:solidFill>
                  <a:srgbClr val="002060"/>
                </a:solidFill>
              </a:rPr>
              <a:t>满足Pieper准则的解析解求</a:t>
            </a:r>
            <a:r>
              <a:rPr lang="zh-CN" altLang="en-US" sz="2000" b="1" dirty="0" smtClean="0">
                <a:solidFill>
                  <a:srgbClr val="002060"/>
                </a:solidFill>
              </a:rPr>
              <a:t>法</a:t>
            </a:r>
            <a:r>
              <a:rPr lang="en-US" altLang="zh-CN" sz="2000" b="1" dirty="0">
                <a:solidFill>
                  <a:srgbClr val="002060"/>
                </a:solidFill>
              </a:rPr>
              <a:t>(</a:t>
            </a:r>
            <a:r>
              <a:rPr lang="zh-CN" altLang="en-US" sz="2000" b="1" dirty="0">
                <a:solidFill>
                  <a:srgbClr val="002060"/>
                </a:solidFill>
              </a:rPr>
              <a:t>实例讲解</a:t>
            </a:r>
            <a:r>
              <a:rPr lang="en-US" altLang="zh-CN" sz="2000" b="1" dirty="0" smtClean="0">
                <a:solidFill>
                  <a:srgbClr val="002060"/>
                </a:solidFill>
              </a:rPr>
              <a:t>)</a:t>
            </a:r>
            <a:endParaRPr lang="zh-CN" altLang="en-US" sz="2000" b="1" dirty="0">
              <a:solidFill>
                <a:srgbClr val="002060"/>
              </a:solidFill>
            </a:endParaRPr>
          </a:p>
        </p:txBody>
      </p:sp>
      <p:sp>
        <p:nvSpPr>
          <p:cNvPr id="20" name="形状"/>
          <p:cNvSpPr/>
          <p:nvPr>
            <p:custDataLst>
              <p:tags r:id="rId1"/>
            </p:custDataLst>
          </p:nvPr>
        </p:nvSpPr>
        <p:spPr>
          <a:xfrm>
            <a:off x="365396" y="1406550"/>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2" name="矩形 21"/>
          <p:cNvSpPr/>
          <p:nvPr/>
        </p:nvSpPr>
        <p:spPr>
          <a:xfrm>
            <a:off x="682355" y="1387024"/>
            <a:ext cx="763351" cy="369332"/>
          </a:xfrm>
          <a:prstGeom prst="rect">
            <a:avLst/>
          </a:prstGeom>
        </p:spPr>
        <p:txBody>
          <a:bodyPr wrap="none">
            <a:spAutoFit/>
          </a:bodyPr>
          <a:lstStyle/>
          <a:p>
            <a:r>
              <a:rPr lang="zh-CN" altLang="en-US" b="1" dirty="0" smtClean="0">
                <a:solidFill>
                  <a:srgbClr val="002060"/>
                </a:solidFill>
              </a:rPr>
              <a:t>第</a:t>
            </a:r>
            <a:r>
              <a:rPr lang="en-US" altLang="zh-CN" b="1" dirty="0" smtClean="0">
                <a:solidFill>
                  <a:srgbClr val="002060"/>
                </a:solidFill>
              </a:rPr>
              <a:t>3</a:t>
            </a:r>
            <a:r>
              <a:rPr lang="zh-CN" altLang="en-US" b="1" dirty="0" smtClean="0">
                <a:solidFill>
                  <a:srgbClr val="002060"/>
                </a:solidFill>
              </a:rPr>
              <a:t>步</a:t>
            </a:r>
            <a:endParaRPr lang="zh-CN" altLang="en-US" b="1" dirty="0">
              <a:solidFill>
                <a:srgbClr val="002060"/>
              </a:solidFill>
            </a:endParaRPr>
          </a:p>
        </p:txBody>
      </p:sp>
      <mc:AlternateContent xmlns:mc="http://schemas.openxmlformats.org/markup-compatibility/2006" xmlns:a14="http://schemas.microsoft.com/office/drawing/2010/main">
        <mc:Choice Requires="a14">
          <p:sp>
            <p:nvSpPr>
              <p:cNvPr id="2" name="矩形 1"/>
              <p:cNvSpPr/>
              <p:nvPr/>
            </p:nvSpPr>
            <p:spPr>
              <a:xfrm>
                <a:off x="1944001" y="1377801"/>
                <a:ext cx="5926431" cy="338554"/>
              </a:xfrm>
              <a:prstGeom prst="rect">
                <a:avLst/>
              </a:prstGeom>
            </p:spPr>
            <p:txBody>
              <a:bodyPr wrap="none">
                <a:spAutoFit/>
              </a:bodyPr>
              <a:lstStyle/>
              <a:p>
                <a:r>
                  <a:rPr lang="zh-CN" altLang="zh-CN" sz="1600" dirty="0" smtClean="0">
                    <a:ea typeface="等线" panose="02010600030101010101" pitchFamily="2" charset="-122"/>
                    <a:cs typeface="Times New Roman" panose="02020603050405020304" pitchFamily="18" charset="0"/>
                  </a:rPr>
                  <a:t>观察</a:t>
                </a:r>
                <a:r>
                  <a:rPr lang="zh-CN" altLang="en-US" sz="1600" dirty="0" smtClean="0">
                    <a:ea typeface="等线" panose="02010600030101010101" pitchFamily="2" charset="-122"/>
                    <a:cs typeface="Times New Roman" panose="02020603050405020304" pitchFamily="18" charset="0"/>
                  </a:rPr>
                  <a:t>等式两边</a:t>
                </a:r>
                <a:r>
                  <a:rPr lang="zh-CN" altLang="zh-CN" sz="1600" dirty="0" smtClean="0">
                    <a:ea typeface="等线" panose="02010600030101010101" pitchFamily="2" charset="-122"/>
                    <a:cs typeface="Times New Roman" panose="02020603050405020304" pitchFamily="18" charset="0"/>
                  </a:rPr>
                  <a:t>，</a:t>
                </a:r>
                <a:r>
                  <a:rPr lang="zh-CN" altLang="zh-CN" sz="1600" dirty="0">
                    <a:ea typeface="等线" panose="02010600030101010101" pitchFamily="2" charset="-122"/>
                    <a:cs typeface="Times New Roman" panose="02020603050405020304" pitchFamily="18" charset="0"/>
                  </a:rPr>
                  <a:t>解出</a:t>
                </a:r>
                <a14:m>
                  <m:oMath xmlns:m="http://schemas.openxmlformats.org/officeDocument/2006/math">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1</m:t>
                        </m:r>
                      </m:sub>
                    </m:sSub>
                  </m:oMath>
                </a14:m>
                <a:r>
                  <a:rPr lang="zh-CN" altLang="zh-CN" sz="1600" dirty="0" smtClean="0">
                    <a:ea typeface="等线" panose="02010600030101010101" pitchFamily="2" charset="-122"/>
                    <a:cs typeface="Times New Roman" panose="02020603050405020304" pitchFamily="18" charset="0"/>
                  </a:rPr>
                  <a:t>后</a:t>
                </a:r>
                <a:r>
                  <a:rPr lang="zh-CN" altLang="en-US" sz="1600" dirty="0" smtClean="0">
                    <a:ea typeface="等线" panose="02010600030101010101" pitchFamily="2" charset="-122"/>
                    <a:cs typeface="Times New Roman" panose="02020603050405020304" pitchFamily="18" charset="0"/>
                  </a:rPr>
                  <a:t>，还有那一项可以单独先求出（</a:t>
                </a:r>
                <a:r>
                  <a:rPr lang="en-US" altLang="zh-CN" sz="1600" dirty="0" smtClean="0">
                    <a:ea typeface="等线" panose="02010600030101010101" pitchFamily="2" charset="-122"/>
                    <a:cs typeface="Times New Roman" panose="02020603050405020304" pitchFamily="18" charset="0"/>
                  </a:rPr>
                  <a:t>2</a:t>
                </a:r>
                <a:r>
                  <a:rPr lang="zh-CN" altLang="en-US" sz="1600" dirty="0" smtClean="0">
                    <a:ea typeface="等线" panose="02010600030101010101" pitchFamily="2" charset="-122"/>
                    <a:cs typeface="Times New Roman" panose="02020603050405020304" pitchFamily="18" charset="0"/>
                  </a:rPr>
                  <a:t>，</a:t>
                </a:r>
                <a:r>
                  <a:rPr lang="en-US" altLang="zh-CN" sz="1600" dirty="0" smtClean="0">
                    <a:ea typeface="等线" panose="02010600030101010101" pitchFamily="2" charset="-122"/>
                    <a:cs typeface="Times New Roman" panose="02020603050405020304" pitchFamily="18" charset="0"/>
                  </a:rPr>
                  <a:t>2</a:t>
                </a:r>
                <a:r>
                  <a:rPr lang="zh-CN" altLang="en-US" sz="1600" dirty="0" smtClean="0">
                    <a:ea typeface="等线" panose="02010600030101010101" pitchFamily="2" charset="-122"/>
                    <a:cs typeface="Times New Roman" panose="02020603050405020304" pitchFamily="18" charset="0"/>
                  </a:rPr>
                  <a:t>）</a:t>
                </a:r>
                <a:endParaRPr lang="zh-CN" altLang="en-US" sz="1600" dirty="0"/>
              </a:p>
            </p:txBody>
          </p:sp>
        </mc:Choice>
        <mc:Fallback xmlns="">
          <p:sp>
            <p:nvSpPr>
              <p:cNvPr id="2" name="矩形 1"/>
              <p:cNvSpPr>
                <a:spLocks noRot="1" noChangeAspect="1" noMove="1" noResize="1" noEditPoints="1" noAdjustHandles="1" noChangeArrowheads="1" noChangeShapeType="1" noTextEdit="1"/>
              </p:cNvSpPr>
              <p:nvPr/>
            </p:nvSpPr>
            <p:spPr>
              <a:xfrm>
                <a:off x="1944001" y="1377801"/>
                <a:ext cx="5926431" cy="338554"/>
              </a:xfrm>
              <a:prstGeom prst="rect">
                <a:avLst/>
              </a:prstGeom>
              <a:blipFill>
                <a:blip r:embed="rId4"/>
                <a:stretch>
                  <a:fillRect l="-617" t="-5357" b="-2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矩形 33"/>
              <p:cNvSpPr/>
              <p:nvPr/>
            </p:nvSpPr>
            <p:spPr>
              <a:xfrm>
                <a:off x="77340" y="1735881"/>
                <a:ext cx="9200708" cy="12984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ctrlPr>
                            <a:rPr lang="zh-CN" altLang="en-US" sz="1000" i="1">
                              <a:latin typeface="Cambria Math" panose="02040503050406030204" pitchFamily="18" charset="0"/>
                            </a:rPr>
                          </m:ctrlPr>
                        </m:dPr>
                        <m:e>
                          <m:m>
                            <m:mPr>
                              <m:mcs>
                                <m:mc>
                                  <m:mcPr>
                                    <m:count m:val="2"/>
                                    <m:mcJc m:val="center"/>
                                  </m:mcPr>
                                </m:mc>
                              </m:mcs>
                              <m:ctrlPr>
                                <a:rPr lang="zh-CN" altLang="en-US" sz="1000" i="1">
                                  <a:latin typeface="Cambria Math" panose="02040503050406030204" pitchFamily="18" charset="0"/>
                                </a:rPr>
                              </m:ctrlPr>
                            </m:mPr>
                            <m:mr>
                              <m:e>
                                <m:m>
                                  <m:mPr>
                                    <m:mcs>
                                      <m:mc>
                                        <m:mcPr>
                                          <m:count m:val="2"/>
                                          <m:mcJc m:val="center"/>
                                        </m:mcPr>
                                      </m:mc>
                                    </m:mcs>
                                    <m:ctrlPr>
                                      <a:rPr lang="zh-CN" altLang="en-US" sz="1000" i="1">
                                        <a:latin typeface="Cambria Math" panose="02040503050406030204" pitchFamily="18" charset="0"/>
                                      </a:rPr>
                                    </m:ctrlPr>
                                  </m:mPr>
                                  <m:mr>
                                    <m:e>
                                      <m:d>
                                        <m:dPr>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e>
                                      </m:d>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6</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6</m:t>
                                          </m:r>
                                        </m:sub>
                                      </m:sSub>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e>
                                  </m:mr>
                                  <m:mr>
                                    <m:e>
                                      <m:d>
                                        <m:dPr>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e>
                                      </m:d>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6</m:t>
                                          </m:r>
                                        </m:sub>
                                      </m:sSub>
                                      <m:r>
                                        <a:rPr lang="zh-CN" altLang="en-US" sz="1000" i="0">
                                          <a:latin typeface="Cambria Math" panose="02040503050406030204" pitchFamily="18" charset="0"/>
                                        </a:rPr>
                                        <m:t>−</m:t>
                                      </m:r>
                                      <m:d>
                                        <m:dPr>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e>
                                      </m:d>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6</m:t>
                                          </m:r>
                                        </m:sub>
                                      </m:sSub>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23</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13</m:t>
                                          </m:r>
                                        </m:sub>
                                      </m:sSub>
                                    </m:e>
                                  </m:mr>
                                </m:m>
                              </m:e>
                              <m:e>
                                <m:m>
                                  <m:mPr>
                                    <m:mcs>
                                      <m:mc>
                                        <m:mcPr>
                                          <m:count m:val="2"/>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6</m:t>
                                          </m:r>
                                        </m:sub>
                                      </m:sSub>
                                      <m:r>
                                        <a:rPr lang="zh-CN" altLang="en-US" sz="1000" i="0">
                                          <a:latin typeface="Cambria Math" panose="02040503050406030204" pitchFamily="18" charset="0"/>
                                        </a:rPr>
                                        <m:t>−</m:t>
                                      </m:r>
                                      <m:d>
                                        <m:dPr>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e>
                                      </m:d>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6</m:t>
                                          </m:r>
                                        </m:sub>
                                      </m:sSub>
                                    </m:e>
                                    <m:e>
                                      <m:d>
                                        <m:dPr>
                                          <m:begChr m:val=""/>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𝑑</m:t>
                                              </m:r>
                                            </m:e>
                                            <m:sub>
                                              <m:r>
                                                <a:rPr lang="zh-CN" altLang="en-US" sz="1000" i="0">
                                                  <a:latin typeface="Cambria Math" panose="02040503050406030204" pitchFamily="18" charset="0"/>
                                                </a:rPr>
                                                <m:t>6</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e>
                                      </m:d>
                                    </m:e>
                                  </m:mr>
                                  <m:mr>
                                    <m:e>
                                      <m:d>
                                        <m:dPr>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e>
                                      </m:d>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6</m:t>
                                          </m:r>
                                        </m:sub>
                                      </m:sSub>
                                      <m:r>
                                        <a:rPr lang="zh-CN" altLang="en-US" sz="1000" i="0">
                                          <a:latin typeface="Cambria Math" panose="02040503050406030204" pitchFamily="18" charset="0"/>
                                        </a:rPr>
                                        <m:t>+</m:t>
                                      </m:r>
                                      <m:d>
                                        <m:dPr>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e>
                                      </m:d>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6</m:t>
                                          </m:r>
                                        </m:sub>
                                      </m:sSub>
                                    </m:e>
                                    <m:e>
                                      <m:d>
                                        <m:dPr>
                                          <m:begChr m:val=""/>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𝑝</m:t>
                                              </m:r>
                                            </m:e>
                                            <m:sub>
                                              <m:r>
                                                <a:rPr lang="zh-CN" altLang="en-US" sz="1000" i="1">
                                                  <a:latin typeface="Cambria Math" panose="02040503050406030204" pitchFamily="18" charset="0"/>
                                                </a:rPr>
                                                <m:t>𝑦</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𝑝</m:t>
                                              </m:r>
                                            </m:e>
                                            <m:sub>
                                              <m:r>
                                                <a:rPr lang="zh-CN" altLang="en-US" sz="1000" i="1">
                                                  <a:latin typeface="Cambria Math" panose="02040503050406030204" pitchFamily="18" charset="0"/>
                                                </a:rPr>
                                                <m:t>𝑥</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0">
                                                  <a:latin typeface="Cambria Math" panose="02040503050406030204" pitchFamily="18" charset="0"/>
                                                </a:rPr>
                                                <m:t>6</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13</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23</m:t>
                                              </m:r>
                                            </m:sub>
                                          </m:sSub>
                                        </m:e>
                                      </m:d>
                                    </m:e>
                                  </m:mr>
                                </m:m>
                              </m:e>
                            </m:mr>
                            <m:mr>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31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6</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32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6</m:t>
                                          </m:r>
                                        </m:sub>
                                      </m:sSub>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33</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
                              </m:e>
                              <m:e>
                                <m:m>
                                  <m:mPr>
                                    <m:mcs>
                                      <m:mc>
                                        <m:mcPr>
                                          <m:count m:val="2"/>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31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6</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32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6</m:t>
                                          </m:r>
                                        </m:sub>
                                      </m:sSub>
                                    </m:e>
                                    <m:e>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𝑑</m:t>
                                          </m:r>
                                        </m:e>
                                        <m:sub>
                                          <m:r>
                                            <a:rPr lang="zh-CN" altLang="en-US" sz="1000" i="0">
                                              <a:latin typeface="Cambria Math" panose="02040503050406030204" pitchFamily="18" charset="0"/>
                                            </a:rPr>
                                            <m:t>6</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33</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𝑝</m:t>
                                          </m:r>
                                        </m:e>
                                        <m:sub>
                                          <m:r>
                                            <a:rPr lang="zh-CN" altLang="en-US" sz="1000" i="1">
                                              <a:latin typeface="Cambria Math" panose="02040503050406030204" pitchFamily="18" charset="0"/>
                                            </a:rPr>
                                            <m:t>𝑧</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0">
                                              <a:latin typeface="Cambria Math" panose="02040503050406030204" pitchFamily="18" charset="0"/>
                                            </a:rPr>
                                            <m:t>1</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1</m:t>
                                      </m:r>
                                    </m:e>
                                  </m:mr>
                                </m:m>
                              </m:e>
                            </m:mr>
                          </m:m>
                        </m:e>
                      </m:d>
                      <m:r>
                        <a:rPr lang="zh-CN" altLang="en-US" sz="1000" i="0">
                          <a:latin typeface="Cambria Math" panose="02040503050406030204" pitchFamily="18" charset="0"/>
                        </a:rPr>
                        <m:t>=</m:t>
                      </m:r>
                      <m:d>
                        <m:dPr>
                          <m:ctrlPr>
                            <a:rPr lang="zh-CN" altLang="en-US" sz="1000" i="1">
                              <a:latin typeface="Cambria Math" panose="02040503050406030204" pitchFamily="18" charset="0"/>
                            </a:rPr>
                          </m:ctrlPr>
                        </m:dPr>
                        <m:e>
                          <m:m>
                            <m:mPr>
                              <m:mcs>
                                <m:mc>
                                  <m:mcPr>
                                    <m:count m:val="2"/>
                                    <m:mcJc m:val="center"/>
                                  </m:mcPr>
                                </m:mc>
                              </m:mcs>
                              <m:ctrlPr>
                                <a:rPr lang="zh-CN" altLang="en-US" sz="1000" i="1">
                                  <a:latin typeface="Cambria Math" panose="02040503050406030204" pitchFamily="18" charset="0"/>
                                </a:rPr>
                              </m:ctrlPr>
                            </m:mPr>
                            <m:mr>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234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5</m:t>
                                          </m:r>
                                        </m:sub>
                                      </m:sSub>
                                    </m:e>
                                    <m:e>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𝐶</m:t>
                                          </m:r>
                                        </m:e>
                                        <m:sub>
                                          <m:r>
                                            <a:rPr lang="zh-CN" altLang="en-US" sz="1000" i="0">
                                              <a:latin typeface="Cambria Math" panose="02040503050406030204" pitchFamily="18" charset="0"/>
                                            </a:rPr>
                                            <m:t>234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5</m:t>
                                          </m:r>
                                        </m:sub>
                                      </m:sSub>
                                    </m:e>
                                  </m:mr>
                                  <m:mr>
                                    <m:e>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𝑆</m:t>
                                          </m:r>
                                        </m:e>
                                        <m:sub>
                                          <m:r>
                                            <a:rPr lang="zh-CN" altLang="en-US" sz="1000" i="0">
                                              <a:latin typeface="Cambria Math" panose="02040503050406030204" pitchFamily="18" charset="0"/>
                                            </a:rPr>
                                            <m:t>5</m:t>
                                          </m:r>
                                        </m:sub>
                                      </m:sSub>
                                    </m:e>
                                    <m:e>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𝐶</m:t>
                                          </m:r>
                                        </m:e>
                                        <m:sub>
                                          <m:r>
                                            <a:rPr lang="zh-CN" altLang="en-US" sz="1000" i="0">
                                              <a:latin typeface="Cambria Math" panose="02040503050406030204" pitchFamily="18" charset="0"/>
                                            </a:rPr>
                                            <m:t>5</m:t>
                                          </m:r>
                                        </m:sub>
                                      </m:sSub>
                                    </m:e>
                                  </m:mr>
                                </m:m>
                              </m:e>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234</m:t>
                                          </m:r>
                                        </m:sub>
                                      </m:sSub>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𝑎</m:t>
                                          </m:r>
                                        </m:e>
                                        <m:sub>
                                          <m:r>
                                            <a:rPr lang="zh-CN" altLang="en-US" sz="1000" i="0">
                                              <a:latin typeface="Cambria Math" panose="02040503050406030204" pitchFamily="18" charset="0"/>
                                            </a:rPr>
                                            <m:t>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23</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0">
                                              <a:latin typeface="Cambria Math" panose="02040503050406030204" pitchFamily="18" charset="0"/>
                                            </a:rPr>
                                            <m:t>5</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234</m:t>
                                          </m:r>
                                        </m:sub>
                                      </m:sSub>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𝑎</m:t>
                                          </m:r>
                                        </m:e>
                                        <m:sub>
                                          <m:r>
                                            <a:rPr lang="zh-CN" altLang="en-US" sz="1000" i="0">
                                              <a:latin typeface="Cambria Math" panose="02040503050406030204" pitchFamily="18" charset="0"/>
                                            </a:rPr>
                                            <m:t>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0">
                                              <a:latin typeface="Cambria Math" panose="02040503050406030204" pitchFamily="18" charset="0"/>
                                            </a:rPr>
                                            <m:t>4</m:t>
                                          </m:r>
                                        </m:sub>
                                      </m:sSub>
                                    </m:e>
                                  </m:mr>
                                </m:m>
                              </m:e>
                            </m:mr>
                            <m:mr>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234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5</m:t>
                                          </m:r>
                                        </m:sub>
                                      </m:sSub>
                                    </m:e>
                                    <m:e>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𝑆</m:t>
                                          </m:r>
                                        </m:e>
                                        <m:sub>
                                          <m:r>
                                            <a:rPr lang="zh-CN" altLang="en-US" sz="1000" i="0">
                                              <a:latin typeface="Cambria Math" panose="02040503050406030204" pitchFamily="18" charset="0"/>
                                            </a:rPr>
                                            <m:t>234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5</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
                              </m:e>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𝐶</m:t>
                                          </m:r>
                                        </m:e>
                                        <m:sub>
                                          <m:r>
                                            <a:rPr lang="zh-CN" altLang="en-US" sz="1000" i="0">
                                              <a:latin typeface="Cambria Math" panose="02040503050406030204" pitchFamily="18" charset="0"/>
                                            </a:rPr>
                                            <m:t>234</m:t>
                                          </m:r>
                                        </m:sub>
                                      </m:sSub>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𝑎</m:t>
                                          </m:r>
                                        </m:e>
                                        <m:sub>
                                          <m:r>
                                            <a:rPr lang="zh-CN" altLang="en-US" sz="1000" i="0">
                                              <a:latin typeface="Cambria Math" panose="02040503050406030204" pitchFamily="18" charset="0"/>
                                            </a:rPr>
                                            <m:t>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23</m:t>
                                          </m:r>
                                        </m:sub>
                                      </m:sSub>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𝑎</m:t>
                                          </m:r>
                                        </m:e>
                                        <m:sub>
                                          <m:r>
                                            <a:rPr lang="zh-CN" altLang="en-US" sz="1000" i="0">
                                              <a:latin typeface="Cambria Math" panose="02040503050406030204" pitchFamily="18" charset="0"/>
                                            </a:rPr>
                                            <m:t>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0">
                                              <a:latin typeface="Cambria Math" panose="02040503050406030204" pitchFamily="18" charset="0"/>
                                            </a:rPr>
                                            <m:t>5</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234</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1</m:t>
                                      </m:r>
                                    </m:e>
                                  </m:mr>
                                </m:m>
                              </m:e>
                            </m:mr>
                          </m:m>
                        </m:e>
                      </m:d>
                    </m:oMath>
                  </m:oMathPara>
                </a14:m>
                <a:endParaRPr lang="zh-CN" altLang="en-US" sz="1000" dirty="0"/>
              </a:p>
            </p:txBody>
          </p:sp>
        </mc:Choice>
        <mc:Fallback xmlns="">
          <p:sp>
            <p:nvSpPr>
              <p:cNvPr id="34" name="矩形 33"/>
              <p:cNvSpPr>
                <a:spLocks noRot="1" noChangeAspect="1" noMove="1" noResize="1" noEditPoints="1" noAdjustHandles="1" noChangeArrowheads="1" noChangeShapeType="1" noTextEdit="1"/>
              </p:cNvSpPr>
              <p:nvPr/>
            </p:nvSpPr>
            <p:spPr>
              <a:xfrm>
                <a:off x="77340" y="1735881"/>
                <a:ext cx="9200708" cy="1298432"/>
              </a:xfrm>
              <a:prstGeom prst="rect">
                <a:avLst/>
              </a:prstGeom>
              <a:blipFill>
                <a:blip r:embed="rId5"/>
                <a:stretch>
                  <a:fillRect/>
                </a:stretch>
              </a:blipFill>
            </p:spPr>
            <p:txBody>
              <a:bodyPr/>
              <a:lstStyle/>
              <a:p>
                <a:r>
                  <a:rPr lang="zh-CN" altLang="en-US">
                    <a:noFill/>
                  </a:rPr>
                  <a:t> </a:t>
                </a:r>
              </a:p>
            </p:txBody>
          </p:sp>
        </mc:Fallback>
      </mc:AlternateContent>
      <p:sp>
        <p:nvSpPr>
          <p:cNvPr id="3" name="圆角矩形 2"/>
          <p:cNvSpPr/>
          <p:nvPr/>
        </p:nvSpPr>
        <p:spPr>
          <a:xfrm>
            <a:off x="3275856" y="1977583"/>
            <a:ext cx="792088" cy="14401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a:off x="1835696" y="2571750"/>
            <a:ext cx="360040" cy="14401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8" name="矩形 7"/>
              <p:cNvSpPr/>
              <p:nvPr/>
            </p:nvSpPr>
            <p:spPr>
              <a:xfrm>
                <a:off x="3285137" y="3273524"/>
                <a:ext cx="200984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b="1" i="1" smtClean="0">
                              <a:solidFill>
                                <a:srgbClr val="002060"/>
                              </a:solidFill>
                              <a:latin typeface="Cambria Math" panose="02040503050406030204" pitchFamily="18" charset="0"/>
                            </a:rPr>
                          </m:ctrlPr>
                        </m:sSubPr>
                        <m:e>
                          <m:sSub>
                            <m:sSubPr>
                              <m:ctrlPr>
                                <a:rPr lang="zh-CN" altLang="en-US" sz="1600" b="1" i="1">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𝒓</m:t>
                              </m:r>
                            </m:e>
                            <m:sub>
                              <m:r>
                                <a:rPr lang="zh-CN" altLang="en-US" sz="1600" b="1" i="0">
                                  <a:solidFill>
                                    <a:srgbClr val="002060"/>
                                  </a:solidFill>
                                  <a:latin typeface="Cambria Math" panose="02040503050406030204" pitchFamily="18" charset="0"/>
                                </a:rPr>
                                <m:t>𝟏𝟑</m:t>
                              </m:r>
                            </m:sub>
                          </m:sSub>
                          <m:r>
                            <a:rPr lang="zh-CN" altLang="en-US" sz="1600" b="1" i="1">
                              <a:solidFill>
                                <a:srgbClr val="002060"/>
                              </a:solidFill>
                              <a:latin typeface="Cambria Math" panose="02040503050406030204" pitchFamily="18" charset="0"/>
                            </a:rPr>
                            <m:t>𝑺</m:t>
                          </m:r>
                        </m:e>
                        <m:sub>
                          <m:r>
                            <a:rPr lang="zh-CN" altLang="en-US" sz="1600" b="1" i="0">
                              <a:solidFill>
                                <a:srgbClr val="002060"/>
                              </a:solidFill>
                              <a:latin typeface="Cambria Math" panose="02040503050406030204" pitchFamily="18" charset="0"/>
                            </a:rPr>
                            <m:t>𝟏</m:t>
                          </m:r>
                        </m:sub>
                      </m:sSub>
                      <m:r>
                        <a:rPr lang="zh-CN" altLang="en-US" sz="1600" b="1" i="0">
                          <a:solidFill>
                            <a:srgbClr val="002060"/>
                          </a:solidFill>
                          <a:latin typeface="Cambria Math" panose="02040503050406030204" pitchFamily="18" charset="0"/>
                        </a:rPr>
                        <m:t>−</m:t>
                      </m:r>
                      <m:sSub>
                        <m:sSubPr>
                          <m:ctrlPr>
                            <a:rPr lang="zh-CN" altLang="en-US" sz="1600" b="1" i="1">
                              <a:solidFill>
                                <a:srgbClr val="002060"/>
                              </a:solidFill>
                              <a:latin typeface="Cambria Math" panose="02040503050406030204" pitchFamily="18" charset="0"/>
                            </a:rPr>
                          </m:ctrlPr>
                        </m:sSubPr>
                        <m:e>
                          <m:sSub>
                            <m:sSubPr>
                              <m:ctrlPr>
                                <a:rPr lang="zh-CN" altLang="en-US" sz="1600" b="1" i="1">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𝒓</m:t>
                              </m:r>
                            </m:e>
                            <m:sub>
                              <m:r>
                                <a:rPr lang="zh-CN" altLang="en-US" sz="1600" b="1" i="0">
                                  <a:solidFill>
                                    <a:srgbClr val="002060"/>
                                  </a:solidFill>
                                  <a:latin typeface="Cambria Math" panose="02040503050406030204" pitchFamily="18" charset="0"/>
                                </a:rPr>
                                <m:t>𝟐𝟑</m:t>
                              </m:r>
                            </m:sub>
                          </m:sSub>
                          <m:r>
                            <a:rPr lang="zh-CN" altLang="en-US" sz="1600" b="1" i="1">
                              <a:solidFill>
                                <a:srgbClr val="002060"/>
                              </a:solidFill>
                              <a:latin typeface="Cambria Math" panose="02040503050406030204" pitchFamily="18" charset="0"/>
                            </a:rPr>
                            <m:t>𝑪</m:t>
                          </m:r>
                        </m:e>
                        <m:sub>
                          <m:r>
                            <a:rPr lang="zh-CN" altLang="en-US" sz="1600" b="1" i="0">
                              <a:solidFill>
                                <a:srgbClr val="002060"/>
                              </a:solidFill>
                              <a:latin typeface="Cambria Math" panose="02040503050406030204" pitchFamily="18" charset="0"/>
                            </a:rPr>
                            <m:t>𝟏</m:t>
                          </m:r>
                        </m:sub>
                      </m:sSub>
                      <m:r>
                        <a:rPr lang="zh-CN" altLang="en-US" sz="1600" b="1" i="0">
                          <a:solidFill>
                            <a:srgbClr val="002060"/>
                          </a:solidFill>
                          <a:latin typeface="Cambria Math" panose="02040503050406030204" pitchFamily="18" charset="0"/>
                        </a:rPr>
                        <m:t>=</m:t>
                      </m:r>
                      <m:sSub>
                        <m:sSubPr>
                          <m:ctrlPr>
                            <a:rPr lang="zh-CN" altLang="en-US" sz="1600" b="1" i="1">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𝑪</m:t>
                          </m:r>
                        </m:e>
                        <m:sub>
                          <m:r>
                            <a:rPr lang="zh-CN" altLang="en-US" sz="1600" b="1" i="0">
                              <a:solidFill>
                                <a:srgbClr val="002060"/>
                              </a:solidFill>
                              <a:latin typeface="Cambria Math" panose="02040503050406030204" pitchFamily="18" charset="0"/>
                            </a:rPr>
                            <m:t>𝟓</m:t>
                          </m:r>
                        </m:sub>
                      </m:sSub>
                    </m:oMath>
                  </m:oMathPara>
                </a14:m>
                <a:endParaRPr lang="zh-CN" altLang="en-US" sz="1600" b="1" dirty="0">
                  <a:solidFill>
                    <a:srgbClr val="002060"/>
                  </a:solidFill>
                </a:endParaRPr>
              </a:p>
            </p:txBody>
          </p:sp>
        </mc:Choice>
        <mc:Fallback xmlns="">
          <p:sp>
            <p:nvSpPr>
              <p:cNvPr id="8" name="矩形 7"/>
              <p:cNvSpPr>
                <a:spLocks noRot="1" noChangeAspect="1" noMove="1" noResize="1" noEditPoints="1" noAdjustHandles="1" noChangeArrowheads="1" noChangeShapeType="1" noTextEdit="1"/>
              </p:cNvSpPr>
              <p:nvPr/>
            </p:nvSpPr>
            <p:spPr>
              <a:xfrm>
                <a:off x="3285137" y="3273524"/>
                <a:ext cx="2009846" cy="33855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2735294" y="3848928"/>
                <a:ext cx="3028971"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600" b="1" i="1" smtClean="0">
                              <a:solidFill>
                                <a:srgbClr val="002060"/>
                              </a:solidFill>
                              <a:latin typeface="Cambria Math" panose="02040503050406030204" pitchFamily="18" charset="0"/>
                            </a:rPr>
                          </m:ctrlPr>
                        </m:dPr>
                        <m:e>
                          <m:sSub>
                            <m:sSubPr>
                              <m:ctrlPr>
                                <a:rPr lang="zh-CN" altLang="en-US" sz="1600" b="1" i="1">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𝜽</m:t>
                              </m:r>
                            </m:e>
                            <m:sub>
                              <m:r>
                                <a:rPr lang="zh-CN" altLang="en-US" sz="1600" b="1" i="0">
                                  <a:solidFill>
                                    <a:srgbClr val="002060"/>
                                  </a:solidFill>
                                  <a:latin typeface="Cambria Math" panose="02040503050406030204" pitchFamily="18" charset="0"/>
                                </a:rPr>
                                <m:t>𝟓</m:t>
                              </m:r>
                            </m:sub>
                          </m:sSub>
                          <m:r>
                            <a:rPr lang="zh-CN" altLang="en-US" sz="1600" b="1" i="0">
                              <a:solidFill>
                                <a:srgbClr val="002060"/>
                              </a:solidFill>
                              <a:latin typeface="Cambria Math" panose="02040503050406030204" pitchFamily="18" charset="0"/>
                            </a:rPr>
                            <m:t>=±</m:t>
                          </m:r>
                          <m:r>
                            <a:rPr lang="zh-CN" altLang="en-US" sz="1600" b="1" i="0">
                              <a:solidFill>
                                <a:srgbClr val="002060"/>
                              </a:solidFill>
                              <a:latin typeface="Cambria Math" panose="02040503050406030204" pitchFamily="18" charset="0"/>
                            </a:rPr>
                            <m:t>𝐚𝐫𝐜𝐜𝐨</m:t>
                          </m:r>
                          <m:func>
                            <m:funcPr>
                              <m:ctrlPr>
                                <a:rPr lang="zh-CN" altLang="en-US" sz="1600" b="1" i="1">
                                  <a:solidFill>
                                    <a:srgbClr val="002060"/>
                                  </a:solidFill>
                                  <a:latin typeface="Cambria Math" panose="02040503050406030204" pitchFamily="18" charset="0"/>
                                </a:rPr>
                              </m:ctrlPr>
                            </m:funcPr>
                            <m:fName>
                              <m:r>
                                <a:rPr lang="zh-CN" altLang="en-US" sz="1600" b="1" i="0">
                                  <a:solidFill>
                                    <a:srgbClr val="002060"/>
                                  </a:solidFill>
                                  <a:latin typeface="Cambria Math" panose="02040503050406030204" pitchFamily="18" charset="0"/>
                                </a:rPr>
                                <m:t>𝐬</m:t>
                              </m:r>
                            </m:fName>
                            <m:e>
                              <m:r>
                                <a:rPr lang="zh-CN" altLang="en-US" sz="1600" b="1" i="0">
                                  <a:solidFill>
                                    <a:srgbClr val="002060"/>
                                  </a:solidFill>
                                  <a:latin typeface="Cambria Math" panose="02040503050406030204" pitchFamily="18" charset="0"/>
                                </a:rPr>
                                <m:t>(</m:t>
                              </m:r>
                            </m:e>
                          </m:func>
                          <m:sSub>
                            <m:sSubPr>
                              <m:ctrlPr>
                                <a:rPr lang="zh-CN" altLang="en-US" sz="1600" b="1" i="1">
                                  <a:solidFill>
                                    <a:srgbClr val="002060"/>
                                  </a:solidFill>
                                  <a:latin typeface="Cambria Math" panose="02040503050406030204" pitchFamily="18" charset="0"/>
                                </a:rPr>
                              </m:ctrlPr>
                            </m:sSubPr>
                            <m:e>
                              <m:sSub>
                                <m:sSubPr>
                                  <m:ctrlPr>
                                    <a:rPr lang="zh-CN" altLang="en-US" sz="1600" b="1" i="1">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𝒓</m:t>
                                  </m:r>
                                </m:e>
                                <m:sub>
                                  <m:r>
                                    <a:rPr lang="zh-CN" altLang="en-US" sz="1600" b="1" i="0">
                                      <a:solidFill>
                                        <a:srgbClr val="002060"/>
                                      </a:solidFill>
                                      <a:latin typeface="Cambria Math" panose="02040503050406030204" pitchFamily="18" charset="0"/>
                                    </a:rPr>
                                    <m:t>𝟏𝟑</m:t>
                                  </m:r>
                                </m:sub>
                              </m:sSub>
                              <m:r>
                                <a:rPr lang="zh-CN" altLang="en-US" sz="1600" b="1" i="1">
                                  <a:solidFill>
                                    <a:srgbClr val="002060"/>
                                  </a:solidFill>
                                  <a:latin typeface="Cambria Math" panose="02040503050406030204" pitchFamily="18" charset="0"/>
                                </a:rPr>
                                <m:t>𝑺</m:t>
                              </m:r>
                            </m:e>
                            <m:sub>
                              <m:r>
                                <a:rPr lang="zh-CN" altLang="en-US" sz="1600" b="1" i="0">
                                  <a:solidFill>
                                    <a:srgbClr val="002060"/>
                                  </a:solidFill>
                                  <a:latin typeface="Cambria Math" panose="02040503050406030204" pitchFamily="18" charset="0"/>
                                </a:rPr>
                                <m:t>𝟏</m:t>
                              </m:r>
                            </m:sub>
                          </m:sSub>
                          <m:r>
                            <a:rPr lang="zh-CN" altLang="en-US" sz="1600" b="1" i="0">
                              <a:solidFill>
                                <a:srgbClr val="002060"/>
                              </a:solidFill>
                              <a:latin typeface="Cambria Math" panose="02040503050406030204" pitchFamily="18" charset="0"/>
                            </a:rPr>
                            <m:t>−</m:t>
                          </m:r>
                          <m:sSub>
                            <m:sSubPr>
                              <m:ctrlPr>
                                <a:rPr lang="zh-CN" altLang="en-US" sz="1600" b="1" i="1">
                                  <a:solidFill>
                                    <a:srgbClr val="002060"/>
                                  </a:solidFill>
                                  <a:latin typeface="Cambria Math" panose="02040503050406030204" pitchFamily="18" charset="0"/>
                                </a:rPr>
                              </m:ctrlPr>
                            </m:sSubPr>
                            <m:e>
                              <m:sSub>
                                <m:sSubPr>
                                  <m:ctrlPr>
                                    <a:rPr lang="zh-CN" altLang="en-US" sz="1600" b="1" i="1">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𝒓</m:t>
                                  </m:r>
                                </m:e>
                                <m:sub>
                                  <m:r>
                                    <a:rPr lang="zh-CN" altLang="en-US" sz="1600" b="1" i="0">
                                      <a:solidFill>
                                        <a:srgbClr val="002060"/>
                                      </a:solidFill>
                                      <a:latin typeface="Cambria Math" panose="02040503050406030204" pitchFamily="18" charset="0"/>
                                    </a:rPr>
                                    <m:t>𝟐𝟑</m:t>
                                  </m:r>
                                </m:sub>
                              </m:sSub>
                              <m:r>
                                <a:rPr lang="zh-CN" altLang="en-US" sz="1600" b="1" i="1">
                                  <a:solidFill>
                                    <a:srgbClr val="002060"/>
                                  </a:solidFill>
                                  <a:latin typeface="Cambria Math" panose="02040503050406030204" pitchFamily="18" charset="0"/>
                                </a:rPr>
                                <m:t>𝑪</m:t>
                              </m:r>
                            </m:e>
                            <m:sub>
                              <m:r>
                                <a:rPr lang="zh-CN" altLang="en-US" sz="1600" b="1" i="0">
                                  <a:solidFill>
                                    <a:srgbClr val="002060"/>
                                  </a:solidFill>
                                  <a:latin typeface="Cambria Math" panose="02040503050406030204" pitchFamily="18" charset="0"/>
                                </a:rPr>
                                <m:t>𝟏</m:t>
                              </m:r>
                            </m:sub>
                          </m:sSub>
                        </m:e>
                      </m:d>
                    </m:oMath>
                  </m:oMathPara>
                </a14:m>
                <a:endParaRPr lang="zh-CN" altLang="en-US" sz="1600" b="1" dirty="0">
                  <a:solidFill>
                    <a:srgbClr val="002060"/>
                  </a:solidFill>
                </a:endParaRPr>
              </a:p>
            </p:txBody>
          </p:sp>
        </mc:Choice>
        <mc:Fallback xmlns="">
          <p:sp>
            <p:nvSpPr>
              <p:cNvPr id="9" name="矩形 8"/>
              <p:cNvSpPr>
                <a:spLocks noRot="1" noChangeAspect="1" noMove="1" noResize="1" noEditPoints="1" noAdjustHandles="1" noChangeArrowheads="1" noChangeShapeType="1" noTextEdit="1"/>
              </p:cNvSpPr>
              <p:nvPr/>
            </p:nvSpPr>
            <p:spPr>
              <a:xfrm>
                <a:off x="2735294" y="3848928"/>
                <a:ext cx="3028971" cy="338554"/>
              </a:xfrm>
              <a:prstGeom prst="rect">
                <a:avLst/>
              </a:prstGeom>
              <a:blipFill>
                <a:blip r:embed="rId7"/>
                <a:stretch>
                  <a:fillRect t="-108929" r="-13883" b="-167857"/>
                </a:stretch>
              </a:blipFill>
            </p:spPr>
            <p:txBody>
              <a:bodyPr/>
              <a:lstStyle/>
              <a:p>
                <a:r>
                  <a:rPr lang="zh-CN" altLang="en-US">
                    <a:noFill/>
                  </a:rPr>
                  <a:t> </a:t>
                </a:r>
              </a:p>
            </p:txBody>
          </p:sp>
        </mc:Fallback>
      </mc:AlternateContent>
      <p:sp>
        <p:nvSpPr>
          <p:cNvPr id="10" name="下箭头 9"/>
          <p:cNvSpPr/>
          <p:nvPr/>
        </p:nvSpPr>
        <p:spPr>
          <a:xfrm>
            <a:off x="4290060" y="3612078"/>
            <a:ext cx="209932" cy="2368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2875412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Inverse Kinematics of 6R </a:t>
              </a:r>
              <a:r>
                <a:rPr lang="en-US" altLang="zh-CN" sz="1000" dirty="0">
                  <a:latin typeface="Arial" panose="020B0604020202020204" pitchFamily="34" charset="0"/>
                  <a:ea typeface="微软雅黑" panose="020B0503020204020204" charset="-122"/>
                  <a:sym typeface="+mn-ea"/>
                </a:rPr>
                <a:t>S</a:t>
              </a:r>
              <a:r>
                <a:rPr lang="en-US" altLang="zh-CN" sz="1000" dirty="0" smtClean="0">
                  <a:latin typeface="Arial" panose="020B0604020202020204" pitchFamily="34" charset="0"/>
                  <a:ea typeface="微软雅黑" panose="020B0503020204020204" charset="-122"/>
                  <a:sym typeface="+mn-ea"/>
                </a:rPr>
                <a:t>erial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6R</a:t>
              </a:r>
              <a:r>
                <a:rPr lang="zh-CN" altLang="en-US" sz="2000" b="1" dirty="0">
                  <a:latin typeface="Arial" panose="020B0604020202020204" pitchFamily="34" charset="0"/>
                  <a:ea typeface="微软雅黑" panose="020B0503020204020204" charset="-122"/>
                  <a:sym typeface="+mn-ea"/>
                </a:rPr>
                <a:t>串联机器人逆运动学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p:nvSpPr>
        <p:spPr>
          <a:xfrm>
            <a:off x="2178137" y="803488"/>
            <a:ext cx="4999115" cy="400110"/>
          </a:xfrm>
          <a:prstGeom prst="rect">
            <a:avLst/>
          </a:prstGeom>
        </p:spPr>
        <p:txBody>
          <a:bodyPr wrap="square">
            <a:spAutoFit/>
          </a:bodyPr>
          <a:lstStyle/>
          <a:p>
            <a:r>
              <a:rPr lang="zh-CN" altLang="en-US" sz="2000" b="1" dirty="0">
                <a:solidFill>
                  <a:srgbClr val="002060"/>
                </a:solidFill>
              </a:rPr>
              <a:t>满足Pieper准则的解析解求</a:t>
            </a:r>
            <a:r>
              <a:rPr lang="zh-CN" altLang="en-US" sz="2000" b="1" dirty="0" smtClean="0">
                <a:solidFill>
                  <a:srgbClr val="002060"/>
                </a:solidFill>
              </a:rPr>
              <a:t>法</a:t>
            </a:r>
            <a:r>
              <a:rPr lang="en-US" altLang="zh-CN" sz="2000" b="1" dirty="0">
                <a:solidFill>
                  <a:srgbClr val="002060"/>
                </a:solidFill>
              </a:rPr>
              <a:t>(</a:t>
            </a:r>
            <a:r>
              <a:rPr lang="zh-CN" altLang="en-US" sz="2000" b="1" dirty="0">
                <a:solidFill>
                  <a:srgbClr val="002060"/>
                </a:solidFill>
              </a:rPr>
              <a:t>实例讲解</a:t>
            </a:r>
            <a:r>
              <a:rPr lang="en-US" altLang="zh-CN" sz="2000" b="1" dirty="0" smtClean="0">
                <a:solidFill>
                  <a:srgbClr val="002060"/>
                </a:solidFill>
              </a:rPr>
              <a:t>)</a:t>
            </a:r>
            <a:endParaRPr lang="zh-CN" altLang="en-US" sz="2000" b="1" dirty="0">
              <a:solidFill>
                <a:srgbClr val="002060"/>
              </a:solidFill>
            </a:endParaRPr>
          </a:p>
        </p:txBody>
      </p:sp>
      <p:sp>
        <p:nvSpPr>
          <p:cNvPr id="20" name="形状"/>
          <p:cNvSpPr/>
          <p:nvPr>
            <p:custDataLst>
              <p:tags r:id="rId1"/>
            </p:custDataLst>
          </p:nvPr>
        </p:nvSpPr>
        <p:spPr>
          <a:xfrm>
            <a:off x="365396" y="1406550"/>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2" name="矩形 21"/>
          <p:cNvSpPr/>
          <p:nvPr/>
        </p:nvSpPr>
        <p:spPr>
          <a:xfrm>
            <a:off x="682355" y="1387024"/>
            <a:ext cx="763351" cy="369332"/>
          </a:xfrm>
          <a:prstGeom prst="rect">
            <a:avLst/>
          </a:prstGeom>
        </p:spPr>
        <p:txBody>
          <a:bodyPr wrap="none">
            <a:spAutoFit/>
          </a:bodyPr>
          <a:lstStyle/>
          <a:p>
            <a:r>
              <a:rPr lang="zh-CN" altLang="en-US" b="1" dirty="0" smtClean="0">
                <a:solidFill>
                  <a:srgbClr val="002060"/>
                </a:solidFill>
              </a:rPr>
              <a:t>第</a:t>
            </a:r>
            <a:r>
              <a:rPr lang="en-US" altLang="zh-CN" b="1" dirty="0" smtClean="0">
                <a:solidFill>
                  <a:srgbClr val="002060"/>
                </a:solidFill>
              </a:rPr>
              <a:t>4</a:t>
            </a:r>
            <a:r>
              <a:rPr lang="zh-CN" altLang="en-US" b="1" dirty="0" smtClean="0">
                <a:solidFill>
                  <a:srgbClr val="002060"/>
                </a:solidFill>
              </a:rPr>
              <a:t>步</a:t>
            </a:r>
            <a:endParaRPr lang="zh-CN" altLang="en-US" b="1" dirty="0">
              <a:solidFill>
                <a:srgbClr val="002060"/>
              </a:solidFill>
            </a:endParaRPr>
          </a:p>
        </p:txBody>
      </p:sp>
      <mc:AlternateContent xmlns:mc="http://schemas.openxmlformats.org/markup-compatibility/2006" xmlns:a14="http://schemas.microsoft.com/office/drawing/2010/main">
        <mc:Choice Requires="a14">
          <p:sp>
            <p:nvSpPr>
              <p:cNvPr id="2" name="矩形 1"/>
              <p:cNvSpPr/>
              <p:nvPr/>
            </p:nvSpPr>
            <p:spPr>
              <a:xfrm>
                <a:off x="1944001" y="1377801"/>
                <a:ext cx="6563335" cy="338554"/>
              </a:xfrm>
              <a:prstGeom prst="rect">
                <a:avLst/>
              </a:prstGeom>
            </p:spPr>
            <p:txBody>
              <a:bodyPr wrap="none">
                <a:spAutoFit/>
              </a:bodyPr>
              <a:lstStyle/>
              <a:p>
                <a:r>
                  <a:rPr lang="zh-CN" altLang="en-US" sz="1600" dirty="0" smtClean="0">
                    <a:ea typeface="等线" panose="02010600030101010101" pitchFamily="2" charset="-122"/>
                    <a:cs typeface="Times New Roman" panose="02020603050405020304" pitchFamily="18" charset="0"/>
                  </a:rPr>
                  <a:t>再</a:t>
                </a:r>
                <a:r>
                  <a:rPr lang="zh-CN" altLang="zh-CN" sz="1600" dirty="0" smtClean="0">
                    <a:ea typeface="等线" panose="02010600030101010101" pitchFamily="2" charset="-122"/>
                    <a:cs typeface="Times New Roman" panose="02020603050405020304" pitchFamily="18" charset="0"/>
                  </a:rPr>
                  <a:t>观察</a:t>
                </a:r>
                <a:r>
                  <a:rPr lang="zh-CN" altLang="en-US" sz="1600" dirty="0" smtClean="0">
                    <a:ea typeface="等线" panose="02010600030101010101" pitchFamily="2" charset="-122"/>
                    <a:cs typeface="Times New Roman" panose="02020603050405020304" pitchFamily="18" charset="0"/>
                  </a:rPr>
                  <a:t>等式两边</a:t>
                </a:r>
                <a:r>
                  <a:rPr lang="zh-CN" altLang="zh-CN" sz="1600" dirty="0" smtClean="0">
                    <a:ea typeface="等线" panose="02010600030101010101" pitchFamily="2" charset="-122"/>
                    <a:cs typeface="Times New Roman" panose="02020603050405020304" pitchFamily="18" charset="0"/>
                  </a:rPr>
                  <a:t>，</a:t>
                </a:r>
                <a:r>
                  <a:rPr lang="zh-CN" altLang="zh-CN" sz="1600" dirty="0">
                    <a:ea typeface="等线" panose="02010600030101010101" pitchFamily="2" charset="-122"/>
                    <a:cs typeface="Times New Roman" panose="02020603050405020304" pitchFamily="18" charset="0"/>
                  </a:rPr>
                  <a:t>解出</a:t>
                </a:r>
                <a14:m>
                  <m:oMath xmlns:m="http://schemas.openxmlformats.org/officeDocument/2006/math">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1</m:t>
                        </m:r>
                      </m:sub>
                    </m:sSub>
                  </m:oMath>
                </a14:m>
                <a:r>
                  <a:rPr lang="zh-CN" altLang="en-US" sz="1600" dirty="0" smtClean="0">
                    <a:ea typeface="等线" panose="02010600030101010101" pitchFamily="2" charset="-122"/>
                    <a:cs typeface="Times New Roman" panose="02020603050405020304" pitchFamily="18" charset="0"/>
                  </a:rPr>
                  <a:t>，</a:t>
                </a:r>
                <a14:m>
                  <m:oMath xmlns:m="http://schemas.openxmlformats.org/officeDocument/2006/math">
                    <m:sSub>
                      <m:sSubPr>
                        <m:ctrlPr>
                          <a:rPr lang="zh-CN" altLang="en-US" sz="1600" i="1" smtClean="0">
                            <a:solidFill>
                              <a:schemeClr val="tx1"/>
                            </a:solidFill>
                            <a:latin typeface="Cambria Math" panose="02040503050406030204" pitchFamily="18" charset="0"/>
                          </a:rPr>
                        </m:ctrlPr>
                      </m:sSubPr>
                      <m:e>
                        <m:r>
                          <a:rPr lang="zh-CN" altLang="en-US" sz="1600" b="0" i="1">
                            <a:solidFill>
                              <a:schemeClr val="tx1"/>
                            </a:solidFill>
                            <a:latin typeface="Cambria Math" panose="02040503050406030204" pitchFamily="18" charset="0"/>
                          </a:rPr>
                          <m:t>𝜃</m:t>
                        </m:r>
                      </m:e>
                      <m:sub>
                        <m:r>
                          <a:rPr lang="zh-CN" altLang="en-US" sz="1600" b="0" i="1">
                            <a:solidFill>
                              <a:schemeClr val="tx1"/>
                            </a:solidFill>
                            <a:latin typeface="Cambria Math" panose="02040503050406030204" pitchFamily="18" charset="0"/>
                          </a:rPr>
                          <m:t>5</m:t>
                        </m:r>
                      </m:sub>
                    </m:sSub>
                  </m:oMath>
                </a14:m>
                <a:r>
                  <a:rPr lang="zh-CN" altLang="zh-CN" sz="1600" dirty="0" smtClean="0">
                    <a:ea typeface="等线" panose="02010600030101010101" pitchFamily="2" charset="-122"/>
                    <a:cs typeface="Times New Roman" panose="02020603050405020304" pitchFamily="18" charset="0"/>
                  </a:rPr>
                  <a:t>后</a:t>
                </a:r>
                <a:r>
                  <a:rPr lang="zh-CN" altLang="en-US" sz="1600" dirty="0" smtClean="0">
                    <a:ea typeface="等线" panose="02010600030101010101" pitchFamily="2" charset="-122"/>
                    <a:cs typeface="Times New Roman" panose="02020603050405020304" pitchFamily="18" charset="0"/>
                  </a:rPr>
                  <a:t>，还有那一项可以单独先求出（</a:t>
                </a:r>
                <a:r>
                  <a:rPr lang="en-US" altLang="zh-CN" sz="1600" dirty="0" smtClean="0">
                    <a:ea typeface="等线" panose="02010600030101010101" pitchFamily="2" charset="-122"/>
                    <a:cs typeface="Times New Roman" panose="02020603050405020304" pitchFamily="18" charset="0"/>
                  </a:rPr>
                  <a:t>2</a:t>
                </a:r>
                <a:r>
                  <a:rPr lang="zh-CN" altLang="en-US" sz="1600" dirty="0" smtClean="0">
                    <a:ea typeface="等线" panose="02010600030101010101" pitchFamily="2" charset="-122"/>
                    <a:cs typeface="Times New Roman" panose="02020603050405020304" pitchFamily="18" charset="0"/>
                  </a:rPr>
                  <a:t>，</a:t>
                </a:r>
                <a:r>
                  <a:rPr lang="en-US" altLang="zh-CN" sz="1600" dirty="0" smtClean="0">
                    <a:ea typeface="等线" panose="02010600030101010101" pitchFamily="2" charset="-122"/>
                    <a:cs typeface="Times New Roman" panose="02020603050405020304" pitchFamily="18" charset="0"/>
                  </a:rPr>
                  <a:t>2</a:t>
                </a:r>
                <a:r>
                  <a:rPr lang="zh-CN" altLang="en-US" sz="1600" dirty="0" smtClean="0">
                    <a:ea typeface="等线" panose="02010600030101010101" pitchFamily="2" charset="-122"/>
                    <a:cs typeface="Times New Roman" panose="02020603050405020304" pitchFamily="18" charset="0"/>
                  </a:rPr>
                  <a:t>）</a:t>
                </a:r>
                <a:endParaRPr lang="zh-CN" altLang="en-US" sz="1600" dirty="0"/>
              </a:p>
            </p:txBody>
          </p:sp>
        </mc:Choice>
        <mc:Fallback xmlns="">
          <p:sp>
            <p:nvSpPr>
              <p:cNvPr id="2" name="矩形 1"/>
              <p:cNvSpPr>
                <a:spLocks noRot="1" noChangeAspect="1" noMove="1" noResize="1" noEditPoints="1" noAdjustHandles="1" noChangeArrowheads="1" noChangeShapeType="1" noTextEdit="1"/>
              </p:cNvSpPr>
              <p:nvPr/>
            </p:nvSpPr>
            <p:spPr>
              <a:xfrm>
                <a:off x="1944001" y="1377801"/>
                <a:ext cx="6563335" cy="338554"/>
              </a:xfrm>
              <a:prstGeom prst="rect">
                <a:avLst/>
              </a:prstGeom>
              <a:blipFill>
                <a:blip r:embed="rId4"/>
                <a:stretch>
                  <a:fillRect l="-557" t="-5357" b="-2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矩形 33"/>
              <p:cNvSpPr/>
              <p:nvPr/>
            </p:nvSpPr>
            <p:spPr>
              <a:xfrm>
                <a:off x="77340" y="1735881"/>
                <a:ext cx="9200708" cy="12984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ctrlPr>
                            <a:rPr lang="zh-CN" altLang="en-US" sz="1000" i="1">
                              <a:latin typeface="Cambria Math" panose="02040503050406030204" pitchFamily="18" charset="0"/>
                            </a:rPr>
                          </m:ctrlPr>
                        </m:dPr>
                        <m:e>
                          <m:m>
                            <m:mPr>
                              <m:mcs>
                                <m:mc>
                                  <m:mcPr>
                                    <m:count m:val="2"/>
                                    <m:mcJc m:val="center"/>
                                  </m:mcPr>
                                </m:mc>
                              </m:mcs>
                              <m:ctrlPr>
                                <a:rPr lang="zh-CN" altLang="en-US" sz="1000" i="1">
                                  <a:latin typeface="Cambria Math" panose="02040503050406030204" pitchFamily="18" charset="0"/>
                                </a:rPr>
                              </m:ctrlPr>
                            </m:mPr>
                            <m:mr>
                              <m:e>
                                <m:m>
                                  <m:mPr>
                                    <m:mcs>
                                      <m:mc>
                                        <m:mcPr>
                                          <m:count m:val="2"/>
                                          <m:mcJc m:val="center"/>
                                        </m:mcPr>
                                      </m:mc>
                                    </m:mcs>
                                    <m:ctrlPr>
                                      <a:rPr lang="zh-CN" altLang="en-US" sz="1000" i="1">
                                        <a:latin typeface="Cambria Math" panose="02040503050406030204" pitchFamily="18" charset="0"/>
                                      </a:rPr>
                                    </m:ctrlPr>
                                  </m:mPr>
                                  <m:mr>
                                    <m:e>
                                      <m:d>
                                        <m:dPr>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e>
                                      </m:d>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6</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6</m:t>
                                          </m:r>
                                        </m:sub>
                                      </m:sSub>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e>
                                  </m:mr>
                                  <m:mr>
                                    <m:e>
                                      <m:d>
                                        <m:dPr>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e>
                                      </m:d>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6</m:t>
                                          </m:r>
                                        </m:sub>
                                      </m:sSub>
                                      <m:r>
                                        <a:rPr lang="zh-CN" altLang="en-US" sz="1000" i="0">
                                          <a:latin typeface="Cambria Math" panose="02040503050406030204" pitchFamily="18" charset="0"/>
                                        </a:rPr>
                                        <m:t>−</m:t>
                                      </m:r>
                                      <m:d>
                                        <m:dPr>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e>
                                      </m:d>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6</m:t>
                                          </m:r>
                                        </m:sub>
                                      </m:sSub>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23</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13</m:t>
                                          </m:r>
                                        </m:sub>
                                      </m:sSub>
                                    </m:e>
                                  </m:mr>
                                </m:m>
                              </m:e>
                              <m:e>
                                <m:m>
                                  <m:mPr>
                                    <m:mcs>
                                      <m:mc>
                                        <m:mcPr>
                                          <m:count m:val="2"/>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6</m:t>
                                          </m:r>
                                        </m:sub>
                                      </m:sSub>
                                      <m:r>
                                        <a:rPr lang="zh-CN" altLang="en-US" sz="1000" i="0">
                                          <a:latin typeface="Cambria Math" panose="02040503050406030204" pitchFamily="18" charset="0"/>
                                        </a:rPr>
                                        <m:t>−</m:t>
                                      </m:r>
                                      <m:d>
                                        <m:dPr>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e>
                                      </m:d>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6</m:t>
                                          </m:r>
                                        </m:sub>
                                      </m:sSub>
                                    </m:e>
                                    <m:e>
                                      <m:d>
                                        <m:dPr>
                                          <m:begChr m:val=""/>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𝑑</m:t>
                                              </m:r>
                                            </m:e>
                                            <m:sub>
                                              <m:r>
                                                <a:rPr lang="zh-CN" altLang="en-US" sz="1000" i="0">
                                                  <a:latin typeface="Cambria Math" panose="02040503050406030204" pitchFamily="18" charset="0"/>
                                                </a:rPr>
                                                <m:t>6</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e>
                                      </m:d>
                                    </m:e>
                                  </m:mr>
                                  <m:mr>
                                    <m:e>
                                      <m:d>
                                        <m:dPr>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e>
                                      </m:d>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6</m:t>
                                          </m:r>
                                        </m:sub>
                                      </m:sSub>
                                      <m:r>
                                        <a:rPr lang="zh-CN" altLang="en-US" sz="1000" i="0">
                                          <a:latin typeface="Cambria Math" panose="02040503050406030204" pitchFamily="18" charset="0"/>
                                        </a:rPr>
                                        <m:t>+</m:t>
                                      </m:r>
                                      <m:d>
                                        <m:dPr>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e>
                                      </m:d>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6</m:t>
                                          </m:r>
                                        </m:sub>
                                      </m:sSub>
                                    </m:e>
                                    <m:e>
                                      <m:d>
                                        <m:dPr>
                                          <m:begChr m:val=""/>
                                          <m:ctrlPr>
                                            <a:rPr lang="zh-CN" altLang="en-US" sz="1000" i="1">
                                              <a:latin typeface="Cambria Math" panose="02040503050406030204" pitchFamily="18" charset="0"/>
                                            </a:rPr>
                                          </m:ctrlPr>
                                        </m:dP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𝑝</m:t>
                                              </m:r>
                                            </m:e>
                                            <m:sub>
                                              <m:r>
                                                <a:rPr lang="zh-CN" altLang="en-US" sz="1000" i="1">
                                                  <a:latin typeface="Cambria Math" panose="02040503050406030204" pitchFamily="18" charset="0"/>
                                                </a:rPr>
                                                <m:t>𝑦</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𝑝</m:t>
                                              </m:r>
                                            </m:e>
                                            <m:sub>
                                              <m:r>
                                                <a:rPr lang="zh-CN" altLang="en-US" sz="1000" i="1">
                                                  <a:latin typeface="Cambria Math" panose="02040503050406030204" pitchFamily="18" charset="0"/>
                                                </a:rPr>
                                                <m:t>𝑥</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0">
                                                  <a:latin typeface="Cambria Math" panose="02040503050406030204" pitchFamily="18" charset="0"/>
                                                </a:rPr>
                                                <m:t>6</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13</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23</m:t>
                                              </m:r>
                                            </m:sub>
                                          </m:sSub>
                                        </m:e>
                                      </m:d>
                                    </m:e>
                                  </m:mr>
                                </m:m>
                              </m:e>
                            </m:mr>
                            <m:mr>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31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6</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32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6</m:t>
                                          </m:r>
                                        </m:sub>
                                      </m:sSub>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33</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
                              </m:e>
                              <m:e>
                                <m:m>
                                  <m:mPr>
                                    <m:mcs>
                                      <m:mc>
                                        <m:mcPr>
                                          <m:count m:val="2"/>
                                          <m:mcJc m:val="center"/>
                                        </m:mcPr>
                                      </m:mc>
                                    </m:mcs>
                                    <m:ctrlPr>
                                      <a:rPr lang="zh-CN" altLang="en-US" sz="1000" i="1">
                                        <a:latin typeface="Cambria Math" panose="02040503050406030204" pitchFamily="18" charset="0"/>
                                      </a:rPr>
                                    </m:ctrlPr>
                                  </m:mPr>
                                  <m:mr>
                                    <m:e>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31</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6</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32</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6</m:t>
                                          </m:r>
                                        </m:sub>
                                      </m:sSub>
                                    </m:e>
                                    <m:e>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𝑑</m:t>
                                          </m:r>
                                        </m:e>
                                        <m:sub>
                                          <m:r>
                                            <a:rPr lang="zh-CN" altLang="en-US" sz="1000" i="0">
                                              <a:latin typeface="Cambria Math" panose="02040503050406030204" pitchFamily="18" charset="0"/>
                                            </a:rPr>
                                            <m:t>6</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𝑟</m:t>
                                          </m:r>
                                        </m:e>
                                        <m:sub>
                                          <m:r>
                                            <a:rPr lang="zh-CN" altLang="en-US" sz="1000" i="0">
                                              <a:latin typeface="Cambria Math" panose="02040503050406030204" pitchFamily="18" charset="0"/>
                                            </a:rPr>
                                            <m:t>33</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𝑝</m:t>
                                          </m:r>
                                        </m:e>
                                        <m:sub>
                                          <m:r>
                                            <a:rPr lang="zh-CN" altLang="en-US" sz="1000" i="1">
                                              <a:latin typeface="Cambria Math" panose="02040503050406030204" pitchFamily="18" charset="0"/>
                                            </a:rPr>
                                            <m:t>𝑧</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0">
                                              <a:latin typeface="Cambria Math" panose="02040503050406030204" pitchFamily="18" charset="0"/>
                                            </a:rPr>
                                            <m:t>1</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1</m:t>
                                      </m:r>
                                    </m:e>
                                  </m:mr>
                                </m:m>
                              </m:e>
                            </m:mr>
                          </m:m>
                        </m:e>
                      </m:d>
                      <m:r>
                        <a:rPr lang="zh-CN" altLang="en-US" sz="1000" i="0">
                          <a:latin typeface="Cambria Math" panose="02040503050406030204" pitchFamily="18" charset="0"/>
                        </a:rPr>
                        <m:t>=</m:t>
                      </m:r>
                      <m:d>
                        <m:dPr>
                          <m:ctrlPr>
                            <a:rPr lang="zh-CN" altLang="en-US" sz="1000" i="1">
                              <a:latin typeface="Cambria Math" panose="02040503050406030204" pitchFamily="18" charset="0"/>
                            </a:rPr>
                          </m:ctrlPr>
                        </m:dPr>
                        <m:e>
                          <m:m>
                            <m:mPr>
                              <m:mcs>
                                <m:mc>
                                  <m:mcPr>
                                    <m:count m:val="2"/>
                                    <m:mcJc m:val="center"/>
                                  </m:mcPr>
                                </m:mc>
                              </m:mcs>
                              <m:ctrlPr>
                                <a:rPr lang="zh-CN" altLang="en-US" sz="1000" i="1">
                                  <a:latin typeface="Cambria Math" panose="02040503050406030204" pitchFamily="18" charset="0"/>
                                </a:rPr>
                              </m:ctrlPr>
                            </m:mPr>
                            <m:mr>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234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5</m:t>
                                          </m:r>
                                        </m:sub>
                                      </m:sSub>
                                    </m:e>
                                    <m:e>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𝐶</m:t>
                                          </m:r>
                                        </m:e>
                                        <m:sub>
                                          <m:r>
                                            <a:rPr lang="zh-CN" altLang="en-US" sz="1000" i="0">
                                              <a:latin typeface="Cambria Math" panose="02040503050406030204" pitchFamily="18" charset="0"/>
                                            </a:rPr>
                                            <m:t>234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5</m:t>
                                          </m:r>
                                        </m:sub>
                                      </m:sSub>
                                    </m:e>
                                  </m:mr>
                                  <m:mr>
                                    <m:e>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𝑆</m:t>
                                          </m:r>
                                        </m:e>
                                        <m:sub>
                                          <m:r>
                                            <a:rPr lang="zh-CN" altLang="en-US" sz="1000" i="0">
                                              <a:latin typeface="Cambria Math" panose="02040503050406030204" pitchFamily="18" charset="0"/>
                                            </a:rPr>
                                            <m:t>5</m:t>
                                          </m:r>
                                        </m:sub>
                                      </m:sSub>
                                    </m:e>
                                    <m:e>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𝐶</m:t>
                                          </m:r>
                                        </m:e>
                                        <m:sub>
                                          <m:r>
                                            <a:rPr lang="zh-CN" altLang="en-US" sz="1000" i="0">
                                              <a:latin typeface="Cambria Math" panose="02040503050406030204" pitchFamily="18" charset="0"/>
                                            </a:rPr>
                                            <m:t>5</m:t>
                                          </m:r>
                                        </m:sub>
                                      </m:sSub>
                                    </m:e>
                                  </m:mr>
                                </m:m>
                              </m:e>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234</m:t>
                                          </m:r>
                                        </m:sub>
                                      </m:sSub>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𝑎</m:t>
                                          </m:r>
                                        </m:e>
                                        <m:sub>
                                          <m:r>
                                            <a:rPr lang="zh-CN" altLang="en-US" sz="1000" i="0">
                                              <a:latin typeface="Cambria Math" panose="02040503050406030204" pitchFamily="18" charset="0"/>
                                            </a:rPr>
                                            <m:t>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23</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0">
                                              <a:latin typeface="Cambria Math" panose="02040503050406030204" pitchFamily="18" charset="0"/>
                                            </a:rPr>
                                            <m:t>5</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234</m:t>
                                          </m:r>
                                        </m:sub>
                                      </m:sSub>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𝑎</m:t>
                                          </m:r>
                                        </m:e>
                                        <m:sub>
                                          <m:r>
                                            <a:rPr lang="zh-CN" altLang="en-US" sz="1000" i="0">
                                              <a:latin typeface="Cambria Math" panose="02040503050406030204" pitchFamily="18" charset="0"/>
                                            </a:rPr>
                                            <m:t>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0">
                                              <a:latin typeface="Cambria Math" panose="02040503050406030204" pitchFamily="18" charset="0"/>
                                            </a:rPr>
                                            <m:t>4</m:t>
                                          </m:r>
                                        </m:sub>
                                      </m:sSub>
                                    </m:e>
                                  </m:mr>
                                </m:m>
                              </m:e>
                            </m:mr>
                            <m:mr>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234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5</m:t>
                                          </m:r>
                                        </m:sub>
                                      </m:sSub>
                                    </m:e>
                                    <m:e>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𝑆</m:t>
                                          </m:r>
                                        </m:e>
                                        <m:sub>
                                          <m:r>
                                            <a:rPr lang="zh-CN" altLang="en-US" sz="1000" i="0">
                                              <a:latin typeface="Cambria Math" panose="02040503050406030204" pitchFamily="18" charset="0"/>
                                            </a:rPr>
                                            <m:t>234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5</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0</m:t>
                                      </m:r>
                                    </m:e>
                                  </m:mr>
                                </m:m>
                              </m:e>
                              <m:e>
                                <m:m>
                                  <m:mPr>
                                    <m:mcs>
                                      <m:mc>
                                        <m:mcPr>
                                          <m:count m:val="2"/>
                                          <m:mcJc m:val="center"/>
                                        </m:mcPr>
                                      </m:mc>
                                    </m:mcs>
                                    <m:ctrlPr>
                                      <a:rPr lang="zh-CN" altLang="en-US" sz="1000" i="1">
                                        <a:latin typeface="Cambria Math" panose="02040503050406030204" pitchFamily="18" charset="0"/>
                                      </a:rPr>
                                    </m:ctrlPr>
                                  </m:mPr>
                                  <m:mr>
                                    <m:e>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𝐶</m:t>
                                          </m:r>
                                        </m:e>
                                        <m:sub>
                                          <m:r>
                                            <a:rPr lang="zh-CN" altLang="en-US" sz="1000" i="0">
                                              <a:latin typeface="Cambria Math" panose="02040503050406030204" pitchFamily="18" charset="0"/>
                                            </a:rPr>
                                            <m:t>234</m:t>
                                          </m:r>
                                        </m:sub>
                                      </m:sSub>
                                    </m:e>
                                    <m:e>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𝑎</m:t>
                                          </m:r>
                                        </m:e>
                                        <m:sub>
                                          <m:r>
                                            <a:rPr lang="zh-CN" altLang="en-US" sz="1000" i="0">
                                              <a:latin typeface="Cambria Math" panose="02040503050406030204" pitchFamily="18" charset="0"/>
                                            </a:rPr>
                                            <m:t>4</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23</m:t>
                                          </m:r>
                                        </m:sub>
                                      </m:sSub>
                                      <m:sSub>
                                        <m:sSubPr>
                                          <m:ctrlPr>
                                            <a:rPr lang="zh-CN" altLang="en-US" sz="1000" i="1">
                                              <a:latin typeface="Cambria Math" panose="02040503050406030204" pitchFamily="18" charset="0"/>
                                            </a:rPr>
                                          </m:ctrlPr>
                                        </m:sSubPr>
                                        <m:e>
                                          <m:r>
                                            <a:rPr lang="zh-CN" altLang="en-US" sz="1000" i="0">
                                              <a:latin typeface="Cambria Math" panose="02040503050406030204" pitchFamily="18" charset="0"/>
                                            </a:rPr>
                                            <m:t>+</m:t>
                                          </m:r>
                                          <m:r>
                                            <a:rPr lang="zh-CN" altLang="en-US" sz="1000" i="1">
                                              <a:latin typeface="Cambria Math" panose="02040503050406030204" pitchFamily="18" charset="0"/>
                                            </a:rPr>
                                            <m:t>𝑎</m:t>
                                          </m:r>
                                        </m:e>
                                        <m:sub>
                                          <m:r>
                                            <a:rPr lang="zh-CN" altLang="en-US" sz="1000" i="0">
                                              <a:latin typeface="Cambria Math" panose="02040503050406030204" pitchFamily="18" charset="0"/>
                                            </a:rPr>
                                            <m:t>3</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𝑆</m:t>
                                          </m:r>
                                        </m:e>
                                        <m:sub>
                                          <m:r>
                                            <a:rPr lang="zh-CN" altLang="en-US" sz="1000" i="0">
                                              <a:latin typeface="Cambria Math" panose="02040503050406030204" pitchFamily="18" charset="0"/>
                                            </a:rPr>
                                            <m:t>2</m:t>
                                          </m:r>
                                        </m:sub>
                                      </m:sSub>
                                      <m:r>
                                        <a:rPr lang="zh-CN" altLang="en-US" sz="1000" i="0">
                                          <a:latin typeface="Cambria Math" panose="02040503050406030204" pitchFamily="18" charset="0"/>
                                        </a:rPr>
                                        <m:t>−</m:t>
                                      </m:r>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𝑑</m:t>
                                          </m:r>
                                        </m:e>
                                        <m:sub>
                                          <m:r>
                                            <a:rPr lang="zh-CN" altLang="en-US" sz="1000" i="0">
                                              <a:latin typeface="Cambria Math" panose="02040503050406030204" pitchFamily="18" charset="0"/>
                                            </a:rPr>
                                            <m:t>5</m:t>
                                          </m:r>
                                        </m:sub>
                                      </m:sSub>
                                      <m:sSub>
                                        <m:sSubPr>
                                          <m:ctrlPr>
                                            <a:rPr lang="zh-CN" altLang="en-US" sz="1000" i="1">
                                              <a:latin typeface="Cambria Math" panose="02040503050406030204" pitchFamily="18" charset="0"/>
                                            </a:rPr>
                                          </m:ctrlPr>
                                        </m:sSubPr>
                                        <m:e>
                                          <m:r>
                                            <a:rPr lang="zh-CN" altLang="en-US" sz="1000" i="1">
                                              <a:latin typeface="Cambria Math" panose="02040503050406030204" pitchFamily="18" charset="0"/>
                                            </a:rPr>
                                            <m:t>𝐶</m:t>
                                          </m:r>
                                        </m:e>
                                        <m:sub>
                                          <m:r>
                                            <a:rPr lang="zh-CN" altLang="en-US" sz="1000" i="0">
                                              <a:latin typeface="Cambria Math" panose="02040503050406030204" pitchFamily="18" charset="0"/>
                                            </a:rPr>
                                            <m:t>234</m:t>
                                          </m:r>
                                        </m:sub>
                                      </m:sSub>
                                    </m:e>
                                  </m:mr>
                                  <m:mr>
                                    <m:e>
                                      <m:r>
                                        <a:rPr lang="zh-CN" altLang="en-US" sz="1000" i="0">
                                          <a:latin typeface="Cambria Math" panose="02040503050406030204" pitchFamily="18" charset="0"/>
                                        </a:rPr>
                                        <m:t>0</m:t>
                                      </m:r>
                                    </m:e>
                                    <m:e>
                                      <m:r>
                                        <a:rPr lang="zh-CN" altLang="en-US" sz="1000" i="0">
                                          <a:latin typeface="Cambria Math" panose="02040503050406030204" pitchFamily="18" charset="0"/>
                                        </a:rPr>
                                        <m:t>1</m:t>
                                      </m:r>
                                    </m:e>
                                  </m:mr>
                                </m:m>
                              </m:e>
                            </m:mr>
                          </m:m>
                        </m:e>
                      </m:d>
                    </m:oMath>
                  </m:oMathPara>
                </a14:m>
                <a:endParaRPr lang="zh-CN" altLang="en-US" sz="1000" dirty="0"/>
              </a:p>
            </p:txBody>
          </p:sp>
        </mc:Choice>
        <mc:Fallback xmlns="">
          <p:sp>
            <p:nvSpPr>
              <p:cNvPr id="34" name="矩形 33"/>
              <p:cNvSpPr>
                <a:spLocks noRot="1" noChangeAspect="1" noMove="1" noResize="1" noEditPoints="1" noAdjustHandles="1" noChangeArrowheads="1" noChangeShapeType="1" noTextEdit="1"/>
              </p:cNvSpPr>
              <p:nvPr/>
            </p:nvSpPr>
            <p:spPr>
              <a:xfrm>
                <a:off x="77340" y="1735881"/>
                <a:ext cx="9200708" cy="1298432"/>
              </a:xfrm>
              <a:prstGeom prst="rect">
                <a:avLst/>
              </a:prstGeom>
              <a:blipFill>
                <a:blip r:embed="rId5"/>
                <a:stretch>
                  <a:fillRect/>
                </a:stretch>
              </a:blipFill>
            </p:spPr>
            <p:txBody>
              <a:bodyPr/>
              <a:lstStyle/>
              <a:p>
                <a:r>
                  <a:rPr lang="zh-CN" altLang="en-US">
                    <a:noFill/>
                  </a:rPr>
                  <a:t> </a:t>
                </a:r>
              </a:p>
            </p:txBody>
          </p:sp>
        </mc:Fallback>
      </mc:AlternateContent>
      <p:sp>
        <p:nvSpPr>
          <p:cNvPr id="3" name="圆角矩形 2"/>
          <p:cNvSpPr/>
          <p:nvPr/>
        </p:nvSpPr>
        <p:spPr>
          <a:xfrm>
            <a:off x="1151913" y="1952759"/>
            <a:ext cx="2133224" cy="16883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a:off x="1265686" y="2530341"/>
            <a:ext cx="425994" cy="22529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下箭头 9"/>
          <p:cNvSpPr/>
          <p:nvPr/>
        </p:nvSpPr>
        <p:spPr>
          <a:xfrm>
            <a:off x="4290060" y="3612078"/>
            <a:ext cx="209932" cy="3049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1" name="矩形 10"/>
              <p:cNvSpPr/>
              <p:nvPr/>
            </p:nvSpPr>
            <p:spPr>
              <a:xfrm>
                <a:off x="2349430" y="3237135"/>
                <a:ext cx="4310411"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zh-CN" altLang="en-US" sz="1600" b="1" i="1" smtClean="0">
                              <a:solidFill>
                                <a:srgbClr val="002060"/>
                              </a:solidFill>
                              <a:latin typeface="Cambria Math" panose="02040503050406030204" pitchFamily="18" charset="0"/>
                            </a:rPr>
                          </m:ctrlPr>
                        </m:dPr>
                        <m:e>
                          <m:sSub>
                            <m:sSubPr>
                              <m:ctrlPr>
                                <a:rPr lang="zh-CN" altLang="en-US" sz="1600" b="1" i="1">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𝒓</m:t>
                              </m:r>
                            </m:e>
                            <m:sub>
                              <m:r>
                                <a:rPr lang="zh-CN" altLang="en-US" sz="1600" b="1" i="0">
                                  <a:solidFill>
                                    <a:srgbClr val="002060"/>
                                  </a:solidFill>
                                  <a:latin typeface="Cambria Math" panose="02040503050406030204" pitchFamily="18" charset="0"/>
                                </a:rPr>
                                <m:t>𝟏𝟏</m:t>
                              </m:r>
                            </m:sub>
                          </m:sSub>
                          <m:sSub>
                            <m:sSubPr>
                              <m:ctrlPr>
                                <a:rPr lang="zh-CN" altLang="en-US" sz="1600" b="1" i="1">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𝑺</m:t>
                              </m:r>
                            </m:e>
                            <m:sub>
                              <m:r>
                                <a:rPr lang="zh-CN" altLang="en-US" sz="1600" b="1" i="0">
                                  <a:solidFill>
                                    <a:srgbClr val="002060"/>
                                  </a:solidFill>
                                  <a:latin typeface="Cambria Math" panose="02040503050406030204" pitchFamily="18" charset="0"/>
                                </a:rPr>
                                <m:t>𝟏</m:t>
                              </m:r>
                            </m:sub>
                          </m:sSub>
                          <m:r>
                            <a:rPr lang="zh-CN" altLang="en-US" sz="1600" b="1" i="0">
                              <a:solidFill>
                                <a:srgbClr val="002060"/>
                              </a:solidFill>
                              <a:latin typeface="Cambria Math" panose="02040503050406030204" pitchFamily="18" charset="0"/>
                            </a:rPr>
                            <m:t>−</m:t>
                          </m:r>
                          <m:sSub>
                            <m:sSubPr>
                              <m:ctrlPr>
                                <a:rPr lang="zh-CN" altLang="en-US" sz="1600" b="1" i="1">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𝒓</m:t>
                              </m:r>
                            </m:e>
                            <m:sub>
                              <m:r>
                                <a:rPr lang="zh-CN" altLang="en-US" sz="1600" b="1" i="0">
                                  <a:solidFill>
                                    <a:srgbClr val="002060"/>
                                  </a:solidFill>
                                  <a:latin typeface="Cambria Math" panose="02040503050406030204" pitchFamily="18" charset="0"/>
                                </a:rPr>
                                <m:t>𝟐𝟏</m:t>
                              </m:r>
                            </m:sub>
                          </m:sSub>
                          <m:sSub>
                            <m:sSubPr>
                              <m:ctrlPr>
                                <a:rPr lang="zh-CN" altLang="en-US" sz="1600" b="1" i="1">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𝑪</m:t>
                              </m:r>
                            </m:e>
                            <m:sub>
                              <m:r>
                                <a:rPr lang="zh-CN" altLang="en-US" sz="1600" b="1" i="0">
                                  <a:solidFill>
                                    <a:srgbClr val="002060"/>
                                  </a:solidFill>
                                  <a:latin typeface="Cambria Math" panose="02040503050406030204" pitchFamily="18" charset="0"/>
                                </a:rPr>
                                <m:t>𝟏</m:t>
                              </m:r>
                            </m:sub>
                          </m:sSub>
                        </m:e>
                      </m:d>
                      <m:sSub>
                        <m:sSubPr>
                          <m:ctrlPr>
                            <a:rPr lang="zh-CN" altLang="en-US" sz="1600" b="1" i="1">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𝑪</m:t>
                          </m:r>
                        </m:e>
                        <m:sub>
                          <m:r>
                            <a:rPr lang="zh-CN" altLang="en-US" sz="1600" b="1" i="0">
                              <a:solidFill>
                                <a:srgbClr val="002060"/>
                              </a:solidFill>
                              <a:latin typeface="Cambria Math" panose="02040503050406030204" pitchFamily="18" charset="0"/>
                            </a:rPr>
                            <m:t>𝟔</m:t>
                          </m:r>
                        </m:sub>
                      </m:sSub>
                      <m:r>
                        <a:rPr lang="zh-CN" altLang="en-US" sz="1600" b="1" i="0">
                          <a:solidFill>
                            <a:srgbClr val="002060"/>
                          </a:solidFill>
                          <a:latin typeface="Cambria Math" panose="02040503050406030204" pitchFamily="18" charset="0"/>
                        </a:rPr>
                        <m:t>−</m:t>
                      </m:r>
                      <m:d>
                        <m:dPr>
                          <m:ctrlPr>
                            <a:rPr lang="zh-CN" altLang="en-US" sz="1600" b="1" i="1">
                              <a:solidFill>
                                <a:srgbClr val="002060"/>
                              </a:solidFill>
                              <a:latin typeface="Cambria Math" panose="02040503050406030204" pitchFamily="18" charset="0"/>
                            </a:rPr>
                          </m:ctrlPr>
                        </m:dPr>
                        <m:e>
                          <m:sSub>
                            <m:sSubPr>
                              <m:ctrlPr>
                                <a:rPr lang="zh-CN" altLang="en-US" sz="1600" b="1" i="1">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𝒓</m:t>
                              </m:r>
                            </m:e>
                            <m:sub>
                              <m:r>
                                <a:rPr lang="zh-CN" altLang="en-US" sz="1600" b="1" i="0">
                                  <a:solidFill>
                                    <a:srgbClr val="002060"/>
                                  </a:solidFill>
                                  <a:latin typeface="Cambria Math" panose="02040503050406030204" pitchFamily="18" charset="0"/>
                                </a:rPr>
                                <m:t>𝟏𝟐</m:t>
                              </m:r>
                            </m:sub>
                          </m:sSub>
                          <m:sSub>
                            <m:sSubPr>
                              <m:ctrlPr>
                                <a:rPr lang="zh-CN" altLang="en-US" sz="1600" b="1" i="1">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𝑺</m:t>
                              </m:r>
                            </m:e>
                            <m:sub>
                              <m:r>
                                <a:rPr lang="zh-CN" altLang="en-US" sz="1600" b="1" i="0">
                                  <a:solidFill>
                                    <a:srgbClr val="002060"/>
                                  </a:solidFill>
                                  <a:latin typeface="Cambria Math" panose="02040503050406030204" pitchFamily="18" charset="0"/>
                                </a:rPr>
                                <m:t>𝟏</m:t>
                              </m:r>
                            </m:sub>
                          </m:sSub>
                          <m:r>
                            <a:rPr lang="zh-CN" altLang="en-US" sz="1600" b="1" i="0">
                              <a:solidFill>
                                <a:srgbClr val="002060"/>
                              </a:solidFill>
                              <a:latin typeface="Cambria Math" panose="02040503050406030204" pitchFamily="18" charset="0"/>
                            </a:rPr>
                            <m:t>−</m:t>
                          </m:r>
                          <m:sSub>
                            <m:sSubPr>
                              <m:ctrlPr>
                                <a:rPr lang="zh-CN" altLang="en-US" sz="1600" b="1" i="1">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𝒓</m:t>
                              </m:r>
                            </m:e>
                            <m:sub>
                              <m:r>
                                <a:rPr lang="zh-CN" altLang="en-US" sz="1600" b="1" i="0">
                                  <a:solidFill>
                                    <a:srgbClr val="002060"/>
                                  </a:solidFill>
                                  <a:latin typeface="Cambria Math" panose="02040503050406030204" pitchFamily="18" charset="0"/>
                                </a:rPr>
                                <m:t>𝟐𝟐</m:t>
                              </m:r>
                            </m:sub>
                          </m:sSub>
                          <m:sSub>
                            <m:sSubPr>
                              <m:ctrlPr>
                                <a:rPr lang="zh-CN" altLang="en-US" sz="1600" b="1" i="1">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𝑪</m:t>
                              </m:r>
                            </m:e>
                            <m:sub>
                              <m:r>
                                <a:rPr lang="zh-CN" altLang="en-US" sz="1600" b="1" i="0">
                                  <a:solidFill>
                                    <a:srgbClr val="002060"/>
                                  </a:solidFill>
                                  <a:latin typeface="Cambria Math" panose="02040503050406030204" pitchFamily="18" charset="0"/>
                                </a:rPr>
                                <m:t>𝟏</m:t>
                              </m:r>
                            </m:sub>
                          </m:sSub>
                        </m:e>
                      </m:d>
                      <m:sSub>
                        <m:sSubPr>
                          <m:ctrlPr>
                            <a:rPr lang="zh-CN" altLang="en-US" sz="1600" b="1" i="1">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𝑺</m:t>
                          </m:r>
                        </m:e>
                        <m:sub>
                          <m:r>
                            <a:rPr lang="zh-CN" altLang="en-US" sz="1600" b="1" i="0">
                              <a:solidFill>
                                <a:srgbClr val="002060"/>
                              </a:solidFill>
                              <a:latin typeface="Cambria Math" panose="02040503050406030204" pitchFamily="18" charset="0"/>
                            </a:rPr>
                            <m:t>𝟔</m:t>
                          </m:r>
                        </m:sub>
                      </m:sSub>
                      <m:r>
                        <a:rPr lang="zh-CN" altLang="en-US" sz="1600" b="1" i="0">
                          <a:solidFill>
                            <a:srgbClr val="002060"/>
                          </a:solidFill>
                          <a:latin typeface="Cambria Math" panose="02040503050406030204" pitchFamily="18" charset="0"/>
                        </a:rPr>
                        <m:t>=</m:t>
                      </m:r>
                      <m:sSub>
                        <m:sSubPr>
                          <m:ctrlPr>
                            <a:rPr lang="zh-CN" altLang="en-US" sz="1600" b="1" i="1">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𝑺</m:t>
                          </m:r>
                        </m:e>
                        <m:sub>
                          <m:r>
                            <a:rPr lang="zh-CN" altLang="en-US" sz="1600" b="1" i="0">
                              <a:solidFill>
                                <a:srgbClr val="002060"/>
                              </a:solidFill>
                              <a:latin typeface="Cambria Math" panose="02040503050406030204" pitchFamily="18" charset="0"/>
                            </a:rPr>
                            <m:t>𝟓</m:t>
                          </m:r>
                        </m:sub>
                      </m:sSub>
                    </m:oMath>
                  </m:oMathPara>
                </a14:m>
                <a:endParaRPr lang="zh-CN" altLang="en-US" sz="1600" b="1" dirty="0">
                  <a:solidFill>
                    <a:srgbClr val="002060"/>
                  </a:solidFill>
                </a:endParaRPr>
              </a:p>
            </p:txBody>
          </p:sp>
        </mc:Choice>
        <mc:Fallback xmlns="">
          <p:sp>
            <p:nvSpPr>
              <p:cNvPr id="11" name="矩形 10"/>
              <p:cNvSpPr>
                <a:spLocks noRot="1" noChangeAspect="1" noMove="1" noResize="1" noEditPoints="1" noAdjustHandles="1" noChangeArrowheads="1" noChangeShapeType="1" noTextEdit="1"/>
              </p:cNvSpPr>
              <p:nvPr/>
            </p:nvSpPr>
            <p:spPr>
              <a:xfrm>
                <a:off x="2349430" y="3237135"/>
                <a:ext cx="4310411" cy="33855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1133711" y="3640011"/>
                <a:ext cx="3167149" cy="276999"/>
              </a:xfrm>
              <a:prstGeom prst="rect">
                <a:avLst/>
              </a:prstGeom>
            </p:spPr>
            <p:txBody>
              <a:bodyPr wrap="none">
                <a:spAutoFit/>
              </a:bodyPr>
              <a:lstStyle/>
              <a:p>
                <a:r>
                  <a:rPr lang="zh-CN" altLang="zh-CN" sz="1200">
                    <a:ea typeface="等线" panose="02010600030101010101" pitchFamily="2" charset="-122"/>
                    <a:cs typeface="Times New Roman" panose="02020603050405020304" pitchFamily="18" charset="0"/>
                  </a:rPr>
                  <a:t>设：</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𝑟</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11</m:t>
                        </m:r>
                      </m:sub>
                    </m:sSub>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𝑆</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𝑟</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21</m:t>
                        </m:r>
                      </m:sub>
                    </m:sSub>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𝐶</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𝑒</m:t>
                    </m:r>
                  </m:oMath>
                </a14:m>
                <a:r>
                  <a:rPr lang="en-US" altLang="zh-CN" sz="1200" dirty="0">
                    <a:latin typeface="等线" panose="02010600030101010101" pitchFamily="2" charset="-122"/>
                    <a:cs typeface="Times New Roman" panose="02020603050405020304" pitchFamily="18" charset="0"/>
                  </a:rPr>
                  <a:t>,</a:t>
                </a:r>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𝑟</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12</m:t>
                        </m:r>
                      </m:sub>
                    </m:sSub>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𝑆</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𝑟</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22</m:t>
                        </m:r>
                      </m:sub>
                    </m:sSub>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𝐶</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𝑓</m:t>
                    </m:r>
                  </m:oMath>
                </a14:m>
                <a:r>
                  <a:rPr lang="en-US" altLang="zh-CN" sz="1200" dirty="0">
                    <a:latin typeface="等线" panose="02010600030101010101" pitchFamily="2" charset="-122"/>
                    <a:cs typeface="Times New Roman" panose="02020603050405020304" pitchFamily="18" charset="0"/>
                  </a:rPr>
                  <a:t>,</a:t>
                </a:r>
                <a:r>
                  <a:rPr lang="zh-CN" altLang="zh-CN" sz="1200" dirty="0">
                    <a:ea typeface="等线" panose="02010600030101010101" pitchFamily="2" charset="-122"/>
                    <a:cs typeface="Times New Roman" panose="02020603050405020304" pitchFamily="18" charset="0"/>
                  </a:rPr>
                  <a:t>则：</a:t>
                </a:r>
                <a:endParaRPr lang="zh-CN" altLang="en-US" sz="1200" dirty="0"/>
              </a:p>
            </p:txBody>
          </p:sp>
        </mc:Choice>
        <mc:Fallback xmlns="">
          <p:sp>
            <p:nvSpPr>
              <p:cNvPr id="13" name="矩形 12"/>
              <p:cNvSpPr>
                <a:spLocks noRot="1" noChangeAspect="1" noMove="1" noResize="1" noEditPoints="1" noAdjustHandles="1" noChangeArrowheads="1" noChangeShapeType="1" noTextEdit="1"/>
              </p:cNvSpPr>
              <p:nvPr/>
            </p:nvSpPr>
            <p:spPr>
              <a:xfrm>
                <a:off x="1133711" y="3640011"/>
                <a:ext cx="3167149" cy="276999"/>
              </a:xfrm>
              <a:prstGeom prst="rect">
                <a:avLst/>
              </a:prstGeom>
              <a:blipFill>
                <a:blip r:embed="rId7"/>
                <a:stretch>
                  <a:fillRect l="-192" b="-152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3499942" y="3944943"/>
                <a:ext cx="1628907"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b="1" i="1" smtClean="0">
                          <a:solidFill>
                            <a:srgbClr val="002060"/>
                          </a:solidFill>
                          <a:latin typeface="Cambria Math" panose="02040503050406030204" pitchFamily="18" charset="0"/>
                        </a:rPr>
                        <m:t>𝒆</m:t>
                      </m:r>
                      <m:sSub>
                        <m:sSubPr>
                          <m:ctrlPr>
                            <a:rPr lang="zh-CN" altLang="en-US" sz="1600" b="1" i="1">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𝑪</m:t>
                          </m:r>
                        </m:e>
                        <m:sub>
                          <m:r>
                            <a:rPr lang="zh-CN" altLang="en-US" sz="1600" b="1" i="0">
                              <a:solidFill>
                                <a:srgbClr val="002060"/>
                              </a:solidFill>
                              <a:latin typeface="Cambria Math" panose="02040503050406030204" pitchFamily="18" charset="0"/>
                            </a:rPr>
                            <m:t>𝟔</m:t>
                          </m:r>
                        </m:sub>
                      </m:sSub>
                      <m:r>
                        <a:rPr lang="zh-CN" altLang="en-US" sz="1600" b="1" i="0">
                          <a:solidFill>
                            <a:srgbClr val="002060"/>
                          </a:solidFill>
                          <a:latin typeface="Cambria Math" panose="02040503050406030204" pitchFamily="18" charset="0"/>
                        </a:rPr>
                        <m:t>−</m:t>
                      </m:r>
                      <m:r>
                        <a:rPr lang="zh-CN" altLang="en-US" sz="1600" b="1" i="1">
                          <a:solidFill>
                            <a:srgbClr val="002060"/>
                          </a:solidFill>
                          <a:latin typeface="Cambria Math" panose="02040503050406030204" pitchFamily="18" charset="0"/>
                        </a:rPr>
                        <m:t>𝒇</m:t>
                      </m:r>
                      <m:sSub>
                        <m:sSubPr>
                          <m:ctrlPr>
                            <a:rPr lang="zh-CN" altLang="en-US" sz="1600" b="1" i="1">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𝑺</m:t>
                          </m:r>
                        </m:e>
                        <m:sub>
                          <m:r>
                            <a:rPr lang="zh-CN" altLang="en-US" sz="1600" b="1" i="0">
                              <a:solidFill>
                                <a:srgbClr val="002060"/>
                              </a:solidFill>
                              <a:latin typeface="Cambria Math" panose="02040503050406030204" pitchFamily="18" charset="0"/>
                            </a:rPr>
                            <m:t>𝟔</m:t>
                          </m:r>
                        </m:sub>
                      </m:sSub>
                      <m:r>
                        <a:rPr lang="zh-CN" altLang="en-US" sz="1600" b="1" i="0">
                          <a:solidFill>
                            <a:srgbClr val="002060"/>
                          </a:solidFill>
                          <a:latin typeface="Cambria Math" panose="02040503050406030204" pitchFamily="18" charset="0"/>
                        </a:rPr>
                        <m:t>=</m:t>
                      </m:r>
                      <m:sSub>
                        <m:sSubPr>
                          <m:ctrlPr>
                            <a:rPr lang="zh-CN" altLang="en-US" sz="1600" b="1" i="1">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𝑺</m:t>
                          </m:r>
                        </m:e>
                        <m:sub>
                          <m:r>
                            <a:rPr lang="zh-CN" altLang="en-US" sz="1600" b="1" i="0">
                              <a:solidFill>
                                <a:srgbClr val="002060"/>
                              </a:solidFill>
                              <a:latin typeface="Cambria Math" panose="02040503050406030204" pitchFamily="18" charset="0"/>
                            </a:rPr>
                            <m:t>𝟓</m:t>
                          </m:r>
                        </m:sub>
                      </m:sSub>
                    </m:oMath>
                  </m:oMathPara>
                </a14:m>
                <a:endParaRPr lang="zh-CN" altLang="en-US" sz="1600" b="1" dirty="0">
                  <a:solidFill>
                    <a:srgbClr val="002060"/>
                  </a:solidFill>
                </a:endParaRPr>
              </a:p>
            </p:txBody>
          </p:sp>
        </mc:Choice>
        <mc:Fallback xmlns="">
          <p:sp>
            <p:nvSpPr>
              <p:cNvPr id="14" name="矩形 13"/>
              <p:cNvSpPr>
                <a:spLocks noRot="1" noChangeAspect="1" noMove="1" noResize="1" noEditPoints="1" noAdjustHandles="1" noChangeArrowheads="1" noChangeShapeType="1" noTextEdit="1"/>
              </p:cNvSpPr>
              <p:nvPr/>
            </p:nvSpPr>
            <p:spPr>
              <a:xfrm>
                <a:off x="3499942" y="3944943"/>
                <a:ext cx="1628907" cy="338554"/>
              </a:xfrm>
              <a:prstGeom prst="rect">
                <a:avLst/>
              </a:prstGeom>
              <a:blipFill>
                <a:blip r:embed="rId8"/>
                <a:stretch>
                  <a:fillRect b="-89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2349430" y="4326732"/>
                <a:ext cx="5420666" cy="65203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b="1" i="1" smtClean="0">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𝜽</m:t>
                          </m:r>
                        </m:e>
                        <m:sub>
                          <m:r>
                            <a:rPr lang="zh-CN" altLang="en-US" sz="1600" b="1" i="0">
                              <a:solidFill>
                                <a:srgbClr val="002060"/>
                              </a:solidFill>
                              <a:latin typeface="Cambria Math" panose="02040503050406030204" pitchFamily="18" charset="0"/>
                            </a:rPr>
                            <m:t>𝟔</m:t>
                          </m:r>
                        </m:sub>
                      </m:sSub>
                      <m:r>
                        <a:rPr lang="zh-CN" altLang="en-US" sz="1600" b="1" i="0">
                          <a:solidFill>
                            <a:srgbClr val="002060"/>
                          </a:solidFill>
                          <a:latin typeface="Cambria Math" panose="02040503050406030204" pitchFamily="18" charset="0"/>
                        </a:rPr>
                        <m:t>=</m:t>
                      </m:r>
                      <m:r>
                        <a:rPr lang="zh-CN" altLang="en-US" sz="1600" b="1" i="1">
                          <a:solidFill>
                            <a:srgbClr val="002060"/>
                          </a:solidFill>
                          <a:latin typeface="Cambria Math" panose="02040503050406030204" pitchFamily="18" charset="0"/>
                        </a:rPr>
                        <m:t>𝑨𝒕𝒂𝒏</m:t>
                      </m:r>
                      <m:r>
                        <a:rPr lang="zh-CN" altLang="en-US" sz="1600" b="1" i="1">
                          <a:solidFill>
                            <a:srgbClr val="002060"/>
                          </a:solidFill>
                          <a:latin typeface="Cambria Math" panose="02040503050406030204" pitchFamily="18" charset="0"/>
                        </a:rPr>
                        <m:t>𝟐</m:t>
                      </m:r>
                      <m:r>
                        <a:rPr lang="zh-CN" altLang="en-US" sz="1600" b="1">
                          <a:solidFill>
                            <a:srgbClr val="002060"/>
                          </a:solidFill>
                          <a:latin typeface="Cambria Math" panose="02040503050406030204" pitchFamily="18" charset="0"/>
                        </a:rPr>
                        <m:t>(</m:t>
                      </m:r>
                      <m:func>
                        <m:funcPr>
                          <m:ctrlPr>
                            <a:rPr lang="zh-CN" altLang="en-US" sz="1600" b="1" i="1">
                              <a:solidFill>
                                <a:srgbClr val="002060"/>
                              </a:solidFill>
                              <a:latin typeface="Cambria Math" panose="02040503050406030204" pitchFamily="18" charset="0"/>
                            </a:rPr>
                          </m:ctrlPr>
                        </m:funcPr>
                        <m:fName>
                          <m:r>
                            <a:rPr lang="zh-CN" altLang="en-US" sz="1600" b="1" i="1">
                              <a:solidFill>
                                <a:srgbClr val="002060"/>
                              </a:solidFill>
                              <a:latin typeface="Cambria Math" panose="02040503050406030204" pitchFamily="18" charset="0"/>
                            </a:rPr>
                            <m:t>𝒆</m:t>
                          </m:r>
                        </m:fName>
                        <m:e>
                          <m:r>
                            <a:rPr lang="zh-CN" altLang="en-US" sz="1600" b="1">
                              <a:solidFill>
                                <a:srgbClr val="002060"/>
                              </a:solidFill>
                              <a:latin typeface="Cambria Math" panose="02040503050406030204" pitchFamily="18" charset="0"/>
                            </a:rPr>
                            <m:t>,</m:t>
                          </m:r>
                        </m:e>
                      </m:func>
                      <m:r>
                        <a:rPr lang="en-US" altLang="zh-CN" sz="1600" b="1" i="1" smtClean="0">
                          <a:solidFill>
                            <a:srgbClr val="002060"/>
                          </a:solidFill>
                          <a:latin typeface="Cambria Math" panose="02040503050406030204" pitchFamily="18" charset="0"/>
                        </a:rPr>
                        <m:t>𝒇</m:t>
                      </m:r>
                      <m:r>
                        <a:rPr lang="en-US" altLang="zh-CN" sz="1600" b="1" i="0" smtClean="0">
                          <a:solidFill>
                            <a:srgbClr val="002060"/>
                          </a:solidFill>
                          <a:latin typeface="Cambria Math" panose="02040503050406030204" pitchFamily="18" charset="0"/>
                        </a:rPr>
                        <m:t>)</m:t>
                      </m:r>
                      <m:r>
                        <a:rPr lang="zh-CN" altLang="en-US" sz="1600" b="1" i="0">
                          <a:solidFill>
                            <a:srgbClr val="002060"/>
                          </a:solidFill>
                          <a:latin typeface="Cambria Math" panose="02040503050406030204" pitchFamily="18" charset="0"/>
                        </a:rPr>
                        <m:t>−</m:t>
                      </m:r>
                      <m:r>
                        <a:rPr lang="zh-CN" altLang="en-US" sz="1600" b="1" i="1">
                          <a:solidFill>
                            <a:srgbClr val="002060"/>
                          </a:solidFill>
                          <a:latin typeface="Cambria Math" panose="02040503050406030204" pitchFamily="18" charset="0"/>
                        </a:rPr>
                        <m:t>𝑨𝒕𝒂𝒏</m:t>
                      </m:r>
                      <m:r>
                        <a:rPr lang="zh-CN" altLang="en-US" sz="1600" b="1" i="0">
                          <a:solidFill>
                            <a:srgbClr val="002060"/>
                          </a:solidFill>
                          <a:latin typeface="Cambria Math" panose="02040503050406030204" pitchFamily="18" charset="0"/>
                        </a:rPr>
                        <m:t>𝟐</m:t>
                      </m:r>
                      <m:d>
                        <m:dPr>
                          <m:ctrlPr>
                            <a:rPr lang="zh-CN" altLang="en-US" sz="1600" b="1" i="1">
                              <a:solidFill>
                                <a:srgbClr val="002060"/>
                              </a:solidFill>
                              <a:latin typeface="Cambria Math" panose="02040503050406030204" pitchFamily="18" charset="0"/>
                            </a:rPr>
                          </m:ctrlPr>
                        </m:dPr>
                        <m:e>
                          <m:sSub>
                            <m:sSubPr>
                              <m:ctrlPr>
                                <a:rPr lang="zh-CN" altLang="en-US" sz="1600" b="1" i="1">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𝑺</m:t>
                              </m:r>
                            </m:e>
                            <m:sub>
                              <m:r>
                                <a:rPr lang="zh-CN" altLang="en-US" sz="1600" b="1" i="0">
                                  <a:solidFill>
                                    <a:srgbClr val="002060"/>
                                  </a:solidFill>
                                  <a:latin typeface="Cambria Math" panose="02040503050406030204" pitchFamily="18" charset="0"/>
                                </a:rPr>
                                <m:t>𝟓</m:t>
                              </m:r>
                            </m:sub>
                          </m:sSub>
                          <m:r>
                            <a:rPr lang="zh-CN" altLang="en-US" sz="1600" b="1" i="0">
                              <a:solidFill>
                                <a:srgbClr val="002060"/>
                              </a:solidFill>
                              <a:latin typeface="Cambria Math" panose="02040503050406030204" pitchFamily="18" charset="0"/>
                            </a:rPr>
                            <m:t>,±</m:t>
                          </m:r>
                          <m:rad>
                            <m:radPr>
                              <m:degHide m:val="on"/>
                              <m:ctrlPr>
                                <a:rPr lang="zh-CN" altLang="en-US" sz="1600" b="1" i="1">
                                  <a:solidFill>
                                    <a:srgbClr val="002060"/>
                                  </a:solidFill>
                                  <a:latin typeface="Cambria Math" panose="02040503050406030204" pitchFamily="18" charset="0"/>
                                </a:rPr>
                              </m:ctrlPr>
                            </m:radPr>
                            <m:deg/>
                            <m:e>
                              <m:sSup>
                                <m:sSupPr>
                                  <m:ctrlPr>
                                    <a:rPr lang="zh-CN" altLang="en-US" sz="1600" b="1" i="1">
                                      <a:solidFill>
                                        <a:srgbClr val="002060"/>
                                      </a:solidFill>
                                      <a:latin typeface="Cambria Math" panose="02040503050406030204" pitchFamily="18" charset="0"/>
                                    </a:rPr>
                                  </m:ctrlPr>
                                </m:sSupPr>
                                <m:e>
                                  <m:r>
                                    <a:rPr lang="zh-CN" altLang="en-US" sz="1600" b="1" i="1">
                                      <a:solidFill>
                                        <a:srgbClr val="002060"/>
                                      </a:solidFill>
                                      <a:latin typeface="Cambria Math" panose="02040503050406030204" pitchFamily="18" charset="0"/>
                                    </a:rPr>
                                    <m:t>𝒆</m:t>
                                  </m:r>
                                </m:e>
                                <m:sup>
                                  <m:r>
                                    <a:rPr lang="zh-CN" altLang="en-US" sz="1600" b="1" i="0">
                                      <a:solidFill>
                                        <a:srgbClr val="002060"/>
                                      </a:solidFill>
                                      <a:latin typeface="Cambria Math" panose="02040503050406030204" pitchFamily="18" charset="0"/>
                                    </a:rPr>
                                    <m:t>𝟐</m:t>
                                  </m:r>
                                </m:sup>
                              </m:sSup>
                              <m:r>
                                <a:rPr lang="zh-CN" altLang="en-US" sz="1600" b="1" i="0">
                                  <a:solidFill>
                                    <a:srgbClr val="002060"/>
                                  </a:solidFill>
                                  <a:latin typeface="Cambria Math" panose="02040503050406030204" pitchFamily="18" charset="0"/>
                                </a:rPr>
                                <m:t>+</m:t>
                              </m:r>
                              <m:sSup>
                                <m:sSupPr>
                                  <m:ctrlPr>
                                    <a:rPr lang="zh-CN" altLang="en-US" sz="1600" b="1" i="1">
                                      <a:solidFill>
                                        <a:srgbClr val="002060"/>
                                      </a:solidFill>
                                      <a:latin typeface="Cambria Math" panose="02040503050406030204" pitchFamily="18" charset="0"/>
                                    </a:rPr>
                                  </m:ctrlPr>
                                </m:sSupPr>
                                <m:e>
                                  <m:r>
                                    <a:rPr lang="zh-CN" altLang="en-US" sz="1600" b="1" i="1">
                                      <a:solidFill>
                                        <a:srgbClr val="002060"/>
                                      </a:solidFill>
                                      <a:latin typeface="Cambria Math" panose="02040503050406030204" pitchFamily="18" charset="0"/>
                                    </a:rPr>
                                    <m:t>𝒇</m:t>
                                  </m:r>
                                </m:e>
                                <m:sup>
                                  <m:r>
                                    <a:rPr lang="zh-CN" altLang="en-US" sz="1600" b="1" i="0">
                                      <a:solidFill>
                                        <a:srgbClr val="002060"/>
                                      </a:solidFill>
                                      <a:latin typeface="Cambria Math" panose="02040503050406030204" pitchFamily="18" charset="0"/>
                                    </a:rPr>
                                    <m:t>𝟐</m:t>
                                  </m:r>
                                </m:sup>
                              </m:sSup>
                              <m:r>
                                <a:rPr lang="zh-CN" altLang="en-US" sz="1600" b="1" i="0">
                                  <a:solidFill>
                                    <a:srgbClr val="002060"/>
                                  </a:solidFill>
                                  <a:latin typeface="Cambria Math" panose="02040503050406030204" pitchFamily="18" charset="0"/>
                                </a:rPr>
                                <m:t>−</m:t>
                              </m:r>
                              <m:sSup>
                                <m:sSupPr>
                                  <m:ctrlPr>
                                    <a:rPr lang="zh-CN" altLang="en-US" sz="1600" b="1" i="1">
                                      <a:solidFill>
                                        <a:srgbClr val="002060"/>
                                      </a:solidFill>
                                      <a:latin typeface="Cambria Math" panose="02040503050406030204" pitchFamily="18" charset="0"/>
                                    </a:rPr>
                                  </m:ctrlPr>
                                </m:sSupPr>
                                <m:e>
                                  <m:sSub>
                                    <m:sSubPr>
                                      <m:ctrlPr>
                                        <a:rPr lang="zh-CN" altLang="en-US" sz="1600" b="1" i="1">
                                          <a:solidFill>
                                            <a:srgbClr val="002060"/>
                                          </a:solidFill>
                                          <a:latin typeface="Cambria Math" panose="02040503050406030204" pitchFamily="18" charset="0"/>
                                        </a:rPr>
                                      </m:ctrlPr>
                                    </m:sSubPr>
                                    <m:e>
                                      <m:r>
                                        <a:rPr lang="zh-CN" altLang="en-US" sz="1600" b="1" i="1">
                                          <a:solidFill>
                                            <a:srgbClr val="002060"/>
                                          </a:solidFill>
                                          <a:latin typeface="Cambria Math" panose="02040503050406030204" pitchFamily="18" charset="0"/>
                                        </a:rPr>
                                        <m:t>𝑺</m:t>
                                      </m:r>
                                    </m:e>
                                    <m:sub>
                                      <m:r>
                                        <a:rPr lang="zh-CN" altLang="en-US" sz="1600" b="1" i="0">
                                          <a:solidFill>
                                            <a:srgbClr val="002060"/>
                                          </a:solidFill>
                                          <a:latin typeface="Cambria Math" panose="02040503050406030204" pitchFamily="18" charset="0"/>
                                        </a:rPr>
                                        <m:t>𝟓</m:t>
                                      </m:r>
                                    </m:sub>
                                  </m:sSub>
                                </m:e>
                                <m:sup>
                                  <m:r>
                                    <a:rPr lang="zh-CN" altLang="en-US" sz="1600" b="1" i="0">
                                      <a:solidFill>
                                        <a:srgbClr val="002060"/>
                                      </a:solidFill>
                                      <a:latin typeface="Cambria Math" panose="02040503050406030204" pitchFamily="18" charset="0"/>
                                    </a:rPr>
                                    <m:t>𝟐</m:t>
                                  </m:r>
                                </m:sup>
                              </m:sSup>
                            </m:e>
                          </m:rad>
                        </m:e>
                      </m:d>
                    </m:oMath>
                  </m:oMathPara>
                </a14:m>
                <a:endParaRPr lang="zh-CN" altLang="en-US" sz="1600" b="1" dirty="0">
                  <a:solidFill>
                    <a:srgbClr val="002060"/>
                  </a:solidFill>
                </a:endParaRPr>
              </a:p>
            </p:txBody>
          </p:sp>
        </mc:Choice>
        <mc:Fallback xmlns="">
          <p:sp>
            <p:nvSpPr>
              <p:cNvPr id="15" name="矩形 14"/>
              <p:cNvSpPr>
                <a:spLocks noRot="1" noChangeAspect="1" noMove="1" noResize="1" noEditPoints="1" noAdjustHandles="1" noChangeArrowheads="1" noChangeShapeType="1" noTextEdit="1"/>
              </p:cNvSpPr>
              <p:nvPr/>
            </p:nvSpPr>
            <p:spPr>
              <a:xfrm>
                <a:off x="2349430" y="4326732"/>
                <a:ext cx="5420666" cy="652038"/>
              </a:xfrm>
              <a:prstGeom prst="rect">
                <a:avLst/>
              </a:prstGeom>
              <a:blipFill>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4406813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Inverse Kinematics of 6R </a:t>
              </a:r>
              <a:r>
                <a:rPr lang="en-US" altLang="zh-CN" sz="1000" dirty="0">
                  <a:latin typeface="Arial" panose="020B0604020202020204" pitchFamily="34" charset="0"/>
                  <a:ea typeface="微软雅黑" panose="020B0503020204020204" charset="-122"/>
                  <a:sym typeface="+mn-ea"/>
                </a:rPr>
                <a:t>S</a:t>
              </a:r>
              <a:r>
                <a:rPr lang="en-US" altLang="zh-CN" sz="1000" dirty="0" smtClean="0">
                  <a:latin typeface="Arial" panose="020B0604020202020204" pitchFamily="34" charset="0"/>
                  <a:ea typeface="微软雅黑" panose="020B0503020204020204" charset="-122"/>
                  <a:sym typeface="+mn-ea"/>
                </a:rPr>
                <a:t>erial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6R</a:t>
              </a:r>
              <a:r>
                <a:rPr lang="zh-CN" altLang="en-US" sz="2000" b="1" dirty="0">
                  <a:latin typeface="Arial" panose="020B0604020202020204" pitchFamily="34" charset="0"/>
                  <a:ea typeface="微软雅黑" panose="020B0503020204020204" charset="-122"/>
                  <a:sym typeface="+mn-ea"/>
                </a:rPr>
                <a:t>串联机器人逆运动学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矩形 7"/>
          <p:cNvSpPr/>
          <p:nvPr/>
        </p:nvSpPr>
        <p:spPr>
          <a:xfrm>
            <a:off x="2178137" y="803488"/>
            <a:ext cx="4999115" cy="400110"/>
          </a:xfrm>
          <a:prstGeom prst="rect">
            <a:avLst/>
          </a:prstGeom>
        </p:spPr>
        <p:txBody>
          <a:bodyPr wrap="square">
            <a:spAutoFit/>
          </a:bodyPr>
          <a:lstStyle/>
          <a:p>
            <a:r>
              <a:rPr lang="zh-CN" altLang="en-US" sz="2000" b="1" dirty="0">
                <a:solidFill>
                  <a:srgbClr val="002060"/>
                </a:solidFill>
              </a:rPr>
              <a:t>满足Pieper准则的解析解求</a:t>
            </a:r>
            <a:r>
              <a:rPr lang="zh-CN" altLang="en-US" sz="2000" b="1" dirty="0" smtClean="0">
                <a:solidFill>
                  <a:srgbClr val="002060"/>
                </a:solidFill>
              </a:rPr>
              <a:t>法</a:t>
            </a:r>
            <a:r>
              <a:rPr lang="en-US" altLang="zh-CN" sz="2000" b="1" dirty="0">
                <a:solidFill>
                  <a:srgbClr val="002060"/>
                </a:solidFill>
              </a:rPr>
              <a:t>(</a:t>
            </a:r>
            <a:r>
              <a:rPr lang="zh-CN" altLang="en-US" sz="2000" b="1" dirty="0">
                <a:solidFill>
                  <a:srgbClr val="002060"/>
                </a:solidFill>
              </a:rPr>
              <a:t>实例讲解</a:t>
            </a:r>
            <a:r>
              <a:rPr lang="en-US" altLang="zh-CN" sz="2000" b="1" dirty="0" smtClean="0">
                <a:solidFill>
                  <a:srgbClr val="002060"/>
                </a:solidFill>
              </a:rPr>
              <a:t>)</a:t>
            </a:r>
            <a:endParaRPr lang="zh-CN" altLang="en-US" sz="2000" b="1" dirty="0">
              <a:solidFill>
                <a:srgbClr val="002060"/>
              </a:solidFill>
            </a:endParaRPr>
          </a:p>
        </p:txBody>
      </p:sp>
      <p:sp>
        <p:nvSpPr>
          <p:cNvPr id="9" name="形状"/>
          <p:cNvSpPr/>
          <p:nvPr>
            <p:custDataLst>
              <p:tags r:id="rId2"/>
            </p:custDataLst>
          </p:nvPr>
        </p:nvSpPr>
        <p:spPr>
          <a:xfrm>
            <a:off x="365396" y="1406550"/>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10" name="矩形 9"/>
          <p:cNvSpPr/>
          <p:nvPr/>
        </p:nvSpPr>
        <p:spPr>
          <a:xfrm>
            <a:off x="682355" y="1387024"/>
            <a:ext cx="763351" cy="369332"/>
          </a:xfrm>
          <a:prstGeom prst="rect">
            <a:avLst/>
          </a:prstGeom>
        </p:spPr>
        <p:txBody>
          <a:bodyPr wrap="none">
            <a:spAutoFit/>
          </a:bodyPr>
          <a:lstStyle/>
          <a:p>
            <a:r>
              <a:rPr lang="zh-CN" altLang="en-US" b="1" dirty="0" smtClean="0">
                <a:solidFill>
                  <a:srgbClr val="002060"/>
                </a:solidFill>
              </a:rPr>
              <a:t>第</a:t>
            </a:r>
            <a:r>
              <a:rPr lang="en-US" altLang="zh-CN" b="1" dirty="0" smtClean="0">
                <a:solidFill>
                  <a:srgbClr val="002060"/>
                </a:solidFill>
              </a:rPr>
              <a:t>5</a:t>
            </a:r>
            <a:r>
              <a:rPr lang="zh-CN" altLang="en-US" b="1" dirty="0" smtClean="0">
                <a:solidFill>
                  <a:srgbClr val="002060"/>
                </a:solidFill>
              </a:rPr>
              <a:t>步</a:t>
            </a:r>
            <a:endParaRPr lang="zh-CN" altLang="en-US" b="1" dirty="0">
              <a:solidFill>
                <a:srgbClr val="002060"/>
              </a:solidFill>
            </a:endParaRPr>
          </a:p>
        </p:txBody>
      </p:sp>
      <mc:AlternateContent xmlns:mc="http://schemas.openxmlformats.org/markup-compatibility/2006" xmlns:a14="http://schemas.microsoft.com/office/drawing/2010/main">
        <mc:Choice Requires="a14">
          <p:sp>
            <p:nvSpPr>
              <p:cNvPr id="21" name="矩形 20"/>
              <p:cNvSpPr/>
              <p:nvPr/>
            </p:nvSpPr>
            <p:spPr>
              <a:xfrm>
                <a:off x="1907704" y="1367427"/>
                <a:ext cx="5760640" cy="368755"/>
              </a:xfrm>
              <a:prstGeom prst="rect">
                <a:avLst/>
              </a:prstGeom>
            </p:spPr>
            <p:txBody>
              <a:bodyPr wrap="square">
                <a:spAutoFit/>
              </a:bodyPr>
              <a:lstStyle/>
              <a:p>
                <a:r>
                  <a:rPr lang="zh-CN" altLang="zh-CN" sz="1600" dirty="0">
                    <a:ea typeface="等线" panose="02010600030101010101" pitchFamily="2" charset="-122"/>
                    <a:cs typeface="Times New Roman" panose="02020603050405020304" pitchFamily="18" charset="0"/>
                  </a:rPr>
                  <a:t>将式（</a:t>
                </a:r>
                <a:r>
                  <a:rPr lang="en-US" altLang="zh-CN" sz="1600" dirty="0">
                    <a:ea typeface="等线" panose="02010600030101010101" pitchFamily="2" charset="-122"/>
                    <a:cs typeface="Times New Roman" panose="02020603050405020304" pitchFamily="18" charset="0"/>
                  </a:rPr>
                  <a:t>3-59</a:t>
                </a:r>
                <a:r>
                  <a:rPr lang="zh-CN" altLang="zh-CN" sz="1600" dirty="0">
                    <a:ea typeface="等线" panose="02010600030101010101" pitchFamily="2" charset="-122"/>
                    <a:cs typeface="Times New Roman" panose="02020603050405020304" pitchFamily="18" charset="0"/>
                  </a:rPr>
                  <a:t>）等式两边同时乘以 </a:t>
                </a:r>
                <a14:m>
                  <m:oMath xmlns:m="http://schemas.openxmlformats.org/officeDocument/2006/math">
                    <m:sSup>
                      <m:sSupPr>
                        <m:ctrlPr>
                          <a:rPr lang="zh-CN" altLang="zh-CN" sz="1600" i="1">
                            <a:effectLst/>
                            <a:latin typeface="Cambria Math" panose="02040503050406030204" pitchFamily="18" charset="0"/>
                            <a:ea typeface="Cambria Math" panose="02040503050406030204" pitchFamily="18" charset="0"/>
                          </a:rPr>
                        </m:ctrlPr>
                      </m:sSupPr>
                      <m:e>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sPre>
                              <m:sPrePr>
                                <m:ctrlPr>
                                  <a:rPr lang="zh-CN" altLang="zh-CN" sz="1600" i="1">
                                    <a:effectLst/>
                                    <a:latin typeface="Cambria Math" panose="02040503050406030204" pitchFamily="18" charset="0"/>
                                    <a:ea typeface="Cambria Math" panose="02040503050406030204" pitchFamily="18" charset="0"/>
                                  </a:rPr>
                                </m:ctrlPr>
                              </m:sPrePr>
                              <m:sub/>
                              <m:sup>
                                <m:r>
                                  <a:rPr lang="en-US" altLang="zh-CN" sz="1600" i="1">
                                    <a:latin typeface="Cambria Math" panose="02040503050406030204" pitchFamily="18" charset="0"/>
                                    <a:ea typeface="等线" panose="02010600030101010101" pitchFamily="2" charset="-122"/>
                                    <a:cs typeface="Times New Roman" panose="02020603050405020304" pitchFamily="18" charset="0"/>
                                  </a:rPr>
                                  <m:t>0</m:t>
                                </m:r>
                              </m:sup>
                              <m:e>
                                <m:r>
                                  <a:rPr lang="en-US" altLang="zh-CN" sz="1600" i="1">
                                    <a:latin typeface="Cambria Math" panose="02040503050406030204" pitchFamily="18" charset="0"/>
                                    <a:ea typeface="等线" panose="02010600030101010101" pitchFamily="2" charset="-122"/>
                                    <a:cs typeface="Times New Roman" panose="02020603050405020304" pitchFamily="18" charset="0"/>
                                  </a:rPr>
                                  <m:t>𝑇</m:t>
                                </m:r>
                              </m:e>
                            </m:sPre>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e>
                      <m:sup>
                        <m:r>
                          <a:rPr lang="en-US" altLang="zh-CN" sz="1600" i="1">
                            <a:latin typeface="Cambria Math" panose="02040503050406030204" pitchFamily="18" charset="0"/>
                            <a:ea typeface="等线" panose="02010600030101010101" pitchFamily="2" charset="-122"/>
                            <a:cs typeface="Times New Roman" panose="02020603050405020304" pitchFamily="18" charset="0"/>
                          </a:rPr>
                          <m:t>−1</m:t>
                        </m:r>
                      </m:sup>
                    </m:sSup>
                  </m:oMath>
                </a14:m>
                <a:r>
                  <a:rPr lang="zh-CN" altLang="zh-CN" sz="1600" dirty="0">
                    <a:ea typeface="等线" panose="02010600030101010101" pitchFamily="2" charset="-122"/>
                    <a:cs typeface="Times New Roman" panose="02020603050405020304" pitchFamily="18" charset="0"/>
                  </a:rPr>
                  <a:t>，</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sPre>
                          <m:sPrePr>
                            <m:ctrlPr>
                              <a:rPr lang="zh-CN" altLang="zh-CN" sz="1600" i="1">
                                <a:effectLst/>
                                <a:latin typeface="Cambria Math" panose="02040503050406030204" pitchFamily="18" charset="0"/>
                                <a:ea typeface="Cambria Math" panose="02040503050406030204" pitchFamily="18" charset="0"/>
                              </a:rPr>
                            </m:ctrlPr>
                          </m:sPrePr>
                          <m:sub/>
                          <m:sup>
                            <m:r>
                              <a:rPr lang="en-US" altLang="zh-CN" sz="1600" i="1">
                                <a:latin typeface="Cambria Math" panose="02040503050406030204" pitchFamily="18" charset="0"/>
                                <a:ea typeface="等线" panose="02010600030101010101" pitchFamily="2" charset="-122"/>
                                <a:cs typeface="Times New Roman" panose="02020603050405020304" pitchFamily="18" charset="0"/>
                              </a:rPr>
                              <m:t>5</m:t>
                            </m:r>
                          </m:sup>
                          <m:e>
                            <m:r>
                              <a:rPr lang="en-US" altLang="zh-CN" sz="1600" i="1">
                                <a:latin typeface="Cambria Math" panose="02040503050406030204" pitchFamily="18" charset="0"/>
                                <a:ea typeface="等线" panose="02010600030101010101" pitchFamily="2" charset="-122"/>
                                <a:cs typeface="Times New Roman" panose="02020603050405020304" pitchFamily="18" charset="0"/>
                              </a:rPr>
                              <m:t>𝑇</m:t>
                            </m:r>
                          </m:e>
                        </m:sPre>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6</m:t>
                        </m:r>
                      </m:sub>
                    </m:sSub>
                    <m:sSup>
                      <m:sSupPr>
                        <m:ctrlPr>
                          <a:rPr lang="zh-CN" altLang="zh-CN" sz="1600" i="1">
                            <a:effectLst/>
                            <a:latin typeface="Cambria Math" panose="02040503050406030204" pitchFamily="18" charset="0"/>
                            <a:ea typeface="Cambria Math" panose="02040503050406030204" pitchFamily="18" charset="0"/>
                          </a:rPr>
                        </m:ctrlPr>
                      </m:sSupPr>
                      <m:e>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e>
                      <m:sup>
                        <m:r>
                          <a:rPr lang="en-US" altLang="zh-CN" sz="1600" i="1">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1</m:t>
                        </m:r>
                      </m:sup>
                    </m:sSup>
                  </m:oMath>
                </a14:m>
                <a:r>
                  <a:rPr lang="zh-CN" altLang="zh-CN" sz="1600" dirty="0">
                    <a:ea typeface="等线" panose="02010600030101010101" pitchFamily="2" charset="-122"/>
                    <a:cs typeface="Times New Roman" panose="02020603050405020304" pitchFamily="18" charset="0"/>
                  </a:rPr>
                  <a:t>，</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sPre>
                          <m:sPrePr>
                            <m:ctrlPr>
                              <a:rPr lang="zh-CN" altLang="zh-CN" sz="1600" i="1">
                                <a:effectLst/>
                                <a:latin typeface="Cambria Math" panose="02040503050406030204" pitchFamily="18" charset="0"/>
                                <a:ea typeface="Cambria Math" panose="02040503050406030204" pitchFamily="18" charset="0"/>
                              </a:rPr>
                            </m:ctrlPr>
                          </m:sPrePr>
                          <m:sub/>
                          <m:sup>
                            <m:r>
                              <a:rPr lang="en-US" altLang="zh-CN" sz="1600" i="1">
                                <a:latin typeface="Cambria Math" panose="02040503050406030204" pitchFamily="18" charset="0"/>
                                <a:ea typeface="等线" panose="02010600030101010101" pitchFamily="2" charset="-122"/>
                                <a:cs typeface="Times New Roman" panose="02020603050405020304" pitchFamily="18" charset="0"/>
                              </a:rPr>
                              <m:t>4</m:t>
                            </m:r>
                          </m:sup>
                          <m:e>
                            <m:r>
                              <a:rPr lang="en-US" altLang="zh-CN" sz="1600" i="1">
                                <a:latin typeface="Cambria Math" panose="02040503050406030204" pitchFamily="18" charset="0"/>
                                <a:ea typeface="等线" panose="02010600030101010101" pitchFamily="2" charset="-122"/>
                                <a:cs typeface="Times New Roman" panose="02020603050405020304" pitchFamily="18" charset="0"/>
                              </a:rPr>
                              <m:t>𝑇</m:t>
                            </m:r>
                          </m:e>
                        </m:sPre>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5</m:t>
                        </m:r>
                      </m:sub>
                    </m:sSub>
                    <m:sSup>
                      <m:sSupPr>
                        <m:ctrlPr>
                          <a:rPr lang="zh-CN" altLang="zh-CN" sz="1600" i="1">
                            <a:effectLst/>
                            <a:latin typeface="Cambria Math" panose="02040503050406030204" pitchFamily="18" charset="0"/>
                            <a:ea typeface="Cambria Math" panose="02040503050406030204" pitchFamily="18" charset="0"/>
                          </a:rPr>
                        </m:ctrlPr>
                      </m:sSupPr>
                      <m:e>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e>
                      <m:sup>
                        <m:r>
                          <a:rPr lang="en-US" altLang="zh-CN" sz="1600" i="1">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1</m:t>
                        </m:r>
                      </m:sup>
                    </m:sSup>
                  </m:oMath>
                </a14:m>
                <a:endParaRPr lang="zh-CN" altLang="en-US" sz="1600" dirty="0"/>
              </a:p>
            </p:txBody>
          </p:sp>
        </mc:Choice>
        <mc:Fallback xmlns="">
          <p:sp>
            <p:nvSpPr>
              <p:cNvPr id="21" name="矩形 20"/>
              <p:cNvSpPr>
                <a:spLocks noRot="1" noChangeAspect="1" noMove="1" noResize="1" noEditPoints="1" noAdjustHandles="1" noChangeArrowheads="1" noChangeShapeType="1" noTextEdit="1"/>
              </p:cNvSpPr>
              <p:nvPr/>
            </p:nvSpPr>
            <p:spPr>
              <a:xfrm>
                <a:off x="1907704" y="1367427"/>
                <a:ext cx="5760640" cy="368755"/>
              </a:xfrm>
              <a:prstGeom prst="rect">
                <a:avLst/>
              </a:prstGeom>
              <a:blipFill>
                <a:blip r:embed="rId4"/>
                <a:stretch>
                  <a:fillRect l="-635" b="-196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530536" y="1779662"/>
                <a:ext cx="7632848" cy="33906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1200" i="1">
                              <a:latin typeface="Cambria Math" panose="02040503050406030204" pitchFamily="18" charset="0"/>
                            </a:rPr>
                          </m:ctrlPr>
                        </m:sSupPr>
                        <m:e>
                          <m:d>
                            <m:dPr>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0</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1</m:t>
                                  </m:r>
                                </m:sub>
                              </m:sSub>
                            </m:e>
                          </m:d>
                        </m:e>
                        <m:sup>
                          <m:r>
                            <a:rPr lang="zh-CN" altLang="en-US" sz="1200" i="0">
                              <a:latin typeface="Cambria Math" panose="02040503050406030204" pitchFamily="18" charset="0"/>
                            </a:rPr>
                            <m:t>−1</m:t>
                          </m:r>
                        </m:sup>
                      </m:sSup>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0</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6</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5</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6</m:t>
                          </m:r>
                        </m:sub>
                      </m:sSub>
                      <m:sSup>
                        <m:sSupPr>
                          <m:ctrlPr>
                            <a:rPr lang="zh-CN" altLang="en-US" sz="1200" i="1">
                              <a:latin typeface="Cambria Math" panose="02040503050406030204" pitchFamily="18" charset="0"/>
                            </a:rPr>
                          </m:ctrlPr>
                        </m:sSupPr>
                        <m:e>
                          <m:d>
                            <m:dPr>
                              <m:begChr m:val=")"/>
                              <m:endChr m:val=""/>
                              <m:ctrlPr>
                                <a:rPr lang="zh-CN" altLang="en-US" sz="1200" i="1">
                                  <a:latin typeface="Cambria Math" panose="02040503050406030204" pitchFamily="18" charset="0"/>
                                </a:rPr>
                              </m:ctrlPr>
                            </m:dPr>
                            <m:e/>
                          </m:d>
                        </m:e>
                        <m:sup>
                          <m:r>
                            <a:rPr lang="zh-CN" altLang="en-US" sz="1200" i="0">
                              <a:latin typeface="Cambria Math" panose="02040503050406030204" pitchFamily="18" charset="0"/>
                            </a:rPr>
                            <m:t>−1</m:t>
                          </m:r>
                        </m:sup>
                      </m:sSup>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4</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5</m:t>
                          </m:r>
                        </m:sub>
                      </m:sSub>
                      <m:sSup>
                        <m:sSupPr>
                          <m:ctrlPr>
                            <a:rPr lang="zh-CN" altLang="en-US" sz="1200" i="1">
                              <a:latin typeface="Cambria Math" panose="02040503050406030204" pitchFamily="18" charset="0"/>
                            </a:rPr>
                          </m:ctrlPr>
                        </m:sSupPr>
                        <m:e>
                          <m:d>
                            <m:dPr>
                              <m:begChr m:val=")"/>
                              <m:endChr m:val=""/>
                              <m:ctrlPr>
                                <a:rPr lang="zh-CN" altLang="en-US" sz="1200" i="1">
                                  <a:latin typeface="Cambria Math" panose="02040503050406030204" pitchFamily="18" charset="0"/>
                                </a:rPr>
                              </m:ctrlPr>
                            </m:dPr>
                            <m:e/>
                          </m:d>
                        </m:e>
                        <m:sup>
                          <m:r>
                            <a:rPr lang="zh-CN" altLang="en-US" sz="1200" i="0">
                              <a:latin typeface="Cambria Math" panose="02040503050406030204" pitchFamily="18" charset="0"/>
                            </a:rPr>
                            <m:t>−1</m:t>
                          </m:r>
                        </m:sup>
                      </m:sSup>
                      <m:r>
                        <a:rPr lang="zh-CN" altLang="en-US" sz="1200" i="0">
                          <a:latin typeface="Cambria Math" panose="02040503050406030204" pitchFamily="18" charset="0"/>
                        </a:rPr>
                        <m:t>= </m:t>
                      </m:r>
                      <m:sSup>
                        <m:sSupPr>
                          <m:ctrlPr>
                            <a:rPr lang="zh-CN" altLang="en-US" sz="1200" i="1">
                              <a:latin typeface="Cambria Math" panose="02040503050406030204" pitchFamily="18" charset="0"/>
                            </a:rPr>
                          </m:ctrlPr>
                        </m:sSupPr>
                        <m:e>
                          <m:d>
                            <m:dPr>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0</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1</m:t>
                                  </m:r>
                                </m:sub>
                              </m:sSub>
                            </m:e>
                          </m:d>
                        </m:e>
                        <m:sup>
                          <m:r>
                            <a:rPr lang="zh-CN" altLang="en-US" sz="1200" i="0">
                              <a:latin typeface="Cambria Math" panose="02040503050406030204" pitchFamily="18" charset="0"/>
                            </a:rPr>
                            <m:t>−1</m:t>
                          </m:r>
                        </m:sup>
                      </m:sSup>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0</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1</m:t>
                          </m:r>
                        </m:sub>
                      </m:sSub>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1</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2</m:t>
                          </m:r>
                        </m:sub>
                      </m:sSub>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2</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3</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5</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6</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5</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6</m:t>
                          </m:r>
                        </m:sub>
                      </m:sSub>
                      <m:sSup>
                        <m:sSupPr>
                          <m:ctrlPr>
                            <a:rPr lang="zh-CN" altLang="en-US" sz="1200" i="1">
                              <a:latin typeface="Cambria Math" panose="02040503050406030204" pitchFamily="18" charset="0"/>
                            </a:rPr>
                          </m:ctrlPr>
                        </m:sSupPr>
                        <m:e>
                          <m:d>
                            <m:dPr>
                              <m:begChr m:val=")"/>
                              <m:endChr m:val=""/>
                              <m:ctrlPr>
                                <a:rPr lang="zh-CN" altLang="en-US" sz="1200" i="1">
                                  <a:latin typeface="Cambria Math" panose="02040503050406030204" pitchFamily="18" charset="0"/>
                                </a:rPr>
                              </m:ctrlPr>
                            </m:dPr>
                            <m:e/>
                          </m:d>
                        </m:e>
                        <m:sup>
                          <m:r>
                            <a:rPr lang="zh-CN" altLang="en-US" sz="1200" i="0">
                              <a:latin typeface="Cambria Math" panose="02040503050406030204" pitchFamily="18" charset="0"/>
                            </a:rPr>
                            <m:t>−1</m:t>
                          </m:r>
                        </m:sup>
                      </m:sSup>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4</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5</m:t>
                          </m:r>
                        </m:sub>
                      </m:sSub>
                      <m:sSup>
                        <m:sSupPr>
                          <m:ctrlPr>
                            <a:rPr lang="zh-CN" altLang="en-US" sz="1200" i="1">
                              <a:latin typeface="Cambria Math" panose="02040503050406030204" pitchFamily="18" charset="0"/>
                            </a:rPr>
                          </m:ctrlPr>
                        </m:sSupPr>
                        <m:e>
                          <m:d>
                            <m:dPr>
                              <m:begChr m:val=")"/>
                              <m:endChr m:val=""/>
                              <m:ctrlPr>
                                <a:rPr lang="zh-CN" altLang="en-US" sz="1200" i="1">
                                  <a:latin typeface="Cambria Math" panose="02040503050406030204" pitchFamily="18" charset="0"/>
                                </a:rPr>
                              </m:ctrlPr>
                            </m:dPr>
                            <m:e/>
                          </m:d>
                        </m:e>
                        <m:sup>
                          <m:r>
                            <a:rPr lang="zh-CN" altLang="en-US" sz="1200" i="0">
                              <a:latin typeface="Cambria Math" panose="02040503050406030204" pitchFamily="18" charset="0"/>
                            </a:rPr>
                            <m:t>−1</m:t>
                          </m:r>
                        </m:sup>
                      </m:sSup>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1</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2</m:t>
                          </m:r>
                        </m:sub>
                      </m:sSub>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2</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3</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3</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4</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1</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4</m:t>
                          </m:r>
                        </m:sub>
                      </m:sSub>
                    </m:oMath>
                  </m:oMathPara>
                </a14:m>
                <a:endParaRPr lang="zh-CN" altLang="en-US" sz="1200" dirty="0"/>
              </a:p>
            </p:txBody>
          </p:sp>
        </mc:Choice>
        <mc:Fallback xmlns="">
          <p:sp>
            <p:nvSpPr>
              <p:cNvPr id="22" name="矩形 21"/>
              <p:cNvSpPr>
                <a:spLocks noRot="1" noChangeAspect="1" noMove="1" noResize="1" noEditPoints="1" noAdjustHandles="1" noChangeArrowheads="1" noChangeShapeType="1" noTextEdit="1"/>
              </p:cNvSpPr>
              <p:nvPr/>
            </p:nvSpPr>
            <p:spPr>
              <a:xfrm>
                <a:off x="530536" y="1779662"/>
                <a:ext cx="7632848" cy="339067"/>
              </a:xfrm>
              <a:prstGeom prst="rect">
                <a:avLst/>
              </a:prstGeom>
              <a:blipFill>
                <a:blip r:embed="rId5"/>
                <a:stretch>
                  <a:fillRect t="-71429" b="-1303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2285682" y="2118729"/>
                <a:ext cx="3005438" cy="299697"/>
              </a:xfrm>
              <a:prstGeom prst="rect">
                <a:avLst/>
              </a:prstGeom>
            </p:spPr>
            <p:txBody>
              <a:bodyPr wrap="none">
                <a:spAutoFit/>
              </a:bodyPr>
              <a:lstStyle/>
              <a:p>
                <a:r>
                  <a:rPr lang="zh-CN" altLang="zh-CN" sz="1200" dirty="0">
                    <a:ea typeface="等线" panose="02010600030101010101" pitchFamily="2" charset="-122"/>
                    <a:cs typeface="Times New Roman" panose="02020603050405020304" pitchFamily="18" charset="0"/>
                  </a:rPr>
                  <a:t>将</a:t>
                </a:r>
                <a14:m>
                  <m:oMath xmlns:m="http://schemas.openxmlformats.org/officeDocument/2006/math">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a:effectLst/>
                                <a:latin typeface="Cambria Math" panose="02040503050406030204" pitchFamily="18" charset="0"/>
                                <a:ea typeface="Cambria Math" panose="02040503050406030204" pitchFamily="18" charset="0"/>
                              </a:rPr>
                            </m:ctrlPr>
                          </m:sSubPr>
                          <m:e>
                            <m:sPre>
                              <m:sPrePr>
                                <m:ctrlPr>
                                  <a:rPr lang="zh-CN" altLang="zh-CN" sz="1200" i="1">
                                    <a:effectLst/>
                                    <a:latin typeface="Cambria Math" panose="02040503050406030204" pitchFamily="18" charset="0"/>
                                    <a:ea typeface="Cambria Math" panose="02040503050406030204" pitchFamily="18" charset="0"/>
                                  </a:rPr>
                                </m:ctrlPr>
                              </m:sPrePr>
                              <m:sub/>
                              <m:sup>
                                <m:r>
                                  <a:rPr lang="en-US" altLang="zh-CN" sz="1200" i="1">
                                    <a:latin typeface="Cambria Math" panose="02040503050406030204" pitchFamily="18" charset="0"/>
                                    <a:ea typeface="等线" panose="02010600030101010101" pitchFamily="2" charset="-122"/>
                                    <a:cs typeface="Times New Roman" panose="02020603050405020304" pitchFamily="18" charset="0"/>
                                  </a:rPr>
                                  <m:t>0</m:t>
                                </m:r>
                              </m:sup>
                              <m:e>
                                <m:r>
                                  <a:rPr lang="en-US" altLang="zh-CN" sz="1200" i="1">
                                    <a:latin typeface="Cambria Math" panose="02040503050406030204" pitchFamily="18" charset="0"/>
                                    <a:ea typeface="等线" panose="02010600030101010101" pitchFamily="2" charset="-122"/>
                                    <a:cs typeface="Times New Roman" panose="02020603050405020304" pitchFamily="18" charset="0"/>
                                  </a:rPr>
                                  <m:t>𝑇</m:t>
                                </m:r>
                              </m:e>
                            </m:sPre>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sup>
                    </m:sSup>
                  </m:oMath>
                </a14:m>
                <a:r>
                  <a:rPr lang="zh-CN" altLang="zh-CN" sz="1200" dirty="0">
                    <a:ea typeface="等线" panose="02010600030101010101" pitchFamily="2" charset="-122"/>
                    <a:cs typeface="Times New Roman" panose="02020603050405020304" pitchFamily="18" charset="0"/>
                  </a:rPr>
                  <a:t>、 </a:t>
                </a:r>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a:effectLst/>
                            <a:latin typeface="Cambria Math" panose="02040503050406030204" pitchFamily="18" charset="0"/>
                            <a:ea typeface="Cambria Math" panose="02040503050406030204" pitchFamily="18" charset="0"/>
                          </a:rPr>
                        </m:ctrlPr>
                      </m:sSubPr>
                      <m:e>
                        <m:sPre>
                          <m:sPrePr>
                            <m:ctrlPr>
                              <a:rPr lang="zh-CN" altLang="zh-CN" sz="1200" i="1">
                                <a:effectLst/>
                                <a:latin typeface="Cambria Math" panose="02040503050406030204" pitchFamily="18" charset="0"/>
                                <a:ea typeface="Cambria Math" panose="02040503050406030204" pitchFamily="18" charset="0"/>
                              </a:rPr>
                            </m:ctrlPr>
                          </m:sPrePr>
                          <m:sub/>
                          <m:sup>
                            <m:r>
                              <a:rPr lang="en-US" altLang="zh-CN" sz="1200" i="1">
                                <a:latin typeface="Cambria Math" panose="02040503050406030204" pitchFamily="18" charset="0"/>
                                <a:ea typeface="等线" panose="02010600030101010101" pitchFamily="2" charset="-122"/>
                                <a:cs typeface="Times New Roman" panose="02020603050405020304" pitchFamily="18" charset="0"/>
                              </a:rPr>
                              <m:t>5</m:t>
                            </m:r>
                          </m:sup>
                          <m:e>
                            <m:r>
                              <a:rPr lang="en-US" altLang="zh-CN" sz="1200" i="1">
                                <a:latin typeface="Cambria Math" panose="02040503050406030204" pitchFamily="18" charset="0"/>
                                <a:ea typeface="等线" panose="02010600030101010101" pitchFamily="2" charset="-122"/>
                                <a:cs typeface="Times New Roman" panose="02020603050405020304" pitchFamily="18" charset="0"/>
                              </a:rPr>
                              <m:t>𝑇</m:t>
                            </m:r>
                          </m:e>
                        </m:sPre>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6</m:t>
                        </m:r>
                      </m:sub>
                    </m:sSub>
                    <m:sSup>
                      <m:sSupPr>
                        <m:ctrlPr>
                          <a:rPr lang="zh-CN" altLang="zh-CN" sz="12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e>
                      <m:sup>
                        <m:r>
                          <a:rPr lang="en-US" altLang="zh-CN" sz="1200" i="1">
                            <a:latin typeface="Cambria Math" panose="02040503050406030204" pitchFamily="18" charset="0"/>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sup>
                    </m:sSup>
                  </m:oMath>
                </a14:m>
                <a:r>
                  <a:rPr lang="zh-CN" altLang="zh-CN" sz="1200" dirty="0">
                    <a:ea typeface="等线" panose="02010600030101010101" pitchFamily="2" charset="-122"/>
                    <a:cs typeface="Times New Roman" panose="02020603050405020304" pitchFamily="18" charset="0"/>
                  </a:rPr>
                  <a:t>、</a:t>
                </a:r>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a:effectLst/>
                            <a:latin typeface="Cambria Math" panose="02040503050406030204" pitchFamily="18" charset="0"/>
                            <a:ea typeface="Cambria Math" panose="02040503050406030204" pitchFamily="18" charset="0"/>
                          </a:rPr>
                        </m:ctrlPr>
                      </m:sSubPr>
                      <m:e>
                        <m:sPre>
                          <m:sPrePr>
                            <m:ctrlPr>
                              <a:rPr lang="zh-CN" altLang="zh-CN" sz="1200" i="1">
                                <a:effectLst/>
                                <a:latin typeface="Cambria Math" panose="02040503050406030204" pitchFamily="18" charset="0"/>
                                <a:ea typeface="Cambria Math" panose="02040503050406030204" pitchFamily="18" charset="0"/>
                              </a:rPr>
                            </m:ctrlPr>
                          </m:sPrePr>
                          <m:sub/>
                          <m:sup>
                            <m:r>
                              <a:rPr lang="en-US" altLang="zh-CN" sz="1200" i="1">
                                <a:latin typeface="Cambria Math" panose="02040503050406030204" pitchFamily="18" charset="0"/>
                                <a:ea typeface="等线" panose="02010600030101010101" pitchFamily="2" charset="-122"/>
                                <a:cs typeface="Times New Roman" panose="02020603050405020304" pitchFamily="18" charset="0"/>
                              </a:rPr>
                              <m:t>4</m:t>
                            </m:r>
                          </m:sup>
                          <m:e>
                            <m:r>
                              <a:rPr lang="en-US" altLang="zh-CN" sz="1200" i="1">
                                <a:latin typeface="Cambria Math" panose="02040503050406030204" pitchFamily="18" charset="0"/>
                                <a:ea typeface="等线" panose="02010600030101010101" pitchFamily="2" charset="-122"/>
                                <a:cs typeface="Times New Roman" panose="02020603050405020304" pitchFamily="18" charset="0"/>
                              </a:rPr>
                              <m:t>𝑇</m:t>
                            </m:r>
                          </m:e>
                        </m:sPre>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5</m:t>
                        </m:r>
                      </m:sub>
                    </m:sSub>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e>
                      <m:sup>
                        <m:r>
                          <a:rPr lang="en-US" altLang="zh-CN" sz="1200" i="1">
                            <a:latin typeface="Cambria Math" panose="02040503050406030204" pitchFamily="18" charset="0"/>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sup>
                    </m:sSup>
                  </m:oMath>
                </a14:m>
                <a:r>
                  <a:rPr lang="zh-CN" altLang="zh-CN" sz="1200" dirty="0">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sPre>
                          <m:sPrePr>
                            <m:ctrlPr>
                              <a:rPr lang="zh-CN" altLang="zh-CN" sz="1200" i="1">
                                <a:effectLst/>
                                <a:latin typeface="Cambria Math" panose="02040503050406030204" pitchFamily="18" charset="0"/>
                                <a:ea typeface="Cambria Math" panose="02040503050406030204" pitchFamily="18" charset="0"/>
                              </a:rPr>
                            </m:ctrlPr>
                          </m:sPrePr>
                          <m:sub/>
                          <m:sup>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sup>
                          <m:e>
                            <m:r>
                              <a:rPr lang="en-US" altLang="zh-CN" sz="1200" i="1">
                                <a:latin typeface="Cambria Math" panose="02040503050406030204" pitchFamily="18" charset="0"/>
                                <a:ea typeface="等线" panose="02010600030101010101" pitchFamily="2" charset="-122"/>
                                <a:cs typeface="Times New Roman" panose="02020603050405020304" pitchFamily="18" charset="0"/>
                              </a:rPr>
                              <m:t>𝑇</m:t>
                            </m:r>
                          </m:e>
                        </m:sPre>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4</m:t>
                        </m:r>
                      </m:sub>
                    </m:sSub>
                  </m:oMath>
                </a14:m>
                <a:r>
                  <a:rPr lang="zh-CN" altLang="zh-CN" sz="1200" dirty="0">
                    <a:ea typeface="等线" panose="02010600030101010101" pitchFamily="2" charset="-122"/>
                    <a:cs typeface="Times New Roman" panose="02020603050405020304" pitchFamily="18" charset="0"/>
                  </a:rPr>
                  <a:t>代入</a:t>
                </a:r>
                <a:endParaRPr lang="zh-CN" altLang="en-US" sz="1200" dirty="0"/>
              </a:p>
            </p:txBody>
          </p:sp>
        </mc:Choice>
        <mc:Fallback xmlns="">
          <p:sp>
            <p:nvSpPr>
              <p:cNvPr id="23" name="矩形 22"/>
              <p:cNvSpPr>
                <a:spLocks noRot="1" noChangeAspect="1" noMove="1" noResize="1" noEditPoints="1" noAdjustHandles="1" noChangeArrowheads="1" noChangeShapeType="1" noTextEdit="1"/>
              </p:cNvSpPr>
              <p:nvPr/>
            </p:nvSpPr>
            <p:spPr>
              <a:xfrm>
                <a:off x="2285682" y="2118729"/>
                <a:ext cx="3005438" cy="299697"/>
              </a:xfrm>
              <a:prstGeom prst="rect">
                <a:avLst/>
              </a:prstGeom>
              <a:blipFill>
                <a:blip r:embed="rId6"/>
                <a:stretch>
                  <a:fillRect l="-203" b="-16327"/>
                </a:stretch>
              </a:blipFill>
            </p:spPr>
            <p:txBody>
              <a:bodyPr/>
              <a:lstStyle/>
              <a:p>
                <a:r>
                  <a:rPr lang="zh-CN" altLang="en-US">
                    <a:noFill/>
                  </a:rPr>
                  <a:t> </a:t>
                </a:r>
              </a:p>
            </p:txBody>
          </p:sp>
        </mc:Fallback>
      </mc:AlternateContent>
      <p:pic>
        <p:nvPicPr>
          <p:cNvPr id="24" name="图片 23"/>
          <p:cNvPicPr>
            <a:picLocks noChangeAspect="1"/>
          </p:cNvPicPr>
          <p:nvPr/>
        </p:nvPicPr>
        <p:blipFill>
          <a:blip r:embed="rId7"/>
          <a:stretch>
            <a:fillRect/>
          </a:stretch>
        </p:blipFill>
        <p:spPr>
          <a:xfrm>
            <a:off x="9807" y="2452859"/>
            <a:ext cx="9036497" cy="723810"/>
          </a:xfrm>
          <a:prstGeom prst="rect">
            <a:avLst/>
          </a:prstGeom>
        </p:spPr>
      </p:pic>
      <p:sp>
        <p:nvSpPr>
          <p:cNvPr id="25" name="矩形 24"/>
          <p:cNvSpPr/>
          <p:nvPr/>
        </p:nvSpPr>
        <p:spPr>
          <a:xfrm>
            <a:off x="244573" y="3267775"/>
            <a:ext cx="2441694" cy="338554"/>
          </a:xfrm>
          <a:prstGeom prst="rect">
            <a:avLst/>
          </a:prstGeom>
        </p:spPr>
        <p:txBody>
          <a:bodyPr wrap="none">
            <a:spAutoFit/>
          </a:bodyPr>
          <a:lstStyle/>
          <a:p>
            <a:r>
              <a:rPr lang="zh-CN" altLang="zh-CN" sz="1600" dirty="0">
                <a:ea typeface="等线" panose="02010600030101010101" pitchFamily="2" charset="-122"/>
                <a:cs typeface="Times New Roman" panose="02020603050405020304" pitchFamily="18" charset="0"/>
              </a:rPr>
              <a:t>由第一行第四列两边相等</a:t>
            </a:r>
            <a:endParaRPr lang="zh-CN" altLang="en-US" sz="1600" dirty="0"/>
          </a:p>
        </p:txBody>
      </p:sp>
      <mc:AlternateContent xmlns:mc="http://schemas.openxmlformats.org/markup-compatibility/2006" xmlns:a14="http://schemas.microsoft.com/office/drawing/2010/main">
        <mc:Choice Requires="a14">
          <p:sp>
            <p:nvSpPr>
              <p:cNvPr id="26" name="矩形 25"/>
              <p:cNvSpPr/>
              <p:nvPr/>
            </p:nvSpPr>
            <p:spPr>
              <a:xfrm>
                <a:off x="2591719" y="3284638"/>
                <a:ext cx="6428778" cy="30482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𝐶</m:t>
                          </m:r>
                        </m:e>
                        <m:sub>
                          <m:r>
                            <a:rPr lang="zh-CN" altLang="en-US" sz="1200" i="0">
                              <a:latin typeface="Cambria Math" panose="02040503050406030204" pitchFamily="18" charset="0"/>
                            </a:rPr>
                            <m:t>1</m:t>
                          </m:r>
                        </m:sub>
                      </m:s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𝑝</m:t>
                          </m:r>
                        </m:e>
                        <m:sub>
                          <m:r>
                            <a:rPr lang="zh-CN" altLang="en-US" sz="1200" i="1">
                              <a:latin typeface="Cambria Math" panose="02040503050406030204" pitchFamily="18" charset="0"/>
                            </a:rPr>
                            <m:t>𝑥</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𝑆</m:t>
                          </m:r>
                        </m:e>
                        <m:sub>
                          <m:r>
                            <a:rPr lang="zh-CN" altLang="en-US" sz="1200" i="0">
                              <a:latin typeface="Cambria Math" panose="02040503050406030204" pitchFamily="18" charset="0"/>
                            </a:rPr>
                            <m:t>1</m:t>
                          </m:r>
                        </m:sub>
                      </m:s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𝑝</m:t>
                          </m:r>
                        </m:e>
                        <m:sub>
                          <m:r>
                            <a:rPr lang="zh-CN" altLang="en-US" sz="1200" i="1">
                              <a:latin typeface="Cambria Math" panose="02040503050406030204" pitchFamily="18" charset="0"/>
                            </a:rPr>
                            <m:t>𝑦</m:t>
                          </m:r>
                        </m:sub>
                      </m:sSub>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m:t>
                          </m:r>
                          <m:r>
                            <a:rPr lang="zh-CN" altLang="en-US" sz="1200" i="1">
                              <a:latin typeface="Cambria Math" panose="02040503050406030204" pitchFamily="18" charset="0"/>
                            </a:rPr>
                            <m:t>𝑑</m:t>
                          </m:r>
                        </m:e>
                        <m:sub>
                          <m:r>
                            <a:rPr lang="zh-CN" altLang="en-US" sz="1200" i="0">
                              <a:latin typeface="Cambria Math" panose="02040503050406030204" pitchFamily="18" charset="0"/>
                            </a:rPr>
                            <m:t>5</m:t>
                          </m:r>
                        </m:sub>
                      </m:sSub>
                      <m:d>
                        <m:dPr>
                          <m:ctrlPr>
                            <a:rPr lang="zh-CN" altLang="en-US" sz="1200" i="1">
                              <a:latin typeface="Cambria Math" panose="02040503050406030204" pitchFamily="18" charset="0"/>
                            </a:rPr>
                          </m:ctrlPr>
                        </m:dPr>
                        <m:e>
                          <m:d>
                            <m:dPr>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𝑟</m:t>
                                  </m:r>
                                </m:e>
                                <m:sub>
                                  <m:r>
                                    <a:rPr lang="zh-CN" altLang="en-US" sz="1200" i="0">
                                      <a:latin typeface="Cambria Math" panose="02040503050406030204" pitchFamily="18" charset="0"/>
                                    </a:rPr>
                                    <m:t>12</m:t>
                                  </m:r>
                                </m:sub>
                              </m:s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𝐶</m:t>
                                  </m:r>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𝑟</m:t>
                                  </m:r>
                                </m:e>
                                <m:sub>
                                  <m:r>
                                    <a:rPr lang="zh-CN" altLang="en-US" sz="1200" i="0">
                                      <a:latin typeface="Cambria Math" panose="02040503050406030204" pitchFamily="18" charset="0"/>
                                    </a:rPr>
                                    <m:t>22</m:t>
                                  </m:r>
                                </m:sub>
                              </m:s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𝑆</m:t>
                                  </m:r>
                                </m:e>
                                <m:sub>
                                  <m:r>
                                    <a:rPr lang="zh-CN" altLang="en-US" sz="1200" i="0">
                                      <a:latin typeface="Cambria Math" panose="02040503050406030204" pitchFamily="18" charset="0"/>
                                    </a:rPr>
                                    <m:t>1</m:t>
                                  </m:r>
                                </m:sub>
                              </m:sSub>
                            </m:e>
                          </m:d>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𝐶</m:t>
                              </m:r>
                            </m:e>
                            <m:sub>
                              <m:r>
                                <a:rPr lang="zh-CN" altLang="en-US" sz="1200" i="0">
                                  <a:latin typeface="Cambria Math" panose="02040503050406030204" pitchFamily="18" charset="0"/>
                                </a:rPr>
                                <m:t>6</m:t>
                              </m:r>
                            </m:sub>
                          </m:sSub>
                          <m:r>
                            <a:rPr lang="zh-CN" altLang="en-US" sz="1200" i="0">
                              <a:latin typeface="Cambria Math" panose="02040503050406030204" pitchFamily="18" charset="0"/>
                            </a:rPr>
                            <m:t>+</m:t>
                          </m:r>
                          <m:d>
                            <m:dPr>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𝑟</m:t>
                                  </m:r>
                                </m:e>
                                <m:sub>
                                  <m:r>
                                    <a:rPr lang="zh-CN" altLang="en-US" sz="1200" i="0">
                                      <a:latin typeface="Cambria Math" panose="02040503050406030204" pitchFamily="18" charset="0"/>
                                    </a:rPr>
                                    <m:t>11</m:t>
                                  </m:r>
                                </m:sub>
                              </m:s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𝐶</m:t>
                                  </m:r>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𝑟</m:t>
                                  </m:r>
                                </m:e>
                                <m:sub>
                                  <m:r>
                                    <a:rPr lang="zh-CN" altLang="en-US" sz="1200" i="0">
                                      <a:latin typeface="Cambria Math" panose="02040503050406030204" pitchFamily="18" charset="0"/>
                                    </a:rPr>
                                    <m:t>21</m:t>
                                  </m:r>
                                </m:sub>
                              </m:s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𝑆</m:t>
                                  </m:r>
                                </m:e>
                                <m:sub>
                                  <m:r>
                                    <a:rPr lang="zh-CN" altLang="en-US" sz="1200" i="0">
                                      <a:latin typeface="Cambria Math" panose="02040503050406030204" pitchFamily="18" charset="0"/>
                                    </a:rPr>
                                    <m:t>1</m:t>
                                  </m:r>
                                </m:sub>
                              </m:sSub>
                            </m:e>
                          </m:d>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𝑆</m:t>
                              </m:r>
                            </m:e>
                            <m:sub>
                              <m:r>
                                <a:rPr lang="zh-CN" altLang="en-US" sz="1200" i="0">
                                  <a:latin typeface="Cambria Math" panose="02040503050406030204" pitchFamily="18" charset="0"/>
                                </a:rPr>
                                <m:t>6</m:t>
                              </m:r>
                            </m:sub>
                          </m:sSub>
                        </m:e>
                      </m:d>
                      <m:r>
                        <a:rPr lang="zh-CN" altLang="en-US" sz="1200" i="0">
                          <a:latin typeface="Cambria Math" panose="02040503050406030204" pitchFamily="18" charset="0"/>
                        </a:rPr>
                        <m:t>−</m:t>
                      </m:r>
                      <m:d>
                        <m:dPr>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𝑟</m:t>
                              </m:r>
                            </m:e>
                            <m:sub>
                              <m:r>
                                <a:rPr lang="zh-CN" altLang="en-US" sz="1200" i="0">
                                  <a:latin typeface="Cambria Math" panose="02040503050406030204" pitchFamily="18" charset="0"/>
                                </a:rPr>
                                <m:t>13</m:t>
                              </m:r>
                            </m:sub>
                          </m:s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𝐶</m:t>
                              </m:r>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𝑟</m:t>
                              </m:r>
                            </m:e>
                            <m:sub>
                              <m:r>
                                <a:rPr lang="zh-CN" altLang="en-US" sz="1200" i="0">
                                  <a:latin typeface="Cambria Math" panose="02040503050406030204" pitchFamily="18" charset="0"/>
                                </a:rPr>
                                <m:t>23</m:t>
                              </m:r>
                            </m:sub>
                          </m:s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𝑆</m:t>
                              </m:r>
                            </m:e>
                            <m:sub>
                              <m:r>
                                <a:rPr lang="zh-CN" altLang="en-US" sz="1200" i="0">
                                  <a:latin typeface="Cambria Math" panose="02040503050406030204" pitchFamily="18" charset="0"/>
                                </a:rPr>
                                <m:t>1</m:t>
                              </m:r>
                            </m:sub>
                          </m:sSub>
                        </m:e>
                      </m:d>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r>
                            <a:rPr lang="zh-CN" altLang="en-US" sz="1200" i="0">
                              <a:latin typeface="Cambria Math" panose="02040503050406030204" pitchFamily="18" charset="0"/>
                            </a:rPr>
                            <m:t>6</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𝑎</m:t>
                          </m:r>
                        </m:e>
                        <m:sub>
                          <m:r>
                            <a:rPr lang="zh-CN" altLang="en-US" sz="1200" i="0">
                              <a:latin typeface="Cambria Math" panose="02040503050406030204" pitchFamily="18" charset="0"/>
                            </a:rPr>
                            <m:t>4</m:t>
                          </m:r>
                        </m:sub>
                      </m:s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𝐶</m:t>
                          </m:r>
                        </m:e>
                        <m:sub>
                          <m:r>
                            <a:rPr lang="zh-CN" altLang="en-US" sz="1200" i="0">
                              <a:latin typeface="Cambria Math" panose="02040503050406030204" pitchFamily="18" charset="0"/>
                            </a:rPr>
                            <m:t>23</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𝑎</m:t>
                          </m:r>
                        </m:e>
                        <m:sub>
                          <m:r>
                            <a:rPr lang="zh-CN" altLang="en-US" sz="1200" i="0">
                              <a:latin typeface="Cambria Math" panose="02040503050406030204" pitchFamily="18" charset="0"/>
                            </a:rPr>
                            <m:t>3</m:t>
                          </m:r>
                        </m:sub>
                      </m:s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𝐶</m:t>
                          </m:r>
                        </m:e>
                        <m:sub>
                          <m:r>
                            <a:rPr lang="zh-CN" altLang="en-US" sz="1200" i="0">
                              <a:latin typeface="Cambria Math" panose="02040503050406030204" pitchFamily="18" charset="0"/>
                            </a:rPr>
                            <m:t>2</m:t>
                          </m:r>
                        </m:sub>
                      </m:sSub>
                    </m:oMath>
                  </m:oMathPara>
                </a14:m>
                <a:endParaRPr lang="zh-CN" altLang="en-US" sz="1200" dirty="0"/>
              </a:p>
            </p:txBody>
          </p:sp>
        </mc:Choice>
        <mc:Fallback xmlns="">
          <p:sp>
            <p:nvSpPr>
              <p:cNvPr id="26" name="矩形 25"/>
              <p:cNvSpPr>
                <a:spLocks noRot="1" noChangeAspect="1" noMove="1" noResize="1" noEditPoints="1" noAdjustHandles="1" noChangeArrowheads="1" noChangeShapeType="1" noTextEdit="1"/>
              </p:cNvSpPr>
              <p:nvPr/>
            </p:nvSpPr>
            <p:spPr>
              <a:xfrm>
                <a:off x="2591719" y="3284638"/>
                <a:ext cx="6428778" cy="304827"/>
              </a:xfrm>
              <a:prstGeom prst="rect">
                <a:avLst/>
              </a:prstGeom>
              <a:blipFill>
                <a:blip r:embed="rId8"/>
                <a:stretch>
                  <a:fillRect/>
                </a:stretch>
              </a:blipFill>
            </p:spPr>
            <p:txBody>
              <a:bodyPr/>
              <a:lstStyle/>
              <a:p>
                <a:r>
                  <a:rPr lang="zh-CN" altLang="en-US">
                    <a:noFill/>
                  </a:rPr>
                  <a:t> </a:t>
                </a:r>
              </a:p>
            </p:txBody>
          </p:sp>
        </mc:Fallback>
      </mc:AlternateContent>
      <p:sp>
        <p:nvSpPr>
          <p:cNvPr id="27" name="矩形 26"/>
          <p:cNvSpPr/>
          <p:nvPr/>
        </p:nvSpPr>
        <p:spPr>
          <a:xfrm>
            <a:off x="244573" y="3661976"/>
            <a:ext cx="2441694" cy="338554"/>
          </a:xfrm>
          <a:prstGeom prst="rect">
            <a:avLst/>
          </a:prstGeom>
        </p:spPr>
        <p:txBody>
          <a:bodyPr wrap="square">
            <a:spAutoFit/>
          </a:bodyPr>
          <a:lstStyle/>
          <a:p>
            <a:r>
              <a:rPr lang="zh-CN" altLang="zh-CN" sz="1600" dirty="0">
                <a:ea typeface="等线" panose="02010600030101010101" pitchFamily="2" charset="-122"/>
                <a:cs typeface="Times New Roman" panose="02020603050405020304" pitchFamily="18" charset="0"/>
              </a:rPr>
              <a:t>由第三行第四列两边</a:t>
            </a:r>
            <a:r>
              <a:rPr lang="zh-CN" altLang="zh-CN" sz="1600" dirty="0" smtClean="0">
                <a:ea typeface="等线" panose="02010600030101010101" pitchFamily="2" charset="-122"/>
                <a:cs typeface="Times New Roman" panose="02020603050405020304" pitchFamily="18" charset="0"/>
              </a:rPr>
              <a:t>相等</a:t>
            </a:r>
            <a:endParaRPr lang="zh-CN" altLang="en-US" sz="1600" dirty="0"/>
          </a:p>
        </p:txBody>
      </p:sp>
      <mc:AlternateContent xmlns:mc="http://schemas.openxmlformats.org/markup-compatibility/2006" xmlns:a14="http://schemas.microsoft.com/office/drawing/2010/main">
        <mc:Choice Requires="a14">
          <p:sp>
            <p:nvSpPr>
              <p:cNvPr id="28" name="矩形 27"/>
              <p:cNvSpPr/>
              <p:nvPr/>
            </p:nvSpPr>
            <p:spPr>
              <a:xfrm>
                <a:off x="2242055" y="3645112"/>
                <a:ext cx="4572000" cy="290849"/>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r>
                            <a:rPr lang="zh-CN" altLang="en-US" sz="1200" i="0">
                              <a:latin typeface="Cambria Math" panose="02040503050406030204" pitchFamily="18" charset="0"/>
                            </a:rPr>
                            <m:t>5</m:t>
                          </m:r>
                        </m:sub>
                      </m:sSub>
                      <m:sSub>
                        <m:sSubPr>
                          <m:ctrlPr>
                            <a:rPr lang="zh-CN" altLang="en-US" sz="1200" i="1">
                              <a:latin typeface="Cambria Math" panose="02040503050406030204" pitchFamily="18" charset="0"/>
                            </a:rPr>
                          </m:ctrlPr>
                        </m:sSubPr>
                        <m:e>
                          <m:d>
                            <m:dPr>
                              <m:endChr m:val=""/>
                              <m:ctrlPr>
                                <a:rPr lang="zh-CN" altLang="en-US" sz="1200" i="1">
                                  <a:latin typeface="Cambria Math" panose="02040503050406030204" pitchFamily="18" charset="0"/>
                                </a:rPr>
                              </m:ctrlPr>
                            </m:dPr>
                            <m:e>
                              <m:r>
                                <a:rPr lang="zh-CN" altLang="en-US" sz="1200" i="1">
                                  <a:latin typeface="Cambria Math" panose="02040503050406030204" pitchFamily="18" charset="0"/>
                                </a:rPr>
                                <m:t>𝑟</m:t>
                              </m:r>
                            </m:e>
                          </m:d>
                        </m:e>
                        <m:sub>
                          <m:r>
                            <a:rPr lang="zh-CN" altLang="en-US" sz="1200" i="0">
                              <a:latin typeface="Cambria Math" panose="02040503050406030204" pitchFamily="18" charset="0"/>
                            </a:rPr>
                            <m:t>31</m:t>
                          </m:r>
                        </m:sub>
                      </m:s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𝑆</m:t>
                          </m:r>
                        </m:e>
                        <m:sub>
                          <m:r>
                            <a:rPr lang="zh-CN" altLang="en-US" sz="1200" i="0">
                              <a:latin typeface="Cambria Math" panose="02040503050406030204" pitchFamily="18" charset="0"/>
                            </a:rPr>
                            <m:t>6</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𝑟</m:t>
                          </m:r>
                        </m:e>
                        <m:sub>
                          <m:r>
                            <a:rPr lang="zh-CN" altLang="en-US" sz="1200" i="0">
                              <a:latin typeface="Cambria Math" panose="02040503050406030204" pitchFamily="18" charset="0"/>
                            </a:rPr>
                            <m:t>32</m:t>
                          </m:r>
                        </m:sub>
                      </m:s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𝐶</m:t>
                          </m:r>
                        </m:e>
                        <m:sub>
                          <m:r>
                            <a:rPr lang="zh-CN" altLang="en-US" sz="1200" i="0">
                              <a:latin typeface="Cambria Math" panose="02040503050406030204" pitchFamily="18" charset="0"/>
                            </a:rPr>
                            <m:t>6</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m:t>
                          </m:r>
                          <m:r>
                            <a:rPr lang="zh-CN" altLang="en-US" sz="1200" i="1">
                              <a:latin typeface="Cambria Math" panose="02040503050406030204" pitchFamily="18" charset="0"/>
                            </a:rPr>
                            <m:t>𝑑</m:t>
                          </m:r>
                        </m:e>
                        <m:sub>
                          <m:r>
                            <a:rPr lang="zh-CN" altLang="en-US" sz="1200" i="0">
                              <a:latin typeface="Cambria Math" panose="02040503050406030204" pitchFamily="18" charset="0"/>
                            </a:rPr>
                            <m:t>6</m:t>
                          </m:r>
                        </m:sub>
                      </m:s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𝑟</m:t>
                          </m:r>
                        </m:e>
                        <m:sub>
                          <m:r>
                            <a:rPr lang="zh-CN" altLang="en-US" sz="1200" i="0">
                              <a:latin typeface="Cambria Math" panose="02040503050406030204" pitchFamily="18" charset="0"/>
                            </a:rPr>
                            <m:t>33</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𝑝</m:t>
                          </m:r>
                        </m:e>
                        <m:sub>
                          <m:r>
                            <a:rPr lang="zh-CN" altLang="en-US" sz="1200" i="1">
                              <a:latin typeface="Cambria Math" panose="02040503050406030204" pitchFamily="18" charset="0"/>
                            </a:rPr>
                            <m:t>𝑧</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𝑎</m:t>
                          </m:r>
                        </m:e>
                        <m:sub>
                          <m:r>
                            <a:rPr lang="zh-CN" altLang="en-US" sz="1200" i="0">
                              <a:latin typeface="Cambria Math" panose="02040503050406030204" pitchFamily="18" charset="0"/>
                            </a:rPr>
                            <m:t>4</m:t>
                          </m:r>
                        </m:sub>
                      </m:s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𝑆</m:t>
                          </m:r>
                        </m:e>
                        <m:sub>
                          <m:r>
                            <a:rPr lang="zh-CN" altLang="en-US" sz="1200" i="0">
                              <a:latin typeface="Cambria Math" panose="02040503050406030204" pitchFamily="18" charset="0"/>
                            </a:rPr>
                            <m:t>23</m:t>
                          </m:r>
                        </m:sub>
                      </m:sSub>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m:t>
                          </m:r>
                          <m:r>
                            <a:rPr lang="zh-CN" altLang="en-US" sz="1200" i="1">
                              <a:latin typeface="Cambria Math" panose="02040503050406030204" pitchFamily="18" charset="0"/>
                            </a:rPr>
                            <m:t>𝑎</m:t>
                          </m:r>
                        </m:e>
                        <m:sub>
                          <m:r>
                            <a:rPr lang="zh-CN" altLang="en-US" sz="1200" i="0">
                              <a:latin typeface="Cambria Math" panose="02040503050406030204" pitchFamily="18" charset="0"/>
                            </a:rPr>
                            <m:t>3</m:t>
                          </m:r>
                        </m:sub>
                      </m:s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𝑆</m:t>
                          </m:r>
                        </m:e>
                        <m:sub>
                          <m:r>
                            <a:rPr lang="zh-CN" altLang="en-US" sz="1200" i="0">
                              <a:latin typeface="Cambria Math" panose="02040503050406030204" pitchFamily="18" charset="0"/>
                            </a:rPr>
                            <m:t>2</m:t>
                          </m:r>
                        </m:sub>
                      </m:sSub>
                    </m:oMath>
                  </m:oMathPara>
                </a14:m>
                <a:endParaRPr lang="zh-CN" altLang="en-US" sz="1200" dirty="0"/>
              </a:p>
            </p:txBody>
          </p:sp>
        </mc:Choice>
        <mc:Fallback xmlns="">
          <p:sp>
            <p:nvSpPr>
              <p:cNvPr id="28" name="矩形 27"/>
              <p:cNvSpPr>
                <a:spLocks noRot="1" noChangeAspect="1" noMove="1" noResize="1" noEditPoints="1" noAdjustHandles="1" noChangeArrowheads="1" noChangeShapeType="1" noTextEdit="1"/>
              </p:cNvSpPr>
              <p:nvPr/>
            </p:nvSpPr>
            <p:spPr>
              <a:xfrm>
                <a:off x="2242055" y="3645112"/>
                <a:ext cx="4572000" cy="290849"/>
              </a:xfrm>
              <a:prstGeom prst="rect">
                <a:avLst/>
              </a:prstGeom>
              <a:blipFill>
                <a:blip r:embed="rId9"/>
                <a:stretch>
                  <a:fillRect t="-100000" b="-152083"/>
                </a:stretch>
              </a:blipFill>
            </p:spPr>
            <p:txBody>
              <a:bodyPr/>
              <a:lstStyle/>
              <a:p>
                <a:r>
                  <a:rPr lang="zh-CN" altLang="en-US">
                    <a:noFill/>
                  </a:rPr>
                  <a:t> </a:t>
                </a:r>
              </a:p>
            </p:txBody>
          </p:sp>
        </mc:Fallback>
      </mc:AlternateContent>
      <p:pic>
        <p:nvPicPr>
          <p:cNvPr id="29" name="图片 28"/>
          <p:cNvPicPr>
            <a:picLocks noChangeAspect="1"/>
          </p:cNvPicPr>
          <p:nvPr/>
        </p:nvPicPr>
        <p:blipFill>
          <a:blip r:embed="rId10"/>
          <a:stretch>
            <a:fillRect/>
          </a:stretch>
        </p:blipFill>
        <p:spPr>
          <a:xfrm>
            <a:off x="274090" y="3991608"/>
            <a:ext cx="5314286" cy="600000"/>
          </a:xfrm>
          <a:prstGeom prst="rect">
            <a:avLst/>
          </a:prstGeom>
        </p:spPr>
      </p:pic>
      <mc:AlternateContent xmlns:mc="http://schemas.openxmlformats.org/markup-compatibility/2006" xmlns:a14="http://schemas.microsoft.com/office/drawing/2010/main">
        <mc:Choice Requires="a14">
          <p:sp>
            <p:nvSpPr>
              <p:cNvPr id="30" name="矩形 29"/>
              <p:cNvSpPr/>
              <p:nvPr/>
            </p:nvSpPr>
            <p:spPr>
              <a:xfrm>
                <a:off x="5617893" y="3935961"/>
                <a:ext cx="179286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𝑚</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4</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𝑐</m:t>
                          </m:r>
                        </m:e>
                        <m:sub>
                          <m:r>
                            <a:rPr lang="zh-CN" altLang="en-US" sz="1600" i="0">
                              <a:latin typeface="Cambria Math" panose="02040503050406030204" pitchFamily="18" charset="0"/>
                            </a:rPr>
                            <m:t>23</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3</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𝑐</m:t>
                          </m:r>
                        </m:e>
                        <m:sub>
                          <m:r>
                            <a:rPr lang="zh-CN" altLang="en-US" sz="1600" i="0">
                              <a:latin typeface="Cambria Math" panose="02040503050406030204" pitchFamily="18" charset="0"/>
                            </a:rPr>
                            <m:t>2</m:t>
                          </m:r>
                        </m:sub>
                      </m:sSub>
                    </m:oMath>
                  </m:oMathPara>
                </a14:m>
                <a:endParaRPr lang="zh-CN" altLang="en-US" sz="1600" dirty="0"/>
              </a:p>
            </p:txBody>
          </p:sp>
        </mc:Choice>
        <mc:Fallback xmlns="">
          <p:sp>
            <p:nvSpPr>
              <p:cNvPr id="30" name="矩形 29"/>
              <p:cNvSpPr>
                <a:spLocks noRot="1" noChangeAspect="1" noMove="1" noResize="1" noEditPoints="1" noAdjustHandles="1" noChangeArrowheads="1" noChangeShapeType="1" noTextEdit="1"/>
              </p:cNvSpPr>
              <p:nvPr/>
            </p:nvSpPr>
            <p:spPr>
              <a:xfrm>
                <a:off x="5617893" y="3935961"/>
                <a:ext cx="1792862" cy="338554"/>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30"/>
              <p:cNvSpPr/>
              <p:nvPr/>
            </p:nvSpPr>
            <p:spPr>
              <a:xfrm>
                <a:off x="5640068" y="4222276"/>
                <a:ext cx="1738361"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𝑛</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4</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𝑠</m:t>
                          </m:r>
                        </m:e>
                        <m:sub>
                          <m:r>
                            <a:rPr lang="zh-CN" altLang="en-US" sz="1600" i="0">
                              <a:latin typeface="Cambria Math" panose="02040503050406030204" pitchFamily="18" charset="0"/>
                            </a:rPr>
                            <m:t>23</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3</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𝑠</m:t>
                          </m:r>
                        </m:e>
                        <m:sub>
                          <m:r>
                            <a:rPr lang="zh-CN" altLang="en-US" sz="1600" i="0">
                              <a:latin typeface="Cambria Math" panose="02040503050406030204" pitchFamily="18" charset="0"/>
                            </a:rPr>
                            <m:t>2</m:t>
                          </m:r>
                        </m:sub>
                      </m:sSub>
                    </m:oMath>
                  </m:oMathPara>
                </a14:m>
                <a:endParaRPr lang="zh-CN" altLang="en-US" sz="1600" dirty="0"/>
              </a:p>
            </p:txBody>
          </p:sp>
        </mc:Choice>
        <mc:Fallback xmlns="">
          <p:sp>
            <p:nvSpPr>
              <p:cNvPr id="31" name="矩形 30"/>
              <p:cNvSpPr>
                <a:spLocks noRot="1" noChangeAspect="1" noMove="1" noResize="1" noEditPoints="1" noAdjustHandles="1" noChangeArrowheads="1" noChangeShapeType="1" noTextEdit="1"/>
              </p:cNvSpPr>
              <p:nvPr/>
            </p:nvSpPr>
            <p:spPr>
              <a:xfrm>
                <a:off x="5640068" y="4222276"/>
                <a:ext cx="1738361" cy="338554"/>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p:cNvSpPr/>
              <p:nvPr/>
            </p:nvSpPr>
            <p:spPr>
              <a:xfrm>
                <a:off x="304286" y="4647255"/>
                <a:ext cx="4006610" cy="34317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𝑎</m:t>
                          </m:r>
                        </m:e>
                        <m:sub>
                          <m:r>
                            <a:rPr lang="zh-CN" altLang="en-US" sz="1600" i="0">
                              <a:latin typeface="Cambria Math" panose="02040503050406030204" pitchFamily="18" charset="0"/>
                            </a:rPr>
                            <m:t>3</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𝑎</m:t>
                          </m:r>
                        </m:e>
                        <m:sub>
                          <m:r>
                            <a:rPr lang="zh-CN" altLang="en-US" sz="1600" i="0">
                              <a:latin typeface="Cambria Math" panose="02040503050406030204" pitchFamily="18" charset="0"/>
                            </a:rPr>
                            <m:t>4</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+2</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3</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4</m:t>
                          </m:r>
                        </m:sub>
                      </m:sSub>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𝑠</m:t>
                              </m:r>
                            </m:e>
                            <m:sub>
                              <m:r>
                                <a:rPr lang="zh-CN" altLang="en-US" sz="1600" i="0">
                                  <a:latin typeface="Cambria Math" panose="02040503050406030204" pitchFamily="18" charset="0"/>
                                </a:rPr>
                                <m:t>23</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𝑠</m:t>
                              </m:r>
                            </m:e>
                            <m:sub>
                              <m:r>
                                <a:rPr lang="zh-CN" altLang="en-US" sz="1600" i="0">
                                  <a:latin typeface="Cambria Math" panose="02040503050406030204" pitchFamily="18" charset="0"/>
                                </a:rPr>
                                <m:t>2</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𝑐</m:t>
                              </m:r>
                            </m:e>
                            <m:sub>
                              <m:r>
                                <a:rPr lang="zh-CN" altLang="en-US" sz="1600" i="0">
                                  <a:latin typeface="Cambria Math" panose="02040503050406030204" pitchFamily="18" charset="0"/>
                                </a:rPr>
                                <m:t>23</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𝑐</m:t>
                              </m:r>
                            </m:e>
                            <m:sub>
                              <m:r>
                                <a:rPr lang="zh-CN" altLang="en-US" sz="1600" i="0">
                                  <a:latin typeface="Cambria Math" panose="02040503050406030204" pitchFamily="18" charset="0"/>
                                </a:rPr>
                                <m:t>2</m:t>
                              </m:r>
                            </m:sub>
                          </m:sSub>
                        </m:e>
                      </m:d>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𝑚</m:t>
                          </m:r>
                        </m:e>
                        <m:sup>
                          <m:r>
                            <a:rPr lang="zh-CN" altLang="en-US" sz="1600" i="0">
                              <a:latin typeface="Cambria Math" panose="02040503050406030204" pitchFamily="18" charset="0"/>
                            </a:rPr>
                            <m:t>2</m:t>
                          </m:r>
                        </m:sup>
                      </m:sSup>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𝑛</m:t>
                          </m:r>
                        </m:e>
                        <m:sup>
                          <m:r>
                            <a:rPr lang="zh-CN" altLang="en-US" sz="1600" i="0">
                              <a:latin typeface="Cambria Math" panose="02040503050406030204" pitchFamily="18" charset="0"/>
                            </a:rPr>
                            <m:t>2</m:t>
                          </m:r>
                        </m:sup>
                      </m:sSup>
                    </m:oMath>
                  </m:oMathPara>
                </a14:m>
                <a:endParaRPr lang="zh-CN" altLang="en-US" sz="1600" dirty="0"/>
              </a:p>
            </p:txBody>
          </p:sp>
        </mc:Choice>
        <mc:Fallback xmlns="">
          <p:sp>
            <p:nvSpPr>
              <p:cNvPr id="32" name="矩形 31"/>
              <p:cNvSpPr>
                <a:spLocks noRot="1" noChangeAspect="1" noMove="1" noResize="1" noEditPoints="1" noAdjustHandles="1" noChangeArrowheads="1" noChangeShapeType="1" noTextEdit="1"/>
              </p:cNvSpPr>
              <p:nvPr/>
            </p:nvSpPr>
            <p:spPr>
              <a:xfrm>
                <a:off x="304286" y="4647255"/>
                <a:ext cx="4006610" cy="343171"/>
              </a:xfrm>
              <a:prstGeom prst="rect">
                <a:avLst/>
              </a:prstGeom>
              <a:blipFill>
                <a:blip r:embed="rId13"/>
                <a:stretch>
                  <a:fillRect/>
                </a:stretch>
              </a:blipFill>
            </p:spPr>
            <p:txBody>
              <a:bodyPr/>
              <a:lstStyle/>
              <a:p>
                <a:r>
                  <a:rPr lang="zh-CN" altLang="en-US">
                    <a:noFill/>
                  </a:rPr>
                  <a:t> </a:t>
                </a:r>
              </a:p>
            </p:txBody>
          </p:sp>
        </mc:Fallback>
      </mc:AlternateContent>
      <p:sp>
        <p:nvSpPr>
          <p:cNvPr id="33" name="右箭头 32"/>
          <p:cNvSpPr/>
          <p:nvPr/>
        </p:nvSpPr>
        <p:spPr>
          <a:xfrm>
            <a:off x="4593331" y="4647255"/>
            <a:ext cx="389385" cy="3246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5" name="对象 34"/>
          <p:cNvGraphicFramePr>
            <a:graphicFrameLocks noChangeAspect="1"/>
          </p:cNvGraphicFramePr>
          <p:nvPr>
            <p:extLst>
              <p:ext uri="{D42A27DB-BD31-4B8C-83A1-F6EECF244321}">
                <p14:modId xmlns:p14="http://schemas.microsoft.com/office/powerpoint/2010/main" val="3106969792"/>
              </p:ext>
            </p:extLst>
          </p:nvPr>
        </p:nvGraphicFramePr>
        <p:xfrm>
          <a:off x="5500191" y="4520313"/>
          <a:ext cx="2627727" cy="582670"/>
        </p:xfrm>
        <a:graphic>
          <a:graphicData uri="http://schemas.openxmlformats.org/presentationml/2006/ole">
            <mc:AlternateContent xmlns:mc="http://schemas.openxmlformats.org/markup-compatibility/2006">
              <mc:Choice xmlns:v="urn:schemas-microsoft-com:vml" Requires="v">
                <p:oleObj spid="_x0000_s33860" r:id="rId14" imgW="2184400" imgH="482600" progId="Equation.DSMT4">
                  <p:embed/>
                </p:oleObj>
              </mc:Choice>
              <mc:Fallback>
                <p:oleObj r:id="rId14" imgW="2184400" imgH="482600" progId="Equation.DSMT4">
                  <p:embed/>
                  <p:pic>
                    <p:nvPicPr>
                      <p:cNvPr id="0" name="Object 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500191" y="4520313"/>
                        <a:ext cx="2627727" cy="582670"/>
                      </a:xfrm>
                      <a:prstGeom prst="rect">
                        <a:avLst/>
                      </a:prstGeom>
                      <a:noFill/>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Inverse Kinematics of 6R </a:t>
              </a:r>
              <a:r>
                <a:rPr lang="en-US" altLang="zh-CN" sz="1000" dirty="0">
                  <a:latin typeface="Arial" panose="020B0604020202020204" pitchFamily="34" charset="0"/>
                  <a:ea typeface="微软雅黑" panose="020B0503020204020204" charset="-122"/>
                  <a:sym typeface="+mn-ea"/>
                </a:rPr>
                <a:t>S</a:t>
              </a:r>
              <a:r>
                <a:rPr lang="en-US" altLang="zh-CN" sz="1000" dirty="0" smtClean="0">
                  <a:latin typeface="Arial" panose="020B0604020202020204" pitchFamily="34" charset="0"/>
                  <a:ea typeface="微软雅黑" panose="020B0503020204020204" charset="-122"/>
                  <a:sym typeface="+mn-ea"/>
                </a:rPr>
                <a:t>erial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6R</a:t>
              </a:r>
              <a:r>
                <a:rPr lang="zh-CN" altLang="en-US" sz="2000" b="1" dirty="0">
                  <a:latin typeface="Arial" panose="020B0604020202020204" pitchFamily="34" charset="0"/>
                  <a:ea typeface="微软雅黑" panose="020B0503020204020204" charset="-122"/>
                  <a:sym typeface="+mn-ea"/>
                </a:rPr>
                <a:t>串联机器人逆运动学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p:nvSpPr>
        <p:spPr>
          <a:xfrm>
            <a:off x="2178137" y="803488"/>
            <a:ext cx="4999115" cy="400110"/>
          </a:xfrm>
          <a:prstGeom prst="rect">
            <a:avLst/>
          </a:prstGeom>
        </p:spPr>
        <p:txBody>
          <a:bodyPr wrap="square">
            <a:spAutoFit/>
          </a:bodyPr>
          <a:lstStyle/>
          <a:p>
            <a:r>
              <a:rPr lang="zh-CN" altLang="en-US" sz="2000" b="1" dirty="0">
                <a:solidFill>
                  <a:srgbClr val="002060"/>
                </a:solidFill>
              </a:rPr>
              <a:t>满足Pieper准则的解析解求</a:t>
            </a:r>
            <a:r>
              <a:rPr lang="zh-CN" altLang="en-US" sz="2000" b="1" dirty="0" smtClean="0">
                <a:solidFill>
                  <a:srgbClr val="002060"/>
                </a:solidFill>
              </a:rPr>
              <a:t>法</a:t>
            </a:r>
            <a:r>
              <a:rPr lang="en-US" altLang="zh-CN" sz="2000" b="1" dirty="0">
                <a:solidFill>
                  <a:srgbClr val="002060"/>
                </a:solidFill>
              </a:rPr>
              <a:t>(</a:t>
            </a:r>
            <a:r>
              <a:rPr lang="zh-CN" altLang="en-US" sz="2000" b="1" dirty="0">
                <a:solidFill>
                  <a:srgbClr val="002060"/>
                </a:solidFill>
              </a:rPr>
              <a:t>实例讲解</a:t>
            </a:r>
            <a:r>
              <a:rPr lang="en-US" altLang="zh-CN" sz="2000" b="1" dirty="0" smtClean="0">
                <a:solidFill>
                  <a:srgbClr val="002060"/>
                </a:solidFill>
              </a:rPr>
              <a:t>)</a:t>
            </a:r>
            <a:endParaRPr lang="zh-CN" altLang="en-US" sz="2000" b="1" dirty="0">
              <a:solidFill>
                <a:srgbClr val="002060"/>
              </a:solidFill>
            </a:endParaRPr>
          </a:p>
        </p:txBody>
      </p:sp>
      <p:sp>
        <p:nvSpPr>
          <p:cNvPr id="20" name="形状"/>
          <p:cNvSpPr/>
          <p:nvPr>
            <p:custDataLst>
              <p:tags r:id="rId2"/>
            </p:custDataLst>
          </p:nvPr>
        </p:nvSpPr>
        <p:spPr>
          <a:xfrm>
            <a:off x="365396" y="1406550"/>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2" name="矩形 21"/>
          <p:cNvSpPr/>
          <p:nvPr/>
        </p:nvSpPr>
        <p:spPr>
          <a:xfrm>
            <a:off x="682355" y="1387024"/>
            <a:ext cx="763351" cy="369332"/>
          </a:xfrm>
          <a:prstGeom prst="rect">
            <a:avLst/>
          </a:prstGeom>
        </p:spPr>
        <p:txBody>
          <a:bodyPr wrap="none">
            <a:spAutoFit/>
          </a:bodyPr>
          <a:lstStyle/>
          <a:p>
            <a:r>
              <a:rPr lang="zh-CN" altLang="en-US" b="1" dirty="0" smtClean="0">
                <a:solidFill>
                  <a:srgbClr val="002060"/>
                </a:solidFill>
              </a:rPr>
              <a:t>第</a:t>
            </a:r>
            <a:r>
              <a:rPr lang="en-US" altLang="zh-CN" b="1" dirty="0" smtClean="0">
                <a:solidFill>
                  <a:srgbClr val="002060"/>
                </a:solidFill>
              </a:rPr>
              <a:t>5</a:t>
            </a:r>
            <a:r>
              <a:rPr lang="zh-CN" altLang="en-US" b="1" dirty="0" smtClean="0">
                <a:solidFill>
                  <a:srgbClr val="002060"/>
                </a:solidFill>
              </a:rPr>
              <a:t>步</a:t>
            </a:r>
            <a:endParaRPr lang="zh-CN" altLang="en-US" b="1" dirty="0">
              <a:solidFill>
                <a:srgbClr val="002060"/>
              </a:solidFill>
            </a:endParaRPr>
          </a:p>
        </p:txBody>
      </p:sp>
      <mc:AlternateContent xmlns:mc="http://schemas.openxmlformats.org/markup-compatibility/2006" xmlns:a14="http://schemas.microsoft.com/office/drawing/2010/main">
        <mc:Choice Requires="a14">
          <p:sp>
            <p:nvSpPr>
              <p:cNvPr id="8" name="矩形 7"/>
              <p:cNvSpPr/>
              <p:nvPr/>
            </p:nvSpPr>
            <p:spPr>
              <a:xfrm>
                <a:off x="1979712" y="1367499"/>
                <a:ext cx="179286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𝑚</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4</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𝑐</m:t>
                          </m:r>
                        </m:e>
                        <m:sub>
                          <m:r>
                            <a:rPr lang="zh-CN" altLang="en-US" sz="1600" i="0">
                              <a:latin typeface="Cambria Math" panose="02040503050406030204" pitchFamily="18" charset="0"/>
                            </a:rPr>
                            <m:t>23</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3</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𝑐</m:t>
                          </m:r>
                        </m:e>
                        <m:sub>
                          <m:r>
                            <a:rPr lang="zh-CN" altLang="en-US" sz="1600" i="0">
                              <a:latin typeface="Cambria Math" panose="02040503050406030204" pitchFamily="18" charset="0"/>
                            </a:rPr>
                            <m:t>2</m:t>
                          </m:r>
                        </m:sub>
                      </m:sSub>
                    </m:oMath>
                  </m:oMathPara>
                </a14:m>
                <a:endParaRPr lang="zh-CN" altLang="en-US" sz="1600" dirty="0"/>
              </a:p>
            </p:txBody>
          </p:sp>
        </mc:Choice>
        <mc:Fallback xmlns="">
          <p:sp>
            <p:nvSpPr>
              <p:cNvPr id="8" name="矩形 7"/>
              <p:cNvSpPr>
                <a:spLocks noRot="1" noChangeAspect="1" noMove="1" noResize="1" noEditPoints="1" noAdjustHandles="1" noChangeArrowheads="1" noChangeShapeType="1" noTextEdit="1"/>
              </p:cNvSpPr>
              <p:nvPr/>
            </p:nvSpPr>
            <p:spPr>
              <a:xfrm>
                <a:off x="1979712" y="1367499"/>
                <a:ext cx="1792862" cy="33855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1979712" y="1571690"/>
                <a:ext cx="1738361"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𝑛</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4</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𝑠</m:t>
                          </m:r>
                        </m:e>
                        <m:sub>
                          <m:r>
                            <a:rPr lang="zh-CN" altLang="en-US" sz="1600" i="0">
                              <a:latin typeface="Cambria Math" panose="02040503050406030204" pitchFamily="18" charset="0"/>
                            </a:rPr>
                            <m:t>23</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3</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𝑠</m:t>
                          </m:r>
                        </m:e>
                        <m:sub>
                          <m:r>
                            <a:rPr lang="zh-CN" altLang="en-US" sz="1600" i="0">
                              <a:latin typeface="Cambria Math" panose="02040503050406030204" pitchFamily="18" charset="0"/>
                            </a:rPr>
                            <m:t>2</m:t>
                          </m:r>
                        </m:sub>
                      </m:sSub>
                    </m:oMath>
                  </m:oMathPara>
                </a14:m>
                <a:endParaRPr lang="zh-CN" altLang="en-US" sz="1600" dirty="0"/>
              </a:p>
            </p:txBody>
          </p:sp>
        </mc:Choice>
        <mc:Fallback xmlns="">
          <p:sp>
            <p:nvSpPr>
              <p:cNvPr id="9" name="矩形 8"/>
              <p:cNvSpPr>
                <a:spLocks noRot="1" noChangeAspect="1" noMove="1" noResize="1" noEditPoints="1" noAdjustHandles="1" noChangeArrowheads="1" noChangeShapeType="1" noTextEdit="1"/>
              </p:cNvSpPr>
              <p:nvPr/>
            </p:nvSpPr>
            <p:spPr>
              <a:xfrm>
                <a:off x="1979712" y="1571690"/>
                <a:ext cx="1738361" cy="33855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4499992" y="1352110"/>
                <a:ext cx="269990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4</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𝑐</m:t>
                              </m:r>
                            </m:e>
                            <m:sub>
                              <m:r>
                                <a:rPr lang="zh-CN" altLang="en-US" sz="1600" i="0">
                                  <a:latin typeface="Cambria Math" panose="02040503050406030204" pitchFamily="18" charset="0"/>
                                </a:rPr>
                                <m:t>3</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3</m:t>
                              </m:r>
                            </m:sub>
                          </m:sSub>
                        </m:e>
                      </m:d>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𝑐</m:t>
                          </m:r>
                        </m:e>
                        <m:sub>
                          <m:r>
                            <a:rPr lang="zh-CN" altLang="en-US" sz="1600" i="0">
                              <a:latin typeface="Cambria Math" panose="02040503050406030204" pitchFamily="18" charset="0"/>
                            </a:rPr>
                            <m:t>2</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4</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𝑠</m:t>
                          </m:r>
                        </m:e>
                        <m:sub>
                          <m:r>
                            <a:rPr lang="zh-CN" altLang="en-US" sz="1600" i="0">
                              <a:latin typeface="Cambria Math" panose="02040503050406030204" pitchFamily="18" charset="0"/>
                            </a:rPr>
                            <m:t>3</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𝑠</m:t>
                          </m:r>
                        </m:e>
                        <m:sub>
                          <m:r>
                            <a:rPr lang="zh-CN" altLang="en-US" sz="1600" i="0">
                              <a:latin typeface="Cambria Math" panose="02040503050406030204" pitchFamily="18" charset="0"/>
                            </a:rPr>
                            <m:t>2</m:t>
                          </m:r>
                        </m:sub>
                      </m:sSub>
                      <m:r>
                        <a:rPr lang="zh-CN" altLang="en-US" sz="1600" i="0">
                          <a:latin typeface="Cambria Math" panose="02040503050406030204" pitchFamily="18" charset="0"/>
                        </a:rPr>
                        <m:t>=</m:t>
                      </m:r>
                      <m:r>
                        <a:rPr lang="zh-CN" altLang="en-US" sz="1600" i="1">
                          <a:latin typeface="Cambria Math" panose="02040503050406030204" pitchFamily="18" charset="0"/>
                        </a:rPr>
                        <m:t>𝑚</m:t>
                      </m:r>
                    </m:oMath>
                  </m:oMathPara>
                </a14:m>
                <a:endParaRPr lang="zh-CN" altLang="en-US" sz="1600" dirty="0"/>
              </a:p>
            </p:txBody>
          </p:sp>
        </mc:Choice>
        <mc:Fallback xmlns="">
          <p:sp>
            <p:nvSpPr>
              <p:cNvPr id="16" name="矩形 15"/>
              <p:cNvSpPr>
                <a:spLocks noRot="1" noChangeAspect="1" noMove="1" noResize="1" noEditPoints="1" noAdjustHandles="1" noChangeArrowheads="1" noChangeShapeType="1" noTextEdit="1"/>
              </p:cNvSpPr>
              <p:nvPr/>
            </p:nvSpPr>
            <p:spPr>
              <a:xfrm>
                <a:off x="4499992" y="1352110"/>
                <a:ext cx="2699906" cy="33855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4499992" y="1587079"/>
                <a:ext cx="264540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4</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𝑠</m:t>
                          </m:r>
                        </m:e>
                        <m:sub>
                          <m:r>
                            <a:rPr lang="zh-CN" altLang="en-US" sz="1600" i="0">
                              <a:latin typeface="Cambria Math" panose="02040503050406030204" pitchFamily="18" charset="0"/>
                            </a:rPr>
                            <m:t>3</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𝑐</m:t>
                          </m:r>
                        </m:e>
                        <m:sub>
                          <m:r>
                            <a:rPr lang="zh-CN" altLang="en-US" sz="1600" i="0">
                              <a:latin typeface="Cambria Math" panose="02040503050406030204" pitchFamily="18" charset="0"/>
                            </a:rPr>
                            <m:t>2</m:t>
                          </m:r>
                        </m:sub>
                      </m:sSub>
                      <m:r>
                        <a:rPr lang="zh-CN" altLang="en-US" sz="1600" i="0">
                          <a:latin typeface="Cambria Math" panose="02040503050406030204" pitchFamily="18" charset="0"/>
                        </a:rPr>
                        <m:t>+</m:t>
                      </m:r>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4</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𝑐</m:t>
                              </m:r>
                            </m:e>
                            <m:sub>
                              <m:r>
                                <a:rPr lang="zh-CN" altLang="en-US" sz="1600" i="0">
                                  <a:latin typeface="Cambria Math" panose="02040503050406030204" pitchFamily="18" charset="0"/>
                                </a:rPr>
                                <m:t>3</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3</m:t>
                              </m:r>
                            </m:sub>
                          </m:sSub>
                        </m:e>
                      </m:d>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𝑠</m:t>
                          </m:r>
                        </m:e>
                        <m:sub>
                          <m:r>
                            <a:rPr lang="zh-CN" altLang="en-US" sz="1600" i="0">
                              <a:latin typeface="Cambria Math" panose="02040503050406030204" pitchFamily="18" charset="0"/>
                            </a:rPr>
                            <m:t>2</m:t>
                          </m:r>
                        </m:sub>
                      </m:sSub>
                      <m:r>
                        <a:rPr lang="zh-CN" altLang="en-US" sz="1600" i="0">
                          <a:latin typeface="Cambria Math" panose="02040503050406030204" pitchFamily="18" charset="0"/>
                        </a:rPr>
                        <m:t>=</m:t>
                      </m:r>
                      <m:r>
                        <a:rPr lang="zh-CN" altLang="en-US" sz="1600" i="1">
                          <a:latin typeface="Cambria Math" panose="02040503050406030204" pitchFamily="18" charset="0"/>
                        </a:rPr>
                        <m:t>𝑛</m:t>
                      </m:r>
                    </m:oMath>
                  </m:oMathPara>
                </a14:m>
                <a:endParaRPr lang="zh-CN" altLang="en-US" sz="1600" dirty="0"/>
              </a:p>
            </p:txBody>
          </p:sp>
        </mc:Choice>
        <mc:Fallback xmlns="">
          <p:sp>
            <p:nvSpPr>
              <p:cNvPr id="17" name="矩形 16"/>
              <p:cNvSpPr>
                <a:spLocks noRot="1" noChangeAspect="1" noMove="1" noResize="1" noEditPoints="1" noAdjustHandles="1" noChangeArrowheads="1" noChangeShapeType="1" noTextEdit="1"/>
              </p:cNvSpPr>
              <p:nvPr/>
            </p:nvSpPr>
            <p:spPr>
              <a:xfrm>
                <a:off x="4499992" y="1587079"/>
                <a:ext cx="2645404" cy="338554"/>
              </a:xfrm>
              <a:prstGeom prst="rect">
                <a:avLst/>
              </a:prstGeom>
              <a:blipFill>
                <a:blip r:embed="rId8"/>
                <a:stretch>
                  <a:fillRect/>
                </a:stretch>
              </a:blipFill>
            </p:spPr>
            <p:txBody>
              <a:bodyPr/>
              <a:lstStyle/>
              <a:p>
                <a:r>
                  <a:rPr lang="zh-CN" altLang="en-US">
                    <a:noFill/>
                  </a:rPr>
                  <a:t> </a:t>
                </a:r>
              </a:p>
            </p:txBody>
          </p:sp>
        </mc:Fallback>
      </mc:AlternateContent>
      <p:sp>
        <p:nvSpPr>
          <p:cNvPr id="18" name="虚尾箭头 17"/>
          <p:cNvSpPr/>
          <p:nvPr/>
        </p:nvSpPr>
        <p:spPr>
          <a:xfrm>
            <a:off x="3875502" y="1521387"/>
            <a:ext cx="521562" cy="323165"/>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9" name="矩形 18"/>
              <p:cNvSpPr/>
              <p:nvPr/>
            </p:nvSpPr>
            <p:spPr>
              <a:xfrm>
                <a:off x="1979712" y="1991325"/>
                <a:ext cx="1003544" cy="338554"/>
              </a:xfrm>
              <a:prstGeom prst="rect">
                <a:avLst/>
              </a:prstGeom>
            </p:spPr>
            <p:txBody>
              <a:bodyPr wrap="none">
                <a:spAutoFit/>
              </a:bodyPr>
              <a:lstStyle/>
              <a:p>
                <a14:m>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3</m:t>
                        </m:r>
                      </m:sub>
                    </m:sSub>
                  </m:oMath>
                </a14:m>
                <a:r>
                  <a:rPr lang="zh-CN" altLang="en-US" sz="1600" dirty="0" smtClean="0"/>
                  <a:t>已求出</a:t>
                </a:r>
                <a:endParaRPr lang="zh-CN" altLang="en-US" sz="1600" dirty="0"/>
              </a:p>
            </p:txBody>
          </p:sp>
        </mc:Choice>
        <mc:Fallback xmlns="">
          <p:sp>
            <p:nvSpPr>
              <p:cNvPr id="19" name="矩形 18"/>
              <p:cNvSpPr>
                <a:spLocks noRot="1" noChangeAspect="1" noMove="1" noResize="1" noEditPoints="1" noAdjustHandles="1" noChangeArrowheads="1" noChangeShapeType="1" noTextEdit="1"/>
              </p:cNvSpPr>
              <p:nvPr/>
            </p:nvSpPr>
            <p:spPr>
              <a:xfrm>
                <a:off x="1979712" y="1991325"/>
                <a:ext cx="1003544" cy="338554"/>
              </a:xfrm>
              <a:prstGeom prst="rect">
                <a:avLst/>
              </a:prstGeom>
              <a:blipFill>
                <a:blip r:embed="rId9"/>
                <a:stretch>
                  <a:fillRect t="-9091" r="-1829" b="-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2878399" y="1980937"/>
                <a:ext cx="2635786" cy="6305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𝑠</m:t>
                          </m:r>
                        </m:e>
                        <m:sub>
                          <m:r>
                            <a:rPr lang="zh-CN" altLang="en-US" sz="1600" i="0">
                              <a:latin typeface="Cambria Math" panose="02040503050406030204" pitchFamily="18" charset="0"/>
                            </a:rPr>
                            <m:t>2</m:t>
                          </m:r>
                        </m:sub>
                      </m:sSub>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4</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𝑐</m:t>
                                  </m:r>
                                </m:e>
                                <m:sub>
                                  <m:r>
                                    <a:rPr lang="zh-CN" altLang="en-US" sz="1600" i="0">
                                      <a:latin typeface="Cambria Math" panose="02040503050406030204" pitchFamily="18" charset="0"/>
                                    </a:rPr>
                                    <m:t>3</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3</m:t>
                                  </m:r>
                                </m:sub>
                              </m:sSub>
                            </m:e>
                          </m:d>
                          <m:r>
                            <a:rPr lang="zh-CN" altLang="en-US" sz="1600" i="1">
                              <a:latin typeface="Cambria Math" panose="02040503050406030204" pitchFamily="18" charset="0"/>
                            </a:rPr>
                            <m:t>𝑛</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4</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𝑠</m:t>
                              </m:r>
                            </m:e>
                            <m:sub>
                              <m:r>
                                <a:rPr lang="zh-CN" altLang="en-US" sz="1600" i="0">
                                  <a:latin typeface="Cambria Math" panose="02040503050406030204" pitchFamily="18" charset="0"/>
                                </a:rPr>
                                <m:t>3</m:t>
                              </m:r>
                            </m:sub>
                          </m:sSub>
                          <m:r>
                            <a:rPr lang="zh-CN" altLang="en-US" sz="1600" i="1">
                              <a:latin typeface="Cambria Math" panose="02040503050406030204" pitchFamily="18" charset="0"/>
                            </a:rPr>
                            <m:t>𝑚</m:t>
                          </m:r>
                        </m:num>
                        <m:den>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𝑎</m:t>
                              </m:r>
                            </m:e>
                            <m:sub>
                              <m:r>
                                <a:rPr lang="zh-CN" altLang="en-US" sz="1600" i="0">
                                  <a:latin typeface="Cambria Math" panose="02040503050406030204" pitchFamily="18" charset="0"/>
                                </a:rPr>
                                <m:t>3</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𝑎</m:t>
                              </m:r>
                            </m:e>
                            <m:sub>
                              <m:r>
                                <a:rPr lang="zh-CN" altLang="en-US" sz="1600" i="0">
                                  <a:latin typeface="Cambria Math" panose="02040503050406030204" pitchFamily="18" charset="0"/>
                                </a:rPr>
                                <m:t>4</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+2</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3</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4</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𝑐</m:t>
                              </m:r>
                            </m:e>
                            <m:sub>
                              <m:r>
                                <a:rPr lang="zh-CN" altLang="en-US" sz="1600" i="0">
                                  <a:latin typeface="Cambria Math" panose="02040503050406030204" pitchFamily="18" charset="0"/>
                                </a:rPr>
                                <m:t>3</m:t>
                              </m:r>
                            </m:sub>
                          </m:sSub>
                        </m:den>
                      </m:f>
                    </m:oMath>
                  </m:oMathPara>
                </a14:m>
                <a:endParaRPr lang="zh-CN" altLang="en-US" sz="1600" dirty="0"/>
              </a:p>
            </p:txBody>
          </p:sp>
        </mc:Choice>
        <mc:Fallback xmlns="">
          <p:sp>
            <p:nvSpPr>
              <p:cNvPr id="21" name="矩形 20"/>
              <p:cNvSpPr>
                <a:spLocks noRot="1" noChangeAspect="1" noMove="1" noResize="1" noEditPoints="1" noAdjustHandles="1" noChangeArrowheads="1" noChangeShapeType="1" noTextEdit="1"/>
              </p:cNvSpPr>
              <p:nvPr/>
            </p:nvSpPr>
            <p:spPr>
              <a:xfrm>
                <a:off x="2878399" y="1980937"/>
                <a:ext cx="2635786" cy="630557"/>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2922184" y="2630540"/>
                <a:ext cx="1682064" cy="5811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𝑐</m:t>
                          </m:r>
                        </m:e>
                        <m:sub>
                          <m:r>
                            <a:rPr lang="zh-CN" altLang="en-US" sz="1600" i="0">
                              <a:latin typeface="Cambria Math" panose="02040503050406030204" pitchFamily="18" charset="0"/>
                            </a:rPr>
                            <m:t>2</m:t>
                          </m:r>
                        </m:sub>
                      </m:sSub>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1">
                              <a:latin typeface="Cambria Math" panose="02040503050406030204" pitchFamily="18" charset="0"/>
                            </a:rPr>
                            <m:t>𝑚</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4</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𝑠</m:t>
                              </m:r>
                            </m:e>
                            <m:sub>
                              <m:r>
                                <a:rPr lang="zh-CN" altLang="en-US" sz="1600" i="0">
                                  <a:latin typeface="Cambria Math" panose="02040503050406030204" pitchFamily="18" charset="0"/>
                                </a:rPr>
                                <m:t>3</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𝑠</m:t>
                              </m:r>
                            </m:e>
                            <m:sub>
                              <m:r>
                                <a:rPr lang="zh-CN" altLang="en-US" sz="1600" i="0">
                                  <a:latin typeface="Cambria Math" panose="02040503050406030204" pitchFamily="18" charset="0"/>
                                </a:rPr>
                                <m:t>2</m:t>
                              </m:r>
                            </m:sub>
                          </m:sSub>
                        </m:num>
                        <m:den>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4</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𝑐</m:t>
                              </m:r>
                            </m:e>
                            <m:sub>
                              <m:r>
                                <a:rPr lang="zh-CN" altLang="en-US" sz="1600" i="0">
                                  <a:latin typeface="Cambria Math" panose="02040503050406030204" pitchFamily="18" charset="0"/>
                                </a:rPr>
                                <m:t>3</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𝑎</m:t>
                              </m:r>
                            </m:e>
                            <m:sub>
                              <m:r>
                                <a:rPr lang="zh-CN" altLang="en-US" sz="1600" i="0">
                                  <a:latin typeface="Cambria Math" panose="02040503050406030204" pitchFamily="18" charset="0"/>
                                </a:rPr>
                                <m:t>3</m:t>
                              </m:r>
                            </m:sub>
                          </m:sSub>
                        </m:den>
                      </m:f>
                    </m:oMath>
                  </m:oMathPara>
                </a14:m>
                <a:endParaRPr lang="zh-CN" altLang="en-US" sz="1600" dirty="0"/>
              </a:p>
            </p:txBody>
          </p:sp>
        </mc:Choice>
        <mc:Fallback xmlns="">
          <p:sp>
            <p:nvSpPr>
              <p:cNvPr id="23" name="矩形 22"/>
              <p:cNvSpPr>
                <a:spLocks noRot="1" noChangeAspect="1" noMove="1" noResize="1" noEditPoints="1" noAdjustHandles="1" noChangeArrowheads="1" noChangeShapeType="1" noTextEdit="1"/>
              </p:cNvSpPr>
              <p:nvPr/>
            </p:nvSpPr>
            <p:spPr>
              <a:xfrm>
                <a:off x="2922184" y="2630540"/>
                <a:ext cx="1682064" cy="581185"/>
              </a:xfrm>
              <a:prstGeom prst="rect">
                <a:avLst/>
              </a:prstGeom>
              <a:blipFill>
                <a:blip r:embed="rId11"/>
                <a:stretch>
                  <a:fillRect/>
                </a:stretch>
              </a:blipFill>
            </p:spPr>
            <p:txBody>
              <a:bodyPr/>
              <a:lstStyle/>
              <a:p>
                <a:r>
                  <a:rPr lang="zh-CN" altLang="en-US">
                    <a:noFill/>
                  </a:rPr>
                  <a:t> </a:t>
                </a:r>
              </a:p>
            </p:txBody>
          </p:sp>
        </mc:Fallback>
      </mc:AlternateContent>
      <p:graphicFrame>
        <p:nvGraphicFramePr>
          <p:cNvPr id="25" name="对象 24"/>
          <p:cNvGraphicFramePr>
            <a:graphicFrameLocks noChangeAspect="1"/>
          </p:cNvGraphicFramePr>
          <p:nvPr>
            <p:extLst>
              <p:ext uri="{D42A27DB-BD31-4B8C-83A1-F6EECF244321}">
                <p14:modId xmlns:p14="http://schemas.microsoft.com/office/powerpoint/2010/main" val="4006148357"/>
              </p:ext>
            </p:extLst>
          </p:nvPr>
        </p:nvGraphicFramePr>
        <p:xfrm>
          <a:off x="6012160" y="2418871"/>
          <a:ext cx="1944215" cy="423337"/>
        </p:xfrm>
        <a:graphic>
          <a:graphicData uri="http://schemas.openxmlformats.org/presentationml/2006/ole">
            <mc:AlternateContent xmlns:mc="http://schemas.openxmlformats.org/markup-compatibility/2006">
              <mc:Choice xmlns:v="urn:schemas-microsoft-com:vml" Requires="v">
                <p:oleObj spid="_x0000_s32915" r:id="rId12" imgW="1180588" imgH="253890" progId="Equation.DSMT4">
                  <p:embed/>
                </p:oleObj>
              </mc:Choice>
              <mc:Fallback>
                <p:oleObj r:id="rId12" imgW="1180588" imgH="253890" progId="Equation.DSMT4">
                  <p:embed/>
                  <p:pic>
                    <p:nvPicPr>
                      <p:cNvPr id="0" name="Object 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12160" y="2418871"/>
                        <a:ext cx="1944215" cy="423337"/>
                      </a:xfrm>
                      <a:prstGeom prst="rect">
                        <a:avLst/>
                      </a:prstGeom>
                      <a:noFill/>
                    </p:spPr>
                  </p:pic>
                </p:oleObj>
              </mc:Fallback>
            </mc:AlternateContent>
          </a:graphicData>
        </a:graphic>
      </p:graphicFrame>
      <p:sp>
        <p:nvSpPr>
          <p:cNvPr id="26" name="虚尾箭头 25"/>
          <p:cNvSpPr/>
          <p:nvPr/>
        </p:nvSpPr>
        <p:spPr>
          <a:xfrm>
            <a:off x="5463347" y="2511979"/>
            <a:ext cx="386598" cy="309638"/>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1277945" y="3337650"/>
            <a:ext cx="4572000" cy="338554"/>
          </a:xfrm>
          <a:prstGeom prst="rect">
            <a:avLst/>
          </a:prstGeom>
        </p:spPr>
        <p:txBody>
          <a:bodyPr>
            <a:spAutoFit/>
          </a:bodyPr>
          <a:lstStyle/>
          <a:p>
            <a:r>
              <a:rPr lang="zh-CN" altLang="zh-CN" sz="1600" dirty="0">
                <a:ea typeface="等线" panose="02010600030101010101" pitchFamily="2" charset="-122"/>
                <a:cs typeface="Times New Roman" panose="02020603050405020304" pitchFamily="18" charset="0"/>
              </a:rPr>
              <a:t>根据</a:t>
            </a:r>
            <a:r>
              <a:rPr lang="en-US" altLang="zh-CN" sz="1600" dirty="0">
                <a:ea typeface="等线" panose="02010600030101010101" pitchFamily="2" charset="-122"/>
                <a:cs typeface="Times New Roman" panose="02020603050405020304" pitchFamily="18" charset="0"/>
              </a:rPr>
              <a:t>(3-61)</a:t>
            </a:r>
            <a:r>
              <a:rPr lang="zh-CN" altLang="zh-CN" sz="1600" dirty="0">
                <a:ea typeface="等线" panose="02010600030101010101" pitchFamily="2" charset="-122"/>
                <a:cs typeface="Times New Roman" panose="02020603050405020304" pitchFamily="18" charset="0"/>
              </a:rPr>
              <a:t>第一行第三列和第三行第三列可得</a:t>
            </a:r>
            <a:endParaRPr lang="zh-CN" altLang="en-US" sz="1600" dirty="0"/>
          </a:p>
        </p:txBody>
      </p:sp>
      <mc:AlternateContent xmlns:mc="http://schemas.openxmlformats.org/markup-compatibility/2006" xmlns:a14="http://schemas.microsoft.com/office/drawing/2010/main">
        <mc:Choice Requires="a14">
          <p:sp>
            <p:nvSpPr>
              <p:cNvPr id="28" name="矩形 27"/>
              <p:cNvSpPr/>
              <p:nvPr/>
            </p:nvSpPr>
            <p:spPr>
              <a:xfrm>
                <a:off x="1979712" y="3675066"/>
                <a:ext cx="4572000" cy="338554"/>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𝑠</m:t>
                          </m:r>
                        </m:e>
                        <m:sub>
                          <m:r>
                            <a:rPr lang="zh-CN" altLang="en-US" sz="1600" i="0">
                              <a:latin typeface="Cambria Math" panose="02040503050406030204" pitchFamily="18" charset="0"/>
                            </a:rPr>
                            <m:t>234</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𝑠</m:t>
                          </m:r>
                        </m:e>
                        <m:sub>
                          <m:r>
                            <a:rPr lang="zh-CN" altLang="en-US" sz="1600" i="0">
                              <a:latin typeface="Cambria Math" panose="02040503050406030204" pitchFamily="18" charset="0"/>
                            </a:rPr>
                            <m:t>6</m:t>
                          </m:r>
                        </m:sub>
                      </m:sSub>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𝑟</m:t>
                              </m:r>
                            </m:e>
                            <m:sub>
                              <m:r>
                                <a:rPr lang="zh-CN" altLang="en-US" sz="1600" i="0">
                                  <a:latin typeface="Cambria Math" panose="02040503050406030204" pitchFamily="18" charset="0"/>
                                </a:rPr>
                                <m:t>11</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𝑐</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𝑟</m:t>
                              </m:r>
                            </m:e>
                            <m:sub>
                              <m:r>
                                <a:rPr lang="zh-CN" altLang="en-US" sz="1600" i="0">
                                  <a:latin typeface="Cambria Math" panose="02040503050406030204" pitchFamily="18" charset="0"/>
                                </a:rPr>
                                <m:t>21</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𝑠</m:t>
                              </m:r>
                            </m:e>
                            <m:sub>
                              <m:r>
                                <a:rPr lang="zh-CN" altLang="en-US" sz="1600" i="0">
                                  <a:latin typeface="Cambria Math" panose="02040503050406030204" pitchFamily="18" charset="0"/>
                                </a:rPr>
                                <m:t>1</m:t>
                              </m:r>
                            </m:sub>
                          </m:sSub>
                        </m:e>
                      </m:d>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𝑐</m:t>
                          </m:r>
                        </m:e>
                        <m:sub>
                          <m:r>
                            <a:rPr lang="zh-CN" altLang="en-US" sz="1600" i="0">
                              <a:latin typeface="Cambria Math" panose="02040503050406030204" pitchFamily="18" charset="0"/>
                            </a:rPr>
                            <m:t>6</m:t>
                          </m:r>
                        </m:sub>
                      </m:sSub>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𝑟</m:t>
                              </m:r>
                            </m:e>
                            <m:sub>
                              <m:r>
                                <a:rPr lang="zh-CN" altLang="en-US" sz="1600" i="0">
                                  <a:latin typeface="Cambria Math" panose="02040503050406030204" pitchFamily="18" charset="0"/>
                                </a:rPr>
                                <m:t>12</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𝑐</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𝑟</m:t>
                              </m:r>
                            </m:e>
                            <m:sub>
                              <m:r>
                                <a:rPr lang="zh-CN" altLang="en-US" sz="1600" i="0">
                                  <a:latin typeface="Cambria Math" panose="02040503050406030204" pitchFamily="18" charset="0"/>
                                </a:rPr>
                                <m:t>22</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𝑠</m:t>
                              </m:r>
                            </m:e>
                            <m:sub>
                              <m:r>
                                <a:rPr lang="zh-CN" altLang="en-US" sz="1600" i="0">
                                  <a:latin typeface="Cambria Math" panose="02040503050406030204" pitchFamily="18" charset="0"/>
                                </a:rPr>
                                <m:t>1</m:t>
                              </m:r>
                            </m:sub>
                          </m:sSub>
                        </m:e>
                      </m:d>
                    </m:oMath>
                  </m:oMathPara>
                </a14:m>
                <a:endParaRPr lang="zh-CN" altLang="en-US" sz="1600" dirty="0"/>
              </a:p>
            </p:txBody>
          </p:sp>
        </mc:Choice>
        <mc:Fallback xmlns="">
          <p:sp>
            <p:nvSpPr>
              <p:cNvPr id="28" name="矩形 27"/>
              <p:cNvSpPr>
                <a:spLocks noRot="1" noChangeAspect="1" noMove="1" noResize="1" noEditPoints="1" noAdjustHandles="1" noChangeArrowheads="1" noChangeShapeType="1" noTextEdit="1"/>
              </p:cNvSpPr>
              <p:nvPr/>
            </p:nvSpPr>
            <p:spPr>
              <a:xfrm>
                <a:off x="1979712" y="3675066"/>
                <a:ext cx="4572000" cy="338554"/>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矩形 28"/>
              <p:cNvSpPr/>
              <p:nvPr/>
            </p:nvSpPr>
            <p:spPr>
              <a:xfrm>
                <a:off x="2178137" y="3961476"/>
                <a:ext cx="198496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𝑐</m:t>
                          </m:r>
                        </m:e>
                        <m:sub>
                          <m:r>
                            <a:rPr lang="zh-CN" altLang="en-US" sz="1600" i="0">
                              <a:latin typeface="Cambria Math" panose="02040503050406030204" pitchFamily="18" charset="0"/>
                            </a:rPr>
                            <m:t>234</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𝑟</m:t>
                          </m:r>
                        </m:e>
                        <m:sub>
                          <m:r>
                            <a:rPr lang="zh-CN" altLang="en-US" sz="1600" i="0">
                              <a:latin typeface="Cambria Math" panose="02040503050406030204" pitchFamily="18" charset="0"/>
                            </a:rPr>
                            <m:t>32</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𝑐</m:t>
                          </m:r>
                        </m:e>
                        <m:sub>
                          <m:r>
                            <a:rPr lang="zh-CN" altLang="en-US" sz="1600" i="0">
                              <a:latin typeface="Cambria Math" panose="02040503050406030204" pitchFamily="18" charset="0"/>
                            </a:rPr>
                            <m:t>6</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𝑟</m:t>
                          </m:r>
                        </m:e>
                        <m:sub>
                          <m:r>
                            <a:rPr lang="zh-CN" altLang="en-US" sz="1600" i="0">
                              <a:latin typeface="Cambria Math" panose="02040503050406030204" pitchFamily="18" charset="0"/>
                            </a:rPr>
                            <m:t>31</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𝑠</m:t>
                          </m:r>
                        </m:e>
                        <m:sub>
                          <m:r>
                            <a:rPr lang="zh-CN" altLang="en-US" sz="1600" i="0">
                              <a:latin typeface="Cambria Math" panose="02040503050406030204" pitchFamily="18" charset="0"/>
                            </a:rPr>
                            <m:t>6</m:t>
                          </m:r>
                        </m:sub>
                      </m:sSub>
                    </m:oMath>
                  </m:oMathPara>
                </a14:m>
                <a:endParaRPr lang="zh-CN" altLang="en-US" sz="1600" dirty="0"/>
              </a:p>
            </p:txBody>
          </p:sp>
        </mc:Choice>
        <mc:Fallback xmlns="">
          <p:sp>
            <p:nvSpPr>
              <p:cNvPr id="29" name="矩形 28"/>
              <p:cNvSpPr>
                <a:spLocks noRot="1" noChangeAspect="1" noMove="1" noResize="1" noEditPoints="1" noAdjustHandles="1" noChangeArrowheads="1" noChangeShapeType="1" noTextEdit="1"/>
              </p:cNvSpPr>
              <p:nvPr/>
            </p:nvSpPr>
            <p:spPr>
              <a:xfrm>
                <a:off x="2178137" y="3961476"/>
                <a:ext cx="1984966" cy="338554"/>
              </a:xfrm>
              <a:prstGeom prst="rect">
                <a:avLst/>
              </a:prstGeom>
              <a:blipFill>
                <a:blip r:embed="rId15"/>
                <a:stretch>
                  <a:fillRect/>
                </a:stretch>
              </a:blipFill>
            </p:spPr>
            <p:txBody>
              <a:bodyPr/>
              <a:lstStyle/>
              <a:p>
                <a:r>
                  <a:rPr lang="zh-CN" altLang="en-US">
                    <a:noFill/>
                  </a:rPr>
                  <a:t> </a:t>
                </a:r>
              </a:p>
            </p:txBody>
          </p:sp>
        </mc:Fallback>
      </mc:AlternateContent>
      <p:graphicFrame>
        <p:nvGraphicFramePr>
          <p:cNvPr id="31" name="对象 30"/>
          <p:cNvGraphicFramePr>
            <a:graphicFrameLocks noChangeAspect="1"/>
          </p:cNvGraphicFramePr>
          <p:nvPr>
            <p:extLst>
              <p:ext uri="{D42A27DB-BD31-4B8C-83A1-F6EECF244321}">
                <p14:modId xmlns:p14="http://schemas.microsoft.com/office/powerpoint/2010/main" val="1323677336"/>
              </p:ext>
            </p:extLst>
          </p:nvPr>
        </p:nvGraphicFramePr>
        <p:xfrm>
          <a:off x="1579945" y="4456714"/>
          <a:ext cx="6128453" cy="386608"/>
        </p:xfrm>
        <a:graphic>
          <a:graphicData uri="http://schemas.openxmlformats.org/presentationml/2006/ole">
            <mc:AlternateContent xmlns:mc="http://schemas.openxmlformats.org/markup-compatibility/2006">
              <mc:Choice xmlns:v="urn:schemas-microsoft-com:vml" Requires="v">
                <p:oleObj spid="_x0000_s32916" r:id="rId16" imgW="4076700" imgH="254000" progId="Equation.DSMT4">
                  <p:embed/>
                </p:oleObj>
              </mc:Choice>
              <mc:Fallback>
                <p:oleObj r:id="rId16" imgW="4076700" imgH="254000" progId="Equation.DSMT4">
                  <p:embed/>
                  <p:pic>
                    <p:nvPicPr>
                      <p:cNvPr id="0" name="Object 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579945" y="4456714"/>
                        <a:ext cx="6128453" cy="386608"/>
                      </a:xfrm>
                      <a:prstGeom prst="rect">
                        <a:avLst/>
                      </a:prstGeom>
                      <a:noFill/>
                    </p:spPr>
                  </p:pic>
                </p:oleObj>
              </mc:Fallback>
            </mc:AlternateContent>
          </a:graphicData>
        </a:graphic>
      </p:graphicFrame>
    </p:spTree>
    <p:extLst>
      <p:ext uri="{BB962C8B-B14F-4D97-AF65-F5344CB8AC3E}">
        <p14:creationId xmlns:p14="http://schemas.microsoft.com/office/powerpoint/2010/main" val="187950308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Inverse Kinematics of 6R </a:t>
              </a:r>
              <a:r>
                <a:rPr lang="en-US" altLang="zh-CN" sz="1000" dirty="0">
                  <a:latin typeface="Arial" panose="020B0604020202020204" pitchFamily="34" charset="0"/>
                  <a:ea typeface="微软雅黑" panose="020B0503020204020204" charset="-122"/>
                  <a:sym typeface="+mn-ea"/>
                </a:rPr>
                <a:t>S</a:t>
              </a:r>
              <a:r>
                <a:rPr lang="en-US" altLang="zh-CN" sz="1000" dirty="0" smtClean="0">
                  <a:latin typeface="Arial" panose="020B0604020202020204" pitchFamily="34" charset="0"/>
                  <a:ea typeface="微软雅黑" panose="020B0503020204020204" charset="-122"/>
                  <a:sym typeface="+mn-ea"/>
                </a:rPr>
                <a:t>erial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6R</a:t>
              </a:r>
              <a:r>
                <a:rPr lang="zh-CN" altLang="en-US" sz="2000" b="1" dirty="0">
                  <a:latin typeface="Arial" panose="020B0604020202020204" pitchFamily="34" charset="0"/>
                  <a:ea typeface="微软雅黑" panose="020B0503020204020204" charset="-122"/>
                  <a:sym typeface="+mn-ea"/>
                </a:rPr>
                <a:t>串联机器人逆运动学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p:nvSpPr>
        <p:spPr>
          <a:xfrm>
            <a:off x="2178137" y="803488"/>
            <a:ext cx="4999115" cy="400110"/>
          </a:xfrm>
          <a:prstGeom prst="rect">
            <a:avLst/>
          </a:prstGeom>
        </p:spPr>
        <p:txBody>
          <a:bodyPr wrap="square">
            <a:spAutoFit/>
          </a:bodyPr>
          <a:lstStyle/>
          <a:p>
            <a:r>
              <a:rPr lang="zh-CN" altLang="en-US" sz="2000" b="1" dirty="0">
                <a:solidFill>
                  <a:srgbClr val="002060"/>
                </a:solidFill>
              </a:rPr>
              <a:t>满足Pieper准则的解析解求</a:t>
            </a:r>
            <a:r>
              <a:rPr lang="zh-CN" altLang="en-US" sz="2000" b="1" dirty="0" smtClean="0">
                <a:solidFill>
                  <a:srgbClr val="002060"/>
                </a:solidFill>
              </a:rPr>
              <a:t>法</a:t>
            </a:r>
            <a:r>
              <a:rPr lang="en-US" altLang="zh-CN" sz="2000" b="1" dirty="0">
                <a:solidFill>
                  <a:srgbClr val="002060"/>
                </a:solidFill>
              </a:rPr>
              <a:t>(</a:t>
            </a:r>
            <a:r>
              <a:rPr lang="zh-CN" altLang="en-US" sz="2000" b="1" dirty="0">
                <a:solidFill>
                  <a:srgbClr val="002060"/>
                </a:solidFill>
              </a:rPr>
              <a:t>实例讲解</a:t>
            </a:r>
            <a:r>
              <a:rPr lang="en-US" altLang="zh-CN" sz="2000" b="1" dirty="0" smtClean="0">
                <a:solidFill>
                  <a:srgbClr val="002060"/>
                </a:solidFill>
              </a:rPr>
              <a:t>)</a:t>
            </a:r>
            <a:endParaRPr lang="zh-CN" altLang="en-US" sz="2000" b="1" dirty="0">
              <a:solidFill>
                <a:srgbClr val="002060"/>
              </a:solidFill>
            </a:endParaRPr>
          </a:p>
        </p:txBody>
      </p:sp>
      <p:sp>
        <p:nvSpPr>
          <p:cNvPr id="20" name="形状"/>
          <p:cNvSpPr/>
          <p:nvPr>
            <p:custDataLst>
              <p:tags r:id="rId1"/>
            </p:custDataLst>
          </p:nvPr>
        </p:nvSpPr>
        <p:spPr>
          <a:xfrm>
            <a:off x="3591425" y="1583164"/>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2" name="矩形 21"/>
          <p:cNvSpPr/>
          <p:nvPr/>
        </p:nvSpPr>
        <p:spPr>
          <a:xfrm>
            <a:off x="3908384" y="1563638"/>
            <a:ext cx="649537" cy="369332"/>
          </a:xfrm>
          <a:prstGeom prst="rect">
            <a:avLst/>
          </a:prstGeom>
        </p:spPr>
        <p:txBody>
          <a:bodyPr wrap="none">
            <a:spAutoFit/>
          </a:bodyPr>
          <a:lstStyle/>
          <a:p>
            <a:r>
              <a:rPr lang="zh-CN" altLang="en-US" b="1" dirty="0" smtClean="0">
                <a:solidFill>
                  <a:srgbClr val="002060"/>
                </a:solidFill>
              </a:rPr>
              <a:t>总结</a:t>
            </a:r>
            <a:endParaRPr lang="zh-CN" altLang="en-US" b="1" dirty="0">
              <a:solidFill>
                <a:srgbClr val="002060"/>
              </a:solidFill>
            </a:endParaRPr>
          </a:p>
        </p:txBody>
      </p:sp>
      <p:sp>
        <p:nvSpPr>
          <p:cNvPr id="24" name="形状"/>
          <p:cNvSpPr/>
          <p:nvPr>
            <p:custDataLst>
              <p:tags r:id="rId2"/>
            </p:custDataLst>
          </p:nvPr>
        </p:nvSpPr>
        <p:spPr>
          <a:xfrm>
            <a:off x="4671735" y="1578631"/>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2575674" y="1955304"/>
            <a:ext cx="3591048" cy="338554"/>
          </a:xfrm>
          <a:prstGeom prst="rect">
            <a:avLst/>
          </a:prstGeom>
        </p:spPr>
        <p:txBody>
          <a:bodyPr wrap="none">
            <a:spAutoFit/>
          </a:bodyPr>
          <a:lstStyle/>
          <a:p>
            <a:r>
              <a:rPr lang="zh-CN" altLang="zh-CN" sz="1600" dirty="0">
                <a:ea typeface="等线" panose="02010600030101010101" pitchFamily="2" charset="-122"/>
                <a:cs typeface="Times New Roman" panose="02020603050405020304" pitchFamily="18" charset="0"/>
              </a:rPr>
              <a:t>表</a:t>
            </a:r>
            <a:r>
              <a:rPr lang="en-US" altLang="zh-CN" sz="1600" dirty="0">
                <a:ea typeface="等线" panose="02010600030101010101" pitchFamily="2" charset="-122"/>
                <a:cs typeface="Times New Roman" panose="02020603050405020304" pitchFamily="18" charset="0"/>
              </a:rPr>
              <a:t>3-6 6R</a:t>
            </a:r>
            <a:r>
              <a:rPr lang="zh-CN" altLang="zh-CN" sz="1600" dirty="0">
                <a:ea typeface="等线" panose="02010600030101010101" pitchFamily="2" charset="-122"/>
                <a:cs typeface="Times New Roman" panose="02020603050405020304" pitchFamily="18" charset="0"/>
              </a:rPr>
              <a:t>串联机械臂的封闭解最大数量</a:t>
            </a:r>
            <a:endParaRPr lang="zh-CN" altLang="en-US" sz="1600" dirty="0"/>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extLst>
                  <p:ext uri="{D42A27DB-BD31-4B8C-83A1-F6EECF244321}">
                    <p14:modId xmlns:p14="http://schemas.microsoft.com/office/powerpoint/2010/main" val="3773739626"/>
                  </p:ext>
                </p:extLst>
              </p:nvPr>
            </p:nvGraphicFramePr>
            <p:xfrm>
              <a:off x="2575674" y="2499742"/>
              <a:ext cx="3607916" cy="1673300"/>
            </p:xfrm>
            <a:graphic>
              <a:graphicData uri="http://schemas.openxmlformats.org/drawingml/2006/table">
                <a:tbl>
                  <a:tblPr firstRow="1" firstCol="1" bandRow="1">
                    <a:tableStyleId>{5C22544A-7EE6-4342-B048-85BDC9FD1C3A}</a:tableStyleId>
                  </a:tblPr>
                  <a:tblGrid>
                    <a:gridCol w="1948550">
                      <a:extLst>
                        <a:ext uri="{9D8B030D-6E8A-4147-A177-3AD203B41FA5}">
                          <a16:colId xmlns:a16="http://schemas.microsoft.com/office/drawing/2014/main" val="1958897910"/>
                        </a:ext>
                      </a:extLst>
                    </a:gridCol>
                    <a:gridCol w="1659366">
                      <a:extLst>
                        <a:ext uri="{9D8B030D-6E8A-4147-A177-3AD203B41FA5}">
                          <a16:colId xmlns:a16="http://schemas.microsoft.com/office/drawing/2014/main" val="258994372"/>
                        </a:ext>
                      </a:extLst>
                    </a:gridCol>
                  </a:tblGrid>
                  <a:tr h="334660">
                    <a:tc>
                      <a:txBody>
                        <a:bodyPr/>
                        <a:lstStyle/>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sz="1400" i="1" kern="100">
                                        <a:effectLst/>
                                        <a:latin typeface="Cambria Math" panose="02040503050406030204" pitchFamily="18" charset="0"/>
                                      </a:rPr>
                                    </m:ctrlPr>
                                  </m:sSubPr>
                                  <m:e>
                                    <m:r>
                                      <a:rPr lang="en-US" sz="1400" kern="100">
                                        <a:effectLst/>
                                        <a:latin typeface="Cambria Math" panose="02040503050406030204" pitchFamily="18" charset="0"/>
                                      </a:rPr>
                                      <m:t>𝑎</m:t>
                                    </m:r>
                                  </m:e>
                                  <m:sub>
                                    <m:r>
                                      <a:rPr lang="en-US" sz="1400" kern="100">
                                        <a:effectLst/>
                                        <a:latin typeface="Cambria Math" panose="02040503050406030204" pitchFamily="18" charset="0"/>
                                      </a:rPr>
                                      <m:t>𝑖</m:t>
                                    </m:r>
                                  </m:sub>
                                </m:sSub>
                              </m:oMath>
                            </m:oMathPara>
                          </a14:m>
                          <a:endParaRPr lang="zh-CN" sz="14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zh-CN" sz="1400" kern="100">
                              <a:effectLst/>
                            </a:rPr>
                            <a:t>解的最大数量</a:t>
                          </a:r>
                          <a:endParaRPr lang="zh-CN" sz="14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2659204808"/>
                      </a:ext>
                    </a:extLst>
                  </a:tr>
                  <a:tr h="334660">
                    <a:tc>
                      <a:txBody>
                        <a:bodyPr/>
                        <a:lstStyle/>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sz="1400" i="1" kern="100">
                                        <a:effectLst/>
                                        <a:latin typeface="Cambria Math" panose="02040503050406030204" pitchFamily="18" charset="0"/>
                                      </a:rPr>
                                    </m:ctrlPr>
                                  </m:sSubPr>
                                  <m:e>
                                    <m:r>
                                      <a:rPr lang="en-US" sz="1400" kern="100">
                                        <a:effectLst/>
                                        <a:latin typeface="Cambria Math" panose="02040503050406030204" pitchFamily="18" charset="0"/>
                                      </a:rPr>
                                      <m:t>𝑎</m:t>
                                    </m:r>
                                  </m:e>
                                  <m:sub>
                                    <m:r>
                                      <a:rPr lang="en-US" sz="1400" kern="100">
                                        <a:effectLst/>
                                        <a:latin typeface="Cambria Math" panose="02040503050406030204" pitchFamily="18" charset="0"/>
                                      </a:rPr>
                                      <m:t>1</m:t>
                                    </m:r>
                                  </m:sub>
                                </m:sSub>
                                <m:r>
                                  <a:rPr lang="en-US" sz="1400" kern="100">
                                    <a:effectLst/>
                                    <a:latin typeface="Cambria Math" panose="02040503050406030204" pitchFamily="18" charset="0"/>
                                  </a:rPr>
                                  <m:t>=</m:t>
                                </m:r>
                                <m:sSub>
                                  <m:sSubPr>
                                    <m:ctrlPr>
                                      <a:rPr lang="zh-CN" sz="1400" i="1" kern="100">
                                        <a:effectLst/>
                                        <a:latin typeface="Cambria Math" panose="02040503050406030204" pitchFamily="18" charset="0"/>
                                      </a:rPr>
                                    </m:ctrlPr>
                                  </m:sSubPr>
                                  <m:e>
                                    <m:r>
                                      <a:rPr lang="en-US" sz="1400" kern="100">
                                        <a:effectLst/>
                                        <a:latin typeface="Cambria Math" panose="02040503050406030204" pitchFamily="18" charset="0"/>
                                      </a:rPr>
                                      <m:t>𝑎</m:t>
                                    </m:r>
                                  </m:e>
                                  <m:sub>
                                    <m:r>
                                      <a:rPr lang="en-US" sz="1400" kern="100">
                                        <a:effectLst/>
                                        <a:latin typeface="Cambria Math" panose="02040503050406030204" pitchFamily="18" charset="0"/>
                                      </a:rPr>
                                      <m:t>3</m:t>
                                    </m:r>
                                  </m:sub>
                                </m:sSub>
                                <m:r>
                                  <a:rPr lang="en-US" sz="1400" kern="100">
                                    <a:effectLst/>
                                    <a:latin typeface="Cambria Math" panose="02040503050406030204" pitchFamily="18" charset="0"/>
                                  </a:rPr>
                                  <m:t>=</m:t>
                                </m:r>
                                <m:sSub>
                                  <m:sSubPr>
                                    <m:ctrlPr>
                                      <a:rPr lang="zh-CN" sz="1400" i="1" kern="100">
                                        <a:effectLst/>
                                        <a:latin typeface="Cambria Math" panose="02040503050406030204" pitchFamily="18" charset="0"/>
                                      </a:rPr>
                                    </m:ctrlPr>
                                  </m:sSubPr>
                                  <m:e>
                                    <m:r>
                                      <a:rPr lang="en-US" sz="1400" kern="100">
                                        <a:effectLst/>
                                        <a:latin typeface="Cambria Math" panose="02040503050406030204" pitchFamily="18" charset="0"/>
                                      </a:rPr>
                                      <m:t>𝑎</m:t>
                                    </m:r>
                                  </m:e>
                                  <m:sub>
                                    <m:r>
                                      <a:rPr lang="en-US" sz="1400" kern="100">
                                        <a:effectLst/>
                                        <a:latin typeface="Cambria Math" panose="02040503050406030204" pitchFamily="18" charset="0"/>
                                      </a:rPr>
                                      <m:t>5</m:t>
                                    </m:r>
                                  </m:sub>
                                </m:sSub>
                                <m:r>
                                  <a:rPr lang="en-US" sz="1400" kern="100">
                                    <a:effectLst/>
                                    <a:latin typeface="Cambria Math" panose="02040503050406030204" pitchFamily="18" charset="0"/>
                                  </a:rPr>
                                  <m:t>=0</m:t>
                                </m:r>
                              </m:oMath>
                            </m:oMathPara>
                          </a14:m>
                          <a:endParaRPr lang="zh-CN" sz="14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14:m>
                            <m:oMathPara xmlns:m="http://schemas.openxmlformats.org/officeDocument/2006/math">
                              <m:oMathParaPr>
                                <m:jc m:val="centerGroup"/>
                              </m:oMathParaPr>
                              <m:oMath xmlns:m="http://schemas.openxmlformats.org/officeDocument/2006/math">
                                <m:r>
                                  <a:rPr lang="en-US" sz="1400" kern="100">
                                    <a:effectLst/>
                                    <a:latin typeface="Cambria Math" panose="02040503050406030204" pitchFamily="18" charset="0"/>
                                  </a:rPr>
                                  <m:t>≤4</m:t>
                                </m:r>
                              </m:oMath>
                            </m:oMathPara>
                          </a14:m>
                          <a:endParaRPr lang="zh-CN" sz="14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2746376371"/>
                      </a:ext>
                    </a:extLst>
                  </a:tr>
                  <a:tr h="334660">
                    <a:tc>
                      <a:txBody>
                        <a:bodyPr/>
                        <a:lstStyle/>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sz="1400" i="1" kern="100">
                                        <a:effectLst/>
                                        <a:latin typeface="Cambria Math" panose="02040503050406030204" pitchFamily="18" charset="0"/>
                                      </a:rPr>
                                    </m:ctrlPr>
                                  </m:sSubPr>
                                  <m:e>
                                    <m:r>
                                      <a:rPr lang="en-US" sz="1400" kern="100">
                                        <a:effectLst/>
                                        <a:latin typeface="Cambria Math" panose="02040503050406030204" pitchFamily="18" charset="0"/>
                                      </a:rPr>
                                      <m:t>𝑎</m:t>
                                    </m:r>
                                  </m:e>
                                  <m:sub>
                                    <m:r>
                                      <a:rPr lang="en-US" sz="1400" kern="100">
                                        <a:effectLst/>
                                        <a:latin typeface="Cambria Math" panose="02040503050406030204" pitchFamily="18" charset="0"/>
                                      </a:rPr>
                                      <m:t>3</m:t>
                                    </m:r>
                                  </m:sub>
                                </m:sSub>
                                <m:r>
                                  <a:rPr lang="en-US" sz="1400" kern="100">
                                    <a:effectLst/>
                                    <a:latin typeface="Cambria Math" panose="02040503050406030204" pitchFamily="18" charset="0"/>
                                  </a:rPr>
                                  <m:t>=</m:t>
                                </m:r>
                                <m:sSub>
                                  <m:sSubPr>
                                    <m:ctrlPr>
                                      <a:rPr lang="zh-CN" sz="1400" i="1" kern="100">
                                        <a:effectLst/>
                                        <a:latin typeface="Cambria Math" panose="02040503050406030204" pitchFamily="18" charset="0"/>
                                      </a:rPr>
                                    </m:ctrlPr>
                                  </m:sSubPr>
                                  <m:e>
                                    <m:r>
                                      <a:rPr lang="en-US" sz="1400" kern="100">
                                        <a:effectLst/>
                                        <a:latin typeface="Cambria Math" panose="02040503050406030204" pitchFamily="18" charset="0"/>
                                      </a:rPr>
                                      <m:t>𝑎</m:t>
                                    </m:r>
                                  </m:e>
                                  <m:sub>
                                    <m:r>
                                      <a:rPr lang="en-US" sz="1400" kern="100">
                                        <a:effectLst/>
                                        <a:latin typeface="Cambria Math" panose="02040503050406030204" pitchFamily="18" charset="0"/>
                                      </a:rPr>
                                      <m:t>5</m:t>
                                    </m:r>
                                  </m:sub>
                                </m:sSub>
                                <m:r>
                                  <a:rPr lang="en-US" sz="1400" kern="100">
                                    <a:effectLst/>
                                    <a:latin typeface="Cambria Math" panose="02040503050406030204" pitchFamily="18" charset="0"/>
                                  </a:rPr>
                                  <m:t>=0</m:t>
                                </m:r>
                              </m:oMath>
                            </m:oMathPara>
                          </a14:m>
                          <a:endParaRPr lang="zh-CN" sz="14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14:m>
                            <m:oMathPara xmlns:m="http://schemas.openxmlformats.org/officeDocument/2006/math">
                              <m:oMathParaPr>
                                <m:jc m:val="centerGroup"/>
                              </m:oMathParaPr>
                              <m:oMath xmlns:m="http://schemas.openxmlformats.org/officeDocument/2006/math">
                                <m:r>
                                  <a:rPr lang="en-US" sz="1400" kern="100">
                                    <a:effectLst/>
                                    <a:latin typeface="Cambria Math" panose="02040503050406030204" pitchFamily="18" charset="0"/>
                                  </a:rPr>
                                  <m:t>≤8</m:t>
                                </m:r>
                              </m:oMath>
                            </m:oMathPara>
                          </a14:m>
                          <a:endParaRPr lang="zh-CN" sz="14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150219392"/>
                      </a:ext>
                    </a:extLst>
                  </a:tr>
                  <a:tr h="334660">
                    <a:tc>
                      <a:txBody>
                        <a:bodyPr/>
                        <a:lstStyle/>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sz="1400" i="1" kern="100">
                                        <a:effectLst/>
                                        <a:latin typeface="Cambria Math" panose="02040503050406030204" pitchFamily="18" charset="0"/>
                                      </a:rPr>
                                    </m:ctrlPr>
                                  </m:sSubPr>
                                  <m:e>
                                    <m:r>
                                      <a:rPr lang="en-US" sz="1400" kern="100">
                                        <a:effectLst/>
                                        <a:latin typeface="Cambria Math" panose="02040503050406030204" pitchFamily="18" charset="0"/>
                                      </a:rPr>
                                      <m:t>𝑎</m:t>
                                    </m:r>
                                  </m:e>
                                  <m:sub>
                                    <m:r>
                                      <a:rPr lang="en-US" sz="1400" kern="100">
                                        <a:effectLst/>
                                        <a:latin typeface="Cambria Math" panose="02040503050406030204" pitchFamily="18" charset="0"/>
                                      </a:rPr>
                                      <m:t>3</m:t>
                                    </m:r>
                                  </m:sub>
                                </m:sSub>
                                <m:r>
                                  <a:rPr lang="en-US" sz="1400" kern="100">
                                    <a:effectLst/>
                                    <a:latin typeface="Cambria Math" panose="02040503050406030204" pitchFamily="18" charset="0"/>
                                  </a:rPr>
                                  <m:t>=0</m:t>
                                </m:r>
                              </m:oMath>
                            </m:oMathPara>
                          </a14:m>
                          <a:endParaRPr lang="zh-CN" sz="14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14:m>
                            <m:oMathPara xmlns:m="http://schemas.openxmlformats.org/officeDocument/2006/math">
                              <m:oMathParaPr>
                                <m:jc m:val="centerGroup"/>
                              </m:oMathParaPr>
                              <m:oMath xmlns:m="http://schemas.openxmlformats.org/officeDocument/2006/math">
                                <m:r>
                                  <a:rPr lang="en-US" sz="1400" kern="100">
                                    <a:effectLst/>
                                    <a:latin typeface="Cambria Math" panose="02040503050406030204" pitchFamily="18" charset="0"/>
                                  </a:rPr>
                                  <m:t>≤16</m:t>
                                </m:r>
                              </m:oMath>
                            </m:oMathPara>
                          </a14:m>
                          <a:endParaRPr lang="zh-CN" sz="14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2555462114"/>
                      </a:ext>
                    </a:extLst>
                  </a:tr>
                  <a:tr h="334660">
                    <a:tc>
                      <a:txBody>
                        <a:bodyPr/>
                        <a:lstStyle/>
                        <a:p>
                          <a:pPr algn="ctr">
                            <a:spcBef>
                              <a:spcPts val="600"/>
                            </a:spcBef>
                            <a:spcAft>
                              <a:spcPts val="600"/>
                            </a:spcAft>
                          </a:pPr>
                          <a:r>
                            <a:rPr lang="zh-CN" sz="1400" kern="100">
                              <a:effectLst/>
                            </a:rPr>
                            <a:t>所有</a:t>
                          </a:r>
                          <a14:m>
                            <m:oMath xmlns:m="http://schemas.openxmlformats.org/officeDocument/2006/math">
                              <m:sSub>
                                <m:sSubPr>
                                  <m:ctrlPr>
                                    <a:rPr lang="zh-CN" sz="1400" i="1" kern="100">
                                      <a:effectLst/>
                                      <a:latin typeface="Cambria Math" panose="02040503050406030204" pitchFamily="18" charset="0"/>
                                    </a:rPr>
                                  </m:ctrlPr>
                                </m:sSubPr>
                                <m:e>
                                  <m:r>
                                    <a:rPr lang="en-US" sz="1400" kern="100">
                                      <a:effectLst/>
                                      <a:latin typeface="Cambria Math" panose="02040503050406030204" pitchFamily="18" charset="0"/>
                                    </a:rPr>
                                    <m:t>𝑎</m:t>
                                  </m:r>
                                </m:e>
                                <m:sub>
                                  <m:r>
                                    <a:rPr lang="en-US" sz="1400" kern="100">
                                      <a:effectLst/>
                                      <a:latin typeface="Cambria Math" panose="02040503050406030204" pitchFamily="18" charset="0"/>
                                    </a:rPr>
                                    <m:t>𝑖</m:t>
                                  </m:r>
                                </m:sub>
                              </m:sSub>
                              <m:r>
                                <a:rPr lang="en-US" sz="1400" kern="100">
                                  <a:effectLst/>
                                  <a:latin typeface="Cambria Math" panose="02040503050406030204" pitchFamily="18" charset="0"/>
                                </a:rPr>
                                <m:t>≠0</m:t>
                              </m:r>
                            </m:oMath>
                          </a14:m>
                          <a:endParaRPr lang="zh-CN" sz="14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14:m>
                            <m:oMathPara xmlns:m="http://schemas.openxmlformats.org/officeDocument/2006/math">
                              <m:oMathParaPr>
                                <m:jc m:val="centerGroup"/>
                              </m:oMathParaPr>
                              <m:oMath xmlns:m="http://schemas.openxmlformats.org/officeDocument/2006/math">
                                <m:r>
                                  <a:rPr lang="en-US" sz="1400" kern="100">
                                    <a:effectLst/>
                                    <a:latin typeface="Cambria Math" panose="02040503050406030204" pitchFamily="18" charset="0"/>
                                  </a:rPr>
                                  <m:t>≤16</m:t>
                                </m:r>
                              </m:oMath>
                            </m:oMathPara>
                          </a14:m>
                          <a:endParaRPr lang="zh-CN" sz="1400" kern="100" dirty="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3125342819"/>
                      </a:ext>
                    </a:extLst>
                  </a:tr>
                </a:tbl>
              </a:graphicData>
            </a:graphic>
          </p:graphicFrame>
        </mc:Choice>
        <mc:Fallback xmlns="">
          <p:graphicFrame>
            <p:nvGraphicFramePr>
              <p:cNvPr id="3" name="表格 2"/>
              <p:cNvGraphicFramePr>
                <a:graphicFrameLocks noGrp="1"/>
              </p:cNvGraphicFramePr>
              <p:nvPr>
                <p:extLst>
                  <p:ext uri="{D42A27DB-BD31-4B8C-83A1-F6EECF244321}">
                    <p14:modId xmlns:p14="http://schemas.microsoft.com/office/powerpoint/2010/main" val="3773739626"/>
                  </p:ext>
                </p:extLst>
              </p:nvPr>
            </p:nvGraphicFramePr>
            <p:xfrm>
              <a:off x="2575674" y="2499742"/>
              <a:ext cx="3607916" cy="1673300"/>
            </p:xfrm>
            <a:graphic>
              <a:graphicData uri="http://schemas.openxmlformats.org/drawingml/2006/table">
                <a:tbl>
                  <a:tblPr firstRow="1" firstCol="1" bandRow="1">
                    <a:tableStyleId>{5C22544A-7EE6-4342-B048-85BDC9FD1C3A}</a:tableStyleId>
                  </a:tblPr>
                  <a:tblGrid>
                    <a:gridCol w="1948550">
                      <a:extLst>
                        <a:ext uri="{9D8B030D-6E8A-4147-A177-3AD203B41FA5}">
                          <a16:colId xmlns:a16="http://schemas.microsoft.com/office/drawing/2014/main" val="1958897910"/>
                        </a:ext>
                      </a:extLst>
                    </a:gridCol>
                    <a:gridCol w="1659366">
                      <a:extLst>
                        <a:ext uri="{9D8B030D-6E8A-4147-A177-3AD203B41FA5}">
                          <a16:colId xmlns:a16="http://schemas.microsoft.com/office/drawing/2014/main" val="258994372"/>
                        </a:ext>
                      </a:extLst>
                    </a:gridCol>
                  </a:tblGrid>
                  <a:tr h="334660">
                    <a:tc>
                      <a:txBody>
                        <a:bodyPr/>
                        <a:lstStyle/>
                        <a:p>
                          <a:endParaRPr lang="zh-CN"/>
                        </a:p>
                      </a:txBody>
                      <a:tcPr marL="68580" marR="68580" marT="0" marB="0">
                        <a:blipFill>
                          <a:blip r:embed="rId5"/>
                          <a:stretch>
                            <a:fillRect l="-313" t="-20000" r="-86563" b="-403636"/>
                          </a:stretch>
                        </a:blipFill>
                      </a:tcPr>
                    </a:tc>
                    <a:tc>
                      <a:txBody>
                        <a:bodyPr/>
                        <a:lstStyle/>
                        <a:p>
                          <a:pPr>
                            <a:spcBef>
                              <a:spcPts val="600"/>
                            </a:spcBef>
                            <a:spcAft>
                              <a:spcPts val="600"/>
                            </a:spcAft>
                          </a:pPr>
                          <a:r>
                            <a:rPr lang="zh-CN" sz="1400" kern="100">
                              <a:effectLst/>
                            </a:rPr>
                            <a:t>解的最大数量</a:t>
                          </a:r>
                          <a:endParaRPr lang="zh-CN" sz="140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2659204808"/>
                      </a:ext>
                    </a:extLst>
                  </a:tr>
                  <a:tr h="334660">
                    <a:tc>
                      <a:txBody>
                        <a:bodyPr/>
                        <a:lstStyle/>
                        <a:p>
                          <a:endParaRPr lang="zh-CN"/>
                        </a:p>
                      </a:txBody>
                      <a:tcPr marL="68580" marR="68580" marT="0" marB="0">
                        <a:blipFill>
                          <a:blip r:embed="rId5"/>
                          <a:stretch>
                            <a:fillRect l="-313" t="-120000" r="-86563" b="-303636"/>
                          </a:stretch>
                        </a:blipFill>
                      </a:tcPr>
                    </a:tc>
                    <a:tc>
                      <a:txBody>
                        <a:bodyPr/>
                        <a:lstStyle/>
                        <a:p>
                          <a:endParaRPr lang="zh-CN"/>
                        </a:p>
                      </a:txBody>
                      <a:tcPr marL="68580" marR="68580" marT="0" marB="0">
                        <a:blipFill>
                          <a:blip r:embed="rId5"/>
                          <a:stretch>
                            <a:fillRect l="-117582" t="-120000" r="-1465" b="-303636"/>
                          </a:stretch>
                        </a:blipFill>
                      </a:tcPr>
                    </a:tc>
                    <a:extLst>
                      <a:ext uri="{0D108BD9-81ED-4DB2-BD59-A6C34878D82A}">
                        <a16:rowId xmlns:a16="http://schemas.microsoft.com/office/drawing/2014/main" val="2746376371"/>
                      </a:ext>
                    </a:extLst>
                  </a:tr>
                  <a:tr h="334660">
                    <a:tc>
                      <a:txBody>
                        <a:bodyPr/>
                        <a:lstStyle/>
                        <a:p>
                          <a:endParaRPr lang="zh-CN"/>
                        </a:p>
                      </a:txBody>
                      <a:tcPr marL="68580" marR="68580" marT="0" marB="0">
                        <a:blipFill>
                          <a:blip r:embed="rId5"/>
                          <a:stretch>
                            <a:fillRect l="-313" t="-220000" r="-86563" b="-203636"/>
                          </a:stretch>
                        </a:blipFill>
                      </a:tcPr>
                    </a:tc>
                    <a:tc>
                      <a:txBody>
                        <a:bodyPr/>
                        <a:lstStyle/>
                        <a:p>
                          <a:endParaRPr lang="zh-CN"/>
                        </a:p>
                      </a:txBody>
                      <a:tcPr marL="68580" marR="68580" marT="0" marB="0">
                        <a:blipFill>
                          <a:blip r:embed="rId5"/>
                          <a:stretch>
                            <a:fillRect l="-117582" t="-220000" r="-1465" b="-203636"/>
                          </a:stretch>
                        </a:blipFill>
                      </a:tcPr>
                    </a:tc>
                    <a:extLst>
                      <a:ext uri="{0D108BD9-81ED-4DB2-BD59-A6C34878D82A}">
                        <a16:rowId xmlns:a16="http://schemas.microsoft.com/office/drawing/2014/main" val="150219392"/>
                      </a:ext>
                    </a:extLst>
                  </a:tr>
                  <a:tr h="334660">
                    <a:tc>
                      <a:txBody>
                        <a:bodyPr/>
                        <a:lstStyle/>
                        <a:p>
                          <a:endParaRPr lang="zh-CN"/>
                        </a:p>
                      </a:txBody>
                      <a:tcPr marL="68580" marR="68580" marT="0" marB="0">
                        <a:blipFill>
                          <a:blip r:embed="rId5"/>
                          <a:stretch>
                            <a:fillRect l="-313" t="-320000" r="-86563" b="-103636"/>
                          </a:stretch>
                        </a:blipFill>
                      </a:tcPr>
                    </a:tc>
                    <a:tc>
                      <a:txBody>
                        <a:bodyPr/>
                        <a:lstStyle/>
                        <a:p>
                          <a:endParaRPr lang="zh-CN"/>
                        </a:p>
                      </a:txBody>
                      <a:tcPr marL="68580" marR="68580" marT="0" marB="0">
                        <a:blipFill>
                          <a:blip r:embed="rId5"/>
                          <a:stretch>
                            <a:fillRect l="-117582" t="-320000" r="-1465" b="-103636"/>
                          </a:stretch>
                        </a:blipFill>
                      </a:tcPr>
                    </a:tc>
                    <a:extLst>
                      <a:ext uri="{0D108BD9-81ED-4DB2-BD59-A6C34878D82A}">
                        <a16:rowId xmlns:a16="http://schemas.microsoft.com/office/drawing/2014/main" val="2555462114"/>
                      </a:ext>
                    </a:extLst>
                  </a:tr>
                  <a:tr h="334660">
                    <a:tc>
                      <a:txBody>
                        <a:bodyPr/>
                        <a:lstStyle/>
                        <a:p>
                          <a:endParaRPr lang="zh-CN"/>
                        </a:p>
                      </a:txBody>
                      <a:tcPr marL="68580" marR="68580" marT="0" marB="0">
                        <a:blipFill>
                          <a:blip r:embed="rId5"/>
                          <a:stretch>
                            <a:fillRect l="-313" t="-420000" r="-86563" b="-3636"/>
                          </a:stretch>
                        </a:blipFill>
                      </a:tcPr>
                    </a:tc>
                    <a:tc>
                      <a:txBody>
                        <a:bodyPr/>
                        <a:lstStyle/>
                        <a:p>
                          <a:endParaRPr lang="zh-CN"/>
                        </a:p>
                      </a:txBody>
                      <a:tcPr marL="68580" marR="68580" marT="0" marB="0">
                        <a:blipFill>
                          <a:blip r:embed="rId5"/>
                          <a:stretch>
                            <a:fillRect l="-117582" t="-420000" r="-1465" b="-3636"/>
                          </a:stretch>
                        </a:blipFill>
                      </a:tcPr>
                    </a:tc>
                    <a:extLst>
                      <a:ext uri="{0D108BD9-81ED-4DB2-BD59-A6C34878D82A}">
                        <a16:rowId xmlns:a16="http://schemas.microsoft.com/office/drawing/2014/main" val="3125342819"/>
                      </a:ext>
                    </a:extLst>
                  </a:tr>
                </a:tbl>
              </a:graphicData>
            </a:graphic>
          </p:graphicFrame>
        </mc:Fallback>
      </mc:AlternateContent>
      <p:sp>
        <p:nvSpPr>
          <p:cNvPr id="10" name="矩形 9"/>
          <p:cNvSpPr/>
          <p:nvPr/>
        </p:nvSpPr>
        <p:spPr>
          <a:xfrm>
            <a:off x="1505598" y="4314505"/>
            <a:ext cx="6104646" cy="584775"/>
          </a:xfrm>
          <a:prstGeom prst="rect">
            <a:avLst/>
          </a:prstGeom>
        </p:spPr>
        <p:txBody>
          <a:bodyPr wrap="square">
            <a:spAutoFit/>
          </a:bodyPr>
          <a:lstStyle/>
          <a:p>
            <a:r>
              <a:rPr lang="zh-CN" altLang="zh-CN" sz="1600" b="1" dirty="0">
                <a:solidFill>
                  <a:srgbClr val="002060"/>
                </a:solidFill>
              </a:rPr>
              <a:t>解这种非线性超越方程，其技巧就在于如何通过矩阵逆变换以及中间矩阵进行观察对比，这种方法一般被称为</a:t>
            </a:r>
            <a:r>
              <a:rPr lang="en-US" altLang="zh-CN" sz="1600" b="1" dirty="0">
                <a:solidFill>
                  <a:srgbClr val="002060"/>
                </a:solidFill>
              </a:rPr>
              <a:t>Paul</a:t>
            </a:r>
            <a:r>
              <a:rPr lang="zh-CN" altLang="zh-CN" sz="1600" b="1" dirty="0">
                <a:solidFill>
                  <a:srgbClr val="002060"/>
                </a:solidFill>
              </a:rPr>
              <a:t>反变换法。</a:t>
            </a:r>
            <a:endParaRPr lang="zh-CN" altLang="en-US" sz="1600" b="1" dirty="0">
              <a:solidFill>
                <a:srgbClr val="002060"/>
              </a:solidFill>
            </a:endParaRPr>
          </a:p>
        </p:txBody>
      </p:sp>
    </p:spTree>
    <p:extLst>
      <p:ext uri="{BB962C8B-B14F-4D97-AF65-F5344CB8AC3E}">
        <p14:creationId xmlns:p14="http://schemas.microsoft.com/office/powerpoint/2010/main" val="417714764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Inverse Kinematics of 6R </a:t>
              </a:r>
              <a:r>
                <a:rPr lang="en-US" altLang="zh-CN" sz="1000" dirty="0">
                  <a:latin typeface="Arial" panose="020B0604020202020204" pitchFamily="34" charset="0"/>
                  <a:ea typeface="微软雅黑" panose="020B0503020204020204" charset="-122"/>
                  <a:sym typeface="+mn-ea"/>
                </a:rPr>
                <a:t>S</a:t>
              </a:r>
              <a:r>
                <a:rPr lang="en-US" altLang="zh-CN" sz="1000" dirty="0" smtClean="0">
                  <a:latin typeface="Arial" panose="020B0604020202020204" pitchFamily="34" charset="0"/>
                  <a:ea typeface="微软雅黑" panose="020B0503020204020204" charset="-122"/>
                  <a:sym typeface="+mn-ea"/>
                </a:rPr>
                <a:t>erial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6R</a:t>
              </a:r>
              <a:r>
                <a:rPr lang="zh-CN" altLang="en-US" sz="2000" b="1" dirty="0">
                  <a:latin typeface="Arial" panose="020B0604020202020204" pitchFamily="34" charset="0"/>
                  <a:ea typeface="微软雅黑" panose="020B0503020204020204" charset="-122"/>
                  <a:sym typeface="+mn-ea"/>
                </a:rPr>
                <a:t>串联机器人逆运动学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p:nvSpPr>
        <p:spPr>
          <a:xfrm>
            <a:off x="2178137" y="803488"/>
            <a:ext cx="4999115" cy="400110"/>
          </a:xfrm>
          <a:prstGeom prst="rect">
            <a:avLst/>
          </a:prstGeom>
        </p:spPr>
        <p:txBody>
          <a:bodyPr wrap="square">
            <a:spAutoFit/>
          </a:bodyPr>
          <a:lstStyle/>
          <a:p>
            <a:r>
              <a:rPr lang="zh-CN" altLang="en-US" sz="2000" b="1" dirty="0">
                <a:solidFill>
                  <a:srgbClr val="002060"/>
                </a:solidFill>
              </a:rPr>
              <a:t>解析法与几何法的混合求法</a:t>
            </a:r>
            <a:r>
              <a:rPr lang="en-US" altLang="zh-CN" sz="2000" b="1" dirty="0" smtClean="0">
                <a:solidFill>
                  <a:srgbClr val="002060"/>
                </a:solidFill>
              </a:rPr>
              <a:t>(</a:t>
            </a:r>
            <a:r>
              <a:rPr lang="zh-CN" altLang="en-US" sz="2000" b="1" dirty="0">
                <a:solidFill>
                  <a:srgbClr val="002060"/>
                </a:solidFill>
              </a:rPr>
              <a:t>实例讲解</a:t>
            </a:r>
            <a:r>
              <a:rPr lang="en-US" altLang="zh-CN" sz="2000" b="1" dirty="0" smtClean="0">
                <a:solidFill>
                  <a:srgbClr val="002060"/>
                </a:solidFill>
              </a:rPr>
              <a:t>)</a:t>
            </a:r>
            <a:endParaRPr lang="zh-CN" altLang="en-US" sz="2000" b="1" dirty="0">
              <a:solidFill>
                <a:srgbClr val="002060"/>
              </a:solidFill>
            </a:endParaRPr>
          </a:p>
        </p:txBody>
      </p:sp>
      <p:sp>
        <p:nvSpPr>
          <p:cNvPr id="20" name="形状"/>
          <p:cNvSpPr/>
          <p:nvPr>
            <p:custDataLst>
              <p:tags r:id="rId1"/>
            </p:custDataLst>
          </p:nvPr>
        </p:nvSpPr>
        <p:spPr>
          <a:xfrm>
            <a:off x="3591425" y="1583164"/>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2" name="矩形 21"/>
          <p:cNvSpPr/>
          <p:nvPr/>
        </p:nvSpPr>
        <p:spPr>
          <a:xfrm>
            <a:off x="3997351" y="1578631"/>
            <a:ext cx="585417" cy="369332"/>
          </a:xfrm>
          <a:prstGeom prst="rect">
            <a:avLst/>
          </a:prstGeom>
        </p:spPr>
        <p:txBody>
          <a:bodyPr wrap="none">
            <a:spAutoFit/>
          </a:bodyPr>
          <a:lstStyle/>
          <a:p>
            <a:r>
              <a:rPr lang="en-US" altLang="zh-CN" b="1" dirty="0" smtClean="0">
                <a:solidFill>
                  <a:srgbClr val="002060"/>
                </a:solidFill>
              </a:rPr>
              <a:t>SDH</a:t>
            </a:r>
            <a:endParaRPr lang="zh-CN" altLang="en-US" b="1" dirty="0">
              <a:solidFill>
                <a:srgbClr val="002060"/>
              </a:solidFill>
            </a:endParaRPr>
          </a:p>
        </p:txBody>
      </p:sp>
      <p:sp>
        <p:nvSpPr>
          <p:cNvPr id="24" name="形状"/>
          <p:cNvSpPr/>
          <p:nvPr>
            <p:custDataLst>
              <p:tags r:id="rId2"/>
            </p:custDataLst>
          </p:nvPr>
        </p:nvSpPr>
        <p:spPr>
          <a:xfrm>
            <a:off x="4671735" y="1578631"/>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pic>
        <p:nvPicPr>
          <p:cNvPr id="8" name="图片 7"/>
          <p:cNvPicPr>
            <a:picLocks noChangeAspect="1"/>
          </p:cNvPicPr>
          <p:nvPr/>
        </p:nvPicPr>
        <p:blipFill>
          <a:blip r:embed="rId5"/>
          <a:stretch>
            <a:fillRect/>
          </a:stretch>
        </p:blipFill>
        <p:spPr>
          <a:xfrm>
            <a:off x="709448" y="2139701"/>
            <a:ext cx="3907978" cy="1859441"/>
          </a:xfrm>
          <a:prstGeom prst="rect">
            <a:avLst/>
          </a:prstGeom>
        </p:spPr>
      </p:pic>
      <p:pic>
        <p:nvPicPr>
          <p:cNvPr id="9" name="图片 8"/>
          <p:cNvPicPr>
            <a:picLocks noChangeAspect="1"/>
          </p:cNvPicPr>
          <p:nvPr/>
        </p:nvPicPr>
        <p:blipFill>
          <a:blip r:embed="rId6"/>
          <a:stretch>
            <a:fillRect/>
          </a:stretch>
        </p:blipFill>
        <p:spPr>
          <a:xfrm>
            <a:off x="4671735" y="2139702"/>
            <a:ext cx="2877561" cy="1859441"/>
          </a:xfrm>
          <a:prstGeom prst="rect">
            <a:avLst/>
          </a:prstGeom>
        </p:spPr>
      </p:pic>
      <p:pic>
        <p:nvPicPr>
          <p:cNvPr id="15" name="图片 14"/>
          <p:cNvPicPr/>
          <p:nvPr/>
        </p:nvPicPr>
        <p:blipFill>
          <a:blip r:embed="rId7"/>
          <a:stretch>
            <a:fillRect/>
          </a:stretch>
        </p:blipFill>
        <p:spPr>
          <a:xfrm>
            <a:off x="2172200" y="4443958"/>
            <a:ext cx="4357532" cy="312728"/>
          </a:xfrm>
          <a:prstGeom prst="rect">
            <a:avLst/>
          </a:prstGeom>
        </p:spPr>
      </p:pic>
      <p:sp>
        <p:nvSpPr>
          <p:cNvPr id="11" name="线形标注 2(带边框和强调线) 10"/>
          <p:cNvSpPr/>
          <p:nvPr/>
        </p:nvSpPr>
        <p:spPr>
          <a:xfrm>
            <a:off x="6660231" y="1681768"/>
            <a:ext cx="1601003" cy="369332"/>
          </a:xfrm>
          <a:prstGeom prst="accentBorderCallout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6622645" y="1712545"/>
            <a:ext cx="1638590" cy="307777"/>
          </a:xfrm>
          <a:prstGeom prst="rect">
            <a:avLst/>
          </a:prstGeom>
          <a:noFill/>
        </p:spPr>
        <p:txBody>
          <a:bodyPr wrap="none" rtlCol="0">
            <a:spAutoFit/>
          </a:bodyPr>
          <a:lstStyle/>
          <a:p>
            <a:r>
              <a:rPr lang="zh-CN" altLang="en-US" sz="1400" dirty="0" smtClean="0">
                <a:solidFill>
                  <a:srgbClr val="002060"/>
                </a:solidFill>
              </a:rPr>
              <a:t>和</a:t>
            </a:r>
            <a:r>
              <a:rPr lang="en-US" altLang="zh-CN" sz="1400" dirty="0" smtClean="0">
                <a:solidFill>
                  <a:srgbClr val="002060"/>
                </a:solidFill>
              </a:rPr>
              <a:t>MDH</a:t>
            </a:r>
            <a:r>
              <a:rPr lang="zh-CN" altLang="en-US" sz="1400" dirty="0" smtClean="0">
                <a:solidFill>
                  <a:srgbClr val="002060"/>
                </a:solidFill>
              </a:rPr>
              <a:t>区别在哪？</a:t>
            </a:r>
            <a:endParaRPr lang="zh-CN" altLang="en-US" sz="1400" dirty="0">
              <a:solidFill>
                <a:srgbClr val="002060"/>
              </a:solidFill>
            </a:endParaRPr>
          </a:p>
        </p:txBody>
      </p:sp>
    </p:spTree>
    <p:extLst>
      <p:ext uri="{BB962C8B-B14F-4D97-AF65-F5344CB8AC3E}">
        <p14:creationId xmlns:p14="http://schemas.microsoft.com/office/powerpoint/2010/main" val="52772489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Inverse Kinematics of 6R </a:t>
              </a:r>
              <a:r>
                <a:rPr lang="en-US" altLang="zh-CN" sz="1000" dirty="0">
                  <a:latin typeface="Arial" panose="020B0604020202020204" pitchFamily="34" charset="0"/>
                  <a:ea typeface="微软雅黑" panose="020B0503020204020204" charset="-122"/>
                  <a:sym typeface="+mn-ea"/>
                </a:rPr>
                <a:t>S</a:t>
              </a:r>
              <a:r>
                <a:rPr lang="en-US" altLang="zh-CN" sz="1000" dirty="0" smtClean="0">
                  <a:latin typeface="Arial" panose="020B0604020202020204" pitchFamily="34" charset="0"/>
                  <a:ea typeface="微软雅黑" panose="020B0503020204020204" charset="-122"/>
                  <a:sym typeface="+mn-ea"/>
                </a:rPr>
                <a:t>erial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6R</a:t>
              </a:r>
              <a:r>
                <a:rPr lang="zh-CN" altLang="en-US" sz="2000" b="1" dirty="0">
                  <a:latin typeface="Arial" panose="020B0604020202020204" pitchFamily="34" charset="0"/>
                  <a:ea typeface="微软雅黑" panose="020B0503020204020204" charset="-122"/>
                  <a:sym typeface="+mn-ea"/>
                </a:rPr>
                <a:t>串联机器人逆运动学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p:nvSpPr>
        <p:spPr>
          <a:xfrm>
            <a:off x="2178137" y="803488"/>
            <a:ext cx="4999115" cy="400110"/>
          </a:xfrm>
          <a:prstGeom prst="rect">
            <a:avLst/>
          </a:prstGeom>
        </p:spPr>
        <p:txBody>
          <a:bodyPr wrap="square">
            <a:spAutoFit/>
          </a:bodyPr>
          <a:lstStyle/>
          <a:p>
            <a:r>
              <a:rPr lang="zh-CN" altLang="en-US" sz="2000" b="1" dirty="0">
                <a:solidFill>
                  <a:srgbClr val="002060"/>
                </a:solidFill>
              </a:rPr>
              <a:t>解析法与几何法的混合求法</a:t>
            </a:r>
            <a:r>
              <a:rPr lang="en-US" altLang="zh-CN" sz="2000" b="1" dirty="0" smtClean="0">
                <a:solidFill>
                  <a:srgbClr val="002060"/>
                </a:solidFill>
              </a:rPr>
              <a:t>(</a:t>
            </a:r>
            <a:r>
              <a:rPr lang="zh-CN" altLang="en-US" sz="2000" b="1" dirty="0">
                <a:solidFill>
                  <a:srgbClr val="002060"/>
                </a:solidFill>
              </a:rPr>
              <a:t>实例讲解</a:t>
            </a:r>
            <a:r>
              <a:rPr lang="en-US" altLang="zh-CN" sz="2000" b="1" dirty="0" smtClean="0">
                <a:solidFill>
                  <a:srgbClr val="002060"/>
                </a:solidFill>
              </a:rPr>
              <a:t>)</a:t>
            </a:r>
            <a:endParaRPr lang="zh-CN" altLang="en-US" sz="2000" b="1" dirty="0">
              <a:solidFill>
                <a:srgbClr val="002060"/>
              </a:solidFill>
            </a:endParaRPr>
          </a:p>
        </p:txBody>
      </p:sp>
      <p:sp>
        <p:nvSpPr>
          <p:cNvPr id="20" name="形状"/>
          <p:cNvSpPr/>
          <p:nvPr>
            <p:custDataLst>
              <p:tags r:id="rId1"/>
            </p:custDataLst>
          </p:nvPr>
        </p:nvSpPr>
        <p:spPr>
          <a:xfrm>
            <a:off x="3591425" y="1583164"/>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2" name="矩形 21"/>
          <p:cNvSpPr/>
          <p:nvPr/>
        </p:nvSpPr>
        <p:spPr>
          <a:xfrm>
            <a:off x="3997351" y="1578631"/>
            <a:ext cx="766557" cy="369332"/>
          </a:xfrm>
          <a:prstGeom prst="rect">
            <a:avLst/>
          </a:prstGeom>
        </p:spPr>
        <p:txBody>
          <a:bodyPr wrap="none">
            <a:spAutoFit/>
          </a:bodyPr>
          <a:lstStyle/>
          <a:p>
            <a:r>
              <a:rPr lang="zh-CN" altLang="en-US" b="1" dirty="0" smtClean="0">
                <a:solidFill>
                  <a:srgbClr val="002060"/>
                </a:solidFill>
              </a:rPr>
              <a:t>第</a:t>
            </a:r>
            <a:r>
              <a:rPr lang="en-US" altLang="zh-CN" b="1" dirty="0" smtClean="0">
                <a:solidFill>
                  <a:srgbClr val="002060"/>
                </a:solidFill>
              </a:rPr>
              <a:t>1</a:t>
            </a:r>
            <a:r>
              <a:rPr lang="zh-CN" altLang="en-US" b="1" dirty="0" smtClean="0">
                <a:solidFill>
                  <a:srgbClr val="002060"/>
                </a:solidFill>
              </a:rPr>
              <a:t>步</a:t>
            </a:r>
            <a:endParaRPr lang="zh-CN" altLang="en-US" b="1" dirty="0">
              <a:solidFill>
                <a:srgbClr val="002060"/>
              </a:solidFill>
            </a:endParaRPr>
          </a:p>
        </p:txBody>
      </p:sp>
      <p:sp>
        <p:nvSpPr>
          <p:cNvPr id="24" name="形状"/>
          <p:cNvSpPr/>
          <p:nvPr>
            <p:custDataLst>
              <p:tags r:id="rId2"/>
            </p:custDataLst>
          </p:nvPr>
        </p:nvSpPr>
        <p:spPr>
          <a:xfrm>
            <a:off x="4817783" y="1593397"/>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pic>
        <p:nvPicPr>
          <p:cNvPr id="16" name="图片 15"/>
          <p:cNvPicPr/>
          <p:nvPr/>
        </p:nvPicPr>
        <p:blipFill>
          <a:blip r:embed="rId5"/>
          <a:stretch>
            <a:fillRect/>
          </a:stretch>
        </p:blipFill>
        <p:spPr>
          <a:xfrm>
            <a:off x="786345" y="2122443"/>
            <a:ext cx="3876675" cy="2291715"/>
          </a:xfrm>
          <a:prstGeom prst="rect">
            <a:avLst/>
          </a:prstGeom>
        </p:spPr>
      </p:pic>
      <p:sp>
        <p:nvSpPr>
          <p:cNvPr id="2" name="矩形 1"/>
          <p:cNvSpPr/>
          <p:nvPr/>
        </p:nvSpPr>
        <p:spPr>
          <a:xfrm>
            <a:off x="1979712" y="4571822"/>
            <a:ext cx="5010602" cy="338554"/>
          </a:xfrm>
          <a:prstGeom prst="rect">
            <a:avLst/>
          </a:prstGeom>
        </p:spPr>
        <p:txBody>
          <a:bodyPr wrap="none">
            <a:spAutoFit/>
          </a:bodyPr>
          <a:lstStyle/>
          <a:p>
            <a:r>
              <a:rPr lang="zh-CN" altLang="en-US" sz="1600" dirty="0" smtClean="0">
                <a:ea typeface="等线" panose="02010600030101010101" pitchFamily="2" charset="-122"/>
                <a:cs typeface="Times New Roman" panose="02020603050405020304" pitchFamily="18" charset="0"/>
              </a:rPr>
              <a:t>几何作图，</a:t>
            </a:r>
            <a:r>
              <a:rPr lang="zh-CN" altLang="zh-CN" sz="1600" dirty="0" smtClean="0">
                <a:ea typeface="等线" panose="02010600030101010101" pitchFamily="2" charset="-122"/>
                <a:cs typeface="Times New Roman" panose="02020603050405020304" pitchFamily="18" charset="0"/>
              </a:rPr>
              <a:t>找到</a:t>
            </a:r>
            <a:r>
              <a:rPr lang="zh-CN" altLang="zh-CN" sz="1600" dirty="0">
                <a:ea typeface="等线" panose="02010600030101010101" pitchFamily="2" charset="-122"/>
                <a:cs typeface="Times New Roman" panose="02020603050405020304" pitchFamily="18" charset="0"/>
              </a:rPr>
              <a:t>第</a:t>
            </a:r>
            <a:r>
              <a:rPr lang="en-US" altLang="zh-CN" sz="1600" dirty="0">
                <a:ea typeface="等线" panose="02010600030101010101" pitchFamily="2" charset="-122"/>
                <a:cs typeface="Times New Roman" panose="02020603050405020304" pitchFamily="18" charset="0"/>
              </a:rPr>
              <a:t>5</a:t>
            </a:r>
            <a:r>
              <a:rPr lang="zh-CN" altLang="zh-CN" sz="1600" dirty="0">
                <a:ea typeface="等线" panose="02010600030101010101" pitchFamily="2" charset="-122"/>
                <a:cs typeface="Times New Roman" panose="02020603050405020304" pitchFamily="18" charset="0"/>
              </a:rPr>
              <a:t>轴手腕（</a:t>
            </a:r>
            <a:r>
              <a:rPr lang="en-US" altLang="zh-CN" sz="1600" dirty="0">
                <a:ea typeface="等线" panose="02010600030101010101" pitchFamily="2" charset="-122"/>
                <a:cs typeface="Times New Roman" panose="02020603050405020304" pitchFamily="18" charset="0"/>
              </a:rPr>
              <a:t>wrist</a:t>
            </a:r>
            <a:r>
              <a:rPr lang="zh-CN" altLang="zh-CN" sz="1600" dirty="0">
                <a:ea typeface="等线" panose="02010600030101010101" pitchFamily="2" charset="-122"/>
                <a:cs typeface="Times New Roman" panose="02020603050405020304" pitchFamily="18" charset="0"/>
              </a:rPr>
              <a:t>）相对基坐标的位置</a:t>
            </a:r>
            <a:endParaRPr lang="zh-CN" altLang="en-US" sz="1600" dirty="0"/>
          </a:p>
        </p:txBody>
      </p:sp>
      <p:pic>
        <p:nvPicPr>
          <p:cNvPr id="17" name="图片 16"/>
          <p:cNvPicPr/>
          <p:nvPr/>
        </p:nvPicPr>
        <p:blipFill>
          <a:blip r:embed="rId6"/>
          <a:stretch>
            <a:fillRect/>
          </a:stretch>
        </p:blipFill>
        <p:spPr>
          <a:xfrm>
            <a:off x="5508104" y="2535192"/>
            <a:ext cx="2656840" cy="1466215"/>
          </a:xfrm>
          <a:prstGeom prst="rect">
            <a:avLst/>
          </a:prstGeom>
        </p:spPr>
      </p:pic>
      <p:sp>
        <p:nvSpPr>
          <p:cNvPr id="3" name="虚尾箭头 2"/>
          <p:cNvSpPr/>
          <p:nvPr/>
        </p:nvSpPr>
        <p:spPr>
          <a:xfrm>
            <a:off x="4917440" y="3147814"/>
            <a:ext cx="374640" cy="360040"/>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3990340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Inverse Kinematics of 6R </a:t>
              </a:r>
              <a:r>
                <a:rPr lang="en-US" altLang="zh-CN" sz="1000" dirty="0">
                  <a:latin typeface="Arial" panose="020B0604020202020204" pitchFamily="34" charset="0"/>
                  <a:ea typeface="微软雅黑" panose="020B0503020204020204" charset="-122"/>
                  <a:sym typeface="+mn-ea"/>
                </a:rPr>
                <a:t>S</a:t>
              </a:r>
              <a:r>
                <a:rPr lang="en-US" altLang="zh-CN" sz="1000" dirty="0" smtClean="0">
                  <a:latin typeface="Arial" panose="020B0604020202020204" pitchFamily="34" charset="0"/>
                  <a:ea typeface="微软雅黑" panose="020B0503020204020204" charset="-122"/>
                  <a:sym typeface="+mn-ea"/>
                </a:rPr>
                <a:t>erial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6R</a:t>
              </a:r>
              <a:r>
                <a:rPr lang="zh-CN" altLang="en-US" sz="2000" b="1" dirty="0">
                  <a:latin typeface="Arial" panose="020B0604020202020204" pitchFamily="34" charset="0"/>
                  <a:ea typeface="微软雅黑" panose="020B0503020204020204" charset="-122"/>
                  <a:sym typeface="+mn-ea"/>
                </a:rPr>
                <a:t>串联机器人逆运动学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p:nvSpPr>
        <p:spPr>
          <a:xfrm>
            <a:off x="2178137" y="803488"/>
            <a:ext cx="4999115" cy="400110"/>
          </a:xfrm>
          <a:prstGeom prst="rect">
            <a:avLst/>
          </a:prstGeom>
        </p:spPr>
        <p:txBody>
          <a:bodyPr wrap="square">
            <a:spAutoFit/>
          </a:bodyPr>
          <a:lstStyle/>
          <a:p>
            <a:r>
              <a:rPr lang="zh-CN" altLang="en-US" sz="2000" b="1" dirty="0">
                <a:solidFill>
                  <a:srgbClr val="002060"/>
                </a:solidFill>
              </a:rPr>
              <a:t>解析法与几何法的混合求法</a:t>
            </a:r>
            <a:r>
              <a:rPr lang="en-US" altLang="zh-CN" sz="2000" b="1" dirty="0" smtClean="0">
                <a:solidFill>
                  <a:srgbClr val="002060"/>
                </a:solidFill>
              </a:rPr>
              <a:t>(</a:t>
            </a:r>
            <a:r>
              <a:rPr lang="zh-CN" altLang="en-US" sz="2000" b="1" dirty="0">
                <a:solidFill>
                  <a:srgbClr val="002060"/>
                </a:solidFill>
              </a:rPr>
              <a:t>实例讲解</a:t>
            </a:r>
            <a:r>
              <a:rPr lang="en-US" altLang="zh-CN" sz="2000" b="1" dirty="0" smtClean="0">
                <a:solidFill>
                  <a:srgbClr val="002060"/>
                </a:solidFill>
              </a:rPr>
              <a:t>)</a:t>
            </a:r>
            <a:endParaRPr lang="zh-CN" altLang="en-US" sz="2000" b="1" dirty="0">
              <a:solidFill>
                <a:srgbClr val="002060"/>
              </a:solidFill>
            </a:endParaRPr>
          </a:p>
        </p:txBody>
      </p:sp>
      <p:sp>
        <p:nvSpPr>
          <p:cNvPr id="20" name="形状"/>
          <p:cNvSpPr/>
          <p:nvPr>
            <p:custDataLst>
              <p:tags r:id="rId1"/>
            </p:custDataLst>
          </p:nvPr>
        </p:nvSpPr>
        <p:spPr>
          <a:xfrm>
            <a:off x="3591425" y="1201031"/>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2" name="矩形 21"/>
          <p:cNvSpPr/>
          <p:nvPr/>
        </p:nvSpPr>
        <p:spPr>
          <a:xfrm>
            <a:off x="3997351" y="1196498"/>
            <a:ext cx="766557" cy="369332"/>
          </a:xfrm>
          <a:prstGeom prst="rect">
            <a:avLst/>
          </a:prstGeom>
        </p:spPr>
        <p:txBody>
          <a:bodyPr wrap="none">
            <a:spAutoFit/>
          </a:bodyPr>
          <a:lstStyle/>
          <a:p>
            <a:r>
              <a:rPr lang="zh-CN" altLang="en-US" b="1" dirty="0" smtClean="0">
                <a:solidFill>
                  <a:srgbClr val="002060"/>
                </a:solidFill>
              </a:rPr>
              <a:t>第</a:t>
            </a:r>
            <a:r>
              <a:rPr lang="en-US" altLang="zh-CN" b="1" dirty="0" smtClean="0">
                <a:solidFill>
                  <a:srgbClr val="002060"/>
                </a:solidFill>
              </a:rPr>
              <a:t>1</a:t>
            </a:r>
            <a:r>
              <a:rPr lang="zh-CN" altLang="en-US" b="1" dirty="0" smtClean="0">
                <a:solidFill>
                  <a:srgbClr val="002060"/>
                </a:solidFill>
              </a:rPr>
              <a:t>步</a:t>
            </a:r>
            <a:endParaRPr lang="zh-CN" altLang="en-US" b="1" dirty="0">
              <a:solidFill>
                <a:srgbClr val="002060"/>
              </a:solidFill>
            </a:endParaRPr>
          </a:p>
        </p:txBody>
      </p:sp>
      <p:sp>
        <p:nvSpPr>
          <p:cNvPr id="24" name="形状"/>
          <p:cNvSpPr/>
          <p:nvPr>
            <p:custDataLst>
              <p:tags r:id="rId2"/>
            </p:custDataLst>
          </p:nvPr>
        </p:nvSpPr>
        <p:spPr>
          <a:xfrm>
            <a:off x="4817783" y="1211264"/>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 name="矩形 1"/>
          <p:cNvSpPr/>
          <p:nvPr/>
        </p:nvSpPr>
        <p:spPr>
          <a:xfrm>
            <a:off x="770935" y="1314151"/>
            <a:ext cx="2904962" cy="276999"/>
          </a:xfrm>
          <a:prstGeom prst="rect">
            <a:avLst/>
          </a:prstGeom>
        </p:spPr>
        <p:txBody>
          <a:bodyPr wrap="none">
            <a:spAutoFit/>
          </a:bodyPr>
          <a:lstStyle/>
          <a:p>
            <a:r>
              <a:rPr lang="zh-CN" altLang="en-US" sz="1200" dirty="0">
                <a:ea typeface="等线" panose="02010600030101010101" pitchFamily="2" charset="-122"/>
                <a:cs typeface="Times New Roman" panose="02020603050405020304" pitchFamily="18" charset="0"/>
              </a:rPr>
              <a:t>从</a:t>
            </a:r>
            <a:r>
              <a:rPr lang="en-US" altLang="zh-CN" sz="1200" dirty="0">
                <a:ea typeface="等线" panose="02010600030101010101" pitchFamily="2" charset="-122"/>
                <a:cs typeface="Times New Roman" panose="02020603050405020304" pitchFamily="18" charset="0"/>
              </a:rPr>
              <a:t>{0}</a:t>
            </a:r>
            <a:r>
              <a:rPr lang="zh-CN" altLang="en-US" sz="1200" dirty="0">
                <a:ea typeface="等线" panose="02010600030101010101" pitchFamily="2" charset="-122"/>
                <a:cs typeface="Times New Roman" panose="02020603050405020304" pitchFamily="18" charset="0"/>
              </a:rPr>
              <a:t>到</a:t>
            </a:r>
            <a:r>
              <a:rPr lang="en-US" altLang="zh-CN" sz="1200" dirty="0">
                <a:ea typeface="等线" panose="02010600030101010101" pitchFamily="2" charset="-122"/>
                <a:cs typeface="Times New Roman" panose="02020603050405020304" pitchFamily="18" charset="0"/>
              </a:rPr>
              <a:t>{5}</a:t>
            </a:r>
            <a:r>
              <a:rPr lang="zh-CN" altLang="en-US" sz="1200" dirty="0">
                <a:ea typeface="等线" panose="02010600030101010101" pitchFamily="2" charset="-122"/>
                <a:cs typeface="Times New Roman" panose="02020603050405020304" pitchFamily="18" charset="0"/>
              </a:rPr>
              <a:t>沿</a:t>
            </a:r>
            <a:r>
              <a:rPr lang="en-US" altLang="zh-CN" sz="1200" dirty="0">
                <a:ea typeface="等线" panose="02010600030101010101" pitchFamily="2" charset="-122"/>
                <a:cs typeface="Times New Roman" panose="02020603050405020304" pitchFamily="18" charset="0"/>
              </a:rPr>
              <a:t>z_0</a:t>
            </a:r>
            <a:r>
              <a:rPr lang="zh-CN" altLang="en-US" sz="1200" dirty="0">
                <a:ea typeface="等线" panose="02010600030101010101" pitchFamily="2" charset="-122"/>
                <a:cs typeface="Times New Roman" panose="02020603050405020304" pitchFamily="18" charset="0"/>
              </a:rPr>
              <a:t>方向分析它们的几何关系</a:t>
            </a:r>
            <a:endParaRPr lang="zh-CN" altLang="en-US" sz="1200" dirty="0"/>
          </a:p>
        </p:txBody>
      </p:sp>
      <p:pic>
        <p:nvPicPr>
          <p:cNvPr id="14" name="图片 13"/>
          <p:cNvPicPr/>
          <p:nvPr/>
        </p:nvPicPr>
        <p:blipFill>
          <a:blip r:embed="rId5"/>
          <a:stretch>
            <a:fillRect/>
          </a:stretch>
        </p:blipFill>
        <p:spPr>
          <a:xfrm>
            <a:off x="580154" y="1585487"/>
            <a:ext cx="3800475" cy="2403475"/>
          </a:xfrm>
          <a:prstGeom prst="rect">
            <a:avLst/>
          </a:prstGeom>
        </p:spPr>
      </p:pic>
      <p:pic>
        <p:nvPicPr>
          <p:cNvPr id="15" name="图片 14"/>
          <p:cNvPicPr/>
          <p:nvPr/>
        </p:nvPicPr>
        <p:blipFill>
          <a:blip r:embed="rId6"/>
          <a:stretch>
            <a:fillRect/>
          </a:stretch>
        </p:blipFill>
        <p:spPr>
          <a:xfrm>
            <a:off x="5376792" y="1585487"/>
            <a:ext cx="3168352" cy="1296144"/>
          </a:xfrm>
          <a:prstGeom prst="rect">
            <a:avLst/>
          </a:prstGeom>
        </p:spPr>
      </p:pic>
      <p:sp>
        <p:nvSpPr>
          <p:cNvPr id="8" name="虚尾箭头 7"/>
          <p:cNvSpPr/>
          <p:nvPr/>
        </p:nvSpPr>
        <p:spPr>
          <a:xfrm>
            <a:off x="4644008" y="2621665"/>
            <a:ext cx="504056" cy="360040"/>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p:cNvPicPr/>
          <p:nvPr/>
        </p:nvPicPr>
        <p:blipFill>
          <a:blip r:embed="rId7"/>
          <a:stretch>
            <a:fillRect/>
          </a:stretch>
        </p:blipFill>
        <p:spPr>
          <a:xfrm>
            <a:off x="5388399" y="2881631"/>
            <a:ext cx="2209165" cy="456565"/>
          </a:xfrm>
          <a:prstGeom prst="rect">
            <a:avLst/>
          </a:prstGeom>
        </p:spPr>
      </p:pic>
      <p:pic>
        <p:nvPicPr>
          <p:cNvPr id="19" name="图片 18"/>
          <p:cNvPicPr/>
          <p:nvPr/>
        </p:nvPicPr>
        <p:blipFill>
          <a:blip r:embed="rId8"/>
          <a:stretch>
            <a:fillRect/>
          </a:stretch>
        </p:blipFill>
        <p:spPr>
          <a:xfrm>
            <a:off x="5376792" y="3340065"/>
            <a:ext cx="3418840" cy="1751965"/>
          </a:xfrm>
          <a:prstGeom prst="rect">
            <a:avLst/>
          </a:prstGeom>
        </p:spPr>
      </p:pic>
      <p:pic>
        <p:nvPicPr>
          <p:cNvPr id="21" name="图片 20"/>
          <p:cNvPicPr/>
          <p:nvPr/>
        </p:nvPicPr>
        <p:blipFill>
          <a:blip r:embed="rId9"/>
          <a:stretch>
            <a:fillRect/>
          </a:stretch>
        </p:blipFill>
        <p:spPr>
          <a:xfrm>
            <a:off x="580154" y="4032832"/>
            <a:ext cx="4219575" cy="1027430"/>
          </a:xfrm>
          <a:prstGeom prst="rect">
            <a:avLst/>
          </a:prstGeom>
        </p:spPr>
      </p:pic>
      <p:sp>
        <p:nvSpPr>
          <p:cNvPr id="9" name="虚尾箭头 8"/>
          <p:cNvSpPr/>
          <p:nvPr/>
        </p:nvSpPr>
        <p:spPr>
          <a:xfrm rot="10800000">
            <a:off x="4817782" y="4443958"/>
            <a:ext cx="474297" cy="288032"/>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p:nvPicPr>
        <p:blipFill>
          <a:blip r:embed="rId10"/>
          <a:stretch>
            <a:fillRect/>
          </a:stretch>
        </p:blipFill>
        <p:spPr>
          <a:xfrm>
            <a:off x="5334994" y="1191711"/>
            <a:ext cx="361285" cy="327677"/>
          </a:xfrm>
          <a:prstGeom prst="rect">
            <a:avLst/>
          </a:prstGeom>
        </p:spPr>
      </p:pic>
      <p:sp>
        <p:nvSpPr>
          <p:cNvPr id="11" name="文本框 10"/>
          <p:cNvSpPr txBox="1"/>
          <p:nvPr/>
        </p:nvSpPr>
        <p:spPr>
          <a:xfrm>
            <a:off x="5692494" y="1269697"/>
            <a:ext cx="3262432" cy="246221"/>
          </a:xfrm>
          <a:prstGeom prst="rect">
            <a:avLst/>
          </a:prstGeom>
          <a:noFill/>
        </p:spPr>
        <p:txBody>
          <a:bodyPr wrap="none" rtlCol="0">
            <a:spAutoFit/>
          </a:bodyPr>
          <a:lstStyle/>
          <a:p>
            <a:r>
              <a:rPr lang="zh-CN" altLang="en-US" sz="1000" b="1" dirty="0" smtClean="0">
                <a:solidFill>
                  <a:srgbClr val="FF0000"/>
                </a:solidFill>
              </a:rPr>
              <a:t>第一步咱们就确定了机器人的大方向：第一个关节角！</a:t>
            </a:r>
            <a:endParaRPr lang="zh-CN" altLang="en-US" sz="1000" b="1" dirty="0">
              <a:solidFill>
                <a:srgbClr val="FF0000"/>
              </a:solidFill>
            </a:endParaRPr>
          </a:p>
        </p:txBody>
      </p:sp>
      <p:sp>
        <p:nvSpPr>
          <p:cNvPr id="13" name="文本框 12"/>
          <p:cNvSpPr txBox="1"/>
          <p:nvPr/>
        </p:nvSpPr>
        <p:spPr>
          <a:xfrm>
            <a:off x="2129836" y="4073692"/>
            <a:ext cx="2698175" cy="307777"/>
          </a:xfrm>
          <a:prstGeom prst="rect">
            <a:avLst/>
          </a:prstGeom>
          <a:noFill/>
        </p:spPr>
        <p:txBody>
          <a:bodyPr wrap="none" rtlCol="0">
            <a:spAutoFit/>
          </a:bodyPr>
          <a:lstStyle/>
          <a:p>
            <a:r>
              <a:rPr lang="zh-CN" altLang="en-US" sz="1400" b="1" dirty="0" smtClean="0">
                <a:solidFill>
                  <a:srgbClr val="7030A0"/>
                </a:solidFill>
              </a:rPr>
              <a:t>咱用左手写字，还是右手写字呀</a:t>
            </a:r>
            <a:endParaRPr lang="zh-CN" altLang="en-US" sz="1400" b="1" dirty="0">
              <a:solidFill>
                <a:srgbClr val="7030A0"/>
              </a:solidFill>
            </a:endParaRPr>
          </a:p>
        </p:txBody>
      </p:sp>
      <p:pic>
        <p:nvPicPr>
          <p:cNvPr id="23" name="图片 22"/>
          <p:cNvPicPr>
            <a:picLocks noChangeAspect="1"/>
          </p:cNvPicPr>
          <p:nvPr/>
        </p:nvPicPr>
        <p:blipFill>
          <a:blip r:embed="rId11"/>
          <a:stretch>
            <a:fillRect/>
          </a:stretch>
        </p:blipFill>
        <p:spPr>
          <a:xfrm>
            <a:off x="4763908" y="4046627"/>
            <a:ext cx="380952" cy="361905"/>
          </a:xfrm>
          <a:prstGeom prst="rect">
            <a:avLst/>
          </a:prstGeom>
        </p:spPr>
      </p:pic>
    </p:spTree>
    <p:extLst>
      <p:ext uri="{BB962C8B-B14F-4D97-AF65-F5344CB8AC3E}">
        <p14:creationId xmlns:p14="http://schemas.microsoft.com/office/powerpoint/2010/main" val="378596813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Inverse Kinematics of 6R </a:t>
              </a:r>
              <a:r>
                <a:rPr lang="en-US" altLang="zh-CN" sz="1000" dirty="0">
                  <a:latin typeface="Arial" panose="020B0604020202020204" pitchFamily="34" charset="0"/>
                  <a:ea typeface="微软雅黑" panose="020B0503020204020204" charset="-122"/>
                  <a:sym typeface="+mn-ea"/>
                </a:rPr>
                <a:t>S</a:t>
              </a:r>
              <a:r>
                <a:rPr lang="en-US" altLang="zh-CN" sz="1000" dirty="0" smtClean="0">
                  <a:latin typeface="Arial" panose="020B0604020202020204" pitchFamily="34" charset="0"/>
                  <a:ea typeface="微软雅黑" panose="020B0503020204020204" charset="-122"/>
                  <a:sym typeface="+mn-ea"/>
                </a:rPr>
                <a:t>erial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6R</a:t>
              </a:r>
              <a:r>
                <a:rPr lang="zh-CN" altLang="en-US" sz="2000" b="1" dirty="0">
                  <a:latin typeface="Arial" panose="020B0604020202020204" pitchFamily="34" charset="0"/>
                  <a:ea typeface="微软雅黑" panose="020B0503020204020204" charset="-122"/>
                  <a:sym typeface="+mn-ea"/>
                </a:rPr>
                <a:t>串联机器人逆运动学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p:nvSpPr>
        <p:spPr>
          <a:xfrm>
            <a:off x="2178137" y="803488"/>
            <a:ext cx="4999115" cy="400110"/>
          </a:xfrm>
          <a:prstGeom prst="rect">
            <a:avLst/>
          </a:prstGeom>
        </p:spPr>
        <p:txBody>
          <a:bodyPr wrap="square">
            <a:spAutoFit/>
          </a:bodyPr>
          <a:lstStyle/>
          <a:p>
            <a:r>
              <a:rPr lang="zh-CN" altLang="en-US" sz="2000" b="1" dirty="0">
                <a:solidFill>
                  <a:srgbClr val="002060"/>
                </a:solidFill>
              </a:rPr>
              <a:t>解析法与几何法的混合求法</a:t>
            </a:r>
            <a:r>
              <a:rPr lang="en-US" altLang="zh-CN" sz="2000" b="1" dirty="0" smtClean="0">
                <a:solidFill>
                  <a:srgbClr val="002060"/>
                </a:solidFill>
              </a:rPr>
              <a:t>(</a:t>
            </a:r>
            <a:r>
              <a:rPr lang="zh-CN" altLang="en-US" sz="2000" b="1" dirty="0">
                <a:solidFill>
                  <a:srgbClr val="002060"/>
                </a:solidFill>
              </a:rPr>
              <a:t>实例讲解</a:t>
            </a:r>
            <a:r>
              <a:rPr lang="en-US" altLang="zh-CN" sz="2000" b="1" dirty="0" smtClean="0">
                <a:solidFill>
                  <a:srgbClr val="002060"/>
                </a:solidFill>
              </a:rPr>
              <a:t>)</a:t>
            </a:r>
            <a:endParaRPr lang="zh-CN" altLang="en-US" sz="2000" b="1" dirty="0">
              <a:solidFill>
                <a:srgbClr val="002060"/>
              </a:solidFill>
            </a:endParaRPr>
          </a:p>
        </p:txBody>
      </p:sp>
      <p:sp>
        <p:nvSpPr>
          <p:cNvPr id="20" name="形状"/>
          <p:cNvSpPr/>
          <p:nvPr>
            <p:custDataLst>
              <p:tags r:id="rId1"/>
            </p:custDataLst>
          </p:nvPr>
        </p:nvSpPr>
        <p:spPr>
          <a:xfrm>
            <a:off x="3591425" y="1201031"/>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2" name="矩形 21"/>
          <p:cNvSpPr/>
          <p:nvPr/>
        </p:nvSpPr>
        <p:spPr>
          <a:xfrm>
            <a:off x="3997351" y="1196498"/>
            <a:ext cx="766557" cy="369332"/>
          </a:xfrm>
          <a:prstGeom prst="rect">
            <a:avLst/>
          </a:prstGeom>
        </p:spPr>
        <p:txBody>
          <a:bodyPr wrap="none">
            <a:spAutoFit/>
          </a:bodyPr>
          <a:lstStyle/>
          <a:p>
            <a:r>
              <a:rPr lang="zh-CN" altLang="en-US" b="1" dirty="0" smtClean="0">
                <a:solidFill>
                  <a:srgbClr val="002060"/>
                </a:solidFill>
              </a:rPr>
              <a:t>第</a:t>
            </a:r>
            <a:r>
              <a:rPr lang="en-US" altLang="zh-CN" b="1" dirty="0" smtClean="0">
                <a:solidFill>
                  <a:srgbClr val="002060"/>
                </a:solidFill>
              </a:rPr>
              <a:t>2</a:t>
            </a:r>
            <a:r>
              <a:rPr lang="zh-CN" altLang="en-US" b="1" dirty="0" smtClean="0">
                <a:solidFill>
                  <a:srgbClr val="002060"/>
                </a:solidFill>
              </a:rPr>
              <a:t>步</a:t>
            </a:r>
            <a:endParaRPr lang="zh-CN" altLang="en-US" b="1" dirty="0">
              <a:solidFill>
                <a:srgbClr val="002060"/>
              </a:solidFill>
            </a:endParaRPr>
          </a:p>
        </p:txBody>
      </p:sp>
      <p:sp>
        <p:nvSpPr>
          <p:cNvPr id="24" name="形状"/>
          <p:cNvSpPr/>
          <p:nvPr>
            <p:custDataLst>
              <p:tags r:id="rId2"/>
            </p:custDataLst>
          </p:nvPr>
        </p:nvSpPr>
        <p:spPr>
          <a:xfrm>
            <a:off x="4817783" y="1211264"/>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pic>
        <p:nvPicPr>
          <p:cNvPr id="25" name="图片 24"/>
          <p:cNvPicPr/>
          <p:nvPr/>
        </p:nvPicPr>
        <p:blipFill>
          <a:blip r:embed="rId5"/>
          <a:stretch>
            <a:fillRect/>
          </a:stretch>
        </p:blipFill>
        <p:spPr>
          <a:xfrm>
            <a:off x="659656" y="1663336"/>
            <a:ext cx="3619500" cy="2352675"/>
          </a:xfrm>
          <a:prstGeom prst="rect">
            <a:avLst/>
          </a:prstGeom>
        </p:spPr>
      </p:pic>
      <p:sp>
        <p:nvSpPr>
          <p:cNvPr id="3" name="矩形 2"/>
          <p:cNvSpPr/>
          <p:nvPr/>
        </p:nvSpPr>
        <p:spPr>
          <a:xfrm>
            <a:off x="842682" y="4280957"/>
            <a:ext cx="2927404" cy="338554"/>
          </a:xfrm>
          <a:prstGeom prst="rect">
            <a:avLst/>
          </a:prstGeom>
        </p:spPr>
        <p:txBody>
          <a:bodyPr wrap="none">
            <a:spAutoFit/>
          </a:bodyPr>
          <a:lstStyle/>
          <a:p>
            <a:r>
              <a:rPr lang="en-US" altLang="zh-CN" sz="1600" dirty="0">
                <a:latin typeface="等线" panose="02010600030101010101" pitchFamily="2" charset="-122"/>
                <a:cs typeface="Times New Roman" panose="02020603050405020304" pitchFamily="18" charset="0"/>
              </a:rPr>
              <a:t>{0}-&gt;{6}</a:t>
            </a:r>
            <a:r>
              <a:rPr lang="zh-CN" altLang="zh-CN" sz="1600" dirty="0">
                <a:ea typeface="等线" panose="02010600030101010101" pitchFamily="2" charset="-122"/>
                <a:cs typeface="Times New Roman" panose="02020603050405020304" pitchFamily="18" charset="0"/>
              </a:rPr>
              <a:t>坐标系之间的几何关系</a:t>
            </a:r>
            <a:endParaRPr lang="zh-CN" altLang="en-US" sz="1600" dirty="0"/>
          </a:p>
        </p:txBody>
      </p:sp>
      <p:pic>
        <p:nvPicPr>
          <p:cNvPr id="26" name="图片 25"/>
          <p:cNvPicPr/>
          <p:nvPr/>
        </p:nvPicPr>
        <p:blipFill>
          <a:blip r:embed="rId6"/>
          <a:stretch>
            <a:fillRect/>
          </a:stretch>
        </p:blipFill>
        <p:spPr>
          <a:xfrm>
            <a:off x="5124213" y="1565830"/>
            <a:ext cx="1780152" cy="322745"/>
          </a:xfrm>
          <a:prstGeom prst="rect">
            <a:avLst/>
          </a:prstGeom>
        </p:spPr>
      </p:pic>
      <p:pic>
        <p:nvPicPr>
          <p:cNvPr id="27" name="图片 26"/>
          <p:cNvPicPr/>
          <p:nvPr/>
        </p:nvPicPr>
        <p:blipFill>
          <a:blip r:embed="rId7"/>
          <a:stretch>
            <a:fillRect/>
          </a:stretch>
        </p:blipFill>
        <p:spPr>
          <a:xfrm>
            <a:off x="5124213" y="1845623"/>
            <a:ext cx="2605237" cy="1789090"/>
          </a:xfrm>
          <a:prstGeom prst="rect">
            <a:avLst/>
          </a:prstGeom>
        </p:spPr>
      </p:pic>
      <p:pic>
        <p:nvPicPr>
          <p:cNvPr id="28" name="图片 27"/>
          <p:cNvPicPr/>
          <p:nvPr/>
        </p:nvPicPr>
        <p:blipFill>
          <a:blip r:embed="rId8"/>
          <a:stretch>
            <a:fillRect/>
          </a:stretch>
        </p:blipFill>
        <p:spPr>
          <a:xfrm>
            <a:off x="4380629" y="3634713"/>
            <a:ext cx="4361815" cy="1361440"/>
          </a:xfrm>
          <a:prstGeom prst="rect">
            <a:avLst/>
          </a:prstGeom>
        </p:spPr>
      </p:pic>
      <p:sp>
        <p:nvSpPr>
          <p:cNvPr id="16" name="圆角矩形 15"/>
          <p:cNvSpPr/>
          <p:nvPr/>
        </p:nvSpPr>
        <p:spPr>
          <a:xfrm>
            <a:off x="5004049" y="1565830"/>
            <a:ext cx="2880320" cy="206888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16"/>
          <p:cNvSpPr/>
          <p:nvPr/>
        </p:nvSpPr>
        <p:spPr>
          <a:xfrm>
            <a:off x="5172704" y="4443958"/>
            <a:ext cx="3359736" cy="552195"/>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虚尾箭头 28"/>
          <p:cNvSpPr/>
          <p:nvPr/>
        </p:nvSpPr>
        <p:spPr>
          <a:xfrm>
            <a:off x="4427984" y="2283718"/>
            <a:ext cx="489456" cy="456450"/>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右箭头 31"/>
          <p:cNvSpPr/>
          <p:nvPr/>
        </p:nvSpPr>
        <p:spPr>
          <a:xfrm rot="5400000">
            <a:off x="7820861" y="2750388"/>
            <a:ext cx="864096" cy="563863"/>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矩形 32"/>
          <p:cNvSpPr/>
          <p:nvPr/>
        </p:nvSpPr>
        <p:spPr>
          <a:xfrm>
            <a:off x="1719687" y="4714833"/>
            <a:ext cx="3262432" cy="338554"/>
          </a:xfrm>
          <a:prstGeom prst="rect">
            <a:avLst/>
          </a:prstGeom>
        </p:spPr>
        <p:txBody>
          <a:bodyPr wrap="none">
            <a:spAutoFit/>
          </a:bodyPr>
          <a:lstStyle/>
          <a:p>
            <a:r>
              <a:rPr lang="zh-CN" altLang="en-US" sz="1600" dirty="0" smtClean="0">
                <a:solidFill>
                  <a:srgbClr val="FF0000"/>
                </a:solidFill>
              </a:rPr>
              <a:t>手</a:t>
            </a:r>
            <a:r>
              <a:rPr lang="zh-CN" altLang="zh-CN" sz="1600" dirty="0" smtClean="0">
                <a:solidFill>
                  <a:srgbClr val="FF0000"/>
                </a:solidFill>
              </a:rPr>
              <a:t>腕</a:t>
            </a:r>
            <a:r>
              <a:rPr lang="zh-CN" altLang="en-US" sz="1600" dirty="0" smtClean="0">
                <a:solidFill>
                  <a:srgbClr val="FF0000"/>
                </a:solidFill>
              </a:rPr>
              <a:t>准备</a:t>
            </a:r>
            <a:r>
              <a:rPr lang="zh-CN" altLang="zh-CN" sz="1600" dirty="0" smtClean="0">
                <a:solidFill>
                  <a:srgbClr val="FF0000"/>
                </a:solidFill>
              </a:rPr>
              <a:t>“上</a:t>
            </a:r>
            <a:r>
              <a:rPr lang="zh-CN" altLang="en-US" sz="1600" dirty="0" smtClean="0">
                <a:solidFill>
                  <a:srgbClr val="FF0000"/>
                </a:solidFill>
              </a:rPr>
              <a:t>托</a:t>
            </a:r>
            <a:r>
              <a:rPr lang="zh-CN" altLang="zh-CN" sz="1600" dirty="0" smtClean="0">
                <a:solidFill>
                  <a:srgbClr val="FF0000"/>
                </a:solidFill>
              </a:rPr>
              <a:t>”还是“下</a:t>
            </a:r>
            <a:r>
              <a:rPr lang="zh-CN" altLang="en-US" sz="1600" dirty="0" smtClean="0">
                <a:solidFill>
                  <a:srgbClr val="FF0000"/>
                </a:solidFill>
              </a:rPr>
              <a:t>抓</a:t>
            </a:r>
            <a:r>
              <a:rPr lang="zh-CN" altLang="zh-CN" sz="1600" dirty="0" smtClean="0">
                <a:solidFill>
                  <a:srgbClr val="FF0000"/>
                </a:solidFill>
              </a:rPr>
              <a:t>”</a:t>
            </a:r>
            <a:r>
              <a:rPr lang="zh-CN" altLang="en-US" sz="1600" dirty="0" smtClean="0">
                <a:solidFill>
                  <a:srgbClr val="FF0000"/>
                </a:solidFill>
              </a:rPr>
              <a:t>？</a:t>
            </a:r>
            <a:endParaRPr lang="zh-CN" altLang="en-US" sz="1600" dirty="0">
              <a:solidFill>
                <a:srgbClr val="FF0000"/>
              </a:solidFill>
            </a:endParaRPr>
          </a:p>
        </p:txBody>
      </p:sp>
    </p:spTree>
    <p:extLst>
      <p:ext uri="{BB962C8B-B14F-4D97-AF65-F5344CB8AC3E}">
        <p14:creationId xmlns:p14="http://schemas.microsoft.com/office/powerpoint/2010/main" val="188854969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Inverse Kinematics of 6R </a:t>
              </a:r>
              <a:r>
                <a:rPr lang="en-US" altLang="zh-CN" sz="1000" dirty="0">
                  <a:latin typeface="Arial" panose="020B0604020202020204" pitchFamily="34" charset="0"/>
                  <a:ea typeface="微软雅黑" panose="020B0503020204020204" charset="-122"/>
                  <a:sym typeface="+mn-ea"/>
                </a:rPr>
                <a:t>S</a:t>
              </a:r>
              <a:r>
                <a:rPr lang="en-US" altLang="zh-CN" sz="1000" dirty="0" smtClean="0">
                  <a:latin typeface="Arial" panose="020B0604020202020204" pitchFamily="34" charset="0"/>
                  <a:ea typeface="微软雅黑" panose="020B0503020204020204" charset="-122"/>
                  <a:sym typeface="+mn-ea"/>
                </a:rPr>
                <a:t>erial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6R</a:t>
              </a:r>
              <a:r>
                <a:rPr lang="zh-CN" altLang="en-US" sz="2000" b="1" dirty="0">
                  <a:latin typeface="Arial" panose="020B0604020202020204" pitchFamily="34" charset="0"/>
                  <a:ea typeface="微软雅黑" panose="020B0503020204020204" charset="-122"/>
                  <a:sym typeface="+mn-ea"/>
                </a:rPr>
                <a:t>串联机器人逆运动学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p:nvSpPr>
        <p:spPr>
          <a:xfrm>
            <a:off x="2178137" y="803488"/>
            <a:ext cx="4999115" cy="400110"/>
          </a:xfrm>
          <a:prstGeom prst="rect">
            <a:avLst/>
          </a:prstGeom>
        </p:spPr>
        <p:txBody>
          <a:bodyPr wrap="square">
            <a:spAutoFit/>
          </a:bodyPr>
          <a:lstStyle/>
          <a:p>
            <a:r>
              <a:rPr lang="zh-CN" altLang="en-US" sz="2000" b="1" dirty="0">
                <a:solidFill>
                  <a:srgbClr val="002060"/>
                </a:solidFill>
              </a:rPr>
              <a:t>解析法与几何法的混合求法</a:t>
            </a:r>
            <a:r>
              <a:rPr lang="en-US" altLang="zh-CN" sz="2000" b="1" dirty="0" smtClean="0">
                <a:solidFill>
                  <a:srgbClr val="002060"/>
                </a:solidFill>
              </a:rPr>
              <a:t>(</a:t>
            </a:r>
            <a:r>
              <a:rPr lang="zh-CN" altLang="en-US" sz="2000" b="1" dirty="0">
                <a:solidFill>
                  <a:srgbClr val="002060"/>
                </a:solidFill>
              </a:rPr>
              <a:t>实例讲解</a:t>
            </a:r>
            <a:r>
              <a:rPr lang="en-US" altLang="zh-CN" sz="2000" b="1" dirty="0" smtClean="0">
                <a:solidFill>
                  <a:srgbClr val="002060"/>
                </a:solidFill>
              </a:rPr>
              <a:t>)</a:t>
            </a:r>
            <a:endParaRPr lang="zh-CN" altLang="en-US" sz="2000" b="1" dirty="0">
              <a:solidFill>
                <a:srgbClr val="002060"/>
              </a:solidFill>
            </a:endParaRPr>
          </a:p>
        </p:txBody>
      </p:sp>
      <p:sp>
        <p:nvSpPr>
          <p:cNvPr id="20" name="形状"/>
          <p:cNvSpPr/>
          <p:nvPr>
            <p:custDataLst>
              <p:tags r:id="rId1"/>
            </p:custDataLst>
          </p:nvPr>
        </p:nvSpPr>
        <p:spPr>
          <a:xfrm>
            <a:off x="3591425" y="1201031"/>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2" name="矩形 21"/>
          <p:cNvSpPr/>
          <p:nvPr/>
        </p:nvSpPr>
        <p:spPr>
          <a:xfrm>
            <a:off x="3997351" y="1196498"/>
            <a:ext cx="766557" cy="369332"/>
          </a:xfrm>
          <a:prstGeom prst="rect">
            <a:avLst/>
          </a:prstGeom>
        </p:spPr>
        <p:txBody>
          <a:bodyPr wrap="none">
            <a:spAutoFit/>
          </a:bodyPr>
          <a:lstStyle/>
          <a:p>
            <a:r>
              <a:rPr lang="zh-CN" altLang="en-US" b="1" dirty="0" smtClean="0">
                <a:solidFill>
                  <a:srgbClr val="002060"/>
                </a:solidFill>
              </a:rPr>
              <a:t>第</a:t>
            </a:r>
            <a:r>
              <a:rPr lang="en-US" altLang="zh-CN" b="1" dirty="0" smtClean="0">
                <a:solidFill>
                  <a:srgbClr val="002060"/>
                </a:solidFill>
              </a:rPr>
              <a:t>3</a:t>
            </a:r>
            <a:r>
              <a:rPr lang="zh-CN" altLang="en-US" b="1" dirty="0" smtClean="0">
                <a:solidFill>
                  <a:srgbClr val="002060"/>
                </a:solidFill>
              </a:rPr>
              <a:t>步</a:t>
            </a:r>
            <a:endParaRPr lang="zh-CN" altLang="en-US" b="1" dirty="0">
              <a:solidFill>
                <a:srgbClr val="002060"/>
              </a:solidFill>
            </a:endParaRPr>
          </a:p>
        </p:txBody>
      </p:sp>
      <p:sp>
        <p:nvSpPr>
          <p:cNvPr id="24" name="形状"/>
          <p:cNvSpPr/>
          <p:nvPr>
            <p:custDataLst>
              <p:tags r:id="rId2"/>
            </p:custDataLst>
          </p:nvPr>
        </p:nvSpPr>
        <p:spPr>
          <a:xfrm>
            <a:off x="4817783" y="1211264"/>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pic>
        <p:nvPicPr>
          <p:cNvPr id="21" name="图片 20"/>
          <p:cNvPicPr/>
          <p:nvPr/>
        </p:nvPicPr>
        <p:blipFill>
          <a:blip r:embed="rId5"/>
          <a:stretch>
            <a:fillRect/>
          </a:stretch>
        </p:blipFill>
        <p:spPr>
          <a:xfrm>
            <a:off x="99299" y="1565830"/>
            <a:ext cx="5274310" cy="2458720"/>
          </a:xfrm>
          <a:prstGeom prst="rect">
            <a:avLst/>
          </a:prstGeom>
        </p:spPr>
      </p:pic>
      <mc:AlternateContent xmlns:mc="http://schemas.openxmlformats.org/markup-compatibility/2006" xmlns:a14="http://schemas.microsoft.com/office/drawing/2010/main">
        <mc:Choice Requires="a14">
          <p:sp>
            <p:nvSpPr>
              <p:cNvPr id="2" name="矩形 1"/>
              <p:cNvSpPr/>
              <p:nvPr/>
            </p:nvSpPr>
            <p:spPr>
              <a:xfrm>
                <a:off x="567411" y="4151086"/>
                <a:ext cx="4572000" cy="501804"/>
              </a:xfrm>
              <a:prstGeom prst="rect">
                <a:avLst/>
              </a:prstGeom>
            </p:spPr>
            <p:txBody>
              <a:bodyPr>
                <a:spAutoFit/>
              </a:bodyPr>
              <a:lstStyle/>
              <a:p>
                <a:r>
                  <a:rPr lang="zh-CN" altLang="zh-CN" sz="1200" dirty="0">
                    <a:ea typeface="等线" panose="02010600030101010101" pitchFamily="2" charset="-122"/>
                    <a:cs typeface="Times New Roman" panose="02020603050405020304" pitchFamily="18" charset="0"/>
                  </a:rPr>
                  <a:t>轴</a:t>
                </a:r>
                <a:r>
                  <a:rPr lang="en-US" altLang="zh-CN" sz="1200" dirty="0">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1200" i="1" kern="0">
                            <a:effectLst/>
                            <a:latin typeface="Cambria Math" panose="02040503050406030204" pitchFamily="18" charset="0"/>
                            <a:ea typeface="Cambria Math" panose="02040503050406030204" pitchFamily="18" charset="0"/>
                            <a:cs typeface="宋体" panose="02010600030101010101" pitchFamily="2" charset="-122"/>
                          </a:rPr>
                        </m:ctrlPr>
                      </m:sSubPr>
                      <m:e>
                        <m:sPre>
                          <m:sPrePr>
                            <m:ctrlPr>
                              <a:rPr lang="zh-CN" altLang="zh-CN" sz="1200" i="1" kern="0">
                                <a:effectLst/>
                                <a:latin typeface="Cambria Math" panose="02040503050406030204" pitchFamily="18" charset="0"/>
                                <a:ea typeface="Cambria Math" panose="02040503050406030204" pitchFamily="18" charset="0"/>
                                <a:cs typeface="宋体" panose="02010600030101010101" pitchFamily="2" charset="-122"/>
                              </a:rPr>
                            </m:ctrlPr>
                          </m:sPrePr>
                          <m:sub/>
                          <m:sup>
                            <m:r>
                              <a:rPr lang="en-US" altLang="zh-CN" sz="1200" i="1">
                                <a:latin typeface="Cambria Math" panose="02040503050406030204" pitchFamily="18" charset="0"/>
                                <a:ea typeface="等线" panose="02010600030101010101" pitchFamily="2" charset="-122"/>
                                <a:cs typeface="Times New Roman" panose="02020603050405020304" pitchFamily="18" charset="0"/>
                              </a:rPr>
                              <m:t>6</m:t>
                            </m:r>
                          </m:sup>
                          <m:e>
                            <m:acc>
                              <m:accPr>
                                <m:chr m:val="̂"/>
                                <m:ctrlPr>
                                  <a:rPr lang="zh-CN" altLang="zh-CN" sz="1200" i="1" kern="0">
                                    <a:effectLst/>
                                    <a:latin typeface="Cambria Math" panose="02040503050406030204" pitchFamily="18" charset="0"/>
                                    <a:ea typeface="Cambria Math" panose="02040503050406030204" pitchFamily="18" charset="0"/>
                                    <a:cs typeface="宋体" panose="02010600030101010101" pitchFamily="2" charset="-122"/>
                                  </a:rPr>
                                </m:ctrlPr>
                              </m:accPr>
                              <m:e>
                                <m:r>
                                  <m:rPr>
                                    <m:sty m:val="p"/>
                                  </m:rPr>
                                  <a:rPr lang="en-US" altLang="zh-CN" sz="1200">
                                    <a:latin typeface="Cambria Math" panose="02040503050406030204" pitchFamily="18" charset="0"/>
                                    <a:ea typeface="等线" panose="02010600030101010101" pitchFamily="2" charset="-122"/>
                                    <a:cs typeface="Times New Roman" panose="02020603050405020304" pitchFamily="18" charset="0"/>
                                  </a:rPr>
                                  <m:t>Y</m:t>
                                </m:r>
                                <m:r>
                                  <a:rPr lang="en-US" altLang="zh-CN" sz="1200" i="1">
                                    <a:latin typeface="Cambria Math" panose="02040503050406030204" pitchFamily="18" charset="0"/>
                                    <a:ea typeface="等线" panose="02010600030101010101" pitchFamily="2" charset="-122"/>
                                    <a:cs typeface="Times New Roman" panose="02020603050405020304" pitchFamily="18" charset="0"/>
                                  </a:rPr>
                                  <m:t> </m:t>
                                </m:r>
                              </m:e>
                            </m:acc>
                          </m:e>
                        </m:sPre>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sub>
                    </m:sSub>
                  </m:oMath>
                </a14:m>
                <a:r>
                  <a:rPr lang="en-US" altLang="zh-CN" sz="1200" dirty="0">
                    <a:latin typeface="等线" panose="02010600030101010101" pitchFamily="2" charset="-122"/>
                    <a:cs typeface="Times New Roman" panose="02020603050405020304" pitchFamily="18" charset="0"/>
                  </a:rPr>
                  <a:t> </a:t>
                </a:r>
                <a:r>
                  <a:rPr lang="zh-CN" altLang="zh-CN" sz="1200" dirty="0">
                    <a:ea typeface="等线" panose="02010600030101010101" pitchFamily="2" charset="-122"/>
                    <a:cs typeface="Times New Roman" panose="02020603050405020304" pitchFamily="18" charset="0"/>
                  </a:rPr>
                  <a:t>在球面坐标系中以方位角</a:t>
                </a:r>
                <a:r>
                  <a:rPr lang="en-US" altLang="zh-CN" sz="1200" dirty="0">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6</m:t>
                        </m:r>
                      </m:sub>
                    </m:sSub>
                  </m:oMath>
                </a14:m>
                <a:r>
                  <a:rPr lang="zh-CN" altLang="zh-CN" sz="1200" dirty="0">
                    <a:ea typeface="等线" panose="02010600030101010101" pitchFamily="2" charset="-122"/>
                    <a:cs typeface="Times New Roman" panose="02020603050405020304" pitchFamily="18" charset="0"/>
                  </a:rPr>
                  <a:t>和极值角</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5</m:t>
                        </m:r>
                      </m:sub>
                    </m:sSub>
                  </m:oMath>
                </a14:m>
                <a:r>
                  <a:rPr lang="zh-CN" altLang="zh-CN" sz="1200" dirty="0">
                    <a:ea typeface="等线" panose="02010600030101010101" pitchFamily="2" charset="-122"/>
                    <a:cs typeface="Times New Roman" panose="02020603050405020304" pitchFamily="18" charset="0"/>
                  </a:rPr>
                  <a:t>表示。 为简单起见，图中用</a:t>
                </a:r>
                <a14:m>
                  <m:oMath xmlns:m="http://schemas.openxmlformats.org/officeDocument/2006/math">
                    <m:sSub>
                      <m:sSubPr>
                        <m:ctrlPr>
                          <a:rPr lang="zh-CN" altLang="zh-CN" sz="1200" i="1" kern="0">
                            <a:effectLst/>
                            <a:latin typeface="Cambria Math" panose="02040503050406030204" pitchFamily="18" charset="0"/>
                            <a:ea typeface="Cambria Math" panose="02040503050406030204" pitchFamily="18" charset="0"/>
                            <a:cs typeface="宋体" panose="02010600030101010101" pitchFamily="2" charset="-122"/>
                          </a:rPr>
                        </m:ctrlPr>
                      </m:sSubPr>
                      <m:e>
                        <m:sPre>
                          <m:sPrePr>
                            <m:ctrlPr>
                              <a:rPr lang="zh-CN" altLang="zh-CN" sz="1200" i="1" kern="0">
                                <a:effectLst/>
                                <a:latin typeface="Cambria Math" panose="02040503050406030204" pitchFamily="18" charset="0"/>
                                <a:ea typeface="Cambria Math" panose="02040503050406030204" pitchFamily="18" charset="0"/>
                                <a:cs typeface="宋体" panose="02010600030101010101" pitchFamily="2" charset="-122"/>
                              </a:rPr>
                            </m:ctrlPr>
                          </m:sPrePr>
                          <m:sub/>
                          <m:sup>
                            <m:r>
                              <a:rPr lang="en-US" altLang="zh-CN" sz="1200" i="1">
                                <a:latin typeface="Cambria Math" panose="02040503050406030204" pitchFamily="18" charset="0"/>
                                <a:ea typeface="等线" panose="02010600030101010101" pitchFamily="2" charset="-122"/>
                                <a:cs typeface="Times New Roman" panose="02020603050405020304" pitchFamily="18" charset="0"/>
                              </a:rPr>
                              <m:t>6</m:t>
                            </m:r>
                          </m:sup>
                          <m:e>
                            <m:acc>
                              <m:accPr>
                                <m:chr m:val="̂"/>
                                <m:ctrlPr>
                                  <a:rPr lang="zh-CN" altLang="zh-CN" sz="1200" i="1" kern="0">
                                    <a:effectLst/>
                                    <a:latin typeface="Cambria Math" panose="02040503050406030204" pitchFamily="18" charset="0"/>
                                    <a:ea typeface="Cambria Math" panose="02040503050406030204" pitchFamily="18" charset="0"/>
                                    <a:cs typeface="宋体" panose="02010600030101010101" pitchFamily="2" charset="-122"/>
                                  </a:rPr>
                                </m:ctrlPr>
                              </m:accPr>
                              <m:e>
                                <m:r>
                                  <m:rPr>
                                    <m:sty m:val="p"/>
                                  </m:rPr>
                                  <a:rPr lang="en-US" altLang="zh-CN" sz="1200">
                                    <a:latin typeface="Cambria Math" panose="02040503050406030204" pitchFamily="18" charset="0"/>
                                    <a:ea typeface="等线" panose="02010600030101010101" pitchFamily="2" charset="-122"/>
                                    <a:cs typeface="Times New Roman" panose="02020603050405020304" pitchFamily="18" charset="0"/>
                                  </a:rPr>
                                  <m:t>Y</m:t>
                                </m:r>
                                <m:r>
                                  <a:rPr lang="en-US" altLang="zh-CN" sz="1200" i="1">
                                    <a:latin typeface="Cambria Math" panose="02040503050406030204" pitchFamily="18" charset="0"/>
                                    <a:ea typeface="等线" panose="02010600030101010101" pitchFamily="2" charset="-122"/>
                                    <a:cs typeface="Times New Roman" panose="02020603050405020304" pitchFamily="18" charset="0"/>
                                  </a:rPr>
                                  <m:t> </m:t>
                                </m:r>
                              </m:e>
                            </m:acc>
                          </m:e>
                        </m:sPre>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sub>
                    </m:sSub>
                  </m:oMath>
                </a14:m>
                <a:r>
                  <a:rPr lang="zh-CN" altLang="zh-CN" sz="1200" dirty="0">
                    <a:ea typeface="等线" panose="02010600030101010101" pitchFamily="2" charset="-122"/>
                    <a:cs typeface="Times New Roman" panose="02020603050405020304" pitchFamily="18" charset="0"/>
                  </a:rPr>
                  <a:t>表示为</a:t>
                </a:r>
                <a:r>
                  <a:rPr lang="en-US" altLang="zh-CN" sz="1200" dirty="0">
                    <a:ea typeface="等线" panose="02010600030101010101" pitchFamily="2" charset="-122"/>
                    <a:cs typeface="Times New Roman" panose="02020603050405020304" pitchFamily="18" charset="0"/>
                  </a:rPr>
                  <a:t>y1</a:t>
                </a:r>
                <a:r>
                  <a:rPr lang="zh-CN" altLang="zh-CN" sz="1200" dirty="0">
                    <a:ea typeface="等线" panose="02010600030101010101" pitchFamily="2" charset="-122"/>
                    <a:cs typeface="Times New Roman" panose="02020603050405020304" pitchFamily="18" charset="0"/>
                  </a:rPr>
                  <a:t>。</a:t>
                </a:r>
                <a:endParaRPr lang="zh-CN" altLang="en-US" sz="1200" dirty="0"/>
              </a:p>
            </p:txBody>
          </p:sp>
        </mc:Choice>
        <mc:Fallback xmlns="">
          <p:sp>
            <p:nvSpPr>
              <p:cNvPr id="2" name="矩形 1"/>
              <p:cNvSpPr>
                <a:spLocks noRot="1" noChangeAspect="1" noMove="1" noResize="1" noEditPoints="1" noAdjustHandles="1" noChangeArrowheads="1" noChangeShapeType="1" noTextEdit="1"/>
              </p:cNvSpPr>
              <p:nvPr/>
            </p:nvSpPr>
            <p:spPr>
              <a:xfrm>
                <a:off x="567411" y="4151086"/>
                <a:ext cx="4572000" cy="501804"/>
              </a:xfrm>
              <a:prstGeom prst="rect">
                <a:avLst/>
              </a:prstGeom>
              <a:blipFill>
                <a:blip r:embed="rId6"/>
                <a:stretch>
                  <a:fillRect b="-9756"/>
                </a:stretch>
              </a:blipFill>
            </p:spPr>
            <p:txBody>
              <a:bodyPr/>
              <a:lstStyle/>
              <a:p>
                <a:r>
                  <a:rPr lang="zh-CN" altLang="en-US">
                    <a:noFill/>
                  </a:rPr>
                  <a:t> </a:t>
                </a:r>
              </a:p>
            </p:txBody>
          </p:sp>
        </mc:Fallback>
      </mc:AlternateContent>
      <p:pic>
        <p:nvPicPr>
          <p:cNvPr id="23" name="图片 22"/>
          <p:cNvPicPr/>
          <p:nvPr/>
        </p:nvPicPr>
        <p:blipFill>
          <a:blip r:embed="rId7"/>
          <a:stretch>
            <a:fillRect/>
          </a:stretch>
        </p:blipFill>
        <p:spPr>
          <a:xfrm>
            <a:off x="5940153" y="1851671"/>
            <a:ext cx="1944216" cy="864096"/>
          </a:xfrm>
          <a:prstGeom prst="rect">
            <a:avLst/>
          </a:prstGeom>
        </p:spPr>
      </p:pic>
      <mc:AlternateContent xmlns:mc="http://schemas.openxmlformats.org/markup-compatibility/2006" xmlns:a14="http://schemas.microsoft.com/office/drawing/2010/main">
        <mc:Choice Requires="a14">
          <p:sp>
            <p:nvSpPr>
              <p:cNvPr id="8" name="矩形 7"/>
              <p:cNvSpPr/>
              <p:nvPr/>
            </p:nvSpPr>
            <p:spPr>
              <a:xfrm>
                <a:off x="5928298" y="1565830"/>
                <a:ext cx="2526333" cy="262892"/>
              </a:xfrm>
              <a:prstGeom prst="rect">
                <a:avLst/>
              </a:prstGeom>
            </p:spPr>
            <p:txBody>
              <a:bodyPr wrap="none">
                <a:spAutoFit/>
              </a:bodyPr>
              <a:lstStyle/>
              <a:p>
                <a:r>
                  <a:rPr lang="zh-CN" altLang="zh-CN" sz="1000" dirty="0">
                    <a:ea typeface="等线" panose="02010600030101010101" pitchFamily="2" charset="-122"/>
                    <a:cs typeface="Times New Roman" panose="02020603050405020304" pitchFamily="18" charset="0"/>
                  </a:rPr>
                  <a:t>从球面坐标将</a:t>
                </a:r>
                <a:r>
                  <a:rPr lang="en-US" altLang="zh-CN" sz="1000" dirty="0">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1000" i="1" kern="0">
                            <a:effectLst/>
                            <a:latin typeface="Cambria Math" panose="02040503050406030204" pitchFamily="18" charset="0"/>
                            <a:ea typeface="Cambria Math" panose="02040503050406030204" pitchFamily="18" charset="0"/>
                            <a:cs typeface="宋体" panose="02010600030101010101" pitchFamily="2" charset="-122"/>
                          </a:rPr>
                        </m:ctrlPr>
                      </m:sSubPr>
                      <m:e>
                        <m:sPre>
                          <m:sPrePr>
                            <m:ctrlPr>
                              <a:rPr lang="zh-CN" altLang="zh-CN" sz="1000" i="1" kern="0">
                                <a:effectLst/>
                                <a:latin typeface="Cambria Math" panose="02040503050406030204" pitchFamily="18" charset="0"/>
                                <a:ea typeface="Cambria Math" panose="02040503050406030204" pitchFamily="18" charset="0"/>
                                <a:cs typeface="宋体" panose="02010600030101010101" pitchFamily="2" charset="-122"/>
                              </a:rPr>
                            </m:ctrlPr>
                          </m:sPrePr>
                          <m:sub/>
                          <m:sup>
                            <m:r>
                              <a:rPr lang="en-US" altLang="zh-CN" sz="1000" i="1">
                                <a:latin typeface="Cambria Math" panose="02040503050406030204" pitchFamily="18" charset="0"/>
                                <a:ea typeface="等线" panose="02010600030101010101" pitchFamily="2" charset="-122"/>
                                <a:cs typeface="Times New Roman" panose="02020603050405020304" pitchFamily="18" charset="0"/>
                              </a:rPr>
                              <m:t>6</m:t>
                            </m:r>
                          </m:sup>
                          <m:e>
                            <m:acc>
                              <m:accPr>
                                <m:chr m:val="̂"/>
                                <m:ctrlPr>
                                  <a:rPr lang="zh-CN" altLang="zh-CN" sz="1000" i="1" kern="0">
                                    <a:effectLst/>
                                    <a:latin typeface="Cambria Math" panose="02040503050406030204" pitchFamily="18" charset="0"/>
                                    <a:ea typeface="Cambria Math" panose="02040503050406030204" pitchFamily="18" charset="0"/>
                                    <a:cs typeface="宋体" panose="02010600030101010101" pitchFamily="2" charset="-122"/>
                                  </a:rPr>
                                </m:ctrlPr>
                              </m:accPr>
                              <m:e>
                                <m:r>
                                  <m:rPr>
                                    <m:sty m:val="p"/>
                                  </m:rPr>
                                  <a:rPr lang="en-US" altLang="zh-CN" sz="1000">
                                    <a:latin typeface="Cambria Math" panose="02040503050406030204" pitchFamily="18" charset="0"/>
                                    <a:ea typeface="等线" panose="02010600030101010101" pitchFamily="2" charset="-122"/>
                                    <a:cs typeface="Times New Roman" panose="02020603050405020304" pitchFamily="18" charset="0"/>
                                  </a:rPr>
                                  <m:t>Y</m:t>
                                </m:r>
                                <m:r>
                                  <a:rPr lang="en-US" altLang="zh-CN" sz="1000" i="1">
                                    <a:latin typeface="Cambria Math" panose="02040503050406030204" pitchFamily="18" charset="0"/>
                                    <a:ea typeface="等线" panose="02010600030101010101" pitchFamily="2" charset="-122"/>
                                    <a:cs typeface="Times New Roman" panose="02020603050405020304" pitchFamily="18" charset="0"/>
                                  </a:rPr>
                                  <m:t> </m:t>
                                </m:r>
                              </m:e>
                            </m:acc>
                          </m:e>
                        </m:sPre>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1</m:t>
                        </m:r>
                      </m:sub>
                    </m:sSub>
                  </m:oMath>
                </a14:m>
                <a:r>
                  <a:rPr lang="zh-CN" altLang="zh-CN" sz="1000" dirty="0">
                    <a:ea typeface="等线" panose="02010600030101010101" pitchFamily="2" charset="-122"/>
                    <a:cs typeface="Times New Roman" panose="02020603050405020304" pitchFamily="18" charset="0"/>
                  </a:rPr>
                  <a:t>转换到笛卡尔坐标系：</a:t>
                </a:r>
                <a:endParaRPr lang="zh-CN" altLang="en-US" sz="1000" dirty="0"/>
              </a:p>
            </p:txBody>
          </p:sp>
        </mc:Choice>
        <mc:Fallback xmlns="">
          <p:sp>
            <p:nvSpPr>
              <p:cNvPr id="8" name="矩形 7"/>
              <p:cNvSpPr>
                <a:spLocks noRot="1" noChangeAspect="1" noMove="1" noResize="1" noEditPoints="1" noAdjustHandles="1" noChangeArrowheads="1" noChangeShapeType="1" noTextEdit="1"/>
              </p:cNvSpPr>
              <p:nvPr/>
            </p:nvSpPr>
            <p:spPr>
              <a:xfrm>
                <a:off x="5928298" y="1565830"/>
                <a:ext cx="2526333" cy="262892"/>
              </a:xfrm>
              <a:prstGeom prst="rect">
                <a:avLst/>
              </a:prstGeom>
              <a:blipFill>
                <a:blip r:embed="rId8"/>
                <a:stretch>
                  <a:fillRect b="-11628"/>
                </a:stretch>
              </a:blipFill>
            </p:spPr>
            <p:txBody>
              <a:bodyPr/>
              <a:lstStyle/>
              <a:p>
                <a:r>
                  <a:rPr lang="zh-CN" altLang="en-US">
                    <a:noFill/>
                  </a:rPr>
                  <a:t> </a:t>
                </a:r>
              </a:p>
            </p:txBody>
          </p:sp>
        </mc:Fallback>
      </mc:AlternateContent>
      <p:pic>
        <p:nvPicPr>
          <p:cNvPr id="30" name="图片 29"/>
          <p:cNvPicPr/>
          <p:nvPr/>
        </p:nvPicPr>
        <p:blipFill>
          <a:blip r:embed="rId9"/>
          <a:stretch>
            <a:fillRect/>
          </a:stretch>
        </p:blipFill>
        <p:spPr>
          <a:xfrm>
            <a:off x="5928298" y="2809891"/>
            <a:ext cx="2676150" cy="913988"/>
          </a:xfrm>
          <a:prstGeom prst="rect">
            <a:avLst/>
          </a:prstGeom>
        </p:spPr>
      </p:pic>
      <p:pic>
        <p:nvPicPr>
          <p:cNvPr id="31" name="图片 30"/>
          <p:cNvPicPr/>
          <p:nvPr/>
        </p:nvPicPr>
        <p:blipFill>
          <a:blip r:embed="rId10"/>
          <a:stretch>
            <a:fillRect/>
          </a:stretch>
        </p:blipFill>
        <p:spPr>
          <a:xfrm>
            <a:off x="4932040" y="3719889"/>
            <a:ext cx="4210050" cy="1415415"/>
          </a:xfrm>
          <a:prstGeom prst="rect">
            <a:avLst/>
          </a:prstGeom>
        </p:spPr>
      </p:pic>
      <p:sp>
        <p:nvSpPr>
          <p:cNvPr id="9" name="圆角矩形 8"/>
          <p:cNvSpPr/>
          <p:nvPr/>
        </p:nvSpPr>
        <p:spPr>
          <a:xfrm>
            <a:off x="5076057" y="4652890"/>
            <a:ext cx="3960440" cy="48241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4690871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Inverse Kinematics of 6R </a:t>
              </a:r>
              <a:r>
                <a:rPr lang="en-US" altLang="zh-CN" sz="1000" dirty="0">
                  <a:latin typeface="Arial" panose="020B0604020202020204" pitchFamily="34" charset="0"/>
                  <a:ea typeface="微软雅黑" panose="020B0503020204020204" charset="-122"/>
                  <a:sym typeface="+mn-ea"/>
                </a:rPr>
                <a:t>S</a:t>
              </a:r>
              <a:r>
                <a:rPr lang="en-US" altLang="zh-CN" sz="1000" dirty="0" smtClean="0">
                  <a:latin typeface="Arial" panose="020B0604020202020204" pitchFamily="34" charset="0"/>
                  <a:ea typeface="微软雅黑" panose="020B0503020204020204" charset="-122"/>
                  <a:sym typeface="+mn-ea"/>
                </a:rPr>
                <a:t>erial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6R</a:t>
              </a:r>
              <a:r>
                <a:rPr lang="zh-CN" altLang="en-US" sz="2000" b="1" dirty="0">
                  <a:latin typeface="Arial" panose="020B0604020202020204" pitchFamily="34" charset="0"/>
                  <a:ea typeface="微软雅黑" panose="020B0503020204020204" charset="-122"/>
                  <a:sym typeface="+mn-ea"/>
                </a:rPr>
                <a:t>串联机器人逆运动学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p:nvSpPr>
        <p:spPr>
          <a:xfrm>
            <a:off x="2178137" y="803488"/>
            <a:ext cx="4999115" cy="400110"/>
          </a:xfrm>
          <a:prstGeom prst="rect">
            <a:avLst/>
          </a:prstGeom>
        </p:spPr>
        <p:txBody>
          <a:bodyPr wrap="square">
            <a:spAutoFit/>
          </a:bodyPr>
          <a:lstStyle/>
          <a:p>
            <a:r>
              <a:rPr lang="zh-CN" altLang="en-US" sz="2000" b="1" dirty="0">
                <a:solidFill>
                  <a:srgbClr val="002060"/>
                </a:solidFill>
              </a:rPr>
              <a:t>解析法与几何法的混合求法</a:t>
            </a:r>
            <a:r>
              <a:rPr lang="en-US" altLang="zh-CN" sz="2000" b="1" dirty="0" smtClean="0">
                <a:solidFill>
                  <a:srgbClr val="002060"/>
                </a:solidFill>
              </a:rPr>
              <a:t>(</a:t>
            </a:r>
            <a:r>
              <a:rPr lang="zh-CN" altLang="en-US" sz="2000" b="1" dirty="0">
                <a:solidFill>
                  <a:srgbClr val="002060"/>
                </a:solidFill>
              </a:rPr>
              <a:t>实例讲解</a:t>
            </a:r>
            <a:r>
              <a:rPr lang="en-US" altLang="zh-CN" sz="2000" b="1" dirty="0" smtClean="0">
                <a:solidFill>
                  <a:srgbClr val="002060"/>
                </a:solidFill>
              </a:rPr>
              <a:t>)</a:t>
            </a:r>
            <a:endParaRPr lang="zh-CN" altLang="en-US" sz="2000" b="1" dirty="0">
              <a:solidFill>
                <a:srgbClr val="002060"/>
              </a:solidFill>
            </a:endParaRPr>
          </a:p>
        </p:txBody>
      </p:sp>
      <p:sp>
        <p:nvSpPr>
          <p:cNvPr id="20" name="形状"/>
          <p:cNvSpPr/>
          <p:nvPr>
            <p:custDataLst>
              <p:tags r:id="rId1"/>
            </p:custDataLst>
          </p:nvPr>
        </p:nvSpPr>
        <p:spPr>
          <a:xfrm>
            <a:off x="3591425" y="1201031"/>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2" name="矩形 21"/>
          <p:cNvSpPr/>
          <p:nvPr/>
        </p:nvSpPr>
        <p:spPr>
          <a:xfrm>
            <a:off x="3997351" y="1196498"/>
            <a:ext cx="766557" cy="369332"/>
          </a:xfrm>
          <a:prstGeom prst="rect">
            <a:avLst/>
          </a:prstGeom>
        </p:spPr>
        <p:txBody>
          <a:bodyPr wrap="none">
            <a:spAutoFit/>
          </a:bodyPr>
          <a:lstStyle/>
          <a:p>
            <a:r>
              <a:rPr lang="zh-CN" altLang="en-US" b="1" dirty="0" smtClean="0">
                <a:solidFill>
                  <a:srgbClr val="002060"/>
                </a:solidFill>
              </a:rPr>
              <a:t>第</a:t>
            </a:r>
            <a:r>
              <a:rPr lang="en-US" altLang="zh-CN" b="1" dirty="0" smtClean="0">
                <a:solidFill>
                  <a:srgbClr val="002060"/>
                </a:solidFill>
              </a:rPr>
              <a:t>4</a:t>
            </a:r>
            <a:r>
              <a:rPr lang="zh-CN" altLang="en-US" b="1" dirty="0" smtClean="0">
                <a:solidFill>
                  <a:srgbClr val="002060"/>
                </a:solidFill>
              </a:rPr>
              <a:t>步</a:t>
            </a:r>
            <a:endParaRPr lang="zh-CN" altLang="en-US" b="1" dirty="0">
              <a:solidFill>
                <a:srgbClr val="002060"/>
              </a:solidFill>
            </a:endParaRPr>
          </a:p>
        </p:txBody>
      </p:sp>
      <p:sp>
        <p:nvSpPr>
          <p:cNvPr id="24" name="形状"/>
          <p:cNvSpPr/>
          <p:nvPr>
            <p:custDataLst>
              <p:tags r:id="rId2"/>
            </p:custDataLst>
          </p:nvPr>
        </p:nvSpPr>
        <p:spPr>
          <a:xfrm>
            <a:off x="4817783" y="1211264"/>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pic>
        <p:nvPicPr>
          <p:cNvPr id="16" name="图片 15"/>
          <p:cNvPicPr/>
          <p:nvPr/>
        </p:nvPicPr>
        <p:blipFill>
          <a:blip r:embed="rId5"/>
          <a:stretch>
            <a:fillRect/>
          </a:stretch>
        </p:blipFill>
        <p:spPr>
          <a:xfrm>
            <a:off x="22542" y="1622774"/>
            <a:ext cx="5274310" cy="2759710"/>
          </a:xfrm>
          <a:prstGeom prst="rect">
            <a:avLst/>
          </a:prstGeom>
        </p:spPr>
      </p:pic>
      <p:sp>
        <p:nvSpPr>
          <p:cNvPr id="3" name="矩形 2"/>
          <p:cNvSpPr/>
          <p:nvPr/>
        </p:nvSpPr>
        <p:spPr>
          <a:xfrm>
            <a:off x="1546038" y="4477796"/>
            <a:ext cx="2106667" cy="338554"/>
          </a:xfrm>
          <a:prstGeom prst="rect">
            <a:avLst/>
          </a:prstGeom>
        </p:spPr>
        <p:txBody>
          <a:bodyPr wrap="none">
            <a:spAutoFit/>
          </a:bodyPr>
          <a:lstStyle/>
          <a:p>
            <a:r>
              <a:rPr lang="en-US" altLang="zh-CN" sz="1600" dirty="0">
                <a:latin typeface="等线" panose="02010600030101010101" pitchFamily="2" charset="-122"/>
                <a:cs typeface="Times New Roman" panose="02020603050405020304" pitchFamily="18" charset="0"/>
              </a:rPr>
              <a:t>{2</a:t>
            </a:r>
            <a:r>
              <a:rPr lang="zh-CN" altLang="zh-CN" sz="1600" dirty="0">
                <a:ea typeface="等线" panose="02010600030101010101" pitchFamily="2" charset="-122"/>
                <a:cs typeface="Times New Roman" panose="02020603050405020304" pitchFamily="18" charset="0"/>
              </a:rPr>
              <a:t>，</a:t>
            </a:r>
            <a:r>
              <a:rPr lang="en-US" altLang="zh-CN" sz="1600" dirty="0">
                <a:ea typeface="等线" panose="02010600030101010101" pitchFamily="2" charset="-122"/>
                <a:cs typeface="Times New Roman" panose="02020603050405020304" pitchFamily="18" charset="0"/>
              </a:rPr>
              <a:t>3</a:t>
            </a:r>
            <a:r>
              <a:rPr lang="zh-CN" altLang="zh-CN" sz="1600" dirty="0">
                <a:ea typeface="等线" panose="02010600030101010101" pitchFamily="2" charset="-122"/>
                <a:cs typeface="Times New Roman" panose="02020603050405020304" pitchFamily="18" charset="0"/>
              </a:rPr>
              <a:t>，</a:t>
            </a:r>
            <a:r>
              <a:rPr lang="en-US" altLang="zh-CN" sz="1600" dirty="0">
                <a:ea typeface="等线" panose="02010600030101010101" pitchFamily="2" charset="-122"/>
                <a:cs typeface="Times New Roman" panose="02020603050405020304" pitchFamily="18" charset="0"/>
              </a:rPr>
              <a:t>4} </a:t>
            </a:r>
            <a:r>
              <a:rPr lang="zh-CN" altLang="zh-CN" sz="1600" dirty="0">
                <a:ea typeface="等线" panose="02010600030101010101" pitchFamily="2" charset="-122"/>
                <a:cs typeface="Times New Roman" panose="02020603050405020304" pitchFamily="18" charset="0"/>
              </a:rPr>
              <a:t>轴坐标关系</a:t>
            </a:r>
            <a:endParaRPr lang="zh-CN" altLang="en-US" sz="1600" dirty="0"/>
          </a:p>
        </p:txBody>
      </p:sp>
      <p:pic>
        <p:nvPicPr>
          <p:cNvPr id="18" name="图片 17"/>
          <p:cNvPicPr/>
          <p:nvPr/>
        </p:nvPicPr>
        <p:blipFill>
          <a:blip r:embed="rId6"/>
          <a:stretch>
            <a:fillRect/>
          </a:stretch>
        </p:blipFill>
        <p:spPr>
          <a:xfrm>
            <a:off x="4848225" y="1836140"/>
            <a:ext cx="4295775" cy="493395"/>
          </a:xfrm>
          <a:prstGeom prst="rect">
            <a:avLst/>
          </a:prstGeom>
        </p:spPr>
      </p:pic>
      <p:pic>
        <p:nvPicPr>
          <p:cNvPr id="19" name="图片 18"/>
          <p:cNvPicPr/>
          <p:nvPr/>
        </p:nvPicPr>
        <p:blipFill>
          <a:blip r:embed="rId7"/>
          <a:stretch>
            <a:fillRect/>
          </a:stretch>
        </p:blipFill>
        <p:spPr>
          <a:xfrm>
            <a:off x="5592132" y="2873599"/>
            <a:ext cx="2609215" cy="399415"/>
          </a:xfrm>
          <a:prstGeom prst="rect">
            <a:avLst/>
          </a:prstGeom>
        </p:spPr>
      </p:pic>
      <p:pic>
        <p:nvPicPr>
          <p:cNvPr id="25" name="图片 24"/>
          <p:cNvPicPr/>
          <p:nvPr/>
        </p:nvPicPr>
        <p:blipFill>
          <a:blip r:embed="rId8"/>
          <a:stretch>
            <a:fillRect/>
          </a:stretch>
        </p:blipFill>
        <p:spPr>
          <a:xfrm>
            <a:off x="5592132" y="3281402"/>
            <a:ext cx="3228340" cy="1018540"/>
          </a:xfrm>
          <a:prstGeom prst="rect">
            <a:avLst/>
          </a:prstGeom>
        </p:spPr>
      </p:pic>
      <p:sp>
        <p:nvSpPr>
          <p:cNvPr id="9" name="圆角矩形 8"/>
          <p:cNvSpPr/>
          <p:nvPr/>
        </p:nvSpPr>
        <p:spPr>
          <a:xfrm>
            <a:off x="5947400" y="3721639"/>
            <a:ext cx="2736304" cy="57830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5066135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p:cNvPicPr/>
          <p:nvPr/>
        </p:nvPicPr>
        <p:blipFill>
          <a:blip r:embed="rId5"/>
          <a:stretch>
            <a:fillRect/>
          </a:stretch>
        </p:blipFill>
        <p:spPr>
          <a:xfrm>
            <a:off x="4620582" y="4330084"/>
            <a:ext cx="4391025" cy="561340"/>
          </a:xfrm>
          <a:prstGeom prst="rect">
            <a:avLst/>
          </a:prstGeom>
        </p:spPr>
      </p:pic>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Inverse Kinematics of 6R </a:t>
              </a:r>
              <a:r>
                <a:rPr lang="en-US" altLang="zh-CN" sz="1000" dirty="0">
                  <a:latin typeface="Arial" panose="020B0604020202020204" pitchFamily="34" charset="0"/>
                  <a:ea typeface="微软雅黑" panose="020B0503020204020204" charset="-122"/>
                  <a:sym typeface="+mn-ea"/>
                </a:rPr>
                <a:t>S</a:t>
              </a:r>
              <a:r>
                <a:rPr lang="en-US" altLang="zh-CN" sz="1000" dirty="0" smtClean="0">
                  <a:latin typeface="Arial" panose="020B0604020202020204" pitchFamily="34" charset="0"/>
                  <a:ea typeface="微软雅黑" panose="020B0503020204020204" charset="-122"/>
                  <a:sym typeface="+mn-ea"/>
                </a:rPr>
                <a:t>erial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6R</a:t>
              </a:r>
              <a:r>
                <a:rPr lang="zh-CN" altLang="en-US" sz="2000" b="1" dirty="0">
                  <a:latin typeface="Arial" panose="020B0604020202020204" pitchFamily="34" charset="0"/>
                  <a:ea typeface="微软雅黑" panose="020B0503020204020204" charset="-122"/>
                  <a:sym typeface="+mn-ea"/>
                </a:rPr>
                <a:t>串联机器人逆运动学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p:nvSpPr>
        <p:spPr>
          <a:xfrm>
            <a:off x="2178137" y="803488"/>
            <a:ext cx="4999115" cy="400110"/>
          </a:xfrm>
          <a:prstGeom prst="rect">
            <a:avLst/>
          </a:prstGeom>
        </p:spPr>
        <p:txBody>
          <a:bodyPr wrap="square">
            <a:spAutoFit/>
          </a:bodyPr>
          <a:lstStyle/>
          <a:p>
            <a:r>
              <a:rPr lang="zh-CN" altLang="en-US" sz="2000" b="1" dirty="0">
                <a:solidFill>
                  <a:srgbClr val="002060"/>
                </a:solidFill>
              </a:rPr>
              <a:t>解析法与几何法的混合求法</a:t>
            </a:r>
            <a:r>
              <a:rPr lang="en-US" altLang="zh-CN" sz="2000" b="1" dirty="0" smtClean="0">
                <a:solidFill>
                  <a:srgbClr val="002060"/>
                </a:solidFill>
              </a:rPr>
              <a:t>(</a:t>
            </a:r>
            <a:r>
              <a:rPr lang="zh-CN" altLang="en-US" sz="2000" b="1" dirty="0">
                <a:solidFill>
                  <a:srgbClr val="002060"/>
                </a:solidFill>
              </a:rPr>
              <a:t>实例讲解</a:t>
            </a:r>
            <a:r>
              <a:rPr lang="en-US" altLang="zh-CN" sz="2000" b="1" dirty="0" smtClean="0">
                <a:solidFill>
                  <a:srgbClr val="002060"/>
                </a:solidFill>
              </a:rPr>
              <a:t>)</a:t>
            </a:r>
            <a:endParaRPr lang="zh-CN" altLang="en-US" sz="2000" b="1" dirty="0">
              <a:solidFill>
                <a:srgbClr val="002060"/>
              </a:solidFill>
            </a:endParaRPr>
          </a:p>
        </p:txBody>
      </p:sp>
      <p:sp>
        <p:nvSpPr>
          <p:cNvPr id="20" name="形状"/>
          <p:cNvSpPr/>
          <p:nvPr>
            <p:custDataLst>
              <p:tags r:id="rId1"/>
            </p:custDataLst>
          </p:nvPr>
        </p:nvSpPr>
        <p:spPr>
          <a:xfrm>
            <a:off x="3591425" y="1201031"/>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2" name="矩形 21"/>
          <p:cNvSpPr/>
          <p:nvPr/>
        </p:nvSpPr>
        <p:spPr>
          <a:xfrm>
            <a:off x="3997351" y="1196498"/>
            <a:ext cx="766557" cy="369332"/>
          </a:xfrm>
          <a:prstGeom prst="rect">
            <a:avLst/>
          </a:prstGeom>
        </p:spPr>
        <p:txBody>
          <a:bodyPr wrap="none">
            <a:spAutoFit/>
          </a:bodyPr>
          <a:lstStyle/>
          <a:p>
            <a:r>
              <a:rPr lang="zh-CN" altLang="en-US" b="1" dirty="0" smtClean="0">
                <a:solidFill>
                  <a:srgbClr val="002060"/>
                </a:solidFill>
              </a:rPr>
              <a:t>第</a:t>
            </a:r>
            <a:r>
              <a:rPr lang="en-US" altLang="zh-CN" b="1" dirty="0" smtClean="0">
                <a:solidFill>
                  <a:srgbClr val="002060"/>
                </a:solidFill>
              </a:rPr>
              <a:t>5</a:t>
            </a:r>
            <a:r>
              <a:rPr lang="zh-CN" altLang="en-US" b="1" dirty="0" smtClean="0">
                <a:solidFill>
                  <a:srgbClr val="002060"/>
                </a:solidFill>
              </a:rPr>
              <a:t>步</a:t>
            </a:r>
            <a:endParaRPr lang="zh-CN" altLang="en-US" b="1" dirty="0">
              <a:solidFill>
                <a:srgbClr val="002060"/>
              </a:solidFill>
            </a:endParaRPr>
          </a:p>
        </p:txBody>
      </p:sp>
      <p:sp>
        <p:nvSpPr>
          <p:cNvPr id="24" name="形状"/>
          <p:cNvSpPr/>
          <p:nvPr>
            <p:custDataLst>
              <p:tags r:id="rId2"/>
            </p:custDataLst>
          </p:nvPr>
        </p:nvSpPr>
        <p:spPr>
          <a:xfrm>
            <a:off x="4817783" y="1211264"/>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pic>
        <p:nvPicPr>
          <p:cNvPr id="16" name="图片 15"/>
          <p:cNvPicPr/>
          <p:nvPr/>
        </p:nvPicPr>
        <p:blipFill>
          <a:blip r:embed="rId6"/>
          <a:stretch>
            <a:fillRect/>
          </a:stretch>
        </p:blipFill>
        <p:spPr>
          <a:xfrm>
            <a:off x="22542" y="1622774"/>
            <a:ext cx="5274310" cy="2759710"/>
          </a:xfrm>
          <a:prstGeom prst="rect">
            <a:avLst/>
          </a:prstGeom>
        </p:spPr>
      </p:pic>
      <p:sp>
        <p:nvSpPr>
          <p:cNvPr id="3" name="矩形 2"/>
          <p:cNvSpPr/>
          <p:nvPr/>
        </p:nvSpPr>
        <p:spPr>
          <a:xfrm>
            <a:off x="1546038" y="4477796"/>
            <a:ext cx="2106667" cy="338554"/>
          </a:xfrm>
          <a:prstGeom prst="rect">
            <a:avLst/>
          </a:prstGeom>
        </p:spPr>
        <p:txBody>
          <a:bodyPr wrap="none">
            <a:spAutoFit/>
          </a:bodyPr>
          <a:lstStyle/>
          <a:p>
            <a:r>
              <a:rPr lang="en-US" altLang="zh-CN" sz="1600" dirty="0">
                <a:latin typeface="等线" panose="02010600030101010101" pitchFamily="2" charset="-122"/>
                <a:cs typeface="Times New Roman" panose="02020603050405020304" pitchFamily="18" charset="0"/>
              </a:rPr>
              <a:t>{2</a:t>
            </a:r>
            <a:r>
              <a:rPr lang="zh-CN" altLang="zh-CN" sz="1600" dirty="0">
                <a:ea typeface="等线" panose="02010600030101010101" pitchFamily="2" charset="-122"/>
                <a:cs typeface="Times New Roman" panose="02020603050405020304" pitchFamily="18" charset="0"/>
              </a:rPr>
              <a:t>，</a:t>
            </a:r>
            <a:r>
              <a:rPr lang="en-US" altLang="zh-CN" sz="1600" dirty="0">
                <a:ea typeface="等线" panose="02010600030101010101" pitchFamily="2" charset="-122"/>
                <a:cs typeface="Times New Roman" panose="02020603050405020304" pitchFamily="18" charset="0"/>
              </a:rPr>
              <a:t>3</a:t>
            </a:r>
            <a:r>
              <a:rPr lang="zh-CN" altLang="zh-CN" sz="1600" dirty="0">
                <a:ea typeface="等线" panose="02010600030101010101" pitchFamily="2" charset="-122"/>
                <a:cs typeface="Times New Roman" panose="02020603050405020304" pitchFamily="18" charset="0"/>
              </a:rPr>
              <a:t>，</a:t>
            </a:r>
            <a:r>
              <a:rPr lang="en-US" altLang="zh-CN" sz="1600" dirty="0">
                <a:ea typeface="等线" panose="02010600030101010101" pitchFamily="2" charset="-122"/>
                <a:cs typeface="Times New Roman" panose="02020603050405020304" pitchFamily="18" charset="0"/>
              </a:rPr>
              <a:t>4} </a:t>
            </a:r>
            <a:r>
              <a:rPr lang="zh-CN" altLang="zh-CN" sz="1600" dirty="0">
                <a:ea typeface="等线" panose="02010600030101010101" pitchFamily="2" charset="-122"/>
                <a:cs typeface="Times New Roman" panose="02020603050405020304" pitchFamily="18" charset="0"/>
              </a:rPr>
              <a:t>轴坐标关系</a:t>
            </a:r>
            <a:endParaRPr lang="zh-CN" altLang="en-US" sz="1600" dirty="0"/>
          </a:p>
        </p:txBody>
      </p:sp>
      <p:sp>
        <p:nvSpPr>
          <p:cNvPr id="9" name="圆角矩形 8"/>
          <p:cNvSpPr/>
          <p:nvPr/>
        </p:nvSpPr>
        <p:spPr>
          <a:xfrm>
            <a:off x="4440948" y="4283614"/>
            <a:ext cx="4703052" cy="64699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p:cNvPicPr/>
          <p:nvPr/>
        </p:nvPicPr>
        <p:blipFill>
          <a:blip r:embed="rId7"/>
          <a:stretch>
            <a:fillRect/>
          </a:stretch>
        </p:blipFill>
        <p:spPr>
          <a:xfrm>
            <a:off x="5796136" y="1834921"/>
            <a:ext cx="2304415" cy="418465"/>
          </a:xfrm>
          <a:prstGeom prst="rect">
            <a:avLst/>
          </a:prstGeom>
        </p:spPr>
      </p:pic>
      <p:pic>
        <p:nvPicPr>
          <p:cNvPr id="21" name="图片 20"/>
          <p:cNvPicPr/>
          <p:nvPr/>
        </p:nvPicPr>
        <p:blipFill>
          <a:blip r:embed="rId8"/>
          <a:stretch>
            <a:fillRect/>
          </a:stretch>
        </p:blipFill>
        <p:spPr>
          <a:xfrm>
            <a:off x="5796136" y="2253386"/>
            <a:ext cx="2599690" cy="980440"/>
          </a:xfrm>
          <a:prstGeom prst="rect">
            <a:avLst/>
          </a:prstGeom>
        </p:spPr>
      </p:pic>
      <p:sp>
        <p:nvSpPr>
          <p:cNvPr id="2" name="矩形 1"/>
          <p:cNvSpPr/>
          <p:nvPr/>
        </p:nvSpPr>
        <p:spPr>
          <a:xfrm>
            <a:off x="5684215" y="3233826"/>
            <a:ext cx="2263761" cy="338554"/>
          </a:xfrm>
          <a:prstGeom prst="rect">
            <a:avLst/>
          </a:prstGeom>
        </p:spPr>
        <p:txBody>
          <a:bodyPr wrap="none">
            <a:spAutoFit/>
          </a:bodyPr>
          <a:lstStyle/>
          <a:p>
            <a:r>
              <a:rPr lang="en-US" altLang="zh-CN" sz="1600" dirty="0">
                <a:latin typeface="等线" panose="02010600030101010101" pitchFamily="2" charset="-122"/>
                <a:cs typeface="Times New Roman" panose="02020603050405020304" pitchFamily="18" charset="0"/>
              </a:rPr>
              <a:t>sin</a:t>
            </a:r>
            <a:r>
              <a:rPr lang="zh-CN" altLang="zh-CN" sz="1600" dirty="0">
                <a:ea typeface="等线" panose="02010600030101010101" pitchFamily="2" charset="-122"/>
                <a:cs typeface="Times New Roman" panose="02020603050405020304" pitchFamily="18" charset="0"/>
              </a:rPr>
              <a:t>φ</a:t>
            </a:r>
            <a:r>
              <a:rPr lang="en-US" altLang="zh-CN" sz="1600" dirty="0">
                <a:ea typeface="等线" panose="02010600030101010101" pitchFamily="2" charset="-122"/>
                <a:cs typeface="Times New Roman" panose="02020603050405020304" pitchFamily="18" charset="0"/>
              </a:rPr>
              <a:t>3=sin(180-</a:t>
            </a:r>
            <a:r>
              <a:rPr lang="zh-CN" altLang="zh-CN" sz="1600" dirty="0">
                <a:ea typeface="等线" panose="02010600030101010101" pitchFamily="2" charset="-122"/>
                <a:cs typeface="Times New Roman" panose="02020603050405020304" pitchFamily="18" charset="0"/>
              </a:rPr>
              <a:t>θ</a:t>
            </a:r>
            <a:r>
              <a:rPr lang="en-US" altLang="zh-CN" sz="1600" dirty="0">
                <a:ea typeface="等线" panose="02010600030101010101" pitchFamily="2" charset="-122"/>
                <a:cs typeface="Times New Roman" panose="02020603050405020304" pitchFamily="18" charset="0"/>
              </a:rPr>
              <a:t>3)=sin</a:t>
            </a:r>
            <a:r>
              <a:rPr lang="zh-CN" altLang="zh-CN" sz="1600" dirty="0">
                <a:ea typeface="等线" panose="02010600030101010101" pitchFamily="2" charset="-122"/>
                <a:cs typeface="Times New Roman" panose="02020603050405020304" pitchFamily="18" charset="0"/>
              </a:rPr>
              <a:t>θ</a:t>
            </a:r>
            <a:r>
              <a:rPr lang="en-US" altLang="zh-CN" sz="1600" dirty="0">
                <a:ea typeface="等线" panose="02010600030101010101" pitchFamily="2" charset="-122"/>
                <a:cs typeface="Times New Roman" panose="02020603050405020304" pitchFamily="18" charset="0"/>
              </a:rPr>
              <a:t>3</a:t>
            </a:r>
            <a:endParaRPr lang="zh-CN" altLang="en-US" sz="1600" dirty="0"/>
          </a:p>
        </p:txBody>
      </p:sp>
      <p:sp>
        <p:nvSpPr>
          <p:cNvPr id="8" name="矩形 7"/>
          <p:cNvSpPr/>
          <p:nvPr/>
        </p:nvSpPr>
        <p:spPr>
          <a:xfrm>
            <a:off x="5798473" y="3462096"/>
            <a:ext cx="764953" cy="338554"/>
          </a:xfrm>
          <a:prstGeom prst="rect">
            <a:avLst/>
          </a:prstGeom>
        </p:spPr>
        <p:txBody>
          <a:bodyPr wrap="none">
            <a:spAutoFit/>
          </a:bodyPr>
          <a:lstStyle/>
          <a:p>
            <a:r>
              <a:rPr lang="el-GR" altLang="zh-CN" sz="1600" dirty="0" smtClean="0">
                <a:ea typeface="等线" panose="02010600030101010101" pitchFamily="2" charset="-122"/>
                <a:cs typeface="Times New Roman" panose="02020603050405020304" pitchFamily="18" charset="0"/>
              </a:rPr>
              <a:t>Θ</a:t>
            </a:r>
            <a:r>
              <a:rPr lang="en-US" altLang="zh-CN" sz="1600" dirty="0" smtClean="0">
                <a:ea typeface="等线" panose="02010600030101010101" pitchFamily="2" charset="-122"/>
                <a:cs typeface="Times New Roman" panose="02020603050405020304" pitchFamily="18" charset="0"/>
              </a:rPr>
              <a:t>3=</a:t>
            </a:r>
            <a:r>
              <a:rPr lang="zh-CN" altLang="zh-CN" sz="1600" dirty="0" smtClean="0">
                <a:ea typeface="等线" panose="02010600030101010101" pitchFamily="2" charset="-122"/>
                <a:cs typeface="Times New Roman" panose="02020603050405020304" pitchFamily="18" charset="0"/>
              </a:rPr>
              <a:t>φ</a:t>
            </a:r>
            <a:r>
              <a:rPr lang="en-US" altLang="zh-CN" sz="1600" dirty="0">
                <a:ea typeface="等线" panose="02010600030101010101" pitchFamily="2" charset="-122"/>
                <a:cs typeface="Times New Roman" panose="02020603050405020304" pitchFamily="18" charset="0"/>
              </a:rPr>
              <a:t>3</a:t>
            </a:r>
            <a:endParaRPr lang="zh-CN" altLang="en-US" sz="1600" dirty="0"/>
          </a:p>
        </p:txBody>
      </p:sp>
    </p:spTree>
    <p:extLst>
      <p:ext uri="{BB962C8B-B14F-4D97-AF65-F5344CB8AC3E}">
        <p14:creationId xmlns:p14="http://schemas.microsoft.com/office/powerpoint/2010/main" val="97546977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Inverse Kinematics of 6R </a:t>
              </a:r>
              <a:r>
                <a:rPr lang="en-US" altLang="zh-CN" sz="1000" dirty="0">
                  <a:latin typeface="Arial" panose="020B0604020202020204" pitchFamily="34" charset="0"/>
                  <a:ea typeface="微软雅黑" panose="020B0503020204020204" charset="-122"/>
                  <a:sym typeface="+mn-ea"/>
                </a:rPr>
                <a:t>S</a:t>
              </a:r>
              <a:r>
                <a:rPr lang="en-US" altLang="zh-CN" sz="1000" dirty="0" smtClean="0">
                  <a:latin typeface="Arial" panose="020B0604020202020204" pitchFamily="34" charset="0"/>
                  <a:ea typeface="微软雅黑" panose="020B0503020204020204" charset="-122"/>
                  <a:sym typeface="+mn-ea"/>
                </a:rPr>
                <a:t>erial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en-US" altLang="zh-CN" sz="2000" b="1" dirty="0">
                  <a:latin typeface="Arial" panose="020B0604020202020204" pitchFamily="34" charset="0"/>
                  <a:ea typeface="微软雅黑" panose="020B0503020204020204" charset="-122"/>
                  <a:sym typeface="+mn-ea"/>
                </a:rPr>
                <a:t>6R</a:t>
              </a:r>
              <a:r>
                <a:rPr lang="zh-CN" altLang="en-US" sz="2000" b="1" dirty="0">
                  <a:latin typeface="Arial" panose="020B0604020202020204" pitchFamily="34" charset="0"/>
                  <a:ea typeface="微软雅黑" panose="020B0503020204020204" charset="-122"/>
                  <a:sym typeface="+mn-ea"/>
                </a:rPr>
                <a:t>串联机器人逆运动学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p:nvSpPr>
        <p:spPr>
          <a:xfrm>
            <a:off x="2178137" y="803488"/>
            <a:ext cx="4999115" cy="400110"/>
          </a:xfrm>
          <a:prstGeom prst="rect">
            <a:avLst/>
          </a:prstGeom>
        </p:spPr>
        <p:txBody>
          <a:bodyPr wrap="square">
            <a:spAutoFit/>
          </a:bodyPr>
          <a:lstStyle/>
          <a:p>
            <a:r>
              <a:rPr lang="zh-CN" altLang="en-US" sz="2000" b="1" dirty="0">
                <a:solidFill>
                  <a:srgbClr val="002060"/>
                </a:solidFill>
              </a:rPr>
              <a:t>解析法与几何法的混合求法</a:t>
            </a:r>
            <a:r>
              <a:rPr lang="en-US" altLang="zh-CN" sz="2000" b="1" dirty="0" smtClean="0">
                <a:solidFill>
                  <a:srgbClr val="002060"/>
                </a:solidFill>
              </a:rPr>
              <a:t>(</a:t>
            </a:r>
            <a:r>
              <a:rPr lang="zh-CN" altLang="en-US" sz="2000" b="1" dirty="0">
                <a:solidFill>
                  <a:srgbClr val="002060"/>
                </a:solidFill>
              </a:rPr>
              <a:t>实例讲解</a:t>
            </a:r>
            <a:r>
              <a:rPr lang="en-US" altLang="zh-CN" sz="2000" b="1" dirty="0" smtClean="0">
                <a:solidFill>
                  <a:srgbClr val="002060"/>
                </a:solidFill>
              </a:rPr>
              <a:t>)</a:t>
            </a:r>
            <a:endParaRPr lang="zh-CN" altLang="en-US" sz="2000" b="1" dirty="0">
              <a:solidFill>
                <a:srgbClr val="002060"/>
              </a:solidFill>
            </a:endParaRPr>
          </a:p>
        </p:txBody>
      </p:sp>
      <p:sp>
        <p:nvSpPr>
          <p:cNvPr id="20" name="形状"/>
          <p:cNvSpPr/>
          <p:nvPr>
            <p:custDataLst>
              <p:tags r:id="rId1"/>
            </p:custDataLst>
          </p:nvPr>
        </p:nvSpPr>
        <p:spPr>
          <a:xfrm>
            <a:off x="3591425" y="1201031"/>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2" name="矩形 21"/>
          <p:cNvSpPr/>
          <p:nvPr/>
        </p:nvSpPr>
        <p:spPr>
          <a:xfrm>
            <a:off x="3997351" y="1196498"/>
            <a:ext cx="766557" cy="369332"/>
          </a:xfrm>
          <a:prstGeom prst="rect">
            <a:avLst/>
          </a:prstGeom>
        </p:spPr>
        <p:txBody>
          <a:bodyPr wrap="none">
            <a:spAutoFit/>
          </a:bodyPr>
          <a:lstStyle/>
          <a:p>
            <a:r>
              <a:rPr lang="zh-CN" altLang="en-US" b="1" dirty="0" smtClean="0">
                <a:solidFill>
                  <a:srgbClr val="002060"/>
                </a:solidFill>
              </a:rPr>
              <a:t>第</a:t>
            </a:r>
            <a:r>
              <a:rPr lang="en-US" altLang="zh-CN" b="1" dirty="0" smtClean="0">
                <a:solidFill>
                  <a:srgbClr val="002060"/>
                </a:solidFill>
              </a:rPr>
              <a:t>6</a:t>
            </a:r>
            <a:r>
              <a:rPr lang="zh-CN" altLang="en-US" b="1" dirty="0" smtClean="0">
                <a:solidFill>
                  <a:srgbClr val="002060"/>
                </a:solidFill>
              </a:rPr>
              <a:t>步</a:t>
            </a:r>
            <a:endParaRPr lang="zh-CN" altLang="en-US" b="1" dirty="0">
              <a:solidFill>
                <a:srgbClr val="002060"/>
              </a:solidFill>
            </a:endParaRPr>
          </a:p>
        </p:txBody>
      </p:sp>
      <p:sp>
        <p:nvSpPr>
          <p:cNvPr id="24" name="形状"/>
          <p:cNvSpPr/>
          <p:nvPr>
            <p:custDataLst>
              <p:tags r:id="rId2"/>
            </p:custDataLst>
          </p:nvPr>
        </p:nvSpPr>
        <p:spPr>
          <a:xfrm>
            <a:off x="4817783" y="1211264"/>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FF000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pic>
        <p:nvPicPr>
          <p:cNvPr id="18" name="图片 17"/>
          <p:cNvPicPr/>
          <p:nvPr/>
        </p:nvPicPr>
        <p:blipFill>
          <a:blip r:embed="rId5"/>
          <a:stretch>
            <a:fillRect/>
          </a:stretch>
        </p:blipFill>
        <p:spPr>
          <a:xfrm>
            <a:off x="3172651" y="2737309"/>
            <a:ext cx="2668950" cy="576064"/>
          </a:xfrm>
          <a:prstGeom prst="rect">
            <a:avLst/>
          </a:prstGeom>
        </p:spPr>
      </p:pic>
      <p:pic>
        <p:nvPicPr>
          <p:cNvPr id="34817" name="图片 10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2051" y="2326482"/>
            <a:ext cx="354642" cy="29349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3" name="矩形 12"/>
              <p:cNvSpPr/>
              <p:nvPr/>
            </p:nvSpPr>
            <p:spPr>
              <a:xfrm>
                <a:off x="1619672" y="1725292"/>
                <a:ext cx="6336704" cy="601190"/>
              </a:xfrm>
              <a:prstGeom prst="rect">
                <a:avLst/>
              </a:prstGeom>
            </p:spPr>
            <p:txBody>
              <a:bodyPr wrap="square">
                <a:spAutoFit/>
              </a:bodyPr>
              <a:lstStyle/>
              <a:p>
                <a:r>
                  <a:rPr lang="zh-CN" altLang="zh-CN" sz="1600" b="1" dirty="0" smtClean="0">
                    <a:solidFill>
                      <a:srgbClr val="002060"/>
                    </a:solidFill>
                    <a:ea typeface="等线" panose="02010600030101010101" pitchFamily="2" charset="-122"/>
                    <a:cs typeface="Times New Roman" panose="02020603050405020304" pitchFamily="18" charset="0"/>
                  </a:rPr>
                  <a:t>剩下最后一个θ</a:t>
                </a:r>
                <a:r>
                  <a:rPr lang="en-US" altLang="zh-CN" sz="1600" b="1" dirty="0">
                    <a:solidFill>
                      <a:srgbClr val="002060"/>
                    </a:solidFill>
                    <a:ea typeface="等线" panose="02010600030101010101" pitchFamily="2" charset="-122"/>
                    <a:cs typeface="Times New Roman" panose="02020603050405020304" pitchFamily="18" charset="0"/>
                  </a:rPr>
                  <a:t>4</a:t>
                </a:r>
                <a:r>
                  <a:rPr lang="zh-CN" altLang="zh-CN" sz="1600" b="1" dirty="0">
                    <a:solidFill>
                      <a:srgbClr val="002060"/>
                    </a:solidFill>
                    <a:ea typeface="等线" panose="02010600030101010101" pitchFamily="2" charset="-122"/>
                    <a:cs typeface="Times New Roman" panose="02020603050405020304" pitchFamily="18" charset="0"/>
                  </a:rPr>
                  <a:t>，求解非常简单了，为从</a:t>
                </a:r>
                <a:r>
                  <a:rPr lang="en-US" altLang="zh-CN" sz="1600" b="1" dirty="0">
                    <a:solidFill>
                      <a:srgbClr val="002060"/>
                    </a:solidFill>
                    <a:ea typeface="等线" panose="02010600030101010101" pitchFamily="2" charset="-122"/>
                    <a:cs typeface="Times New Roman" panose="02020603050405020304" pitchFamily="18" charset="0"/>
                  </a:rPr>
                  <a:t>X3</a:t>
                </a:r>
                <a:r>
                  <a:rPr lang="zh-CN" altLang="zh-CN" sz="1600" b="1" dirty="0">
                    <a:solidFill>
                      <a:srgbClr val="002060"/>
                    </a:solidFill>
                    <a:ea typeface="等线" panose="02010600030101010101" pitchFamily="2" charset="-122"/>
                    <a:cs typeface="Times New Roman" panose="02020603050405020304" pitchFamily="18" charset="0"/>
                  </a:rPr>
                  <a:t>到</a:t>
                </a:r>
                <a:r>
                  <a:rPr lang="en-US" altLang="zh-CN" sz="1600" b="1" dirty="0">
                    <a:solidFill>
                      <a:srgbClr val="002060"/>
                    </a:solidFill>
                    <a:ea typeface="等线" panose="02010600030101010101" pitchFamily="2" charset="-122"/>
                    <a:cs typeface="Times New Roman" panose="02020603050405020304" pitchFamily="18" charset="0"/>
                  </a:rPr>
                  <a:t>X4</a:t>
                </a:r>
                <a:r>
                  <a:rPr lang="zh-CN" altLang="zh-CN" sz="1600" b="1" dirty="0">
                    <a:solidFill>
                      <a:srgbClr val="002060"/>
                    </a:solidFill>
                    <a:ea typeface="等线" panose="02010600030101010101" pitchFamily="2" charset="-122"/>
                    <a:cs typeface="Times New Roman" panose="02020603050405020304" pitchFamily="18" charset="0"/>
                  </a:rPr>
                  <a:t>按</a:t>
                </a:r>
                <a:r>
                  <a:rPr lang="en-US" altLang="zh-CN" sz="1600" b="1" dirty="0">
                    <a:solidFill>
                      <a:srgbClr val="002060"/>
                    </a:solidFill>
                    <a:ea typeface="等线" panose="02010600030101010101" pitchFamily="2" charset="-122"/>
                    <a:cs typeface="Times New Roman" panose="02020603050405020304" pitchFamily="18" charset="0"/>
                  </a:rPr>
                  <a:t>Z4</a:t>
                </a:r>
                <a:r>
                  <a:rPr lang="zh-CN" altLang="zh-CN" sz="1600" b="1" dirty="0">
                    <a:solidFill>
                      <a:srgbClr val="002060"/>
                    </a:solidFill>
                    <a:ea typeface="等线" panose="02010600030101010101" pitchFamily="2" charset="-122"/>
                    <a:cs typeface="Times New Roman" panose="02020603050405020304" pitchFamily="18" charset="0"/>
                  </a:rPr>
                  <a:t>的旋转角度，可以从剩下的最后一个转换矩阵</a:t>
                </a:r>
                <a14:m>
                  <m:oMath xmlns:m="http://schemas.openxmlformats.org/officeDocument/2006/math">
                    <m:sPre>
                      <m:sPrePr>
                        <m:ctrlPr>
                          <a:rPr lang="zh-CN" altLang="zh-CN" sz="1600" b="1" i="1">
                            <a:solidFill>
                              <a:srgbClr val="002060"/>
                            </a:solidFill>
                            <a:effectLst/>
                            <a:latin typeface="Cambria Math" panose="02040503050406030204" pitchFamily="18" charset="0"/>
                            <a:ea typeface="Cambria Math" panose="02040503050406030204" pitchFamily="18" charset="0"/>
                          </a:rPr>
                        </m:ctrlPr>
                      </m:sPrePr>
                      <m:sub>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𝟒</m:t>
                        </m:r>
                      </m:sub>
                      <m:sup>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𝟑</m:t>
                        </m:r>
                      </m:sup>
                      <m:e>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𝑻</m:t>
                        </m:r>
                      </m:e>
                    </m:sPre>
                  </m:oMath>
                </a14:m>
                <a:r>
                  <a:rPr lang="zh-CN" altLang="zh-CN" sz="1600" b="1" dirty="0" smtClean="0">
                    <a:solidFill>
                      <a:srgbClr val="002060"/>
                    </a:solidFill>
                    <a:ea typeface="等线" panose="02010600030101010101" pitchFamily="2" charset="-122"/>
                    <a:cs typeface="Times New Roman" panose="02020603050405020304" pitchFamily="18" charset="0"/>
                  </a:rPr>
                  <a:t>得出</a:t>
                </a:r>
                <a:endParaRPr lang="zh-CN" altLang="en-US" sz="1600" b="1" dirty="0">
                  <a:solidFill>
                    <a:srgbClr val="002060"/>
                  </a:solidFill>
                </a:endParaRPr>
              </a:p>
            </p:txBody>
          </p:sp>
        </mc:Choice>
        <mc:Fallback xmlns="">
          <p:sp>
            <p:nvSpPr>
              <p:cNvPr id="13" name="矩形 12"/>
              <p:cNvSpPr>
                <a:spLocks noRot="1" noChangeAspect="1" noMove="1" noResize="1" noEditPoints="1" noAdjustHandles="1" noChangeArrowheads="1" noChangeShapeType="1" noTextEdit="1"/>
              </p:cNvSpPr>
              <p:nvPr/>
            </p:nvSpPr>
            <p:spPr>
              <a:xfrm>
                <a:off x="1619672" y="1725292"/>
                <a:ext cx="6336704" cy="601190"/>
              </a:xfrm>
              <a:prstGeom prst="rect">
                <a:avLst/>
              </a:prstGeom>
              <a:blipFill>
                <a:blip r:embed="rId7"/>
                <a:stretch>
                  <a:fillRect l="-577" t="-3030" b="-12121"/>
                </a:stretch>
              </a:blipFill>
            </p:spPr>
            <p:txBody>
              <a:bodyPr/>
              <a:lstStyle/>
              <a:p>
                <a:r>
                  <a:rPr lang="zh-CN" altLang="en-US">
                    <a:noFill/>
                  </a:rPr>
                  <a:t> </a:t>
                </a:r>
              </a:p>
            </p:txBody>
          </p:sp>
        </mc:Fallback>
      </mc:AlternateContent>
      <p:sp>
        <p:nvSpPr>
          <p:cNvPr id="14" name="矩形 13"/>
          <p:cNvSpPr/>
          <p:nvPr/>
        </p:nvSpPr>
        <p:spPr>
          <a:xfrm>
            <a:off x="1619672" y="2301432"/>
            <a:ext cx="800219" cy="338554"/>
          </a:xfrm>
          <a:prstGeom prst="rect">
            <a:avLst/>
          </a:prstGeom>
        </p:spPr>
        <p:txBody>
          <a:bodyPr wrap="none">
            <a:spAutoFit/>
          </a:bodyPr>
          <a:lstStyle/>
          <a:p>
            <a:r>
              <a:rPr lang="zh-CN" altLang="zh-CN" sz="1600" dirty="0">
                <a:ea typeface="等线" panose="02010600030101010101" pitchFamily="2" charset="-122"/>
                <a:cs typeface="Times New Roman" panose="02020603050405020304" pitchFamily="18" charset="0"/>
              </a:rPr>
              <a:t>直接取</a:t>
            </a:r>
            <a:endParaRPr lang="zh-CN" altLang="en-US" sz="1600" dirty="0"/>
          </a:p>
        </p:txBody>
      </p:sp>
      <p:sp>
        <p:nvSpPr>
          <p:cNvPr id="15" name="矩形 14"/>
          <p:cNvSpPr/>
          <p:nvPr/>
        </p:nvSpPr>
        <p:spPr>
          <a:xfrm>
            <a:off x="2744189" y="2288564"/>
            <a:ext cx="800219" cy="338554"/>
          </a:xfrm>
          <a:prstGeom prst="rect">
            <a:avLst/>
          </a:prstGeom>
        </p:spPr>
        <p:txBody>
          <a:bodyPr wrap="none">
            <a:spAutoFit/>
          </a:bodyPr>
          <a:lstStyle/>
          <a:p>
            <a:r>
              <a:rPr lang="zh-CN" altLang="zh-CN" sz="1600" dirty="0">
                <a:ea typeface="等线" panose="02010600030101010101" pitchFamily="2" charset="-122"/>
                <a:cs typeface="Times New Roman" panose="02020603050405020304" pitchFamily="18" charset="0"/>
              </a:rPr>
              <a:t>第一列</a:t>
            </a:r>
            <a:endParaRPr lang="zh-CN" altLang="en-US" sz="1600" dirty="0"/>
          </a:p>
        </p:txBody>
      </p:sp>
      <p:sp>
        <p:nvSpPr>
          <p:cNvPr id="19" name="矩形 18"/>
          <p:cNvSpPr/>
          <p:nvPr/>
        </p:nvSpPr>
        <p:spPr>
          <a:xfrm>
            <a:off x="1702520" y="3444765"/>
            <a:ext cx="1930337" cy="338554"/>
          </a:xfrm>
          <a:prstGeom prst="rect">
            <a:avLst/>
          </a:prstGeom>
        </p:spPr>
        <p:txBody>
          <a:bodyPr wrap="none">
            <a:spAutoFit/>
          </a:bodyPr>
          <a:lstStyle/>
          <a:p>
            <a:r>
              <a:rPr lang="zh-CN" altLang="zh-CN" sz="1600" dirty="0">
                <a:ea typeface="等线" panose="02010600030101010101" pitchFamily="2" charset="-122"/>
                <a:cs typeface="Times New Roman" panose="02020603050405020304" pitchFamily="18" charset="0"/>
              </a:rPr>
              <a:t>最多可以求出</a:t>
            </a:r>
            <a:r>
              <a:rPr lang="en-US" altLang="zh-CN" sz="1600" dirty="0">
                <a:ea typeface="等线" panose="02010600030101010101" pitchFamily="2" charset="-122"/>
                <a:cs typeface="Times New Roman" panose="02020603050405020304" pitchFamily="18" charset="0"/>
              </a:rPr>
              <a:t>8</a:t>
            </a:r>
            <a:r>
              <a:rPr lang="zh-CN" altLang="zh-CN" sz="1600" dirty="0">
                <a:ea typeface="等线" panose="02010600030101010101" pitchFamily="2" charset="-122"/>
                <a:cs typeface="Times New Roman" panose="02020603050405020304" pitchFamily="18" charset="0"/>
              </a:rPr>
              <a:t>组解</a:t>
            </a:r>
            <a:endParaRPr lang="zh-CN" altLang="en-US" sz="1600" dirty="0"/>
          </a:p>
        </p:txBody>
      </p:sp>
      <p:pic>
        <p:nvPicPr>
          <p:cNvPr id="26" name="图片 25"/>
          <p:cNvPicPr/>
          <p:nvPr/>
        </p:nvPicPr>
        <p:blipFill>
          <a:blip r:embed="rId8"/>
          <a:stretch>
            <a:fillRect/>
          </a:stretch>
        </p:blipFill>
        <p:spPr>
          <a:xfrm>
            <a:off x="3921706" y="3467388"/>
            <a:ext cx="2419777" cy="303411"/>
          </a:xfrm>
          <a:prstGeom prst="rect">
            <a:avLst/>
          </a:prstGeom>
        </p:spPr>
      </p:pic>
      <p:sp>
        <p:nvSpPr>
          <p:cNvPr id="25" name="矩形 24"/>
          <p:cNvSpPr/>
          <p:nvPr/>
        </p:nvSpPr>
        <p:spPr>
          <a:xfrm>
            <a:off x="1447366" y="4138159"/>
            <a:ext cx="6681316" cy="369332"/>
          </a:xfrm>
          <a:prstGeom prst="rect">
            <a:avLst/>
          </a:prstGeom>
        </p:spPr>
        <p:txBody>
          <a:bodyPr wrap="none">
            <a:spAutoFit/>
          </a:bodyPr>
          <a:lstStyle/>
          <a:p>
            <a:r>
              <a:rPr lang="en-US" altLang="zh-CN" dirty="0" smtClean="0"/>
              <a:t>C++</a:t>
            </a:r>
            <a:r>
              <a:rPr lang="zh-CN" altLang="en-US" dirty="0" smtClean="0"/>
              <a:t>源代码见：</a:t>
            </a:r>
            <a:r>
              <a:rPr lang="en-US" altLang="zh-CN" dirty="0"/>
              <a:t>https://github.com/mhuasong/AUBO-Robot-on-ROS/</a:t>
            </a:r>
            <a:endParaRPr lang="zh-CN" altLang="en-US" dirty="0"/>
          </a:p>
        </p:txBody>
      </p:sp>
      <p:sp>
        <p:nvSpPr>
          <p:cNvPr id="2" name="矩形 1"/>
          <p:cNvSpPr/>
          <p:nvPr/>
        </p:nvSpPr>
        <p:spPr>
          <a:xfrm>
            <a:off x="2178137" y="4457085"/>
            <a:ext cx="5842682" cy="276999"/>
          </a:xfrm>
          <a:prstGeom prst="rect">
            <a:avLst/>
          </a:prstGeom>
        </p:spPr>
        <p:txBody>
          <a:bodyPr wrap="square">
            <a:spAutoFit/>
          </a:bodyPr>
          <a:lstStyle/>
          <a:p>
            <a:r>
              <a:rPr lang="zh-CN" altLang="en-US" sz="1200" dirty="0"/>
              <a:t>https://github.com/mhuasong/Basics-of-Robotics-Theory-and-Technology/tree/main/ch3</a:t>
            </a:r>
          </a:p>
        </p:txBody>
      </p:sp>
    </p:spTree>
    <p:extLst>
      <p:ext uri="{BB962C8B-B14F-4D97-AF65-F5344CB8AC3E}">
        <p14:creationId xmlns:p14="http://schemas.microsoft.com/office/powerpoint/2010/main" val="424078467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Jacobian Matrix of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机器人雅可比矩阵</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p:nvSpPr>
        <p:spPr>
          <a:xfrm>
            <a:off x="2178137" y="803488"/>
            <a:ext cx="5706231" cy="400110"/>
          </a:xfrm>
          <a:prstGeom prst="rect">
            <a:avLst/>
          </a:prstGeom>
        </p:spPr>
        <p:txBody>
          <a:bodyPr wrap="square">
            <a:spAutoFit/>
          </a:bodyPr>
          <a:lstStyle/>
          <a:p>
            <a:r>
              <a:rPr lang="zh-CN" altLang="en-US" sz="2000" b="1" dirty="0">
                <a:solidFill>
                  <a:srgbClr val="002060"/>
                </a:solidFill>
              </a:rPr>
              <a:t>机器人雅可比矩阵</a:t>
            </a:r>
            <a:r>
              <a:rPr lang="en-US" altLang="zh-CN" sz="2000" b="1" dirty="0">
                <a:solidFill>
                  <a:srgbClr val="002060"/>
                </a:solidFill>
              </a:rPr>
              <a:t>(Jacobian Matrix of Robots)</a:t>
            </a:r>
            <a:endParaRPr lang="zh-CN" altLang="en-US" sz="2000" b="1" dirty="0">
              <a:solidFill>
                <a:srgbClr val="002060"/>
              </a:solidFill>
            </a:endParaRPr>
          </a:p>
        </p:txBody>
      </p:sp>
      <p:pic>
        <p:nvPicPr>
          <p:cNvPr id="2" name="图片 1"/>
          <p:cNvPicPr>
            <a:picLocks noChangeAspect="1"/>
          </p:cNvPicPr>
          <p:nvPr/>
        </p:nvPicPr>
        <p:blipFill>
          <a:blip r:embed="rId3"/>
          <a:stretch>
            <a:fillRect/>
          </a:stretch>
        </p:blipFill>
        <p:spPr>
          <a:xfrm>
            <a:off x="467544" y="1234560"/>
            <a:ext cx="1402071" cy="1606104"/>
          </a:xfrm>
          <a:prstGeom prst="rect">
            <a:avLst/>
          </a:prstGeom>
        </p:spPr>
      </p:pic>
      <p:sp>
        <p:nvSpPr>
          <p:cNvPr id="3" name="矩形 2"/>
          <p:cNvSpPr/>
          <p:nvPr/>
        </p:nvSpPr>
        <p:spPr>
          <a:xfrm>
            <a:off x="545429" y="2840664"/>
            <a:ext cx="1196161" cy="338554"/>
          </a:xfrm>
          <a:prstGeom prst="rect">
            <a:avLst/>
          </a:prstGeom>
        </p:spPr>
        <p:txBody>
          <a:bodyPr wrap="none">
            <a:spAutoFit/>
          </a:bodyPr>
          <a:lstStyle/>
          <a:p>
            <a:pPr algn="ctr"/>
            <a:r>
              <a:rPr lang="zh-CN" altLang="en-US" sz="800" dirty="0"/>
              <a:t>Carl Gustav Jacob </a:t>
            </a:r>
            <a:r>
              <a:rPr lang="zh-CN" altLang="en-US" sz="800" dirty="0" smtClean="0"/>
              <a:t>Jacobi</a:t>
            </a:r>
            <a:endParaRPr lang="en-US" altLang="zh-CN" sz="800" dirty="0" smtClean="0"/>
          </a:p>
          <a:p>
            <a:pPr algn="ctr"/>
            <a:r>
              <a:rPr lang="zh-CN" altLang="en-US" sz="800" dirty="0" smtClean="0"/>
              <a:t>1804</a:t>
            </a:r>
            <a:r>
              <a:rPr lang="zh-CN" altLang="en-US" sz="800" dirty="0"/>
              <a:t>~1851</a:t>
            </a:r>
          </a:p>
        </p:txBody>
      </p:sp>
      <mc:AlternateContent xmlns:mc="http://schemas.openxmlformats.org/markup-compatibility/2006" xmlns:a14="http://schemas.microsoft.com/office/drawing/2010/main">
        <mc:Choice Requires="a14">
          <p:sp>
            <p:nvSpPr>
              <p:cNvPr id="8" name="矩形 7"/>
              <p:cNvSpPr/>
              <p:nvPr/>
            </p:nvSpPr>
            <p:spPr>
              <a:xfrm>
                <a:off x="2210124" y="1377801"/>
                <a:ext cx="6322315" cy="584775"/>
              </a:xfrm>
              <a:prstGeom prst="rect">
                <a:avLst/>
              </a:prstGeom>
            </p:spPr>
            <p:txBody>
              <a:bodyPr wrap="square">
                <a:spAutoFit/>
              </a:bodyPr>
              <a:lstStyle/>
              <a:p>
                <a:r>
                  <a:rPr lang="zh-CN" altLang="zh-CN" sz="1600" dirty="0" smtClean="0">
                    <a:solidFill>
                      <a:srgbClr val="002060"/>
                    </a:solidFill>
                    <a:ea typeface="等线" panose="02010600030101010101" pitchFamily="2" charset="-122"/>
                    <a:cs typeface="Times New Roman" panose="02020603050405020304" pitchFamily="18" charset="0"/>
                  </a:rPr>
                  <a:t>如果函数</a:t>
                </a:r>
                <a14:m>
                  <m:oMath xmlns:m="http://schemas.openxmlformats.org/officeDocument/2006/math">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𝑓</m:t>
                    </m:r>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 </m:t>
                    </m:r>
                    <m:sSup>
                      <m:sSupPr>
                        <m:ctrlPr>
                          <a:rPr lang="zh-CN" altLang="zh-CN" sz="1600" i="1">
                            <a:solidFill>
                              <a:srgbClr val="002060"/>
                            </a:solidFill>
                            <a:effectLst/>
                            <a:latin typeface="Cambria Math" panose="02040503050406030204" pitchFamily="18" charset="0"/>
                            <a:ea typeface="Cambria Math" panose="02040503050406030204" pitchFamily="18" charset="0"/>
                          </a:rPr>
                        </m:ctrlPr>
                      </m:sSupPr>
                      <m:e>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ℝ</m:t>
                        </m:r>
                      </m:e>
                      <m:sup>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𝑛</m:t>
                        </m:r>
                      </m:sup>
                    </m:sSup>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600" i="1">
                            <a:solidFill>
                              <a:srgbClr val="002060"/>
                            </a:solidFill>
                            <a:effectLst/>
                            <a:latin typeface="Cambria Math" panose="02040503050406030204" pitchFamily="18" charset="0"/>
                            <a:ea typeface="Cambria Math" panose="02040503050406030204" pitchFamily="18" charset="0"/>
                          </a:rPr>
                        </m:ctrlPr>
                      </m:sSupPr>
                      <m:e>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ℝ</m:t>
                        </m:r>
                      </m:e>
                      <m:sup>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𝑚</m:t>
                        </m:r>
                      </m:sup>
                    </m:sSup>
                  </m:oMath>
                </a14:m>
                <a:r>
                  <a:rPr lang="zh-CN" altLang="zh-CN" sz="1600" dirty="0">
                    <a:solidFill>
                      <a:srgbClr val="002060"/>
                    </a:solidFill>
                    <a:ea typeface="等线" panose="02010600030101010101" pitchFamily="2" charset="-122"/>
                    <a:cs typeface="Times New Roman" panose="02020603050405020304" pitchFamily="18" charset="0"/>
                  </a:rPr>
                  <a:t>在点</a:t>
                </a:r>
                <a14:m>
                  <m:oMath xmlns:m="http://schemas.openxmlformats.org/officeDocument/2006/math">
                    <m:r>
                      <a:rPr lang="zh-CN" altLang="zh-CN" sz="1600" i="1">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1600" i="1">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𝑥</m:t>
                    </m:r>
                  </m:oMath>
                </a14:m>
                <a:r>
                  <a:rPr lang="zh-CN" altLang="zh-CN" sz="1600" dirty="0">
                    <a:solidFill>
                      <a:srgbClr val="002060"/>
                    </a:solidFill>
                    <a:ea typeface="等线" panose="02010600030101010101" pitchFamily="2" charset="-122"/>
                    <a:cs typeface="Times New Roman" panose="02020603050405020304" pitchFamily="18" charset="0"/>
                  </a:rPr>
                  <a:t>可微分，则点</a:t>
                </a:r>
                <a14:m>
                  <m:oMath xmlns:m="http://schemas.openxmlformats.org/officeDocument/2006/math">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𝑥</m:t>
                    </m:r>
                  </m:oMath>
                </a14:m>
                <a:r>
                  <a:rPr lang="zh-CN" altLang="zh-CN" sz="1600" dirty="0">
                    <a:solidFill>
                      <a:srgbClr val="002060"/>
                    </a:solidFill>
                    <a:ea typeface="等线" panose="02010600030101010101" pitchFamily="2" charset="-122"/>
                    <a:cs typeface="Times New Roman" panose="02020603050405020304" pitchFamily="18" charset="0"/>
                  </a:rPr>
                  <a:t>的雅可比矩阵为该函数在该点的最佳线性逼近。</a:t>
                </a:r>
                <a:endParaRPr lang="zh-CN" altLang="en-US" sz="1600" dirty="0">
                  <a:solidFill>
                    <a:srgbClr val="002060"/>
                  </a:solidFill>
                </a:endParaRPr>
              </a:p>
            </p:txBody>
          </p:sp>
        </mc:Choice>
        <mc:Fallback xmlns="">
          <p:sp>
            <p:nvSpPr>
              <p:cNvPr id="8" name="矩形 7"/>
              <p:cNvSpPr>
                <a:spLocks noRot="1" noChangeAspect="1" noMove="1" noResize="1" noEditPoints="1" noAdjustHandles="1" noChangeArrowheads="1" noChangeShapeType="1" noTextEdit="1"/>
              </p:cNvSpPr>
              <p:nvPr/>
            </p:nvSpPr>
            <p:spPr>
              <a:xfrm>
                <a:off x="2210124" y="1377801"/>
                <a:ext cx="6322315" cy="584775"/>
              </a:xfrm>
              <a:prstGeom prst="rect">
                <a:avLst/>
              </a:prstGeom>
              <a:blipFill>
                <a:blip r:embed="rId4"/>
                <a:stretch>
                  <a:fillRect l="-579"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2223358" y="1952113"/>
                <a:ext cx="3307187" cy="338554"/>
              </a:xfrm>
              <a:prstGeom prst="rect">
                <a:avLst/>
              </a:prstGeom>
            </p:spPr>
            <p:txBody>
              <a:bodyPr wrap="none">
                <a:spAutoFit/>
              </a:bodyPr>
              <a:lstStyle/>
              <a:p>
                <a:r>
                  <a:rPr lang="zh-CN" altLang="zh-CN" sz="1600" dirty="0">
                    <a:ea typeface="等线" panose="02010600030101010101" pitchFamily="2" charset="-122"/>
                    <a:cs typeface="Times New Roman" panose="02020603050405020304" pitchFamily="18" charset="0"/>
                  </a:rPr>
                  <a:t>机器人末端执行器的位形用</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𝑥</m:t>
                    </m:r>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600" i="1">
                            <a:effectLst/>
                            <a:latin typeface="Cambria Math" panose="02040503050406030204" pitchFamily="18" charset="0"/>
                            <a:ea typeface="Cambria Math" panose="02040503050406030204" pitchFamily="18" charset="0"/>
                          </a:rPr>
                        </m:ctrlPr>
                      </m:sSupPr>
                      <m:e>
                        <m:r>
                          <a:rPr lang="en-US" altLang="zh-CN" sz="1600" i="1">
                            <a:latin typeface="Cambria Math" panose="02040503050406030204" pitchFamily="18" charset="0"/>
                            <a:ea typeface="等线" panose="02010600030101010101" pitchFamily="2" charset="-122"/>
                            <a:cs typeface="Times New Roman" panose="02020603050405020304" pitchFamily="18" charset="0"/>
                          </a:rPr>
                          <m:t>ℝ</m:t>
                        </m:r>
                      </m:e>
                      <m:sup>
                        <m:r>
                          <a:rPr lang="en-US" altLang="zh-CN" sz="1600" i="1">
                            <a:latin typeface="Cambria Math" panose="02040503050406030204" pitchFamily="18" charset="0"/>
                            <a:ea typeface="等线" panose="02010600030101010101" pitchFamily="2" charset="-122"/>
                            <a:cs typeface="Times New Roman" panose="02020603050405020304" pitchFamily="18" charset="0"/>
                          </a:rPr>
                          <m:t>𝑚</m:t>
                        </m:r>
                      </m:sup>
                    </m:sSup>
                  </m:oMath>
                </a14:m>
                <a:endParaRPr lang="zh-CN" altLang="en-US" sz="1600" dirty="0"/>
              </a:p>
            </p:txBody>
          </p:sp>
        </mc:Choice>
        <mc:Fallback xmlns="">
          <p:sp>
            <p:nvSpPr>
              <p:cNvPr id="9" name="矩形 8"/>
              <p:cNvSpPr>
                <a:spLocks noRot="1" noChangeAspect="1" noMove="1" noResize="1" noEditPoints="1" noAdjustHandles="1" noChangeArrowheads="1" noChangeShapeType="1" noTextEdit="1"/>
              </p:cNvSpPr>
              <p:nvPr/>
            </p:nvSpPr>
            <p:spPr>
              <a:xfrm>
                <a:off x="2223358" y="1952113"/>
                <a:ext cx="3307187" cy="338554"/>
              </a:xfrm>
              <a:prstGeom prst="rect">
                <a:avLst/>
              </a:prstGeom>
              <a:blipFill>
                <a:blip r:embed="rId5"/>
                <a:stretch>
                  <a:fillRect l="-1107" t="-5357" b="-2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5530545" y="1952113"/>
                <a:ext cx="2268634" cy="338554"/>
              </a:xfrm>
              <a:prstGeom prst="rect">
                <a:avLst/>
              </a:prstGeom>
            </p:spPr>
            <p:txBody>
              <a:bodyPr wrap="none">
                <a:spAutoFit/>
              </a:bodyPr>
              <a:lstStyle/>
              <a:p>
                <a:r>
                  <a:rPr lang="zh-CN" altLang="zh-CN" sz="1600" dirty="0" smtClean="0">
                    <a:ea typeface="等线" panose="02010600030101010101" pitchFamily="2" charset="-122"/>
                    <a:cs typeface="Times New Roman" panose="02020603050405020304" pitchFamily="18" charset="0"/>
                  </a:rPr>
                  <a:t>速度：</a:t>
                </a:r>
                <a14:m>
                  <m:oMath xmlns:m="http://schemas.openxmlformats.org/officeDocument/2006/math">
                    <m:acc>
                      <m:accPr>
                        <m:chr m:val="̇"/>
                        <m:ctrlPr>
                          <a:rPr lang="zh-CN" altLang="zh-CN" sz="1600" i="1">
                            <a:effectLst/>
                            <a:latin typeface="Cambria Math" panose="02040503050406030204" pitchFamily="18" charset="0"/>
                            <a:ea typeface="Cambria Math" panose="02040503050406030204" pitchFamily="18" charset="0"/>
                          </a:rPr>
                        </m:ctrlPr>
                      </m:acc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𝑥</m:t>
                        </m:r>
                      </m:e>
                    </m:acc>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𝑑𝑥</m:t>
                    </m:r>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𝑑𝑡</m:t>
                    </m:r>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600" i="1">
                            <a:effectLst/>
                            <a:latin typeface="Cambria Math" panose="02040503050406030204" pitchFamily="18" charset="0"/>
                            <a:ea typeface="Cambria Math" panose="02040503050406030204" pitchFamily="18" charset="0"/>
                          </a:rPr>
                        </m:ctrlPr>
                      </m:sSupPr>
                      <m:e>
                        <m:r>
                          <a:rPr lang="en-US" altLang="zh-CN" sz="1600" i="1">
                            <a:latin typeface="Cambria Math" panose="02040503050406030204" pitchFamily="18" charset="0"/>
                            <a:ea typeface="等线" panose="02010600030101010101" pitchFamily="2" charset="-122"/>
                            <a:cs typeface="Times New Roman" panose="02020603050405020304" pitchFamily="18" charset="0"/>
                          </a:rPr>
                          <m:t>ℝ</m:t>
                        </m:r>
                      </m:e>
                      <m:sup>
                        <m:r>
                          <a:rPr lang="en-US" altLang="zh-CN" sz="1600" i="1">
                            <a:latin typeface="Cambria Math" panose="02040503050406030204" pitchFamily="18" charset="0"/>
                            <a:ea typeface="等线" panose="02010600030101010101" pitchFamily="2" charset="-122"/>
                            <a:cs typeface="Times New Roman" panose="02020603050405020304" pitchFamily="18" charset="0"/>
                          </a:rPr>
                          <m:t>𝑚</m:t>
                        </m:r>
                      </m:sup>
                    </m:sSup>
                  </m:oMath>
                </a14:m>
                <a:endParaRPr lang="zh-CN" altLang="en-US" sz="1600" dirty="0"/>
              </a:p>
            </p:txBody>
          </p:sp>
        </mc:Choice>
        <mc:Fallback xmlns="">
          <p:sp>
            <p:nvSpPr>
              <p:cNvPr id="10" name="矩形 9"/>
              <p:cNvSpPr>
                <a:spLocks noRot="1" noChangeAspect="1" noMove="1" noResize="1" noEditPoints="1" noAdjustHandles="1" noChangeArrowheads="1" noChangeShapeType="1" noTextEdit="1"/>
              </p:cNvSpPr>
              <p:nvPr/>
            </p:nvSpPr>
            <p:spPr>
              <a:xfrm>
                <a:off x="5530545" y="1952113"/>
                <a:ext cx="2268634" cy="338554"/>
              </a:xfrm>
              <a:prstGeom prst="rect">
                <a:avLst/>
              </a:prstGeom>
              <a:blipFill>
                <a:blip r:embed="rId6"/>
                <a:stretch>
                  <a:fillRect l="-1344" t="-5357" b="-21429"/>
                </a:stretch>
              </a:blipFill>
            </p:spPr>
            <p:txBody>
              <a:bodyPr/>
              <a:lstStyle/>
              <a:p>
                <a:r>
                  <a:rPr lang="zh-CN" altLang="en-US">
                    <a:noFill/>
                  </a:rPr>
                  <a:t> </a:t>
                </a:r>
              </a:p>
            </p:txBody>
          </p:sp>
        </mc:Fallback>
      </mc:AlternateContent>
      <p:sp>
        <p:nvSpPr>
          <p:cNvPr id="11" name="矩形 10"/>
          <p:cNvSpPr/>
          <p:nvPr/>
        </p:nvSpPr>
        <p:spPr>
          <a:xfrm>
            <a:off x="2287947" y="2389502"/>
            <a:ext cx="1005403" cy="338554"/>
          </a:xfrm>
          <a:prstGeom prst="rect">
            <a:avLst/>
          </a:prstGeom>
        </p:spPr>
        <p:txBody>
          <a:bodyPr wrap="none">
            <a:spAutoFit/>
          </a:bodyPr>
          <a:lstStyle/>
          <a:p>
            <a:r>
              <a:rPr lang="zh-CN" altLang="zh-CN" sz="1600" b="1" dirty="0">
                <a:solidFill>
                  <a:srgbClr val="002060"/>
                </a:solidFill>
                <a:ea typeface="等线" panose="02010600030101010101" pitchFamily="2" charset="-122"/>
                <a:cs typeface="Times New Roman" panose="02020603050405020304" pitchFamily="18" charset="0"/>
              </a:rPr>
              <a:t>正运动学</a:t>
            </a:r>
            <a:endParaRPr lang="zh-CN" altLang="en-US" sz="1600" b="1" dirty="0">
              <a:solidFill>
                <a:srgbClr val="002060"/>
              </a:solidFill>
            </a:endParaRPr>
          </a:p>
        </p:txBody>
      </p:sp>
      <mc:AlternateContent xmlns:mc="http://schemas.openxmlformats.org/markup-compatibility/2006" xmlns:a14="http://schemas.microsoft.com/office/drawing/2010/main">
        <mc:Choice Requires="a14">
          <p:sp>
            <p:nvSpPr>
              <p:cNvPr id="16" name="矩形 15"/>
              <p:cNvSpPr/>
              <p:nvPr/>
            </p:nvSpPr>
            <p:spPr>
              <a:xfrm>
                <a:off x="3293350" y="2356287"/>
                <a:ext cx="1552476" cy="3702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𝑥</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𝑡</m:t>
                          </m:r>
                        </m:e>
                      </m:d>
                      <m:r>
                        <a:rPr lang="zh-CN" altLang="en-US" sz="1600" i="0">
                          <a:latin typeface="Cambria Math" panose="02040503050406030204" pitchFamily="18" charset="0"/>
                        </a:rPr>
                        <m:t>=</m:t>
                      </m:r>
                      <m:r>
                        <a:rPr lang="zh-CN" altLang="en-US" sz="1600" i="1">
                          <a:latin typeface="Cambria Math" panose="02040503050406030204" pitchFamily="18" charset="0"/>
                        </a:rPr>
                        <m:t>𝑓</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𝜃</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𝑡</m:t>
                              </m:r>
                            </m:e>
                          </m:d>
                        </m:e>
                      </m:d>
                    </m:oMath>
                  </m:oMathPara>
                </a14:m>
                <a:endParaRPr lang="zh-CN" altLang="en-US" sz="1600" dirty="0"/>
              </a:p>
            </p:txBody>
          </p:sp>
        </mc:Choice>
        <mc:Fallback xmlns="">
          <p:sp>
            <p:nvSpPr>
              <p:cNvPr id="16" name="矩形 15"/>
              <p:cNvSpPr>
                <a:spLocks noRot="1" noChangeAspect="1" noMove="1" noResize="1" noEditPoints="1" noAdjustHandles="1" noChangeArrowheads="1" noChangeShapeType="1" noTextEdit="1"/>
              </p:cNvSpPr>
              <p:nvPr/>
            </p:nvSpPr>
            <p:spPr>
              <a:xfrm>
                <a:off x="3293350" y="2356287"/>
                <a:ext cx="1552476" cy="370294"/>
              </a:xfrm>
              <a:prstGeom prst="rect">
                <a:avLst/>
              </a:prstGeom>
              <a:blipFill>
                <a:blip r:embed="rId7"/>
                <a:stretch>
                  <a:fillRect b="-8333"/>
                </a:stretch>
              </a:blipFill>
            </p:spPr>
            <p:txBody>
              <a:bodyPr/>
              <a:lstStyle/>
              <a:p>
                <a:r>
                  <a:rPr lang="zh-CN" altLang="en-US">
                    <a:noFill/>
                  </a:rPr>
                  <a:t> </a:t>
                </a:r>
              </a:p>
            </p:txBody>
          </p:sp>
        </mc:Fallback>
      </mc:AlternateContent>
      <p:sp>
        <p:nvSpPr>
          <p:cNvPr id="17" name="矩形 16"/>
          <p:cNvSpPr/>
          <p:nvPr/>
        </p:nvSpPr>
        <p:spPr>
          <a:xfrm>
            <a:off x="2222752" y="2759796"/>
            <a:ext cx="2646878" cy="338554"/>
          </a:xfrm>
          <a:prstGeom prst="rect">
            <a:avLst/>
          </a:prstGeom>
        </p:spPr>
        <p:txBody>
          <a:bodyPr wrap="none">
            <a:spAutoFit/>
          </a:bodyPr>
          <a:lstStyle/>
          <a:p>
            <a:r>
              <a:rPr lang="zh-CN" altLang="zh-CN" sz="1600" dirty="0">
                <a:ea typeface="等线" panose="02010600030101010101" pitchFamily="2" charset="-122"/>
                <a:cs typeface="Times New Roman" panose="02020603050405020304" pitchFamily="18" charset="0"/>
              </a:rPr>
              <a:t>在时间轴上对其求一阶偏导</a:t>
            </a:r>
            <a:endParaRPr lang="zh-CN" altLang="en-US" sz="1600" dirty="0"/>
          </a:p>
        </p:txBody>
      </p:sp>
      <mc:AlternateContent xmlns:mc="http://schemas.openxmlformats.org/markup-compatibility/2006" xmlns:a14="http://schemas.microsoft.com/office/drawing/2010/main">
        <mc:Choice Requires="a14">
          <p:sp>
            <p:nvSpPr>
              <p:cNvPr id="21" name="矩形 20"/>
              <p:cNvSpPr/>
              <p:nvPr/>
            </p:nvSpPr>
            <p:spPr>
              <a:xfrm>
                <a:off x="3293350" y="3168482"/>
                <a:ext cx="3873304" cy="570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𝑥</m:t>
                          </m:r>
                        </m:e>
                      </m:acc>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d>
                            <m:dPr>
                              <m:begChr m:val=""/>
                              <m:ctrlPr>
                                <a:rPr lang="zh-CN" altLang="en-US" sz="1600" i="1">
                                  <a:latin typeface="Cambria Math" panose="02040503050406030204" pitchFamily="18" charset="0"/>
                                </a:rPr>
                              </m:ctrlPr>
                            </m:dPr>
                            <m:e>
                              <m:r>
                                <a:rPr lang="zh-CN" altLang="en-US" sz="1600" i="0">
                                  <a:latin typeface="Cambria Math" panose="02040503050406030204" pitchFamily="18" charset="0"/>
                                </a:rPr>
                                <m:t>𝜕</m:t>
                              </m:r>
                              <m:r>
                                <a:rPr lang="zh-CN" altLang="en-US" sz="1600" i="1">
                                  <a:latin typeface="Cambria Math" panose="02040503050406030204" pitchFamily="18" charset="0"/>
                                </a:rPr>
                                <m:t>𝑓</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𝜃</m:t>
                                  </m:r>
                                </m:e>
                              </m:d>
                              <m:r>
                                <a:rPr lang="zh-CN" altLang="en-US" sz="1600" i="1">
                                  <a:latin typeface="Cambria Math" panose="02040503050406030204" pitchFamily="18" charset="0"/>
                                </a:rPr>
                                <m:t>𝑑</m:t>
                              </m:r>
                              <m:r>
                                <a:rPr lang="zh-CN" altLang="en-US" sz="1600" i="1">
                                  <a:latin typeface="Cambria Math" panose="02040503050406030204" pitchFamily="18" charset="0"/>
                                </a:rPr>
                                <m:t>𝜃</m:t>
                              </m:r>
                              <m:r>
                                <a:rPr lang="zh-CN" altLang="en-US" sz="1600" i="0">
                                  <a:latin typeface="Cambria Math" panose="02040503050406030204" pitchFamily="18" charset="0"/>
                                </a:rPr>
                                <m:t>(</m:t>
                              </m:r>
                              <m:r>
                                <a:rPr lang="zh-CN" altLang="en-US" sz="1600" i="1">
                                  <a:latin typeface="Cambria Math" panose="02040503050406030204" pitchFamily="18" charset="0"/>
                                </a:rPr>
                                <m:t>𝑡</m:t>
                              </m:r>
                            </m:e>
                          </m:d>
                        </m:num>
                        <m:den>
                          <m:r>
                            <a:rPr lang="zh-CN" altLang="en-US" sz="1600" i="0">
                              <a:latin typeface="Cambria Math" panose="02040503050406030204" pitchFamily="18" charset="0"/>
                            </a:rPr>
                            <m:t>𝜕</m:t>
                          </m:r>
                          <m:r>
                            <a:rPr lang="zh-CN" altLang="en-US" sz="1600" i="1">
                              <a:latin typeface="Cambria Math" panose="02040503050406030204" pitchFamily="18" charset="0"/>
                            </a:rPr>
                            <m:t>𝜃</m:t>
                          </m:r>
                        </m:den>
                      </m:f>
                      <m:f>
                        <m:fPr>
                          <m:ctrlPr>
                            <a:rPr lang="zh-CN" altLang="en-US" sz="1600" i="1">
                              <a:latin typeface="Cambria Math" panose="02040503050406030204" pitchFamily="18" charset="0"/>
                            </a:rPr>
                          </m:ctrlPr>
                        </m:fPr>
                        <m:num>
                          <m:d>
                            <m:dPr>
                              <m:begChr m:val=""/>
                              <m:ctrlPr>
                                <a:rPr lang="zh-CN" altLang="en-US" sz="1600" i="1">
                                  <a:latin typeface="Cambria Math" panose="02040503050406030204" pitchFamily="18" charset="0"/>
                                </a:rPr>
                              </m:ctrlPr>
                            </m:dPr>
                            <m:e>
                              <m:r>
                                <a:rPr lang="zh-CN" altLang="en-US" sz="1600" i="1">
                                  <a:latin typeface="Cambria Math" panose="02040503050406030204" pitchFamily="18" charset="0"/>
                                </a:rPr>
                                <m:t>𝑑</m:t>
                              </m:r>
                              <m:r>
                                <a:rPr lang="zh-CN" altLang="en-US" sz="1600" i="1">
                                  <a:latin typeface="Cambria Math" panose="02040503050406030204" pitchFamily="18" charset="0"/>
                                </a:rPr>
                                <m:t>𝜃</m:t>
                              </m:r>
                              <m:r>
                                <a:rPr lang="zh-CN" altLang="en-US" sz="1600" i="0">
                                  <a:latin typeface="Cambria Math" panose="02040503050406030204" pitchFamily="18" charset="0"/>
                                </a:rPr>
                                <m:t>(</m:t>
                              </m:r>
                              <m:r>
                                <a:rPr lang="zh-CN" altLang="en-US" sz="1600" i="1">
                                  <a:latin typeface="Cambria Math" panose="02040503050406030204" pitchFamily="18" charset="0"/>
                                </a:rPr>
                                <m:t>𝑡</m:t>
                              </m:r>
                            </m:e>
                          </m:d>
                        </m:num>
                        <m:den>
                          <m:r>
                            <a:rPr lang="zh-CN" altLang="en-US" sz="1600" i="1">
                              <a:latin typeface="Cambria Math" panose="02040503050406030204" pitchFamily="18" charset="0"/>
                            </a:rPr>
                            <m:t>𝑑𝑡</m:t>
                          </m:r>
                        </m:den>
                      </m:f>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d>
                            <m:dPr>
                              <m:begChr m:val=""/>
                              <m:ctrlPr>
                                <a:rPr lang="zh-CN" altLang="en-US" sz="1600" i="1">
                                  <a:latin typeface="Cambria Math" panose="02040503050406030204" pitchFamily="18" charset="0"/>
                                </a:rPr>
                              </m:ctrlPr>
                            </m:dPr>
                            <m:e>
                              <m:r>
                                <a:rPr lang="zh-CN" altLang="en-US" sz="1600" i="0">
                                  <a:latin typeface="Cambria Math" panose="02040503050406030204" pitchFamily="18" charset="0"/>
                                </a:rPr>
                                <m:t>𝜕</m:t>
                              </m:r>
                              <m:r>
                                <a:rPr lang="zh-CN" altLang="en-US" sz="1600" i="1">
                                  <a:latin typeface="Cambria Math" panose="02040503050406030204" pitchFamily="18" charset="0"/>
                                </a:rPr>
                                <m:t>𝑓</m:t>
                              </m:r>
                              <m:r>
                                <a:rPr lang="zh-CN" altLang="en-US" sz="1600" i="0">
                                  <a:latin typeface="Cambria Math" panose="02040503050406030204" pitchFamily="18" charset="0"/>
                                </a:rPr>
                                <m:t>(</m:t>
                              </m:r>
                              <m:r>
                                <a:rPr lang="zh-CN" altLang="en-US" sz="1600" i="1">
                                  <a:latin typeface="Cambria Math" panose="02040503050406030204" pitchFamily="18" charset="0"/>
                                </a:rPr>
                                <m:t>𝜃</m:t>
                              </m:r>
                            </m:e>
                          </m:d>
                        </m:num>
                        <m:den>
                          <m:r>
                            <a:rPr lang="zh-CN" altLang="en-US" sz="1600" i="0">
                              <a:latin typeface="Cambria Math" panose="02040503050406030204" pitchFamily="18" charset="0"/>
                            </a:rPr>
                            <m:t>𝜕</m:t>
                          </m:r>
                          <m:r>
                            <a:rPr lang="zh-CN" altLang="en-US" sz="1600" i="1">
                              <a:latin typeface="Cambria Math" panose="02040503050406030204" pitchFamily="18" charset="0"/>
                            </a:rPr>
                            <m:t>𝜃</m:t>
                          </m:r>
                        </m:den>
                      </m:f>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𝜃</m:t>
                          </m:r>
                        </m:e>
                      </m:acc>
                      <m:r>
                        <a:rPr lang="zh-CN" altLang="en-US" sz="1600" i="0">
                          <a:latin typeface="Cambria Math" panose="02040503050406030204" pitchFamily="18" charset="0"/>
                        </a:rPr>
                        <m:t>=</m:t>
                      </m:r>
                      <m:r>
                        <a:rPr lang="zh-CN" altLang="en-US" sz="1600" i="1">
                          <a:latin typeface="Cambria Math" panose="02040503050406030204" pitchFamily="18" charset="0"/>
                        </a:rPr>
                        <m:t>𝐽</m:t>
                      </m:r>
                      <m:r>
                        <a:rPr lang="zh-CN" altLang="en-US" sz="1600" i="0">
                          <a:latin typeface="Cambria Math" panose="02040503050406030204" pitchFamily="18" charset="0"/>
                        </a:rPr>
                        <m:t>(</m:t>
                      </m:r>
                      <m:r>
                        <a:rPr lang="zh-CN" altLang="en-US" sz="1600" i="1">
                          <a:latin typeface="Cambria Math" panose="02040503050406030204" pitchFamily="18" charset="0"/>
                        </a:rPr>
                        <m:t>𝜃</m:t>
                      </m:r>
                      <m:r>
                        <a:rPr lang="zh-CN" altLang="en-US" sz="1600" i="0">
                          <a:latin typeface="Cambria Math" panose="02040503050406030204" pitchFamily="18" charset="0"/>
                        </a:rPr>
                        <m:t>)</m:t>
                      </m:r>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𝜃</m:t>
                          </m:r>
                        </m:e>
                      </m:acc>
                    </m:oMath>
                  </m:oMathPara>
                </a14:m>
                <a:endParaRPr lang="zh-CN" altLang="en-US" sz="1600" dirty="0"/>
              </a:p>
            </p:txBody>
          </p:sp>
        </mc:Choice>
        <mc:Fallback xmlns="">
          <p:sp>
            <p:nvSpPr>
              <p:cNvPr id="21" name="矩形 20"/>
              <p:cNvSpPr>
                <a:spLocks noRot="1" noChangeAspect="1" noMove="1" noResize="1" noEditPoints="1" noAdjustHandles="1" noChangeArrowheads="1" noChangeShapeType="1" noTextEdit="1"/>
              </p:cNvSpPr>
              <p:nvPr/>
            </p:nvSpPr>
            <p:spPr>
              <a:xfrm>
                <a:off x="3293350" y="3168482"/>
                <a:ext cx="3873304" cy="570221"/>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4117212" y="3856402"/>
                <a:ext cx="150483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b="1" i="1" smtClean="0">
                          <a:solidFill>
                            <a:srgbClr val="002060"/>
                          </a:solidFill>
                          <a:latin typeface="Cambria Math" panose="02040503050406030204" pitchFamily="18" charset="0"/>
                        </a:rPr>
                        <m:t>𝑱</m:t>
                      </m:r>
                      <m:r>
                        <a:rPr lang="zh-CN" altLang="en-US" b="1" i="0">
                          <a:solidFill>
                            <a:srgbClr val="002060"/>
                          </a:solidFill>
                          <a:latin typeface="Cambria Math" panose="02040503050406030204" pitchFamily="18" charset="0"/>
                        </a:rPr>
                        <m:t>(</m:t>
                      </m:r>
                      <m:r>
                        <a:rPr lang="zh-CN" altLang="en-US" b="1" i="1">
                          <a:solidFill>
                            <a:srgbClr val="002060"/>
                          </a:solidFill>
                          <a:latin typeface="Cambria Math" panose="02040503050406030204" pitchFamily="18" charset="0"/>
                        </a:rPr>
                        <m:t>𝜽</m:t>
                      </m:r>
                      <m:r>
                        <a:rPr lang="zh-CN" altLang="en-US" b="1" i="0">
                          <a:solidFill>
                            <a:srgbClr val="002060"/>
                          </a:solidFill>
                          <a:latin typeface="Cambria Math" panose="02040503050406030204" pitchFamily="18" charset="0"/>
                        </a:rPr>
                        <m:t>)∈</m:t>
                      </m:r>
                      <m:sSup>
                        <m:sSupPr>
                          <m:ctrlPr>
                            <a:rPr lang="zh-CN" altLang="en-US" b="1" i="1">
                              <a:solidFill>
                                <a:srgbClr val="002060"/>
                              </a:solidFill>
                              <a:latin typeface="Cambria Math" panose="02040503050406030204" pitchFamily="18" charset="0"/>
                            </a:rPr>
                          </m:ctrlPr>
                        </m:sSupPr>
                        <m:e>
                          <m:r>
                            <a:rPr lang="zh-CN" altLang="en-US" b="1" i="0">
                              <a:solidFill>
                                <a:srgbClr val="002060"/>
                              </a:solidFill>
                              <a:latin typeface="Cambria Math" panose="02040503050406030204" pitchFamily="18" charset="0"/>
                            </a:rPr>
                            <m:t>ℝ</m:t>
                          </m:r>
                        </m:e>
                        <m:sup>
                          <m:r>
                            <a:rPr lang="zh-CN" altLang="en-US" b="1" i="1">
                              <a:solidFill>
                                <a:srgbClr val="002060"/>
                              </a:solidFill>
                              <a:latin typeface="Cambria Math" panose="02040503050406030204" pitchFamily="18" charset="0"/>
                            </a:rPr>
                            <m:t>𝒎</m:t>
                          </m:r>
                          <m:r>
                            <a:rPr lang="zh-CN" altLang="en-US" b="1" i="0">
                              <a:solidFill>
                                <a:srgbClr val="002060"/>
                              </a:solidFill>
                              <a:latin typeface="Cambria Math" panose="02040503050406030204" pitchFamily="18" charset="0"/>
                            </a:rPr>
                            <m:t>×</m:t>
                          </m:r>
                          <m:r>
                            <a:rPr lang="zh-CN" altLang="en-US" b="1" i="1">
                              <a:solidFill>
                                <a:srgbClr val="002060"/>
                              </a:solidFill>
                              <a:latin typeface="Cambria Math" panose="02040503050406030204" pitchFamily="18" charset="0"/>
                            </a:rPr>
                            <m:t>𝒏</m:t>
                          </m:r>
                        </m:sup>
                      </m:sSup>
                    </m:oMath>
                  </m:oMathPara>
                </a14:m>
                <a:endParaRPr lang="zh-CN" altLang="en-US" b="1" dirty="0">
                  <a:solidFill>
                    <a:srgbClr val="002060"/>
                  </a:solidFill>
                </a:endParaRPr>
              </a:p>
            </p:txBody>
          </p:sp>
        </mc:Choice>
        <mc:Fallback xmlns="">
          <p:sp>
            <p:nvSpPr>
              <p:cNvPr id="23" name="矩形 22"/>
              <p:cNvSpPr>
                <a:spLocks noRot="1" noChangeAspect="1" noMove="1" noResize="1" noEditPoints="1" noAdjustHandles="1" noChangeArrowheads="1" noChangeShapeType="1" noTextEdit="1"/>
              </p:cNvSpPr>
              <p:nvPr/>
            </p:nvSpPr>
            <p:spPr>
              <a:xfrm>
                <a:off x="4117212" y="3856402"/>
                <a:ext cx="1504836" cy="369332"/>
              </a:xfrm>
              <a:prstGeom prst="rect">
                <a:avLst/>
              </a:prstGeom>
              <a:blipFill>
                <a:blip r:embed="rId9"/>
                <a:stretch>
                  <a:fillRect b="-13333"/>
                </a:stretch>
              </a:blipFill>
            </p:spPr>
            <p:txBody>
              <a:bodyPr/>
              <a:lstStyle/>
              <a:p>
                <a:r>
                  <a:rPr lang="zh-CN" altLang="en-US">
                    <a:noFill/>
                  </a:rPr>
                  <a:t> </a:t>
                </a:r>
              </a:p>
            </p:txBody>
          </p:sp>
        </mc:Fallback>
      </mc:AlternateContent>
      <p:sp>
        <p:nvSpPr>
          <p:cNvPr id="27" name="矩形标注 26"/>
          <p:cNvSpPr/>
          <p:nvPr/>
        </p:nvSpPr>
        <p:spPr>
          <a:xfrm>
            <a:off x="6444208" y="3363838"/>
            <a:ext cx="432048" cy="288032"/>
          </a:xfrm>
          <a:prstGeom prst="wedgeRectCallout">
            <a:avLst>
              <a:gd name="adj1" fmla="val -224305"/>
              <a:gd name="adj2" fmla="val 15688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1741590" y="4415990"/>
            <a:ext cx="6014753" cy="338554"/>
          </a:xfrm>
          <a:prstGeom prst="rect">
            <a:avLst/>
          </a:prstGeom>
        </p:spPr>
        <p:txBody>
          <a:bodyPr wrap="square">
            <a:spAutoFit/>
          </a:bodyPr>
          <a:lstStyle/>
          <a:p>
            <a:r>
              <a:rPr lang="zh-CN" altLang="zh-CN" sz="1600" b="1" dirty="0">
                <a:solidFill>
                  <a:srgbClr val="002060"/>
                </a:solidFill>
                <a:ea typeface="等线" panose="02010600030101010101" pitchFamily="2" charset="-122"/>
                <a:cs typeface="Times New Roman" panose="02020603050405020304" pitchFamily="18" charset="0"/>
              </a:rPr>
              <a:t>该矩阵可表示末端执行器速度针对各关节速度的线性逼近。</a:t>
            </a:r>
            <a:endParaRPr lang="zh-CN" altLang="en-US" sz="1600" b="1" dirty="0">
              <a:solidFill>
                <a:srgbClr val="002060"/>
              </a:solidFill>
            </a:endParaRPr>
          </a:p>
        </p:txBody>
      </p:sp>
    </p:spTree>
    <p:extLst>
      <p:ext uri="{BB962C8B-B14F-4D97-AF65-F5344CB8AC3E}">
        <p14:creationId xmlns:p14="http://schemas.microsoft.com/office/powerpoint/2010/main" val="197691998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178137" y="803488"/>
            <a:ext cx="5706231" cy="400110"/>
          </a:xfrm>
          <a:prstGeom prst="rect">
            <a:avLst/>
          </a:prstGeom>
        </p:spPr>
        <p:txBody>
          <a:bodyPr wrap="square">
            <a:spAutoFit/>
          </a:bodyPr>
          <a:lstStyle/>
          <a:p>
            <a:r>
              <a:rPr lang="zh-CN" altLang="en-US" sz="2000" b="1" dirty="0">
                <a:solidFill>
                  <a:srgbClr val="002060"/>
                </a:solidFill>
              </a:rPr>
              <a:t>机器人雅可比矩阵</a:t>
            </a:r>
            <a:r>
              <a:rPr lang="en-US" altLang="zh-CN" sz="2000" b="1" dirty="0">
                <a:solidFill>
                  <a:srgbClr val="002060"/>
                </a:solidFill>
              </a:rPr>
              <a:t>(Jacobian Matrix of Robots)</a:t>
            </a:r>
            <a:endParaRPr lang="zh-CN" altLang="en-US" sz="2000" b="1" dirty="0">
              <a:solidFill>
                <a:srgbClr val="002060"/>
              </a:solidFill>
            </a:endParaRPr>
          </a:p>
        </p:txBody>
      </p:sp>
      <p:pic>
        <p:nvPicPr>
          <p:cNvPr id="19" name="图片 18"/>
          <p:cNvPicPr/>
          <p:nvPr/>
        </p:nvPicPr>
        <p:blipFill>
          <a:blip r:embed="rId3">
            <a:extLst>
              <a:ext uri="{28A0092B-C50C-407E-A947-70E740481C1C}">
                <a14:useLocalDpi xmlns:a14="http://schemas.microsoft.com/office/drawing/2010/main" val="0"/>
              </a:ext>
            </a:extLst>
          </a:blip>
          <a:srcRect/>
          <a:stretch>
            <a:fillRect/>
          </a:stretch>
        </p:blipFill>
        <p:spPr bwMode="auto">
          <a:xfrm>
            <a:off x="755576" y="1563638"/>
            <a:ext cx="2561590" cy="2296160"/>
          </a:xfrm>
          <a:prstGeom prst="rect">
            <a:avLst/>
          </a:prstGeom>
          <a:noFill/>
        </p:spPr>
      </p:pic>
      <p:sp>
        <p:nvSpPr>
          <p:cNvPr id="13" name="矩形 12"/>
          <p:cNvSpPr/>
          <p:nvPr/>
        </p:nvSpPr>
        <p:spPr>
          <a:xfrm>
            <a:off x="946870" y="3881284"/>
            <a:ext cx="2462534" cy="338554"/>
          </a:xfrm>
          <a:prstGeom prst="rect">
            <a:avLst/>
          </a:prstGeom>
        </p:spPr>
        <p:txBody>
          <a:bodyPr wrap="none">
            <a:spAutoFit/>
          </a:bodyPr>
          <a:lstStyle/>
          <a:p>
            <a:r>
              <a:rPr lang="zh-CN" altLang="en-US" sz="1600" dirty="0" smtClean="0">
                <a:solidFill>
                  <a:srgbClr val="002060"/>
                </a:solidFill>
                <a:latin typeface="等线" panose="02010600030101010101" pitchFamily="2" charset="-122"/>
                <a:cs typeface="Times New Roman" panose="02020603050405020304" pitchFamily="18" charset="0"/>
              </a:rPr>
              <a:t>举例：</a:t>
            </a:r>
            <a:r>
              <a:rPr lang="en-US" altLang="zh-CN" sz="1600" dirty="0" smtClean="0">
                <a:solidFill>
                  <a:srgbClr val="002060"/>
                </a:solidFill>
                <a:latin typeface="等线" panose="02010600030101010101" pitchFamily="2" charset="-122"/>
                <a:cs typeface="Times New Roman" panose="02020603050405020304" pitchFamily="18" charset="0"/>
              </a:rPr>
              <a:t>2R</a:t>
            </a:r>
            <a:r>
              <a:rPr lang="zh-CN" altLang="zh-CN" sz="1600" dirty="0">
                <a:solidFill>
                  <a:srgbClr val="002060"/>
                </a:solidFill>
                <a:ea typeface="等线" panose="02010600030101010101" pitchFamily="2" charset="-122"/>
                <a:cs typeface="Times New Roman" panose="02020603050405020304" pitchFamily="18" charset="0"/>
              </a:rPr>
              <a:t>平面串联机械臂</a:t>
            </a:r>
            <a:endParaRPr lang="zh-CN" altLang="en-US" sz="1600" dirty="0">
              <a:solidFill>
                <a:srgbClr val="002060"/>
              </a:solidFill>
            </a:endParaRPr>
          </a:p>
        </p:txBody>
      </p:sp>
      <mc:AlternateContent xmlns:mc="http://schemas.openxmlformats.org/markup-compatibility/2006" xmlns:a14="http://schemas.microsoft.com/office/drawing/2010/main">
        <mc:Choice Requires="a14">
          <p:sp>
            <p:nvSpPr>
              <p:cNvPr id="14" name="矩形 13"/>
              <p:cNvSpPr/>
              <p:nvPr/>
            </p:nvSpPr>
            <p:spPr>
              <a:xfrm>
                <a:off x="3995936" y="1331101"/>
                <a:ext cx="2903680" cy="3734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600" i="1">
                              <a:latin typeface="Cambria Math" panose="02040503050406030204" pitchFamily="18" charset="0"/>
                            </a:rPr>
                          </m:ctrlPr>
                        </m:dPr>
                        <m:e>
                          <m:r>
                            <a:rPr lang="zh-CN" altLang="en-US" sz="1600" i="1">
                              <a:latin typeface="Cambria Math" panose="02040503050406030204" pitchFamily="18" charset="0"/>
                            </a:rPr>
                            <m:t>𝑥</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𝐿</m:t>
                              </m:r>
                            </m:e>
                            <m:sub>
                              <m:r>
                                <a:rPr lang="zh-CN" altLang="en-US" sz="1600" i="0">
                                  <a:latin typeface="Cambria Math" panose="02040503050406030204" pitchFamily="18" charset="0"/>
                                </a:rPr>
                                <m:t>1</m:t>
                              </m:r>
                            </m:sub>
                          </m:sSub>
                          <m:r>
                            <a:rPr lang="zh-CN" altLang="en-US" sz="1600" i="1">
                              <a:latin typeface="Cambria Math" panose="02040503050406030204" pitchFamily="18" charset="0"/>
                            </a:rPr>
                            <m:t>𝑐𝑜𝑠</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𝐿</m:t>
                              </m:r>
                            </m:e>
                            <m:sub>
                              <m:r>
                                <a:rPr lang="zh-CN" altLang="en-US" sz="1600" i="0">
                                  <a:latin typeface="Cambria Math" panose="02040503050406030204" pitchFamily="18" charset="0"/>
                                </a:rPr>
                                <m:t>2</m:t>
                              </m:r>
                            </m:sub>
                          </m:sSub>
                          <m:r>
                            <a:rPr lang="zh-CN" altLang="en-US" sz="1600" i="1">
                              <a:latin typeface="Cambria Math" panose="02040503050406030204" pitchFamily="18" charset="0"/>
                            </a:rPr>
                            <m:t>𝑐𝑜𝑠</m:t>
                          </m:r>
                          <m:sSub>
                            <m:sSubPr>
                              <m:ctrlPr>
                                <a:rPr lang="zh-CN" altLang="en-US" sz="1600" i="1">
                                  <a:latin typeface="Cambria Math" panose="02040503050406030204" pitchFamily="18" charset="0"/>
                                </a:rPr>
                              </m:ctrlPr>
                            </m:sSubPr>
                            <m:e>
                              <m:d>
                                <m:dPr>
                                  <m:endChr m:val=""/>
                                  <m:ctrlPr>
                                    <a:rPr lang="zh-CN" altLang="en-US" sz="1600" i="1">
                                      <a:latin typeface="Cambria Math" panose="02040503050406030204" pitchFamily="18" charset="0"/>
                                    </a:rPr>
                                  </m:ctrlPr>
                                </m:dPr>
                                <m:e>
                                  <m:r>
                                    <a:rPr lang="zh-CN" altLang="en-US" sz="1600" i="1">
                                      <a:latin typeface="Cambria Math" panose="02040503050406030204" pitchFamily="18" charset="0"/>
                                    </a:rPr>
                                    <m:t>𝜃</m:t>
                                  </m:r>
                                </m:e>
                              </m:d>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2</m:t>
                              </m:r>
                            </m:sub>
                          </m:sSub>
                        </m:e>
                      </m:d>
                    </m:oMath>
                  </m:oMathPara>
                </a14:m>
                <a:endParaRPr lang="zh-CN" altLang="en-US" sz="1600" dirty="0"/>
              </a:p>
            </p:txBody>
          </p:sp>
        </mc:Choice>
        <mc:Fallback xmlns="">
          <p:sp>
            <p:nvSpPr>
              <p:cNvPr id="14" name="矩形 13"/>
              <p:cNvSpPr>
                <a:spLocks noRot="1" noChangeAspect="1" noMove="1" noResize="1" noEditPoints="1" noAdjustHandles="1" noChangeArrowheads="1" noChangeShapeType="1" noTextEdit="1"/>
              </p:cNvSpPr>
              <p:nvPr/>
            </p:nvSpPr>
            <p:spPr>
              <a:xfrm>
                <a:off x="3995936" y="1331101"/>
                <a:ext cx="2903680" cy="373436"/>
              </a:xfrm>
              <a:prstGeom prst="rect">
                <a:avLst/>
              </a:prstGeom>
              <a:blipFill>
                <a:blip r:embed="rId4"/>
                <a:stretch>
                  <a:fillRect t="-140323" r="-18487" b="-2129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3995936" y="1627753"/>
                <a:ext cx="2864309" cy="3734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600" i="1">
                              <a:latin typeface="Cambria Math" panose="02040503050406030204" pitchFamily="18" charset="0"/>
                            </a:rPr>
                          </m:ctrlPr>
                        </m:dPr>
                        <m:e>
                          <m:r>
                            <a:rPr lang="zh-CN" altLang="en-US" sz="1600" i="1">
                              <a:latin typeface="Cambria Math" panose="02040503050406030204" pitchFamily="18" charset="0"/>
                            </a:rPr>
                            <m:t>𝑦</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𝐿</m:t>
                              </m:r>
                            </m:e>
                            <m:sub>
                              <m:r>
                                <a:rPr lang="zh-CN" altLang="en-US" sz="1600" i="0">
                                  <a:latin typeface="Cambria Math" panose="02040503050406030204" pitchFamily="18" charset="0"/>
                                </a:rPr>
                                <m:t>1</m:t>
                              </m:r>
                            </m:sub>
                          </m:sSub>
                          <m:r>
                            <a:rPr lang="zh-CN" altLang="en-US" sz="1600" i="1">
                              <a:latin typeface="Cambria Math" panose="02040503050406030204" pitchFamily="18" charset="0"/>
                            </a:rPr>
                            <m:t>𝑠𝑖𝑛</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𝐿</m:t>
                              </m:r>
                            </m:e>
                            <m:sub>
                              <m:r>
                                <a:rPr lang="zh-CN" altLang="en-US" sz="1600" i="0">
                                  <a:latin typeface="Cambria Math" panose="02040503050406030204" pitchFamily="18" charset="0"/>
                                </a:rPr>
                                <m:t>2</m:t>
                              </m:r>
                            </m:sub>
                          </m:sSub>
                          <m:r>
                            <a:rPr lang="zh-CN" altLang="en-US" sz="1600" i="1">
                              <a:latin typeface="Cambria Math" panose="02040503050406030204" pitchFamily="18" charset="0"/>
                            </a:rPr>
                            <m:t>𝑠𝑖𝑛</m:t>
                          </m:r>
                          <m:sSub>
                            <m:sSubPr>
                              <m:ctrlPr>
                                <a:rPr lang="zh-CN" altLang="en-US" sz="1600" i="1">
                                  <a:latin typeface="Cambria Math" panose="02040503050406030204" pitchFamily="18" charset="0"/>
                                </a:rPr>
                              </m:ctrlPr>
                            </m:sSubPr>
                            <m:e>
                              <m:d>
                                <m:dPr>
                                  <m:endChr m:val=""/>
                                  <m:ctrlPr>
                                    <a:rPr lang="zh-CN" altLang="en-US" sz="1600" i="1">
                                      <a:latin typeface="Cambria Math" panose="02040503050406030204" pitchFamily="18" charset="0"/>
                                    </a:rPr>
                                  </m:ctrlPr>
                                </m:dPr>
                                <m:e>
                                  <m:r>
                                    <a:rPr lang="zh-CN" altLang="en-US" sz="1600" i="1">
                                      <a:latin typeface="Cambria Math" panose="02040503050406030204" pitchFamily="18" charset="0"/>
                                    </a:rPr>
                                    <m:t>𝜃</m:t>
                                  </m:r>
                                </m:e>
                              </m:d>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2</m:t>
                              </m:r>
                            </m:sub>
                          </m:sSub>
                        </m:e>
                      </m:d>
                    </m:oMath>
                  </m:oMathPara>
                </a14:m>
                <a:endParaRPr lang="zh-CN" altLang="en-US" sz="1600" dirty="0"/>
              </a:p>
            </p:txBody>
          </p:sp>
        </mc:Choice>
        <mc:Fallback xmlns="">
          <p:sp>
            <p:nvSpPr>
              <p:cNvPr id="15" name="矩形 14"/>
              <p:cNvSpPr>
                <a:spLocks noRot="1" noChangeAspect="1" noMove="1" noResize="1" noEditPoints="1" noAdjustHandles="1" noChangeArrowheads="1" noChangeShapeType="1" noTextEdit="1"/>
              </p:cNvSpPr>
              <p:nvPr/>
            </p:nvSpPr>
            <p:spPr>
              <a:xfrm>
                <a:off x="3995936" y="1627753"/>
                <a:ext cx="2864309" cy="373436"/>
              </a:xfrm>
              <a:prstGeom prst="rect">
                <a:avLst/>
              </a:prstGeom>
              <a:blipFill>
                <a:blip r:embed="rId5"/>
                <a:stretch>
                  <a:fillRect t="-142623" r="-18977" b="-218033"/>
                </a:stretch>
              </a:blipFill>
            </p:spPr>
            <p:txBody>
              <a:bodyPr/>
              <a:lstStyle/>
              <a:p>
                <a:r>
                  <a:rPr lang="zh-CN" altLang="en-US">
                    <a:noFill/>
                  </a:rPr>
                  <a:t> </a:t>
                </a:r>
              </a:p>
            </p:txBody>
          </p:sp>
        </mc:Fallback>
      </mc:AlternateContent>
      <p:sp>
        <p:nvSpPr>
          <p:cNvPr id="18" name="矩形 17"/>
          <p:cNvSpPr/>
          <p:nvPr/>
        </p:nvSpPr>
        <p:spPr>
          <a:xfrm>
            <a:off x="5290585" y="1973721"/>
            <a:ext cx="1415772" cy="338554"/>
          </a:xfrm>
          <a:prstGeom prst="rect">
            <a:avLst/>
          </a:prstGeom>
        </p:spPr>
        <p:txBody>
          <a:bodyPr wrap="none">
            <a:spAutoFit/>
          </a:bodyPr>
          <a:lstStyle/>
          <a:p>
            <a:r>
              <a:rPr lang="zh-CN" altLang="zh-CN" sz="1600">
                <a:solidFill>
                  <a:srgbClr val="002060"/>
                </a:solidFill>
                <a:ea typeface="等线" panose="02010600030101010101" pitchFamily="2" charset="-122"/>
                <a:cs typeface="Times New Roman" panose="02020603050405020304" pitchFamily="18" charset="0"/>
              </a:rPr>
              <a:t>关于时间微分</a:t>
            </a:r>
            <a:endParaRPr lang="zh-CN" altLang="en-US" sz="1600">
              <a:solidFill>
                <a:srgbClr val="002060"/>
              </a:solidFill>
            </a:endParaRPr>
          </a:p>
        </p:txBody>
      </p:sp>
      <mc:AlternateContent xmlns:mc="http://schemas.openxmlformats.org/markup-compatibility/2006" xmlns:a14="http://schemas.microsoft.com/office/drawing/2010/main">
        <mc:Choice Requires="a14">
          <p:sp>
            <p:nvSpPr>
              <p:cNvPr id="20" name="矩形 19"/>
              <p:cNvSpPr/>
              <p:nvPr/>
            </p:nvSpPr>
            <p:spPr>
              <a:xfrm>
                <a:off x="3782989" y="2218826"/>
                <a:ext cx="4101379" cy="4928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600" i="1">
                              <a:latin typeface="Cambria Math" panose="02040503050406030204" pitchFamily="18" charset="0"/>
                            </a:rPr>
                          </m:ctrlPr>
                        </m:d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𝑥</m:t>
                              </m:r>
                            </m:e>
                          </m:acc>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𝐿</m:t>
                              </m:r>
                            </m:e>
                            <m:sub>
                              <m:r>
                                <a:rPr lang="zh-CN" altLang="en-US" sz="1600" i="0">
                                  <a:latin typeface="Cambria Math" panose="02040503050406030204" pitchFamily="18" charset="0"/>
                                </a:rPr>
                                <m:t>1</m:t>
                              </m:r>
                            </m:sub>
                          </m:sSub>
                          <m:acc>
                            <m:accPr>
                              <m:chr m:val="̇"/>
                              <m:ctrlPr>
                                <a:rPr lang="zh-CN" altLang="en-US" sz="1600" i="1">
                                  <a:latin typeface="Cambria Math" panose="02040503050406030204" pitchFamily="18" charset="0"/>
                                </a:rPr>
                              </m:ctrlPr>
                            </m:acc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1</m:t>
                                  </m:r>
                                </m:sub>
                              </m:sSub>
                            </m:e>
                          </m:acc>
                          <m:r>
                            <a:rPr lang="zh-CN" altLang="en-US" sz="1600" i="1">
                              <a:latin typeface="Cambria Math" panose="02040503050406030204" pitchFamily="18" charset="0"/>
                            </a:rPr>
                            <m:t>𝑠𝑖𝑛</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𝐿</m:t>
                              </m:r>
                            </m:e>
                            <m:sub>
                              <m:r>
                                <a:rPr lang="zh-CN" altLang="en-US" sz="1600" i="0">
                                  <a:latin typeface="Cambria Math" panose="02040503050406030204" pitchFamily="18" charset="0"/>
                                </a:rPr>
                                <m:t>2</m:t>
                              </m:r>
                            </m:sub>
                          </m:sSub>
                          <m:sSub>
                            <m:sSubPr>
                              <m:ctrlPr>
                                <a:rPr lang="zh-CN" altLang="en-US" sz="1600" i="1">
                                  <a:latin typeface="Cambria Math" panose="02040503050406030204" pitchFamily="18" charset="0"/>
                                </a:rPr>
                              </m:ctrlPr>
                            </m:sSubPr>
                            <m:e>
                              <m:d>
                                <m:dPr>
                                  <m:endChr m:val=""/>
                                  <m:ctrlPr>
                                    <a:rPr lang="zh-CN" altLang="en-US" sz="1600" i="1">
                                      <a:latin typeface="Cambria Math" panose="02040503050406030204" pitchFamily="18" charset="0"/>
                                    </a:rPr>
                                  </m:ctrlPr>
                                </m:d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𝜃</m:t>
                                      </m:r>
                                    </m:e>
                                  </m:acc>
                                </m:e>
                              </m:d>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acc>
                            <m:accPr>
                              <m:chr m:val="̇"/>
                              <m:ctrlPr>
                                <a:rPr lang="zh-CN" altLang="en-US" sz="1600" i="1">
                                  <a:latin typeface="Cambria Math" panose="02040503050406030204" pitchFamily="18" charset="0"/>
                                </a:rPr>
                              </m:ctrlPr>
                            </m:acc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2</m:t>
                                  </m:r>
                                </m:sub>
                              </m:sSub>
                            </m:e>
                          </m:acc>
                          <m:r>
                            <a:rPr lang="zh-CN" altLang="en-US" sz="1600" i="0">
                              <a:latin typeface="Cambria Math" panose="02040503050406030204" pitchFamily="18" charset="0"/>
                            </a:rPr>
                            <m:t>)</m:t>
                          </m:r>
                          <m:r>
                            <a:rPr lang="zh-CN" altLang="en-US" sz="1600" i="1">
                              <a:latin typeface="Cambria Math" panose="02040503050406030204" pitchFamily="18" charset="0"/>
                            </a:rPr>
                            <m:t>𝑠𝑖𝑛</m:t>
                          </m:r>
                          <m:sSub>
                            <m:sSubPr>
                              <m:ctrlPr>
                                <a:rPr lang="zh-CN" altLang="en-US" sz="1600" i="1">
                                  <a:latin typeface="Cambria Math" panose="02040503050406030204" pitchFamily="18" charset="0"/>
                                </a:rPr>
                              </m:ctrlPr>
                            </m:sSubPr>
                            <m:e>
                              <m:d>
                                <m:dPr>
                                  <m:endChr m:val=""/>
                                  <m:ctrlPr>
                                    <a:rPr lang="zh-CN" altLang="en-US" sz="1600" i="1">
                                      <a:latin typeface="Cambria Math" panose="02040503050406030204" pitchFamily="18" charset="0"/>
                                    </a:rPr>
                                  </m:ctrlPr>
                                </m:dPr>
                                <m:e>
                                  <m:r>
                                    <a:rPr lang="zh-CN" altLang="en-US" sz="1600" i="1">
                                      <a:latin typeface="Cambria Math" panose="02040503050406030204" pitchFamily="18" charset="0"/>
                                    </a:rPr>
                                    <m:t>𝜃</m:t>
                                  </m:r>
                                </m:e>
                              </m:d>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2</m:t>
                              </m:r>
                            </m:sub>
                          </m:sSub>
                        </m:e>
                      </m:d>
                    </m:oMath>
                  </m:oMathPara>
                </a14:m>
                <a:endParaRPr lang="zh-CN" altLang="en-US" sz="1600" dirty="0"/>
              </a:p>
            </p:txBody>
          </p:sp>
        </mc:Choice>
        <mc:Fallback xmlns="">
          <p:sp>
            <p:nvSpPr>
              <p:cNvPr id="20" name="矩形 19"/>
              <p:cNvSpPr>
                <a:spLocks noRot="1" noChangeAspect="1" noMove="1" noResize="1" noEditPoints="1" noAdjustHandles="1" noChangeArrowheads="1" noChangeShapeType="1" noTextEdit="1"/>
              </p:cNvSpPr>
              <p:nvPr/>
            </p:nvSpPr>
            <p:spPr>
              <a:xfrm>
                <a:off x="3782989" y="2218826"/>
                <a:ext cx="4101379" cy="492892"/>
              </a:xfrm>
              <a:prstGeom prst="rect">
                <a:avLst/>
              </a:prstGeom>
              <a:blipFill>
                <a:blip r:embed="rId6"/>
                <a:stretch>
                  <a:fillRect t="-153086" r="-18452" b="-2234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3759300" y="2515478"/>
                <a:ext cx="3994299" cy="4928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600" i="1">
                              <a:latin typeface="Cambria Math" panose="02040503050406030204" pitchFamily="18" charset="0"/>
                            </a:rPr>
                          </m:ctrlPr>
                        </m:d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𝑦</m:t>
                              </m:r>
                            </m:e>
                          </m:acc>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𝐿</m:t>
                              </m:r>
                            </m:e>
                            <m:sub>
                              <m:r>
                                <a:rPr lang="zh-CN" altLang="en-US" sz="1600" i="0">
                                  <a:latin typeface="Cambria Math" panose="02040503050406030204" pitchFamily="18" charset="0"/>
                                </a:rPr>
                                <m:t>1</m:t>
                              </m:r>
                            </m:sub>
                          </m:sSub>
                          <m:acc>
                            <m:accPr>
                              <m:chr m:val="̇"/>
                              <m:ctrlPr>
                                <a:rPr lang="zh-CN" altLang="en-US" sz="1600" i="1">
                                  <a:latin typeface="Cambria Math" panose="02040503050406030204" pitchFamily="18" charset="0"/>
                                </a:rPr>
                              </m:ctrlPr>
                            </m:acc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1</m:t>
                                  </m:r>
                                </m:sub>
                              </m:sSub>
                            </m:e>
                          </m:acc>
                          <m:r>
                            <a:rPr lang="zh-CN" altLang="en-US" sz="1600" i="1">
                              <a:latin typeface="Cambria Math" panose="02040503050406030204" pitchFamily="18" charset="0"/>
                            </a:rPr>
                            <m:t>𝑐𝑜𝑠</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𝐿</m:t>
                              </m:r>
                            </m:e>
                            <m:sub>
                              <m:r>
                                <a:rPr lang="zh-CN" altLang="en-US" sz="1600" i="0">
                                  <a:latin typeface="Cambria Math" panose="02040503050406030204" pitchFamily="18" charset="0"/>
                                </a:rPr>
                                <m:t>2</m:t>
                              </m:r>
                            </m:sub>
                          </m:sSub>
                          <m:sSub>
                            <m:sSubPr>
                              <m:ctrlPr>
                                <a:rPr lang="zh-CN" altLang="en-US" sz="1600" i="1">
                                  <a:latin typeface="Cambria Math" panose="02040503050406030204" pitchFamily="18" charset="0"/>
                                </a:rPr>
                              </m:ctrlPr>
                            </m:sSubPr>
                            <m:e>
                              <m:d>
                                <m:dPr>
                                  <m:endChr m:val=""/>
                                  <m:ctrlPr>
                                    <a:rPr lang="zh-CN" altLang="en-US" sz="1600" i="1">
                                      <a:latin typeface="Cambria Math" panose="02040503050406030204" pitchFamily="18" charset="0"/>
                                    </a:rPr>
                                  </m:ctrlPr>
                                </m:d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𝜃</m:t>
                                      </m:r>
                                    </m:e>
                                  </m:acc>
                                </m:e>
                              </m:d>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acc>
                            <m:accPr>
                              <m:chr m:val="̇"/>
                              <m:ctrlPr>
                                <a:rPr lang="zh-CN" altLang="en-US" sz="1600" i="1">
                                  <a:latin typeface="Cambria Math" panose="02040503050406030204" pitchFamily="18" charset="0"/>
                                </a:rPr>
                              </m:ctrlPr>
                            </m:acc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2</m:t>
                                  </m:r>
                                </m:sub>
                              </m:sSub>
                            </m:e>
                          </m:acc>
                          <m:r>
                            <a:rPr lang="zh-CN" altLang="en-US" sz="1600" i="0">
                              <a:latin typeface="Cambria Math" panose="02040503050406030204" pitchFamily="18" charset="0"/>
                            </a:rPr>
                            <m:t>)</m:t>
                          </m:r>
                          <m:r>
                            <a:rPr lang="zh-CN" altLang="en-US" sz="1600" i="1">
                              <a:latin typeface="Cambria Math" panose="02040503050406030204" pitchFamily="18" charset="0"/>
                            </a:rPr>
                            <m:t>𝑐𝑜𝑠</m:t>
                          </m:r>
                          <m:sSub>
                            <m:sSubPr>
                              <m:ctrlPr>
                                <a:rPr lang="zh-CN" altLang="en-US" sz="1600" i="1">
                                  <a:latin typeface="Cambria Math" panose="02040503050406030204" pitchFamily="18" charset="0"/>
                                </a:rPr>
                              </m:ctrlPr>
                            </m:sSubPr>
                            <m:e>
                              <m:d>
                                <m:dPr>
                                  <m:endChr m:val=""/>
                                  <m:ctrlPr>
                                    <a:rPr lang="zh-CN" altLang="en-US" sz="1600" i="1">
                                      <a:latin typeface="Cambria Math" panose="02040503050406030204" pitchFamily="18" charset="0"/>
                                    </a:rPr>
                                  </m:ctrlPr>
                                </m:dPr>
                                <m:e>
                                  <m:r>
                                    <a:rPr lang="zh-CN" altLang="en-US" sz="1600" i="1">
                                      <a:latin typeface="Cambria Math" panose="02040503050406030204" pitchFamily="18" charset="0"/>
                                    </a:rPr>
                                    <m:t>𝜃</m:t>
                                  </m:r>
                                </m:e>
                              </m:d>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2</m:t>
                              </m:r>
                            </m:sub>
                          </m:sSub>
                        </m:e>
                      </m:d>
                    </m:oMath>
                  </m:oMathPara>
                </a14:m>
                <a:endParaRPr lang="zh-CN" altLang="en-US" sz="1600" dirty="0"/>
              </a:p>
            </p:txBody>
          </p:sp>
        </mc:Choice>
        <mc:Fallback xmlns="">
          <p:sp>
            <p:nvSpPr>
              <p:cNvPr id="22" name="矩形 21"/>
              <p:cNvSpPr>
                <a:spLocks noRot="1" noChangeAspect="1" noMove="1" noResize="1" noEditPoints="1" noAdjustHandles="1" noChangeArrowheads="1" noChangeShapeType="1" noTextEdit="1"/>
              </p:cNvSpPr>
              <p:nvPr/>
            </p:nvSpPr>
            <p:spPr>
              <a:xfrm>
                <a:off x="3759300" y="2515478"/>
                <a:ext cx="3994299" cy="492892"/>
              </a:xfrm>
              <a:prstGeom prst="rect">
                <a:avLst/>
              </a:prstGeom>
              <a:blipFill>
                <a:blip r:embed="rId7"/>
                <a:stretch>
                  <a:fillRect t="-155000" r="-18931" b="-227500"/>
                </a:stretch>
              </a:blipFill>
            </p:spPr>
            <p:txBody>
              <a:bodyPr/>
              <a:lstStyle/>
              <a:p>
                <a:r>
                  <a:rPr lang="zh-CN" altLang="en-US">
                    <a:noFill/>
                  </a:rPr>
                  <a:t> </a:t>
                </a:r>
              </a:p>
            </p:txBody>
          </p:sp>
        </mc:Fallback>
      </mc:AlternateContent>
      <p:sp>
        <p:nvSpPr>
          <p:cNvPr id="24" name="下箭头 23"/>
          <p:cNvSpPr/>
          <p:nvPr/>
        </p:nvSpPr>
        <p:spPr>
          <a:xfrm>
            <a:off x="5031252" y="2001189"/>
            <a:ext cx="259333" cy="21763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5" name="矩形 24"/>
              <p:cNvSpPr/>
              <p:nvPr/>
            </p:nvSpPr>
            <p:spPr>
              <a:xfrm>
                <a:off x="3335043" y="2982537"/>
                <a:ext cx="5341872" cy="6899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600" i="1">
                              <a:latin typeface="Cambria Math" panose="02040503050406030204" pitchFamily="18" charset="0"/>
                            </a:rPr>
                          </m:ctrlPr>
                        </m:dPr>
                        <m:e>
                          <m:m>
                            <m:mPr>
                              <m:mcs>
                                <m:mc>
                                  <m:mcPr>
                                    <m:count m:val="1"/>
                                    <m:mcJc m:val="center"/>
                                  </m:mcPr>
                                </m:mc>
                              </m:mcs>
                              <m:ctrlPr>
                                <a:rPr lang="zh-CN" altLang="en-US" sz="1600" i="1">
                                  <a:latin typeface="Cambria Math" panose="02040503050406030204" pitchFamily="18" charset="0"/>
                                </a:rPr>
                              </m:ctrlPr>
                            </m:mPr>
                            <m:m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𝑥</m:t>
                                    </m:r>
                                  </m:e>
                                </m:acc>
                              </m:e>
                            </m:mr>
                            <m:m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𝑦</m:t>
                                    </m:r>
                                  </m:e>
                                </m:acc>
                              </m:e>
                            </m:mr>
                          </m:m>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m>
                            <m:mPr>
                              <m:mcs>
                                <m:mc>
                                  <m:mcPr>
                                    <m:count m:val="2"/>
                                    <m:mcJc m:val="center"/>
                                  </m:mcPr>
                                </m:mc>
                              </m:mcs>
                              <m:ctrlPr>
                                <a:rPr lang="zh-CN" altLang="en-US" sz="1600" i="1">
                                  <a:latin typeface="Cambria Math" panose="02040503050406030204" pitchFamily="18" charset="0"/>
                                </a:rPr>
                              </m:ctrlPr>
                            </m:mPr>
                            <m:mr>
                              <m:e>
                                <m:d>
                                  <m:dPr>
                                    <m:begChr m:val=""/>
                                    <m:ctrlPr>
                                      <a:rPr lang="zh-CN" altLang="en-US" sz="1600" i="1">
                                        <a:latin typeface="Cambria Math" panose="02040503050406030204" pitchFamily="18" charset="0"/>
                                      </a:rPr>
                                    </m:ctrlPr>
                                  </m:dPr>
                                  <m:e>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𝐿</m:t>
                                        </m:r>
                                      </m:e>
                                      <m:sub>
                                        <m:r>
                                          <a:rPr lang="zh-CN" altLang="en-US" sz="1600" i="0">
                                            <a:latin typeface="Cambria Math" panose="02040503050406030204" pitchFamily="18" charset="0"/>
                                          </a:rPr>
                                          <m:t>1</m:t>
                                        </m:r>
                                      </m:sub>
                                    </m:sSub>
                                    <m:r>
                                      <a:rPr lang="zh-CN" altLang="en-US" sz="1600" i="1">
                                        <a:latin typeface="Cambria Math" panose="02040503050406030204" pitchFamily="18" charset="0"/>
                                      </a:rPr>
                                      <m:t>𝑠𝑖𝑛</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𝐿</m:t>
                                        </m:r>
                                      </m:e>
                                      <m:sub>
                                        <m:r>
                                          <a:rPr lang="zh-CN" altLang="en-US" sz="1600" i="0">
                                            <a:latin typeface="Cambria Math" panose="02040503050406030204" pitchFamily="18" charset="0"/>
                                          </a:rPr>
                                          <m:t>2</m:t>
                                        </m:r>
                                      </m:sub>
                                    </m:sSub>
                                    <m:r>
                                      <a:rPr lang="zh-CN" altLang="en-US" sz="1600" i="1">
                                        <a:latin typeface="Cambria Math" panose="02040503050406030204" pitchFamily="18" charset="0"/>
                                      </a:rPr>
                                      <m:t>𝑠𝑖𝑛</m:t>
                                    </m:r>
                                    <m:sSub>
                                      <m:sSubPr>
                                        <m:ctrlPr>
                                          <a:rPr lang="zh-CN" altLang="en-US" sz="1600" i="1">
                                            <a:latin typeface="Cambria Math" panose="02040503050406030204" pitchFamily="18" charset="0"/>
                                          </a:rPr>
                                        </m:ctrlPr>
                                      </m:sSubPr>
                                      <m:e>
                                        <m:d>
                                          <m:dPr>
                                            <m:endChr m:val=""/>
                                            <m:ctrlPr>
                                              <a:rPr lang="zh-CN" altLang="en-US" sz="1600" i="1">
                                                <a:latin typeface="Cambria Math" panose="02040503050406030204" pitchFamily="18" charset="0"/>
                                              </a:rPr>
                                            </m:ctrlPr>
                                          </m:dPr>
                                          <m:e>
                                            <m:r>
                                              <a:rPr lang="zh-CN" altLang="en-US" sz="1600" i="1">
                                                <a:latin typeface="Cambria Math" panose="02040503050406030204" pitchFamily="18" charset="0"/>
                                              </a:rPr>
                                              <m:t>𝜃</m:t>
                                            </m:r>
                                          </m:e>
                                        </m:d>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2</m:t>
                                        </m:r>
                                      </m:sub>
                                    </m:sSub>
                                  </m:e>
                                </m:d>
                              </m:e>
                              <m:e>
                                <m:d>
                                  <m:dPr>
                                    <m:begChr m:val=""/>
                                    <m:ctrlPr>
                                      <a:rPr lang="zh-CN" altLang="en-US" sz="1600" i="1">
                                        <a:latin typeface="Cambria Math" panose="02040503050406030204" pitchFamily="18" charset="0"/>
                                      </a:rPr>
                                    </m:ctrlPr>
                                  </m:dPr>
                                  <m:e>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𝐿</m:t>
                                        </m:r>
                                      </m:e>
                                      <m:sub>
                                        <m:r>
                                          <a:rPr lang="zh-CN" altLang="en-US" sz="1600" i="0">
                                            <a:latin typeface="Cambria Math" panose="02040503050406030204" pitchFamily="18" charset="0"/>
                                          </a:rPr>
                                          <m:t>2</m:t>
                                        </m:r>
                                      </m:sub>
                                    </m:sSub>
                                    <m:r>
                                      <a:rPr lang="zh-CN" altLang="en-US" sz="1600" i="1">
                                        <a:latin typeface="Cambria Math" panose="02040503050406030204" pitchFamily="18" charset="0"/>
                                      </a:rPr>
                                      <m:t>𝑠𝑖𝑛</m:t>
                                    </m:r>
                                    <m:sSub>
                                      <m:sSubPr>
                                        <m:ctrlPr>
                                          <a:rPr lang="zh-CN" altLang="en-US" sz="1600" i="1">
                                            <a:latin typeface="Cambria Math" panose="02040503050406030204" pitchFamily="18" charset="0"/>
                                          </a:rPr>
                                        </m:ctrlPr>
                                      </m:sSubPr>
                                      <m:e>
                                        <m:d>
                                          <m:dPr>
                                            <m:endChr m:val=""/>
                                            <m:ctrlPr>
                                              <a:rPr lang="zh-CN" altLang="en-US" sz="1600" i="1">
                                                <a:latin typeface="Cambria Math" panose="02040503050406030204" pitchFamily="18" charset="0"/>
                                              </a:rPr>
                                            </m:ctrlPr>
                                          </m:dPr>
                                          <m:e>
                                            <m:r>
                                              <a:rPr lang="zh-CN" altLang="en-US" sz="1600" i="1">
                                                <a:latin typeface="Cambria Math" panose="02040503050406030204" pitchFamily="18" charset="0"/>
                                              </a:rPr>
                                              <m:t>𝜃</m:t>
                                            </m:r>
                                          </m:e>
                                        </m:d>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2</m:t>
                                        </m:r>
                                      </m:sub>
                                    </m:sSub>
                                  </m:e>
                                </m:d>
                              </m:e>
                            </m:mr>
                            <m:mr>
                              <m:e>
                                <m:d>
                                  <m:dPr>
                                    <m:begChr m:val=""/>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𝐿</m:t>
                                        </m:r>
                                      </m:e>
                                      <m:sub>
                                        <m:r>
                                          <a:rPr lang="zh-CN" altLang="en-US" sz="1600" i="0">
                                            <a:latin typeface="Cambria Math" panose="02040503050406030204" pitchFamily="18" charset="0"/>
                                          </a:rPr>
                                          <m:t>1</m:t>
                                        </m:r>
                                      </m:sub>
                                    </m:sSub>
                                    <m:r>
                                      <a:rPr lang="zh-CN" altLang="en-US" sz="1600" i="1">
                                        <a:latin typeface="Cambria Math" panose="02040503050406030204" pitchFamily="18" charset="0"/>
                                      </a:rPr>
                                      <m:t>𝑐𝑜𝑠</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𝐿</m:t>
                                        </m:r>
                                      </m:e>
                                      <m:sub>
                                        <m:r>
                                          <a:rPr lang="zh-CN" altLang="en-US" sz="1600" i="0">
                                            <a:latin typeface="Cambria Math" panose="02040503050406030204" pitchFamily="18" charset="0"/>
                                          </a:rPr>
                                          <m:t>2</m:t>
                                        </m:r>
                                      </m:sub>
                                    </m:sSub>
                                    <m:r>
                                      <a:rPr lang="zh-CN" altLang="en-US" sz="1600" i="1">
                                        <a:latin typeface="Cambria Math" panose="02040503050406030204" pitchFamily="18" charset="0"/>
                                      </a:rPr>
                                      <m:t>𝑐𝑜𝑠</m:t>
                                    </m:r>
                                    <m:sSub>
                                      <m:sSubPr>
                                        <m:ctrlPr>
                                          <a:rPr lang="zh-CN" altLang="en-US" sz="1600" i="1">
                                            <a:latin typeface="Cambria Math" panose="02040503050406030204" pitchFamily="18" charset="0"/>
                                          </a:rPr>
                                        </m:ctrlPr>
                                      </m:sSubPr>
                                      <m:e>
                                        <m:d>
                                          <m:dPr>
                                            <m:endChr m:val=""/>
                                            <m:ctrlPr>
                                              <a:rPr lang="zh-CN" altLang="en-US" sz="1600" i="1">
                                                <a:latin typeface="Cambria Math" panose="02040503050406030204" pitchFamily="18" charset="0"/>
                                              </a:rPr>
                                            </m:ctrlPr>
                                          </m:dPr>
                                          <m:e>
                                            <m:r>
                                              <a:rPr lang="zh-CN" altLang="en-US" sz="1600" i="1">
                                                <a:latin typeface="Cambria Math" panose="02040503050406030204" pitchFamily="18" charset="0"/>
                                              </a:rPr>
                                              <m:t>𝜃</m:t>
                                            </m:r>
                                          </m:e>
                                        </m:d>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2</m:t>
                                        </m:r>
                                      </m:sub>
                                    </m:sSub>
                                  </m:e>
                                </m:d>
                              </m:e>
                              <m:e>
                                <m:d>
                                  <m:dPr>
                                    <m:begChr m:val=""/>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𝐿</m:t>
                                        </m:r>
                                      </m:e>
                                      <m:sub>
                                        <m:r>
                                          <a:rPr lang="zh-CN" altLang="en-US" sz="1600" i="0">
                                            <a:latin typeface="Cambria Math" panose="02040503050406030204" pitchFamily="18" charset="0"/>
                                          </a:rPr>
                                          <m:t>2</m:t>
                                        </m:r>
                                      </m:sub>
                                    </m:sSub>
                                    <m:r>
                                      <a:rPr lang="zh-CN" altLang="en-US" sz="1600" i="1">
                                        <a:latin typeface="Cambria Math" panose="02040503050406030204" pitchFamily="18" charset="0"/>
                                      </a:rPr>
                                      <m:t>𝑐𝑜𝑠</m:t>
                                    </m:r>
                                    <m:sSub>
                                      <m:sSubPr>
                                        <m:ctrlPr>
                                          <a:rPr lang="zh-CN" altLang="en-US" sz="1600" i="1">
                                            <a:latin typeface="Cambria Math" panose="02040503050406030204" pitchFamily="18" charset="0"/>
                                          </a:rPr>
                                        </m:ctrlPr>
                                      </m:sSubPr>
                                      <m:e>
                                        <m:d>
                                          <m:dPr>
                                            <m:endChr m:val=""/>
                                            <m:ctrlPr>
                                              <a:rPr lang="zh-CN" altLang="en-US" sz="1600" i="1">
                                                <a:latin typeface="Cambria Math" panose="02040503050406030204" pitchFamily="18" charset="0"/>
                                              </a:rPr>
                                            </m:ctrlPr>
                                          </m:dPr>
                                          <m:e>
                                            <m:r>
                                              <a:rPr lang="zh-CN" altLang="en-US" sz="1600" i="1">
                                                <a:latin typeface="Cambria Math" panose="02040503050406030204" pitchFamily="18" charset="0"/>
                                              </a:rPr>
                                              <m:t>𝜃</m:t>
                                            </m:r>
                                          </m:e>
                                        </m:d>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2</m:t>
                                        </m:r>
                                      </m:sub>
                                    </m:sSub>
                                  </m:e>
                                </m:d>
                              </m:e>
                            </m:mr>
                          </m:m>
                        </m:e>
                      </m:d>
                      <m:d>
                        <m:dPr>
                          <m:begChr m:val="["/>
                          <m:endChr m:val="]"/>
                          <m:ctrlPr>
                            <a:rPr lang="zh-CN" altLang="en-US" sz="1600" i="1">
                              <a:latin typeface="Cambria Math" panose="02040503050406030204" pitchFamily="18" charset="0"/>
                            </a:rPr>
                          </m:ctrlPr>
                        </m:dPr>
                        <m:e>
                          <m:m>
                            <m:mPr>
                              <m:mcs>
                                <m:mc>
                                  <m:mcPr>
                                    <m:count m:val="1"/>
                                    <m:mcJc m:val="center"/>
                                  </m:mcPr>
                                </m:mc>
                              </m:mcs>
                              <m:ctrlPr>
                                <a:rPr lang="zh-CN" altLang="en-US" sz="1600" i="1">
                                  <a:latin typeface="Cambria Math" panose="02040503050406030204" pitchFamily="18" charset="0"/>
                                </a:rPr>
                              </m:ctrlPr>
                            </m:mPr>
                            <m:mr>
                              <m:e>
                                <m:acc>
                                  <m:accPr>
                                    <m:chr m:val="̇"/>
                                    <m:ctrlPr>
                                      <a:rPr lang="zh-CN" altLang="en-US" sz="1600" i="1">
                                        <a:latin typeface="Cambria Math" panose="02040503050406030204" pitchFamily="18" charset="0"/>
                                      </a:rPr>
                                    </m:ctrlPr>
                                  </m:acc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1</m:t>
                                        </m:r>
                                      </m:sub>
                                    </m:sSub>
                                  </m:e>
                                </m:acc>
                              </m:e>
                            </m:mr>
                            <m:mr>
                              <m:e>
                                <m:acc>
                                  <m:accPr>
                                    <m:chr m:val="̇"/>
                                    <m:ctrlPr>
                                      <a:rPr lang="zh-CN" altLang="en-US" sz="1600" i="1">
                                        <a:latin typeface="Cambria Math" panose="02040503050406030204" pitchFamily="18" charset="0"/>
                                      </a:rPr>
                                    </m:ctrlPr>
                                  </m:acc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0">
                                            <a:latin typeface="Cambria Math" panose="02040503050406030204" pitchFamily="18" charset="0"/>
                                          </a:rPr>
                                          <m:t>2</m:t>
                                        </m:r>
                                      </m:sub>
                                    </m:sSub>
                                  </m:e>
                                </m:acc>
                              </m:e>
                            </m:mr>
                          </m:m>
                        </m:e>
                      </m:d>
                    </m:oMath>
                  </m:oMathPara>
                </a14:m>
                <a:endParaRPr lang="zh-CN" altLang="en-US" sz="1600" dirty="0"/>
              </a:p>
            </p:txBody>
          </p:sp>
        </mc:Choice>
        <mc:Fallback xmlns="">
          <p:sp>
            <p:nvSpPr>
              <p:cNvPr id="25" name="矩形 24"/>
              <p:cNvSpPr>
                <a:spLocks noRot="1" noChangeAspect="1" noMove="1" noResize="1" noEditPoints="1" noAdjustHandles="1" noChangeArrowheads="1" noChangeShapeType="1" noTextEdit="1"/>
              </p:cNvSpPr>
              <p:nvPr/>
            </p:nvSpPr>
            <p:spPr>
              <a:xfrm>
                <a:off x="3335043" y="2982537"/>
                <a:ext cx="5341872" cy="689932"/>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矩形 25"/>
              <p:cNvSpPr/>
              <p:nvPr/>
            </p:nvSpPr>
            <p:spPr>
              <a:xfrm>
                <a:off x="4681275" y="3997765"/>
                <a:ext cx="2391424" cy="374654"/>
              </a:xfrm>
              <a:prstGeom prst="rect">
                <a:avLst/>
              </a:prstGeom>
            </p:spPr>
            <p:txBody>
              <a:bodyPr wrap="none">
                <a:spAutoFit/>
              </a:bodyPr>
              <a:lstStyle/>
              <a:p>
                <a14:m>
                  <m:oMath xmlns:m="http://schemas.openxmlformats.org/officeDocument/2006/math">
                    <m:sSub>
                      <m:sSubPr>
                        <m:ctrlPr>
                          <a:rPr lang="zh-CN" altLang="zh-CN" sz="1600" i="1">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𝑣</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𝑡𝑖𝑝</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𝐽</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1</m:t>
                        </m:r>
                      </m:sub>
                    </m:sSub>
                    <m:d>
                      <m:dPr>
                        <m:ctrlPr>
                          <a:rPr lang="zh-CN" altLang="zh-CN" sz="1600" i="1">
                            <a:effectLst/>
                            <a:latin typeface="Cambria Math" panose="02040503050406030204" pitchFamily="18" charset="0"/>
                            <a:ea typeface="Cambria Math" panose="02040503050406030204" pitchFamily="18" charset="0"/>
                          </a:rPr>
                        </m:ctrlPr>
                      </m:d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e>
                    </m:d>
                    <m:acc>
                      <m:accPr>
                        <m:chr m:val="̇"/>
                        <m:ctrlPr>
                          <a:rPr lang="zh-CN" altLang="zh-CN" sz="1600" i="1">
                            <a:effectLst/>
                            <a:latin typeface="Cambria Math" panose="02040503050406030204" pitchFamily="18" charset="0"/>
                            <a:ea typeface="Cambria Math" panose="02040503050406030204" pitchFamily="18" charset="0"/>
                          </a:rPr>
                        </m:ctrlPr>
                      </m:accPr>
                      <m:e>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1</m:t>
                            </m:r>
                          </m:sub>
                        </m:sSub>
                      </m:e>
                    </m:acc>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𝐽</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2</m:t>
                        </m:r>
                      </m:sub>
                    </m:sSub>
                    <m:d>
                      <m:dPr>
                        <m:ctrlPr>
                          <a:rPr lang="zh-CN" altLang="zh-CN" sz="1600" i="1">
                            <a:effectLst/>
                            <a:latin typeface="Cambria Math" panose="02040503050406030204" pitchFamily="18" charset="0"/>
                            <a:ea typeface="Cambria Math" panose="02040503050406030204" pitchFamily="18" charset="0"/>
                          </a:rPr>
                        </m:ctrlPr>
                      </m:d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e>
                    </m:d>
                    <m:acc>
                      <m:accPr>
                        <m:chr m:val="̇"/>
                        <m:ctrlPr>
                          <a:rPr lang="zh-CN" altLang="zh-CN" sz="1600" i="1">
                            <a:effectLst/>
                            <a:latin typeface="Cambria Math" panose="02040503050406030204" pitchFamily="18" charset="0"/>
                            <a:ea typeface="Cambria Math" panose="02040503050406030204" pitchFamily="18" charset="0"/>
                          </a:rPr>
                        </m:ctrlPr>
                      </m:accPr>
                      <m:e>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2</m:t>
                            </m:r>
                          </m:sub>
                        </m:sSub>
                      </m:e>
                    </m:acc>
                  </m:oMath>
                </a14:m>
                <a:r>
                  <a:rPr lang="en-US" altLang="zh-CN" sz="1600" dirty="0">
                    <a:latin typeface="等线" panose="02010600030101010101" pitchFamily="2" charset="-122"/>
                    <a:cs typeface="Times New Roman" panose="02020603050405020304" pitchFamily="18" charset="0"/>
                  </a:rPr>
                  <a:t> </a:t>
                </a:r>
                <a:endParaRPr lang="zh-CN" altLang="en-US" sz="1600" dirty="0"/>
              </a:p>
            </p:txBody>
          </p:sp>
        </mc:Choice>
        <mc:Fallback xmlns="">
          <p:sp>
            <p:nvSpPr>
              <p:cNvPr id="26" name="矩形 25"/>
              <p:cNvSpPr>
                <a:spLocks noRot="1" noChangeAspect="1" noMove="1" noResize="1" noEditPoints="1" noAdjustHandles="1" noChangeArrowheads="1" noChangeShapeType="1" noTextEdit="1"/>
              </p:cNvSpPr>
              <p:nvPr/>
            </p:nvSpPr>
            <p:spPr>
              <a:xfrm>
                <a:off x="4681275" y="3997765"/>
                <a:ext cx="2391424" cy="374654"/>
              </a:xfrm>
              <a:prstGeom prst="rect">
                <a:avLst/>
              </a:prstGeom>
              <a:blipFill>
                <a:blip r:embed="rId9"/>
                <a:stretch>
                  <a:fillRect b="-6557"/>
                </a:stretch>
              </a:blipFill>
            </p:spPr>
            <p:txBody>
              <a:bodyPr/>
              <a:lstStyle/>
              <a:p>
                <a:r>
                  <a:rPr lang="zh-CN" altLang="en-US">
                    <a:noFill/>
                  </a:rPr>
                  <a:t> </a:t>
                </a:r>
              </a:p>
            </p:txBody>
          </p:sp>
        </mc:Fallback>
      </mc:AlternateContent>
      <p:sp>
        <p:nvSpPr>
          <p:cNvPr id="29" name="下箭头 28"/>
          <p:cNvSpPr/>
          <p:nvPr/>
        </p:nvSpPr>
        <p:spPr>
          <a:xfrm>
            <a:off x="5635911" y="3707720"/>
            <a:ext cx="241076" cy="30415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圆角矩形标注 29"/>
          <p:cNvSpPr/>
          <p:nvPr/>
        </p:nvSpPr>
        <p:spPr>
          <a:xfrm>
            <a:off x="5290585" y="4011876"/>
            <a:ext cx="543093" cy="360543"/>
          </a:xfrm>
          <a:prstGeom prst="wedgeRoundRectCallout">
            <a:avLst>
              <a:gd name="adj1" fmla="val -41310"/>
              <a:gd name="adj2" fmla="val 117336"/>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1" name="矩形 30"/>
              <p:cNvSpPr/>
              <p:nvPr/>
            </p:nvSpPr>
            <p:spPr>
              <a:xfrm>
                <a:off x="4126564" y="4628387"/>
                <a:ext cx="2068708" cy="317844"/>
              </a:xfrm>
              <a:prstGeom prst="rect">
                <a:avLst/>
              </a:prstGeom>
            </p:spPr>
            <p:txBody>
              <a:bodyPr wrap="none">
                <a:spAutoFit/>
              </a:bodyPr>
              <a:lstStyle/>
              <a:p>
                <a14:m>
                  <m:oMath xmlns:m="http://schemas.openxmlformats.org/officeDocument/2006/math">
                    <m:acc>
                      <m:accPr>
                        <m:chr m:val="̇"/>
                        <m:ctrlPr>
                          <a:rPr lang="zh-CN" altLang="zh-CN" sz="1400" i="1">
                            <a:latin typeface="Cambria Math" panose="02040503050406030204" pitchFamily="18" charset="0"/>
                            <a:ea typeface="Cambria Math" panose="02040503050406030204" pitchFamily="18" charset="0"/>
                          </a:rPr>
                        </m:ctrlPr>
                      </m:accPr>
                      <m:e>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400" i="1">
                                <a:latin typeface="Cambria Math" panose="02040503050406030204" pitchFamily="18" charset="0"/>
                                <a:ea typeface="等线" panose="02010600030101010101" pitchFamily="2" charset="-122"/>
                                <a:cs typeface="Times New Roman" panose="02020603050405020304" pitchFamily="18" charset="0"/>
                              </a:rPr>
                              <m:t>1</m:t>
                            </m:r>
                          </m:sub>
                        </m:sSub>
                      </m:e>
                    </m:acc>
                    <m:r>
                      <a:rPr lang="en-US" altLang="zh-CN" sz="1400" i="1">
                        <a:latin typeface="Cambria Math" panose="02040503050406030204" pitchFamily="18" charset="0"/>
                        <a:ea typeface="等线" panose="02010600030101010101" pitchFamily="2" charset="-122"/>
                        <a:cs typeface="Times New Roman" panose="02020603050405020304" pitchFamily="18" charset="0"/>
                      </a:rPr>
                      <m:t>=1(</m:t>
                    </m:r>
                    <m:acc>
                      <m:accPr>
                        <m:chr m:val="̇"/>
                        <m:ctrlPr>
                          <a:rPr lang="zh-CN" altLang="zh-CN" sz="1400" i="1">
                            <a:effectLst/>
                            <a:latin typeface="Cambria Math" panose="02040503050406030204" pitchFamily="18" charset="0"/>
                            <a:ea typeface="Cambria Math" panose="02040503050406030204" pitchFamily="18" charset="0"/>
                          </a:rPr>
                        </m:ctrlPr>
                      </m:accPr>
                      <m:e>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400" i="1">
                                <a:latin typeface="Cambria Math" panose="02040503050406030204" pitchFamily="18" charset="0"/>
                                <a:ea typeface="等线" panose="02010600030101010101" pitchFamily="2" charset="-122"/>
                                <a:cs typeface="Times New Roman" panose="02020603050405020304" pitchFamily="18" charset="0"/>
                              </a:rPr>
                              <m:t>2</m:t>
                            </m:r>
                          </m:sub>
                        </m:sSub>
                      </m:e>
                    </m:acc>
                    <m:r>
                      <a:rPr lang="en-US" altLang="zh-CN" sz="1400" i="1">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sz="1400" dirty="0">
                    <a:ea typeface="等线" panose="02010600030101010101" pitchFamily="2" charset="-122"/>
                    <a:cs typeface="Times New Roman" panose="02020603050405020304" pitchFamily="18" charset="0"/>
                  </a:rPr>
                  <a:t>时的速度</a:t>
                </a:r>
                <a:endParaRPr lang="zh-CN" altLang="en-US" sz="1400" dirty="0"/>
              </a:p>
            </p:txBody>
          </p:sp>
        </mc:Choice>
        <mc:Fallback xmlns="">
          <p:sp>
            <p:nvSpPr>
              <p:cNvPr id="31" name="矩形 30"/>
              <p:cNvSpPr>
                <a:spLocks noRot="1" noChangeAspect="1" noMove="1" noResize="1" noEditPoints="1" noAdjustHandles="1" noChangeArrowheads="1" noChangeShapeType="1" noTextEdit="1"/>
              </p:cNvSpPr>
              <p:nvPr/>
            </p:nvSpPr>
            <p:spPr>
              <a:xfrm>
                <a:off x="4126564" y="4628387"/>
                <a:ext cx="2068708" cy="317844"/>
              </a:xfrm>
              <a:prstGeom prst="rect">
                <a:avLst/>
              </a:prstGeom>
              <a:blipFill>
                <a:blip r:embed="rId10"/>
                <a:stretch>
                  <a:fillRect b="-21154"/>
                </a:stretch>
              </a:blipFill>
            </p:spPr>
            <p:txBody>
              <a:bodyPr/>
              <a:lstStyle/>
              <a:p>
                <a:r>
                  <a:rPr lang="zh-CN" altLang="en-US">
                    <a:noFill/>
                  </a:rPr>
                  <a:t> </a:t>
                </a:r>
              </a:p>
            </p:txBody>
          </p:sp>
        </mc:Fallback>
      </mc:AlternateContent>
      <p:sp>
        <p:nvSpPr>
          <p:cNvPr id="32" name="圆角矩形标注 31"/>
          <p:cNvSpPr/>
          <p:nvPr/>
        </p:nvSpPr>
        <p:spPr>
          <a:xfrm>
            <a:off x="6195272" y="3997765"/>
            <a:ext cx="511085" cy="374654"/>
          </a:xfrm>
          <a:prstGeom prst="wedgeRoundRectCallout">
            <a:avLst>
              <a:gd name="adj1" fmla="val 71042"/>
              <a:gd name="adj2" fmla="val 108674"/>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3" name="矩形 32"/>
              <p:cNvSpPr/>
              <p:nvPr/>
            </p:nvSpPr>
            <p:spPr>
              <a:xfrm>
                <a:off x="6450814" y="4628387"/>
                <a:ext cx="2068708" cy="317844"/>
              </a:xfrm>
              <a:prstGeom prst="rect">
                <a:avLst/>
              </a:prstGeom>
            </p:spPr>
            <p:txBody>
              <a:bodyPr wrap="none">
                <a:spAutoFit/>
              </a:bodyPr>
              <a:lstStyle/>
              <a:p>
                <a14:m>
                  <m:oMath xmlns:m="http://schemas.openxmlformats.org/officeDocument/2006/math">
                    <m:acc>
                      <m:accPr>
                        <m:chr m:val="̇"/>
                        <m:ctrlPr>
                          <a:rPr lang="zh-CN" altLang="zh-CN" sz="1400" i="1">
                            <a:latin typeface="Cambria Math" panose="02040503050406030204" pitchFamily="18" charset="0"/>
                            <a:ea typeface="Cambria Math" panose="02040503050406030204" pitchFamily="18" charset="0"/>
                          </a:rPr>
                        </m:ctrlPr>
                      </m:accPr>
                      <m:e>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400" i="1">
                                <a:latin typeface="Cambria Math" panose="02040503050406030204" pitchFamily="18" charset="0"/>
                                <a:ea typeface="等线" panose="02010600030101010101" pitchFamily="2" charset="-122"/>
                                <a:cs typeface="Times New Roman" panose="02020603050405020304" pitchFamily="18" charset="0"/>
                              </a:rPr>
                              <m:t>2</m:t>
                            </m:r>
                          </m:sub>
                        </m:sSub>
                      </m:e>
                    </m:acc>
                    <m:r>
                      <a:rPr lang="en-US" altLang="zh-CN" sz="1400" i="1">
                        <a:latin typeface="Cambria Math" panose="02040503050406030204" pitchFamily="18" charset="0"/>
                        <a:ea typeface="等线" panose="02010600030101010101" pitchFamily="2" charset="-122"/>
                        <a:cs typeface="Times New Roman" panose="02020603050405020304" pitchFamily="18" charset="0"/>
                      </a:rPr>
                      <m:t>=1(</m:t>
                    </m:r>
                    <m:acc>
                      <m:accPr>
                        <m:chr m:val="̇"/>
                        <m:ctrlPr>
                          <a:rPr lang="zh-CN" altLang="zh-CN" sz="1400" i="1">
                            <a:effectLst/>
                            <a:latin typeface="Cambria Math" panose="02040503050406030204" pitchFamily="18" charset="0"/>
                            <a:ea typeface="Cambria Math" panose="02040503050406030204" pitchFamily="18" charset="0"/>
                          </a:rPr>
                        </m:ctrlPr>
                      </m:accPr>
                      <m:e>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400" i="1">
                                <a:latin typeface="Cambria Math" panose="02040503050406030204" pitchFamily="18" charset="0"/>
                                <a:ea typeface="等线" panose="02010600030101010101" pitchFamily="2" charset="-122"/>
                                <a:cs typeface="Times New Roman" panose="02020603050405020304" pitchFamily="18" charset="0"/>
                              </a:rPr>
                              <m:t>1</m:t>
                            </m:r>
                          </m:sub>
                        </m:sSub>
                      </m:e>
                    </m:acc>
                    <m:r>
                      <a:rPr lang="en-US" altLang="zh-CN" sz="1400" i="1">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sz="1400" dirty="0">
                    <a:ea typeface="等线" panose="02010600030101010101" pitchFamily="2" charset="-122"/>
                    <a:cs typeface="Times New Roman" panose="02020603050405020304" pitchFamily="18" charset="0"/>
                  </a:rPr>
                  <a:t>时的速度</a:t>
                </a:r>
                <a:endParaRPr lang="zh-CN" altLang="en-US" sz="1400" dirty="0"/>
              </a:p>
            </p:txBody>
          </p:sp>
        </mc:Choice>
        <mc:Fallback xmlns="">
          <p:sp>
            <p:nvSpPr>
              <p:cNvPr id="33" name="矩形 32"/>
              <p:cNvSpPr>
                <a:spLocks noRot="1" noChangeAspect="1" noMove="1" noResize="1" noEditPoints="1" noAdjustHandles="1" noChangeArrowheads="1" noChangeShapeType="1" noTextEdit="1"/>
              </p:cNvSpPr>
              <p:nvPr/>
            </p:nvSpPr>
            <p:spPr>
              <a:xfrm>
                <a:off x="6450814" y="4628387"/>
                <a:ext cx="2068708" cy="317844"/>
              </a:xfrm>
              <a:prstGeom prst="rect">
                <a:avLst/>
              </a:prstGeom>
              <a:blipFill>
                <a:blip r:embed="rId11"/>
                <a:stretch>
                  <a:fillRect b="-21154"/>
                </a:stretch>
              </a:blipFill>
            </p:spPr>
            <p:txBody>
              <a:bodyPr/>
              <a:lstStyle/>
              <a:p>
                <a:r>
                  <a:rPr lang="zh-CN" altLang="en-US">
                    <a:noFill/>
                  </a:rPr>
                  <a:t> </a:t>
                </a:r>
              </a:p>
            </p:txBody>
          </p:sp>
        </mc:Fallback>
      </mc:AlternateContent>
      <p:grpSp>
        <p:nvGrpSpPr>
          <p:cNvPr id="34" name="组合 33"/>
          <p:cNvGrpSpPr/>
          <p:nvPr/>
        </p:nvGrpSpPr>
        <p:grpSpPr>
          <a:xfrm>
            <a:off x="-236220" y="219075"/>
            <a:ext cx="5153660" cy="598805"/>
            <a:chOff x="-372" y="345"/>
            <a:chExt cx="8116" cy="943"/>
          </a:xfrm>
        </p:grpSpPr>
        <p:sp>
          <p:nvSpPr>
            <p:cNvPr id="35" name="矩形 3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Jacobian Matrix of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6" name="文本框 3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机器人雅可比矩阵</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37" name="椭圆 3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505329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178137" y="803488"/>
            <a:ext cx="5706231" cy="400110"/>
          </a:xfrm>
          <a:prstGeom prst="rect">
            <a:avLst/>
          </a:prstGeom>
        </p:spPr>
        <p:txBody>
          <a:bodyPr wrap="square">
            <a:spAutoFit/>
          </a:bodyPr>
          <a:lstStyle/>
          <a:p>
            <a:r>
              <a:rPr lang="zh-CN" altLang="en-US" sz="2000" b="1" dirty="0">
                <a:solidFill>
                  <a:srgbClr val="002060"/>
                </a:solidFill>
              </a:rPr>
              <a:t>机器人雅可比矩阵</a:t>
            </a:r>
            <a:r>
              <a:rPr lang="en-US" altLang="zh-CN" sz="2000" b="1" dirty="0">
                <a:solidFill>
                  <a:srgbClr val="002060"/>
                </a:solidFill>
              </a:rPr>
              <a:t>(Jacobian Matrix of Robots)</a:t>
            </a:r>
            <a:endParaRPr lang="zh-CN" altLang="en-US" sz="2000" b="1" dirty="0">
              <a:solidFill>
                <a:srgbClr val="002060"/>
              </a:solidFill>
            </a:endParaRPr>
          </a:p>
        </p:txBody>
      </p:sp>
      <p:grpSp>
        <p:nvGrpSpPr>
          <p:cNvPr id="2" name="组合 1"/>
          <p:cNvGrpSpPr/>
          <p:nvPr/>
        </p:nvGrpSpPr>
        <p:grpSpPr>
          <a:xfrm>
            <a:off x="3851920" y="1493895"/>
            <a:ext cx="4392958" cy="948466"/>
            <a:chOff x="4126564" y="3997765"/>
            <a:chExt cx="4392958" cy="948466"/>
          </a:xfrm>
        </p:grpSpPr>
        <mc:AlternateContent xmlns:mc="http://schemas.openxmlformats.org/markup-compatibility/2006" xmlns:a14="http://schemas.microsoft.com/office/drawing/2010/main">
          <mc:Choice Requires="a14">
            <p:sp>
              <p:nvSpPr>
                <p:cNvPr id="26" name="矩形 25"/>
                <p:cNvSpPr/>
                <p:nvPr/>
              </p:nvSpPr>
              <p:spPr>
                <a:xfrm>
                  <a:off x="4681275" y="3997765"/>
                  <a:ext cx="2391424" cy="374654"/>
                </a:xfrm>
                <a:prstGeom prst="rect">
                  <a:avLst/>
                </a:prstGeom>
              </p:spPr>
              <p:txBody>
                <a:bodyPr wrap="none">
                  <a:spAutoFit/>
                </a:bodyPr>
                <a:lstStyle/>
                <a:p>
                  <a14:m>
                    <m:oMath xmlns:m="http://schemas.openxmlformats.org/officeDocument/2006/math">
                      <m:sSub>
                        <m:sSubPr>
                          <m:ctrlPr>
                            <a:rPr lang="zh-CN" altLang="zh-CN" sz="1600" i="1">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𝑣</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𝑡𝑖𝑝</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𝐽</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1</m:t>
                          </m:r>
                        </m:sub>
                      </m:sSub>
                      <m:d>
                        <m:dPr>
                          <m:ctrlPr>
                            <a:rPr lang="zh-CN" altLang="zh-CN" sz="1600" i="1">
                              <a:effectLst/>
                              <a:latin typeface="Cambria Math" panose="02040503050406030204" pitchFamily="18" charset="0"/>
                              <a:ea typeface="Cambria Math" panose="02040503050406030204" pitchFamily="18" charset="0"/>
                            </a:rPr>
                          </m:ctrlPr>
                        </m:d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e>
                      </m:d>
                      <m:acc>
                        <m:accPr>
                          <m:chr m:val="̇"/>
                          <m:ctrlPr>
                            <a:rPr lang="zh-CN" altLang="zh-CN" sz="1600" i="1">
                              <a:effectLst/>
                              <a:latin typeface="Cambria Math" panose="02040503050406030204" pitchFamily="18" charset="0"/>
                              <a:ea typeface="Cambria Math" panose="02040503050406030204" pitchFamily="18" charset="0"/>
                            </a:rPr>
                          </m:ctrlPr>
                        </m:accPr>
                        <m:e>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1</m:t>
                              </m:r>
                            </m:sub>
                          </m:sSub>
                        </m:e>
                      </m:acc>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𝐽</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2</m:t>
                          </m:r>
                        </m:sub>
                      </m:sSub>
                      <m:d>
                        <m:dPr>
                          <m:ctrlPr>
                            <a:rPr lang="zh-CN" altLang="zh-CN" sz="1600" i="1">
                              <a:effectLst/>
                              <a:latin typeface="Cambria Math" panose="02040503050406030204" pitchFamily="18" charset="0"/>
                              <a:ea typeface="Cambria Math" panose="02040503050406030204" pitchFamily="18" charset="0"/>
                            </a:rPr>
                          </m:ctrlPr>
                        </m:d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e>
                      </m:d>
                      <m:acc>
                        <m:accPr>
                          <m:chr m:val="̇"/>
                          <m:ctrlPr>
                            <a:rPr lang="zh-CN" altLang="zh-CN" sz="1600" i="1">
                              <a:effectLst/>
                              <a:latin typeface="Cambria Math" panose="02040503050406030204" pitchFamily="18" charset="0"/>
                              <a:ea typeface="Cambria Math" panose="02040503050406030204" pitchFamily="18" charset="0"/>
                            </a:rPr>
                          </m:ctrlPr>
                        </m:accPr>
                        <m:e>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2</m:t>
                              </m:r>
                            </m:sub>
                          </m:sSub>
                        </m:e>
                      </m:acc>
                    </m:oMath>
                  </a14:m>
                  <a:r>
                    <a:rPr lang="en-US" altLang="zh-CN" sz="1600" dirty="0">
                      <a:latin typeface="等线" panose="02010600030101010101" pitchFamily="2" charset="-122"/>
                      <a:cs typeface="Times New Roman" panose="02020603050405020304" pitchFamily="18" charset="0"/>
                    </a:rPr>
                    <a:t> </a:t>
                  </a:r>
                  <a:endParaRPr lang="zh-CN" altLang="en-US" sz="1600" dirty="0"/>
                </a:p>
              </p:txBody>
            </p:sp>
          </mc:Choice>
          <mc:Fallback xmlns="">
            <p:sp>
              <p:nvSpPr>
                <p:cNvPr id="26" name="矩形 25"/>
                <p:cNvSpPr>
                  <a:spLocks noRot="1" noChangeAspect="1" noMove="1" noResize="1" noEditPoints="1" noAdjustHandles="1" noChangeArrowheads="1" noChangeShapeType="1" noTextEdit="1"/>
                </p:cNvSpPr>
                <p:nvPr/>
              </p:nvSpPr>
              <p:spPr>
                <a:xfrm>
                  <a:off x="4681275" y="3997765"/>
                  <a:ext cx="2391424" cy="374654"/>
                </a:xfrm>
                <a:prstGeom prst="rect">
                  <a:avLst/>
                </a:prstGeom>
                <a:blipFill>
                  <a:blip r:embed="rId4"/>
                  <a:stretch>
                    <a:fillRect b="-4839"/>
                  </a:stretch>
                </a:blipFill>
              </p:spPr>
              <p:txBody>
                <a:bodyPr/>
                <a:lstStyle/>
                <a:p>
                  <a:r>
                    <a:rPr lang="zh-CN" altLang="en-US">
                      <a:noFill/>
                    </a:rPr>
                    <a:t> </a:t>
                  </a:r>
                </a:p>
              </p:txBody>
            </p:sp>
          </mc:Fallback>
        </mc:AlternateContent>
        <p:sp>
          <p:nvSpPr>
            <p:cNvPr id="30" name="圆角矩形标注 29"/>
            <p:cNvSpPr/>
            <p:nvPr/>
          </p:nvSpPr>
          <p:spPr>
            <a:xfrm>
              <a:off x="5290585" y="4011876"/>
              <a:ext cx="543093" cy="360543"/>
            </a:xfrm>
            <a:prstGeom prst="wedgeRoundRectCallout">
              <a:avLst>
                <a:gd name="adj1" fmla="val -41310"/>
                <a:gd name="adj2" fmla="val 117336"/>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1" name="矩形 30"/>
                <p:cNvSpPr/>
                <p:nvPr/>
              </p:nvSpPr>
              <p:spPr>
                <a:xfrm>
                  <a:off x="4126564" y="4628387"/>
                  <a:ext cx="2068708" cy="317844"/>
                </a:xfrm>
                <a:prstGeom prst="rect">
                  <a:avLst/>
                </a:prstGeom>
              </p:spPr>
              <p:txBody>
                <a:bodyPr wrap="none">
                  <a:spAutoFit/>
                </a:bodyPr>
                <a:lstStyle/>
                <a:p>
                  <a14:m>
                    <m:oMath xmlns:m="http://schemas.openxmlformats.org/officeDocument/2006/math">
                      <m:acc>
                        <m:accPr>
                          <m:chr m:val="̇"/>
                          <m:ctrlPr>
                            <a:rPr lang="zh-CN" altLang="zh-CN" sz="1400" i="1">
                              <a:latin typeface="Cambria Math" panose="02040503050406030204" pitchFamily="18" charset="0"/>
                              <a:ea typeface="Cambria Math" panose="02040503050406030204" pitchFamily="18" charset="0"/>
                            </a:rPr>
                          </m:ctrlPr>
                        </m:accPr>
                        <m:e>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400" i="1">
                                  <a:latin typeface="Cambria Math" panose="02040503050406030204" pitchFamily="18" charset="0"/>
                                  <a:ea typeface="等线" panose="02010600030101010101" pitchFamily="2" charset="-122"/>
                                  <a:cs typeface="Times New Roman" panose="02020603050405020304" pitchFamily="18" charset="0"/>
                                </a:rPr>
                                <m:t>1</m:t>
                              </m:r>
                            </m:sub>
                          </m:sSub>
                        </m:e>
                      </m:acc>
                      <m:r>
                        <a:rPr lang="en-US" altLang="zh-CN" sz="1400" i="1">
                          <a:latin typeface="Cambria Math" panose="02040503050406030204" pitchFamily="18" charset="0"/>
                          <a:ea typeface="等线" panose="02010600030101010101" pitchFamily="2" charset="-122"/>
                          <a:cs typeface="Times New Roman" panose="02020603050405020304" pitchFamily="18" charset="0"/>
                        </a:rPr>
                        <m:t>=1(</m:t>
                      </m:r>
                      <m:acc>
                        <m:accPr>
                          <m:chr m:val="̇"/>
                          <m:ctrlPr>
                            <a:rPr lang="zh-CN" altLang="zh-CN" sz="1400" i="1">
                              <a:effectLst/>
                              <a:latin typeface="Cambria Math" panose="02040503050406030204" pitchFamily="18" charset="0"/>
                              <a:ea typeface="Cambria Math" panose="02040503050406030204" pitchFamily="18" charset="0"/>
                            </a:rPr>
                          </m:ctrlPr>
                        </m:accPr>
                        <m:e>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400" i="1">
                                  <a:latin typeface="Cambria Math" panose="02040503050406030204" pitchFamily="18" charset="0"/>
                                  <a:ea typeface="等线" panose="02010600030101010101" pitchFamily="2" charset="-122"/>
                                  <a:cs typeface="Times New Roman" panose="02020603050405020304" pitchFamily="18" charset="0"/>
                                </a:rPr>
                                <m:t>2</m:t>
                              </m:r>
                            </m:sub>
                          </m:sSub>
                        </m:e>
                      </m:acc>
                      <m:r>
                        <a:rPr lang="en-US" altLang="zh-CN" sz="1400" i="1">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sz="1400" dirty="0">
                      <a:ea typeface="等线" panose="02010600030101010101" pitchFamily="2" charset="-122"/>
                      <a:cs typeface="Times New Roman" panose="02020603050405020304" pitchFamily="18" charset="0"/>
                    </a:rPr>
                    <a:t>时的速度</a:t>
                  </a:r>
                  <a:endParaRPr lang="zh-CN" altLang="en-US" sz="1400" dirty="0"/>
                </a:p>
              </p:txBody>
            </p:sp>
          </mc:Choice>
          <mc:Fallback xmlns="">
            <p:sp>
              <p:nvSpPr>
                <p:cNvPr id="31" name="矩形 30"/>
                <p:cNvSpPr>
                  <a:spLocks noRot="1" noChangeAspect="1" noMove="1" noResize="1" noEditPoints="1" noAdjustHandles="1" noChangeArrowheads="1" noChangeShapeType="1" noTextEdit="1"/>
                </p:cNvSpPr>
                <p:nvPr/>
              </p:nvSpPr>
              <p:spPr>
                <a:xfrm>
                  <a:off x="4126564" y="4628387"/>
                  <a:ext cx="2068708" cy="317844"/>
                </a:xfrm>
                <a:prstGeom prst="rect">
                  <a:avLst/>
                </a:prstGeom>
                <a:blipFill>
                  <a:blip r:embed="rId5"/>
                  <a:stretch>
                    <a:fillRect b="-19231"/>
                  </a:stretch>
                </a:blipFill>
              </p:spPr>
              <p:txBody>
                <a:bodyPr/>
                <a:lstStyle/>
                <a:p>
                  <a:r>
                    <a:rPr lang="zh-CN" altLang="en-US">
                      <a:noFill/>
                    </a:rPr>
                    <a:t> </a:t>
                  </a:r>
                </a:p>
              </p:txBody>
            </p:sp>
          </mc:Fallback>
        </mc:AlternateContent>
        <p:sp>
          <p:nvSpPr>
            <p:cNvPr id="32" name="圆角矩形标注 31"/>
            <p:cNvSpPr/>
            <p:nvPr/>
          </p:nvSpPr>
          <p:spPr>
            <a:xfrm>
              <a:off x="6195272" y="3997765"/>
              <a:ext cx="511085" cy="374654"/>
            </a:xfrm>
            <a:prstGeom prst="wedgeRoundRectCallout">
              <a:avLst>
                <a:gd name="adj1" fmla="val 71042"/>
                <a:gd name="adj2" fmla="val 108674"/>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3" name="矩形 32"/>
                <p:cNvSpPr/>
                <p:nvPr/>
              </p:nvSpPr>
              <p:spPr>
                <a:xfrm>
                  <a:off x="6450814" y="4628387"/>
                  <a:ext cx="2068708" cy="317844"/>
                </a:xfrm>
                <a:prstGeom prst="rect">
                  <a:avLst/>
                </a:prstGeom>
              </p:spPr>
              <p:txBody>
                <a:bodyPr wrap="none">
                  <a:spAutoFit/>
                </a:bodyPr>
                <a:lstStyle/>
                <a:p>
                  <a14:m>
                    <m:oMath xmlns:m="http://schemas.openxmlformats.org/officeDocument/2006/math">
                      <m:acc>
                        <m:accPr>
                          <m:chr m:val="̇"/>
                          <m:ctrlPr>
                            <a:rPr lang="zh-CN" altLang="zh-CN" sz="1400" i="1">
                              <a:latin typeface="Cambria Math" panose="02040503050406030204" pitchFamily="18" charset="0"/>
                              <a:ea typeface="Cambria Math" panose="02040503050406030204" pitchFamily="18" charset="0"/>
                            </a:rPr>
                          </m:ctrlPr>
                        </m:accPr>
                        <m:e>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400" i="1">
                                  <a:latin typeface="Cambria Math" panose="02040503050406030204" pitchFamily="18" charset="0"/>
                                  <a:ea typeface="等线" panose="02010600030101010101" pitchFamily="2" charset="-122"/>
                                  <a:cs typeface="Times New Roman" panose="02020603050405020304" pitchFamily="18" charset="0"/>
                                </a:rPr>
                                <m:t>2</m:t>
                              </m:r>
                            </m:sub>
                          </m:sSub>
                        </m:e>
                      </m:acc>
                      <m:r>
                        <a:rPr lang="en-US" altLang="zh-CN" sz="1400" i="1">
                          <a:latin typeface="Cambria Math" panose="02040503050406030204" pitchFamily="18" charset="0"/>
                          <a:ea typeface="等线" panose="02010600030101010101" pitchFamily="2" charset="-122"/>
                          <a:cs typeface="Times New Roman" panose="02020603050405020304" pitchFamily="18" charset="0"/>
                        </a:rPr>
                        <m:t>=1(</m:t>
                      </m:r>
                      <m:acc>
                        <m:accPr>
                          <m:chr m:val="̇"/>
                          <m:ctrlPr>
                            <a:rPr lang="zh-CN" altLang="zh-CN" sz="1400" i="1">
                              <a:effectLst/>
                              <a:latin typeface="Cambria Math" panose="02040503050406030204" pitchFamily="18" charset="0"/>
                              <a:ea typeface="Cambria Math" panose="02040503050406030204" pitchFamily="18" charset="0"/>
                            </a:rPr>
                          </m:ctrlPr>
                        </m:accPr>
                        <m:e>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400" i="1">
                                  <a:latin typeface="Cambria Math" panose="02040503050406030204" pitchFamily="18" charset="0"/>
                                  <a:ea typeface="等线" panose="02010600030101010101" pitchFamily="2" charset="-122"/>
                                  <a:cs typeface="Times New Roman" panose="02020603050405020304" pitchFamily="18" charset="0"/>
                                </a:rPr>
                                <m:t>1</m:t>
                              </m:r>
                            </m:sub>
                          </m:sSub>
                        </m:e>
                      </m:acc>
                      <m:r>
                        <a:rPr lang="en-US" altLang="zh-CN" sz="1400" i="1">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sz="1400" dirty="0">
                      <a:ea typeface="等线" panose="02010600030101010101" pitchFamily="2" charset="-122"/>
                      <a:cs typeface="Times New Roman" panose="02020603050405020304" pitchFamily="18" charset="0"/>
                    </a:rPr>
                    <a:t>时的速度</a:t>
                  </a:r>
                  <a:endParaRPr lang="zh-CN" altLang="en-US" sz="1400" dirty="0"/>
                </a:p>
              </p:txBody>
            </p:sp>
          </mc:Choice>
          <mc:Fallback xmlns="">
            <p:sp>
              <p:nvSpPr>
                <p:cNvPr id="33" name="矩形 32"/>
                <p:cNvSpPr>
                  <a:spLocks noRot="1" noChangeAspect="1" noMove="1" noResize="1" noEditPoints="1" noAdjustHandles="1" noChangeArrowheads="1" noChangeShapeType="1" noTextEdit="1"/>
                </p:cNvSpPr>
                <p:nvPr/>
              </p:nvSpPr>
              <p:spPr>
                <a:xfrm>
                  <a:off x="6450814" y="4628387"/>
                  <a:ext cx="2068708" cy="317844"/>
                </a:xfrm>
                <a:prstGeom prst="rect">
                  <a:avLst/>
                </a:prstGeom>
                <a:blipFill>
                  <a:blip r:embed="rId6"/>
                  <a:stretch>
                    <a:fillRect b="-19231"/>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8" name="矩形 7"/>
              <p:cNvSpPr/>
              <p:nvPr/>
            </p:nvSpPr>
            <p:spPr>
              <a:xfrm>
                <a:off x="4322573" y="3164731"/>
                <a:ext cx="3130729" cy="114467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𝐽</m:t>
                          </m:r>
                        </m:e>
                        <m:sub>
                          <m:r>
                            <a:rPr lang="zh-CN" altLang="en-US" i="1">
                              <a:latin typeface="Cambria Math" panose="02040503050406030204" pitchFamily="18" charset="0"/>
                            </a:rPr>
                            <m:t>𝑚</m:t>
                          </m:r>
                          <m:r>
                            <a:rPr lang="zh-CN" altLang="en-US" i="0">
                              <a:latin typeface="Cambria Math" panose="02040503050406030204" pitchFamily="18" charset="0"/>
                            </a:rPr>
                            <m:t>×</m:t>
                          </m:r>
                          <m:r>
                            <a:rPr lang="zh-CN" altLang="en-US" i="1">
                              <a:latin typeface="Cambria Math" panose="02040503050406030204" pitchFamily="18" charset="0"/>
                            </a:rPr>
                            <m:t>𝑛</m:t>
                          </m:r>
                        </m:sub>
                      </m:sSub>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m>
                            <m:mPr>
                              <m:mcs>
                                <m:mc>
                                  <m:mcPr>
                                    <m:count m:val="2"/>
                                    <m:mcJc m:val="center"/>
                                  </m:mcPr>
                                </m:mc>
                              </m:mcs>
                              <m:ctrlPr>
                                <a:rPr lang="zh-CN" altLang="en-US" i="1">
                                  <a:latin typeface="Cambria Math" panose="02040503050406030204" pitchFamily="18" charset="0"/>
                                </a:rPr>
                              </m:ctrlPr>
                            </m:mPr>
                            <m:mr>
                              <m:e>
                                <m:m>
                                  <m:mPr>
                                    <m:mcs>
                                      <m:mc>
                                        <m:mcPr>
                                          <m:count m:val="2"/>
                                          <m:mcJc m:val="center"/>
                                        </m:mcPr>
                                      </m:mc>
                                    </m:mcs>
                                    <m:ctrlPr>
                                      <a:rPr lang="zh-CN" altLang="en-US" i="1">
                                        <a:latin typeface="Cambria Math" panose="02040503050406030204" pitchFamily="18" charset="0"/>
                                      </a:rPr>
                                    </m:ctrlPr>
                                  </m:mP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𝐽</m:t>
                                          </m:r>
                                        </m:e>
                                        <m:sub>
                                          <m:r>
                                            <a:rPr lang="zh-CN" altLang="en-US" i="0">
                                              <a:latin typeface="Cambria Math" panose="02040503050406030204" pitchFamily="18" charset="0"/>
                                            </a:rPr>
                                            <m:t>11</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𝐽</m:t>
                                          </m:r>
                                        </m:e>
                                        <m:sub>
                                          <m:r>
                                            <a:rPr lang="zh-CN" altLang="en-US" i="0">
                                              <a:latin typeface="Cambria Math" panose="02040503050406030204" pitchFamily="18" charset="0"/>
                                            </a:rPr>
                                            <m:t>12</m:t>
                                          </m:r>
                                        </m:sub>
                                      </m:sSub>
                                    </m:e>
                                  </m:m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𝐽</m:t>
                                          </m:r>
                                        </m:e>
                                        <m:sub>
                                          <m:r>
                                            <a:rPr lang="zh-CN" altLang="en-US" i="0">
                                              <a:latin typeface="Cambria Math" panose="02040503050406030204" pitchFamily="18" charset="0"/>
                                            </a:rPr>
                                            <m:t>21</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𝐽</m:t>
                                          </m:r>
                                        </m:e>
                                        <m:sub>
                                          <m:r>
                                            <a:rPr lang="zh-CN" altLang="en-US" i="0">
                                              <a:latin typeface="Cambria Math" panose="02040503050406030204" pitchFamily="18" charset="0"/>
                                            </a:rPr>
                                            <m:t>22</m:t>
                                          </m:r>
                                        </m:sub>
                                      </m:sSub>
                                    </m:e>
                                  </m:mr>
                                </m:m>
                              </m:e>
                              <m:e>
                                <m:m>
                                  <m:mPr>
                                    <m:mcs>
                                      <m:mc>
                                        <m:mcPr>
                                          <m:count m:val="2"/>
                                          <m:mcJc m:val="center"/>
                                        </m:mcPr>
                                      </m:mc>
                                    </m:mcs>
                                    <m:ctrlPr>
                                      <a:rPr lang="zh-CN" altLang="en-US" i="1">
                                        <a:latin typeface="Cambria Math" panose="02040503050406030204" pitchFamily="18" charset="0"/>
                                      </a:rPr>
                                    </m:ctrlPr>
                                  </m:mPr>
                                  <m:mr>
                                    <m:e>
                                      <m:r>
                                        <a:rPr lang="zh-CN" altLang="en-US" i="0">
                                          <a:latin typeface="Cambria Math" panose="02040503050406030204" pitchFamily="18" charset="0"/>
                                        </a:rPr>
                                        <m:t>⋯</m:t>
                                      </m:r>
                                    </m:e>
                                    <m:e>
                                      <m:sSub>
                                        <m:sSubPr>
                                          <m:ctrlPr>
                                            <a:rPr lang="zh-CN" altLang="en-US" i="1">
                                              <a:latin typeface="Cambria Math" panose="02040503050406030204" pitchFamily="18" charset="0"/>
                                            </a:rPr>
                                          </m:ctrlPr>
                                        </m:sSubPr>
                                        <m:e>
                                          <m:r>
                                            <a:rPr lang="zh-CN" altLang="en-US" i="1">
                                              <a:latin typeface="Cambria Math" panose="02040503050406030204" pitchFamily="18" charset="0"/>
                                            </a:rPr>
                                            <m:t>𝐽</m:t>
                                          </m:r>
                                        </m:e>
                                        <m:sub>
                                          <m:r>
                                            <a:rPr lang="zh-CN" altLang="en-US" i="0">
                                              <a:latin typeface="Cambria Math" panose="02040503050406030204" pitchFamily="18" charset="0"/>
                                            </a:rPr>
                                            <m:t>1</m:t>
                                          </m:r>
                                          <m:r>
                                            <a:rPr lang="zh-CN" altLang="en-US" i="1">
                                              <a:latin typeface="Cambria Math" panose="02040503050406030204" pitchFamily="18" charset="0"/>
                                            </a:rPr>
                                            <m:t>𝑛</m:t>
                                          </m:r>
                                        </m:sub>
                                      </m:sSub>
                                    </m:e>
                                  </m:mr>
                                  <m:mr>
                                    <m:e>
                                      <m:r>
                                        <a:rPr lang="zh-CN" altLang="en-US" i="0">
                                          <a:latin typeface="Cambria Math" panose="02040503050406030204" pitchFamily="18" charset="0"/>
                                        </a:rPr>
                                        <m:t>⋯</m:t>
                                      </m:r>
                                    </m:e>
                                    <m:e>
                                      <m:sSub>
                                        <m:sSubPr>
                                          <m:ctrlPr>
                                            <a:rPr lang="zh-CN" altLang="en-US" i="1">
                                              <a:latin typeface="Cambria Math" panose="02040503050406030204" pitchFamily="18" charset="0"/>
                                            </a:rPr>
                                          </m:ctrlPr>
                                        </m:sSubPr>
                                        <m:e>
                                          <m:r>
                                            <a:rPr lang="zh-CN" altLang="en-US" i="1">
                                              <a:latin typeface="Cambria Math" panose="02040503050406030204" pitchFamily="18" charset="0"/>
                                            </a:rPr>
                                            <m:t>𝐽</m:t>
                                          </m:r>
                                        </m:e>
                                        <m:sub>
                                          <m:r>
                                            <a:rPr lang="zh-CN" altLang="en-US" i="0">
                                              <a:latin typeface="Cambria Math" panose="02040503050406030204" pitchFamily="18" charset="0"/>
                                            </a:rPr>
                                            <m:t>2</m:t>
                                          </m:r>
                                          <m:r>
                                            <a:rPr lang="zh-CN" altLang="en-US" i="1">
                                              <a:latin typeface="Cambria Math" panose="02040503050406030204" pitchFamily="18" charset="0"/>
                                            </a:rPr>
                                            <m:t>𝑛</m:t>
                                          </m:r>
                                        </m:sub>
                                      </m:sSub>
                                    </m:e>
                                  </m:mr>
                                </m:m>
                              </m:e>
                            </m:mr>
                            <m:mr>
                              <m:e>
                                <m:m>
                                  <m:mPr>
                                    <m:mcs>
                                      <m:mc>
                                        <m:mcPr>
                                          <m:count m:val="2"/>
                                          <m:mcJc m:val="center"/>
                                        </m:mcPr>
                                      </m:mc>
                                    </m:mcs>
                                    <m:ctrlPr>
                                      <a:rPr lang="zh-CN" altLang="en-US" i="1">
                                        <a:latin typeface="Cambria Math" panose="02040503050406030204" pitchFamily="18" charset="0"/>
                                      </a:rPr>
                                    </m:ctrlPr>
                                  </m:mPr>
                                  <m:mr>
                                    <m:e>
                                      <m:r>
                                        <a:rPr lang="zh-CN" altLang="en-US" i="0">
                                          <a:latin typeface="Cambria Math" panose="02040503050406030204" pitchFamily="18" charset="0"/>
                                        </a:rPr>
                                        <m:t>⋮</m:t>
                                      </m:r>
                                    </m:e>
                                    <m:e>
                                      <m:r>
                                        <a:rPr lang="zh-CN" altLang="en-US" i="0">
                                          <a:latin typeface="Cambria Math" panose="02040503050406030204" pitchFamily="18" charset="0"/>
                                        </a:rPr>
                                        <m:t>⋮</m:t>
                                      </m:r>
                                    </m:e>
                                  </m:m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𝐽</m:t>
                                          </m:r>
                                        </m:e>
                                        <m:sub>
                                          <m:r>
                                            <a:rPr lang="zh-CN" altLang="en-US" i="1">
                                              <a:latin typeface="Cambria Math" panose="02040503050406030204" pitchFamily="18" charset="0"/>
                                            </a:rPr>
                                            <m:t>𝑚</m:t>
                                          </m:r>
                                          <m:r>
                                            <a:rPr lang="zh-CN" altLang="en-US" i="0">
                                              <a:latin typeface="Cambria Math" panose="02040503050406030204" pitchFamily="18" charset="0"/>
                                            </a:rPr>
                                            <m:t>1</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𝐽</m:t>
                                          </m:r>
                                        </m:e>
                                        <m:sub>
                                          <m:r>
                                            <a:rPr lang="zh-CN" altLang="en-US" i="1">
                                              <a:latin typeface="Cambria Math" panose="02040503050406030204" pitchFamily="18" charset="0"/>
                                            </a:rPr>
                                            <m:t>𝑚</m:t>
                                          </m:r>
                                          <m:r>
                                            <a:rPr lang="zh-CN" altLang="en-US" i="0">
                                              <a:latin typeface="Cambria Math" panose="02040503050406030204" pitchFamily="18" charset="0"/>
                                            </a:rPr>
                                            <m:t>2</m:t>
                                          </m:r>
                                        </m:sub>
                                      </m:sSub>
                                    </m:e>
                                  </m:mr>
                                </m:m>
                              </m:e>
                              <m:e>
                                <m:m>
                                  <m:mPr>
                                    <m:mcs>
                                      <m:mc>
                                        <m:mcPr>
                                          <m:count m:val="2"/>
                                          <m:mcJc m:val="center"/>
                                        </m:mcPr>
                                      </m:mc>
                                    </m:mcs>
                                    <m:ctrlPr>
                                      <a:rPr lang="zh-CN" altLang="en-US" i="1">
                                        <a:latin typeface="Cambria Math" panose="02040503050406030204" pitchFamily="18" charset="0"/>
                                      </a:rPr>
                                    </m:ctrlPr>
                                  </m:mPr>
                                  <m:mr>
                                    <m:e>
                                      <m:r>
                                        <a:rPr lang="zh-CN" altLang="en-US" i="0">
                                          <a:latin typeface="Cambria Math" panose="02040503050406030204" pitchFamily="18" charset="0"/>
                                        </a:rPr>
                                        <m:t>⋮</m:t>
                                      </m:r>
                                    </m:e>
                                    <m:e>
                                      <m:r>
                                        <a:rPr lang="zh-CN" altLang="en-US" i="0">
                                          <a:latin typeface="Cambria Math" panose="02040503050406030204" pitchFamily="18" charset="0"/>
                                        </a:rPr>
                                        <m:t>⋮</m:t>
                                      </m:r>
                                    </m:e>
                                  </m:mr>
                                  <m:mr>
                                    <m:e>
                                      <m:r>
                                        <a:rPr lang="zh-CN" altLang="en-US" i="0">
                                          <a:latin typeface="Cambria Math" panose="02040503050406030204" pitchFamily="18" charset="0"/>
                                        </a:rPr>
                                        <m:t>⋯</m:t>
                                      </m:r>
                                    </m:e>
                                    <m:e>
                                      <m:sSub>
                                        <m:sSubPr>
                                          <m:ctrlPr>
                                            <a:rPr lang="zh-CN" altLang="en-US" i="1">
                                              <a:latin typeface="Cambria Math" panose="02040503050406030204" pitchFamily="18" charset="0"/>
                                            </a:rPr>
                                          </m:ctrlPr>
                                        </m:sSubPr>
                                        <m:e>
                                          <m:r>
                                            <a:rPr lang="zh-CN" altLang="en-US" i="1">
                                              <a:latin typeface="Cambria Math" panose="02040503050406030204" pitchFamily="18" charset="0"/>
                                            </a:rPr>
                                            <m:t>𝐽</m:t>
                                          </m:r>
                                        </m:e>
                                        <m:sub>
                                          <m:r>
                                            <a:rPr lang="zh-CN" altLang="en-US" i="1">
                                              <a:latin typeface="Cambria Math" panose="02040503050406030204" pitchFamily="18" charset="0"/>
                                            </a:rPr>
                                            <m:t>𝑚𝑛</m:t>
                                          </m:r>
                                        </m:sub>
                                      </m:sSub>
                                    </m:e>
                                  </m:mr>
                                </m:m>
                              </m:e>
                            </m:mr>
                          </m:m>
                        </m:e>
                      </m:d>
                    </m:oMath>
                  </m:oMathPara>
                </a14:m>
                <a:endParaRPr lang="zh-CN" altLang="en-US" dirty="0"/>
              </a:p>
            </p:txBody>
          </p:sp>
        </mc:Choice>
        <mc:Fallback xmlns="">
          <p:sp>
            <p:nvSpPr>
              <p:cNvPr id="8" name="矩形 7"/>
              <p:cNvSpPr>
                <a:spLocks noRot="1" noChangeAspect="1" noMove="1" noResize="1" noEditPoints="1" noAdjustHandles="1" noChangeArrowheads="1" noChangeShapeType="1" noTextEdit="1"/>
              </p:cNvSpPr>
              <p:nvPr/>
            </p:nvSpPr>
            <p:spPr>
              <a:xfrm>
                <a:off x="4322573" y="3164731"/>
                <a:ext cx="3130729" cy="1144672"/>
              </a:xfrm>
              <a:prstGeom prst="rect">
                <a:avLst/>
              </a:prstGeom>
              <a:blipFill>
                <a:blip r:embed="rId7"/>
                <a:stretch>
                  <a:fillRect/>
                </a:stretch>
              </a:blipFill>
            </p:spPr>
            <p:txBody>
              <a:bodyPr/>
              <a:lstStyle/>
              <a:p>
                <a:r>
                  <a:rPr lang="zh-CN" altLang="en-US">
                    <a:noFill/>
                  </a:rPr>
                  <a:t> </a:t>
                </a:r>
              </a:p>
            </p:txBody>
          </p:sp>
        </mc:Fallback>
      </mc:AlternateContent>
      <p:sp>
        <p:nvSpPr>
          <p:cNvPr id="9" name="Rectangle 2"/>
          <p:cNvSpPr>
            <a:spLocks noChangeArrowheads="1"/>
          </p:cNvSpPr>
          <p:nvPr/>
        </p:nvSpPr>
        <p:spPr bwMode="auto">
          <a:xfrm>
            <a:off x="963699" y="1208591"/>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extLst>
              <p:ext uri="{D42A27DB-BD31-4B8C-83A1-F6EECF244321}">
                <p14:modId xmlns:p14="http://schemas.microsoft.com/office/powerpoint/2010/main" val="3177353357"/>
              </p:ext>
            </p:extLst>
          </p:nvPr>
        </p:nvGraphicFramePr>
        <p:xfrm>
          <a:off x="963699" y="1208591"/>
          <a:ext cx="2428875" cy="1724025"/>
        </p:xfrm>
        <a:graphic>
          <a:graphicData uri="http://schemas.openxmlformats.org/presentationml/2006/ole">
            <mc:AlternateContent xmlns:mc="http://schemas.openxmlformats.org/markup-compatibility/2006">
              <mc:Choice xmlns:v="urn:schemas-microsoft-com:vml" Requires="v">
                <p:oleObj spid="_x0000_s34882" name="Visio" r:id="rId8" imgW="3083400" imgH="2194614" progId="Visio.Drawing.11">
                  <p:embed/>
                </p:oleObj>
              </mc:Choice>
              <mc:Fallback>
                <p:oleObj name="Visio" r:id="rId8" imgW="3083400" imgH="2194614" progId="Visio.Drawing.11">
                  <p:embed/>
                  <p:pic>
                    <p:nvPicPr>
                      <p:cNvPr id="0" name="Object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63699" y="1208591"/>
                        <a:ext cx="2428875" cy="172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下箭头 10"/>
          <p:cNvSpPr/>
          <p:nvPr/>
        </p:nvSpPr>
        <p:spPr>
          <a:xfrm>
            <a:off x="5579370" y="2539346"/>
            <a:ext cx="617136" cy="49025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6196506" y="2677959"/>
            <a:ext cx="595035" cy="338554"/>
          </a:xfrm>
          <a:prstGeom prst="rect">
            <a:avLst/>
          </a:prstGeom>
          <a:noFill/>
        </p:spPr>
        <p:txBody>
          <a:bodyPr wrap="none" rtlCol="0">
            <a:spAutoFit/>
          </a:bodyPr>
          <a:lstStyle/>
          <a:p>
            <a:r>
              <a:rPr lang="zh-CN" altLang="en-US" sz="1600" dirty="0" smtClean="0">
                <a:solidFill>
                  <a:srgbClr val="002060"/>
                </a:solidFill>
              </a:rPr>
              <a:t>推广</a:t>
            </a:r>
            <a:endParaRPr lang="zh-CN" altLang="en-US" sz="1600" dirty="0">
              <a:solidFill>
                <a:srgbClr val="002060"/>
              </a:solidFill>
            </a:endParaRPr>
          </a:p>
        </p:txBody>
      </p:sp>
      <p:pic>
        <p:nvPicPr>
          <p:cNvPr id="17" name="图片 16"/>
          <p:cNvPicPr>
            <a:picLocks noChangeAspect="1"/>
          </p:cNvPicPr>
          <p:nvPr/>
        </p:nvPicPr>
        <p:blipFill>
          <a:blip r:embed="rId10"/>
          <a:stretch>
            <a:fillRect/>
          </a:stretch>
        </p:blipFill>
        <p:spPr>
          <a:xfrm>
            <a:off x="1655873" y="3197741"/>
            <a:ext cx="1259617" cy="1613106"/>
          </a:xfrm>
          <a:prstGeom prst="rect">
            <a:avLst/>
          </a:prstGeom>
        </p:spPr>
      </p:pic>
      <p:sp>
        <p:nvSpPr>
          <p:cNvPr id="21" name="下箭头 20"/>
          <p:cNvSpPr/>
          <p:nvPr/>
        </p:nvSpPr>
        <p:spPr>
          <a:xfrm>
            <a:off x="2178136" y="2913427"/>
            <a:ext cx="313691" cy="265125"/>
          </a:xfrm>
          <a:prstGeom prst="down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3" name="矩形 22"/>
              <p:cNvSpPr/>
              <p:nvPr/>
            </p:nvSpPr>
            <p:spPr>
              <a:xfrm>
                <a:off x="3354008" y="4343368"/>
                <a:ext cx="5067858" cy="596253"/>
              </a:xfrm>
              <a:prstGeom prst="rect">
                <a:avLst/>
              </a:prstGeom>
            </p:spPr>
            <p:txBody>
              <a:bodyPr wrap="square">
                <a:spAutoFit/>
              </a:bodyPr>
              <a:lstStyle/>
              <a:p>
                <a:r>
                  <a:rPr lang="zh-CN" altLang="zh-CN" sz="1600" b="1" dirty="0" smtClean="0">
                    <a:solidFill>
                      <a:srgbClr val="002060"/>
                    </a:solidFill>
                    <a:ea typeface="等线" panose="02010600030101010101" pitchFamily="2" charset="-122"/>
                    <a:cs typeface="Times New Roman" panose="02020603050405020304" pitchFamily="18" charset="0"/>
                  </a:rPr>
                  <a:t>雅可比矩阵的第</a:t>
                </a:r>
                <a14:m>
                  <m:oMath xmlns:m="http://schemas.openxmlformats.org/officeDocument/2006/math">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𝒊</m:t>
                    </m:r>
                  </m:oMath>
                </a14:m>
                <a:r>
                  <a:rPr lang="zh-CN" altLang="zh-CN" sz="1600" b="1" dirty="0">
                    <a:solidFill>
                      <a:srgbClr val="002060"/>
                    </a:solidFill>
                    <a:ea typeface="等线" panose="02010600030101010101" pitchFamily="2" charset="-122"/>
                    <a:cs typeface="Times New Roman" panose="02020603050405020304" pitchFamily="18" charset="0"/>
                  </a:rPr>
                  <a:t>列</a:t>
                </a:r>
                <a14:m>
                  <m:oMath xmlns:m="http://schemas.openxmlformats.org/officeDocument/2006/math">
                    <m:sSub>
                      <m:sSubPr>
                        <m:ctrlPr>
                          <a:rPr lang="zh-CN" altLang="zh-CN" sz="1600" b="1" i="1">
                            <a:solidFill>
                              <a:srgbClr val="002060"/>
                            </a:solidFill>
                            <a:effectLst/>
                            <a:latin typeface="Cambria Math" panose="02040503050406030204" pitchFamily="18" charset="0"/>
                            <a:ea typeface="Cambria Math" panose="02040503050406030204" pitchFamily="18" charset="0"/>
                          </a:rPr>
                        </m:ctrlPr>
                      </m:sSubPr>
                      <m:e>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𝑱</m:t>
                        </m:r>
                      </m:e>
                      <m:sub>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𝒊</m:t>
                        </m:r>
                      </m:sub>
                    </m:sSub>
                    <m:d>
                      <m:dPr>
                        <m:ctrlPr>
                          <a:rPr lang="zh-CN" altLang="zh-CN" sz="1600" b="1" i="1">
                            <a:solidFill>
                              <a:srgbClr val="002060"/>
                            </a:solidFill>
                            <a:effectLst/>
                            <a:latin typeface="Cambria Math" panose="02040503050406030204" pitchFamily="18" charset="0"/>
                            <a:ea typeface="Cambria Math" panose="02040503050406030204" pitchFamily="18" charset="0"/>
                          </a:rPr>
                        </m:ctrlPr>
                      </m:dPr>
                      <m:e>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𝜽</m:t>
                        </m:r>
                      </m:e>
                    </m:d>
                  </m:oMath>
                </a14:m>
                <a:r>
                  <a:rPr lang="zh-CN" altLang="zh-CN" sz="1600" b="1" dirty="0">
                    <a:solidFill>
                      <a:srgbClr val="002060"/>
                    </a:solidFill>
                    <a:ea typeface="等线" panose="02010600030101010101" pitchFamily="2" charset="-122"/>
                    <a:cs typeface="Times New Roman" panose="02020603050405020304" pitchFamily="18" charset="0"/>
                  </a:rPr>
                  <a:t>对应当</a:t>
                </a:r>
                <a14:m>
                  <m:oMath xmlns:m="http://schemas.openxmlformats.org/officeDocument/2006/math">
                    <m:acc>
                      <m:accPr>
                        <m:chr m:val="̇"/>
                        <m:ctrlPr>
                          <a:rPr lang="zh-CN" altLang="zh-CN" sz="1600" b="1" i="1">
                            <a:solidFill>
                              <a:srgbClr val="002060"/>
                            </a:solidFill>
                            <a:effectLst/>
                            <a:latin typeface="Cambria Math" panose="02040503050406030204" pitchFamily="18" charset="0"/>
                            <a:ea typeface="Cambria Math" panose="02040503050406030204" pitchFamily="18" charset="0"/>
                          </a:rPr>
                        </m:ctrlPr>
                      </m:accPr>
                      <m:e>
                        <m:sSub>
                          <m:sSubPr>
                            <m:ctrlPr>
                              <a:rPr lang="zh-CN" altLang="zh-CN" sz="1600" b="1" i="1">
                                <a:solidFill>
                                  <a:srgbClr val="002060"/>
                                </a:solidFill>
                                <a:effectLst/>
                                <a:latin typeface="Cambria Math" panose="02040503050406030204" pitchFamily="18" charset="0"/>
                                <a:ea typeface="Cambria Math" panose="02040503050406030204" pitchFamily="18" charset="0"/>
                              </a:rPr>
                            </m:ctrlPr>
                          </m:sSubPr>
                          <m:e>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𝜽</m:t>
                            </m:r>
                          </m:e>
                          <m:sub>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𝒊</m:t>
                            </m:r>
                          </m:sub>
                        </m:sSub>
                      </m:e>
                    </m:acc>
                    <m:r>
                      <a:rPr lang="en-US" altLang="zh-CN" sz="1600" b="1">
                        <a:solidFill>
                          <a:srgbClr val="00206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𝟏</m:t>
                    </m:r>
                  </m:oMath>
                </a14:m>
                <a:r>
                  <a:rPr lang="zh-CN" altLang="zh-CN" sz="1600" b="1" dirty="0">
                    <a:solidFill>
                      <a:srgbClr val="002060"/>
                    </a:solidFill>
                    <a:ea typeface="等线" panose="02010600030101010101" pitchFamily="2" charset="-122"/>
                    <a:cs typeface="Times New Roman" panose="02020603050405020304" pitchFamily="18" charset="0"/>
                  </a:rPr>
                  <a:t>而其他关节速度为零时的末端速度</a:t>
                </a:r>
                <a:endParaRPr lang="zh-CN" altLang="en-US" sz="1600" b="1" dirty="0">
                  <a:solidFill>
                    <a:srgbClr val="002060"/>
                  </a:solidFill>
                </a:endParaRPr>
              </a:p>
            </p:txBody>
          </p:sp>
        </mc:Choice>
        <mc:Fallback xmlns="">
          <p:sp>
            <p:nvSpPr>
              <p:cNvPr id="23" name="矩形 22"/>
              <p:cNvSpPr>
                <a:spLocks noRot="1" noChangeAspect="1" noMove="1" noResize="1" noEditPoints="1" noAdjustHandles="1" noChangeArrowheads="1" noChangeShapeType="1" noTextEdit="1"/>
              </p:cNvSpPr>
              <p:nvPr/>
            </p:nvSpPr>
            <p:spPr>
              <a:xfrm>
                <a:off x="3354008" y="4343368"/>
                <a:ext cx="5067858" cy="596253"/>
              </a:xfrm>
              <a:prstGeom prst="rect">
                <a:avLst/>
              </a:prstGeom>
              <a:blipFill>
                <a:blip r:embed="rId11"/>
                <a:stretch>
                  <a:fillRect l="-601" t="-1020" b="-12245"/>
                </a:stretch>
              </a:blipFill>
            </p:spPr>
            <p:txBody>
              <a:bodyPr/>
              <a:lstStyle/>
              <a:p>
                <a:r>
                  <a:rPr lang="zh-CN" altLang="en-US">
                    <a:noFill/>
                  </a:rPr>
                  <a:t> </a:t>
                </a:r>
              </a:p>
            </p:txBody>
          </p:sp>
        </mc:Fallback>
      </mc:AlternateContent>
      <p:grpSp>
        <p:nvGrpSpPr>
          <p:cNvPr id="34" name="组合 33"/>
          <p:cNvGrpSpPr/>
          <p:nvPr/>
        </p:nvGrpSpPr>
        <p:grpSpPr>
          <a:xfrm>
            <a:off x="-236220" y="219075"/>
            <a:ext cx="5153660" cy="598805"/>
            <a:chOff x="-372" y="345"/>
            <a:chExt cx="8116" cy="943"/>
          </a:xfrm>
        </p:grpSpPr>
        <p:sp>
          <p:nvSpPr>
            <p:cNvPr id="35" name="矩形 3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Jacobian Matrix of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6" name="文本框 3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机器人雅可比矩阵</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37" name="椭圆 3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17706191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178137" y="803488"/>
            <a:ext cx="5706231" cy="400110"/>
          </a:xfrm>
          <a:prstGeom prst="rect">
            <a:avLst/>
          </a:prstGeom>
        </p:spPr>
        <p:txBody>
          <a:bodyPr wrap="square">
            <a:spAutoFit/>
          </a:bodyPr>
          <a:lstStyle/>
          <a:p>
            <a:r>
              <a:rPr lang="zh-CN" altLang="en-US" sz="2000" b="1" dirty="0">
                <a:solidFill>
                  <a:srgbClr val="002060"/>
                </a:solidFill>
              </a:rPr>
              <a:t>机器人雅可比矩阵</a:t>
            </a:r>
            <a:r>
              <a:rPr lang="en-US" altLang="zh-CN" sz="2000" b="1" dirty="0">
                <a:solidFill>
                  <a:srgbClr val="002060"/>
                </a:solidFill>
              </a:rPr>
              <a:t>(Jacobian Matrix of Robots)</a:t>
            </a:r>
            <a:endParaRPr lang="zh-CN" altLang="en-US" sz="2000" b="1" dirty="0">
              <a:solidFill>
                <a:srgbClr val="002060"/>
              </a:solidFill>
            </a:endParaRPr>
          </a:p>
        </p:txBody>
      </p:sp>
      <mc:AlternateContent xmlns:mc="http://schemas.openxmlformats.org/markup-compatibility/2006" xmlns:a14="http://schemas.microsoft.com/office/drawing/2010/main">
        <mc:Choice Requires="a14">
          <p:sp>
            <p:nvSpPr>
              <p:cNvPr id="8" name="矩形 7"/>
              <p:cNvSpPr/>
              <p:nvPr/>
            </p:nvSpPr>
            <p:spPr>
              <a:xfrm>
                <a:off x="1547664" y="2976930"/>
                <a:ext cx="2541401" cy="9103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b="1" i="1" smtClean="0">
                              <a:solidFill>
                                <a:srgbClr val="002060"/>
                              </a:solidFill>
                              <a:latin typeface="Cambria Math" panose="02040503050406030204" pitchFamily="18" charset="0"/>
                            </a:rPr>
                          </m:ctrlPr>
                        </m:sSubPr>
                        <m:e>
                          <m:r>
                            <a:rPr lang="zh-CN" altLang="en-US" sz="1400" b="1" i="1">
                              <a:solidFill>
                                <a:srgbClr val="002060"/>
                              </a:solidFill>
                              <a:latin typeface="Cambria Math" panose="02040503050406030204" pitchFamily="18" charset="0"/>
                            </a:rPr>
                            <m:t>𝑱</m:t>
                          </m:r>
                        </m:e>
                        <m:sub>
                          <m:r>
                            <a:rPr lang="zh-CN" altLang="en-US" sz="1400" b="1" i="1">
                              <a:solidFill>
                                <a:srgbClr val="002060"/>
                              </a:solidFill>
                              <a:latin typeface="Cambria Math" panose="02040503050406030204" pitchFamily="18" charset="0"/>
                            </a:rPr>
                            <m:t>𝒎</m:t>
                          </m:r>
                          <m:r>
                            <a:rPr lang="zh-CN" altLang="en-US" sz="1400" b="1" i="0">
                              <a:solidFill>
                                <a:srgbClr val="002060"/>
                              </a:solidFill>
                              <a:latin typeface="Cambria Math" panose="02040503050406030204" pitchFamily="18" charset="0"/>
                            </a:rPr>
                            <m:t>×</m:t>
                          </m:r>
                          <m:r>
                            <a:rPr lang="zh-CN" altLang="en-US" sz="1400" b="1" i="1">
                              <a:solidFill>
                                <a:srgbClr val="002060"/>
                              </a:solidFill>
                              <a:latin typeface="Cambria Math" panose="02040503050406030204" pitchFamily="18" charset="0"/>
                            </a:rPr>
                            <m:t>𝒏</m:t>
                          </m:r>
                        </m:sub>
                      </m:sSub>
                      <m:r>
                        <a:rPr lang="zh-CN" altLang="en-US" sz="1400" b="1" i="0">
                          <a:solidFill>
                            <a:srgbClr val="002060"/>
                          </a:solidFill>
                          <a:latin typeface="Cambria Math" panose="02040503050406030204" pitchFamily="18" charset="0"/>
                        </a:rPr>
                        <m:t>=</m:t>
                      </m:r>
                      <m:d>
                        <m:dPr>
                          <m:begChr m:val="["/>
                          <m:endChr m:val="]"/>
                          <m:ctrlPr>
                            <a:rPr lang="zh-CN" altLang="en-US" sz="1400" b="1" i="1">
                              <a:solidFill>
                                <a:srgbClr val="002060"/>
                              </a:solidFill>
                              <a:latin typeface="Cambria Math" panose="02040503050406030204" pitchFamily="18" charset="0"/>
                            </a:rPr>
                          </m:ctrlPr>
                        </m:dPr>
                        <m:e>
                          <m:m>
                            <m:mPr>
                              <m:mcs>
                                <m:mc>
                                  <m:mcPr>
                                    <m:count m:val="2"/>
                                    <m:mcJc m:val="center"/>
                                  </m:mcPr>
                                </m:mc>
                              </m:mcs>
                              <m:ctrlPr>
                                <a:rPr lang="zh-CN" altLang="en-US" sz="1400" b="1" i="1">
                                  <a:solidFill>
                                    <a:srgbClr val="002060"/>
                                  </a:solidFill>
                                  <a:latin typeface="Cambria Math" panose="02040503050406030204" pitchFamily="18" charset="0"/>
                                </a:rPr>
                              </m:ctrlPr>
                            </m:mPr>
                            <m:mr>
                              <m:e>
                                <m:m>
                                  <m:mPr>
                                    <m:mcs>
                                      <m:mc>
                                        <m:mcPr>
                                          <m:count m:val="2"/>
                                          <m:mcJc m:val="center"/>
                                        </m:mcPr>
                                      </m:mc>
                                    </m:mcs>
                                    <m:ctrlPr>
                                      <a:rPr lang="zh-CN" altLang="en-US" sz="1400" b="1" i="1">
                                        <a:solidFill>
                                          <a:srgbClr val="002060"/>
                                        </a:solidFill>
                                        <a:latin typeface="Cambria Math" panose="02040503050406030204" pitchFamily="18" charset="0"/>
                                      </a:rPr>
                                    </m:ctrlPr>
                                  </m:mPr>
                                  <m:mr>
                                    <m:e>
                                      <m:sSub>
                                        <m:sSubPr>
                                          <m:ctrlPr>
                                            <a:rPr lang="zh-CN" altLang="en-US" sz="1400" b="1" i="1">
                                              <a:solidFill>
                                                <a:srgbClr val="002060"/>
                                              </a:solidFill>
                                              <a:latin typeface="Cambria Math" panose="02040503050406030204" pitchFamily="18" charset="0"/>
                                            </a:rPr>
                                          </m:ctrlPr>
                                        </m:sSubPr>
                                        <m:e>
                                          <m:r>
                                            <a:rPr lang="zh-CN" altLang="en-US" sz="1400" b="1" i="1">
                                              <a:solidFill>
                                                <a:srgbClr val="002060"/>
                                              </a:solidFill>
                                              <a:latin typeface="Cambria Math" panose="02040503050406030204" pitchFamily="18" charset="0"/>
                                            </a:rPr>
                                            <m:t>𝑱</m:t>
                                          </m:r>
                                        </m:e>
                                        <m:sub>
                                          <m:r>
                                            <a:rPr lang="zh-CN" altLang="en-US" sz="1400" b="1" i="0">
                                              <a:solidFill>
                                                <a:srgbClr val="002060"/>
                                              </a:solidFill>
                                              <a:latin typeface="Cambria Math" panose="02040503050406030204" pitchFamily="18" charset="0"/>
                                            </a:rPr>
                                            <m:t>𝟏𝟏</m:t>
                                          </m:r>
                                        </m:sub>
                                      </m:sSub>
                                    </m:e>
                                    <m:e>
                                      <m:sSub>
                                        <m:sSubPr>
                                          <m:ctrlPr>
                                            <a:rPr lang="zh-CN" altLang="en-US" sz="1400" b="1" i="1">
                                              <a:solidFill>
                                                <a:srgbClr val="002060"/>
                                              </a:solidFill>
                                              <a:latin typeface="Cambria Math" panose="02040503050406030204" pitchFamily="18" charset="0"/>
                                            </a:rPr>
                                          </m:ctrlPr>
                                        </m:sSubPr>
                                        <m:e>
                                          <m:r>
                                            <a:rPr lang="zh-CN" altLang="en-US" sz="1400" b="1" i="1">
                                              <a:solidFill>
                                                <a:srgbClr val="002060"/>
                                              </a:solidFill>
                                              <a:latin typeface="Cambria Math" panose="02040503050406030204" pitchFamily="18" charset="0"/>
                                            </a:rPr>
                                            <m:t>𝑱</m:t>
                                          </m:r>
                                        </m:e>
                                        <m:sub>
                                          <m:r>
                                            <a:rPr lang="zh-CN" altLang="en-US" sz="1400" b="1" i="0">
                                              <a:solidFill>
                                                <a:srgbClr val="002060"/>
                                              </a:solidFill>
                                              <a:latin typeface="Cambria Math" panose="02040503050406030204" pitchFamily="18" charset="0"/>
                                            </a:rPr>
                                            <m:t>𝟏𝟐</m:t>
                                          </m:r>
                                        </m:sub>
                                      </m:sSub>
                                    </m:e>
                                  </m:mr>
                                  <m:mr>
                                    <m:e>
                                      <m:sSub>
                                        <m:sSubPr>
                                          <m:ctrlPr>
                                            <a:rPr lang="zh-CN" altLang="en-US" sz="1400" b="1" i="1">
                                              <a:solidFill>
                                                <a:srgbClr val="002060"/>
                                              </a:solidFill>
                                              <a:latin typeface="Cambria Math" panose="02040503050406030204" pitchFamily="18" charset="0"/>
                                            </a:rPr>
                                          </m:ctrlPr>
                                        </m:sSubPr>
                                        <m:e>
                                          <m:r>
                                            <a:rPr lang="zh-CN" altLang="en-US" sz="1400" b="1" i="1">
                                              <a:solidFill>
                                                <a:srgbClr val="002060"/>
                                              </a:solidFill>
                                              <a:latin typeface="Cambria Math" panose="02040503050406030204" pitchFamily="18" charset="0"/>
                                            </a:rPr>
                                            <m:t>𝑱</m:t>
                                          </m:r>
                                        </m:e>
                                        <m:sub>
                                          <m:r>
                                            <a:rPr lang="zh-CN" altLang="en-US" sz="1400" b="1" i="0">
                                              <a:solidFill>
                                                <a:srgbClr val="002060"/>
                                              </a:solidFill>
                                              <a:latin typeface="Cambria Math" panose="02040503050406030204" pitchFamily="18" charset="0"/>
                                            </a:rPr>
                                            <m:t>𝟐𝟏</m:t>
                                          </m:r>
                                        </m:sub>
                                      </m:sSub>
                                    </m:e>
                                    <m:e>
                                      <m:sSub>
                                        <m:sSubPr>
                                          <m:ctrlPr>
                                            <a:rPr lang="zh-CN" altLang="en-US" sz="1400" b="1" i="1">
                                              <a:solidFill>
                                                <a:srgbClr val="002060"/>
                                              </a:solidFill>
                                              <a:latin typeface="Cambria Math" panose="02040503050406030204" pitchFamily="18" charset="0"/>
                                            </a:rPr>
                                          </m:ctrlPr>
                                        </m:sSubPr>
                                        <m:e>
                                          <m:r>
                                            <a:rPr lang="zh-CN" altLang="en-US" sz="1400" b="1" i="1">
                                              <a:solidFill>
                                                <a:srgbClr val="002060"/>
                                              </a:solidFill>
                                              <a:latin typeface="Cambria Math" panose="02040503050406030204" pitchFamily="18" charset="0"/>
                                            </a:rPr>
                                            <m:t>𝑱</m:t>
                                          </m:r>
                                        </m:e>
                                        <m:sub>
                                          <m:r>
                                            <a:rPr lang="zh-CN" altLang="en-US" sz="1400" b="1" i="0">
                                              <a:solidFill>
                                                <a:srgbClr val="002060"/>
                                              </a:solidFill>
                                              <a:latin typeface="Cambria Math" panose="02040503050406030204" pitchFamily="18" charset="0"/>
                                            </a:rPr>
                                            <m:t>𝟐𝟐</m:t>
                                          </m:r>
                                        </m:sub>
                                      </m:sSub>
                                    </m:e>
                                  </m:mr>
                                </m:m>
                              </m:e>
                              <m:e>
                                <m:m>
                                  <m:mPr>
                                    <m:mcs>
                                      <m:mc>
                                        <m:mcPr>
                                          <m:count m:val="2"/>
                                          <m:mcJc m:val="center"/>
                                        </m:mcPr>
                                      </m:mc>
                                    </m:mcs>
                                    <m:ctrlPr>
                                      <a:rPr lang="zh-CN" altLang="en-US" sz="1400" b="1" i="1">
                                        <a:solidFill>
                                          <a:srgbClr val="002060"/>
                                        </a:solidFill>
                                        <a:latin typeface="Cambria Math" panose="02040503050406030204" pitchFamily="18" charset="0"/>
                                      </a:rPr>
                                    </m:ctrlPr>
                                  </m:mPr>
                                  <m:mr>
                                    <m:e>
                                      <m:r>
                                        <a:rPr lang="zh-CN" altLang="en-US" sz="1400" b="1" i="0">
                                          <a:solidFill>
                                            <a:srgbClr val="002060"/>
                                          </a:solidFill>
                                          <a:latin typeface="Cambria Math" panose="02040503050406030204" pitchFamily="18" charset="0"/>
                                        </a:rPr>
                                        <m:t>⋯</m:t>
                                      </m:r>
                                    </m:e>
                                    <m:e>
                                      <m:sSub>
                                        <m:sSubPr>
                                          <m:ctrlPr>
                                            <a:rPr lang="zh-CN" altLang="en-US" sz="1400" b="1" i="1">
                                              <a:solidFill>
                                                <a:srgbClr val="002060"/>
                                              </a:solidFill>
                                              <a:latin typeface="Cambria Math" panose="02040503050406030204" pitchFamily="18" charset="0"/>
                                            </a:rPr>
                                          </m:ctrlPr>
                                        </m:sSubPr>
                                        <m:e>
                                          <m:r>
                                            <a:rPr lang="zh-CN" altLang="en-US" sz="1400" b="1" i="1">
                                              <a:solidFill>
                                                <a:srgbClr val="002060"/>
                                              </a:solidFill>
                                              <a:latin typeface="Cambria Math" panose="02040503050406030204" pitchFamily="18" charset="0"/>
                                            </a:rPr>
                                            <m:t>𝑱</m:t>
                                          </m:r>
                                        </m:e>
                                        <m:sub>
                                          <m:r>
                                            <a:rPr lang="zh-CN" altLang="en-US" sz="1400" b="1" i="0">
                                              <a:solidFill>
                                                <a:srgbClr val="002060"/>
                                              </a:solidFill>
                                              <a:latin typeface="Cambria Math" panose="02040503050406030204" pitchFamily="18" charset="0"/>
                                            </a:rPr>
                                            <m:t>𝟏</m:t>
                                          </m:r>
                                          <m:r>
                                            <a:rPr lang="zh-CN" altLang="en-US" sz="1400" b="1" i="1">
                                              <a:solidFill>
                                                <a:srgbClr val="002060"/>
                                              </a:solidFill>
                                              <a:latin typeface="Cambria Math" panose="02040503050406030204" pitchFamily="18" charset="0"/>
                                            </a:rPr>
                                            <m:t>𝒏</m:t>
                                          </m:r>
                                        </m:sub>
                                      </m:sSub>
                                    </m:e>
                                  </m:mr>
                                  <m:mr>
                                    <m:e>
                                      <m:r>
                                        <a:rPr lang="zh-CN" altLang="en-US" sz="1400" b="1" i="0">
                                          <a:solidFill>
                                            <a:srgbClr val="002060"/>
                                          </a:solidFill>
                                          <a:latin typeface="Cambria Math" panose="02040503050406030204" pitchFamily="18" charset="0"/>
                                        </a:rPr>
                                        <m:t>⋯</m:t>
                                      </m:r>
                                    </m:e>
                                    <m:e>
                                      <m:sSub>
                                        <m:sSubPr>
                                          <m:ctrlPr>
                                            <a:rPr lang="zh-CN" altLang="en-US" sz="1400" b="1" i="1">
                                              <a:solidFill>
                                                <a:srgbClr val="002060"/>
                                              </a:solidFill>
                                              <a:latin typeface="Cambria Math" panose="02040503050406030204" pitchFamily="18" charset="0"/>
                                            </a:rPr>
                                          </m:ctrlPr>
                                        </m:sSubPr>
                                        <m:e>
                                          <m:r>
                                            <a:rPr lang="zh-CN" altLang="en-US" sz="1400" b="1" i="1">
                                              <a:solidFill>
                                                <a:srgbClr val="002060"/>
                                              </a:solidFill>
                                              <a:latin typeface="Cambria Math" panose="02040503050406030204" pitchFamily="18" charset="0"/>
                                            </a:rPr>
                                            <m:t>𝑱</m:t>
                                          </m:r>
                                        </m:e>
                                        <m:sub>
                                          <m:r>
                                            <a:rPr lang="zh-CN" altLang="en-US" sz="1400" b="1" i="0">
                                              <a:solidFill>
                                                <a:srgbClr val="002060"/>
                                              </a:solidFill>
                                              <a:latin typeface="Cambria Math" panose="02040503050406030204" pitchFamily="18" charset="0"/>
                                            </a:rPr>
                                            <m:t>𝟐</m:t>
                                          </m:r>
                                          <m:r>
                                            <a:rPr lang="zh-CN" altLang="en-US" sz="1400" b="1" i="1">
                                              <a:solidFill>
                                                <a:srgbClr val="002060"/>
                                              </a:solidFill>
                                              <a:latin typeface="Cambria Math" panose="02040503050406030204" pitchFamily="18" charset="0"/>
                                            </a:rPr>
                                            <m:t>𝒏</m:t>
                                          </m:r>
                                        </m:sub>
                                      </m:sSub>
                                    </m:e>
                                  </m:mr>
                                </m:m>
                              </m:e>
                            </m:mr>
                            <m:mr>
                              <m:e>
                                <m:m>
                                  <m:mPr>
                                    <m:mcs>
                                      <m:mc>
                                        <m:mcPr>
                                          <m:count m:val="2"/>
                                          <m:mcJc m:val="center"/>
                                        </m:mcPr>
                                      </m:mc>
                                    </m:mcs>
                                    <m:ctrlPr>
                                      <a:rPr lang="zh-CN" altLang="en-US" sz="1400" b="1" i="1">
                                        <a:solidFill>
                                          <a:srgbClr val="002060"/>
                                        </a:solidFill>
                                        <a:latin typeface="Cambria Math" panose="02040503050406030204" pitchFamily="18" charset="0"/>
                                      </a:rPr>
                                    </m:ctrlPr>
                                  </m:mPr>
                                  <m:mr>
                                    <m:e>
                                      <m:r>
                                        <a:rPr lang="zh-CN" altLang="en-US" sz="1400" b="1" i="0">
                                          <a:solidFill>
                                            <a:srgbClr val="002060"/>
                                          </a:solidFill>
                                          <a:latin typeface="Cambria Math" panose="02040503050406030204" pitchFamily="18" charset="0"/>
                                        </a:rPr>
                                        <m:t>⋮</m:t>
                                      </m:r>
                                    </m:e>
                                    <m:e>
                                      <m:r>
                                        <a:rPr lang="zh-CN" altLang="en-US" sz="1400" b="1" i="0">
                                          <a:solidFill>
                                            <a:srgbClr val="002060"/>
                                          </a:solidFill>
                                          <a:latin typeface="Cambria Math" panose="02040503050406030204" pitchFamily="18" charset="0"/>
                                        </a:rPr>
                                        <m:t>⋮</m:t>
                                      </m:r>
                                    </m:e>
                                  </m:mr>
                                  <m:mr>
                                    <m:e>
                                      <m:sSub>
                                        <m:sSubPr>
                                          <m:ctrlPr>
                                            <a:rPr lang="zh-CN" altLang="en-US" sz="1400" b="1" i="1">
                                              <a:solidFill>
                                                <a:srgbClr val="002060"/>
                                              </a:solidFill>
                                              <a:latin typeface="Cambria Math" panose="02040503050406030204" pitchFamily="18" charset="0"/>
                                            </a:rPr>
                                          </m:ctrlPr>
                                        </m:sSubPr>
                                        <m:e>
                                          <m:r>
                                            <a:rPr lang="zh-CN" altLang="en-US" sz="1400" b="1" i="1">
                                              <a:solidFill>
                                                <a:srgbClr val="002060"/>
                                              </a:solidFill>
                                              <a:latin typeface="Cambria Math" panose="02040503050406030204" pitchFamily="18" charset="0"/>
                                            </a:rPr>
                                            <m:t>𝑱</m:t>
                                          </m:r>
                                        </m:e>
                                        <m:sub>
                                          <m:r>
                                            <a:rPr lang="zh-CN" altLang="en-US" sz="1400" b="1" i="1">
                                              <a:solidFill>
                                                <a:srgbClr val="002060"/>
                                              </a:solidFill>
                                              <a:latin typeface="Cambria Math" panose="02040503050406030204" pitchFamily="18" charset="0"/>
                                            </a:rPr>
                                            <m:t>𝒎</m:t>
                                          </m:r>
                                          <m:r>
                                            <a:rPr lang="zh-CN" altLang="en-US" sz="1400" b="1" i="0">
                                              <a:solidFill>
                                                <a:srgbClr val="002060"/>
                                              </a:solidFill>
                                              <a:latin typeface="Cambria Math" panose="02040503050406030204" pitchFamily="18" charset="0"/>
                                            </a:rPr>
                                            <m:t>𝟏</m:t>
                                          </m:r>
                                        </m:sub>
                                      </m:sSub>
                                    </m:e>
                                    <m:e>
                                      <m:sSub>
                                        <m:sSubPr>
                                          <m:ctrlPr>
                                            <a:rPr lang="zh-CN" altLang="en-US" sz="1400" b="1" i="1">
                                              <a:solidFill>
                                                <a:srgbClr val="002060"/>
                                              </a:solidFill>
                                              <a:latin typeface="Cambria Math" panose="02040503050406030204" pitchFamily="18" charset="0"/>
                                            </a:rPr>
                                          </m:ctrlPr>
                                        </m:sSubPr>
                                        <m:e>
                                          <m:r>
                                            <a:rPr lang="zh-CN" altLang="en-US" sz="1400" b="1" i="1">
                                              <a:solidFill>
                                                <a:srgbClr val="002060"/>
                                              </a:solidFill>
                                              <a:latin typeface="Cambria Math" panose="02040503050406030204" pitchFamily="18" charset="0"/>
                                            </a:rPr>
                                            <m:t>𝑱</m:t>
                                          </m:r>
                                        </m:e>
                                        <m:sub>
                                          <m:r>
                                            <a:rPr lang="zh-CN" altLang="en-US" sz="1400" b="1" i="1">
                                              <a:solidFill>
                                                <a:srgbClr val="002060"/>
                                              </a:solidFill>
                                              <a:latin typeface="Cambria Math" panose="02040503050406030204" pitchFamily="18" charset="0"/>
                                            </a:rPr>
                                            <m:t>𝒎</m:t>
                                          </m:r>
                                          <m:r>
                                            <a:rPr lang="zh-CN" altLang="en-US" sz="1400" b="1" i="0">
                                              <a:solidFill>
                                                <a:srgbClr val="002060"/>
                                              </a:solidFill>
                                              <a:latin typeface="Cambria Math" panose="02040503050406030204" pitchFamily="18" charset="0"/>
                                            </a:rPr>
                                            <m:t>𝟐</m:t>
                                          </m:r>
                                        </m:sub>
                                      </m:sSub>
                                    </m:e>
                                  </m:mr>
                                </m:m>
                              </m:e>
                              <m:e>
                                <m:m>
                                  <m:mPr>
                                    <m:mcs>
                                      <m:mc>
                                        <m:mcPr>
                                          <m:count m:val="2"/>
                                          <m:mcJc m:val="center"/>
                                        </m:mcPr>
                                      </m:mc>
                                    </m:mcs>
                                    <m:ctrlPr>
                                      <a:rPr lang="zh-CN" altLang="en-US" sz="1400" b="1" i="1">
                                        <a:solidFill>
                                          <a:srgbClr val="002060"/>
                                        </a:solidFill>
                                        <a:latin typeface="Cambria Math" panose="02040503050406030204" pitchFamily="18" charset="0"/>
                                      </a:rPr>
                                    </m:ctrlPr>
                                  </m:mPr>
                                  <m:mr>
                                    <m:e>
                                      <m:r>
                                        <a:rPr lang="zh-CN" altLang="en-US" sz="1400" b="1" i="0">
                                          <a:solidFill>
                                            <a:srgbClr val="002060"/>
                                          </a:solidFill>
                                          <a:latin typeface="Cambria Math" panose="02040503050406030204" pitchFamily="18" charset="0"/>
                                        </a:rPr>
                                        <m:t>⋮</m:t>
                                      </m:r>
                                    </m:e>
                                    <m:e>
                                      <m:r>
                                        <a:rPr lang="zh-CN" altLang="en-US" sz="1400" b="1" i="0">
                                          <a:solidFill>
                                            <a:srgbClr val="002060"/>
                                          </a:solidFill>
                                          <a:latin typeface="Cambria Math" panose="02040503050406030204" pitchFamily="18" charset="0"/>
                                        </a:rPr>
                                        <m:t>⋮</m:t>
                                      </m:r>
                                    </m:e>
                                  </m:mr>
                                  <m:mr>
                                    <m:e>
                                      <m:r>
                                        <a:rPr lang="zh-CN" altLang="en-US" sz="1400" b="1" i="0">
                                          <a:solidFill>
                                            <a:srgbClr val="002060"/>
                                          </a:solidFill>
                                          <a:latin typeface="Cambria Math" panose="02040503050406030204" pitchFamily="18" charset="0"/>
                                        </a:rPr>
                                        <m:t>⋯</m:t>
                                      </m:r>
                                    </m:e>
                                    <m:e>
                                      <m:sSub>
                                        <m:sSubPr>
                                          <m:ctrlPr>
                                            <a:rPr lang="zh-CN" altLang="en-US" sz="1400" b="1" i="1">
                                              <a:solidFill>
                                                <a:srgbClr val="002060"/>
                                              </a:solidFill>
                                              <a:latin typeface="Cambria Math" panose="02040503050406030204" pitchFamily="18" charset="0"/>
                                            </a:rPr>
                                          </m:ctrlPr>
                                        </m:sSubPr>
                                        <m:e>
                                          <m:r>
                                            <a:rPr lang="zh-CN" altLang="en-US" sz="1400" b="1" i="1">
                                              <a:solidFill>
                                                <a:srgbClr val="002060"/>
                                              </a:solidFill>
                                              <a:latin typeface="Cambria Math" panose="02040503050406030204" pitchFamily="18" charset="0"/>
                                            </a:rPr>
                                            <m:t>𝑱</m:t>
                                          </m:r>
                                        </m:e>
                                        <m:sub>
                                          <m:r>
                                            <a:rPr lang="zh-CN" altLang="en-US" sz="1400" b="1" i="1">
                                              <a:solidFill>
                                                <a:srgbClr val="002060"/>
                                              </a:solidFill>
                                              <a:latin typeface="Cambria Math" panose="02040503050406030204" pitchFamily="18" charset="0"/>
                                            </a:rPr>
                                            <m:t>𝒎𝒏</m:t>
                                          </m:r>
                                        </m:sub>
                                      </m:sSub>
                                    </m:e>
                                  </m:mr>
                                </m:m>
                              </m:e>
                            </m:mr>
                          </m:m>
                        </m:e>
                      </m:d>
                    </m:oMath>
                  </m:oMathPara>
                </a14:m>
                <a:endParaRPr lang="zh-CN" altLang="en-US" sz="1400" b="1" dirty="0">
                  <a:solidFill>
                    <a:srgbClr val="002060"/>
                  </a:solidFill>
                </a:endParaRPr>
              </a:p>
            </p:txBody>
          </p:sp>
        </mc:Choice>
        <mc:Fallback xmlns="">
          <p:sp>
            <p:nvSpPr>
              <p:cNvPr id="8" name="矩形 7"/>
              <p:cNvSpPr>
                <a:spLocks noRot="1" noChangeAspect="1" noMove="1" noResize="1" noEditPoints="1" noAdjustHandles="1" noChangeArrowheads="1" noChangeShapeType="1" noTextEdit="1"/>
              </p:cNvSpPr>
              <p:nvPr/>
            </p:nvSpPr>
            <p:spPr>
              <a:xfrm>
                <a:off x="1547664" y="2976930"/>
                <a:ext cx="2541401" cy="910377"/>
              </a:xfrm>
              <a:prstGeom prst="rect">
                <a:avLst/>
              </a:prstGeom>
              <a:blipFill>
                <a:blip r:embed="rId3"/>
                <a:stretch>
                  <a:fillRect/>
                </a:stretch>
              </a:blipFill>
            </p:spPr>
            <p:txBody>
              <a:bodyPr/>
              <a:lstStyle/>
              <a:p>
                <a:r>
                  <a:rPr lang="zh-CN" altLang="en-US">
                    <a:noFill/>
                  </a:rPr>
                  <a:t> </a:t>
                </a:r>
              </a:p>
            </p:txBody>
          </p:sp>
        </mc:Fallback>
      </mc:AlternateContent>
      <p:pic>
        <p:nvPicPr>
          <p:cNvPr id="17" name="图片 16"/>
          <p:cNvPicPr>
            <a:picLocks noChangeAspect="1"/>
          </p:cNvPicPr>
          <p:nvPr/>
        </p:nvPicPr>
        <p:blipFill>
          <a:blip r:embed="rId4"/>
          <a:stretch>
            <a:fillRect/>
          </a:stretch>
        </p:blipFill>
        <p:spPr>
          <a:xfrm>
            <a:off x="4346733" y="1407421"/>
            <a:ext cx="1138965" cy="878085"/>
          </a:xfrm>
          <a:prstGeom prst="rect">
            <a:avLst/>
          </a:prstGeom>
        </p:spPr>
      </p:pic>
      <mc:AlternateContent xmlns:mc="http://schemas.openxmlformats.org/markup-compatibility/2006" xmlns:a14="http://schemas.microsoft.com/office/drawing/2010/main">
        <mc:Choice Requires="a14">
          <p:sp>
            <p:nvSpPr>
              <p:cNvPr id="3" name="矩形 2"/>
              <p:cNvSpPr/>
              <p:nvPr/>
            </p:nvSpPr>
            <p:spPr>
              <a:xfrm>
                <a:off x="1202941" y="1172463"/>
                <a:ext cx="6903669" cy="246221"/>
              </a:xfrm>
              <a:prstGeom prst="rect">
                <a:avLst/>
              </a:prstGeom>
            </p:spPr>
            <p:txBody>
              <a:bodyPr wrap="square">
                <a:spAutoFit/>
              </a:bodyPr>
              <a:lstStyle/>
              <a:p>
                <a:pPr>
                  <a:spcBef>
                    <a:spcPts val="600"/>
                  </a:spcBef>
                  <a:spcAft>
                    <a:spcPts val="600"/>
                  </a:spcAft>
                </a:pPr>
                <a14:m>
                  <m:oMath xmlns:m="http://schemas.openxmlformats.org/officeDocument/2006/math">
                    <m:r>
                      <a:rPr lang="en-US" altLang="zh-CN" sz="1000" b="0" i="1" smtClean="0">
                        <a:solidFill>
                          <a:srgbClr val="002060"/>
                        </a:solidFill>
                        <a:latin typeface="Cambria Math" panose="02040503050406030204" pitchFamily="18" charset="0"/>
                        <a:cs typeface="宋体" panose="02010600030101010101" pitchFamily="2" charset="-122"/>
                      </a:rPr>
                      <m:t>𝑚</m:t>
                    </m:r>
                  </m:oMath>
                </a14:m>
                <a:r>
                  <a:rPr lang="zh-CN" altLang="zh-CN" sz="1000" dirty="0">
                    <a:solidFill>
                      <a:srgbClr val="002060"/>
                    </a:solidFill>
                    <a:latin typeface="宋体" panose="02010600030101010101" pitchFamily="2" charset="-122"/>
                    <a:cs typeface="宋体" panose="02010600030101010101" pitchFamily="2" charset="-122"/>
                  </a:rPr>
                  <a:t>等于机器人工作空间的维数，</a:t>
                </a:r>
                <a14:m>
                  <m:oMath xmlns:m="http://schemas.openxmlformats.org/officeDocument/2006/math">
                    <m:r>
                      <a:rPr lang="en-US" altLang="zh-CN" sz="1000" b="0" i="1">
                        <a:solidFill>
                          <a:srgbClr val="002060"/>
                        </a:solidFill>
                        <a:latin typeface="Cambria Math" panose="02040503050406030204" pitchFamily="18" charset="0"/>
                        <a:cs typeface="宋体" panose="02010600030101010101" pitchFamily="2" charset="-122"/>
                      </a:rPr>
                      <m:t>𝑛</m:t>
                    </m:r>
                  </m:oMath>
                </a14:m>
                <a:r>
                  <a:rPr lang="zh-CN" altLang="zh-CN" sz="1000" dirty="0">
                    <a:solidFill>
                      <a:srgbClr val="002060"/>
                    </a:solidFill>
                    <a:latin typeface="宋体" panose="02010600030101010101" pitchFamily="2" charset="-122"/>
                    <a:cs typeface="宋体" panose="02010600030101010101" pitchFamily="2" charset="-122"/>
                  </a:rPr>
                  <a:t>等于机器人关节空间的维数，根据</a:t>
                </a:r>
                <a14:m>
                  <m:oMath xmlns:m="http://schemas.openxmlformats.org/officeDocument/2006/math">
                    <m:r>
                      <a:rPr lang="en-US" altLang="zh-CN" sz="1000" b="0" i="1">
                        <a:solidFill>
                          <a:srgbClr val="002060"/>
                        </a:solidFill>
                        <a:latin typeface="Cambria Math" panose="02040503050406030204" pitchFamily="18" charset="0"/>
                        <a:cs typeface="宋体" panose="02010600030101010101" pitchFamily="2" charset="-122"/>
                      </a:rPr>
                      <m:t>𝑚</m:t>
                    </m:r>
                  </m:oMath>
                </a14:m>
                <a:r>
                  <a:rPr lang="zh-CN" altLang="zh-CN" sz="1000" dirty="0">
                    <a:solidFill>
                      <a:srgbClr val="002060"/>
                    </a:solidFill>
                    <a:latin typeface="宋体" panose="02010600030101010101" pitchFamily="2" charset="-122"/>
                    <a:cs typeface="宋体" panose="02010600030101010101" pitchFamily="2" charset="-122"/>
                  </a:rPr>
                  <a:t>和</a:t>
                </a:r>
                <a14:m>
                  <m:oMath xmlns:m="http://schemas.openxmlformats.org/officeDocument/2006/math">
                    <m:r>
                      <a:rPr lang="en-US" altLang="zh-CN" sz="1000" b="0" i="1">
                        <a:solidFill>
                          <a:srgbClr val="002060"/>
                        </a:solidFill>
                        <a:latin typeface="Cambria Math" panose="02040503050406030204" pitchFamily="18" charset="0"/>
                        <a:cs typeface="宋体" panose="02010600030101010101" pitchFamily="2" charset="-122"/>
                      </a:rPr>
                      <m:t>𝑛</m:t>
                    </m:r>
                  </m:oMath>
                </a14:m>
                <a:r>
                  <a:rPr lang="zh-CN" altLang="zh-CN" sz="1000" dirty="0">
                    <a:solidFill>
                      <a:srgbClr val="002060"/>
                    </a:solidFill>
                    <a:latin typeface="宋体" panose="02010600030101010101" pitchFamily="2" charset="-122"/>
                    <a:cs typeface="宋体" panose="02010600030101010101" pitchFamily="2" charset="-122"/>
                  </a:rPr>
                  <a:t>的数值关系，可将机器人分成三种类型</a:t>
                </a:r>
                <a:r>
                  <a:rPr lang="zh-CN" altLang="zh-CN" sz="1000" dirty="0" smtClean="0">
                    <a:solidFill>
                      <a:srgbClr val="002060"/>
                    </a:solidFill>
                    <a:latin typeface="宋体" panose="02010600030101010101" pitchFamily="2" charset="-122"/>
                    <a:cs typeface="宋体" panose="02010600030101010101" pitchFamily="2" charset="-122"/>
                  </a:rPr>
                  <a:t>：</a:t>
                </a:r>
                <a:endParaRPr lang="en-US" altLang="zh-CN" sz="1000" dirty="0" smtClean="0">
                  <a:solidFill>
                    <a:srgbClr val="002060"/>
                  </a:solidFill>
                  <a:latin typeface="宋体" panose="02010600030101010101" pitchFamily="2" charset="-122"/>
                  <a:cs typeface="宋体" panose="02010600030101010101" pitchFamily="2" charset="-122"/>
                </a:endParaRPr>
              </a:p>
            </p:txBody>
          </p:sp>
        </mc:Choice>
        <mc:Fallback xmlns="">
          <p:sp>
            <p:nvSpPr>
              <p:cNvPr id="3" name="矩形 2"/>
              <p:cNvSpPr>
                <a:spLocks noRot="1" noChangeAspect="1" noMove="1" noResize="1" noEditPoints="1" noAdjustHandles="1" noChangeArrowheads="1" noChangeShapeType="1" noTextEdit="1"/>
              </p:cNvSpPr>
              <p:nvPr/>
            </p:nvSpPr>
            <p:spPr>
              <a:xfrm>
                <a:off x="1202941" y="1172463"/>
                <a:ext cx="6903669" cy="246221"/>
              </a:xfrm>
              <a:prstGeom prst="rect">
                <a:avLst/>
              </a:prstGeom>
              <a:blipFill>
                <a:blip r:embed="rId5"/>
                <a:stretch>
                  <a:fillRect b="-12195"/>
                </a:stretch>
              </a:blipFill>
            </p:spPr>
            <p:txBody>
              <a:bodyPr/>
              <a:lstStyle/>
              <a:p>
                <a:r>
                  <a:rPr lang="zh-CN" altLang="en-US">
                    <a:noFill/>
                  </a:rPr>
                  <a:t> </a:t>
                </a:r>
              </a:p>
            </p:txBody>
          </p:sp>
        </mc:Fallback>
      </mc:AlternateContent>
      <p:pic>
        <p:nvPicPr>
          <p:cNvPr id="13" name="图片 12"/>
          <p:cNvPicPr>
            <a:picLocks noChangeAspect="1"/>
          </p:cNvPicPr>
          <p:nvPr/>
        </p:nvPicPr>
        <p:blipFill>
          <a:blip r:embed="rId6"/>
          <a:stretch>
            <a:fillRect/>
          </a:stretch>
        </p:blipFill>
        <p:spPr>
          <a:xfrm>
            <a:off x="1167126" y="1397415"/>
            <a:ext cx="1154834" cy="878085"/>
          </a:xfrm>
          <a:prstGeom prst="rect">
            <a:avLst/>
          </a:prstGeom>
        </p:spPr>
      </p:pic>
      <p:pic>
        <p:nvPicPr>
          <p:cNvPr id="14" name="图片 13"/>
          <p:cNvPicPr>
            <a:picLocks noChangeAspect="1"/>
          </p:cNvPicPr>
          <p:nvPr/>
        </p:nvPicPr>
        <p:blipFill>
          <a:blip r:embed="rId7"/>
          <a:stretch>
            <a:fillRect/>
          </a:stretch>
        </p:blipFill>
        <p:spPr>
          <a:xfrm>
            <a:off x="2321960" y="1434601"/>
            <a:ext cx="1138965" cy="840899"/>
          </a:xfrm>
          <a:prstGeom prst="rect">
            <a:avLst/>
          </a:prstGeom>
        </p:spPr>
      </p:pic>
      <p:pic>
        <p:nvPicPr>
          <p:cNvPr id="18" name="图片 17"/>
          <p:cNvPicPr>
            <a:picLocks noChangeAspect="1"/>
          </p:cNvPicPr>
          <p:nvPr/>
        </p:nvPicPr>
        <p:blipFill>
          <a:blip r:embed="rId8"/>
          <a:stretch>
            <a:fillRect/>
          </a:stretch>
        </p:blipFill>
        <p:spPr>
          <a:xfrm>
            <a:off x="6572150" y="1347614"/>
            <a:ext cx="1138965" cy="927886"/>
          </a:xfrm>
          <a:prstGeom prst="rect">
            <a:avLst/>
          </a:prstGeom>
        </p:spPr>
      </p:pic>
      <mc:AlternateContent xmlns:mc="http://schemas.openxmlformats.org/markup-compatibility/2006" xmlns:a14="http://schemas.microsoft.com/office/drawing/2010/main">
        <mc:Choice Requires="a14">
          <p:sp>
            <p:nvSpPr>
              <p:cNvPr id="19" name="矩形 18"/>
              <p:cNvSpPr/>
              <p:nvPr/>
            </p:nvSpPr>
            <p:spPr>
              <a:xfrm>
                <a:off x="1454139" y="2381565"/>
                <a:ext cx="1735642" cy="461665"/>
              </a:xfrm>
              <a:prstGeom prst="rect">
                <a:avLst/>
              </a:prstGeom>
            </p:spPr>
            <p:txBody>
              <a:bodyPr wrap="square">
                <a:spAutoFit/>
              </a:bodyPr>
              <a:lstStyle/>
              <a:p>
                <a:r>
                  <a:rPr lang="en-US" altLang="zh-CN" sz="1200" b="1" dirty="0">
                    <a:solidFill>
                      <a:srgbClr val="002060"/>
                    </a:solidFill>
                    <a:cs typeface="宋体" panose="02010600030101010101" pitchFamily="2" charset="-122"/>
                  </a:rPr>
                  <a:t> </a:t>
                </a:r>
                <a14:m>
                  <m:oMath xmlns:m="http://schemas.openxmlformats.org/officeDocument/2006/math">
                    <m:r>
                      <a:rPr lang="en-US" altLang="zh-CN" sz="1200" b="1" i="1">
                        <a:solidFill>
                          <a:srgbClr val="002060"/>
                        </a:solidFill>
                        <a:latin typeface="Cambria Math" panose="02040503050406030204" pitchFamily="18" charset="0"/>
                        <a:cs typeface="宋体" panose="02010600030101010101" pitchFamily="2" charset="-122"/>
                      </a:rPr>
                      <m:t>𝒏</m:t>
                    </m:r>
                    <m:r>
                      <a:rPr lang="en-US" altLang="zh-CN" sz="1200" b="1" i="1">
                        <a:solidFill>
                          <a:srgbClr val="002060"/>
                        </a:solidFill>
                        <a:latin typeface="Cambria Math" panose="02040503050406030204" pitchFamily="18" charset="0"/>
                        <a:cs typeface="宋体" panose="02010600030101010101" pitchFamily="2" charset="-122"/>
                      </a:rPr>
                      <m:t>&gt;</m:t>
                    </m:r>
                    <m:r>
                      <a:rPr lang="en-US" altLang="zh-CN" sz="1200" b="1" i="1">
                        <a:solidFill>
                          <a:srgbClr val="002060"/>
                        </a:solidFill>
                        <a:latin typeface="Cambria Math" panose="02040503050406030204" pitchFamily="18" charset="0"/>
                        <a:cs typeface="宋体" panose="02010600030101010101" pitchFamily="2" charset="-122"/>
                      </a:rPr>
                      <m:t>𝒎</m:t>
                    </m:r>
                  </m:oMath>
                </a14:m>
                <a:r>
                  <a:rPr lang="en-US" altLang="zh-CN" sz="1200" b="1" dirty="0">
                    <a:solidFill>
                      <a:srgbClr val="002060"/>
                    </a:solidFill>
                    <a:latin typeface="楷体" panose="02010609060101010101" pitchFamily="49" charset="-122"/>
                    <a:cs typeface="宋体" panose="02010600030101010101" pitchFamily="2" charset="-122"/>
                  </a:rPr>
                  <a:t>: </a:t>
                </a:r>
                <a:r>
                  <a:rPr lang="zh-CN" altLang="zh-CN" sz="1200" b="1" dirty="0">
                    <a:solidFill>
                      <a:srgbClr val="002060"/>
                    </a:solidFill>
                    <a:latin typeface="宋体" panose="02010600030101010101" pitchFamily="2" charset="-122"/>
                    <a:cs typeface="宋体" panose="02010600030101010101" pitchFamily="2" charset="-122"/>
                  </a:rPr>
                  <a:t>冗余度机器人，如</a:t>
                </a:r>
                <a:r>
                  <a:rPr lang="en-US" altLang="zh-CN" sz="1200" b="1" dirty="0">
                    <a:solidFill>
                      <a:srgbClr val="002060"/>
                    </a:solidFill>
                    <a:latin typeface="宋体" panose="02010600030101010101" pitchFamily="2" charset="-122"/>
                    <a:cs typeface="宋体" panose="02010600030101010101" pitchFamily="2" charset="-122"/>
                  </a:rPr>
                  <a:t>7</a:t>
                </a:r>
                <a:r>
                  <a:rPr lang="zh-CN" altLang="zh-CN" sz="1200" b="1" dirty="0">
                    <a:solidFill>
                      <a:srgbClr val="002060"/>
                    </a:solidFill>
                    <a:latin typeface="宋体" panose="02010600030101010101" pitchFamily="2" charset="-122"/>
                    <a:cs typeface="宋体" panose="02010600030101010101" pitchFamily="2" charset="-122"/>
                  </a:rPr>
                  <a:t>轴机械臂</a:t>
                </a:r>
                <a:endParaRPr lang="zh-CN" altLang="en-US" sz="1200" dirty="0"/>
              </a:p>
            </p:txBody>
          </p:sp>
        </mc:Choice>
        <mc:Fallback xmlns="">
          <p:sp>
            <p:nvSpPr>
              <p:cNvPr id="19" name="矩形 18"/>
              <p:cNvSpPr>
                <a:spLocks noRot="1" noChangeAspect="1" noMove="1" noResize="1" noEditPoints="1" noAdjustHandles="1" noChangeArrowheads="1" noChangeShapeType="1" noTextEdit="1"/>
              </p:cNvSpPr>
              <p:nvPr/>
            </p:nvSpPr>
            <p:spPr>
              <a:xfrm>
                <a:off x="1454139" y="2381565"/>
                <a:ext cx="1735642" cy="461665"/>
              </a:xfrm>
              <a:prstGeom prst="rect">
                <a:avLst/>
              </a:prstGeom>
              <a:blipFill>
                <a:blip r:embed="rId9"/>
                <a:stretch>
                  <a:fillRect l="-352" t="-2667" r="-8803" b="-9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4140693" y="2409820"/>
                <a:ext cx="1655443" cy="461665"/>
              </a:xfrm>
              <a:prstGeom prst="rect">
                <a:avLst/>
              </a:prstGeom>
            </p:spPr>
            <p:txBody>
              <a:bodyPr wrap="square">
                <a:spAutoFit/>
              </a:bodyPr>
              <a:lstStyle/>
              <a:p>
                <a14:m>
                  <m:oMath xmlns:m="http://schemas.openxmlformats.org/officeDocument/2006/math">
                    <m:r>
                      <a:rPr lang="en-US" altLang="zh-CN" sz="1200" b="1" i="1">
                        <a:solidFill>
                          <a:srgbClr val="002060"/>
                        </a:solidFill>
                        <a:latin typeface="Cambria Math" panose="02040503050406030204" pitchFamily="18" charset="0"/>
                        <a:cs typeface="宋体" panose="02010600030101010101" pitchFamily="2" charset="-122"/>
                      </a:rPr>
                      <m:t>𝒏</m:t>
                    </m:r>
                    <m:r>
                      <a:rPr lang="en-US" altLang="zh-CN" sz="1200" b="1" i="1">
                        <a:solidFill>
                          <a:srgbClr val="002060"/>
                        </a:solidFill>
                        <a:latin typeface="Cambria Math" panose="02040503050406030204" pitchFamily="18" charset="0"/>
                        <a:cs typeface="宋体" panose="02010600030101010101" pitchFamily="2" charset="-122"/>
                      </a:rPr>
                      <m:t>=</m:t>
                    </m:r>
                    <m:r>
                      <a:rPr lang="en-US" altLang="zh-CN" sz="1200" b="1" i="1">
                        <a:solidFill>
                          <a:srgbClr val="002060"/>
                        </a:solidFill>
                        <a:latin typeface="Cambria Math" panose="02040503050406030204" pitchFamily="18" charset="0"/>
                        <a:cs typeface="宋体" panose="02010600030101010101" pitchFamily="2" charset="-122"/>
                      </a:rPr>
                      <m:t>𝒎</m:t>
                    </m:r>
                  </m:oMath>
                </a14:m>
                <a:r>
                  <a:rPr lang="zh-CN" altLang="zh-CN" sz="1200" b="1" dirty="0">
                    <a:solidFill>
                      <a:srgbClr val="002060"/>
                    </a:solidFill>
                    <a:latin typeface="宋体" panose="02010600030101010101" pitchFamily="2" charset="-122"/>
                    <a:cs typeface="宋体" panose="02010600030101010101" pitchFamily="2" charset="-122"/>
                  </a:rPr>
                  <a:t>：常规机器人，如</a:t>
                </a:r>
                <a:r>
                  <a:rPr lang="en-US" altLang="zh-CN" sz="1200" b="1" dirty="0">
                    <a:solidFill>
                      <a:srgbClr val="002060"/>
                    </a:solidFill>
                    <a:latin typeface="宋体" panose="02010600030101010101" pitchFamily="2" charset="-122"/>
                    <a:cs typeface="宋体" panose="02010600030101010101" pitchFamily="2" charset="-122"/>
                  </a:rPr>
                  <a:t>6</a:t>
                </a:r>
                <a:r>
                  <a:rPr lang="zh-CN" altLang="zh-CN" sz="1200" b="1" dirty="0">
                    <a:solidFill>
                      <a:srgbClr val="002060"/>
                    </a:solidFill>
                    <a:latin typeface="宋体" panose="02010600030101010101" pitchFamily="2" charset="-122"/>
                    <a:cs typeface="宋体" panose="02010600030101010101" pitchFamily="2" charset="-122"/>
                  </a:rPr>
                  <a:t>轴机械臂</a:t>
                </a:r>
                <a:endParaRPr lang="zh-CN" altLang="en-US" sz="1200" dirty="0"/>
              </a:p>
            </p:txBody>
          </p:sp>
        </mc:Choice>
        <mc:Fallback xmlns="">
          <p:sp>
            <p:nvSpPr>
              <p:cNvPr id="20" name="矩形 19"/>
              <p:cNvSpPr>
                <a:spLocks noRot="1" noChangeAspect="1" noMove="1" noResize="1" noEditPoints="1" noAdjustHandles="1" noChangeArrowheads="1" noChangeShapeType="1" noTextEdit="1"/>
              </p:cNvSpPr>
              <p:nvPr/>
            </p:nvSpPr>
            <p:spPr>
              <a:xfrm>
                <a:off x="4140693" y="2409820"/>
                <a:ext cx="1655443" cy="461665"/>
              </a:xfrm>
              <a:prstGeom prst="rect">
                <a:avLst/>
              </a:prstGeom>
              <a:blipFill>
                <a:blip r:embed="rId10"/>
                <a:stretch>
                  <a:fillRect r="-9191" b="-78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6285592" y="2297876"/>
                <a:ext cx="1886808" cy="646331"/>
              </a:xfrm>
              <a:prstGeom prst="rect">
                <a:avLst/>
              </a:prstGeom>
            </p:spPr>
            <p:txBody>
              <a:bodyPr wrap="square">
                <a:spAutoFit/>
              </a:bodyPr>
              <a:lstStyle/>
              <a:p>
                <a14:m>
                  <m:oMath xmlns:m="http://schemas.openxmlformats.org/officeDocument/2006/math">
                    <m:r>
                      <a:rPr lang="en-US" altLang="zh-CN" sz="12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𝒏</m:t>
                    </m:r>
                    <m:r>
                      <a:rPr lang="en-US" altLang="zh-CN" sz="12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&lt;</m:t>
                    </m:r>
                    <m:r>
                      <a:rPr lang="en-US" altLang="zh-CN" sz="1200" b="1"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𝒎</m:t>
                    </m:r>
                  </m:oMath>
                </a14:m>
                <a:r>
                  <a:rPr lang="zh-CN" altLang="zh-CN" sz="1200" b="1" dirty="0">
                    <a:solidFill>
                      <a:srgbClr val="002060"/>
                    </a:solidFill>
                    <a:ea typeface="等线" panose="02010600030101010101" pitchFamily="2" charset="-122"/>
                    <a:cs typeface="Times New Roman" panose="02020603050405020304" pitchFamily="18" charset="0"/>
                  </a:rPr>
                  <a:t>：</a:t>
                </a:r>
                <a:r>
                  <a:rPr lang="zh-CN" altLang="zh-CN" sz="1200" b="1" dirty="0">
                    <a:solidFill>
                      <a:srgbClr val="002060"/>
                    </a:solidFill>
                    <a:latin typeface="宋体" panose="02010600030101010101" pitchFamily="2" charset="-122"/>
                    <a:cs typeface="宋体" panose="02010600030101010101" pitchFamily="2" charset="-122"/>
                  </a:rPr>
                  <a:t>欠驱动机器人，如特殊结构的空间</a:t>
                </a:r>
                <a:r>
                  <a:rPr lang="en-US" altLang="zh-CN" sz="1200" b="1" dirty="0">
                    <a:solidFill>
                      <a:srgbClr val="002060"/>
                    </a:solidFill>
                    <a:latin typeface="宋体" panose="02010600030101010101" pitchFamily="2" charset="-122"/>
                    <a:cs typeface="宋体" panose="02010600030101010101" pitchFamily="2" charset="-122"/>
                  </a:rPr>
                  <a:t>5</a:t>
                </a:r>
                <a:r>
                  <a:rPr lang="zh-CN" altLang="zh-CN" sz="1200" b="1" dirty="0">
                    <a:solidFill>
                      <a:srgbClr val="002060"/>
                    </a:solidFill>
                    <a:latin typeface="宋体" panose="02010600030101010101" pitchFamily="2" charset="-122"/>
                    <a:cs typeface="宋体" panose="02010600030101010101" pitchFamily="2" charset="-122"/>
                  </a:rPr>
                  <a:t>自由度机器人</a:t>
                </a:r>
                <a:endParaRPr lang="zh-CN" altLang="en-US" sz="1200" dirty="0"/>
              </a:p>
            </p:txBody>
          </p:sp>
        </mc:Choice>
        <mc:Fallback xmlns="">
          <p:sp>
            <p:nvSpPr>
              <p:cNvPr id="22" name="矩形 21"/>
              <p:cNvSpPr>
                <a:spLocks noRot="1" noChangeAspect="1" noMove="1" noResize="1" noEditPoints="1" noAdjustHandles="1" noChangeArrowheads="1" noChangeShapeType="1" noTextEdit="1"/>
              </p:cNvSpPr>
              <p:nvPr/>
            </p:nvSpPr>
            <p:spPr>
              <a:xfrm>
                <a:off x="6285592" y="2297876"/>
                <a:ext cx="1886808" cy="646331"/>
              </a:xfrm>
              <a:prstGeom prst="rect">
                <a:avLst/>
              </a:prstGeom>
              <a:blipFill>
                <a:blip r:embed="rId11"/>
                <a:stretch>
                  <a:fillRect t="-1887" b="-566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4452429" y="2859782"/>
                <a:ext cx="3106941" cy="10277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600" i="1">
                              <a:latin typeface="Cambria Math" panose="02040503050406030204" pitchFamily="18" charset="0"/>
                            </a:rPr>
                          </m:ctrlPr>
                        </m:dPr>
                        <m:e>
                          <m:m>
                            <m:mPr>
                              <m:mcs>
                                <m:mc>
                                  <m:mcPr>
                                    <m:count m:val="1"/>
                                    <m:mcJc m:val="center"/>
                                  </m:mcPr>
                                </m:mc>
                              </m:mcs>
                              <m:ctrlPr>
                                <a:rPr lang="zh-CN" altLang="en-US" sz="1600" i="1">
                                  <a:latin typeface="Cambria Math" panose="02040503050406030204" pitchFamily="18" charset="0"/>
                                </a:rPr>
                              </m:ctrlPr>
                            </m:mPr>
                            <m:mr>
                              <m:e>
                                <m:r>
                                  <a:rPr lang="zh-CN" altLang="en-US" sz="1600" i="1">
                                    <a:latin typeface="Cambria Math" panose="02040503050406030204" pitchFamily="18" charset="0"/>
                                  </a:rPr>
                                  <m:t>𝑣</m:t>
                                </m:r>
                              </m:e>
                            </m:mr>
                            <m:mr>
                              <m:e>
                                <m:r>
                                  <a:rPr lang="zh-CN" altLang="en-US" sz="1600" i="1">
                                    <a:latin typeface="Cambria Math" panose="02040503050406030204" pitchFamily="18" charset="0"/>
                                  </a:rPr>
                                  <m:t>𝜔</m:t>
                                </m:r>
                              </m:e>
                            </m:mr>
                          </m:m>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m>
                            <m:mPr>
                              <m:mcs>
                                <m:mc>
                                  <m:mcPr>
                                    <m:count m:val="2"/>
                                    <m:mcJc m:val="center"/>
                                  </m:mcPr>
                                </m:mc>
                              </m:mcs>
                              <m:ctrlPr>
                                <a:rPr lang="zh-CN" altLang="en-US" sz="1600" i="1">
                                  <a:latin typeface="Cambria Math" panose="02040503050406030204" pitchFamily="18" charset="0"/>
                                </a:rPr>
                              </m:ctrlPr>
                            </m:mPr>
                            <m:mr>
                              <m:e>
                                <m:m>
                                  <m:mPr>
                                    <m:mcs>
                                      <m:mc>
                                        <m:mcPr>
                                          <m:count m:val="2"/>
                                          <m:mcJc m:val="center"/>
                                        </m:mcPr>
                                      </m:mc>
                                    </m:mcs>
                                    <m:ctrlPr>
                                      <a:rPr lang="zh-CN" altLang="en-US" sz="1600" i="1">
                                        <a:latin typeface="Cambria Math" panose="02040503050406030204" pitchFamily="18" charset="0"/>
                                      </a:rPr>
                                    </m:ctrlPr>
                                  </m:mP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0">
                                              <a:latin typeface="Cambria Math" panose="02040503050406030204" pitchFamily="18" charset="0"/>
                                            </a:rPr>
                                            <m:t>11</m:t>
                                          </m:r>
                                        </m:sub>
                                      </m:sSub>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0">
                                              <a:latin typeface="Cambria Math" panose="02040503050406030204" pitchFamily="18" charset="0"/>
                                            </a:rPr>
                                            <m:t>12</m:t>
                                          </m:r>
                                        </m:sub>
                                      </m:sSub>
                                    </m:e>
                                  </m:m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0">
                                              <a:latin typeface="Cambria Math" panose="02040503050406030204" pitchFamily="18" charset="0"/>
                                            </a:rPr>
                                            <m:t>21</m:t>
                                          </m:r>
                                        </m:sub>
                                      </m:sSub>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0">
                                              <a:latin typeface="Cambria Math" panose="02040503050406030204" pitchFamily="18" charset="0"/>
                                            </a:rPr>
                                            <m:t>22</m:t>
                                          </m:r>
                                        </m:sub>
                                      </m:sSub>
                                    </m:e>
                                  </m:mr>
                                </m:m>
                              </m:e>
                              <m:e>
                                <m:m>
                                  <m:mPr>
                                    <m:mcs>
                                      <m:mc>
                                        <m:mcPr>
                                          <m:count m:val="2"/>
                                          <m:mcJc m:val="center"/>
                                        </m:mcPr>
                                      </m:mc>
                                    </m:mcs>
                                    <m:ctrlPr>
                                      <a:rPr lang="zh-CN" altLang="en-US" sz="1600" i="1">
                                        <a:latin typeface="Cambria Math" panose="02040503050406030204" pitchFamily="18" charset="0"/>
                                      </a:rPr>
                                    </m:ctrlPr>
                                  </m:mPr>
                                  <m:mr>
                                    <m:e>
                                      <m:r>
                                        <a:rPr lang="zh-CN" altLang="en-US" sz="1600" i="0">
                                          <a:latin typeface="Cambria Math" panose="02040503050406030204" pitchFamily="18" charset="0"/>
                                        </a:rPr>
                                        <m:t>⋯</m:t>
                                      </m:r>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0">
                                              <a:latin typeface="Cambria Math" panose="02040503050406030204" pitchFamily="18" charset="0"/>
                                            </a:rPr>
                                            <m:t>1</m:t>
                                          </m:r>
                                          <m:r>
                                            <a:rPr lang="zh-CN" altLang="en-US" sz="1600" i="1">
                                              <a:latin typeface="Cambria Math" panose="02040503050406030204" pitchFamily="18" charset="0"/>
                                            </a:rPr>
                                            <m:t>𝑛</m:t>
                                          </m:r>
                                        </m:sub>
                                      </m:sSub>
                                    </m:e>
                                  </m:mr>
                                  <m:mr>
                                    <m:e>
                                      <m:r>
                                        <a:rPr lang="zh-CN" altLang="en-US" sz="1600" i="0">
                                          <a:latin typeface="Cambria Math" panose="02040503050406030204" pitchFamily="18" charset="0"/>
                                        </a:rPr>
                                        <m:t>⋯</m:t>
                                      </m:r>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0">
                                              <a:latin typeface="Cambria Math" panose="02040503050406030204" pitchFamily="18" charset="0"/>
                                            </a:rPr>
                                            <m:t>2</m:t>
                                          </m:r>
                                          <m:r>
                                            <a:rPr lang="zh-CN" altLang="en-US" sz="1600" i="1">
                                              <a:latin typeface="Cambria Math" panose="02040503050406030204" pitchFamily="18" charset="0"/>
                                            </a:rPr>
                                            <m:t>𝑛</m:t>
                                          </m:r>
                                        </m:sub>
                                      </m:sSub>
                                    </m:e>
                                  </m:mr>
                                </m:m>
                              </m:e>
                            </m:mr>
                            <m:mr>
                              <m:e>
                                <m:m>
                                  <m:mPr>
                                    <m:mcs>
                                      <m:mc>
                                        <m:mcPr>
                                          <m:count m:val="2"/>
                                          <m:mcJc m:val="center"/>
                                        </m:mcPr>
                                      </m:mc>
                                    </m:mcs>
                                    <m:ctrlPr>
                                      <a:rPr lang="zh-CN" altLang="en-US" sz="1600" i="1">
                                        <a:latin typeface="Cambria Math" panose="02040503050406030204" pitchFamily="18" charset="0"/>
                                      </a:rPr>
                                    </m:ctrlPr>
                                  </m:mPr>
                                  <m:mr>
                                    <m:e>
                                      <m:r>
                                        <a:rPr lang="zh-CN" altLang="en-US" sz="1600" i="0">
                                          <a:latin typeface="Cambria Math" panose="02040503050406030204" pitchFamily="18" charset="0"/>
                                        </a:rPr>
                                        <m:t>⋮</m:t>
                                      </m:r>
                                    </m:e>
                                    <m:e>
                                      <m:r>
                                        <a:rPr lang="zh-CN" altLang="en-US" sz="1600" i="0">
                                          <a:latin typeface="Cambria Math" panose="02040503050406030204" pitchFamily="18" charset="0"/>
                                        </a:rPr>
                                        <m:t>⋮</m:t>
                                      </m:r>
                                    </m:e>
                                  </m:m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1">
                                              <a:latin typeface="Cambria Math" panose="02040503050406030204" pitchFamily="18" charset="0"/>
                                            </a:rPr>
                                            <m:t>𝑚</m:t>
                                          </m:r>
                                          <m:r>
                                            <a:rPr lang="zh-CN" altLang="en-US" sz="1600" i="0">
                                              <a:latin typeface="Cambria Math" panose="02040503050406030204" pitchFamily="18" charset="0"/>
                                            </a:rPr>
                                            <m:t>1</m:t>
                                          </m:r>
                                        </m:sub>
                                      </m:sSub>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1">
                                              <a:latin typeface="Cambria Math" panose="02040503050406030204" pitchFamily="18" charset="0"/>
                                            </a:rPr>
                                            <m:t>𝑚</m:t>
                                          </m:r>
                                          <m:r>
                                            <a:rPr lang="zh-CN" altLang="en-US" sz="1600" i="0">
                                              <a:latin typeface="Cambria Math" panose="02040503050406030204" pitchFamily="18" charset="0"/>
                                            </a:rPr>
                                            <m:t>2</m:t>
                                          </m:r>
                                        </m:sub>
                                      </m:sSub>
                                    </m:e>
                                  </m:mr>
                                </m:m>
                              </m:e>
                              <m:e>
                                <m:m>
                                  <m:mPr>
                                    <m:mcs>
                                      <m:mc>
                                        <m:mcPr>
                                          <m:count m:val="2"/>
                                          <m:mcJc m:val="center"/>
                                        </m:mcPr>
                                      </m:mc>
                                    </m:mcs>
                                    <m:ctrlPr>
                                      <a:rPr lang="zh-CN" altLang="en-US" sz="1600" i="1">
                                        <a:latin typeface="Cambria Math" panose="02040503050406030204" pitchFamily="18" charset="0"/>
                                      </a:rPr>
                                    </m:ctrlPr>
                                  </m:mPr>
                                  <m:mr>
                                    <m:e>
                                      <m:r>
                                        <a:rPr lang="zh-CN" altLang="en-US" sz="1600" i="0">
                                          <a:latin typeface="Cambria Math" panose="02040503050406030204" pitchFamily="18" charset="0"/>
                                        </a:rPr>
                                        <m:t>⋮</m:t>
                                      </m:r>
                                    </m:e>
                                    <m:e>
                                      <m:r>
                                        <a:rPr lang="zh-CN" altLang="en-US" sz="1600" i="0">
                                          <a:latin typeface="Cambria Math" panose="02040503050406030204" pitchFamily="18" charset="0"/>
                                        </a:rPr>
                                        <m:t>⋮</m:t>
                                      </m:r>
                                    </m:e>
                                  </m:mr>
                                  <m:mr>
                                    <m:e>
                                      <m:r>
                                        <a:rPr lang="zh-CN" altLang="en-US" sz="1600" i="0">
                                          <a:latin typeface="Cambria Math" panose="02040503050406030204" pitchFamily="18" charset="0"/>
                                        </a:rPr>
                                        <m:t>⋯</m:t>
                                      </m:r>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1">
                                              <a:latin typeface="Cambria Math" panose="02040503050406030204" pitchFamily="18" charset="0"/>
                                            </a:rPr>
                                            <m:t>𝑚𝑛</m:t>
                                          </m:r>
                                        </m:sub>
                                      </m:sSub>
                                    </m:e>
                                  </m:mr>
                                </m:m>
                              </m:e>
                            </m:mr>
                          </m:m>
                        </m:e>
                      </m:d>
                      <m:d>
                        <m:dPr>
                          <m:begChr m:val="["/>
                          <m:endChr m:val="]"/>
                          <m:ctrlPr>
                            <a:rPr lang="zh-CN" altLang="en-US" sz="1600" i="1">
                              <a:latin typeface="Cambria Math" panose="02040503050406030204" pitchFamily="18" charset="0"/>
                            </a:rPr>
                          </m:ctrlPr>
                        </m:dPr>
                        <m:e>
                          <m:m>
                            <m:mPr>
                              <m:mcs>
                                <m:mc>
                                  <m:mcPr>
                                    <m:count m:val="1"/>
                                    <m:mcJc m:val="center"/>
                                  </m:mcPr>
                                </m:mc>
                              </m:mcs>
                              <m:ctrlPr>
                                <a:rPr lang="zh-CN" altLang="en-US" sz="1600" i="1">
                                  <a:latin typeface="Cambria Math" panose="02040503050406030204" pitchFamily="18" charset="0"/>
                                </a:rPr>
                              </m:ctrlPr>
                            </m:mP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sub>
                                </m:sSub>
                              </m:e>
                            </m:m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0">
                                        <a:latin typeface="Cambria Math" panose="02040503050406030204" pitchFamily="18" charset="0"/>
                                      </a:rPr>
                                      <m:t>2</m:t>
                                    </m:r>
                                  </m:sub>
                                </m:sSub>
                              </m:e>
                            </m:mr>
                            <m:mr>
                              <m:e>
                                <m:m>
                                  <m:mPr>
                                    <m:mcs>
                                      <m:mc>
                                        <m:mcPr>
                                          <m:count m:val="1"/>
                                          <m:mcJc m:val="center"/>
                                        </m:mcPr>
                                      </m:mc>
                                    </m:mcs>
                                    <m:ctrlPr>
                                      <a:rPr lang="zh-CN" altLang="en-US" sz="1600" i="1">
                                        <a:latin typeface="Cambria Math" panose="02040503050406030204" pitchFamily="18" charset="0"/>
                                      </a:rPr>
                                    </m:ctrlPr>
                                  </m:mPr>
                                  <m:mr>
                                    <m:e>
                                      <m:r>
                                        <a:rPr lang="zh-CN" altLang="en-US" sz="1600" i="0">
                                          <a:latin typeface="Cambria Math" panose="02040503050406030204" pitchFamily="18" charset="0"/>
                                        </a:rPr>
                                        <m:t>⋮</m:t>
                                      </m:r>
                                    </m:e>
                                  </m:m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1">
                                              <a:latin typeface="Cambria Math" panose="02040503050406030204" pitchFamily="18" charset="0"/>
                                            </a:rPr>
                                            <m:t>𝑛</m:t>
                                          </m:r>
                                        </m:sub>
                                      </m:sSub>
                                    </m:e>
                                  </m:mr>
                                </m:m>
                              </m:e>
                            </m:mr>
                          </m:m>
                        </m:e>
                      </m:d>
                    </m:oMath>
                  </m:oMathPara>
                </a14:m>
                <a:endParaRPr lang="zh-CN" altLang="en-US" sz="1600" dirty="0"/>
              </a:p>
            </p:txBody>
          </p:sp>
        </mc:Choice>
        <mc:Fallback xmlns="">
          <p:sp>
            <p:nvSpPr>
              <p:cNvPr id="24" name="矩形 23"/>
              <p:cNvSpPr>
                <a:spLocks noRot="1" noChangeAspect="1" noMove="1" noResize="1" noEditPoints="1" noAdjustHandles="1" noChangeArrowheads="1" noChangeShapeType="1" noTextEdit="1"/>
              </p:cNvSpPr>
              <p:nvPr/>
            </p:nvSpPr>
            <p:spPr>
              <a:xfrm>
                <a:off x="4452429" y="2859782"/>
                <a:ext cx="3106941" cy="1027782"/>
              </a:xfrm>
              <a:prstGeom prst="rect">
                <a:avLst/>
              </a:prstGeom>
              <a:blipFill>
                <a:blip r:embed="rId12"/>
                <a:stretch>
                  <a:fillRect/>
                </a:stretch>
              </a:blipFill>
            </p:spPr>
            <p:txBody>
              <a:bodyPr/>
              <a:lstStyle/>
              <a:p>
                <a:r>
                  <a:rPr lang="zh-CN" altLang="en-US">
                    <a:noFill/>
                  </a:rPr>
                  <a:t> </a:t>
                </a:r>
              </a:p>
            </p:txBody>
          </p:sp>
        </mc:Fallback>
      </mc:AlternateContent>
      <p:sp>
        <p:nvSpPr>
          <p:cNvPr id="25" name="右箭头 24"/>
          <p:cNvSpPr/>
          <p:nvPr/>
        </p:nvSpPr>
        <p:spPr>
          <a:xfrm>
            <a:off x="4161073" y="3301943"/>
            <a:ext cx="219348" cy="2603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7" name="矩形 26"/>
              <p:cNvSpPr/>
              <p:nvPr/>
            </p:nvSpPr>
            <p:spPr>
              <a:xfrm>
                <a:off x="1791431" y="3873638"/>
                <a:ext cx="3417007" cy="276999"/>
              </a:xfrm>
              <a:prstGeom prst="rect">
                <a:avLst/>
              </a:prstGeom>
            </p:spPr>
            <p:txBody>
              <a:bodyPr wrap="square">
                <a:spAutoFit/>
              </a:bodyPr>
              <a:lstStyle/>
              <a:p>
                <a:r>
                  <a:rPr lang="zh-CN" altLang="zh-CN" sz="1200" dirty="0" smtClean="0">
                    <a:solidFill>
                      <a:srgbClr val="002060"/>
                    </a:solidFill>
                    <a:ea typeface="等线" panose="02010600030101010101" pitchFamily="2" charset="-122"/>
                    <a:cs typeface="Times New Roman" panose="02020603050405020304" pitchFamily="18" charset="0"/>
                  </a:rPr>
                  <a:t>前三行</a:t>
                </a:r>
                <a:r>
                  <a:rPr lang="en-US" altLang="zh-CN" sz="1200" dirty="0" smtClean="0">
                    <a:solidFill>
                      <a:srgbClr val="002060"/>
                    </a:solidFill>
                    <a:ea typeface="等线" panose="02010600030101010101" pitchFamily="2" charset="-122"/>
                    <a:cs typeface="Times New Roman" panose="02020603050405020304" pitchFamily="18" charset="0"/>
                  </a:rPr>
                  <a:t>:</a:t>
                </a:r>
                <a:r>
                  <a:rPr lang="zh-CN" altLang="zh-CN" sz="1200" dirty="0" smtClean="0">
                    <a:solidFill>
                      <a:srgbClr val="002060"/>
                    </a:solidFill>
                    <a:ea typeface="等线" panose="02010600030101010101" pitchFamily="2" charset="-122"/>
                    <a:cs typeface="Times New Roman" panose="02020603050405020304" pitchFamily="18" charset="0"/>
                  </a:rPr>
                  <a:t>各关节线速度</a:t>
                </a:r>
                <a14:m>
                  <m:oMath xmlns:m="http://schemas.openxmlformats.org/officeDocument/2006/math">
                    <m:r>
                      <a:rPr lang="en-US" altLang="zh-CN" sz="12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𝑣</m:t>
                    </m:r>
                  </m:oMath>
                </a14:m>
                <a:r>
                  <a:rPr lang="zh-CN" altLang="zh-CN" sz="1200" dirty="0">
                    <a:solidFill>
                      <a:srgbClr val="002060"/>
                    </a:solidFill>
                    <a:ea typeface="等线" panose="02010600030101010101" pitchFamily="2" charset="-122"/>
                    <a:cs typeface="Times New Roman" panose="02020603050405020304" pitchFamily="18" charset="0"/>
                  </a:rPr>
                  <a:t>对末端执行器速度的传递</a:t>
                </a:r>
                <a:endParaRPr lang="zh-CN" altLang="en-US" sz="1200" dirty="0">
                  <a:solidFill>
                    <a:srgbClr val="002060"/>
                  </a:solidFill>
                </a:endParaRPr>
              </a:p>
            </p:txBody>
          </p:sp>
        </mc:Choice>
        <mc:Fallback xmlns="">
          <p:sp>
            <p:nvSpPr>
              <p:cNvPr id="27" name="矩形 26"/>
              <p:cNvSpPr>
                <a:spLocks noRot="1" noChangeAspect="1" noMove="1" noResize="1" noEditPoints="1" noAdjustHandles="1" noChangeArrowheads="1" noChangeShapeType="1" noTextEdit="1"/>
              </p:cNvSpPr>
              <p:nvPr/>
            </p:nvSpPr>
            <p:spPr>
              <a:xfrm>
                <a:off x="1791431" y="3873638"/>
                <a:ext cx="3417007" cy="276999"/>
              </a:xfrm>
              <a:prstGeom prst="rect">
                <a:avLst/>
              </a:prstGeom>
              <a:blipFill>
                <a:blip r:embed="rId13"/>
                <a:stretch>
                  <a:fillRect l="-179" b="-152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矩形 27"/>
              <p:cNvSpPr/>
              <p:nvPr/>
            </p:nvSpPr>
            <p:spPr>
              <a:xfrm>
                <a:off x="5097042" y="3873637"/>
                <a:ext cx="3075358" cy="276999"/>
              </a:xfrm>
              <a:prstGeom prst="rect">
                <a:avLst/>
              </a:prstGeom>
            </p:spPr>
            <p:txBody>
              <a:bodyPr wrap="square">
                <a:spAutoFit/>
              </a:bodyPr>
              <a:lstStyle/>
              <a:p>
                <a:r>
                  <a:rPr lang="zh-CN" altLang="zh-CN" sz="1200" dirty="0" smtClean="0">
                    <a:solidFill>
                      <a:srgbClr val="002060"/>
                    </a:solidFill>
                    <a:ea typeface="等线" panose="02010600030101010101" pitchFamily="2" charset="-122"/>
                    <a:cs typeface="Times New Roman" panose="02020603050405020304" pitchFamily="18" charset="0"/>
                  </a:rPr>
                  <a:t>后三行</a:t>
                </a:r>
                <a:r>
                  <a:rPr lang="en-US" altLang="zh-CN" sz="1200" dirty="0" smtClean="0">
                    <a:solidFill>
                      <a:srgbClr val="002060"/>
                    </a:solidFill>
                    <a:ea typeface="等线" panose="02010600030101010101" pitchFamily="2" charset="-122"/>
                    <a:cs typeface="Times New Roman" panose="02020603050405020304" pitchFamily="18" charset="0"/>
                  </a:rPr>
                  <a:t>:</a:t>
                </a:r>
                <a:r>
                  <a:rPr lang="zh-CN" altLang="zh-CN" sz="1200" dirty="0" smtClean="0">
                    <a:solidFill>
                      <a:srgbClr val="002060"/>
                    </a:solidFill>
                    <a:ea typeface="等线" panose="02010600030101010101" pitchFamily="2" charset="-122"/>
                    <a:cs typeface="Times New Roman" panose="02020603050405020304" pitchFamily="18" charset="0"/>
                  </a:rPr>
                  <a:t>角速度</a:t>
                </a:r>
                <a14:m>
                  <m:oMath xmlns:m="http://schemas.openxmlformats.org/officeDocument/2006/math">
                    <m:r>
                      <a:rPr lang="en-US" altLang="zh-CN" sz="12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𝜔</m:t>
                    </m:r>
                  </m:oMath>
                </a14:m>
                <a:r>
                  <a:rPr lang="zh-CN" altLang="zh-CN" sz="1200" dirty="0">
                    <a:solidFill>
                      <a:srgbClr val="002060"/>
                    </a:solidFill>
                    <a:ea typeface="等线" panose="02010600030101010101" pitchFamily="2" charset="-122"/>
                    <a:cs typeface="Times New Roman" panose="02020603050405020304" pitchFamily="18" charset="0"/>
                  </a:rPr>
                  <a:t>对末端执行器速度的传递</a:t>
                </a:r>
                <a:endParaRPr lang="zh-CN" altLang="en-US" sz="1200" dirty="0">
                  <a:solidFill>
                    <a:srgbClr val="002060"/>
                  </a:solidFill>
                </a:endParaRPr>
              </a:p>
            </p:txBody>
          </p:sp>
        </mc:Choice>
        <mc:Fallback xmlns="">
          <p:sp>
            <p:nvSpPr>
              <p:cNvPr id="28" name="矩形 27"/>
              <p:cNvSpPr>
                <a:spLocks noRot="1" noChangeAspect="1" noMove="1" noResize="1" noEditPoints="1" noAdjustHandles="1" noChangeArrowheads="1" noChangeShapeType="1" noTextEdit="1"/>
              </p:cNvSpPr>
              <p:nvPr/>
            </p:nvSpPr>
            <p:spPr>
              <a:xfrm>
                <a:off x="5097042" y="3873637"/>
                <a:ext cx="3075358" cy="276999"/>
              </a:xfrm>
              <a:prstGeom prst="rect">
                <a:avLst/>
              </a:prstGeom>
              <a:blipFill>
                <a:blip r:embed="rId14"/>
                <a:stretch>
                  <a:fillRect b="-152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矩形 28"/>
              <p:cNvSpPr/>
              <p:nvPr/>
            </p:nvSpPr>
            <p:spPr>
              <a:xfrm>
                <a:off x="1167126" y="3849557"/>
                <a:ext cx="787908"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𝑚</m:t>
                      </m:r>
                      <m:r>
                        <a:rPr lang="zh-CN" altLang="en-US" sz="1600" i="0">
                          <a:latin typeface="Cambria Math" panose="02040503050406030204" pitchFamily="18" charset="0"/>
                        </a:rPr>
                        <m:t>=6</m:t>
                      </m:r>
                    </m:oMath>
                  </m:oMathPara>
                </a14:m>
                <a:endParaRPr lang="zh-CN" altLang="en-US" sz="1600" dirty="0"/>
              </a:p>
            </p:txBody>
          </p:sp>
        </mc:Choice>
        <mc:Fallback xmlns="">
          <p:sp>
            <p:nvSpPr>
              <p:cNvPr id="29" name="矩形 28"/>
              <p:cNvSpPr>
                <a:spLocks noRot="1" noChangeAspect="1" noMove="1" noResize="1" noEditPoints="1" noAdjustHandles="1" noChangeArrowheads="1" noChangeShapeType="1" noTextEdit="1"/>
              </p:cNvSpPr>
              <p:nvPr/>
            </p:nvSpPr>
            <p:spPr>
              <a:xfrm>
                <a:off x="1167126" y="3849557"/>
                <a:ext cx="787908" cy="338554"/>
              </a:xfrm>
              <a:prstGeom prst="rect">
                <a:avLst/>
              </a:prstGeom>
              <a:blipFill>
                <a:blip r:embed="rId15"/>
                <a:stretch>
                  <a:fillRect/>
                </a:stretch>
              </a:blipFill>
            </p:spPr>
            <p:txBody>
              <a:bodyPr/>
              <a:lstStyle/>
              <a:p>
                <a:r>
                  <a:rPr lang="zh-CN" altLang="en-US">
                    <a:noFill/>
                  </a:rPr>
                  <a:t> </a:t>
                </a:r>
              </a:p>
            </p:txBody>
          </p:sp>
        </mc:Fallback>
      </mc:AlternateContent>
      <p:sp>
        <p:nvSpPr>
          <p:cNvPr id="34" name="矩形 33"/>
          <p:cNvSpPr/>
          <p:nvPr/>
        </p:nvSpPr>
        <p:spPr>
          <a:xfrm>
            <a:off x="5220072" y="82357"/>
            <a:ext cx="3372579" cy="830997"/>
          </a:xfrm>
          <a:prstGeom prst="rect">
            <a:avLst/>
          </a:prstGeom>
        </p:spPr>
        <p:txBody>
          <a:bodyPr wrap="square">
            <a:spAutoFit/>
          </a:bodyPr>
          <a:lstStyle/>
          <a:p>
            <a:r>
              <a:rPr lang="zh-CN" altLang="en-US" sz="1600" dirty="0">
                <a:solidFill>
                  <a:srgbClr val="FF0000"/>
                </a:solidFill>
              </a:rPr>
              <a:t>机器人末端执行器的线速度和角速度分别是各关节速度的加权求和，这种加权组合是非线性、时变的</a:t>
            </a:r>
          </a:p>
        </p:txBody>
      </p:sp>
      <mc:AlternateContent xmlns:mc="http://schemas.openxmlformats.org/markup-compatibility/2006" xmlns:a14="http://schemas.microsoft.com/office/drawing/2010/main">
        <mc:Choice Requires="a14">
          <p:sp>
            <p:nvSpPr>
              <p:cNvPr id="35" name="矩形 34"/>
              <p:cNvSpPr/>
              <p:nvPr/>
            </p:nvSpPr>
            <p:spPr>
              <a:xfrm>
                <a:off x="3189781" y="4235939"/>
                <a:ext cx="3265125" cy="362984"/>
              </a:xfrm>
              <a:prstGeom prst="rect">
                <a:avLst/>
              </a:prstGeom>
            </p:spPr>
            <p:txBody>
              <a:bodyPr wrap="none">
                <a:spAutoFit/>
              </a:bodyPr>
              <a:lstStyle/>
              <a:p>
                <a14:m>
                  <m:oMath xmlns:m="http://schemas.openxmlformats.org/officeDocument/2006/math">
                    <m:sSub>
                      <m:sSubPr>
                        <m:ctrlPr>
                          <a:rPr lang="zh-CN" altLang="zh-CN" i="1" smtClean="0">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𝑠</m:t>
                        </m:r>
                      </m:sub>
                    </m:sSub>
                    <m:r>
                      <a:rPr lang="en-US" altLang="zh-CN" b="1" i="0" smtClean="0">
                        <a:latin typeface="Cambria Math" panose="02040503050406030204" pitchFamily="18" charset="0"/>
                      </a:rPr>
                      <m:t>:</m:t>
                    </m:r>
                  </m:oMath>
                </a14:m>
                <a:r>
                  <a:rPr lang="zh-CN" altLang="en-US" sz="1600" b="1" dirty="0" smtClean="0">
                    <a:solidFill>
                      <a:srgbClr val="002060"/>
                    </a:solidFill>
                  </a:rPr>
                  <a:t>空间</a:t>
                </a:r>
                <a:r>
                  <a:rPr lang="zh-CN" altLang="en-US" sz="1600" b="1" dirty="0">
                    <a:solidFill>
                      <a:srgbClr val="002060"/>
                    </a:solidFill>
                  </a:rPr>
                  <a:t>雅可比</a:t>
                </a:r>
                <a:r>
                  <a:rPr lang="zh-CN" altLang="en-US" sz="1000" dirty="0"/>
                  <a:t>(Space Jacobian, 全局固定坐标系)</a:t>
                </a:r>
              </a:p>
            </p:txBody>
          </p:sp>
        </mc:Choice>
        <mc:Fallback xmlns="">
          <p:sp>
            <p:nvSpPr>
              <p:cNvPr id="35" name="矩形 34"/>
              <p:cNvSpPr>
                <a:spLocks noRot="1" noChangeAspect="1" noMove="1" noResize="1" noEditPoints="1" noAdjustHandles="1" noChangeArrowheads="1" noChangeShapeType="1" noTextEdit="1"/>
              </p:cNvSpPr>
              <p:nvPr/>
            </p:nvSpPr>
            <p:spPr>
              <a:xfrm>
                <a:off x="3189781" y="4235939"/>
                <a:ext cx="3265125" cy="362984"/>
              </a:xfrm>
              <a:prstGeom prst="rect">
                <a:avLst/>
              </a:prstGeom>
              <a:blipFill>
                <a:blip r:embed="rId16"/>
                <a:stretch>
                  <a:fillRect l="-373" t="-1695" b="-1864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矩形 35"/>
              <p:cNvSpPr/>
              <p:nvPr/>
            </p:nvSpPr>
            <p:spPr>
              <a:xfrm>
                <a:off x="3216281" y="4675218"/>
                <a:ext cx="2973635" cy="362984"/>
              </a:xfrm>
              <a:prstGeom prst="rect">
                <a:avLst/>
              </a:prstGeom>
            </p:spPr>
            <p:txBody>
              <a:bodyPr wrap="none">
                <a:spAutoFit/>
              </a:bodyPr>
              <a:lstStyle/>
              <a:p>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𝑏</m:t>
                        </m:r>
                      </m:sub>
                    </m:sSub>
                  </m:oMath>
                </a14:m>
                <a:r>
                  <a:rPr lang="en-US" altLang="zh-CN" sz="1600" b="1" dirty="0" smtClean="0">
                    <a:solidFill>
                      <a:srgbClr val="002060"/>
                    </a:solidFill>
                  </a:rPr>
                  <a:t>:</a:t>
                </a:r>
                <a:r>
                  <a:rPr lang="zh-CN" altLang="en-US" sz="1600" b="1" dirty="0" smtClean="0">
                    <a:solidFill>
                      <a:srgbClr val="002060"/>
                    </a:solidFill>
                  </a:rPr>
                  <a:t>物体</a:t>
                </a:r>
                <a:r>
                  <a:rPr lang="zh-CN" altLang="en-US" sz="1600" b="1" dirty="0">
                    <a:solidFill>
                      <a:srgbClr val="002060"/>
                    </a:solidFill>
                  </a:rPr>
                  <a:t>雅可比</a:t>
                </a:r>
                <a:r>
                  <a:rPr lang="zh-CN" altLang="en-US" sz="1000" dirty="0"/>
                  <a:t>(Body Jacobian, 末端坐标系)</a:t>
                </a:r>
              </a:p>
            </p:txBody>
          </p:sp>
        </mc:Choice>
        <mc:Fallback xmlns="">
          <p:sp>
            <p:nvSpPr>
              <p:cNvPr id="36" name="矩形 35"/>
              <p:cNvSpPr>
                <a:spLocks noRot="1" noChangeAspect="1" noMove="1" noResize="1" noEditPoints="1" noAdjustHandles="1" noChangeArrowheads="1" noChangeShapeType="1" noTextEdit="1"/>
              </p:cNvSpPr>
              <p:nvPr/>
            </p:nvSpPr>
            <p:spPr>
              <a:xfrm>
                <a:off x="3216281" y="4675218"/>
                <a:ext cx="2973635" cy="362984"/>
              </a:xfrm>
              <a:prstGeom prst="rect">
                <a:avLst/>
              </a:prstGeom>
              <a:blipFill>
                <a:blip r:embed="rId17"/>
                <a:stretch>
                  <a:fillRect l="-411" t="-3390" b="-22034"/>
                </a:stretch>
              </a:blipFill>
            </p:spPr>
            <p:txBody>
              <a:bodyPr/>
              <a:lstStyle/>
              <a:p>
                <a:r>
                  <a:rPr lang="zh-CN" altLang="en-US">
                    <a:noFill/>
                  </a:rPr>
                  <a:t> </a:t>
                </a:r>
              </a:p>
            </p:txBody>
          </p:sp>
        </mc:Fallback>
      </mc:AlternateContent>
      <p:sp>
        <p:nvSpPr>
          <p:cNvPr id="37" name="矩形 36"/>
          <p:cNvSpPr/>
          <p:nvPr/>
        </p:nvSpPr>
        <p:spPr>
          <a:xfrm>
            <a:off x="2987824" y="4235939"/>
            <a:ext cx="3467082" cy="80226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p:cNvGrpSpPr/>
          <p:nvPr/>
        </p:nvGrpSpPr>
        <p:grpSpPr>
          <a:xfrm>
            <a:off x="-236220" y="219075"/>
            <a:ext cx="5153660" cy="598805"/>
            <a:chOff x="-372" y="345"/>
            <a:chExt cx="8116" cy="943"/>
          </a:xfrm>
        </p:grpSpPr>
        <p:sp>
          <p:nvSpPr>
            <p:cNvPr id="39" name="矩形 3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Jacobian Matrix of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40" name="文本框 39"/>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机器人雅可比矩阵</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41" name="椭圆 4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7137741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178137" y="803488"/>
            <a:ext cx="5706231" cy="400110"/>
          </a:xfrm>
          <a:prstGeom prst="rect">
            <a:avLst/>
          </a:prstGeom>
        </p:spPr>
        <p:txBody>
          <a:bodyPr wrap="square">
            <a:spAutoFit/>
          </a:bodyPr>
          <a:lstStyle/>
          <a:p>
            <a:r>
              <a:rPr lang="zh-CN" altLang="en-US" sz="2000" b="1" dirty="0">
                <a:solidFill>
                  <a:srgbClr val="002060"/>
                </a:solidFill>
              </a:rPr>
              <a:t>机器人雅可比矩阵</a:t>
            </a:r>
            <a:r>
              <a:rPr lang="en-US" altLang="zh-CN" sz="2000" b="1" dirty="0">
                <a:solidFill>
                  <a:srgbClr val="002060"/>
                </a:solidFill>
              </a:rPr>
              <a:t>(Jacobian Matrix of Robots)</a:t>
            </a:r>
            <a:endParaRPr lang="zh-CN" altLang="en-US" sz="2000" b="1" dirty="0">
              <a:solidFill>
                <a:srgbClr val="002060"/>
              </a:solidFill>
            </a:endParaRPr>
          </a:p>
        </p:txBody>
      </p:sp>
      <mc:AlternateContent xmlns:mc="http://schemas.openxmlformats.org/markup-compatibility/2006" xmlns:a14="http://schemas.microsoft.com/office/drawing/2010/main">
        <mc:Choice Requires="a14">
          <p:sp>
            <p:nvSpPr>
              <p:cNvPr id="35" name="矩形 34"/>
              <p:cNvSpPr/>
              <p:nvPr/>
            </p:nvSpPr>
            <p:spPr>
              <a:xfrm>
                <a:off x="2862575" y="1198537"/>
                <a:ext cx="3265125" cy="362984"/>
              </a:xfrm>
              <a:prstGeom prst="rect">
                <a:avLst/>
              </a:prstGeom>
            </p:spPr>
            <p:txBody>
              <a:bodyPr wrap="none">
                <a:spAutoFit/>
              </a:bodyPr>
              <a:lstStyle/>
              <a:p>
                <a14:m>
                  <m:oMath xmlns:m="http://schemas.openxmlformats.org/officeDocument/2006/math">
                    <m:sSub>
                      <m:sSubPr>
                        <m:ctrlPr>
                          <a:rPr lang="zh-CN" altLang="zh-CN" i="1" smtClean="0">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𝑠</m:t>
                        </m:r>
                      </m:sub>
                    </m:sSub>
                    <m:r>
                      <a:rPr lang="en-US" altLang="zh-CN" b="1" i="0" smtClean="0">
                        <a:latin typeface="Cambria Math" panose="02040503050406030204" pitchFamily="18" charset="0"/>
                      </a:rPr>
                      <m:t>:</m:t>
                    </m:r>
                  </m:oMath>
                </a14:m>
                <a:r>
                  <a:rPr lang="zh-CN" altLang="en-US" sz="1600" b="1" dirty="0" smtClean="0">
                    <a:solidFill>
                      <a:srgbClr val="002060"/>
                    </a:solidFill>
                  </a:rPr>
                  <a:t>空间</a:t>
                </a:r>
                <a:r>
                  <a:rPr lang="zh-CN" altLang="en-US" sz="1600" b="1" dirty="0">
                    <a:solidFill>
                      <a:srgbClr val="002060"/>
                    </a:solidFill>
                  </a:rPr>
                  <a:t>雅可比</a:t>
                </a:r>
                <a:r>
                  <a:rPr lang="zh-CN" altLang="en-US" sz="1000" dirty="0"/>
                  <a:t>(Space Jacobian, 全局固定坐标系)</a:t>
                </a:r>
              </a:p>
            </p:txBody>
          </p:sp>
        </mc:Choice>
        <mc:Fallback xmlns="">
          <p:sp>
            <p:nvSpPr>
              <p:cNvPr id="35" name="矩形 34"/>
              <p:cNvSpPr>
                <a:spLocks noRot="1" noChangeAspect="1" noMove="1" noResize="1" noEditPoints="1" noAdjustHandles="1" noChangeArrowheads="1" noChangeShapeType="1" noTextEdit="1"/>
              </p:cNvSpPr>
              <p:nvPr/>
            </p:nvSpPr>
            <p:spPr>
              <a:xfrm>
                <a:off x="2862575" y="1198537"/>
                <a:ext cx="3265125" cy="362984"/>
              </a:xfrm>
              <a:prstGeom prst="rect">
                <a:avLst/>
              </a:prstGeom>
              <a:blipFill>
                <a:blip r:embed="rId18"/>
                <a:stretch>
                  <a:fillRect l="-374" t="-1695" b="-1864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矩形 35"/>
              <p:cNvSpPr/>
              <p:nvPr/>
            </p:nvSpPr>
            <p:spPr>
              <a:xfrm>
                <a:off x="2906734" y="1558073"/>
                <a:ext cx="2973635" cy="362984"/>
              </a:xfrm>
              <a:prstGeom prst="rect">
                <a:avLst/>
              </a:prstGeom>
            </p:spPr>
            <p:txBody>
              <a:bodyPr wrap="none">
                <a:spAutoFit/>
              </a:bodyPr>
              <a:lstStyle/>
              <a:p>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𝐽</m:t>
                        </m:r>
                      </m:e>
                      <m:sub>
                        <m:r>
                          <a:rPr lang="en-US" altLang="zh-CN" i="1">
                            <a:latin typeface="Cambria Math" panose="02040503050406030204" pitchFamily="18" charset="0"/>
                          </a:rPr>
                          <m:t>𝑏</m:t>
                        </m:r>
                      </m:sub>
                    </m:sSub>
                  </m:oMath>
                </a14:m>
                <a:r>
                  <a:rPr lang="en-US" altLang="zh-CN" sz="1600" b="1" dirty="0" smtClean="0">
                    <a:solidFill>
                      <a:srgbClr val="002060"/>
                    </a:solidFill>
                  </a:rPr>
                  <a:t>:</a:t>
                </a:r>
                <a:r>
                  <a:rPr lang="zh-CN" altLang="en-US" sz="1600" b="1" dirty="0" smtClean="0">
                    <a:solidFill>
                      <a:srgbClr val="002060"/>
                    </a:solidFill>
                  </a:rPr>
                  <a:t>物体</a:t>
                </a:r>
                <a:r>
                  <a:rPr lang="zh-CN" altLang="en-US" sz="1600" b="1" dirty="0">
                    <a:solidFill>
                      <a:srgbClr val="002060"/>
                    </a:solidFill>
                  </a:rPr>
                  <a:t>雅可比</a:t>
                </a:r>
                <a:r>
                  <a:rPr lang="zh-CN" altLang="en-US" sz="1000" dirty="0"/>
                  <a:t>(Body Jacobian, 末端坐标系)</a:t>
                </a:r>
              </a:p>
            </p:txBody>
          </p:sp>
        </mc:Choice>
        <mc:Fallback xmlns="">
          <p:sp>
            <p:nvSpPr>
              <p:cNvPr id="36" name="矩形 35"/>
              <p:cNvSpPr>
                <a:spLocks noRot="1" noChangeAspect="1" noMove="1" noResize="1" noEditPoints="1" noAdjustHandles="1" noChangeArrowheads="1" noChangeShapeType="1" noTextEdit="1"/>
              </p:cNvSpPr>
              <p:nvPr/>
            </p:nvSpPr>
            <p:spPr>
              <a:xfrm>
                <a:off x="2906734" y="1558073"/>
                <a:ext cx="2973635" cy="362984"/>
              </a:xfrm>
              <a:prstGeom prst="rect">
                <a:avLst/>
              </a:prstGeom>
              <a:blipFill>
                <a:blip r:embed="rId19"/>
                <a:stretch>
                  <a:fillRect l="-410" t="-3390" b="-22034"/>
                </a:stretch>
              </a:blipFill>
            </p:spPr>
            <p:txBody>
              <a:bodyPr/>
              <a:lstStyle/>
              <a:p>
                <a:r>
                  <a:rPr lang="zh-CN" altLang="en-US">
                    <a:noFill/>
                  </a:rPr>
                  <a:t> </a:t>
                </a:r>
              </a:p>
            </p:txBody>
          </p:sp>
        </mc:Fallback>
      </mc:AlternateContent>
      <p:sp>
        <p:nvSpPr>
          <p:cNvPr id="37" name="矩形 36"/>
          <p:cNvSpPr/>
          <p:nvPr/>
        </p:nvSpPr>
        <p:spPr>
          <a:xfrm>
            <a:off x="2761597" y="1184071"/>
            <a:ext cx="3467082" cy="7339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p:cNvGrpSpPr/>
          <p:nvPr/>
        </p:nvGrpSpPr>
        <p:grpSpPr>
          <a:xfrm>
            <a:off x="-236220" y="219075"/>
            <a:ext cx="5153660" cy="598805"/>
            <a:chOff x="-372" y="345"/>
            <a:chExt cx="8116" cy="943"/>
          </a:xfrm>
        </p:grpSpPr>
        <p:sp>
          <p:nvSpPr>
            <p:cNvPr id="39" name="矩形 3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Jacobian Matrix of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40" name="文本框 39"/>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机器人雅可比矩阵</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41" name="椭圆 4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 name="任意形状 56"/>
          <p:cNvSpPr/>
          <p:nvPr>
            <p:custDataLst>
              <p:tags r:id="rId1"/>
            </p:custDataLst>
          </p:nvPr>
        </p:nvSpPr>
        <p:spPr>
          <a:xfrm>
            <a:off x="1225649" y="2758410"/>
            <a:ext cx="1415003" cy="2353583"/>
          </a:xfrm>
          <a:custGeom>
            <a:avLst/>
            <a:gdLst>
              <a:gd name="connsiteX0" fmla="*/ 0 w 1961809"/>
              <a:gd name="connsiteY0" fmla="*/ 0 h 3263087"/>
              <a:gd name="connsiteX1" fmla="*/ 637 w 1961809"/>
              <a:gd name="connsiteY1" fmla="*/ 0 h 3263087"/>
              <a:gd name="connsiteX2" fmla="*/ 5064 w 1961809"/>
              <a:gd name="connsiteY2" fmla="*/ 87679 h 3263087"/>
              <a:gd name="connsiteX3" fmla="*/ 980905 w 1961809"/>
              <a:gd name="connsiteY3" fmla="*/ 968292 h 3263087"/>
              <a:gd name="connsiteX4" fmla="*/ 1956746 w 1961809"/>
              <a:gd name="connsiteY4" fmla="*/ 87679 h 3263087"/>
              <a:gd name="connsiteX5" fmla="*/ 1961173 w 1961809"/>
              <a:gd name="connsiteY5" fmla="*/ 0 h 3263087"/>
              <a:gd name="connsiteX6" fmla="*/ 1961809 w 1961809"/>
              <a:gd name="connsiteY6" fmla="*/ 0 h 3263087"/>
              <a:gd name="connsiteX7" fmla="*/ 1961809 w 1961809"/>
              <a:gd name="connsiteY7" fmla="*/ 3263087 h 3263087"/>
              <a:gd name="connsiteX8" fmla="*/ 0 w 1961809"/>
              <a:gd name="connsiteY8" fmla="*/ 3263087 h 3263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1809" h="3263087">
                <a:moveTo>
                  <a:pt x="0" y="0"/>
                </a:moveTo>
                <a:lnTo>
                  <a:pt x="637" y="0"/>
                </a:lnTo>
                <a:lnTo>
                  <a:pt x="5064" y="87679"/>
                </a:lnTo>
                <a:cubicBezTo>
                  <a:pt x="55297" y="582306"/>
                  <a:pt x="473025" y="968292"/>
                  <a:pt x="980905" y="968292"/>
                </a:cubicBezTo>
                <a:cubicBezTo>
                  <a:pt x="1488785" y="968292"/>
                  <a:pt x="1906514" y="582306"/>
                  <a:pt x="1956746" y="87679"/>
                </a:cubicBezTo>
                <a:lnTo>
                  <a:pt x="1961173" y="0"/>
                </a:lnTo>
                <a:lnTo>
                  <a:pt x="1961809" y="0"/>
                </a:lnTo>
                <a:lnTo>
                  <a:pt x="1961809" y="3263087"/>
                </a:lnTo>
                <a:lnTo>
                  <a:pt x="0" y="3263087"/>
                </a:lnTo>
                <a:close/>
              </a:path>
            </a:pathLst>
          </a:custGeom>
          <a:solidFill>
            <a:srgbClr val="FFFFFF">
              <a:lumMod val="95000"/>
            </a:srgbClr>
          </a:solidFill>
          <a:ln w="12700">
            <a:miter lim="400000"/>
          </a:ln>
        </p:spPr>
        <p:txBody>
          <a:bodyPr wrap="square" tIns="34290" bIns="3429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solidFill>
                  <a:srgbClr val="FFFFFF"/>
                </a:solidFill>
              </a:defRPr>
            </a:pPr>
            <a:endParaRPr kumimoji="0" sz="675"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30" name="形状"/>
          <p:cNvSpPr/>
          <p:nvPr>
            <p:custDataLst>
              <p:tags r:id="rId2"/>
            </p:custDataLst>
          </p:nvPr>
        </p:nvSpPr>
        <p:spPr>
          <a:xfrm rot="21112085">
            <a:off x="1173896" y="1936400"/>
            <a:ext cx="1634055" cy="1641254"/>
          </a:xfrm>
          <a:custGeom>
            <a:avLst/>
            <a:gdLst/>
            <a:ahLst/>
            <a:cxnLst>
              <a:cxn ang="0">
                <a:pos x="wd2" y="hd2"/>
              </a:cxn>
              <a:cxn ang="5400000">
                <a:pos x="wd2" y="hd2"/>
              </a:cxn>
              <a:cxn ang="10800000">
                <a:pos x="wd2" y="hd2"/>
              </a:cxn>
              <a:cxn ang="16200000">
                <a:pos x="wd2" y="hd2"/>
              </a:cxn>
            </a:cxnLst>
            <a:rect l="0" t="0" r="r" b="b"/>
            <a:pathLst>
              <a:path w="21561" h="21600" extrusionOk="0">
                <a:moveTo>
                  <a:pt x="21067" y="11464"/>
                </a:moveTo>
                <a:cubicBezTo>
                  <a:pt x="20844" y="11464"/>
                  <a:pt x="20844" y="11464"/>
                  <a:pt x="20844" y="11464"/>
                </a:cubicBezTo>
                <a:cubicBezTo>
                  <a:pt x="20444" y="11464"/>
                  <a:pt x="20133" y="11198"/>
                  <a:pt x="20044" y="10844"/>
                </a:cubicBezTo>
                <a:cubicBezTo>
                  <a:pt x="20000" y="10357"/>
                  <a:pt x="20356" y="9915"/>
                  <a:pt x="20844" y="9915"/>
                </a:cubicBezTo>
                <a:cubicBezTo>
                  <a:pt x="21067" y="9915"/>
                  <a:pt x="21067" y="9915"/>
                  <a:pt x="21067" y="9915"/>
                </a:cubicBezTo>
                <a:cubicBezTo>
                  <a:pt x="21333" y="9915"/>
                  <a:pt x="21600" y="9693"/>
                  <a:pt x="21556" y="9384"/>
                </a:cubicBezTo>
                <a:cubicBezTo>
                  <a:pt x="21511" y="9251"/>
                  <a:pt x="21511" y="9074"/>
                  <a:pt x="21467" y="8941"/>
                </a:cubicBezTo>
                <a:cubicBezTo>
                  <a:pt x="21422" y="8675"/>
                  <a:pt x="21156" y="8498"/>
                  <a:pt x="20844" y="8543"/>
                </a:cubicBezTo>
                <a:cubicBezTo>
                  <a:pt x="20622" y="8631"/>
                  <a:pt x="20622" y="8631"/>
                  <a:pt x="20622" y="8631"/>
                </a:cubicBezTo>
                <a:cubicBezTo>
                  <a:pt x="20267" y="8720"/>
                  <a:pt x="19867" y="8587"/>
                  <a:pt x="19689" y="8233"/>
                </a:cubicBezTo>
                <a:cubicBezTo>
                  <a:pt x="19467" y="7790"/>
                  <a:pt x="19733" y="7259"/>
                  <a:pt x="20178" y="7126"/>
                </a:cubicBezTo>
                <a:cubicBezTo>
                  <a:pt x="20400" y="7082"/>
                  <a:pt x="20400" y="7082"/>
                  <a:pt x="20400" y="7082"/>
                </a:cubicBezTo>
                <a:cubicBezTo>
                  <a:pt x="20667" y="6993"/>
                  <a:pt x="20844" y="6684"/>
                  <a:pt x="20711" y="6418"/>
                </a:cubicBezTo>
                <a:cubicBezTo>
                  <a:pt x="20667" y="6285"/>
                  <a:pt x="20578" y="6152"/>
                  <a:pt x="20533" y="6020"/>
                </a:cubicBezTo>
                <a:cubicBezTo>
                  <a:pt x="20400" y="5754"/>
                  <a:pt x="20044" y="5666"/>
                  <a:pt x="19822" y="5843"/>
                </a:cubicBezTo>
                <a:cubicBezTo>
                  <a:pt x="19600" y="5975"/>
                  <a:pt x="19600" y="5975"/>
                  <a:pt x="19600" y="5975"/>
                </a:cubicBezTo>
                <a:cubicBezTo>
                  <a:pt x="19244" y="6197"/>
                  <a:pt x="18756" y="6064"/>
                  <a:pt x="18533" y="5710"/>
                </a:cubicBezTo>
                <a:cubicBezTo>
                  <a:pt x="18311" y="5356"/>
                  <a:pt x="18400" y="4869"/>
                  <a:pt x="18756" y="4648"/>
                </a:cubicBezTo>
                <a:cubicBezTo>
                  <a:pt x="18933" y="4559"/>
                  <a:pt x="18933" y="4559"/>
                  <a:pt x="18933" y="4559"/>
                </a:cubicBezTo>
                <a:cubicBezTo>
                  <a:pt x="19200" y="4382"/>
                  <a:pt x="19244" y="4028"/>
                  <a:pt x="19067" y="3807"/>
                </a:cubicBezTo>
                <a:cubicBezTo>
                  <a:pt x="18978" y="3718"/>
                  <a:pt x="18889" y="3585"/>
                  <a:pt x="18756" y="3497"/>
                </a:cubicBezTo>
                <a:cubicBezTo>
                  <a:pt x="18578" y="3275"/>
                  <a:pt x="18222" y="3275"/>
                  <a:pt x="18044" y="3497"/>
                </a:cubicBezTo>
                <a:cubicBezTo>
                  <a:pt x="17911" y="3674"/>
                  <a:pt x="17911" y="3674"/>
                  <a:pt x="17911" y="3674"/>
                </a:cubicBezTo>
                <a:cubicBezTo>
                  <a:pt x="17644" y="3984"/>
                  <a:pt x="17200" y="4028"/>
                  <a:pt x="16889" y="3851"/>
                </a:cubicBezTo>
                <a:cubicBezTo>
                  <a:pt x="16444" y="3585"/>
                  <a:pt x="16400" y="3010"/>
                  <a:pt x="16711" y="2656"/>
                </a:cubicBezTo>
                <a:cubicBezTo>
                  <a:pt x="16844" y="2523"/>
                  <a:pt x="16844" y="2523"/>
                  <a:pt x="16844" y="2523"/>
                </a:cubicBezTo>
                <a:cubicBezTo>
                  <a:pt x="17067" y="2302"/>
                  <a:pt x="17022" y="1948"/>
                  <a:pt x="16756" y="1770"/>
                </a:cubicBezTo>
                <a:cubicBezTo>
                  <a:pt x="16622" y="1682"/>
                  <a:pt x="16489" y="1638"/>
                  <a:pt x="16400" y="1549"/>
                </a:cubicBezTo>
                <a:cubicBezTo>
                  <a:pt x="16133" y="1416"/>
                  <a:pt x="15822" y="1505"/>
                  <a:pt x="15689" y="1770"/>
                </a:cubicBezTo>
                <a:cubicBezTo>
                  <a:pt x="15600" y="1992"/>
                  <a:pt x="15600" y="1992"/>
                  <a:pt x="15600" y="1992"/>
                </a:cubicBezTo>
                <a:cubicBezTo>
                  <a:pt x="15422" y="2302"/>
                  <a:pt x="15022" y="2523"/>
                  <a:pt x="14667" y="2434"/>
                </a:cubicBezTo>
                <a:cubicBezTo>
                  <a:pt x="14178" y="2302"/>
                  <a:pt x="13956" y="1770"/>
                  <a:pt x="14178" y="1328"/>
                </a:cubicBezTo>
                <a:cubicBezTo>
                  <a:pt x="14267" y="1151"/>
                  <a:pt x="14267" y="1151"/>
                  <a:pt x="14267" y="1151"/>
                </a:cubicBezTo>
                <a:cubicBezTo>
                  <a:pt x="14400" y="885"/>
                  <a:pt x="14222" y="575"/>
                  <a:pt x="13956" y="487"/>
                </a:cubicBezTo>
                <a:cubicBezTo>
                  <a:pt x="13822" y="443"/>
                  <a:pt x="13689" y="398"/>
                  <a:pt x="13556" y="354"/>
                </a:cubicBezTo>
                <a:cubicBezTo>
                  <a:pt x="13244" y="266"/>
                  <a:pt x="12978" y="443"/>
                  <a:pt x="12933" y="752"/>
                </a:cubicBezTo>
                <a:cubicBezTo>
                  <a:pt x="12889" y="974"/>
                  <a:pt x="12889" y="974"/>
                  <a:pt x="12889" y="974"/>
                </a:cubicBezTo>
                <a:cubicBezTo>
                  <a:pt x="12844" y="1372"/>
                  <a:pt x="12533" y="1638"/>
                  <a:pt x="12133" y="1682"/>
                </a:cubicBezTo>
                <a:cubicBezTo>
                  <a:pt x="11644" y="1682"/>
                  <a:pt x="11289" y="1239"/>
                  <a:pt x="11333" y="752"/>
                </a:cubicBezTo>
                <a:cubicBezTo>
                  <a:pt x="11378" y="575"/>
                  <a:pt x="11378" y="575"/>
                  <a:pt x="11378" y="575"/>
                </a:cubicBezTo>
                <a:cubicBezTo>
                  <a:pt x="11422" y="266"/>
                  <a:pt x="11200" y="0"/>
                  <a:pt x="10933" y="0"/>
                </a:cubicBezTo>
                <a:cubicBezTo>
                  <a:pt x="10756" y="0"/>
                  <a:pt x="10622" y="0"/>
                  <a:pt x="10489" y="0"/>
                </a:cubicBezTo>
                <a:cubicBezTo>
                  <a:pt x="10178" y="0"/>
                  <a:pt x="9956" y="266"/>
                  <a:pt x="10000" y="575"/>
                </a:cubicBezTo>
                <a:cubicBezTo>
                  <a:pt x="10044" y="797"/>
                  <a:pt x="10044" y="797"/>
                  <a:pt x="10044" y="797"/>
                </a:cubicBezTo>
                <a:cubicBezTo>
                  <a:pt x="10089" y="1239"/>
                  <a:pt x="9778" y="1638"/>
                  <a:pt x="9378" y="1682"/>
                </a:cubicBezTo>
                <a:cubicBezTo>
                  <a:pt x="9022" y="1903"/>
                  <a:pt x="8578" y="1682"/>
                  <a:pt x="8533" y="1284"/>
                </a:cubicBezTo>
                <a:cubicBezTo>
                  <a:pt x="8489" y="797"/>
                  <a:pt x="8489" y="797"/>
                  <a:pt x="8489" y="797"/>
                </a:cubicBezTo>
                <a:cubicBezTo>
                  <a:pt x="8444" y="531"/>
                  <a:pt x="8133" y="310"/>
                  <a:pt x="7867" y="398"/>
                </a:cubicBezTo>
                <a:cubicBezTo>
                  <a:pt x="7733" y="443"/>
                  <a:pt x="7556" y="487"/>
                  <a:pt x="7422" y="531"/>
                </a:cubicBezTo>
                <a:cubicBezTo>
                  <a:pt x="7156" y="620"/>
                  <a:pt x="7022" y="930"/>
                  <a:pt x="7156" y="1195"/>
                </a:cubicBezTo>
                <a:cubicBezTo>
                  <a:pt x="7244" y="1416"/>
                  <a:pt x="7244" y="1416"/>
                  <a:pt x="7244" y="1416"/>
                </a:cubicBezTo>
                <a:cubicBezTo>
                  <a:pt x="7422" y="1859"/>
                  <a:pt x="7200" y="2390"/>
                  <a:pt x="6711" y="2479"/>
                </a:cubicBezTo>
                <a:cubicBezTo>
                  <a:pt x="6356" y="2611"/>
                  <a:pt x="5956" y="2390"/>
                  <a:pt x="5822" y="2036"/>
                </a:cubicBezTo>
                <a:cubicBezTo>
                  <a:pt x="5733" y="1859"/>
                  <a:pt x="5733" y="1859"/>
                  <a:pt x="5733" y="1859"/>
                </a:cubicBezTo>
                <a:cubicBezTo>
                  <a:pt x="5600" y="1593"/>
                  <a:pt x="5289" y="1505"/>
                  <a:pt x="5022" y="1638"/>
                </a:cubicBezTo>
                <a:cubicBezTo>
                  <a:pt x="5022" y="1638"/>
                  <a:pt x="5022" y="1638"/>
                  <a:pt x="5022" y="1638"/>
                </a:cubicBezTo>
                <a:cubicBezTo>
                  <a:pt x="4889" y="1726"/>
                  <a:pt x="4800" y="1815"/>
                  <a:pt x="4667" y="1903"/>
                </a:cubicBezTo>
                <a:cubicBezTo>
                  <a:pt x="4444" y="2036"/>
                  <a:pt x="4400" y="2390"/>
                  <a:pt x="4578" y="2611"/>
                </a:cubicBezTo>
                <a:cubicBezTo>
                  <a:pt x="4711" y="2789"/>
                  <a:pt x="4711" y="2789"/>
                  <a:pt x="4711" y="2789"/>
                </a:cubicBezTo>
                <a:cubicBezTo>
                  <a:pt x="4978" y="3098"/>
                  <a:pt x="4978" y="3497"/>
                  <a:pt x="4756" y="3807"/>
                </a:cubicBezTo>
                <a:cubicBezTo>
                  <a:pt x="4444" y="4161"/>
                  <a:pt x="3867" y="4161"/>
                  <a:pt x="3556" y="3807"/>
                </a:cubicBezTo>
                <a:cubicBezTo>
                  <a:pt x="3422" y="3630"/>
                  <a:pt x="3422" y="3630"/>
                  <a:pt x="3422" y="3630"/>
                </a:cubicBezTo>
                <a:cubicBezTo>
                  <a:pt x="3200" y="3408"/>
                  <a:pt x="2889" y="3408"/>
                  <a:pt x="2667" y="3630"/>
                </a:cubicBezTo>
                <a:cubicBezTo>
                  <a:pt x="2578" y="3762"/>
                  <a:pt x="2489" y="3851"/>
                  <a:pt x="2400" y="3984"/>
                </a:cubicBezTo>
                <a:cubicBezTo>
                  <a:pt x="2222" y="4205"/>
                  <a:pt x="2267" y="4515"/>
                  <a:pt x="2489" y="4692"/>
                </a:cubicBezTo>
                <a:cubicBezTo>
                  <a:pt x="2711" y="4825"/>
                  <a:pt x="2711" y="4825"/>
                  <a:pt x="2711" y="4825"/>
                </a:cubicBezTo>
                <a:cubicBezTo>
                  <a:pt x="3022" y="5046"/>
                  <a:pt x="3156" y="5444"/>
                  <a:pt x="3022" y="5798"/>
                </a:cubicBezTo>
                <a:cubicBezTo>
                  <a:pt x="2800" y="6241"/>
                  <a:pt x="2267" y="6374"/>
                  <a:pt x="1867" y="6108"/>
                </a:cubicBezTo>
                <a:cubicBezTo>
                  <a:pt x="1689" y="6020"/>
                  <a:pt x="1689" y="6020"/>
                  <a:pt x="1689" y="6020"/>
                </a:cubicBezTo>
                <a:cubicBezTo>
                  <a:pt x="1422" y="5843"/>
                  <a:pt x="1111" y="5931"/>
                  <a:pt x="978" y="6197"/>
                </a:cubicBezTo>
                <a:cubicBezTo>
                  <a:pt x="933" y="6330"/>
                  <a:pt x="844" y="6462"/>
                  <a:pt x="800" y="6595"/>
                </a:cubicBezTo>
                <a:cubicBezTo>
                  <a:pt x="711" y="6861"/>
                  <a:pt x="844" y="7170"/>
                  <a:pt x="1111" y="7259"/>
                </a:cubicBezTo>
                <a:cubicBezTo>
                  <a:pt x="1378" y="7348"/>
                  <a:pt x="1378" y="7348"/>
                  <a:pt x="1378" y="7348"/>
                </a:cubicBezTo>
                <a:cubicBezTo>
                  <a:pt x="1778" y="7436"/>
                  <a:pt x="2000" y="7879"/>
                  <a:pt x="1867" y="8321"/>
                </a:cubicBezTo>
                <a:cubicBezTo>
                  <a:pt x="2089" y="8631"/>
                  <a:pt x="1778" y="9074"/>
                  <a:pt x="1378" y="8941"/>
                </a:cubicBezTo>
                <a:cubicBezTo>
                  <a:pt x="711" y="8764"/>
                  <a:pt x="711" y="8764"/>
                  <a:pt x="711" y="8764"/>
                </a:cubicBezTo>
                <a:cubicBezTo>
                  <a:pt x="400" y="8675"/>
                  <a:pt x="133" y="8852"/>
                  <a:pt x="89" y="9162"/>
                </a:cubicBezTo>
                <a:cubicBezTo>
                  <a:pt x="44" y="9295"/>
                  <a:pt x="44" y="9428"/>
                  <a:pt x="0" y="9561"/>
                </a:cubicBezTo>
                <a:cubicBezTo>
                  <a:pt x="0" y="9870"/>
                  <a:pt x="222" y="10092"/>
                  <a:pt x="489" y="10136"/>
                </a:cubicBezTo>
                <a:cubicBezTo>
                  <a:pt x="756" y="10136"/>
                  <a:pt x="756" y="10136"/>
                  <a:pt x="756" y="10136"/>
                </a:cubicBezTo>
                <a:cubicBezTo>
                  <a:pt x="1200" y="10136"/>
                  <a:pt x="1556" y="10490"/>
                  <a:pt x="1511" y="10889"/>
                </a:cubicBezTo>
                <a:cubicBezTo>
                  <a:pt x="1511" y="11331"/>
                  <a:pt x="1156" y="11685"/>
                  <a:pt x="756" y="11685"/>
                </a:cubicBezTo>
                <a:cubicBezTo>
                  <a:pt x="533" y="11685"/>
                  <a:pt x="533" y="11685"/>
                  <a:pt x="533" y="11685"/>
                </a:cubicBezTo>
                <a:cubicBezTo>
                  <a:pt x="222" y="11685"/>
                  <a:pt x="0" y="11907"/>
                  <a:pt x="44" y="12216"/>
                </a:cubicBezTo>
                <a:cubicBezTo>
                  <a:pt x="44" y="12349"/>
                  <a:pt x="89" y="12482"/>
                  <a:pt x="89" y="12659"/>
                </a:cubicBezTo>
                <a:cubicBezTo>
                  <a:pt x="178" y="12925"/>
                  <a:pt x="444" y="13102"/>
                  <a:pt x="711" y="13013"/>
                </a:cubicBezTo>
                <a:cubicBezTo>
                  <a:pt x="978" y="12969"/>
                  <a:pt x="978" y="12969"/>
                  <a:pt x="978" y="12969"/>
                </a:cubicBezTo>
                <a:cubicBezTo>
                  <a:pt x="1378" y="12836"/>
                  <a:pt x="1822" y="13102"/>
                  <a:pt x="1956" y="13500"/>
                </a:cubicBezTo>
                <a:cubicBezTo>
                  <a:pt x="1956" y="13500"/>
                  <a:pt x="1956" y="13500"/>
                  <a:pt x="1956" y="13500"/>
                </a:cubicBezTo>
                <a:cubicBezTo>
                  <a:pt x="2044" y="13898"/>
                  <a:pt x="1822" y="14341"/>
                  <a:pt x="1378" y="14474"/>
                </a:cubicBezTo>
                <a:cubicBezTo>
                  <a:pt x="1200" y="14518"/>
                  <a:pt x="1200" y="14518"/>
                  <a:pt x="1200" y="14518"/>
                </a:cubicBezTo>
                <a:cubicBezTo>
                  <a:pt x="889" y="14607"/>
                  <a:pt x="756" y="14916"/>
                  <a:pt x="889" y="15182"/>
                </a:cubicBezTo>
                <a:cubicBezTo>
                  <a:pt x="933" y="15315"/>
                  <a:pt x="1022" y="15448"/>
                  <a:pt x="1067" y="15580"/>
                </a:cubicBezTo>
                <a:cubicBezTo>
                  <a:pt x="1200" y="15846"/>
                  <a:pt x="1511" y="15934"/>
                  <a:pt x="1778" y="15757"/>
                </a:cubicBezTo>
                <a:cubicBezTo>
                  <a:pt x="2000" y="15625"/>
                  <a:pt x="2000" y="15625"/>
                  <a:pt x="2000" y="15625"/>
                </a:cubicBezTo>
                <a:cubicBezTo>
                  <a:pt x="2356" y="15403"/>
                  <a:pt x="2844" y="15492"/>
                  <a:pt x="3067" y="15890"/>
                </a:cubicBezTo>
                <a:cubicBezTo>
                  <a:pt x="3289" y="16244"/>
                  <a:pt x="3156" y="16731"/>
                  <a:pt x="2800" y="16952"/>
                </a:cubicBezTo>
                <a:cubicBezTo>
                  <a:pt x="2622" y="17041"/>
                  <a:pt x="2622" y="17041"/>
                  <a:pt x="2622" y="17041"/>
                </a:cubicBezTo>
                <a:cubicBezTo>
                  <a:pt x="2400" y="17218"/>
                  <a:pt x="2311" y="17572"/>
                  <a:pt x="2533" y="17793"/>
                </a:cubicBezTo>
                <a:cubicBezTo>
                  <a:pt x="2622" y="17882"/>
                  <a:pt x="2711" y="18015"/>
                  <a:pt x="2800" y="18103"/>
                </a:cubicBezTo>
                <a:cubicBezTo>
                  <a:pt x="3022" y="18325"/>
                  <a:pt x="3333" y="18325"/>
                  <a:pt x="3556" y="18103"/>
                </a:cubicBezTo>
                <a:cubicBezTo>
                  <a:pt x="3689" y="17926"/>
                  <a:pt x="3689" y="17926"/>
                  <a:pt x="3689" y="17926"/>
                </a:cubicBezTo>
                <a:cubicBezTo>
                  <a:pt x="3956" y="17616"/>
                  <a:pt x="4356" y="17572"/>
                  <a:pt x="4711" y="17749"/>
                </a:cubicBezTo>
                <a:cubicBezTo>
                  <a:pt x="5111" y="18015"/>
                  <a:pt x="5200" y="18590"/>
                  <a:pt x="4889" y="18944"/>
                </a:cubicBezTo>
                <a:cubicBezTo>
                  <a:pt x="4711" y="19077"/>
                  <a:pt x="4711" y="19077"/>
                  <a:pt x="4711" y="19077"/>
                </a:cubicBezTo>
                <a:cubicBezTo>
                  <a:pt x="4533" y="19298"/>
                  <a:pt x="4578" y="19652"/>
                  <a:pt x="4844" y="19830"/>
                </a:cubicBezTo>
                <a:cubicBezTo>
                  <a:pt x="4933" y="19918"/>
                  <a:pt x="5067" y="19962"/>
                  <a:pt x="5200" y="20051"/>
                </a:cubicBezTo>
                <a:cubicBezTo>
                  <a:pt x="5467" y="20184"/>
                  <a:pt x="5778" y="20095"/>
                  <a:pt x="5911" y="19830"/>
                </a:cubicBezTo>
                <a:cubicBezTo>
                  <a:pt x="6000" y="19608"/>
                  <a:pt x="6000" y="19608"/>
                  <a:pt x="6000" y="19608"/>
                </a:cubicBezTo>
                <a:cubicBezTo>
                  <a:pt x="6178" y="19210"/>
                  <a:pt x="6667" y="19033"/>
                  <a:pt x="7022" y="19210"/>
                </a:cubicBezTo>
                <a:cubicBezTo>
                  <a:pt x="7022" y="19210"/>
                  <a:pt x="7022" y="19210"/>
                  <a:pt x="7022" y="19210"/>
                </a:cubicBezTo>
                <a:cubicBezTo>
                  <a:pt x="7422" y="19431"/>
                  <a:pt x="7600" y="19874"/>
                  <a:pt x="7422" y="20272"/>
                </a:cubicBezTo>
                <a:cubicBezTo>
                  <a:pt x="7333" y="20449"/>
                  <a:pt x="7333" y="20449"/>
                  <a:pt x="7333" y="20449"/>
                </a:cubicBezTo>
                <a:cubicBezTo>
                  <a:pt x="7200" y="20715"/>
                  <a:pt x="7333" y="21025"/>
                  <a:pt x="7644" y="21113"/>
                </a:cubicBezTo>
                <a:cubicBezTo>
                  <a:pt x="7778" y="21157"/>
                  <a:pt x="7911" y="21202"/>
                  <a:pt x="8044" y="21246"/>
                </a:cubicBezTo>
                <a:cubicBezTo>
                  <a:pt x="8311" y="21334"/>
                  <a:pt x="8622" y="21113"/>
                  <a:pt x="8667" y="20848"/>
                </a:cubicBezTo>
                <a:cubicBezTo>
                  <a:pt x="8711" y="20582"/>
                  <a:pt x="8711" y="20582"/>
                  <a:pt x="8711" y="20582"/>
                </a:cubicBezTo>
                <a:cubicBezTo>
                  <a:pt x="8756" y="20184"/>
                  <a:pt x="9156" y="19874"/>
                  <a:pt x="9600" y="19918"/>
                </a:cubicBezTo>
                <a:cubicBezTo>
                  <a:pt x="10000" y="20007"/>
                  <a:pt x="10311" y="20405"/>
                  <a:pt x="10222" y="20803"/>
                </a:cubicBezTo>
                <a:cubicBezTo>
                  <a:pt x="10178" y="21025"/>
                  <a:pt x="10178" y="21025"/>
                  <a:pt x="10178" y="21025"/>
                </a:cubicBezTo>
                <a:cubicBezTo>
                  <a:pt x="10133" y="21334"/>
                  <a:pt x="10356" y="21600"/>
                  <a:pt x="10667" y="21600"/>
                </a:cubicBezTo>
                <a:cubicBezTo>
                  <a:pt x="10800" y="21600"/>
                  <a:pt x="10978" y="21600"/>
                  <a:pt x="11111" y="21600"/>
                </a:cubicBezTo>
                <a:cubicBezTo>
                  <a:pt x="11378" y="21600"/>
                  <a:pt x="11600" y="21334"/>
                  <a:pt x="11600" y="21025"/>
                </a:cubicBezTo>
                <a:cubicBezTo>
                  <a:pt x="11556" y="20759"/>
                  <a:pt x="11556" y="20759"/>
                  <a:pt x="11556" y="20759"/>
                </a:cubicBezTo>
                <a:cubicBezTo>
                  <a:pt x="11467" y="20361"/>
                  <a:pt x="11778" y="19962"/>
                  <a:pt x="12222" y="19918"/>
                </a:cubicBezTo>
                <a:cubicBezTo>
                  <a:pt x="12222" y="19918"/>
                  <a:pt x="12222" y="19918"/>
                  <a:pt x="12222" y="19918"/>
                </a:cubicBezTo>
                <a:cubicBezTo>
                  <a:pt x="12622" y="19874"/>
                  <a:pt x="13022" y="20139"/>
                  <a:pt x="13067" y="20582"/>
                </a:cubicBezTo>
                <a:cubicBezTo>
                  <a:pt x="13111" y="20803"/>
                  <a:pt x="13111" y="20803"/>
                  <a:pt x="13111" y="20803"/>
                </a:cubicBezTo>
                <a:cubicBezTo>
                  <a:pt x="13156" y="21069"/>
                  <a:pt x="13467" y="21290"/>
                  <a:pt x="13733" y="21202"/>
                </a:cubicBezTo>
                <a:cubicBezTo>
                  <a:pt x="13867" y="21157"/>
                  <a:pt x="14000" y="21113"/>
                  <a:pt x="14133" y="21069"/>
                </a:cubicBezTo>
                <a:cubicBezTo>
                  <a:pt x="14444" y="20980"/>
                  <a:pt x="14578" y="20670"/>
                  <a:pt x="14444" y="20405"/>
                </a:cubicBezTo>
                <a:cubicBezTo>
                  <a:pt x="14356" y="20184"/>
                  <a:pt x="14356" y="20184"/>
                  <a:pt x="14356" y="20184"/>
                </a:cubicBezTo>
                <a:cubicBezTo>
                  <a:pt x="14178" y="19785"/>
                  <a:pt x="14356" y="19298"/>
                  <a:pt x="14756" y="19121"/>
                </a:cubicBezTo>
                <a:cubicBezTo>
                  <a:pt x="15111" y="18989"/>
                  <a:pt x="15600" y="19166"/>
                  <a:pt x="15778" y="19520"/>
                </a:cubicBezTo>
                <a:cubicBezTo>
                  <a:pt x="15867" y="19741"/>
                  <a:pt x="15867" y="19741"/>
                  <a:pt x="15867" y="19741"/>
                </a:cubicBezTo>
                <a:cubicBezTo>
                  <a:pt x="15956" y="20007"/>
                  <a:pt x="16311" y="20095"/>
                  <a:pt x="16533" y="19962"/>
                </a:cubicBezTo>
                <a:cubicBezTo>
                  <a:pt x="16533" y="19962"/>
                  <a:pt x="16533" y="19962"/>
                  <a:pt x="16533" y="19962"/>
                </a:cubicBezTo>
                <a:cubicBezTo>
                  <a:pt x="16667" y="19874"/>
                  <a:pt x="16800" y="19785"/>
                  <a:pt x="16933" y="19697"/>
                </a:cubicBezTo>
                <a:cubicBezTo>
                  <a:pt x="17156" y="19564"/>
                  <a:pt x="17200" y="19210"/>
                  <a:pt x="17022" y="18989"/>
                </a:cubicBezTo>
                <a:cubicBezTo>
                  <a:pt x="16844" y="18811"/>
                  <a:pt x="16844" y="18811"/>
                  <a:pt x="16844" y="18811"/>
                </a:cubicBezTo>
                <a:cubicBezTo>
                  <a:pt x="16578" y="18457"/>
                  <a:pt x="16622" y="17970"/>
                  <a:pt x="16933" y="17705"/>
                </a:cubicBezTo>
                <a:cubicBezTo>
                  <a:pt x="17244" y="17439"/>
                  <a:pt x="17733" y="17484"/>
                  <a:pt x="18044" y="17793"/>
                </a:cubicBezTo>
                <a:cubicBezTo>
                  <a:pt x="18178" y="17970"/>
                  <a:pt x="18178" y="17970"/>
                  <a:pt x="18178" y="17970"/>
                </a:cubicBezTo>
                <a:cubicBezTo>
                  <a:pt x="18356" y="18192"/>
                  <a:pt x="18711" y="18192"/>
                  <a:pt x="18889" y="17970"/>
                </a:cubicBezTo>
                <a:cubicBezTo>
                  <a:pt x="19022" y="17838"/>
                  <a:pt x="19111" y="17749"/>
                  <a:pt x="19200" y="17616"/>
                </a:cubicBezTo>
                <a:cubicBezTo>
                  <a:pt x="19378" y="17395"/>
                  <a:pt x="19333" y="17085"/>
                  <a:pt x="19067" y="16908"/>
                </a:cubicBezTo>
                <a:cubicBezTo>
                  <a:pt x="18844" y="16775"/>
                  <a:pt x="18844" y="16775"/>
                  <a:pt x="18844" y="16775"/>
                </a:cubicBezTo>
                <a:cubicBezTo>
                  <a:pt x="18489" y="16554"/>
                  <a:pt x="18400" y="16067"/>
                  <a:pt x="18622" y="15713"/>
                </a:cubicBezTo>
                <a:cubicBezTo>
                  <a:pt x="18889" y="15359"/>
                  <a:pt x="19378" y="15226"/>
                  <a:pt x="19733" y="15492"/>
                </a:cubicBezTo>
                <a:cubicBezTo>
                  <a:pt x="19911" y="15580"/>
                  <a:pt x="19911" y="15580"/>
                  <a:pt x="19911" y="15580"/>
                </a:cubicBezTo>
                <a:cubicBezTo>
                  <a:pt x="20133" y="15757"/>
                  <a:pt x="20489" y="15669"/>
                  <a:pt x="20622" y="15403"/>
                </a:cubicBezTo>
                <a:cubicBezTo>
                  <a:pt x="20667" y="15270"/>
                  <a:pt x="20711" y="15138"/>
                  <a:pt x="20800" y="15005"/>
                </a:cubicBezTo>
                <a:cubicBezTo>
                  <a:pt x="20889" y="14739"/>
                  <a:pt x="20756" y="14430"/>
                  <a:pt x="20489" y="14341"/>
                </a:cubicBezTo>
                <a:cubicBezTo>
                  <a:pt x="20222" y="14252"/>
                  <a:pt x="20222" y="14252"/>
                  <a:pt x="20222" y="14252"/>
                </a:cubicBezTo>
                <a:cubicBezTo>
                  <a:pt x="19822" y="14120"/>
                  <a:pt x="19600" y="13721"/>
                  <a:pt x="19689" y="13279"/>
                </a:cubicBezTo>
                <a:cubicBezTo>
                  <a:pt x="19467" y="12969"/>
                  <a:pt x="19822" y="12526"/>
                  <a:pt x="20222" y="12659"/>
                </a:cubicBezTo>
                <a:cubicBezTo>
                  <a:pt x="20889" y="12836"/>
                  <a:pt x="20889" y="12836"/>
                  <a:pt x="20889" y="12836"/>
                </a:cubicBezTo>
                <a:cubicBezTo>
                  <a:pt x="21156" y="12925"/>
                  <a:pt x="21467" y="12748"/>
                  <a:pt x="21511" y="12438"/>
                </a:cubicBezTo>
                <a:cubicBezTo>
                  <a:pt x="21511" y="12305"/>
                  <a:pt x="21556" y="12172"/>
                  <a:pt x="21556" y="12039"/>
                </a:cubicBezTo>
                <a:cubicBezTo>
                  <a:pt x="21600" y="11730"/>
                  <a:pt x="21378" y="11464"/>
                  <a:pt x="21067" y="11464"/>
                </a:cubicBezTo>
                <a:close/>
                <a:moveTo>
                  <a:pt x="12933" y="4382"/>
                </a:moveTo>
                <a:cubicBezTo>
                  <a:pt x="13022" y="3939"/>
                  <a:pt x="13422" y="3762"/>
                  <a:pt x="13822" y="3939"/>
                </a:cubicBezTo>
                <a:cubicBezTo>
                  <a:pt x="16356" y="5798"/>
                  <a:pt x="16356" y="5798"/>
                  <a:pt x="16356" y="5798"/>
                </a:cubicBezTo>
                <a:cubicBezTo>
                  <a:pt x="16667" y="6108"/>
                  <a:pt x="16622" y="6551"/>
                  <a:pt x="16267" y="6772"/>
                </a:cubicBezTo>
                <a:cubicBezTo>
                  <a:pt x="15956" y="6949"/>
                  <a:pt x="15956" y="6949"/>
                  <a:pt x="15956" y="6949"/>
                </a:cubicBezTo>
                <a:cubicBezTo>
                  <a:pt x="15200" y="5931"/>
                  <a:pt x="14089" y="5134"/>
                  <a:pt x="12844" y="4736"/>
                </a:cubicBezTo>
                <a:lnTo>
                  <a:pt x="12933" y="4382"/>
                </a:lnTo>
                <a:close/>
                <a:moveTo>
                  <a:pt x="8133" y="3807"/>
                </a:moveTo>
                <a:cubicBezTo>
                  <a:pt x="11333" y="3320"/>
                  <a:pt x="11333" y="3320"/>
                  <a:pt x="11333" y="3320"/>
                </a:cubicBezTo>
                <a:cubicBezTo>
                  <a:pt x="11778" y="3364"/>
                  <a:pt x="12044" y="3718"/>
                  <a:pt x="11956" y="4116"/>
                </a:cubicBezTo>
                <a:cubicBezTo>
                  <a:pt x="11867" y="4470"/>
                  <a:pt x="11867" y="4470"/>
                  <a:pt x="11867" y="4470"/>
                </a:cubicBezTo>
                <a:cubicBezTo>
                  <a:pt x="11511" y="4426"/>
                  <a:pt x="11156" y="4382"/>
                  <a:pt x="10800" y="4382"/>
                </a:cubicBezTo>
                <a:cubicBezTo>
                  <a:pt x="9778" y="4382"/>
                  <a:pt x="8844" y="4603"/>
                  <a:pt x="8000" y="5002"/>
                </a:cubicBezTo>
                <a:cubicBezTo>
                  <a:pt x="7822" y="4736"/>
                  <a:pt x="7822" y="4736"/>
                  <a:pt x="7822" y="4736"/>
                </a:cubicBezTo>
                <a:cubicBezTo>
                  <a:pt x="7556" y="4338"/>
                  <a:pt x="7733" y="3939"/>
                  <a:pt x="8133" y="3807"/>
                </a:cubicBezTo>
                <a:close/>
                <a:moveTo>
                  <a:pt x="3956" y="7790"/>
                </a:moveTo>
                <a:cubicBezTo>
                  <a:pt x="5911" y="5134"/>
                  <a:pt x="5911" y="5134"/>
                  <a:pt x="5911" y="5134"/>
                </a:cubicBezTo>
                <a:cubicBezTo>
                  <a:pt x="6222" y="4825"/>
                  <a:pt x="6667" y="4869"/>
                  <a:pt x="6933" y="5223"/>
                </a:cubicBezTo>
                <a:cubicBezTo>
                  <a:pt x="7111" y="5533"/>
                  <a:pt x="7111" y="5533"/>
                  <a:pt x="7111" y="5533"/>
                </a:cubicBezTo>
                <a:cubicBezTo>
                  <a:pt x="6000" y="6330"/>
                  <a:pt x="5156" y="7436"/>
                  <a:pt x="4711" y="8720"/>
                </a:cubicBezTo>
                <a:cubicBezTo>
                  <a:pt x="4356" y="8675"/>
                  <a:pt x="4356" y="8675"/>
                  <a:pt x="4356" y="8675"/>
                </a:cubicBezTo>
                <a:cubicBezTo>
                  <a:pt x="3911" y="8543"/>
                  <a:pt x="3733" y="8144"/>
                  <a:pt x="3956" y="7790"/>
                </a:cubicBezTo>
                <a:close/>
                <a:moveTo>
                  <a:pt x="4800" y="13943"/>
                </a:moveTo>
                <a:cubicBezTo>
                  <a:pt x="4400" y="14164"/>
                  <a:pt x="4000" y="14031"/>
                  <a:pt x="3867" y="13589"/>
                </a:cubicBezTo>
                <a:cubicBezTo>
                  <a:pt x="3333" y="10269"/>
                  <a:pt x="3333" y="10269"/>
                  <a:pt x="3333" y="10269"/>
                </a:cubicBezTo>
                <a:cubicBezTo>
                  <a:pt x="3333" y="9826"/>
                  <a:pt x="3689" y="9561"/>
                  <a:pt x="4089" y="9649"/>
                </a:cubicBezTo>
                <a:cubicBezTo>
                  <a:pt x="4444" y="9738"/>
                  <a:pt x="4444" y="9738"/>
                  <a:pt x="4444" y="9738"/>
                </a:cubicBezTo>
                <a:cubicBezTo>
                  <a:pt x="4400" y="10092"/>
                  <a:pt x="4356" y="10446"/>
                  <a:pt x="4356" y="10800"/>
                </a:cubicBezTo>
                <a:cubicBezTo>
                  <a:pt x="4356" y="11862"/>
                  <a:pt x="4622" y="12880"/>
                  <a:pt x="5067" y="13766"/>
                </a:cubicBezTo>
                <a:lnTo>
                  <a:pt x="4800" y="13943"/>
                </a:lnTo>
                <a:close/>
                <a:moveTo>
                  <a:pt x="8000" y="17749"/>
                </a:moveTo>
                <a:cubicBezTo>
                  <a:pt x="5244" y="15802"/>
                  <a:pt x="5244" y="15802"/>
                  <a:pt x="5244" y="15802"/>
                </a:cubicBezTo>
                <a:cubicBezTo>
                  <a:pt x="4933" y="15492"/>
                  <a:pt x="4978" y="15049"/>
                  <a:pt x="5333" y="14828"/>
                </a:cubicBezTo>
                <a:cubicBezTo>
                  <a:pt x="5644" y="14651"/>
                  <a:pt x="5644" y="14651"/>
                  <a:pt x="5644" y="14651"/>
                </a:cubicBezTo>
                <a:cubicBezTo>
                  <a:pt x="6444" y="15713"/>
                  <a:pt x="7644" y="16554"/>
                  <a:pt x="8978" y="16952"/>
                </a:cubicBezTo>
                <a:cubicBezTo>
                  <a:pt x="8933" y="17307"/>
                  <a:pt x="8933" y="17307"/>
                  <a:pt x="8933" y="17307"/>
                </a:cubicBezTo>
                <a:cubicBezTo>
                  <a:pt x="8800" y="17705"/>
                  <a:pt x="8400" y="17926"/>
                  <a:pt x="8000" y="17749"/>
                </a:cubicBezTo>
                <a:close/>
                <a:moveTo>
                  <a:pt x="13822" y="17616"/>
                </a:moveTo>
                <a:cubicBezTo>
                  <a:pt x="10533" y="18280"/>
                  <a:pt x="10533" y="18280"/>
                  <a:pt x="10533" y="18280"/>
                </a:cubicBezTo>
                <a:cubicBezTo>
                  <a:pt x="10089" y="18280"/>
                  <a:pt x="9822" y="17926"/>
                  <a:pt x="9911" y="17484"/>
                </a:cubicBezTo>
                <a:cubicBezTo>
                  <a:pt x="10000" y="17174"/>
                  <a:pt x="10000" y="17174"/>
                  <a:pt x="10000" y="17174"/>
                </a:cubicBezTo>
                <a:cubicBezTo>
                  <a:pt x="10267" y="17174"/>
                  <a:pt x="10533" y="17218"/>
                  <a:pt x="10800" y="17218"/>
                </a:cubicBezTo>
                <a:cubicBezTo>
                  <a:pt x="11956" y="17218"/>
                  <a:pt x="13022" y="16908"/>
                  <a:pt x="13956" y="16377"/>
                </a:cubicBezTo>
                <a:cubicBezTo>
                  <a:pt x="14133" y="16687"/>
                  <a:pt x="14133" y="16687"/>
                  <a:pt x="14133" y="16687"/>
                </a:cubicBezTo>
                <a:cubicBezTo>
                  <a:pt x="14356" y="17041"/>
                  <a:pt x="14222" y="17484"/>
                  <a:pt x="13822" y="17616"/>
                </a:cubicBezTo>
                <a:close/>
                <a:moveTo>
                  <a:pt x="17778" y="13589"/>
                </a:moveTo>
                <a:cubicBezTo>
                  <a:pt x="15956" y="16200"/>
                  <a:pt x="15956" y="16200"/>
                  <a:pt x="15956" y="16200"/>
                </a:cubicBezTo>
                <a:cubicBezTo>
                  <a:pt x="15644" y="16510"/>
                  <a:pt x="15244" y="16510"/>
                  <a:pt x="14978" y="16111"/>
                </a:cubicBezTo>
                <a:cubicBezTo>
                  <a:pt x="14800" y="15802"/>
                  <a:pt x="14800" y="15802"/>
                  <a:pt x="14800" y="15802"/>
                </a:cubicBezTo>
                <a:cubicBezTo>
                  <a:pt x="15822" y="15005"/>
                  <a:pt x="16578" y="13898"/>
                  <a:pt x="16978" y="12570"/>
                </a:cubicBezTo>
                <a:cubicBezTo>
                  <a:pt x="17333" y="12659"/>
                  <a:pt x="17333" y="12659"/>
                  <a:pt x="17333" y="12659"/>
                </a:cubicBezTo>
                <a:cubicBezTo>
                  <a:pt x="17733" y="12748"/>
                  <a:pt x="17956" y="13190"/>
                  <a:pt x="17778" y="13589"/>
                </a:cubicBezTo>
                <a:close/>
                <a:moveTo>
                  <a:pt x="17556" y="11685"/>
                </a:moveTo>
                <a:cubicBezTo>
                  <a:pt x="17200" y="11597"/>
                  <a:pt x="17200" y="11597"/>
                  <a:pt x="17200" y="11597"/>
                </a:cubicBezTo>
                <a:cubicBezTo>
                  <a:pt x="17200" y="11331"/>
                  <a:pt x="17244" y="11066"/>
                  <a:pt x="17244" y="10800"/>
                </a:cubicBezTo>
                <a:cubicBezTo>
                  <a:pt x="17244" y="9738"/>
                  <a:pt x="16978" y="8720"/>
                  <a:pt x="16489" y="7834"/>
                </a:cubicBezTo>
                <a:cubicBezTo>
                  <a:pt x="16800" y="7657"/>
                  <a:pt x="16800" y="7657"/>
                  <a:pt x="16800" y="7657"/>
                </a:cubicBezTo>
                <a:cubicBezTo>
                  <a:pt x="17200" y="7392"/>
                  <a:pt x="17600" y="7569"/>
                  <a:pt x="17733" y="7967"/>
                </a:cubicBezTo>
                <a:cubicBezTo>
                  <a:pt x="18311" y="11066"/>
                  <a:pt x="18311" y="11066"/>
                  <a:pt x="18311" y="11066"/>
                </a:cubicBezTo>
                <a:cubicBezTo>
                  <a:pt x="18311" y="11464"/>
                  <a:pt x="17956" y="11774"/>
                  <a:pt x="17556" y="11685"/>
                </a:cubicBezTo>
                <a:close/>
              </a:path>
            </a:pathLst>
          </a:custGeom>
          <a:solidFill>
            <a:srgbClr val="0065B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43" name="任意形状 58"/>
          <p:cNvSpPr/>
          <p:nvPr>
            <p:custDataLst>
              <p:tags r:id="rId3"/>
            </p:custDataLst>
          </p:nvPr>
        </p:nvSpPr>
        <p:spPr>
          <a:xfrm>
            <a:off x="3864499" y="2738449"/>
            <a:ext cx="1415003" cy="2353581"/>
          </a:xfrm>
          <a:custGeom>
            <a:avLst/>
            <a:gdLst>
              <a:gd name="connsiteX0" fmla="*/ 0 w 1961809"/>
              <a:gd name="connsiteY0" fmla="*/ 0 h 3263087"/>
              <a:gd name="connsiteX1" fmla="*/ 637 w 1961809"/>
              <a:gd name="connsiteY1" fmla="*/ 0 h 3263087"/>
              <a:gd name="connsiteX2" fmla="*/ 5064 w 1961809"/>
              <a:gd name="connsiteY2" fmla="*/ 87679 h 3263087"/>
              <a:gd name="connsiteX3" fmla="*/ 980905 w 1961809"/>
              <a:gd name="connsiteY3" fmla="*/ 968292 h 3263087"/>
              <a:gd name="connsiteX4" fmla="*/ 1956746 w 1961809"/>
              <a:gd name="connsiteY4" fmla="*/ 87679 h 3263087"/>
              <a:gd name="connsiteX5" fmla="*/ 1961173 w 1961809"/>
              <a:gd name="connsiteY5" fmla="*/ 0 h 3263087"/>
              <a:gd name="connsiteX6" fmla="*/ 1961809 w 1961809"/>
              <a:gd name="connsiteY6" fmla="*/ 0 h 3263087"/>
              <a:gd name="connsiteX7" fmla="*/ 1961809 w 1961809"/>
              <a:gd name="connsiteY7" fmla="*/ 3263087 h 3263087"/>
              <a:gd name="connsiteX8" fmla="*/ 0 w 1961809"/>
              <a:gd name="connsiteY8" fmla="*/ 3263087 h 3263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1809" h="3263087">
                <a:moveTo>
                  <a:pt x="0" y="0"/>
                </a:moveTo>
                <a:lnTo>
                  <a:pt x="637" y="0"/>
                </a:lnTo>
                <a:lnTo>
                  <a:pt x="5064" y="87679"/>
                </a:lnTo>
                <a:cubicBezTo>
                  <a:pt x="55297" y="582306"/>
                  <a:pt x="473025" y="968292"/>
                  <a:pt x="980905" y="968292"/>
                </a:cubicBezTo>
                <a:cubicBezTo>
                  <a:pt x="1488785" y="968292"/>
                  <a:pt x="1906514" y="582306"/>
                  <a:pt x="1956746" y="87679"/>
                </a:cubicBezTo>
                <a:lnTo>
                  <a:pt x="1961173" y="0"/>
                </a:lnTo>
                <a:lnTo>
                  <a:pt x="1961809" y="0"/>
                </a:lnTo>
                <a:lnTo>
                  <a:pt x="1961809" y="3263087"/>
                </a:lnTo>
                <a:lnTo>
                  <a:pt x="0" y="3263087"/>
                </a:lnTo>
                <a:close/>
              </a:path>
            </a:pathLst>
          </a:custGeom>
          <a:solidFill>
            <a:srgbClr val="FFFFFF">
              <a:lumMod val="95000"/>
            </a:srgbClr>
          </a:solidFill>
          <a:ln w="12700">
            <a:miter lim="400000"/>
          </a:ln>
        </p:spPr>
        <p:txBody>
          <a:bodyPr wrap="square" tIns="34290" bIns="3429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solidFill>
                  <a:srgbClr val="FFFFFF"/>
                </a:solidFill>
              </a:defRPr>
            </a:pPr>
            <a:endParaRPr kumimoji="0" sz="675"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44" name="形状"/>
          <p:cNvSpPr/>
          <p:nvPr>
            <p:custDataLst>
              <p:tags r:id="rId4"/>
            </p:custDataLst>
          </p:nvPr>
        </p:nvSpPr>
        <p:spPr>
          <a:xfrm>
            <a:off x="3754973" y="1936400"/>
            <a:ext cx="1634055" cy="1641253"/>
          </a:xfrm>
          <a:custGeom>
            <a:avLst/>
            <a:gdLst/>
            <a:ahLst/>
            <a:cxnLst>
              <a:cxn ang="0">
                <a:pos x="wd2" y="hd2"/>
              </a:cxn>
              <a:cxn ang="5400000">
                <a:pos x="wd2" y="hd2"/>
              </a:cxn>
              <a:cxn ang="10800000">
                <a:pos x="wd2" y="hd2"/>
              </a:cxn>
              <a:cxn ang="16200000">
                <a:pos x="wd2" y="hd2"/>
              </a:cxn>
            </a:cxnLst>
            <a:rect l="0" t="0" r="r" b="b"/>
            <a:pathLst>
              <a:path w="21561" h="21600" extrusionOk="0">
                <a:moveTo>
                  <a:pt x="21067" y="11464"/>
                </a:moveTo>
                <a:cubicBezTo>
                  <a:pt x="20844" y="11464"/>
                  <a:pt x="20844" y="11464"/>
                  <a:pt x="20844" y="11464"/>
                </a:cubicBezTo>
                <a:cubicBezTo>
                  <a:pt x="20444" y="11464"/>
                  <a:pt x="20133" y="11198"/>
                  <a:pt x="20044" y="10844"/>
                </a:cubicBezTo>
                <a:cubicBezTo>
                  <a:pt x="20000" y="10357"/>
                  <a:pt x="20356" y="9915"/>
                  <a:pt x="20844" y="9915"/>
                </a:cubicBezTo>
                <a:cubicBezTo>
                  <a:pt x="21067" y="9915"/>
                  <a:pt x="21067" y="9915"/>
                  <a:pt x="21067" y="9915"/>
                </a:cubicBezTo>
                <a:cubicBezTo>
                  <a:pt x="21333" y="9915"/>
                  <a:pt x="21600" y="9693"/>
                  <a:pt x="21556" y="9384"/>
                </a:cubicBezTo>
                <a:cubicBezTo>
                  <a:pt x="21511" y="9251"/>
                  <a:pt x="21511" y="9074"/>
                  <a:pt x="21467" y="8941"/>
                </a:cubicBezTo>
                <a:cubicBezTo>
                  <a:pt x="21422" y="8675"/>
                  <a:pt x="21156" y="8498"/>
                  <a:pt x="20844" y="8543"/>
                </a:cubicBezTo>
                <a:cubicBezTo>
                  <a:pt x="20622" y="8631"/>
                  <a:pt x="20622" y="8631"/>
                  <a:pt x="20622" y="8631"/>
                </a:cubicBezTo>
                <a:cubicBezTo>
                  <a:pt x="20267" y="8720"/>
                  <a:pt x="19867" y="8587"/>
                  <a:pt x="19689" y="8233"/>
                </a:cubicBezTo>
                <a:cubicBezTo>
                  <a:pt x="19467" y="7790"/>
                  <a:pt x="19733" y="7259"/>
                  <a:pt x="20178" y="7126"/>
                </a:cubicBezTo>
                <a:cubicBezTo>
                  <a:pt x="20400" y="7082"/>
                  <a:pt x="20400" y="7082"/>
                  <a:pt x="20400" y="7082"/>
                </a:cubicBezTo>
                <a:cubicBezTo>
                  <a:pt x="20667" y="6993"/>
                  <a:pt x="20844" y="6684"/>
                  <a:pt x="20711" y="6418"/>
                </a:cubicBezTo>
                <a:cubicBezTo>
                  <a:pt x="20667" y="6285"/>
                  <a:pt x="20578" y="6152"/>
                  <a:pt x="20533" y="6020"/>
                </a:cubicBezTo>
                <a:cubicBezTo>
                  <a:pt x="20400" y="5754"/>
                  <a:pt x="20044" y="5666"/>
                  <a:pt x="19822" y="5843"/>
                </a:cubicBezTo>
                <a:cubicBezTo>
                  <a:pt x="19600" y="5975"/>
                  <a:pt x="19600" y="5975"/>
                  <a:pt x="19600" y="5975"/>
                </a:cubicBezTo>
                <a:cubicBezTo>
                  <a:pt x="19244" y="6197"/>
                  <a:pt x="18756" y="6064"/>
                  <a:pt x="18533" y="5710"/>
                </a:cubicBezTo>
                <a:cubicBezTo>
                  <a:pt x="18311" y="5356"/>
                  <a:pt x="18400" y="4869"/>
                  <a:pt x="18756" y="4648"/>
                </a:cubicBezTo>
                <a:cubicBezTo>
                  <a:pt x="18933" y="4559"/>
                  <a:pt x="18933" y="4559"/>
                  <a:pt x="18933" y="4559"/>
                </a:cubicBezTo>
                <a:cubicBezTo>
                  <a:pt x="19200" y="4382"/>
                  <a:pt x="19244" y="4028"/>
                  <a:pt x="19067" y="3807"/>
                </a:cubicBezTo>
                <a:cubicBezTo>
                  <a:pt x="18978" y="3718"/>
                  <a:pt x="18889" y="3585"/>
                  <a:pt x="18756" y="3497"/>
                </a:cubicBezTo>
                <a:cubicBezTo>
                  <a:pt x="18578" y="3275"/>
                  <a:pt x="18222" y="3275"/>
                  <a:pt x="18044" y="3497"/>
                </a:cubicBezTo>
                <a:cubicBezTo>
                  <a:pt x="17911" y="3674"/>
                  <a:pt x="17911" y="3674"/>
                  <a:pt x="17911" y="3674"/>
                </a:cubicBezTo>
                <a:cubicBezTo>
                  <a:pt x="17644" y="3984"/>
                  <a:pt x="17200" y="4028"/>
                  <a:pt x="16889" y="3851"/>
                </a:cubicBezTo>
                <a:cubicBezTo>
                  <a:pt x="16444" y="3585"/>
                  <a:pt x="16400" y="3010"/>
                  <a:pt x="16711" y="2656"/>
                </a:cubicBezTo>
                <a:cubicBezTo>
                  <a:pt x="16844" y="2523"/>
                  <a:pt x="16844" y="2523"/>
                  <a:pt x="16844" y="2523"/>
                </a:cubicBezTo>
                <a:cubicBezTo>
                  <a:pt x="17067" y="2302"/>
                  <a:pt x="17022" y="1948"/>
                  <a:pt x="16756" y="1770"/>
                </a:cubicBezTo>
                <a:cubicBezTo>
                  <a:pt x="16622" y="1682"/>
                  <a:pt x="16489" y="1638"/>
                  <a:pt x="16400" y="1549"/>
                </a:cubicBezTo>
                <a:cubicBezTo>
                  <a:pt x="16133" y="1416"/>
                  <a:pt x="15822" y="1505"/>
                  <a:pt x="15689" y="1770"/>
                </a:cubicBezTo>
                <a:cubicBezTo>
                  <a:pt x="15600" y="1992"/>
                  <a:pt x="15600" y="1992"/>
                  <a:pt x="15600" y="1992"/>
                </a:cubicBezTo>
                <a:cubicBezTo>
                  <a:pt x="15422" y="2302"/>
                  <a:pt x="15022" y="2523"/>
                  <a:pt x="14667" y="2434"/>
                </a:cubicBezTo>
                <a:cubicBezTo>
                  <a:pt x="14178" y="2302"/>
                  <a:pt x="13956" y="1770"/>
                  <a:pt x="14178" y="1328"/>
                </a:cubicBezTo>
                <a:cubicBezTo>
                  <a:pt x="14267" y="1151"/>
                  <a:pt x="14267" y="1151"/>
                  <a:pt x="14267" y="1151"/>
                </a:cubicBezTo>
                <a:cubicBezTo>
                  <a:pt x="14400" y="885"/>
                  <a:pt x="14222" y="575"/>
                  <a:pt x="13956" y="487"/>
                </a:cubicBezTo>
                <a:cubicBezTo>
                  <a:pt x="13822" y="443"/>
                  <a:pt x="13689" y="398"/>
                  <a:pt x="13556" y="354"/>
                </a:cubicBezTo>
                <a:cubicBezTo>
                  <a:pt x="13244" y="266"/>
                  <a:pt x="12978" y="443"/>
                  <a:pt x="12933" y="752"/>
                </a:cubicBezTo>
                <a:cubicBezTo>
                  <a:pt x="12889" y="974"/>
                  <a:pt x="12889" y="974"/>
                  <a:pt x="12889" y="974"/>
                </a:cubicBezTo>
                <a:cubicBezTo>
                  <a:pt x="12844" y="1372"/>
                  <a:pt x="12533" y="1638"/>
                  <a:pt x="12133" y="1682"/>
                </a:cubicBezTo>
                <a:cubicBezTo>
                  <a:pt x="11644" y="1682"/>
                  <a:pt x="11289" y="1239"/>
                  <a:pt x="11333" y="752"/>
                </a:cubicBezTo>
                <a:cubicBezTo>
                  <a:pt x="11378" y="575"/>
                  <a:pt x="11378" y="575"/>
                  <a:pt x="11378" y="575"/>
                </a:cubicBezTo>
                <a:cubicBezTo>
                  <a:pt x="11422" y="266"/>
                  <a:pt x="11200" y="0"/>
                  <a:pt x="10933" y="0"/>
                </a:cubicBezTo>
                <a:cubicBezTo>
                  <a:pt x="10756" y="0"/>
                  <a:pt x="10622" y="0"/>
                  <a:pt x="10489" y="0"/>
                </a:cubicBezTo>
                <a:cubicBezTo>
                  <a:pt x="10178" y="0"/>
                  <a:pt x="9956" y="266"/>
                  <a:pt x="10000" y="575"/>
                </a:cubicBezTo>
                <a:cubicBezTo>
                  <a:pt x="10044" y="797"/>
                  <a:pt x="10044" y="797"/>
                  <a:pt x="10044" y="797"/>
                </a:cubicBezTo>
                <a:cubicBezTo>
                  <a:pt x="10089" y="1239"/>
                  <a:pt x="9778" y="1638"/>
                  <a:pt x="9378" y="1682"/>
                </a:cubicBezTo>
                <a:cubicBezTo>
                  <a:pt x="9022" y="1903"/>
                  <a:pt x="8578" y="1682"/>
                  <a:pt x="8533" y="1284"/>
                </a:cubicBezTo>
                <a:cubicBezTo>
                  <a:pt x="8489" y="797"/>
                  <a:pt x="8489" y="797"/>
                  <a:pt x="8489" y="797"/>
                </a:cubicBezTo>
                <a:cubicBezTo>
                  <a:pt x="8444" y="531"/>
                  <a:pt x="8133" y="310"/>
                  <a:pt x="7867" y="398"/>
                </a:cubicBezTo>
                <a:cubicBezTo>
                  <a:pt x="7733" y="443"/>
                  <a:pt x="7556" y="487"/>
                  <a:pt x="7422" y="531"/>
                </a:cubicBezTo>
                <a:cubicBezTo>
                  <a:pt x="7156" y="620"/>
                  <a:pt x="7022" y="930"/>
                  <a:pt x="7156" y="1195"/>
                </a:cubicBezTo>
                <a:cubicBezTo>
                  <a:pt x="7244" y="1416"/>
                  <a:pt x="7244" y="1416"/>
                  <a:pt x="7244" y="1416"/>
                </a:cubicBezTo>
                <a:cubicBezTo>
                  <a:pt x="7422" y="1859"/>
                  <a:pt x="7200" y="2390"/>
                  <a:pt x="6711" y="2479"/>
                </a:cubicBezTo>
                <a:cubicBezTo>
                  <a:pt x="6356" y="2611"/>
                  <a:pt x="5956" y="2390"/>
                  <a:pt x="5822" y="2036"/>
                </a:cubicBezTo>
                <a:cubicBezTo>
                  <a:pt x="5733" y="1859"/>
                  <a:pt x="5733" y="1859"/>
                  <a:pt x="5733" y="1859"/>
                </a:cubicBezTo>
                <a:cubicBezTo>
                  <a:pt x="5600" y="1593"/>
                  <a:pt x="5289" y="1505"/>
                  <a:pt x="5022" y="1638"/>
                </a:cubicBezTo>
                <a:cubicBezTo>
                  <a:pt x="5022" y="1638"/>
                  <a:pt x="5022" y="1638"/>
                  <a:pt x="5022" y="1638"/>
                </a:cubicBezTo>
                <a:cubicBezTo>
                  <a:pt x="4889" y="1726"/>
                  <a:pt x="4800" y="1815"/>
                  <a:pt x="4667" y="1903"/>
                </a:cubicBezTo>
                <a:cubicBezTo>
                  <a:pt x="4444" y="2036"/>
                  <a:pt x="4400" y="2390"/>
                  <a:pt x="4578" y="2611"/>
                </a:cubicBezTo>
                <a:cubicBezTo>
                  <a:pt x="4711" y="2789"/>
                  <a:pt x="4711" y="2789"/>
                  <a:pt x="4711" y="2789"/>
                </a:cubicBezTo>
                <a:cubicBezTo>
                  <a:pt x="4978" y="3098"/>
                  <a:pt x="4978" y="3497"/>
                  <a:pt x="4756" y="3807"/>
                </a:cubicBezTo>
                <a:cubicBezTo>
                  <a:pt x="4444" y="4161"/>
                  <a:pt x="3867" y="4161"/>
                  <a:pt x="3556" y="3807"/>
                </a:cubicBezTo>
                <a:cubicBezTo>
                  <a:pt x="3422" y="3630"/>
                  <a:pt x="3422" y="3630"/>
                  <a:pt x="3422" y="3630"/>
                </a:cubicBezTo>
                <a:cubicBezTo>
                  <a:pt x="3200" y="3408"/>
                  <a:pt x="2889" y="3408"/>
                  <a:pt x="2667" y="3630"/>
                </a:cubicBezTo>
                <a:cubicBezTo>
                  <a:pt x="2578" y="3762"/>
                  <a:pt x="2489" y="3851"/>
                  <a:pt x="2400" y="3984"/>
                </a:cubicBezTo>
                <a:cubicBezTo>
                  <a:pt x="2222" y="4205"/>
                  <a:pt x="2267" y="4515"/>
                  <a:pt x="2489" y="4692"/>
                </a:cubicBezTo>
                <a:cubicBezTo>
                  <a:pt x="2711" y="4825"/>
                  <a:pt x="2711" y="4825"/>
                  <a:pt x="2711" y="4825"/>
                </a:cubicBezTo>
                <a:cubicBezTo>
                  <a:pt x="3022" y="5046"/>
                  <a:pt x="3156" y="5444"/>
                  <a:pt x="3022" y="5798"/>
                </a:cubicBezTo>
                <a:cubicBezTo>
                  <a:pt x="2800" y="6241"/>
                  <a:pt x="2267" y="6374"/>
                  <a:pt x="1867" y="6108"/>
                </a:cubicBezTo>
                <a:cubicBezTo>
                  <a:pt x="1689" y="6020"/>
                  <a:pt x="1689" y="6020"/>
                  <a:pt x="1689" y="6020"/>
                </a:cubicBezTo>
                <a:cubicBezTo>
                  <a:pt x="1422" y="5843"/>
                  <a:pt x="1111" y="5931"/>
                  <a:pt x="978" y="6197"/>
                </a:cubicBezTo>
                <a:cubicBezTo>
                  <a:pt x="933" y="6330"/>
                  <a:pt x="844" y="6462"/>
                  <a:pt x="800" y="6595"/>
                </a:cubicBezTo>
                <a:cubicBezTo>
                  <a:pt x="711" y="6861"/>
                  <a:pt x="844" y="7170"/>
                  <a:pt x="1111" y="7259"/>
                </a:cubicBezTo>
                <a:cubicBezTo>
                  <a:pt x="1378" y="7348"/>
                  <a:pt x="1378" y="7348"/>
                  <a:pt x="1378" y="7348"/>
                </a:cubicBezTo>
                <a:cubicBezTo>
                  <a:pt x="1778" y="7436"/>
                  <a:pt x="2000" y="7879"/>
                  <a:pt x="1867" y="8321"/>
                </a:cubicBezTo>
                <a:cubicBezTo>
                  <a:pt x="2089" y="8631"/>
                  <a:pt x="1778" y="9074"/>
                  <a:pt x="1378" y="8941"/>
                </a:cubicBezTo>
                <a:cubicBezTo>
                  <a:pt x="711" y="8764"/>
                  <a:pt x="711" y="8764"/>
                  <a:pt x="711" y="8764"/>
                </a:cubicBezTo>
                <a:cubicBezTo>
                  <a:pt x="400" y="8675"/>
                  <a:pt x="133" y="8852"/>
                  <a:pt x="89" y="9162"/>
                </a:cubicBezTo>
                <a:cubicBezTo>
                  <a:pt x="44" y="9295"/>
                  <a:pt x="44" y="9428"/>
                  <a:pt x="0" y="9561"/>
                </a:cubicBezTo>
                <a:cubicBezTo>
                  <a:pt x="0" y="9870"/>
                  <a:pt x="222" y="10092"/>
                  <a:pt x="489" y="10136"/>
                </a:cubicBezTo>
                <a:cubicBezTo>
                  <a:pt x="756" y="10136"/>
                  <a:pt x="756" y="10136"/>
                  <a:pt x="756" y="10136"/>
                </a:cubicBezTo>
                <a:cubicBezTo>
                  <a:pt x="1200" y="10136"/>
                  <a:pt x="1556" y="10490"/>
                  <a:pt x="1511" y="10889"/>
                </a:cubicBezTo>
                <a:cubicBezTo>
                  <a:pt x="1511" y="11331"/>
                  <a:pt x="1156" y="11685"/>
                  <a:pt x="756" y="11685"/>
                </a:cubicBezTo>
                <a:cubicBezTo>
                  <a:pt x="533" y="11685"/>
                  <a:pt x="533" y="11685"/>
                  <a:pt x="533" y="11685"/>
                </a:cubicBezTo>
                <a:cubicBezTo>
                  <a:pt x="222" y="11685"/>
                  <a:pt x="0" y="11907"/>
                  <a:pt x="44" y="12216"/>
                </a:cubicBezTo>
                <a:cubicBezTo>
                  <a:pt x="44" y="12349"/>
                  <a:pt x="89" y="12482"/>
                  <a:pt x="89" y="12659"/>
                </a:cubicBezTo>
                <a:cubicBezTo>
                  <a:pt x="178" y="12925"/>
                  <a:pt x="444" y="13102"/>
                  <a:pt x="711" y="13013"/>
                </a:cubicBezTo>
                <a:cubicBezTo>
                  <a:pt x="978" y="12969"/>
                  <a:pt x="978" y="12969"/>
                  <a:pt x="978" y="12969"/>
                </a:cubicBezTo>
                <a:cubicBezTo>
                  <a:pt x="1378" y="12836"/>
                  <a:pt x="1822" y="13102"/>
                  <a:pt x="1956" y="13500"/>
                </a:cubicBezTo>
                <a:cubicBezTo>
                  <a:pt x="1956" y="13500"/>
                  <a:pt x="1956" y="13500"/>
                  <a:pt x="1956" y="13500"/>
                </a:cubicBezTo>
                <a:cubicBezTo>
                  <a:pt x="2044" y="13898"/>
                  <a:pt x="1822" y="14341"/>
                  <a:pt x="1378" y="14474"/>
                </a:cubicBezTo>
                <a:cubicBezTo>
                  <a:pt x="1200" y="14518"/>
                  <a:pt x="1200" y="14518"/>
                  <a:pt x="1200" y="14518"/>
                </a:cubicBezTo>
                <a:cubicBezTo>
                  <a:pt x="889" y="14607"/>
                  <a:pt x="756" y="14916"/>
                  <a:pt x="889" y="15182"/>
                </a:cubicBezTo>
                <a:cubicBezTo>
                  <a:pt x="933" y="15315"/>
                  <a:pt x="1022" y="15448"/>
                  <a:pt x="1067" y="15580"/>
                </a:cubicBezTo>
                <a:cubicBezTo>
                  <a:pt x="1200" y="15846"/>
                  <a:pt x="1511" y="15934"/>
                  <a:pt x="1778" y="15757"/>
                </a:cubicBezTo>
                <a:cubicBezTo>
                  <a:pt x="2000" y="15625"/>
                  <a:pt x="2000" y="15625"/>
                  <a:pt x="2000" y="15625"/>
                </a:cubicBezTo>
                <a:cubicBezTo>
                  <a:pt x="2356" y="15403"/>
                  <a:pt x="2844" y="15492"/>
                  <a:pt x="3067" y="15890"/>
                </a:cubicBezTo>
                <a:cubicBezTo>
                  <a:pt x="3289" y="16244"/>
                  <a:pt x="3156" y="16731"/>
                  <a:pt x="2800" y="16952"/>
                </a:cubicBezTo>
                <a:cubicBezTo>
                  <a:pt x="2622" y="17041"/>
                  <a:pt x="2622" y="17041"/>
                  <a:pt x="2622" y="17041"/>
                </a:cubicBezTo>
                <a:cubicBezTo>
                  <a:pt x="2400" y="17218"/>
                  <a:pt x="2311" y="17572"/>
                  <a:pt x="2533" y="17793"/>
                </a:cubicBezTo>
                <a:cubicBezTo>
                  <a:pt x="2622" y="17882"/>
                  <a:pt x="2711" y="18015"/>
                  <a:pt x="2800" y="18103"/>
                </a:cubicBezTo>
                <a:cubicBezTo>
                  <a:pt x="3022" y="18325"/>
                  <a:pt x="3333" y="18325"/>
                  <a:pt x="3556" y="18103"/>
                </a:cubicBezTo>
                <a:cubicBezTo>
                  <a:pt x="3689" y="17926"/>
                  <a:pt x="3689" y="17926"/>
                  <a:pt x="3689" y="17926"/>
                </a:cubicBezTo>
                <a:cubicBezTo>
                  <a:pt x="3956" y="17616"/>
                  <a:pt x="4356" y="17572"/>
                  <a:pt x="4711" y="17749"/>
                </a:cubicBezTo>
                <a:cubicBezTo>
                  <a:pt x="5111" y="18015"/>
                  <a:pt x="5200" y="18590"/>
                  <a:pt x="4889" y="18944"/>
                </a:cubicBezTo>
                <a:cubicBezTo>
                  <a:pt x="4711" y="19077"/>
                  <a:pt x="4711" y="19077"/>
                  <a:pt x="4711" y="19077"/>
                </a:cubicBezTo>
                <a:cubicBezTo>
                  <a:pt x="4533" y="19298"/>
                  <a:pt x="4578" y="19652"/>
                  <a:pt x="4844" y="19830"/>
                </a:cubicBezTo>
                <a:cubicBezTo>
                  <a:pt x="4933" y="19918"/>
                  <a:pt x="5067" y="19962"/>
                  <a:pt x="5200" y="20051"/>
                </a:cubicBezTo>
                <a:cubicBezTo>
                  <a:pt x="5467" y="20184"/>
                  <a:pt x="5778" y="20095"/>
                  <a:pt x="5911" y="19830"/>
                </a:cubicBezTo>
                <a:cubicBezTo>
                  <a:pt x="6000" y="19608"/>
                  <a:pt x="6000" y="19608"/>
                  <a:pt x="6000" y="19608"/>
                </a:cubicBezTo>
                <a:cubicBezTo>
                  <a:pt x="6178" y="19210"/>
                  <a:pt x="6667" y="19033"/>
                  <a:pt x="7022" y="19210"/>
                </a:cubicBezTo>
                <a:cubicBezTo>
                  <a:pt x="7022" y="19210"/>
                  <a:pt x="7022" y="19210"/>
                  <a:pt x="7022" y="19210"/>
                </a:cubicBezTo>
                <a:cubicBezTo>
                  <a:pt x="7422" y="19431"/>
                  <a:pt x="7600" y="19874"/>
                  <a:pt x="7422" y="20272"/>
                </a:cubicBezTo>
                <a:cubicBezTo>
                  <a:pt x="7333" y="20449"/>
                  <a:pt x="7333" y="20449"/>
                  <a:pt x="7333" y="20449"/>
                </a:cubicBezTo>
                <a:cubicBezTo>
                  <a:pt x="7200" y="20715"/>
                  <a:pt x="7333" y="21025"/>
                  <a:pt x="7644" y="21113"/>
                </a:cubicBezTo>
                <a:cubicBezTo>
                  <a:pt x="7778" y="21157"/>
                  <a:pt x="7911" y="21202"/>
                  <a:pt x="8044" y="21246"/>
                </a:cubicBezTo>
                <a:cubicBezTo>
                  <a:pt x="8311" y="21334"/>
                  <a:pt x="8622" y="21113"/>
                  <a:pt x="8667" y="20848"/>
                </a:cubicBezTo>
                <a:cubicBezTo>
                  <a:pt x="8711" y="20582"/>
                  <a:pt x="8711" y="20582"/>
                  <a:pt x="8711" y="20582"/>
                </a:cubicBezTo>
                <a:cubicBezTo>
                  <a:pt x="8756" y="20184"/>
                  <a:pt x="9156" y="19874"/>
                  <a:pt x="9600" y="19918"/>
                </a:cubicBezTo>
                <a:cubicBezTo>
                  <a:pt x="10000" y="20007"/>
                  <a:pt x="10311" y="20405"/>
                  <a:pt x="10222" y="20803"/>
                </a:cubicBezTo>
                <a:cubicBezTo>
                  <a:pt x="10178" y="21025"/>
                  <a:pt x="10178" y="21025"/>
                  <a:pt x="10178" y="21025"/>
                </a:cubicBezTo>
                <a:cubicBezTo>
                  <a:pt x="10133" y="21334"/>
                  <a:pt x="10356" y="21600"/>
                  <a:pt x="10667" y="21600"/>
                </a:cubicBezTo>
                <a:cubicBezTo>
                  <a:pt x="10800" y="21600"/>
                  <a:pt x="10978" y="21600"/>
                  <a:pt x="11111" y="21600"/>
                </a:cubicBezTo>
                <a:cubicBezTo>
                  <a:pt x="11378" y="21600"/>
                  <a:pt x="11600" y="21334"/>
                  <a:pt x="11600" y="21025"/>
                </a:cubicBezTo>
                <a:cubicBezTo>
                  <a:pt x="11556" y="20759"/>
                  <a:pt x="11556" y="20759"/>
                  <a:pt x="11556" y="20759"/>
                </a:cubicBezTo>
                <a:cubicBezTo>
                  <a:pt x="11467" y="20361"/>
                  <a:pt x="11778" y="19962"/>
                  <a:pt x="12222" y="19918"/>
                </a:cubicBezTo>
                <a:cubicBezTo>
                  <a:pt x="12222" y="19918"/>
                  <a:pt x="12222" y="19918"/>
                  <a:pt x="12222" y="19918"/>
                </a:cubicBezTo>
                <a:cubicBezTo>
                  <a:pt x="12622" y="19874"/>
                  <a:pt x="13022" y="20139"/>
                  <a:pt x="13067" y="20582"/>
                </a:cubicBezTo>
                <a:cubicBezTo>
                  <a:pt x="13111" y="20803"/>
                  <a:pt x="13111" y="20803"/>
                  <a:pt x="13111" y="20803"/>
                </a:cubicBezTo>
                <a:cubicBezTo>
                  <a:pt x="13156" y="21069"/>
                  <a:pt x="13467" y="21290"/>
                  <a:pt x="13733" y="21202"/>
                </a:cubicBezTo>
                <a:cubicBezTo>
                  <a:pt x="13867" y="21157"/>
                  <a:pt x="14000" y="21113"/>
                  <a:pt x="14133" y="21069"/>
                </a:cubicBezTo>
                <a:cubicBezTo>
                  <a:pt x="14444" y="20980"/>
                  <a:pt x="14578" y="20670"/>
                  <a:pt x="14444" y="20405"/>
                </a:cubicBezTo>
                <a:cubicBezTo>
                  <a:pt x="14356" y="20184"/>
                  <a:pt x="14356" y="20184"/>
                  <a:pt x="14356" y="20184"/>
                </a:cubicBezTo>
                <a:cubicBezTo>
                  <a:pt x="14178" y="19785"/>
                  <a:pt x="14356" y="19298"/>
                  <a:pt x="14756" y="19121"/>
                </a:cubicBezTo>
                <a:cubicBezTo>
                  <a:pt x="15111" y="18989"/>
                  <a:pt x="15600" y="19166"/>
                  <a:pt x="15778" y="19520"/>
                </a:cubicBezTo>
                <a:cubicBezTo>
                  <a:pt x="15867" y="19741"/>
                  <a:pt x="15867" y="19741"/>
                  <a:pt x="15867" y="19741"/>
                </a:cubicBezTo>
                <a:cubicBezTo>
                  <a:pt x="15956" y="20007"/>
                  <a:pt x="16311" y="20095"/>
                  <a:pt x="16533" y="19962"/>
                </a:cubicBezTo>
                <a:cubicBezTo>
                  <a:pt x="16533" y="19962"/>
                  <a:pt x="16533" y="19962"/>
                  <a:pt x="16533" y="19962"/>
                </a:cubicBezTo>
                <a:cubicBezTo>
                  <a:pt x="16667" y="19874"/>
                  <a:pt x="16800" y="19785"/>
                  <a:pt x="16933" y="19697"/>
                </a:cubicBezTo>
                <a:cubicBezTo>
                  <a:pt x="17156" y="19564"/>
                  <a:pt x="17200" y="19210"/>
                  <a:pt x="17022" y="18989"/>
                </a:cubicBezTo>
                <a:cubicBezTo>
                  <a:pt x="16844" y="18811"/>
                  <a:pt x="16844" y="18811"/>
                  <a:pt x="16844" y="18811"/>
                </a:cubicBezTo>
                <a:cubicBezTo>
                  <a:pt x="16578" y="18457"/>
                  <a:pt x="16622" y="17970"/>
                  <a:pt x="16933" y="17705"/>
                </a:cubicBezTo>
                <a:cubicBezTo>
                  <a:pt x="17244" y="17439"/>
                  <a:pt x="17733" y="17484"/>
                  <a:pt x="18044" y="17793"/>
                </a:cubicBezTo>
                <a:cubicBezTo>
                  <a:pt x="18178" y="17970"/>
                  <a:pt x="18178" y="17970"/>
                  <a:pt x="18178" y="17970"/>
                </a:cubicBezTo>
                <a:cubicBezTo>
                  <a:pt x="18356" y="18192"/>
                  <a:pt x="18711" y="18192"/>
                  <a:pt x="18889" y="17970"/>
                </a:cubicBezTo>
                <a:cubicBezTo>
                  <a:pt x="19022" y="17838"/>
                  <a:pt x="19111" y="17749"/>
                  <a:pt x="19200" y="17616"/>
                </a:cubicBezTo>
                <a:cubicBezTo>
                  <a:pt x="19378" y="17395"/>
                  <a:pt x="19333" y="17085"/>
                  <a:pt x="19067" y="16908"/>
                </a:cubicBezTo>
                <a:cubicBezTo>
                  <a:pt x="18844" y="16775"/>
                  <a:pt x="18844" y="16775"/>
                  <a:pt x="18844" y="16775"/>
                </a:cubicBezTo>
                <a:cubicBezTo>
                  <a:pt x="18489" y="16554"/>
                  <a:pt x="18400" y="16067"/>
                  <a:pt x="18622" y="15713"/>
                </a:cubicBezTo>
                <a:cubicBezTo>
                  <a:pt x="18889" y="15359"/>
                  <a:pt x="19378" y="15226"/>
                  <a:pt x="19733" y="15492"/>
                </a:cubicBezTo>
                <a:cubicBezTo>
                  <a:pt x="19911" y="15580"/>
                  <a:pt x="19911" y="15580"/>
                  <a:pt x="19911" y="15580"/>
                </a:cubicBezTo>
                <a:cubicBezTo>
                  <a:pt x="20133" y="15757"/>
                  <a:pt x="20489" y="15669"/>
                  <a:pt x="20622" y="15403"/>
                </a:cubicBezTo>
                <a:cubicBezTo>
                  <a:pt x="20667" y="15270"/>
                  <a:pt x="20711" y="15138"/>
                  <a:pt x="20800" y="15005"/>
                </a:cubicBezTo>
                <a:cubicBezTo>
                  <a:pt x="20889" y="14739"/>
                  <a:pt x="20756" y="14430"/>
                  <a:pt x="20489" y="14341"/>
                </a:cubicBezTo>
                <a:cubicBezTo>
                  <a:pt x="20222" y="14252"/>
                  <a:pt x="20222" y="14252"/>
                  <a:pt x="20222" y="14252"/>
                </a:cubicBezTo>
                <a:cubicBezTo>
                  <a:pt x="19822" y="14120"/>
                  <a:pt x="19600" y="13721"/>
                  <a:pt x="19689" y="13279"/>
                </a:cubicBezTo>
                <a:cubicBezTo>
                  <a:pt x="19467" y="12969"/>
                  <a:pt x="19822" y="12526"/>
                  <a:pt x="20222" y="12659"/>
                </a:cubicBezTo>
                <a:cubicBezTo>
                  <a:pt x="20889" y="12836"/>
                  <a:pt x="20889" y="12836"/>
                  <a:pt x="20889" y="12836"/>
                </a:cubicBezTo>
                <a:cubicBezTo>
                  <a:pt x="21156" y="12925"/>
                  <a:pt x="21467" y="12748"/>
                  <a:pt x="21511" y="12438"/>
                </a:cubicBezTo>
                <a:cubicBezTo>
                  <a:pt x="21511" y="12305"/>
                  <a:pt x="21556" y="12172"/>
                  <a:pt x="21556" y="12039"/>
                </a:cubicBezTo>
                <a:cubicBezTo>
                  <a:pt x="21600" y="11730"/>
                  <a:pt x="21378" y="11464"/>
                  <a:pt x="21067" y="11464"/>
                </a:cubicBezTo>
                <a:close/>
                <a:moveTo>
                  <a:pt x="12933" y="4382"/>
                </a:moveTo>
                <a:cubicBezTo>
                  <a:pt x="13022" y="3939"/>
                  <a:pt x="13422" y="3762"/>
                  <a:pt x="13822" y="3939"/>
                </a:cubicBezTo>
                <a:cubicBezTo>
                  <a:pt x="16356" y="5798"/>
                  <a:pt x="16356" y="5798"/>
                  <a:pt x="16356" y="5798"/>
                </a:cubicBezTo>
                <a:cubicBezTo>
                  <a:pt x="16667" y="6108"/>
                  <a:pt x="16622" y="6551"/>
                  <a:pt x="16267" y="6772"/>
                </a:cubicBezTo>
                <a:cubicBezTo>
                  <a:pt x="15956" y="6949"/>
                  <a:pt x="15956" y="6949"/>
                  <a:pt x="15956" y="6949"/>
                </a:cubicBezTo>
                <a:cubicBezTo>
                  <a:pt x="15200" y="5931"/>
                  <a:pt x="14089" y="5134"/>
                  <a:pt x="12844" y="4736"/>
                </a:cubicBezTo>
                <a:lnTo>
                  <a:pt x="12933" y="4382"/>
                </a:lnTo>
                <a:close/>
                <a:moveTo>
                  <a:pt x="8133" y="3807"/>
                </a:moveTo>
                <a:cubicBezTo>
                  <a:pt x="11333" y="3320"/>
                  <a:pt x="11333" y="3320"/>
                  <a:pt x="11333" y="3320"/>
                </a:cubicBezTo>
                <a:cubicBezTo>
                  <a:pt x="11778" y="3364"/>
                  <a:pt x="12044" y="3718"/>
                  <a:pt x="11956" y="4116"/>
                </a:cubicBezTo>
                <a:cubicBezTo>
                  <a:pt x="11867" y="4470"/>
                  <a:pt x="11867" y="4470"/>
                  <a:pt x="11867" y="4470"/>
                </a:cubicBezTo>
                <a:cubicBezTo>
                  <a:pt x="11511" y="4426"/>
                  <a:pt x="11156" y="4382"/>
                  <a:pt x="10800" y="4382"/>
                </a:cubicBezTo>
                <a:cubicBezTo>
                  <a:pt x="9778" y="4382"/>
                  <a:pt x="8844" y="4603"/>
                  <a:pt x="8000" y="5002"/>
                </a:cubicBezTo>
                <a:cubicBezTo>
                  <a:pt x="7822" y="4736"/>
                  <a:pt x="7822" y="4736"/>
                  <a:pt x="7822" y="4736"/>
                </a:cubicBezTo>
                <a:cubicBezTo>
                  <a:pt x="7556" y="4338"/>
                  <a:pt x="7733" y="3939"/>
                  <a:pt x="8133" y="3807"/>
                </a:cubicBezTo>
                <a:close/>
                <a:moveTo>
                  <a:pt x="3956" y="7790"/>
                </a:moveTo>
                <a:cubicBezTo>
                  <a:pt x="5911" y="5134"/>
                  <a:pt x="5911" y="5134"/>
                  <a:pt x="5911" y="5134"/>
                </a:cubicBezTo>
                <a:cubicBezTo>
                  <a:pt x="6222" y="4825"/>
                  <a:pt x="6667" y="4869"/>
                  <a:pt x="6933" y="5223"/>
                </a:cubicBezTo>
                <a:cubicBezTo>
                  <a:pt x="7111" y="5533"/>
                  <a:pt x="7111" y="5533"/>
                  <a:pt x="7111" y="5533"/>
                </a:cubicBezTo>
                <a:cubicBezTo>
                  <a:pt x="6000" y="6330"/>
                  <a:pt x="5156" y="7436"/>
                  <a:pt x="4711" y="8720"/>
                </a:cubicBezTo>
                <a:cubicBezTo>
                  <a:pt x="4356" y="8675"/>
                  <a:pt x="4356" y="8675"/>
                  <a:pt x="4356" y="8675"/>
                </a:cubicBezTo>
                <a:cubicBezTo>
                  <a:pt x="3911" y="8543"/>
                  <a:pt x="3733" y="8144"/>
                  <a:pt x="3956" y="7790"/>
                </a:cubicBezTo>
                <a:close/>
                <a:moveTo>
                  <a:pt x="4800" y="13943"/>
                </a:moveTo>
                <a:cubicBezTo>
                  <a:pt x="4400" y="14164"/>
                  <a:pt x="4000" y="14031"/>
                  <a:pt x="3867" y="13589"/>
                </a:cubicBezTo>
                <a:cubicBezTo>
                  <a:pt x="3333" y="10269"/>
                  <a:pt x="3333" y="10269"/>
                  <a:pt x="3333" y="10269"/>
                </a:cubicBezTo>
                <a:cubicBezTo>
                  <a:pt x="3333" y="9826"/>
                  <a:pt x="3689" y="9561"/>
                  <a:pt x="4089" y="9649"/>
                </a:cubicBezTo>
                <a:cubicBezTo>
                  <a:pt x="4444" y="9738"/>
                  <a:pt x="4444" y="9738"/>
                  <a:pt x="4444" y="9738"/>
                </a:cubicBezTo>
                <a:cubicBezTo>
                  <a:pt x="4400" y="10092"/>
                  <a:pt x="4356" y="10446"/>
                  <a:pt x="4356" y="10800"/>
                </a:cubicBezTo>
                <a:cubicBezTo>
                  <a:pt x="4356" y="11862"/>
                  <a:pt x="4622" y="12880"/>
                  <a:pt x="5067" y="13766"/>
                </a:cubicBezTo>
                <a:lnTo>
                  <a:pt x="4800" y="13943"/>
                </a:lnTo>
                <a:close/>
                <a:moveTo>
                  <a:pt x="8000" y="17749"/>
                </a:moveTo>
                <a:cubicBezTo>
                  <a:pt x="5244" y="15802"/>
                  <a:pt x="5244" y="15802"/>
                  <a:pt x="5244" y="15802"/>
                </a:cubicBezTo>
                <a:cubicBezTo>
                  <a:pt x="4933" y="15492"/>
                  <a:pt x="4978" y="15049"/>
                  <a:pt x="5333" y="14828"/>
                </a:cubicBezTo>
                <a:cubicBezTo>
                  <a:pt x="5644" y="14651"/>
                  <a:pt x="5644" y="14651"/>
                  <a:pt x="5644" y="14651"/>
                </a:cubicBezTo>
                <a:cubicBezTo>
                  <a:pt x="6444" y="15713"/>
                  <a:pt x="7644" y="16554"/>
                  <a:pt x="8978" y="16952"/>
                </a:cubicBezTo>
                <a:cubicBezTo>
                  <a:pt x="8933" y="17307"/>
                  <a:pt x="8933" y="17307"/>
                  <a:pt x="8933" y="17307"/>
                </a:cubicBezTo>
                <a:cubicBezTo>
                  <a:pt x="8800" y="17705"/>
                  <a:pt x="8400" y="17926"/>
                  <a:pt x="8000" y="17749"/>
                </a:cubicBezTo>
                <a:close/>
                <a:moveTo>
                  <a:pt x="13822" y="17616"/>
                </a:moveTo>
                <a:cubicBezTo>
                  <a:pt x="10533" y="18280"/>
                  <a:pt x="10533" y="18280"/>
                  <a:pt x="10533" y="18280"/>
                </a:cubicBezTo>
                <a:cubicBezTo>
                  <a:pt x="10089" y="18280"/>
                  <a:pt x="9822" y="17926"/>
                  <a:pt x="9911" y="17484"/>
                </a:cubicBezTo>
                <a:cubicBezTo>
                  <a:pt x="10000" y="17174"/>
                  <a:pt x="10000" y="17174"/>
                  <a:pt x="10000" y="17174"/>
                </a:cubicBezTo>
                <a:cubicBezTo>
                  <a:pt x="10267" y="17174"/>
                  <a:pt x="10533" y="17218"/>
                  <a:pt x="10800" y="17218"/>
                </a:cubicBezTo>
                <a:cubicBezTo>
                  <a:pt x="11956" y="17218"/>
                  <a:pt x="13022" y="16908"/>
                  <a:pt x="13956" y="16377"/>
                </a:cubicBezTo>
                <a:cubicBezTo>
                  <a:pt x="14133" y="16687"/>
                  <a:pt x="14133" y="16687"/>
                  <a:pt x="14133" y="16687"/>
                </a:cubicBezTo>
                <a:cubicBezTo>
                  <a:pt x="14356" y="17041"/>
                  <a:pt x="14222" y="17484"/>
                  <a:pt x="13822" y="17616"/>
                </a:cubicBezTo>
                <a:close/>
                <a:moveTo>
                  <a:pt x="17778" y="13589"/>
                </a:moveTo>
                <a:cubicBezTo>
                  <a:pt x="15956" y="16200"/>
                  <a:pt x="15956" y="16200"/>
                  <a:pt x="15956" y="16200"/>
                </a:cubicBezTo>
                <a:cubicBezTo>
                  <a:pt x="15644" y="16510"/>
                  <a:pt x="15244" y="16510"/>
                  <a:pt x="14978" y="16111"/>
                </a:cubicBezTo>
                <a:cubicBezTo>
                  <a:pt x="14800" y="15802"/>
                  <a:pt x="14800" y="15802"/>
                  <a:pt x="14800" y="15802"/>
                </a:cubicBezTo>
                <a:cubicBezTo>
                  <a:pt x="15822" y="15005"/>
                  <a:pt x="16578" y="13898"/>
                  <a:pt x="16978" y="12570"/>
                </a:cubicBezTo>
                <a:cubicBezTo>
                  <a:pt x="17333" y="12659"/>
                  <a:pt x="17333" y="12659"/>
                  <a:pt x="17333" y="12659"/>
                </a:cubicBezTo>
                <a:cubicBezTo>
                  <a:pt x="17733" y="12748"/>
                  <a:pt x="17956" y="13190"/>
                  <a:pt x="17778" y="13589"/>
                </a:cubicBezTo>
                <a:close/>
                <a:moveTo>
                  <a:pt x="17556" y="11685"/>
                </a:moveTo>
                <a:cubicBezTo>
                  <a:pt x="17200" y="11597"/>
                  <a:pt x="17200" y="11597"/>
                  <a:pt x="17200" y="11597"/>
                </a:cubicBezTo>
                <a:cubicBezTo>
                  <a:pt x="17200" y="11331"/>
                  <a:pt x="17244" y="11066"/>
                  <a:pt x="17244" y="10800"/>
                </a:cubicBezTo>
                <a:cubicBezTo>
                  <a:pt x="17244" y="9738"/>
                  <a:pt x="16978" y="8720"/>
                  <a:pt x="16489" y="7834"/>
                </a:cubicBezTo>
                <a:cubicBezTo>
                  <a:pt x="16800" y="7657"/>
                  <a:pt x="16800" y="7657"/>
                  <a:pt x="16800" y="7657"/>
                </a:cubicBezTo>
                <a:cubicBezTo>
                  <a:pt x="17200" y="7392"/>
                  <a:pt x="17600" y="7569"/>
                  <a:pt x="17733" y="7967"/>
                </a:cubicBezTo>
                <a:cubicBezTo>
                  <a:pt x="18311" y="11066"/>
                  <a:pt x="18311" y="11066"/>
                  <a:pt x="18311" y="11066"/>
                </a:cubicBezTo>
                <a:cubicBezTo>
                  <a:pt x="18311" y="11464"/>
                  <a:pt x="17956" y="11774"/>
                  <a:pt x="17556" y="11685"/>
                </a:cubicBezTo>
                <a:close/>
              </a:path>
            </a:pathLst>
          </a:custGeom>
          <a:solidFill>
            <a:srgbClr val="0065B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48" name="任意形状 31"/>
          <p:cNvSpPr/>
          <p:nvPr>
            <p:custDataLst>
              <p:tags r:id="rId5"/>
            </p:custDataLst>
          </p:nvPr>
        </p:nvSpPr>
        <p:spPr>
          <a:xfrm>
            <a:off x="5958197" y="2535033"/>
            <a:ext cx="458927" cy="438308"/>
          </a:xfrm>
          <a:custGeom>
            <a:avLst/>
            <a:gdLst>
              <a:gd name="connsiteX0" fmla="*/ 254869 w 504350"/>
              <a:gd name="connsiteY0" fmla="*/ 312112 h 481691"/>
              <a:gd name="connsiteX1" fmla="*/ 252787 w 504350"/>
              <a:gd name="connsiteY1" fmla="*/ 313953 h 481691"/>
              <a:gd name="connsiteX2" fmla="*/ 168525 w 504350"/>
              <a:gd name="connsiteY2" fmla="*/ 336003 h 481691"/>
              <a:gd name="connsiteX3" fmla="*/ 102990 w 504350"/>
              <a:gd name="connsiteY3" fmla="*/ 322862 h 481691"/>
              <a:gd name="connsiteX4" fmla="*/ 99975 w 504350"/>
              <a:gd name="connsiteY4" fmla="*/ 320842 h 481691"/>
              <a:gd name="connsiteX5" fmla="*/ 110336 w 504350"/>
              <a:gd name="connsiteY5" fmla="*/ 372598 h 481691"/>
              <a:gd name="connsiteX6" fmla="*/ 250425 w 504350"/>
              <a:gd name="connsiteY6" fmla="*/ 466728 h 481691"/>
              <a:gd name="connsiteX7" fmla="*/ 391511 w 504350"/>
              <a:gd name="connsiteY7" fmla="*/ 374037 h 481691"/>
              <a:gd name="connsiteX8" fmla="*/ 402804 w 504350"/>
              <a:gd name="connsiteY8" fmla="*/ 320370 h 481691"/>
              <a:gd name="connsiteX9" fmla="*/ 390736 w 504350"/>
              <a:gd name="connsiteY9" fmla="*/ 326861 h 481691"/>
              <a:gd name="connsiteX10" fmla="*/ 336263 w 504350"/>
              <a:gd name="connsiteY10" fmla="*/ 336003 h 481691"/>
              <a:gd name="connsiteX11" fmla="*/ 292163 w 504350"/>
              <a:gd name="connsiteY11" fmla="*/ 330491 h 481691"/>
              <a:gd name="connsiteX12" fmla="*/ 244125 w 504350"/>
              <a:gd name="connsiteY12" fmla="*/ 244654 h 481691"/>
              <a:gd name="connsiteX13" fmla="*/ 259088 w 504350"/>
              <a:gd name="connsiteY13" fmla="*/ 244654 h 481691"/>
              <a:gd name="connsiteX14" fmla="*/ 259088 w 504350"/>
              <a:gd name="connsiteY14" fmla="*/ 260404 h 481691"/>
              <a:gd name="connsiteX15" fmla="*/ 244125 w 504350"/>
              <a:gd name="connsiteY15" fmla="*/ 260404 h 481691"/>
              <a:gd name="connsiteX16" fmla="*/ 259875 w 504350"/>
              <a:gd name="connsiteY16" fmla="*/ 213941 h 481691"/>
              <a:gd name="connsiteX17" fmla="*/ 274838 w 504350"/>
              <a:gd name="connsiteY17" fmla="*/ 213941 h 481691"/>
              <a:gd name="connsiteX18" fmla="*/ 274838 w 504350"/>
              <a:gd name="connsiteY18" fmla="*/ 229691 h 481691"/>
              <a:gd name="connsiteX19" fmla="*/ 259875 w 504350"/>
              <a:gd name="connsiteY19" fmla="*/ 229691 h 481691"/>
              <a:gd name="connsiteX20" fmla="*/ 229163 w 504350"/>
              <a:gd name="connsiteY20" fmla="*/ 213941 h 481691"/>
              <a:gd name="connsiteX21" fmla="*/ 244126 w 504350"/>
              <a:gd name="connsiteY21" fmla="*/ 213941 h 481691"/>
              <a:gd name="connsiteX22" fmla="*/ 244126 w 504350"/>
              <a:gd name="connsiteY22" fmla="*/ 229691 h 481691"/>
              <a:gd name="connsiteX23" fmla="*/ 229163 w 504350"/>
              <a:gd name="connsiteY23" fmla="*/ 229691 h 481691"/>
              <a:gd name="connsiteX24" fmla="*/ 170176 w 504350"/>
              <a:gd name="connsiteY24" fmla="*/ 188033 h 481691"/>
              <a:gd name="connsiteX25" fmla="*/ 143916 w 504350"/>
              <a:gd name="connsiteY25" fmla="*/ 205574 h 481691"/>
              <a:gd name="connsiteX26" fmla="*/ 110914 w 504350"/>
              <a:gd name="connsiteY26" fmla="*/ 253870 h 481691"/>
              <a:gd name="connsiteX27" fmla="*/ 100365 w 504350"/>
              <a:gd name="connsiteY27" fmla="*/ 304006 h 481691"/>
              <a:gd name="connsiteX28" fmla="*/ 101245 w 504350"/>
              <a:gd name="connsiteY28" fmla="*/ 304608 h 481691"/>
              <a:gd name="connsiteX29" fmla="*/ 186945 w 504350"/>
              <a:gd name="connsiteY29" fmla="*/ 319170 h 481691"/>
              <a:gd name="connsiteX30" fmla="*/ 235663 w 504350"/>
              <a:gd name="connsiteY30" fmla="*/ 302648 h 481691"/>
              <a:gd name="connsiteX31" fmla="*/ 232387 w 504350"/>
              <a:gd name="connsiteY31" fmla="*/ 301034 h 481691"/>
              <a:gd name="connsiteX32" fmla="*/ 176822 w 504350"/>
              <a:gd name="connsiteY32" fmla="*/ 223209 h 481691"/>
              <a:gd name="connsiteX33" fmla="*/ 334863 w 504350"/>
              <a:gd name="connsiteY33" fmla="*/ 186789 h 481691"/>
              <a:gd name="connsiteX34" fmla="*/ 326137 w 504350"/>
              <a:gd name="connsiteY34" fmla="*/ 227074 h 481691"/>
              <a:gd name="connsiteX35" fmla="*/ 302806 w 504350"/>
              <a:gd name="connsiteY35" fmla="*/ 269718 h 481691"/>
              <a:gd name="connsiteX36" fmla="*/ 266122 w 504350"/>
              <a:gd name="connsiteY36" fmla="*/ 302160 h 481691"/>
              <a:gd name="connsiteX37" fmla="*/ 294821 w 504350"/>
              <a:gd name="connsiteY37" fmla="*/ 316907 h 481691"/>
              <a:gd name="connsiteX38" fmla="*/ 353132 w 504350"/>
              <a:gd name="connsiteY38" fmla="*/ 322050 h 481691"/>
              <a:gd name="connsiteX39" fmla="*/ 402599 w 504350"/>
              <a:gd name="connsiteY39" fmla="*/ 306398 h 481691"/>
              <a:gd name="connsiteX40" fmla="*/ 395695 w 504350"/>
              <a:gd name="connsiteY40" fmla="*/ 264919 h 481691"/>
              <a:gd name="connsiteX41" fmla="*/ 336878 w 504350"/>
              <a:gd name="connsiteY41" fmla="*/ 187720 h 481691"/>
              <a:gd name="connsiteX42" fmla="*/ 274838 w 504350"/>
              <a:gd name="connsiteY42" fmla="*/ 183229 h 481691"/>
              <a:gd name="connsiteX43" fmla="*/ 289801 w 504350"/>
              <a:gd name="connsiteY43" fmla="*/ 183229 h 481691"/>
              <a:gd name="connsiteX44" fmla="*/ 289801 w 504350"/>
              <a:gd name="connsiteY44" fmla="*/ 198979 h 481691"/>
              <a:gd name="connsiteX45" fmla="*/ 274838 w 504350"/>
              <a:gd name="connsiteY45" fmla="*/ 198979 h 481691"/>
              <a:gd name="connsiteX46" fmla="*/ 244125 w 504350"/>
              <a:gd name="connsiteY46" fmla="*/ 183229 h 481691"/>
              <a:gd name="connsiteX47" fmla="*/ 259088 w 504350"/>
              <a:gd name="connsiteY47" fmla="*/ 183229 h 481691"/>
              <a:gd name="connsiteX48" fmla="*/ 259088 w 504350"/>
              <a:gd name="connsiteY48" fmla="*/ 198979 h 481691"/>
              <a:gd name="connsiteX49" fmla="*/ 244125 w 504350"/>
              <a:gd name="connsiteY49" fmla="*/ 198979 h 481691"/>
              <a:gd name="connsiteX50" fmla="*/ 213413 w 504350"/>
              <a:gd name="connsiteY50" fmla="*/ 183229 h 481691"/>
              <a:gd name="connsiteX51" fmla="*/ 228376 w 504350"/>
              <a:gd name="connsiteY51" fmla="*/ 183229 h 481691"/>
              <a:gd name="connsiteX52" fmla="*/ 228376 w 504350"/>
              <a:gd name="connsiteY52" fmla="*/ 198979 h 481691"/>
              <a:gd name="connsiteX53" fmla="*/ 213413 w 504350"/>
              <a:gd name="connsiteY53" fmla="*/ 198979 h 481691"/>
              <a:gd name="connsiteX54" fmla="*/ 252000 w 504350"/>
              <a:gd name="connsiteY54" fmla="*/ 161178 h 481691"/>
              <a:gd name="connsiteX55" fmla="*/ 192569 w 504350"/>
              <a:gd name="connsiteY55" fmla="*/ 173077 h 481691"/>
              <a:gd name="connsiteX56" fmla="*/ 184815 w 504350"/>
              <a:gd name="connsiteY56" fmla="*/ 178256 h 481691"/>
              <a:gd name="connsiteX57" fmla="*/ 188705 w 504350"/>
              <a:gd name="connsiteY57" fmla="*/ 207543 h 481691"/>
              <a:gd name="connsiteX58" fmla="*/ 203963 w 504350"/>
              <a:gd name="connsiteY58" fmla="*/ 243866 h 481691"/>
              <a:gd name="connsiteX59" fmla="*/ 242858 w 504350"/>
              <a:gd name="connsiteY59" fmla="*/ 290206 h 481691"/>
              <a:gd name="connsiteX60" fmla="*/ 250510 w 504350"/>
              <a:gd name="connsiteY60" fmla="*/ 294138 h 481691"/>
              <a:gd name="connsiteX61" fmla="*/ 289296 w 504350"/>
              <a:gd name="connsiteY61" fmla="*/ 259874 h 481691"/>
              <a:gd name="connsiteX62" fmla="*/ 310435 w 504350"/>
              <a:gd name="connsiteY62" fmla="*/ 221286 h 481691"/>
              <a:gd name="connsiteX63" fmla="*/ 319527 w 504350"/>
              <a:gd name="connsiteY63" fmla="*/ 179701 h 481691"/>
              <a:gd name="connsiteX64" fmla="*/ 291375 w 504350"/>
              <a:gd name="connsiteY64" fmla="*/ 166691 h 481691"/>
              <a:gd name="connsiteX65" fmla="*/ 252000 w 504350"/>
              <a:gd name="connsiteY65" fmla="*/ 161178 h 481691"/>
              <a:gd name="connsiteX66" fmla="*/ 252871 w 504350"/>
              <a:gd name="connsiteY66" fmla="*/ 43327 h 481691"/>
              <a:gd name="connsiteX67" fmla="*/ 227884 w 504350"/>
              <a:gd name="connsiteY67" fmla="*/ 60280 h 481691"/>
              <a:gd name="connsiteX68" fmla="*/ 195387 w 504350"/>
              <a:gd name="connsiteY68" fmla="*/ 108847 h 481691"/>
              <a:gd name="connsiteX69" fmla="*/ 184147 w 504350"/>
              <a:gd name="connsiteY69" fmla="*/ 164976 h 481691"/>
              <a:gd name="connsiteX70" fmla="*/ 229212 w 504350"/>
              <a:gd name="connsiteY70" fmla="*/ 149612 h 481691"/>
              <a:gd name="connsiteX71" fmla="*/ 295313 w 504350"/>
              <a:gd name="connsiteY71" fmla="*/ 154091 h 481691"/>
              <a:gd name="connsiteX72" fmla="*/ 318878 w 504350"/>
              <a:gd name="connsiteY72" fmla="*/ 165922 h 481691"/>
              <a:gd name="connsiteX73" fmla="*/ 316585 w 504350"/>
              <a:gd name="connsiteY73" fmla="*/ 134391 h 481691"/>
              <a:gd name="connsiteX74" fmla="*/ 300038 w 504350"/>
              <a:gd name="connsiteY74" fmla="*/ 91878 h 481691"/>
              <a:gd name="connsiteX75" fmla="*/ 259802 w 504350"/>
              <a:gd name="connsiteY75" fmla="*/ 46708 h 481691"/>
              <a:gd name="connsiteX76" fmla="*/ 149207 w 504350"/>
              <a:gd name="connsiteY76" fmla="*/ 16906 h 481691"/>
              <a:gd name="connsiteX77" fmla="*/ 92138 w 504350"/>
              <a:gd name="connsiteY77" fmla="*/ 35966 h 481691"/>
              <a:gd name="connsiteX78" fmla="*/ 36225 w 504350"/>
              <a:gd name="connsiteY78" fmla="*/ 243866 h 481691"/>
              <a:gd name="connsiteX79" fmla="*/ 64701 w 504350"/>
              <a:gd name="connsiteY79" fmla="*/ 279574 h 481691"/>
              <a:gd name="connsiteX80" fmla="*/ 88888 w 504350"/>
              <a:gd name="connsiteY80" fmla="*/ 296143 h 481691"/>
              <a:gd name="connsiteX81" fmla="*/ 90563 w 504350"/>
              <a:gd name="connsiteY81" fmla="*/ 271428 h 481691"/>
              <a:gd name="connsiteX82" fmla="*/ 120340 w 504350"/>
              <a:gd name="connsiteY82" fmla="*/ 212120 h 481691"/>
              <a:gd name="connsiteX83" fmla="*/ 168261 w 504350"/>
              <a:gd name="connsiteY83" fmla="*/ 170634 h 481691"/>
              <a:gd name="connsiteX84" fmla="*/ 173250 w 504350"/>
              <a:gd name="connsiteY84" fmla="*/ 124953 h 481691"/>
              <a:gd name="connsiteX85" fmla="*/ 202585 w 504350"/>
              <a:gd name="connsiteY85" fmla="*/ 65792 h 481691"/>
              <a:gd name="connsiteX86" fmla="*/ 237082 w 504350"/>
              <a:gd name="connsiteY86" fmla="*/ 35625 h 481691"/>
              <a:gd name="connsiteX87" fmla="*/ 207310 w 504350"/>
              <a:gd name="connsiteY87" fmla="*/ 21102 h 481691"/>
              <a:gd name="connsiteX88" fmla="*/ 149207 w 504350"/>
              <a:gd name="connsiteY88" fmla="*/ 16906 h 481691"/>
              <a:gd name="connsiteX89" fmla="*/ 335475 w 504350"/>
              <a:gd name="connsiteY89" fmla="*/ 15491 h 481691"/>
              <a:gd name="connsiteX90" fmla="*/ 276179 w 504350"/>
              <a:gd name="connsiteY90" fmla="*/ 27513 h 481691"/>
              <a:gd name="connsiteX91" fmla="*/ 268034 w 504350"/>
              <a:gd name="connsiteY91" fmla="*/ 33039 h 481691"/>
              <a:gd name="connsiteX92" fmla="*/ 269978 w 504350"/>
              <a:gd name="connsiteY92" fmla="*/ 33985 h 481691"/>
              <a:gd name="connsiteX93" fmla="*/ 314213 w 504350"/>
              <a:gd name="connsiteY93" fmla="*/ 84003 h 481691"/>
              <a:gd name="connsiteX94" fmla="*/ 332681 w 504350"/>
              <a:gd name="connsiteY94" fmla="*/ 131070 h 481691"/>
              <a:gd name="connsiteX95" fmla="*/ 335973 w 504350"/>
              <a:gd name="connsiteY95" fmla="*/ 174505 h 481691"/>
              <a:gd name="connsiteX96" fmla="*/ 354622 w 504350"/>
              <a:gd name="connsiteY96" fmla="*/ 183868 h 481691"/>
              <a:gd name="connsiteX97" fmla="*/ 417129 w 504350"/>
              <a:gd name="connsiteY97" fmla="*/ 292740 h 481691"/>
              <a:gd name="connsiteX98" fmla="*/ 416709 w 504350"/>
              <a:gd name="connsiteY98" fmla="*/ 298947 h 481691"/>
              <a:gd name="connsiteX99" fmla="*/ 457415 w 504350"/>
              <a:gd name="connsiteY99" fmla="*/ 264489 h 481691"/>
              <a:gd name="connsiteX100" fmla="*/ 470925 w 504350"/>
              <a:gd name="connsiteY100" fmla="*/ 96603 h 481691"/>
              <a:gd name="connsiteX101" fmla="*/ 467775 w 504350"/>
              <a:gd name="connsiteY101" fmla="*/ 91091 h 481691"/>
              <a:gd name="connsiteX102" fmla="*/ 375638 w 504350"/>
              <a:gd name="connsiteY102" fmla="*/ 20216 h 481691"/>
              <a:gd name="connsiteX103" fmla="*/ 335475 w 504350"/>
              <a:gd name="connsiteY103" fmla="*/ 15491 h 481691"/>
              <a:gd name="connsiteX104" fmla="*/ 147546 w 504350"/>
              <a:gd name="connsiteY104" fmla="*/ 1279 h 481691"/>
              <a:gd name="connsiteX105" fmla="*/ 211937 w 504350"/>
              <a:gd name="connsiteY105" fmla="*/ 5746 h 481691"/>
              <a:gd name="connsiteX106" fmla="*/ 250046 w 504350"/>
              <a:gd name="connsiteY106" fmla="*/ 24287 h 481691"/>
              <a:gd name="connsiteX107" fmla="*/ 252000 w 504350"/>
              <a:gd name="connsiteY107" fmla="*/ 22578 h 481691"/>
              <a:gd name="connsiteX108" fmla="*/ 481950 w 504350"/>
              <a:gd name="connsiteY108" fmla="*/ 84003 h 481691"/>
              <a:gd name="connsiteX109" fmla="*/ 498488 w 504350"/>
              <a:gd name="connsiteY109" fmla="*/ 211578 h 481691"/>
              <a:gd name="connsiteX110" fmla="*/ 438343 w 504350"/>
              <a:gd name="connsiteY110" fmla="*/ 301255 h 481691"/>
              <a:gd name="connsiteX111" fmla="*/ 415728 w 504350"/>
              <a:gd name="connsiteY111" fmla="*/ 313418 h 481691"/>
              <a:gd name="connsiteX112" fmla="*/ 412650 w 504350"/>
              <a:gd name="connsiteY112" fmla="*/ 358841 h 481691"/>
              <a:gd name="connsiteX113" fmla="*/ 252000 w 504350"/>
              <a:gd name="connsiteY113" fmla="*/ 481691 h 481691"/>
              <a:gd name="connsiteX114" fmla="*/ 207900 w 504350"/>
              <a:gd name="connsiteY114" fmla="*/ 476178 h 481691"/>
              <a:gd name="connsiteX115" fmla="*/ 86084 w 504350"/>
              <a:gd name="connsiteY115" fmla="*/ 337529 h 481691"/>
              <a:gd name="connsiteX116" fmla="*/ 87768 w 504350"/>
              <a:gd name="connsiteY116" fmla="*/ 312667 h 481691"/>
              <a:gd name="connsiteX117" fmla="*/ 49415 w 504350"/>
              <a:gd name="connsiteY117" fmla="*/ 286982 h 481691"/>
              <a:gd name="connsiteX118" fmla="*/ 0 w 504350"/>
              <a:gd name="connsiteY118" fmla="*/ 168266 h 481691"/>
              <a:gd name="connsiteX119" fmla="*/ 84263 w 504350"/>
              <a:gd name="connsiteY119" fmla="*/ 22578 h 481691"/>
              <a:gd name="connsiteX120" fmla="*/ 147546 w 504350"/>
              <a:gd name="connsiteY120" fmla="*/ 1279 h 481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504350" h="481691">
                <a:moveTo>
                  <a:pt x="254869" y="312112"/>
                </a:moveTo>
                <a:lnTo>
                  <a:pt x="252787" y="313953"/>
                </a:lnTo>
                <a:cubicBezTo>
                  <a:pt x="226800" y="328128"/>
                  <a:pt x="197663" y="336003"/>
                  <a:pt x="168525" y="336003"/>
                </a:cubicBezTo>
                <a:cubicBezTo>
                  <a:pt x="145294" y="336003"/>
                  <a:pt x="123145" y="331327"/>
                  <a:pt x="102990" y="322862"/>
                </a:cubicBezTo>
                <a:lnTo>
                  <a:pt x="99975" y="320842"/>
                </a:lnTo>
                <a:lnTo>
                  <a:pt x="110336" y="372598"/>
                </a:lnTo>
                <a:cubicBezTo>
                  <a:pt x="133334" y="427452"/>
                  <a:pt x="187229" y="466138"/>
                  <a:pt x="250425" y="466728"/>
                </a:cubicBezTo>
                <a:cubicBezTo>
                  <a:pt x="313623" y="466728"/>
                  <a:pt x="367960" y="428633"/>
                  <a:pt x="391511" y="374037"/>
                </a:cubicBezTo>
                <a:lnTo>
                  <a:pt x="402804" y="320370"/>
                </a:lnTo>
                <a:lnTo>
                  <a:pt x="390736" y="326861"/>
                </a:lnTo>
                <a:cubicBezTo>
                  <a:pt x="373522" y="332804"/>
                  <a:pt x="355163" y="336003"/>
                  <a:pt x="336263" y="336003"/>
                </a:cubicBezTo>
                <a:cubicBezTo>
                  <a:pt x="321300" y="336003"/>
                  <a:pt x="307125" y="334428"/>
                  <a:pt x="292163" y="330491"/>
                </a:cubicBezTo>
                <a:close/>
                <a:moveTo>
                  <a:pt x="244125" y="244654"/>
                </a:moveTo>
                <a:lnTo>
                  <a:pt x="259088" y="244654"/>
                </a:lnTo>
                <a:lnTo>
                  <a:pt x="259088" y="260404"/>
                </a:lnTo>
                <a:lnTo>
                  <a:pt x="244125" y="260404"/>
                </a:lnTo>
                <a:close/>
                <a:moveTo>
                  <a:pt x="259875" y="213941"/>
                </a:moveTo>
                <a:lnTo>
                  <a:pt x="274838" y="213941"/>
                </a:lnTo>
                <a:lnTo>
                  <a:pt x="274838" y="229691"/>
                </a:lnTo>
                <a:lnTo>
                  <a:pt x="259875" y="229691"/>
                </a:lnTo>
                <a:close/>
                <a:moveTo>
                  <a:pt x="229163" y="213941"/>
                </a:moveTo>
                <a:lnTo>
                  <a:pt x="244126" y="213941"/>
                </a:lnTo>
                <a:lnTo>
                  <a:pt x="244126" y="229691"/>
                </a:lnTo>
                <a:lnTo>
                  <a:pt x="229163" y="229691"/>
                </a:lnTo>
                <a:close/>
                <a:moveTo>
                  <a:pt x="170176" y="188033"/>
                </a:moveTo>
                <a:lnTo>
                  <a:pt x="143916" y="205574"/>
                </a:lnTo>
                <a:cubicBezTo>
                  <a:pt x="130036" y="219306"/>
                  <a:pt x="118765" y="235671"/>
                  <a:pt x="110914" y="253870"/>
                </a:cubicBezTo>
                <a:lnTo>
                  <a:pt x="100365" y="304006"/>
                </a:lnTo>
                <a:lnTo>
                  <a:pt x="101245" y="304608"/>
                </a:lnTo>
                <a:cubicBezTo>
                  <a:pt x="127652" y="317546"/>
                  <a:pt x="157506" y="322788"/>
                  <a:pt x="186945" y="319170"/>
                </a:cubicBezTo>
                <a:lnTo>
                  <a:pt x="235663" y="302648"/>
                </a:lnTo>
                <a:lnTo>
                  <a:pt x="232387" y="301034"/>
                </a:lnTo>
                <a:cubicBezTo>
                  <a:pt x="206584" y="280989"/>
                  <a:pt x="187370" y="253802"/>
                  <a:pt x="176822" y="223209"/>
                </a:cubicBezTo>
                <a:close/>
                <a:moveTo>
                  <a:pt x="334863" y="186789"/>
                </a:moveTo>
                <a:lnTo>
                  <a:pt x="326137" y="227074"/>
                </a:lnTo>
                <a:cubicBezTo>
                  <a:pt x="320495" y="242233"/>
                  <a:pt x="312672" y="256623"/>
                  <a:pt x="302806" y="269718"/>
                </a:cubicBezTo>
                <a:lnTo>
                  <a:pt x="266122" y="302160"/>
                </a:lnTo>
                <a:lnTo>
                  <a:pt x="294821" y="316907"/>
                </a:lnTo>
                <a:cubicBezTo>
                  <a:pt x="313573" y="322321"/>
                  <a:pt x="333383" y="324142"/>
                  <a:pt x="353132" y="322050"/>
                </a:cubicBezTo>
                <a:lnTo>
                  <a:pt x="402599" y="306398"/>
                </a:lnTo>
                <a:lnTo>
                  <a:pt x="395695" y="264919"/>
                </a:lnTo>
                <a:cubicBezTo>
                  <a:pt x="384916" y="233493"/>
                  <a:pt x="364195" y="206349"/>
                  <a:pt x="336878" y="187720"/>
                </a:cubicBezTo>
                <a:close/>
                <a:moveTo>
                  <a:pt x="274838" y="183229"/>
                </a:moveTo>
                <a:lnTo>
                  <a:pt x="289801" y="183229"/>
                </a:lnTo>
                <a:lnTo>
                  <a:pt x="289801" y="198979"/>
                </a:lnTo>
                <a:lnTo>
                  <a:pt x="274838" y="198979"/>
                </a:lnTo>
                <a:close/>
                <a:moveTo>
                  <a:pt x="244125" y="183229"/>
                </a:moveTo>
                <a:lnTo>
                  <a:pt x="259088" y="183229"/>
                </a:lnTo>
                <a:lnTo>
                  <a:pt x="259088" y="198979"/>
                </a:lnTo>
                <a:lnTo>
                  <a:pt x="244125" y="198979"/>
                </a:lnTo>
                <a:close/>
                <a:moveTo>
                  <a:pt x="213413" y="183229"/>
                </a:moveTo>
                <a:lnTo>
                  <a:pt x="228376" y="183229"/>
                </a:lnTo>
                <a:lnTo>
                  <a:pt x="228376" y="198979"/>
                </a:lnTo>
                <a:lnTo>
                  <a:pt x="213413" y="198979"/>
                </a:lnTo>
                <a:close/>
                <a:moveTo>
                  <a:pt x="252000" y="161178"/>
                </a:moveTo>
                <a:cubicBezTo>
                  <a:pt x="230935" y="161178"/>
                  <a:pt x="210854" y="165411"/>
                  <a:pt x="192569" y="173077"/>
                </a:cubicBezTo>
                <a:lnTo>
                  <a:pt x="184815" y="178256"/>
                </a:lnTo>
                <a:lnTo>
                  <a:pt x="188705" y="207543"/>
                </a:lnTo>
                <a:cubicBezTo>
                  <a:pt x="192151" y="220241"/>
                  <a:pt x="197269" y="232447"/>
                  <a:pt x="203963" y="243866"/>
                </a:cubicBezTo>
                <a:cubicBezTo>
                  <a:pt x="214004" y="262372"/>
                  <a:pt x="227342" y="277925"/>
                  <a:pt x="242858" y="290206"/>
                </a:cubicBezTo>
                <a:lnTo>
                  <a:pt x="250510" y="294138"/>
                </a:lnTo>
                <a:lnTo>
                  <a:pt x="289296" y="259874"/>
                </a:lnTo>
                <a:cubicBezTo>
                  <a:pt x="298220" y="248034"/>
                  <a:pt x="305310" y="235010"/>
                  <a:pt x="310435" y="221286"/>
                </a:cubicBezTo>
                <a:lnTo>
                  <a:pt x="319527" y="179701"/>
                </a:lnTo>
                <a:lnTo>
                  <a:pt x="291375" y="166691"/>
                </a:lnTo>
                <a:cubicBezTo>
                  <a:pt x="278775" y="162753"/>
                  <a:pt x="265388" y="161178"/>
                  <a:pt x="252000" y="161178"/>
                </a:cubicBezTo>
                <a:close/>
                <a:moveTo>
                  <a:pt x="252871" y="43327"/>
                </a:moveTo>
                <a:lnTo>
                  <a:pt x="227884" y="60280"/>
                </a:lnTo>
                <a:cubicBezTo>
                  <a:pt x="214152" y="74111"/>
                  <a:pt x="203053" y="90574"/>
                  <a:pt x="195387" y="108847"/>
                </a:cubicBezTo>
                <a:lnTo>
                  <a:pt x="184147" y="164976"/>
                </a:lnTo>
                <a:lnTo>
                  <a:pt x="229212" y="149612"/>
                </a:lnTo>
                <a:cubicBezTo>
                  <a:pt x="250672" y="146708"/>
                  <a:pt x="273066" y="147988"/>
                  <a:pt x="295313" y="154091"/>
                </a:cubicBezTo>
                <a:lnTo>
                  <a:pt x="318878" y="165922"/>
                </a:lnTo>
                <a:lnTo>
                  <a:pt x="316585" y="134391"/>
                </a:lnTo>
                <a:cubicBezTo>
                  <a:pt x="313336" y="119794"/>
                  <a:pt x="307864" y="105463"/>
                  <a:pt x="300038" y="91878"/>
                </a:cubicBezTo>
                <a:cubicBezTo>
                  <a:pt x="289407" y="73766"/>
                  <a:pt x="275626" y="58606"/>
                  <a:pt x="259802" y="46708"/>
                </a:cubicBezTo>
                <a:close/>
                <a:moveTo>
                  <a:pt x="149207" y="16906"/>
                </a:moveTo>
                <a:cubicBezTo>
                  <a:pt x="129642" y="19281"/>
                  <a:pt x="110250" y="25532"/>
                  <a:pt x="92138" y="35966"/>
                </a:cubicBezTo>
                <a:cubicBezTo>
                  <a:pt x="18900" y="78491"/>
                  <a:pt x="-5513" y="171416"/>
                  <a:pt x="36225" y="243866"/>
                </a:cubicBezTo>
                <a:cubicBezTo>
                  <a:pt x="44051" y="257451"/>
                  <a:pt x="53704" y="269401"/>
                  <a:pt x="64701" y="279574"/>
                </a:cubicBezTo>
                <a:lnTo>
                  <a:pt x="88888" y="296143"/>
                </a:lnTo>
                <a:lnTo>
                  <a:pt x="90563" y="271428"/>
                </a:lnTo>
                <a:cubicBezTo>
                  <a:pt x="96666" y="249181"/>
                  <a:pt x="106952" y="229199"/>
                  <a:pt x="120340" y="212120"/>
                </a:cubicBezTo>
                <a:lnTo>
                  <a:pt x="168261" y="170634"/>
                </a:lnTo>
                <a:lnTo>
                  <a:pt x="173250" y="124953"/>
                </a:lnTo>
                <a:cubicBezTo>
                  <a:pt x="179157" y="103297"/>
                  <a:pt x="189198" y="83216"/>
                  <a:pt x="202585" y="65792"/>
                </a:cubicBezTo>
                <a:lnTo>
                  <a:pt x="237082" y="35625"/>
                </a:lnTo>
                <a:lnTo>
                  <a:pt x="207310" y="21102"/>
                </a:lnTo>
                <a:cubicBezTo>
                  <a:pt x="188509" y="16032"/>
                  <a:pt x="168772" y="14531"/>
                  <a:pt x="149207" y="16906"/>
                </a:cubicBezTo>
                <a:close/>
                <a:moveTo>
                  <a:pt x="335475" y="15491"/>
                </a:moveTo>
                <a:cubicBezTo>
                  <a:pt x="314410" y="15491"/>
                  <a:pt x="294378" y="19773"/>
                  <a:pt x="276179" y="27513"/>
                </a:cubicBezTo>
                <a:lnTo>
                  <a:pt x="268034" y="33039"/>
                </a:lnTo>
                <a:lnTo>
                  <a:pt x="269978" y="33985"/>
                </a:lnTo>
                <a:cubicBezTo>
                  <a:pt x="287438" y="47138"/>
                  <a:pt x="302597" y="63922"/>
                  <a:pt x="314213" y="84003"/>
                </a:cubicBezTo>
                <a:cubicBezTo>
                  <a:pt x="322925" y="99064"/>
                  <a:pt x="329034" y="114928"/>
                  <a:pt x="332681" y="131070"/>
                </a:cubicBezTo>
                <a:lnTo>
                  <a:pt x="335973" y="174505"/>
                </a:lnTo>
                <a:lnTo>
                  <a:pt x="354622" y="183868"/>
                </a:lnTo>
                <a:cubicBezTo>
                  <a:pt x="388779" y="210643"/>
                  <a:pt x="411322" y="249821"/>
                  <a:pt x="417129" y="292740"/>
                </a:cubicBezTo>
                <a:lnTo>
                  <a:pt x="416709" y="298947"/>
                </a:lnTo>
                <a:lnTo>
                  <a:pt x="457415" y="264489"/>
                </a:lnTo>
                <a:cubicBezTo>
                  <a:pt x="494255" y="217829"/>
                  <a:pt x="501638" y="152122"/>
                  <a:pt x="470925" y="96603"/>
                </a:cubicBezTo>
                <a:cubicBezTo>
                  <a:pt x="470138" y="95028"/>
                  <a:pt x="468563" y="92666"/>
                  <a:pt x="467775" y="91091"/>
                </a:cubicBezTo>
                <a:cubicBezTo>
                  <a:pt x="447300" y="56441"/>
                  <a:pt x="414225" y="30453"/>
                  <a:pt x="375638" y="20216"/>
                </a:cubicBezTo>
                <a:cubicBezTo>
                  <a:pt x="362250" y="17853"/>
                  <a:pt x="348863" y="15491"/>
                  <a:pt x="335475" y="15491"/>
                </a:cubicBezTo>
                <a:close/>
                <a:moveTo>
                  <a:pt x="147546" y="1279"/>
                </a:moveTo>
                <a:cubicBezTo>
                  <a:pt x="169239" y="-1416"/>
                  <a:pt x="191117" y="184"/>
                  <a:pt x="211937" y="5746"/>
                </a:cubicBezTo>
                <a:lnTo>
                  <a:pt x="250046" y="24287"/>
                </a:lnTo>
                <a:lnTo>
                  <a:pt x="252000" y="22578"/>
                </a:lnTo>
                <a:cubicBezTo>
                  <a:pt x="332325" y="-23884"/>
                  <a:pt x="435488" y="3678"/>
                  <a:pt x="481950" y="84003"/>
                </a:cubicBezTo>
                <a:cubicBezTo>
                  <a:pt x="504000" y="122591"/>
                  <a:pt x="510300" y="168266"/>
                  <a:pt x="498488" y="211578"/>
                </a:cubicBezTo>
                <a:cubicBezTo>
                  <a:pt x="488644" y="248197"/>
                  <a:pt x="466988" y="279303"/>
                  <a:pt x="438343" y="301255"/>
                </a:cubicBezTo>
                <a:lnTo>
                  <a:pt x="415728" y="313418"/>
                </a:lnTo>
                <a:lnTo>
                  <a:pt x="412650" y="358841"/>
                </a:lnTo>
                <a:cubicBezTo>
                  <a:pt x="393750" y="431291"/>
                  <a:pt x="327600" y="481691"/>
                  <a:pt x="252000" y="481691"/>
                </a:cubicBezTo>
                <a:cubicBezTo>
                  <a:pt x="237038" y="481691"/>
                  <a:pt x="222863" y="479328"/>
                  <a:pt x="207900" y="476178"/>
                </a:cubicBezTo>
                <a:cubicBezTo>
                  <a:pt x="141160" y="457869"/>
                  <a:pt x="94795" y="401908"/>
                  <a:pt x="86084" y="337529"/>
                </a:cubicBezTo>
                <a:lnTo>
                  <a:pt x="87768" y="312667"/>
                </a:lnTo>
                <a:lnTo>
                  <a:pt x="49415" y="286982"/>
                </a:lnTo>
                <a:cubicBezTo>
                  <a:pt x="18900" y="256663"/>
                  <a:pt x="0" y="214729"/>
                  <a:pt x="0" y="168266"/>
                </a:cubicBezTo>
                <a:cubicBezTo>
                  <a:pt x="0" y="108416"/>
                  <a:pt x="32288" y="52503"/>
                  <a:pt x="84263" y="22578"/>
                </a:cubicBezTo>
                <a:cubicBezTo>
                  <a:pt x="104344" y="10963"/>
                  <a:pt x="125853" y="3974"/>
                  <a:pt x="147546" y="1279"/>
                </a:cubicBezTo>
                <a:close/>
              </a:path>
            </a:pathLst>
          </a:custGeom>
          <a:solidFill>
            <a:srgbClr val="FFFFFF"/>
          </a:solidFill>
          <a:ln w="7739"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49" name="任意形状 39"/>
          <p:cNvSpPr/>
          <p:nvPr>
            <p:custDataLst>
              <p:tags r:id="rId6"/>
            </p:custDataLst>
          </p:nvPr>
        </p:nvSpPr>
        <p:spPr>
          <a:xfrm>
            <a:off x="6670188" y="2738449"/>
            <a:ext cx="1415003" cy="2353581"/>
          </a:xfrm>
          <a:custGeom>
            <a:avLst/>
            <a:gdLst>
              <a:gd name="connsiteX0" fmla="*/ 0 w 1961809"/>
              <a:gd name="connsiteY0" fmla="*/ 0 h 3263087"/>
              <a:gd name="connsiteX1" fmla="*/ 637 w 1961809"/>
              <a:gd name="connsiteY1" fmla="*/ 0 h 3263087"/>
              <a:gd name="connsiteX2" fmla="*/ 5064 w 1961809"/>
              <a:gd name="connsiteY2" fmla="*/ 87679 h 3263087"/>
              <a:gd name="connsiteX3" fmla="*/ 980905 w 1961809"/>
              <a:gd name="connsiteY3" fmla="*/ 968292 h 3263087"/>
              <a:gd name="connsiteX4" fmla="*/ 1956746 w 1961809"/>
              <a:gd name="connsiteY4" fmla="*/ 87679 h 3263087"/>
              <a:gd name="connsiteX5" fmla="*/ 1961173 w 1961809"/>
              <a:gd name="connsiteY5" fmla="*/ 0 h 3263087"/>
              <a:gd name="connsiteX6" fmla="*/ 1961809 w 1961809"/>
              <a:gd name="connsiteY6" fmla="*/ 0 h 3263087"/>
              <a:gd name="connsiteX7" fmla="*/ 1961809 w 1961809"/>
              <a:gd name="connsiteY7" fmla="*/ 3263087 h 3263087"/>
              <a:gd name="connsiteX8" fmla="*/ 0 w 1961809"/>
              <a:gd name="connsiteY8" fmla="*/ 3263087 h 3263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1809" h="3263087">
                <a:moveTo>
                  <a:pt x="0" y="0"/>
                </a:moveTo>
                <a:lnTo>
                  <a:pt x="637" y="0"/>
                </a:lnTo>
                <a:lnTo>
                  <a:pt x="5064" y="87679"/>
                </a:lnTo>
                <a:cubicBezTo>
                  <a:pt x="55297" y="582306"/>
                  <a:pt x="473025" y="968292"/>
                  <a:pt x="980905" y="968292"/>
                </a:cubicBezTo>
                <a:cubicBezTo>
                  <a:pt x="1488785" y="968292"/>
                  <a:pt x="1906514" y="582306"/>
                  <a:pt x="1956746" y="87679"/>
                </a:cubicBezTo>
                <a:lnTo>
                  <a:pt x="1961173" y="0"/>
                </a:lnTo>
                <a:lnTo>
                  <a:pt x="1961809" y="0"/>
                </a:lnTo>
                <a:lnTo>
                  <a:pt x="1961809" y="3263087"/>
                </a:lnTo>
                <a:lnTo>
                  <a:pt x="0" y="3263087"/>
                </a:lnTo>
                <a:close/>
              </a:path>
            </a:pathLst>
          </a:custGeom>
          <a:solidFill>
            <a:srgbClr val="FFFFFF">
              <a:lumMod val="95000"/>
            </a:srgbClr>
          </a:solidFill>
          <a:ln w="12700">
            <a:miter lim="400000"/>
          </a:ln>
        </p:spPr>
        <p:txBody>
          <a:bodyPr wrap="square" tIns="34290" bIns="3429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solidFill>
                  <a:srgbClr val="FFFFFF"/>
                </a:solidFill>
              </a:defRPr>
            </a:pPr>
            <a:endParaRPr kumimoji="0" sz="675"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50" name="形状"/>
          <p:cNvSpPr/>
          <p:nvPr>
            <p:custDataLst>
              <p:tags r:id="rId7"/>
            </p:custDataLst>
          </p:nvPr>
        </p:nvSpPr>
        <p:spPr>
          <a:xfrm rot="530639">
            <a:off x="6560661" y="1936400"/>
            <a:ext cx="1634055" cy="1641253"/>
          </a:xfrm>
          <a:custGeom>
            <a:avLst/>
            <a:gdLst/>
            <a:ahLst/>
            <a:cxnLst>
              <a:cxn ang="0">
                <a:pos x="wd2" y="hd2"/>
              </a:cxn>
              <a:cxn ang="5400000">
                <a:pos x="wd2" y="hd2"/>
              </a:cxn>
              <a:cxn ang="10800000">
                <a:pos x="wd2" y="hd2"/>
              </a:cxn>
              <a:cxn ang="16200000">
                <a:pos x="wd2" y="hd2"/>
              </a:cxn>
            </a:cxnLst>
            <a:rect l="0" t="0" r="r" b="b"/>
            <a:pathLst>
              <a:path w="21561" h="21600" extrusionOk="0">
                <a:moveTo>
                  <a:pt x="21067" y="11464"/>
                </a:moveTo>
                <a:cubicBezTo>
                  <a:pt x="20844" y="11464"/>
                  <a:pt x="20844" y="11464"/>
                  <a:pt x="20844" y="11464"/>
                </a:cubicBezTo>
                <a:cubicBezTo>
                  <a:pt x="20444" y="11464"/>
                  <a:pt x="20133" y="11198"/>
                  <a:pt x="20044" y="10844"/>
                </a:cubicBezTo>
                <a:cubicBezTo>
                  <a:pt x="20000" y="10357"/>
                  <a:pt x="20356" y="9915"/>
                  <a:pt x="20844" y="9915"/>
                </a:cubicBezTo>
                <a:cubicBezTo>
                  <a:pt x="21067" y="9915"/>
                  <a:pt x="21067" y="9915"/>
                  <a:pt x="21067" y="9915"/>
                </a:cubicBezTo>
                <a:cubicBezTo>
                  <a:pt x="21333" y="9915"/>
                  <a:pt x="21600" y="9693"/>
                  <a:pt x="21556" y="9384"/>
                </a:cubicBezTo>
                <a:cubicBezTo>
                  <a:pt x="21511" y="9251"/>
                  <a:pt x="21511" y="9074"/>
                  <a:pt x="21467" y="8941"/>
                </a:cubicBezTo>
                <a:cubicBezTo>
                  <a:pt x="21422" y="8675"/>
                  <a:pt x="21156" y="8498"/>
                  <a:pt x="20844" y="8543"/>
                </a:cubicBezTo>
                <a:cubicBezTo>
                  <a:pt x="20622" y="8631"/>
                  <a:pt x="20622" y="8631"/>
                  <a:pt x="20622" y="8631"/>
                </a:cubicBezTo>
                <a:cubicBezTo>
                  <a:pt x="20267" y="8720"/>
                  <a:pt x="19867" y="8587"/>
                  <a:pt x="19689" y="8233"/>
                </a:cubicBezTo>
                <a:cubicBezTo>
                  <a:pt x="19467" y="7790"/>
                  <a:pt x="19733" y="7259"/>
                  <a:pt x="20178" y="7126"/>
                </a:cubicBezTo>
                <a:cubicBezTo>
                  <a:pt x="20400" y="7082"/>
                  <a:pt x="20400" y="7082"/>
                  <a:pt x="20400" y="7082"/>
                </a:cubicBezTo>
                <a:cubicBezTo>
                  <a:pt x="20667" y="6993"/>
                  <a:pt x="20844" y="6684"/>
                  <a:pt x="20711" y="6418"/>
                </a:cubicBezTo>
                <a:cubicBezTo>
                  <a:pt x="20667" y="6285"/>
                  <a:pt x="20578" y="6152"/>
                  <a:pt x="20533" y="6020"/>
                </a:cubicBezTo>
                <a:cubicBezTo>
                  <a:pt x="20400" y="5754"/>
                  <a:pt x="20044" y="5666"/>
                  <a:pt x="19822" y="5843"/>
                </a:cubicBezTo>
                <a:cubicBezTo>
                  <a:pt x="19600" y="5975"/>
                  <a:pt x="19600" y="5975"/>
                  <a:pt x="19600" y="5975"/>
                </a:cubicBezTo>
                <a:cubicBezTo>
                  <a:pt x="19244" y="6197"/>
                  <a:pt x="18756" y="6064"/>
                  <a:pt x="18533" y="5710"/>
                </a:cubicBezTo>
                <a:cubicBezTo>
                  <a:pt x="18311" y="5356"/>
                  <a:pt x="18400" y="4869"/>
                  <a:pt x="18756" y="4648"/>
                </a:cubicBezTo>
                <a:cubicBezTo>
                  <a:pt x="18933" y="4559"/>
                  <a:pt x="18933" y="4559"/>
                  <a:pt x="18933" y="4559"/>
                </a:cubicBezTo>
                <a:cubicBezTo>
                  <a:pt x="19200" y="4382"/>
                  <a:pt x="19244" y="4028"/>
                  <a:pt x="19067" y="3807"/>
                </a:cubicBezTo>
                <a:cubicBezTo>
                  <a:pt x="18978" y="3718"/>
                  <a:pt x="18889" y="3585"/>
                  <a:pt x="18756" y="3497"/>
                </a:cubicBezTo>
                <a:cubicBezTo>
                  <a:pt x="18578" y="3275"/>
                  <a:pt x="18222" y="3275"/>
                  <a:pt x="18044" y="3497"/>
                </a:cubicBezTo>
                <a:cubicBezTo>
                  <a:pt x="17911" y="3674"/>
                  <a:pt x="17911" y="3674"/>
                  <a:pt x="17911" y="3674"/>
                </a:cubicBezTo>
                <a:cubicBezTo>
                  <a:pt x="17644" y="3984"/>
                  <a:pt x="17200" y="4028"/>
                  <a:pt x="16889" y="3851"/>
                </a:cubicBezTo>
                <a:cubicBezTo>
                  <a:pt x="16444" y="3585"/>
                  <a:pt x="16400" y="3010"/>
                  <a:pt x="16711" y="2656"/>
                </a:cubicBezTo>
                <a:cubicBezTo>
                  <a:pt x="16844" y="2523"/>
                  <a:pt x="16844" y="2523"/>
                  <a:pt x="16844" y="2523"/>
                </a:cubicBezTo>
                <a:cubicBezTo>
                  <a:pt x="17067" y="2302"/>
                  <a:pt x="17022" y="1948"/>
                  <a:pt x="16756" y="1770"/>
                </a:cubicBezTo>
                <a:cubicBezTo>
                  <a:pt x="16622" y="1682"/>
                  <a:pt x="16489" y="1638"/>
                  <a:pt x="16400" y="1549"/>
                </a:cubicBezTo>
                <a:cubicBezTo>
                  <a:pt x="16133" y="1416"/>
                  <a:pt x="15822" y="1505"/>
                  <a:pt x="15689" y="1770"/>
                </a:cubicBezTo>
                <a:cubicBezTo>
                  <a:pt x="15600" y="1992"/>
                  <a:pt x="15600" y="1992"/>
                  <a:pt x="15600" y="1992"/>
                </a:cubicBezTo>
                <a:cubicBezTo>
                  <a:pt x="15422" y="2302"/>
                  <a:pt x="15022" y="2523"/>
                  <a:pt x="14667" y="2434"/>
                </a:cubicBezTo>
                <a:cubicBezTo>
                  <a:pt x="14178" y="2302"/>
                  <a:pt x="13956" y="1770"/>
                  <a:pt x="14178" y="1328"/>
                </a:cubicBezTo>
                <a:cubicBezTo>
                  <a:pt x="14267" y="1151"/>
                  <a:pt x="14267" y="1151"/>
                  <a:pt x="14267" y="1151"/>
                </a:cubicBezTo>
                <a:cubicBezTo>
                  <a:pt x="14400" y="885"/>
                  <a:pt x="14222" y="575"/>
                  <a:pt x="13956" y="487"/>
                </a:cubicBezTo>
                <a:cubicBezTo>
                  <a:pt x="13822" y="443"/>
                  <a:pt x="13689" y="398"/>
                  <a:pt x="13556" y="354"/>
                </a:cubicBezTo>
                <a:cubicBezTo>
                  <a:pt x="13244" y="266"/>
                  <a:pt x="12978" y="443"/>
                  <a:pt x="12933" y="752"/>
                </a:cubicBezTo>
                <a:cubicBezTo>
                  <a:pt x="12889" y="974"/>
                  <a:pt x="12889" y="974"/>
                  <a:pt x="12889" y="974"/>
                </a:cubicBezTo>
                <a:cubicBezTo>
                  <a:pt x="12844" y="1372"/>
                  <a:pt x="12533" y="1638"/>
                  <a:pt x="12133" y="1682"/>
                </a:cubicBezTo>
                <a:cubicBezTo>
                  <a:pt x="11644" y="1682"/>
                  <a:pt x="11289" y="1239"/>
                  <a:pt x="11333" y="752"/>
                </a:cubicBezTo>
                <a:cubicBezTo>
                  <a:pt x="11378" y="575"/>
                  <a:pt x="11378" y="575"/>
                  <a:pt x="11378" y="575"/>
                </a:cubicBezTo>
                <a:cubicBezTo>
                  <a:pt x="11422" y="266"/>
                  <a:pt x="11200" y="0"/>
                  <a:pt x="10933" y="0"/>
                </a:cubicBezTo>
                <a:cubicBezTo>
                  <a:pt x="10756" y="0"/>
                  <a:pt x="10622" y="0"/>
                  <a:pt x="10489" y="0"/>
                </a:cubicBezTo>
                <a:cubicBezTo>
                  <a:pt x="10178" y="0"/>
                  <a:pt x="9956" y="266"/>
                  <a:pt x="10000" y="575"/>
                </a:cubicBezTo>
                <a:cubicBezTo>
                  <a:pt x="10044" y="797"/>
                  <a:pt x="10044" y="797"/>
                  <a:pt x="10044" y="797"/>
                </a:cubicBezTo>
                <a:cubicBezTo>
                  <a:pt x="10089" y="1239"/>
                  <a:pt x="9778" y="1638"/>
                  <a:pt x="9378" y="1682"/>
                </a:cubicBezTo>
                <a:cubicBezTo>
                  <a:pt x="9022" y="1903"/>
                  <a:pt x="8578" y="1682"/>
                  <a:pt x="8533" y="1284"/>
                </a:cubicBezTo>
                <a:cubicBezTo>
                  <a:pt x="8489" y="797"/>
                  <a:pt x="8489" y="797"/>
                  <a:pt x="8489" y="797"/>
                </a:cubicBezTo>
                <a:cubicBezTo>
                  <a:pt x="8444" y="531"/>
                  <a:pt x="8133" y="310"/>
                  <a:pt x="7867" y="398"/>
                </a:cubicBezTo>
                <a:cubicBezTo>
                  <a:pt x="7733" y="443"/>
                  <a:pt x="7556" y="487"/>
                  <a:pt x="7422" y="531"/>
                </a:cubicBezTo>
                <a:cubicBezTo>
                  <a:pt x="7156" y="620"/>
                  <a:pt x="7022" y="930"/>
                  <a:pt x="7156" y="1195"/>
                </a:cubicBezTo>
                <a:cubicBezTo>
                  <a:pt x="7244" y="1416"/>
                  <a:pt x="7244" y="1416"/>
                  <a:pt x="7244" y="1416"/>
                </a:cubicBezTo>
                <a:cubicBezTo>
                  <a:pt x="7422" y="1859"/>
                  <a:pt x="7200" y="2390"/>
                  <a:pt x="6711" y="2479"/>
                </a:cubicBezTo>
                <a:cubicBezTo>
                  <a:pt x="6356" y="2611"/>
                  <a:pt x="5956" y="2390"/>
                  <a:pt x="5822" y="2036"/>
                </a:cubicBezTo>
                <a:cubicBezTo>
                  <a:pt x="5733" y="1859"/>
                  <a:pt x="5733" y="1859"/>
                  <a:pt x="5733" y="1859"/>
                </a:cubicBezTo>
                <a:cubicBezTo>
                  <a:pt x="5600" y="1593"/>
                  <a:pt x="5289" y="1505"/>
                  <a:pt x="5022" y="1638"/>
                </a:cubicBezTo>
                <a:cubicBezTo>
                  <a:pt x="5022" y="1638"/>
                  <a:pt x="5022" y="1638"/>
                  <a:pt x="5022" y="1638"/>
                </a:cubicBezTo>
                <a:cubicBezTo>
                  <a:pt x="4889" y="1726"/>
                  <a:pt x="4800" y="1815"/>
                  <a:pt x="4667" y="1903"/>
                </a:cubicBezTo>
                <a:cubicBezTo>
                  <a:pt x="4444" y="2036"/>
                  <a:pt x="4400" y="2390"/>
                  <a:pt x="4578" y="2611"/>
                </a:cubicBezTo>
                <a:cubicBezTo>
                  <a:pt x="4711" y="2789"/>
                  <a:pt x="4711" y="2789"/>
                  <a:pt x="4711" y="2789"/>
                </a:cubicBezTo>
                <a:cubicBezTo>
                  <a:pt x="4978" y="3098"/>
                  <a:pt x="4978" y="3497"/>
                  <a:pt x="4756" y="3807"/>
                </a:cubicBezTo>
                <a:cubicBezTo>
                  <a:pt x="4444" y="4161"/>
                  <a:pt x="3867" y="4161"/>
                  <a:pt x="3556" y="3807"/>
                </a:cubicBezTo>
                <a:cubicBezTo>
                  <a:pt x="3422" y="3630"/>
                  <a:pt x="3422" y="3630"/>
                  <a:pt x="3422" y="3630"/>
                </a:cubicBezTo>
                <a:cubicBezTo>
                  <a:pt x="3200" y="3408"/>
                  <a:pt x="2889" y="3408"/>
                  <a:pt x="2667" y="3630"/>
                </a:cubicBezTo>
                <a:cubicBezTo>
                  <a:pt x="2578" y="3762"/>
                  <a:pt x="2489" y="3851"/>
                  <a:pt x="2400" y="3984"/>
                </a:cubicBezTo>
                <a:cubicBezTo>
                  <a:pt x="2222" y="4205"/>
                  <a:pt x="2267" y="4515"/>
                  <a:pt x="2489" y="4692"/>
                </a:cubicBezTo>
                <a:cubicBezTo>
                  <a:pt x="2711" y="4825"/>
                  <a:pt x="2711" y="4825"/>
                  <a:pt x="2711" y="4825"/>
                </a:cubicBezTo>
                <a:cubicBezTo>
                  <a:pt x="3022" y="5046"/>
                  <a:pt x="3156" y="5444"/>
                  <a:pt x="3022" y="5798"/>
                </a:cubicBezTo>
                <a:cubicBezTo>
                  <a:pt x="2800" y="6241"/>
                  <a:pt x="2267" y="6374"/>
                  <a:pt x="1867" y="6108"/>
                </a:cubicBezTo>
                <a:cubicBezTo>
                  <a:pt x="1689" y="6020"/>
                  <a:pt x="1689" y="6020"/>
                  <a:pt x="1689" y="6020"/>
                </a:cubicBezTo>
                <a:cubicBezTo>
                  <a:pt x="1422" y="5843"/>
                  <a:pt x="1111" y="5931"/>
                  <a:pt x="978" y="6197"/>
                </a:cubicBezTo>
                <a:cubicBezTo>
                  <a:pt x="933" y="6330"/>
                  <a:pt x="844" y="6462"/>
                  <a:pt x="800" y="6595"/>
                </a:cubicBezTo>
                <a:cubicBezTo>
                  <a:pt x="711" y="6861"/>
                  <a:pt x="844" y="7170"/>
                  <a:pt x="1111" y="7259"/>
                </a:cubicBezTo>
                <a:cubicBezTo>
                  <a:pt x="1378" y="7348"/>
                  <a:pt x="1378" y="7348"/>
                  <a:pt x="1378" y="7348"/>
                </a:cubicBezTo>
                <a:cubicBezTo>
                  <a:pt x="1778" y="7436"/>
                  <a:pt x="2000" y="7879"/>
                  <a:pt x="1867" y="8321"/>
                </a:cubicBezTo>
                <a:cubicBezTo>
                  <a:pt x="2089" y="8631"/>
                  <a:pt x="1778" y="9074"/>
                  <a:pt x="1378" y="8941"/>
                </a:cubicBezTo>
                <a:cubicBezTo>
                  <a:pt x="711" y="8764"/>
                  <a:pt x="711" y="8764"/>
                  <a:pt x="711" y="8764"/>
                </a:cubicBezTo>
                <a:cubicBezTo>
                  <a:pt x="400" y="8675"/>
                  <a:pt x="133" y="8852"/>
                  <a:pt x="89" y="9162"/>
                </a:cubicBezTo>
                <a:cubicBezTo>
                  <a:pt x="44" y="9295"/>
                  <a:pt x="44" y="9428"/>
                  <a:pt x="0" y="9561"/>
                </a:cubicBezTo>
                <a:cubicBezTo>
                  <a:pt x="0" y="9870"/>
                  <a:pt x="222" y="10092"/>
                  <a:pt x="489" y="10136"/>
                </a:cubicBezTo>
                <a:cubicBezTo>
                  <a:pt x="756" y="10136"/>
                  <a:pt x="756" y="10136"/>
                  <a:pt x="756" y="10136"/>
                </a:cubicBezTo>
                <a:cubicBezTo>
                  <a:pt x="1200" y="10136"/>
                  <a:pt x="1556" y="10490"/>
                  <a:pt x="1511" y="10889"/>
                </a:cubicBezTo>
                <a:cubicBezTo>
                  <a:pt x="1511" y="11331"/>
                  <a:pt x="1156" y="11685"/>
                  <a:pt x="756" y="11685"/>
                </a:cubicBezTo>
                <a:cubicBezTo>
                  <a:pt x="533" y="11685"/>
                  <a:pt x="533" y="11685"/>
                  <a:pt x="533" y="11685"/>
                </a:cubicBezTo>
                <a:cubicBezTo>
                  <a:pt x="222" y="11685"/>
                  <a:pt x="0" y="11907"/>
                  <a:pt x="44" y="12216"/>
                </a:cubicBezTo>
                <a:cubicBezTo>
                  <a:pt x="44" y="12349"/>
                  <a:pt x="89" y="12482"/>
                  <a:pt x="89" y="12659"/>
                </a:cubicBezTo>
                <a:cubicBezTo>
                  <a:pt x="178" y="12925"/>
                  <a:pt x="444" y="13102"/>
                  <a:pt x="711" y="13013"/>
                </a:cubicBezTo>
                <a:cubicBezTo>
                  <a:pt x="978" y="12969"/>
                  <a:pt x="978" y="12969"/>
                  <a:pt x="978" y="12969"/>
                </a:cubicBezTo>
                <a:cubicBezTo>
                  <a:pt x="1378" y="12836"/>
                  <a:pt x="1822" y="13102"/>
                  <a:pt x="1956" y="13500"/>
                </a:cubicBezTo>
                <a:cubicBezTo>
                  <a:pt x="1956" y="13500"/>
                  <a:pt x="1956" y="13500"/>
                  <a:pt x="1956" y="13500"/>
                </a:cubicBezTo>
                <a:cubicBezTo>
                  <a:pt x="2044" y="13898"/>
                  <a:pt x="1822" y="14341"/>
                  <a:pt x="1378" y="14474"/>
                </a:cubicBezTo>
                <a:cubicBezTo>
                  <a:pt x="1200" y="14518"/>
                  <a:pt x="1200" y="14518"/>
                  <a:pt x="1200" y="14518"/>
                </a:cubicBezTo>
                <a:cubicBezTo>
                  <a:pt x="889" y="14607"/>
                  <a:pt x="756" y="14916"/>
                  <a:pt x="889" y="15182"/>
                </a:cubicBezTo>
                <a:cubicBezTo>
                  <a:pt x="933" y="15315"/>
                  <a:pt x="1022" y="15448"/>
                  <a:pt x="1067" y="15580"/>
                </a:cubicBezTo>
                <a:cubicBezTo>
                  <a:pt x="1200" y="15846"/>
                  <a:pt x="1511" y="15934"/>
                  <a:pt x="1778" y="15757"/>
                </a:cubicBezTo>
                <a:cubicBezTo>
                  <a:pt x="2000" y="15625"/>
                  <a:pt x="2000" y="15625"/>
                  <a:pt x="2000" y="15625"/>
                </a:cubicBezTo>
                <a:cubicBezTo>
                  <a:pt x="2356" y="15403"/>
                  <a:pt x="2844" y="15492"/>
                  <a:pt x="3067" y="15890"/>
                </a:cubicBezTo>
                <a:cubicBezTo>
                  <a:pt x="3289" y="16244"/>
                  <a:pt x="3156" y="16731"/>
                  <a:pt x="2800" y="16952"/>
                </a:cubicBezTo>
                <a:cubicBezTo>
                  <a:pt x="2622" y="17041"/>
                  <a:pt x="2622" y="17041"/>
                  <a:pt x="2622" y="17041"/>
                </a:cubicBezTo>
                <a:cubicBezTo>
                  <a:pt x="2400" y="17218"/>
                  <a:pt x="2311" y="17572"/>
                  <a:pt x="2533" y="17793"/>
                </a:cubicBezTo>
                <a:cubicBezTo>
                  <a:pt x="2622" y="17882"/>
                  <a:pt x="2711" y="18015"/>
                  <a:pt x="2800" y="18103"/>
                </a:cubicBezTo>
                <a:cubicBezTo>
                  <a:pt x="3022" y="18325"/>
                  <a:pt x="3333" y="18325"/>
                  <a:pt x="3556" y="18103"/>
                </a:cubicBezTo>
                <a:cubicBezTo>
                  <a:pt x="3689" y="17926"/>
                  <a:pt x="3689" y="17926"/>
                  <a:pt x="3689" y="17926"/>
                </a:cubicBezTo>
                <a:cubicBezTo>
                  <a:pt x="3956" y="17616"/>
                  <a:pt x="4356" y="17572"/>
                  <a:pt x="4711" y="17749"/>
                </a:cubicBezTo>
                <a:cubicBezTo>
                  <a:pt x="5111" y="18015"/>
                  <a:pt x="5200" y="18590"/>
                  <a:pt x="4889" y="18944"/>
                </a:cubicBezTo>
                <a:cubicBezTo>
                  <a:pt x="4711" y="19077"/>
                  <a:pt x="4711" y="19077"/>
                  <a:pt x="4711" y="19077"/>
                </a:cubicBezTo>
                <a:cubicBezTo>
                  <a:pt x="4533" y="19298"/>
                  <a:pt x="4578" y="19652"/>
                  <a:pt x="4844" y="19830"/>
                </a:cubicBezTo>
                <a:cubicBezTo>
                  <a:pt x="4933" y="19918"/>
                  <a:pt x="5067" y="19962"/>
                  <a:pt x="5200" y="20051"/>
                </a:cubicBezTo>
                <a:cubicBezTo>
                  <a:pt x="5467" y="20184"/>
                  <a:pt x="5778" y="20095"/>
                  <a:pt x="5911" y="19830"/>
                </a:cubicBezTo>
                <a:cubicBezTo>
                  <a:pt x="6000" y="19608"/>
                  <a:pt x="6000" y="19608"/>
                  <a:pt x="6000" y="19608"/>
                </a:cubicBezTo>
                <a:cubicBezTo>
                  <a:pt x="6178" y="19210"/>
                  <a:pt x="6667" y="19033"/>
                  <a:pt x="7022" y="19210"/>
                </a:cubicBezTo>
                <a:cubicBezTo>
                  <a:pt x="7022" y="19210"/>
                  <a:pt x="7022" y="19210"/>
                  <a:pt x="7022" y="19210"/>
                </a:cubicBezTo>
                <a:cubicBezTo>
                  <a:pt x="7422" y="19431"/>
                  <a:pt x="7600" y="19874"/>
                  <a:pt x="7422" y="20272"/>
                </a:cubicBezTo>
                <a:cubicBezTo>
                  <a:pt x="7333" y="20449"/>
                  <a:pt x="7333" y="20449"/>
                  <a:pt x="7333" y="20449"/>
                </a:cubicBezTo>
                <a:cubicBezTo>
                  <a:pt x="7200" y="20715"/>
                  <a:pt x="7333" y="21025"/>
                  <a:pt x="7644" y="21113"/>
                </a:cubicBezTo>
                <a:cubicBezTo>
                  <a:pt x="7778" y="21157"/>
                  <a:pt x="7911" y="21202"/>
                  <a:pt x="8044" y="21246"/>
                </a:cubicBezTo>
                <a:cubicBezTo>
                  <a:pt x="8311" y="21334"/>
                  <a:pt x="8622" y="21113"/>
                  <a:pt x="8667" y="20848"/>
                </a:cubicBezTo>
                <a:cubicBezTo>
                  <a:pt x="8711" y="20582"/>
                  <a:pt x="8711" y="20582"/>
                  <a:pt x="8711" y="20582"/>
                </a:cubicBezTo>
                <a:cubicBezTo>
                  <a:pt x="8756" y="20184"/>
                  <a:pt x="9156" y="19874"/>
                  <a:pt x="9600" y="19918"/>
                </a:cubicBezTo>
                <a:cubicBezTo>
                  <a:pt x="10000" y="20007"/>
                  <a:pt x="10311" y="20405"/>
                  <a:pt x="10222" y="20803"/>
                </a:cubicBezTo>
                <a:cubicBezTo>
                  <a:pt x="10178" y="21025"/>
                  <a:pt x="10178" y="21025"/>
                  <a:pt x="10178" y="21025"/>
                </a:cubicBezTo>
                <a:cubicBezTo>
                  <a:pt x="10133" y="21334"/>
                  <a:pt x="10356" y="21600"/>
                  <a:pt x="10667" y="21600"/>
                </a:cubicBezTo>
                <a:cubicBezTo>
                  <a:pt x="10800" y="21600"/>
                  <a:pt x="10978" y="21600"/>
                  <a:pt x="11111" y="21600"/>
                </a:cubicBezTo>
                <a:cubicBezTo>
                  <a:pt x="11378" y="21600"/>
                  <a:pt x="11600" y="21334"/>
                  <a:pt x="11600" y="21025"/>
                </a:cubicBezTo>
                <a:cubicBezTo>
                  <a:pt x="11556" y="20759"/>
                  <a:pt x="11556" y="20759"/>
                  <a:pt x="11556" y="20759"/>
                </a:cubicBezTo>
                <a:cubicBezTo>
                  <a:pt x="11467" y="20361"/>
                  <a:pt x="11778" y="19962"/>
                  <a:pt x="12222" y="19918"/>
                </a:cubicBezTo>
                <a:cubicBezTo>
                  <a:pt x="12222" y="19918"/>
                  <a:pt x="12222" y="19918"/>
                  <a:pt x="12222" y="19918"/>
                </a:cubicBezTo>
                <a:cubicBezTo>
                  <a:pt x="12622" y="19874"/>
                  <a:pt x="13022" y="20139"/>
                  <a:pt x="13067" y="20582"/>
                </a:cubicBezTo>
                <a:cubicBezTo>
                  <a:pt x="13111" y="20803"/>
                  <a:pt x="13111" y="20803"/>
                  <a:pt x="13111" y="20803"/>
                </a:cubicBezTo>
                <a:cubicBezTo>
                  <a:pt x="13156" y="21069"/>
                  <a:pt x="13467" y="21290"/>
                  <a:pt x="13733" y="21202"/>
                </a:cubicBezTo>
                <a:cubicBezTo>
                  <a:pt x="13867" y="21157"/>
                  <a:pt x="14000" y="21113"/>
                  <a:pt x="14133" y="21069"/>
                </a:cubicBezTo>
                <a:cubicBezTo>
                  <a:pt x="14444" y="20980"/>
                  <a:pt x="14578" y="20670"/>
                  <a:pt x="14444" y="20405"/>
                </a:cubicBezTo>
                <a:cubicBezTo>
                  <a:pt x="14356" y="20184"/>
                  <a:pt x="14356" y="20184"/>
                  <a:pt x="14356" y="20184"/>
                </a:cubicBezTo>
                <a:cubicBezTo>
                  <a:pt x="14178" y="19785"/>
                  <a:pt x="14356" y="19298"/>
                  <a:pt x="14756" y="19121"/>
                </a:cubicBezTo>
                <a:cubicBezTo>
                  <a:pt x="15111" y="18989"/>
                  <a:pt x="15600" y="19166"/>
                  <a:pt x="15778" y="19520"/>
                </a:cubicBezTo>
                <a:cubicBezTo>
                  <a:pt x="15867" y="19741"/>
                  <a:pt x="15867" y="19741"/>
                  <a:pt x="15867" y="19741"/>
                </a:cubicBezTo>
                <a:cubicBezTo>
                  <a:pt x="15956" y="20007"/>
                  <a:pt x="16311" y="20095"/>
                  <a:pt x="16533" y="19962"/>
                </a:cubicBezTo>
                <a:cubicBezTo>
                  <a:pt x="16533" y="19962"/>
                  <a:pt x="16533" y="19962"/>
                  <a:pt x="16533" y="19962"/>
                </a:cubicBezTo>
                <a:cubicBezTo>
                  <a:pt x="16667" y="19874"/>
                  <a:pt x="16800" y="19785"/>
                  <a:pt x="16933" y="19697"/>
                </a:cubicBezTo>
                <a:cubicBezTo>
                  <a:pt x="17156" y="19564"/>
                  <a:pt x="17200" y="19210"/>
                  <a:pt x="17022" y="18989"/>
                </a:cubicBezTo>
                <a:cubicBezTo>
                  <a:pt x="16844" y="18811"/>
                  <a:pt x="16844" y="18811"/>
                  <a:pt x="16844" y="18811"/>
                </a:cubicBezTo>
                <a:cubicBezTo>
                  <a:pt x="16578" y="18457"/>
                  <a:pt x="16622" y="17970"/>
                  <a:pt x="16933" y="17705"/>
                </a:cubicBezTo>
                <a:cubicBezTo>
                  <a:pt x="17244" y="17439"/>
                  <a:pt x="17733" y="17484"/>
                  <a:pt x="18044" y="17793"/>
                </a:cubicBezTo>
                <a:cubicBezTo>
                  <a:pt x="18178" y="17970"/>
                  <a:pt x="18178" y="17970"/>
                  <a:pt x="18178" y="17970"/>
                </a:cubicBezTo>
                <a:cubicBezTo>
                  <a:pt x="18356" y="18192"/>
                  <a:pt x="18711" y="18192"/>
                  <a:pt x="18889" y="17970"/>
                </a:cubicBezTo>
                <a:cubicBezTo>
                  <a:pt x="19022" y="17838"/>
                  <a:pt x="19111" y="17749"/>
                  <a:pt x="19200" y="17616"/>
                </a:cubicBezTo>
                <a:cubicBezTo>
                  <a:pt x="19378" y="17395"/>
                  <a:pt x="19333" y="17085"/>
                  <a:pt x="19067" y="16908"/>
                </a:cubicBezTo>
                <a:cubicBezTo>
                  <a:pt x="18844" y="16775"/>
                  <a:pt x="18844" y="16775"/>
                  <a:pt x="18844" y="16775"/>
                </a:cubicBezTo>
                <a:cubicBezTo>
                  <a:pt x="18489" y="16554"/>
                  <a:pt x="18400" y="16067"/>
                  <a:pt x="18622" y="15713"/>
                </a:cubicBezTo>
                <a:cubicBezTo>
                  <a:pt x="18889" y="15359"/>
                  <a:pt x="19378" y="15226"/>
                  <a:pt x="19733" y="15492"/>
                </a:cubicBezTo>
                <a:cubicBezTo>
                  <a:pt x="19911" y="15580"/>
                  <a:pt x="19911" y="15580"/>
                  <a:pt x="19911" y="15580"/>
                </a:cubicBezTo>
                <a:cubicBezTo>
                  <a:pt x="20133" y="15757"/>
                  <a:pt x="20489" y="15669"/>
                  <a:pt x="20622" y="15403"/>
                </a:cubicBezTo>
                <a:cubicBezTo>
                  <a:pt x="20667" y="15270"/>
                  <a:pt x="20711" y="15138"/>
                  <a:pt x="20800" y="15005"/>
                </a:cubicBezTo>
                <a:cubicBezTo>
                  <a:pt x="20889" y="14739"/>
                  <a:pt x="20756" y="14430"/>
                  <a:pt x="20489" y="14341"/>
                </a:cubicBezTo>
                <a:cubicBezTo>
                  <a:pt x="20222" y="14252"/>
                  <a:pt x="20222" y="14252"/>
                  <a:pt x="20222" y="14252"/>
                </a:cubicBezTo>
                <a:cubicBezTo>
                  <a:pt x="19822" y="14120"/>
                  <a:pt x="19600" y="13721"/>
                  <a:pt x="19689" y="13279"/>
                </a:cubicBezTo>
                <a:cubicBezTo>
                  <a:pt x="19467" y="12969"/>
                  <a:pt x="19822" y="12526"/>
                  <a:pt x="20222" y="12659"/>
                </a:cubicBezTo>
                <a:cubicBezTo>
                  <a:pt x="20889" y="12836"/>
                  <a:pt x="20889" y="12836"/>
                  <a:pt x="20889" y="12836"/>
                </a:cubicBezTo>
                <a:cubicBezTo>
                  <a:pt x="21156" y="12925"/>
                  <a:pt x="21467" y="12748"/>
                  <a:pt x="21511" y="12438"/>
                </a:cubicBezTo>
                <a:cubicBezTo>
                  <a:pt x="21511" y="12305"/>
                  <a:pt x="21556" y="12172"/>
                  <a:pt x="21556" y="12039"/>
                </a:cubicBezTo>
                <a:cubicBezTo>
                  <a:pt x="21600" y="11730"/>
                  <a:pt x="21378" y="11464"/>
                  <a:pt x="21067" y="11464"/>
                </a:cubicBezTo>
                <a:close/>
                <a:moveTo>
                  <a:pt x="12933" y="4382"/>
                </a:moveTo>
                <a:cubicBezTo>
                  <a:pt x="13022" y="3939"/>
                  <a:pt x="13422" y="3762"/>
                  <a:pt x="13822" y="3939"/>
                </a:cubicBezTo>
                <a:cubicBezTo>
                  <a:pt x="16356" y="5798"/>
                  <a:pt x="16356" y="5798"/>
                  <a:pt x="16356" y="5798"/>
                </a:cubicBezTo>
                <a:cubicBezTo>
                  <a:pt x="16667" y="6108"/>
                  <a:pt x="16622" y="6551"/>
                  <a:pt x="16267" y="6772"/>
                </a:cubicBezTo>
                <a:cubicBezTo>
                  <a:pt x="15956" y="6949"/>
                  <a:pt x="15956" y="6949"/>
                  <a:pt x="15956" y="6949"/>
                </a:cubicBezTo>
                <a:cubicBezTo>
                  <a:pt x="15200" y="5931"/>
                  <a:pt x="14089" y="5134"/>
                  <a:pt x="12844" y="4736"/>
                </a:cubicBezTo>
                <a:lnTo>
                  <a:pt x="12933" y="4382"/>
                </a:lnTo>
                <a:close/>
                <a:moveTo>
                  <a:pt x="8133" y="3807"/>
                </a:moveTo>
                <a:cubicBezTo>
                  <a:pt x="11333" y="3320"/>
                  <a:pt x="11333" y="3320"/>
                  <a:pt x="11333" y="3320"/>
                </a:cubicBezTo>
                <a:cubicBezTo>
                  <a:pt x="11778" y="3364"/>
                  <a:pt x="12044" y="3718"/>
                  <a:pt x="11956" y="4116"/>
                </a:cubicBezTo>
                <a:cubicBezTo>
                  <a:pt x="11867" y="4470"/>
                  <a:pt x="11867" y="4470"/>
                  <a:pt x="11867" y="4470"/>
                </a:cubicBezTo>
                <a:cubicBezTo>
                  <a:pt x="11511" y="4426"/>
                  <a:pt x="11156" y="4382"/>
                  <a:pt x="10800" y="4382"/>
                </a:cubicBezTo>
                <a:cubicBezTo>
                  <a:pt x="9778" y="4382"/>
                  <a:pt x="8844" y="4603"/>
                  <a:pt x="8000" y="5002"/>
                </a:cubicBezTo>
                <a:cubicBezTo>
                  <a:pt x="7822" y="4736"/>
                  <a:pt x="7822" y="4736"/>
                  <a:pt x="7822" y="4736"/>
                </a:cubicBezTo>
                <a:cubicBezTo>
                  <a:pt x="7556" y="4338"/>
                  <a:pt x="7733" y="3939"/>
                  <a:pt x="8133" y="3807"/>
                </a:cubicBezTo>
                <a:close/>
                <a:moveTo>
                  <a:pt x="3956" y="7790"/>
                </a:moveTo>
                <a:cubicBezTo>
                  <a:pt x="5911" y="5134"/>
                  <a:pt x="5911" y="5134"/>
                  <a:pt x="5911" y="5134"/>
                </a:cubicBezTo>
                <a:cubicBezTo>
                  <a:pt x="6222" y="4825"/>
                  <a:pt x="6667" y="4869"/>
                  <a:pt x="6933" y="5223"/>
                </a:cubicBezTo>
                <a:cubicBezTo>
                  <a:pt x="7111" y="5533"/>
                  <a:pt x="7111" y="5533"/>
                  <a:pt x="7111" y="5533"/>
                </a:cubicBezTo>
                <a:cubicBezTo>
                  <a:pt x="6000" y="6330"/>
                  <a:pt x="5156" y="7436"/>
                  <a:pt x="4711" y="8720"/>
                </a:cubicBezTo>
                <a:cubicBezTo>
                  <a:pt x="4356" y="8675"/>
                  <a:pt x="4356" y="8675"/>
                  <a:pt x="4356" y="8675"/>
                </a:cubicBezTo>
                <a:cubicBezTo>
                  <a:pt x="3911" y="8543"/>
                  <a:pt x="3733" y="8144"/>
                  <a:pt x="3956" y="7790"/>
                </a:cubicBezTo>
                <a:close/>
                <a:moveTo>
                  <a:pt x="4800" y="13943"/>
                </a:moveTo>
                <a:cubicBezTo>
                  <a:pt x="4400" y="14164"/>
                  <a:pt x="4000" y="14031"/>
                  <a:pt x="3867" y="13589"/>
                </a:cubicBezTo>
                <a:cubicBezTo>
                  <a:pt x="3333" y="10269"/>
                  <a:pt x="3333" y="10269"/>
                  <a:pt x="3333" y="10269"/>
                </a:cubicBezTo>
                <a:cubicBezTo>
                  <a:pt x="3333" y="9826"/>
                  <a:pt x="3689" y="9561"/>
                  <a:pt x="4089" y="9649"/>
                </a:cubicBezTo>
                <a:cubicBezTo>
                  <a:pt x="4444" y="9738"/>
                  <a:pt x="4444" y="9738"/>
                  <a:pt x="4444" y="9738"/>
                </a:cubicBezTo>
                <a:cubicBezTo>
                  <a:pt x="4400" y="10092"/>
                  <a:pt x="4356" y="10446"/>
                  <a:pt x="4356" y="10800"/>
                </a:cubicBezTo>
                <a:cubicBezTo>
                  <a:pt x="4356" y="11862"/>
                  <a:pt x="4622" y="12880"/>
                  <a:pt x="5067" y="13766"/>
                </a:cubicBezTo>
                <a:lnTo>
                  <a:pt x="4800" y="13943"/>
                </a:lnTo>
                <a:close/>
                <a:moveTo>
                  <a:pt x="8000" y="17749"/>
                </a:moveTo>
                <a:cubicBezTo>
                  <a:pt x="5244" y="15802"/>
                  <a:pt x="5244" y="15802"/>
                  <a:pt x="5244" y="15802"/>
                </a:cubicBezTo>
                <a:cubicBezTo>
                  <a:pt x="4933" y="15492"/>
                  <a:pt x="4978" y="15049"/>
                  <a:pt x="5333" y="14828"/>
                </a:cubicBezTo>
                <a:cubicBezTo>
                  <a:pt x="5644" y="14651"/>
                  <a:pt x="5644" y="14651"/>
                  <a:pt x="5644" y="14651"/>
                </a:cubicBezTo>
                <a:cubicBezTo>
                  <a:pt x="6444" y="15713"/>
                  <a:pt x="7644" y="16554"/>
                  <a:pt x="8978" y="16952"/>
                </a:cubicBezTo>
                <a:cubicBezTo>
                  <a:pt x="8933" y="17307"/>
                  <a:pt x="8933" y="17307"/>
                  <a:pt x="8933" y="17307"/>
                </a:cubicBezTo>
                <a:cubicBezTo>
                  <a:pt x="8800" y="17705"/>
                  <a:pt x="8400" y="17926"/>
                  <a:pt x="8000" y="17749"/>
                </a:cubicBezTo>
                <a:close/>
                <a:moveTo>
                  <a:pt x="13822" y="17616"/>
                </a:moveTo>
                <a:cubicBezTo>
                  <a:pt x="10533" y="18280"/>
                  <a:pt x="10533" y="18280"/>
                  <a:pt x="10533" y="18280"/>
                </a:cubicBezTo>
                <a:cubicBezTo>
                  <a:pt x="10089" y="18280"/>
                  <a:pt x="9822" y="17926"/>
                  <a:pt x="9911" y="17484"/>
                </a:cubicBezTo>
                <a:cubicBezTo>
                  <a:pt x="10000" y="17174"/>
                  <a:pt x="10000" y="17174"/>
                  <a:pt x="10000" y="17174"/>
                </a:cubicBezTo>
                <a:cubicBezTo>
                  <a:pt x="10267" y="17174"/>
                  <a:pt x="10533" y="17218"/>
                  <a:pt x="10800" y="17218"/>
                </a:cubicBezTo>
                <a:cubicBezTo>
                  <a:pt x="11956" y="17218"/>
                  <a:pt x="13022" y="16908"/>
                  <a:pt x="13956" y="16377"/>
                </a:cubicBezTo>
                <a:cubicBezTo>
                  <a:pt x="14133" y="16687"/>
                  <a:pt x="14133" y="16687"/>
                  <a:pt x="14133" y="16687"/>
                </a:cubicBezTo>
                <a:cubicBezTo>
                  <a:pt x="14356" y="17041"/>
                  <a:pt x="14222" y="17484"/>
                  <a:pt x="13822" y="17616"/>
                </a:cubicBezTo>
                <a:close/>
                <a:moveTo>
                  <a:pt x="17778" y="13589"/>
                </a:moveTo>
                <a:cubicBezTo>
                  <a:pt x="15956" y="16200"/>
                  <a:pt x="15956" y="16200"/>
                  <a:pt x="15956" y="16200"/>
                </a:cubicBezTo>
                <a:cubicBezTo>
                  <a:pt x="15644" y="16510"/>
                  <a:pt x="15244" y="16510"/>
                  <a:pt x="14978" y="16111"/>
                </a:cubicBezTo>
                <a:cubicBezTo>
                  <a:pt x="14800" y="15802"/>
                  <a:pt x="14800" y="15802"/>
                  <a:pt x="14800" y="15802"/>
                </a:cubicBezTo>
                <a:cubicBezTo>
                  <a:pt x="15822" y="15005"/>
                  <a:pt x="16578" y="13898"/>
                  <a:pt x="16978" y="12570"/>
                </a:cubicBezTo>
                <a:cubicBezTo>
                  <a:pt x="17333" y="12659"/>
                  <a:pt x="17333" y="12659"/>
                  <a:pt x="17333" y="12659"/>
                </a:cubicBezTo>
                <a:cubicBezTo>
                  <a:pt x="17733" y="12748"/>
                  <a:pt x="17956" y="13190"/>
                  <a:pt x="17778" y="13589"/>
                </a:cubicBezTo>
                <a:close/>
                <a:moveTo>
                  <a:pt x="17556" y="11685"/>
                </a:moveTo>
                <a:cubicBezTo>
                  <a:pt x="17200" y="11597"/>
                  <a:pt x="17200" y="11597"/>
                  <a:pt x="17200" y="11597"/>
                </a:cubicBezTo>
                <a:cubicBezTo>
                  <a:pt x="17200" y="11331"/>
                  <a:pt x="17244" y="11066"/>
                  <a:pt x="17244" y="10800"/>
                </a:cubicBezTo>
                <a:cubicBezTo>
                  <a:pt x="17244" y="9738"/>
                  <a:pt x="16978" y="8720"/>
                  <a:pt x="16489" y="7834"/>
                </a:cubicBezTo>
                <a:cubicBezTo>
                  <a:pt x="16800" y="7657"/>
                  <a:pt x="16800" y="7657"/>
                  <a:pt x="16800" y="7657"/>
                </a:cubicBezTo>
                <a:cubicBezTo>
                  <a:pt x="17200" y="7392"/>
                  <a:pt x="17600" y="7569"/>
                  <a:pt x="17733" y="7967"/>
                </a:cubicBezTo>
                <a:cubicBezTo>
                  <a:pt x="18311" y="11066"/>
                  <a:pt x="18311" y="11066"/>
                  <a:pt x="18311" y="11066"/>
                </a:cubicBezTo>
                <a:cubicBezTo>
                  <a:pt x="18311" y="11464"/>
                  <a:pt x="17956" y="11774"/>
                  <a:pt x="17556" y="11685"/>
                </a:cubicBezTo>
                <a:close/>
              </a:path>
            </a:pathLst>
          </a:custGeom>
          <a:solidFill>
            <a:srgbClr val="0065B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53" name="形状"/>
          <p:cNvSpPr/>
          <p:nvPr>
            <p:custDataLst>
              <p:tags r:id="rId8"/>
            </p:custDataLst>
          </p:nvPr>
        </p:nvSpPr>
        <p:spPr>
          <a:xfrm>
            <a:off x="3111042" y="2533554"/>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558ED5"/>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54" name="形状"/>
          <p:cNvSpPr/>
          <p:nvPr>
            <p:custDataLst>
              <p:tags r:id="rId9"/>
            </p:custDataLst>
          </p:nvPr>
        </p:nvSpPr>
        <p:spPr>
          <a:xfrm>
            <a:off x="5766953" y="2527136"/>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558ED5"/>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56" name="文本框 55"/>
          <p:cNvSpPr txBox="1"/>
          <p:nvPr>
            <p:custDataLst>
              <p:tags r:id="rId10"/>
            </p:custDataLst>
          </p:nvPr>
        </p:nvSpPr>
        <p:spPr>
          <a:xfrm>
            <a:off x="899593" y="3932217"/>
            <a:ext cx="2262006" cy="956018"/>
          </a:xfrm>
          <a:prstGeom prst="rect">
            <a:avLst/>
          </a:prstGeom>
          <a:noFill/>
        </p:spPr>
        <p:txBody>
          <a:bodyPr wrap="square" tIns="0" rtlCol="0" anchor="t" anchorCtr="0">
            <a:noAutofit/>
          </a:bodyPr>
          <a:lstStyle>
            <a:defPPr>
              <a:defRPr lang="en-US"/>
            </a:defPPr>
            <a:lvl1pPr algn="r">
              <a:lnSpc>
                <a:spcPct val="130000"/>
              </a:lnSpc>
              <a:defRPr kumimoji="1" sz="1400">
                <a:solidFill>
                  <a:srgbClr val="222222">
                    <a:lumMod val="75000"/>
                    <a:lumOff val="25000"/>
                  </a:srgbClr>
                </a:solidFill>
                <a:latin typeface="微软雅黑" panose="020B0503020204020204" charset="-122"/>
              </a:defRPr>
            </a:lvl1pPr>
          </a:lstStyle>
          <a:p>
            <a:pPr lvl="0" algn="ctr" defTabSz="457200">
              <a:defRPr/>
            </a:pPr>
            <a:r>
              <a:rPr lang="zh-CN" altLang="en-US" sz="1000" spc="150" dirty="0">
                <a:solidFill>
                  <a:srgbClr val="222222">
                    <a:lumMod val="90000"/>
                    <a:lumOff val="10000"/>
                  </a:srgbClr>
                </a:solidFill>
                <a:ea typeface="微软雅黑" panose="020B0503020204020204" charset="-122"/>
                <a:cs typeface="微软雅黑" panose="020B0503020204020204" charset="-122"/>
                <a:sym typeface="Arial" panose="020B0604020202020204" pitchFamily="34" charset="0"/>
              </a:rPr>
              <a:t>雅可比矩阵的矢量积求法由</a:t>
            </a:r>
            <a:r>
              <a:rPr lang="en-US" altLang="zh-CN" sz="1000" spc="150" dirty="0">
                <a:solidFill>
                  <a:srgbClr val="222222">
                    <a:lumMod val="90000"/>
                    <a:lumOff val="10000"/>
                  </a:srgbClr>
                </a:solidFill>
                <a:ea typeface="微软雅黑" panose="020B0503020204020204" charset="-122"/>
                <a:cs typeface="微软雅黑" panose="020B0503020204020204" charset="-122"/>
                <a:sym typeface="Arial" panose="020B0604020202020204" pitchFamily="34" charset="0"/>
              </a:rPr>
              <a:t>Whitney</a:t>
            </a:r>
            <a:r>
              <a:rPr lang="zh-CN" altLang="en-US" sz="1000" spc="150" dirty="0">
                <a:solidFill>
                  <a:srgbClr val="222222">
                    <a:lumMod val="90000"/>
                    <a:lumOff val="10000"/>
                  </a:srgbClr>
                </a:solidFill>
                <a:ea typeface="微软雅黑" panose="020B0503020204020204" charset="-122"/>
                <a:cs typeface="微软雅黑" panose="020B0503020204020204" charset="-122"/>
                <a:sym typeface="Arial" panose="020B0604020202020204" pitchFamily="34" charset="0"/>
              </a:rPr>
              <a:t>于</a:t>
            </a:r>
            <a:r>
              <a:rPr lang="en-US" altLang="zh-CN" sz="1000" spc="150" dirty="0">
                <a:solidFill>
                  <a:srgbClr val="222222">
                    <a:lumMod val="90000"/>
                    <a:lumOff val="10000"/>
                  </a:srgbClr>
                </a:solidFill>
                <a:ea typeface="微软雅黑" panose="020B0503020204020204" charset="-122"/>
                <a:cs typeface="微软雅黑" panose="020B0503020204020204" charset="-122"/>
                <a:sym typeface="Arial" panose="020B0604020202020204" pitchFamily="34" charset="0"/>
              </a:rPr>
              <a:t>1972</a:t>
            </a:r>
            <a:r>
              <a:rPr lang="zh-CN" altLang="en-US" sz="1000" spc="150" dirty="0">
                <a:solidFill>
                  <a:srgbClr val="222222">
                    <a:lumMod val="90000"/>
                    <a:lumOff val="10000"/>
                  </a:srgbClr>
                </a:solidFill>
                <a:ea typeface="微软雅黑" panose="020B0503020204020204" charset="-122"/>
                <a:cs typeface="微软雅黑" panose="020B0503020204020204" charset="-122"/>
                <a:sym typeface="Arial" panose="020B0604020202020204" pitchFamily="34" charset="0"/>
              </a:rPr>
              <a:t>年提出，采用机器人末端的线速度</a:t>
            </a:r>
            <a:r>
              <a:rPr lang="en-US" altLang="zh-CN" sz="1000" spc="150" dirty="0">
                <a:solidFill>
                  <a:srgbClr val="222222">
                    <a:lumMod val="90000"/>
                    <a:lumOff val="10000"/>
                  </a:srgbClr>
                </a:solidFill>
                <a:ea typeface="微软雅黑" panose="020B0503020204020204" charset="-122"/>
                <a:cs typeface="微软雅黑" panose="020B0503020204020204" charset="-122"/>
                <a:sym typeface="Arial" panose="020B0604020202020204" pitchFamily="34" charset="0"/>
              </a:rPr>
              <a:t>v</a:t>
            </a:r>
            <a:r>
              <a:rPr lang="zh-CN" altLang="en-US" sz="1000" spc="150" dirty="0">
                <a:solidFill>
                  <a:srgbClr val="222222">
                    <a:lumMod val="90000"/>
                    <a:lumOff val="10000"/>
                  </a:srgbClr>
                </a:solidFill>
                <a:ea typeface="微软雅黑" panose="020B0503020204020204" charset="-122"/>
                <a:cs typeface="微软雅黑" panose="020B0503020204020204" charset="-122"/>
                <a:sym typeface="Arial" panose="020B0604020202020204" pitchFamily="34" charset="0"/>
              </a:rPr>
              <a:t>和角速度</a:t>
            </a:r>
            <a:r>
              <a:rPr lang="en-US" altLang="zh-CN" sz="1000" spc="150" dirty="0">
                <a:solidFill>
                  <a:srgbClr val="222222">
                    <a:lumMod val="90000"/>
                    <a:lumOff val="10000"/>
                  </a:srgbClr>
                </a:solidFill>
                <a:ea typeface="微软雅黑" panose="020B0503020204020204" charset="-122"/>
                <a:cs typeface="微软雅黑" panose="020B0503020204020204" charset="-122"/>
                <a:sym typeface="Arial" panose="020B0604020202020204" pitchFamily="34" charset="0"/>
              </a:rPr>
              <a:t>ω</a:t>
            </a:r>
            <a:r>
              <a:rPr lang="zh-CN" altLang="en-US" sz="1000" spc="150" dirty="0">
                <a:solidFill>
                  <a:srgbClr val="222222">
                    <a:lumMod val="90000"/>
                    <a:lumOff val="10000"/>
                  </a:srgbClr>
                </a:solidFill>
                <a:ea typeface="微软雅黑" panose="020B0503020204020204" charset="-122"/>
                <a:cs typeface="微软雅黑" panose="020B0503020204020204" charset="-122"/>
                <a:sym typeface="Arial" panose="020B0604020202020204" pitchFamily="34" charset="0"/>
              </a:rPr>
              <a:t>，定义了旋转关节和移动关节的雅可比矩阵对应列的求法。</a:t>
            </a:r>
          </a:p>
        </p:txBody>
      </p:sp>
      <p:sp>
        <p:nvSpPr>
          <p:cNvPr id="57" name="矩形 56"/>
          <p:cNvSpPr/>
          <p:nvPr>
            <p:custDataLst>
              <p:tags r:id="rId11"/>
            </p:custDataLst>
          </p:nvPr>
        </p:nvSpPr>
        <p:spPr>
          <a:xfrm>
            <a:off x="1311603" y="3651870"/>
            <a:ext cx="1242000" cy="322396"/>
          </a:xfrm>
          <a:prstGeom prst="rect">
            <a:avLst/>
          </a:prstGeom>
        </p:spPr>
        <p:txBody>
          <a:bodyPr wrap="square" bIns="0" anchor="ctr" anchorCtr="0">
            <a:normAutofit fontScale="85000" lnSpcReduction="10000"/>
          </a:bodyPr>
          <a:lstStyle/>
          <a:p>
            <a:pPr lvl="0" algn="ctr" defTabSz="457200">
              <a:lnSpc>
                <a:spcPct val="120000"/>
              </a:lnSpc>
              <a:defRPr/>
            </a:pPr>
            <a:r>
              <a:rPr lang="zh-CN" altLang="en-US" sz="1500" b="1" spc="300"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矢量积求法</a:t>
            </a:r>
            <a:endParaRPr kumimoji="0" lang="zh-CN" altLang="en-US" sz="1500" b="1" i="0" u="none" strike="noStrike" kern="1200" cap="none" spc="300" normalizeH="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60" name="文本框 59"/>
          <p:cNvSpPr txBox="1"/>
          <p:nvPr>
            <p:custDataLst>
              <p:tags r:id="rId12"/>
            </p:custDataLst>
          </p:nvPr>
        </p:nvSpPr>
        <p:spPr>
          <a:xfrm>
            <a:off x="3951000" y="4060456"/>
            <a:ext cx="1242000" cy="956018"/>
          </a:xfrm>
          <a:prstGeom prst="rect">
            <a:avLst/>
          </a:prstGeom>
          <a:noFill/>
        </p:spPr>
        <p:txBody>
          <a:bodyPr wrap="square" tIns="0" rtlCol="0" anchor="t" anchorCtr="0">
            <a:normAutofit fontScale="92500" lnSpcReduction="20000"/>
          </a:bodyPr>
          <a:lstStyle>
            <a:defPPr>
              <a:defRPr lang="en-US"/>
            </a:defPPr>
            <a:lvl1pPr algn="r">
              <a:lnSpc>
                <a:spcPct val="130000"/>
              </a:lnSpc>
              <a:defRPr kumimoji="1" sz="1400">
                <a:solidFill>
                  <a:srgbClr val="222222">
                    <a:lumMod val="75000"/>
                    <a:lumOff val="25000"/>
                  </a:srgbClr>
                </a:solidFill>
                <a:latin typeface="微软雅黑" panose="020B0503020204020204" charset="-122"/>
              </a:defRPr>
            </a:lvl1pPr>
          </a:lstStyle>
          <a:p>
            <a:pPr lvl="0" algn="ctr" defTabSz="457200">
              <a:defRPr/>
            </a:pPr>
            <a:r>
              <a:rPr lang="zh-CN" altLang="en-US" sz="1050" spc="150" dirty="0">
                <a:solidFill>
                  <a:srgbClr val="222222">
                    <a:lumMod val="90000"/>
                    <a:lumOff val="10000"/>
                  </a:srgbClr>
                </a:solidFill>
                <a:ea typeface="微软雅黑" panose="020B0503020204020204" charset="-122"/>
                <a:cs typeface="微软雅黑" panose="020B0503020204020204" charset="-122"/>
                <a:sym typeface="Arial" panose="020B0604020202020204" pitchFamily="34" charset="0"/>
              </a:rPr>
              <a:t>采用微分运动的概念，分析坐标系微分运动关系，推导雅可比矩阵的微分变换求解。</a:t>
            </a:r>
          </a:p>
        </p:txBody>
      </p:sp>
      <p:sp>
        <p:nvSpPr>
          <p:cNvPr id="61" name="矩形 60"/>
          <p:cNvSpPr/>
          <p:nvPr>
            <p:custDataLst>
              <p:tags r:id="rId13"/>
            </p:custDataLst>
          </p:nvPr>
        </p:nvSpPr>
        <p:spPr>
          <a:xfrm>
            <a:off x="3800994" y="3662504"/>
            <a:ext cx="1545894" cy="322396"/>
          </a:xfrm>
          <a:prstGeom prst="rect">
            <a:avLst/>
          </a:prstGeom>
        </p:spPr>
        <p:txBody>
          <a:bodyPr wrap="square" bIns="0" anchor="ctr" anchorCtr="0">
            <a:noAutofit/>
          </a:bodyPr>
          <a:lstStyle/>
          <a:p>
            <a:pPr lvl="0" algn="ctr" defTabSz="457200">
              <a:lnSpc>
                <a:spcPct val="120000"/>
              </a:lnSpc>
              <a:defRPr/>
            </a:pPr>
            <a:r>
              <a:rPr lang="zh-CN" altLang="en-US" sz="1300" b="1" spc="300"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微分变换求法</a:t>
            </a:r>
            <a:endParaRPr kumimoji="0" lang="zh-CN" altLang="en-US" sz="1300" b="1" i="0" u="none" strike="noStrike" kern="1200" cap="none" spc="300" normalizeH="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mc:AlternateContent xmlns:mc="http://schemas.openxmlformats.org/markup-compatibility/2006" xmlns:a14="http://schemas.microsoft.com/office/drawing/2010/main">
        <mc:Choice Requires="a14">
          <p:sp>
            <p:nvSpPr>
              <p:cNvPr id="64" name="文本框 63"/>
              <p:cNvSpPr txBox="1"/>
              <p:nvPr>
                <p:custDataLst>
                  <p:tags r:id="rId14"/>
                </p:custDataLst>
              </p:nvPr>
            </p:nvSpPr>
            <p:spPr>
              <a:xfrm>
                <a:off x="6228185" y="4060456"/>
                <a:ext cx="2082984" cy="956018"/>
              </a:xfrm>
              <a:prstGeom prst="rect">
                <a:avLst/>
              </a:prstGeom>
              <a:noFill/>
            </p:spPr>
            <p:txBody>
              <a:bodyPr wrap="square" tIns="0" rtlCol="0" anchor="t" anchorCtr="0">
                <a:normAutofit fontScale="92500" lnSpcReduction="20000"/>
              </a:bodyPr>
              <a:lstStyle>
                <a:defPPr>
                  <a:defRPr lang="en-US"/>
                </a:defPPr>
                <a:lvl1pPr algn="r">
                  <a:lnSpc>
                    <a:spcPct val="130000"/>
                  </a:lnSpc>
                  <a:defRPr kumimoji="1" sz="1400">
                    <a:solidFill>
                      <a:srgbClr val="222222">
                        <a:lumMod val="75000"/>
                        <a:lumOff val="25000"/>
                      </a:srgbClr>
                    </a:solidFill>
                    <a:latin typeface="微软雅黑" panose="020B0503020204020204" charset="-122"/>
                  </a:defRPr>
                </a:lvl1pPr>
              </a:lstStyle>
              <a:p>
                <a:pPr lvl="0" algn="ctr" defTabSz="457200">
                  <a:defRPr/>
                </a:pPr>
                <a:r>
                  <a:rPr lang="zh-CN" altLang="en-US" sz="1050" spc="150" dirty="0">
                    <a:solidFill>
                      <a:srgbClr val="222222">
                        <a:lumMod val="90000"/>
                        <a:lumOff val="10000"/>
                      </a:srgbClr>
                    </a:solidFill>
                    <a:ea typeface="微软雅黑" panose="020B0503020204020204" charset="-122"/>
                    <a:cs typeface="微软雅黑" panose="020B0503020204020204" charset="-122"/>
                    <a:sym typeface="Arial" panose="020B0604020202020204" pitchFamily="34" charset="0"/>
                  </a:rPr>
                  <a:t>根据</a:t>
                </a:r>
                <a:r>
                  <a:rPr lang="en-US" altLang="zh-CN" sz="1050" spc="150" dirty="0">
                    <a:solidFill>
                      <a:srgbClr val="222222">
                        <a:lumMod val="90000"/>
                        <a:lumOff val="10000"/>
                      </a:srgbClr>
                    </a:solidFill>
                    <a:ea typeface="微软雅黑" panose="020B0503020204020204" charset="-122"/>
                    <a:cs typeface="微软雅黑" panose="020B0503020204020204" charset="-122"/>
                    <a:sym typeface="Arial" panose="020B0604020202020204" pitchFamily="34" charset="0"/>
                  </a:rPr>
                  <a:t>n</a:t>
                </a:r>
                <a:r>
                  <a:rPr lang="zh-CN" altLang="en-US" sz="1050" spc="150" dirty="0">
                    <a:solidFill>
                      <a:srgbClr val="222222">
                        <a:lumMod val="90000"/>
                        <a:lumOff val="10000"/>
                      </a:srgbClr>
                    </a:solidFill>
                    <a:ea typeface="微软雅黑" panose="020B0503020204020204" charset="-122"/>
                    <a:cs typeface="微软雅黑" panose="020B0503020204020204" charset="-122"/>
                    <a:sym typeface="Arial" panose="020B0604020202020204" pitchFamily="34" charset="0"/>
                  </a:rPr>
                  <a:t>连杆串联机器人正运动学指数积公式，推导机器人关节速度</a:t>
                </a:r>
                <a14:m>
                  <m:oMath xmlns:m="http://schemas.openxmlformats.org/officeDocument/2006/math">
                    <m:acc>
                      <m:accPr>
                        <m:chr m:val="̇"/>
                        <m:ctrlPr>
                          <a:rPr lang="zh-CN" altLang="zh-CN" sz="1100" i="1">
                            <a:latin typeface="Cambria Math" panose="02040503050406030204" pitchFamily="18" charset="0"/>
                          </a:rPr>
                        </m:ctrlPr>
                      </m:accPr>
                      <m:e>
                        <m:r>
                          <a:rPr lang="en-US" altLang="zh-CN" sz="1100" i="1">
                            <a:latin typeface="Cambria Math" panose="02040503050406030204" pitchFamily="18" charset="0"/>
                          </a:rPr>
                          <m:t>𝜃</m:t>
                        </m:r>
                      </m:e>
                    </m:acc>
                  </m:oMath>
                </a14:m>
                <a:r>
                  <a:rPr lang="en-US" altLang="zh-CN" sz="1100" spc="150" dirty="0">
                    <a:solidFill>
                      <a:srgbClr val="222222">
                        <a:lumMod val="90000"/>
                        <a:lumOff val="10000"/>
                      </a:srgbClr>
                    </a:solidFill>
                    <a:ea typeface="微软雅黑" panose="020B0503020204020204" charset="-122"/>
                    <a:cs typeface="微软雅黑" panose="020B0503020204020204" charset="-122"/>
                    <a:sym typeface="Arial" panose="020B0604020202020204" pitchFamily="34" charset="0"/>
                  </a:rPr>
                  <a:t>̇</a:t>
                </a:r>
                <a:r>
                  <a:rPr lang="zh-CN" altLang="en-US" sz="1050" spc="150" dirty="0">
                    <a:solidFill>
                      <a:srgbClr val="222222">
                        <a:lumMod val="90000"/>
                        <a:lumOff val="10000"/>
                      </a:srgbClr>
                    </a:solidFill>
                    <a:ea typeface="微软雅黑" panose="020B0503020204020204" charset="-122"/>
                    <a:cs typeface="微软雅黑" panose="020B0503020204020204" charset="-122"/>
                    <a:sym typeface="Arial" panose="020B0604020202020204" pitchFamily="34" charset="0"/>
                  </a:rPr>
                  <a:t>与末端执行器的空间速度</a:t>
                </a:r>
                <a14:m>
                  <m:oMath xmlns:m="http://schemas.openxmlformats.org/officeDocument/2006/math">
                    <m:sSub>
                      <m:sSubPr>
                        <m:ctrlPr>
                          <a:rPr lang="zh-CN" altLang="zh-CN" sz="1100" i="1">
                            <a:latin typeface="Cambria Math" panose="02040503050406030204" pitchFamily="18" charset="0"/>
                          </a:rPr>
                        </m:ctrlPr>
                      </m:sSubPr>
                      <m:e>
                        <m:r>
                          <a:rPr lang="en-US" altLang="zh-CN" sz="1100" i="1">
                            <a:latin typeface="Cambria Math" panose="02040503050406030204" pitchFamily="18" charset="0"/>
                          </a:rPr>
                          <m:t>𝜈</m:t>
                        </m:r>
                      </m:e>
                      <m:sub>
                        <m:r>
                          <a:rPr lang="en-US" altLang="zh-CN" sz="1100" i="1">
                            <a:latin typeface="Cambria Math" panose="02040503050406030204" pitchFamily="18" charset="0"/>
                          </a:rPr>
                          <m:t>𝑠</m:t>
                        </m:r>
                      </m:sub>
                    </m:sSub>
                  </m:oMath>
                </a14:m>
                <a:r>
                  <a:rPr lang="zh-CN" altLang="en-US" sz="1050" spc="150" dirty="0">
                    <a:solidFill>
                      <a:srgbClr val="222222">
                        <a:lumMod val="90000"/>
                        <a:lumOff val="10000"/>
                      </a:srgbClr>
                    </a:solidFill>
                    <a:ea typeface="微软雅黑" panose="020B0503020204020204" charset="-122"/>
                    <a:cs typeface="微软雅黑" panose="020B0503020204020204" charset="-122"/>
                    <a:sym typeface="Arial" panose="020B0604020202020204" pitchFamily="34" charset="0"/>
                  </a:rPr>
                  <a:t>之间的关系，利用旋量法求得雅可比矩阵。</a:t>
                </a:r>
              </a:p>
            </p:txBody>
          </p:sp>
        </mc:Choice>
        <mc:Fallback xmlns="">
          <p:sp>
            <p:nvSpPr>
              <p:cNvPr id="64" name="文本框 63"/>
              <p:cNvSpPr txBox="1">
                <a:spLocks noRot="1" noChangeAspect="1" noMove="1" noResize="1" noEditPoints="1" noAdjustHandles="1" noChangeArrowheads="1" noChangeShapeType="1" noTextEdit="1"/>
              </p:cNvSpPr>
              <p:nvPr>
                <p:custDataLst>
                  <p:tags r:id="rId20"/>
                </p:custDataLst>
              </p:nvPr>
            </p:nvSpPr>
            <p:spPr>
              <a:xfrm>
                <a:off x="6228185" y="4060456"/>
                <a:ext cx="2082984" cy="956018"/>
              </a:xfrm>
              <a:prstGeom prst="rect">
                <a:avLst/>
              </a:prstGeom>
              <a:blipFill>
                <a:blip r:embed="rId21"/>
                <a:stretch>
                  <a:fillRect t="-3822"/>
                </a:stretch>
              </a:blipFill>
            </p:spPr>
            <p:txBody>
              <a:bodyPr/>
              <a:lstStyle/>
              <a:p>
                <a:r>
                  <a:rPr lang="zh-CN" altLang="en-US">
                    <a:noFill/>
                  </a:rPr>
                  <a:t> </a:t>
                </a:r>
              </a:p>
            </p:txBody>
          </p:sp>
        </mc:Fallback>
      </mc:AlternateContent>
      <p:sp>
        <p:nvSpPr>
          <p:cNvPr id="65" name="矩形 64"/>
          <p:cNvSpPr/>
          <p:nvPr>
            <p:custDataLst>
              <p:tags r:id="rId15"/>
            </p:custDataLst>
          </p:nvPr>
        </p:nvSpPr>
        <p:spPr>
          <a:xfrm>
            <a:off x="6756689" y="3707917"/>
            <a:ext cx="1242000" cy="322396"/>
          </a:xfrm>
          <a:prstGeom prst="rect">
            <a:avLst/>
          </a:prstGeom>
        </p:spPr>
        <p:txBody>
          <a:bodyPr wrap="square" bIns="0" anchor="ctr" anchorCtr="0">
            <a:normAutofit fontScale="85000" lnSpcReduction="10000"/>
          </a:bodyPr>
          <a:lstStyle/>
          <a:p>
            <a:pPr lvl="0" algn="ctr" defTabSz="457200">
              <a:lnSpc>
                <a:spcPct val="120000"/>
              </a:lnSpc>
              <a:defRPr/>
            </a:pPr>
            <a:r>
              <a:rPr lang="zh-CN" altLang="en-US" sz="1500" b="1" spc="300"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指数积求法</a:t>
            </a:r>
            <a:endParaRPr kumimoji="0" lang="zh-CN" altLang="en-US" sz="1500" b="1" i="0" u="none" strike="noStrike" kern="1200" cap="none" spc="300" normalizeH="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pic>
        <p:nvPicPr>
          <p:cNvPr id="2" name="图片 1"/>
          <p:cNvPicPr>
            <a:picLocks noChangeAspect="1"/>
          </p:cNvPicPr>
          <p:nvPr/>
        </p:nvPicPr>
        <p:blipFill>
          <a:blip r:embed="rId22"/>
          <a:stretch>
            <a:fillRect/>
          </a:stretch>
        </p:blipFill>
        <p:spPr>
          <a:xfrm>
            <a:off x="1631225" y="2413881"/>
            <a:ext cx="709655" cy="643456"/>
          </a:xfrm>
          <a:prstGeom prst="rect">
            <a:avLst/>
          </a:prstGeom>
        </p:spPr>
      </p:pic>
      <p:pic>
        <p:nvPicPr>
          <p:cNvPr id="6" name="图片 5"/>
          <p:cNvPicPr>
            <a:picLocks noChangeAspect="1"/>
          </p:cNvPicPr>
          <p:nvPr/>
        </p:nvPicPr>
        <p:blipFill>
          <a:blip r:embed="rId23"/>
          <a:stretch>
            <a:fillRect/>
          </a:stretch>
        </p:blipFill>
        <p:spPr>
          <a:xfrm>
            <a:off x="4191681" y="2432459"/>
            <a:ext cx="725759" cy="643456"/>
          </a:xfrm>
          <a:prstGeom prst="rect">
            <a:avLst/>
          </a:prstGeom>
        </p:spPr>
      </p:pic>
      <p:pic>
        <p:nvPicPr>
          <p:cNvPr id="7" name="图片 6"/>
          <p:cNvPicPr>
            <a:picLocks noChangeAspect="1"/>
          </p:cNvPicPr>
          <p:nvPr/>
        </p:nvPicPr>
        <p:blipFill rotWithShape="1">
          <a:blip r:embed="rId24"/>
          <a:srcRect t="1281" r="57658" b="29840"/>
          <a:stretch/>
        </p:blipFill>
        <p:spPr>
          <a:xfrm>
            <a:off x="7000141" y="2375333"/>
            <a:ext cx="740283" cy="698472"/>
          </a:xfrm>
          <a:prstGeom prst="rect">
            <a:avLst/>
          </a:prstGeom>
        </p:spPr>
      </p:pic>
      <mc:AlternateContent xmlns:mc="http://schemas.openxmlformats.org/markup-compatibility/2006" xmlns:a14="http://schemas.microsoft.com/office/drawing/2010/main">
        <mc:Choice Requires="a14">
          <p:sp>
            <p:nvSpPr>
              <p:cNvPr id="16" name="矩形 15"/>
              <p:cNvSpPr/>
              <p:nvPr/>
            </p:nvSpPr>
            <p:spPr>
              <a:xfrm>
                <a:off x="2442943" y="3500308"/>
                <a:ext cx="40697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𝐽</m:t>
                          </m:r>
                        </m:e>
                        <m:sub>
                          <m:r>
                            <a:rPr lang="zh-CN" altLang="en-US" i="1">
                              <a:solidFill>
                                <a:srgbClr val="FF0000"/>
                              </a:solidFill>
                              <a:latin typeface="Cambria Math" panose="02040503050406030204" pitchFamily="18" charset="0"/>
                            </a:rPr>
                            <m:t>𝑠</m:t>
                          </m:r>
                        </m:sub>
                      </m:sSub>
                    </m:oMath>
                  </m:oMathPara>
                </a14:m>
                <a:endParaRPr lang="zh-CN" altLang="en-US" dirty="0">
                  <a:solidFill>
                    <a:srgbClr val="FF0000"/>
                  </a:solidFill>
                </a:endParaRPr>
              </a:p>
            </p:txBody>
          </p:sp>
        </mc:Choice>
        <mc:Fallback xmlns="">
          <p:sp>
            <p:nvSpPr>
              <p:cNvPr id="16" name="矩形 15"/>
              <p:cNvSpPr>
                <a:spLocks noRot="1" noChangeAspect="1" noMove="1" noResize="1" noEditPoints="1" noAdjustHandles="1" noChangeArrowheads="1" noChangeShapeType="1" noTextEdit="1"/>
              </p:cNvSpPr>
              <p:nvPr/>
            </p:nvSpPr>
            <p:spPr>
              <a:xfrm>
                <a:off x="2442943" y="3500308"/>
                <a:ext cx="406970" cy="369332"/>
              </a:xfrm>
              <a:prstGeom prst="rect">
                <a:avLst/>
              </a:prstGeom>
              <a:blipFill>
                <a:blip r:embed="rId25"/>
                <a:stretch>
                  <a:fillRect b="-98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矩形 65"/>
              <p:cNvSpPr/>
              <p:nvPr/>
            </p:nvSpPr>
            <p:spPr>
              <a:xfrm>
                <a:off x="5219506" y="3619881"/>
                <a:ext cx="42723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𝐽</m:t>
                          </m:r>
                        </m:e>
                        <m:sub>
                          <m:r>
                            <a:rPr lang="en-US" altLang="zh-CN" b="0" i="1" smtClean="0">
                              <a:solidFill>
                                <a:srgbClr val="FF0000"/>
                              </a:solidFill>
                              <a:latin typeface="Cambria Math" panose="02040503050406030204" pitchFamily="18" charset="0"/>
                            </a:rPr>
                            <m:t>𝑏</m:t>
                          </m:r>
                        </m:sub>
                      </m:sSub>
                    </m:oMath>
                  </m:oMathPara>
                </a14:m>
                <a:endParaRPr lang="zh-CN" altLang="en-US" dirty="0">
                  <a:solidFill>
                    <a:srgbClr val="FF0000"/>
                  </a:solidFill>
                </a:endParaRPr>
              </a:p>
            </p:txBody>
          </p:sp>
        </mc:Choice>
        <mc:Fallback xmlns="">
          <p:sp>
            <p:nvSpPr>
              <p:cNvPr id="66" name="矩形 65"/>
              <p:cNvSpPr>
                <a:spLocks noRot="1" noChangeAspect="1" noMove="1" noResize="1" noEditPoints="1" noAdjustHandles="1" noChangeArrowheads="1" noChangeShapeType="1" noTextEdit="1"/>
              </p:cNvSpPr>
              <p:nvPr/>
            </p:nvSpPr>
            <p:spPr>
              <a:xfrm>
                <a:off x="5219506" y="3619881"/>
                <a:ext cx="427232" cy="369332"/>
              </a:xfrm>
              <a:prstGeom prst="rect">
                <a:avLst/>
              </a:prstGeom>
              <a:blipFill>
                <a:blip r:embed="rId26"/>
                <a:stretch>
                  <a:fillRect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矩形 66"/>
              <p:cNvSpPr/>
              <p:nvPr/>
            </p:nvSpPr>
            <p:spPr>
              <a:xfrm>
                <a:off x="7931283" y="3626508"/>
                <a:ext cx="40697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𝐽</m:t>
                          </m:r>
                        </m:e>
                        <m:sub>
                          <m:r>
                            <a:rPr lang="zh-CN" altLang="en-US" i="1">
                              <a:solidFill>
                                <a:srgbClr val="FF0000"/>
                              </a:solidFill>
                              <a:latin typeface="Cambria Math" panose="02040503050406030204" pitchFamily="18" charset="0"/>
                            </a:rPr>
                            <m:t>𝑠</m:t>
                          </m:r>
                        </m:sub>
                      </m:sSub>
                    </m:oMath>
                  </m:oMathPara>
                </a14:m>
                <a:endParaRPr lang="zh-CN" altLang="en-US" dirty="0">
                  <a:solidFill>
                    <a:srgbClr val="FF0000"/>
                  </a:solidFill>
                </a:endParaRPr>
              </a:p>
            </p:txBody>
          </p:sp>
        </mc:Choice>
        <mc:Fallback xmlns="">
          <p:sp>
            <p:nvSpPr>
              <p:cNvPr id="67" name="矩形 66"/>
              <p:cNvSpPr>
                <a:spLocks noRot="1" noChangeAspect="1" noMove="1" noResize="1" noEditPoints="1" noAdjustHandles="1" noChangeArrowheads="1" noChangeShapeType="1" noTextEdit="1"/>
              </p:cNvSpPr>
              <p:nvPr/>
            </p:nvSpPr>
            <p:spPr>
              <a:xfrm>
                <a:off x="7931283" y="3626508"/>
                <a:ext cx="406970" cy="369332"/>
              </a:xfrm>
              <a:prstGeom prst="rect">
                <a:avLst/>
              </a:prstGeom>
              <a:blipFill>
                <a:blip r:embed="rId27"/>
                <a:stretch>
                  <a:fillRect b="-10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0379216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553603" y="801132"/>
            <a:ext cx="3558691" cy="400110"/>
          </a:xfrm>
          <a:prstGeom prst="rect">
            <a:avLst/>
          </a:prstGeom>
        </p:spPr>
        <p:txBody>
          <a:bodyPr wrap="square">
            <a:spAutoFit/>
          </a:bodyPr>
          <a:lstStyle/>
          <a:p>
            <a:r>
              <a:rPr lang="zh-CN" altLang="en-US" sz="2000" b="1" dirty="0">
                <a:solidFill>
                  <a:srgbClr val="002060"/>
                </a:solidFill>
              </a:rPr>
              <a:t>机器人雅可比矩阵矢量积求法</a:t>
            </a:r>
          </a:p>
        </p:txBody>
      </p:sp>
      <p:grpSp>
        <p:nvGrpSpPr>
          <p:cNvPr id="38" name="组合 37"/>
          <p:cNvGrpSpPr/>
          <p:nvPr/>
        </p:nvGrpSpPr>
        <p:grpSpPr>
          <a:xfrm>
            <a:off x="-236220" y="219075"/>
            <a:ext cx="5153660" cy="598805"/>
            <a:chOff x="-372" y="345"/>
            <a:chExt cx="8116" cy="943"/>
          </a:xfrm>
        </p:grpSpPr>
        <p:sp>
          <p:nvSpPr>
            <p:cNvPr id="39" name="矩形 3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Jacobian Matrix of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40" name="文本框 39"/>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机器人雅可比矩阵</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41" name="椭圆 4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16" name="矩形 15"/>
              <p:cNvSpPr/>
              <p:nvPr/>
            </p:nvSpPr>
            <p:spPr>
              <a:xfrm>
                <a:off x="5991276" y="766752"/>
                <a:ext cx="40697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𝐽</m:t>
                          </m:r>
                        </m:e>
                        <m:sub>
                          <m:r>
                            <a:rPr lang="zh-CN" altLang="en-US" i="1">
                              <a:solidFill>
                                <a:srgbClr val="FF0000"/>
                              </a:solidFill>
                              <a:latin typeface="Cambria Math" panose="02040503050406030204" pitchFamily="18" charset="0"/>
                            </a:rPr>
                            <m:t>𝑠</m:t>
                          </m:r>
                        </m:sub>
                      </m:sSub>
                    </m:oMath>
                  </m:oMathPara>
                </a14:m>
                <a:endParaRPr lang="zh-CN" altLang="en-US" dirty="0">
                  <a:solidFill>
                    <a:srgbClr val="FF0000"/>
                  </a:solidFill>
                </a:endParaRPr>
              </a:p>
            </p:txBody>
          </p:sp>
        </mc:Choice>
        <mc:Fallback xmlns="">
          <p:sp>
            <p:nvSpPr>
              <p:cNvPr id="16" name="矩形 15"/>
              <p:cNvSpPr>
                <a:spLocks noRot="1" noChangeAspect="1" noMove="1" noResize="1" noEditPoints="1" noAdjustHandles="1" noChangeArrowheads="1" noChangeShapeType="1" noTextEdit="1"/>
              </p:cNvSpPr>
              <p:nvPr/>
            </p:nvSpPr>
            <p:spPr>
              <a:xfrm>
                <a:off x="5991276" y="766752"/>
                <a:ext cx="406970" cy="369332"/>
              </a:xfrm>
              <a:prstGeom prst="rect">
                <a:avLst/>
              </a:prstGeom>
              <a:blipFill>
                <a:blip r:embed="rId3"/>
                <a:stretch>
                  <a:fillRect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3547321" y="1275286"/>
                <a:ext cx="1240211" cy="5812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𝐽</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d>
                            <m:dPr>
                              <m:begChr m:val="["/>
                              <m:endChr m:val="]"/>
                              <m:ctrlPr>
                                <a:rPr lang="zh-CN" altLang="en-US" sz="1600" i="1">
                                  <a:latin typeface="Cambria Math" panose="02040503050406030204" pitchFamily="18" charset="0"/>
                                </a:rPr>
                              </m:ctrlPr>
                            </m:dPr>
                            <m:e>
                              <m:m>
                                <m:mPr>
                                  <m:mcs>
                                    <m:mc>
                                      <m:mcPr>
                                        <m:count m:val="1"/>
                                        <m:mcJc m:val="center"/>
                                      </m:mcPr>
                                    </m:mc>
                                  </m:mcs>
                                  <m:ctrlPr>
                                    <a:rPr lang="zh-CN" altLang="en-US" sz="1600" i="1">
                                      <a:latin typeface="Cambria Math" panose="02040503050406030204" pitchFamily="18" charset="0"/>
                                    </a:rPr>
                                  </m:ctrlPr>
                                </m:mP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1">
                                            <a:latin typeface="Cambria Math" panose="02040503050406030204" pitchFamily="18" charset="0"/>
                                          </a:rPr>
                                          <m:t>𝑣</m:t>
                                        </m:r>
                                      </m:sub>
                                    </m:sSub>
                                  </m:e>
                                </m:m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1">
                                            <a:latin typeface="Cambria Math" panose="02040503050406030204" pitchFamily="18" charset="0"/>
                                          </a:rPr>
                                          <m:t>𝜔</m:t>
                                        </m:r>
                                      </m:sub>
                                    </m:sSub>
                                  </m:e>
                                </m:mr>
                              </m:m>
                            </m:e>
                          </m:d>
                        </m:e>
                        <m:sub>
                          <m:r>
                            <a:rPr lang="zh-CN" altLang="en-US" sz="1600" i="0">
                              <a:latin typeface="Cambria Math" panose="02040503050406030204" pitchFamily="18" charset="0"/>
                            </a:rPr>
                            <m:t>6×</m:t>
                          </m:r>
                          <m:r>
                            <a:rPr lang="zh-CN" altLang="en-US" sz="1600" i="1">
                              <a:latin typeface="Cambria Math" panose="02040503050406030204" pitchFamily="18" charset="0"/>
                            </a:rPr>
                            <m:t>𝑛</m:t>
                          </m:r>
                        </m:sub>
                      </m:sSub>
                    </m:oMath>
                  </m:oMathPara>
                </a14:m>
                <a:endParaRPr lang="zh-CN" altLang="en-US" sz="1600" dirty="0"/>
              </a:p>
            </p:txBody>
          </p:sp>
        </mc:Choice>
        <mc:Fallback xmlns="">
          <p:sp>
            <p:nvSpPr>
              <p:cNvPr id="3" name="矩形 2"/>
              <p:cNvSpPr>
                <a:spLocks noRot="1" noChangeAspect="1" noMove="1" noResize="1" noEditPoints="1" noAdjustHandles="1" noChangeArrowheads="1" noChangeShapeType="1" noTextEdit="1"/>
              </p:cNvSpPr>
              <p:nvPr/>
            </p:nvSpPr>
            <p:spPr>
              <a:xfrm>
                <a:off x="3547321" y="1275286"/>
                <a:ext cx="1240211" cy="581249"/>
              </a:xfrm>
              <a:prstGeom prst="rect">
                <a:avLst/>
              </a:prstGeom>
              <a:blipFill>
                <a:blip r:embed="rId4"/>
                <a:stretch>
                  <a:fillRect b="-10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1687089" y="2333600"/>
                <a:ext cx="1907125"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1">
                                  <a:latin typeface="Cambria Math" panose="02040503050406030204" pitchFamily="18" charset="0"/>
                                </a:rPr>
                                <m:t>𝑣</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1">
                                  <a:latin typeface="Cambria Math" panose="02040503050406030204" pitchFamily="18" charset="0"/>
                                </a:rPr>
                                <m:t>𝑣</m:t>
                              </m:r>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1">
                                  <a:latin typeface="Cambria Math" panose="02040503050406030204" pitchFamily="18" charset="0"/>
                                </a:rPr>
                                <m:t>𝑣</m:t>
                              </m:r>
                              <m:r>
                                <a:rPr lang="zh-CN" altLang="en-US" sz="1600" i="0">
                                  <a:latin typeface="Cambria Math" panose="02040503050406030204" pitchFamily="18" charset="0"/>
                                </a:rPr>
                                <m:t>2</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1">
                                  <a:latin typeface="Cambria Math" panose="02040503050406030204" pitchFamily="18" charset="0"/>
                                </a:rPr>
                                <m:t>𝑣𝑛</m:t>
                              </m:r>
                            </m:sub>
                          </m:sSub>
                        </m:e>
                      </m:d>
                    </m:oMath>
                  </m:oMathPara>
                </a14:m>
                <a:endParaRPr lang="zh-CN" altLang="en-US" sz="1600" dirty="0"/>
              </a:p>
            </p:txBody>
          </p:sp>
        </mc:Choice>
        <mc:Fallback xmlns="">
          <p:sp>
            <p:nvSpPr>
              <p:cNvPr id="4" name="矩形 3"/>
              <p:cNvSpPr>
                <a:spLocks noRot="1" noChangeAspect="1" noMove="1" noResize="1" noEditPoints="1" noAdjustHandles="1" noChangeArrowheads="1" noChangeShapeType="1" noTextEdit="1"/>
              </p:cNvSpPr>
              <p:nvPr/>
            </p:nvSpPr>
            <p:spPr>
              <a:xfrm>
                <a:off x="1687089" y="2333600"/>
                <a:ext cx="1907125" cy="338554"/>
              </a:xfrm>
              <a:prstGeom prst="rect">
                <a:avLst/>
              </a:prstGeom>
              <a:blipFill>
                <a:blip r:embed="rId5"/>
                <a:stretch>
                  <a:fillRect t="-110909" r="-22364" b="-1727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3779912" y="2133609"/>
                <a:ext cx="3760132" cy="6667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1">
                              <a:latin typeface="Cambria Math" panose="02040503050406030204" pitchFamily="18" charset="0"/>
                            </a:rPr>
                            <m:t>𝑣𝑖</m:t>
                          </m:r>
                        </m:sub>
                      </m:sSub>
                      <m:r>
                        <a:rPr lang="zh-CN" altLang="en-US" sz="1600" i="0">
                          <a:latin typeface="Cambria Math" panose="02040503050406030204" pitchFamily="18" charset="0"/>
                        </a:rPr>
                        <m:t>={</m:t>
                      </m:r>
                      <m:m>
                        <m:mPr>
                          <m:mcs>
                            <m:mc>
                              <m:mcPr>
                                <m:count m:val="1"/>
                                <m:mcJc m:val="center"/>
                              </m:mcPr>
                            </m:mc>
                          </m:mcs>
                          <m:ctrlPr>
                            <a:rPr lang="zh-CN" altLang="en-US" sz="1600" i="1">
                              <a:latin typeface="Cambria Math" panose="02040503050406030204" pitchFamily="18" charset="0"/>
                            </a:rPr>
                          </m:ctrlPr>
                        </m:mPr>
                        <m:mr>
                          <m:e>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𝑍</m:t>
                                </m:r>
                              </m:e>
                              <m:sub>
                                <m:r>
                                  <a:rPr lang="zh-CN" altLang="en-US" sz="1600" i="1">
                                    <a:latin typeface="Cambria Math" panose="02040503050406030204" pitchFamily="18" charset="0"/>
                                  </a:rPr>
                                  <m:t>𝑖</m:t>
                                </m:r>
                              </m:sub>
                              <m:sup>
                                <m:r>
                                  <a:rPr lang="zh-CN" altLang="en-US" sz="1600" i="0">
                                    <a:latin typeface="Cambria Math" panose="02040503050406030204" pitchFamily="18" charset="0"/>
                                  </a:rPr>
                                  <m:t>0</m:t>
                                </m:r>
                              </m:sup>
                            </m:sSubSup>
                            <m:r>
                              <a:rPr lang="zh-CN" altLang="en-US" sz="1600" i="0">
                                <a:latin typeface="Cambria Math" panose="02040503050406030204" pitchFamily="18" charset="0"/>
                              </a:rPr>
                              <m:t>×</m:t>
                            </m:r>
                            <m:d>
                              <m:dPr>
                                <m:ctrlPr>
                                  <a:rPr lang="zh-CN" altLang="en-US" sz="1600" i="1">
                                    <a:latin typeface="Cambria Math" panose="02040503050406030204" pitchFamily="18" charset="0"/>
                                  </a:rPr>
                                </m:ctrlPr>
                              </m:dPr>
                              <m:e>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𝑂</m:t>
                                    </m:r>
                                  </m:e>
                                  <m:sub>
                                    <m:r>
                                      <a:rPr lang="zh-CN" altLang="en-US" sz="1600" i="1">
                                        <a:latin typeface="Cambria Math" panose="02040503050406030204" pitchFamily="18" charset="0"/>
                                      </a:rPr>
                                      <m:t>𝑛</m:t>
                                    </m:r>
                                  </m:sub>
                                  <m:sup>
                                    <m:r>
                                      <a:rPr lang="zh-CN" altLang="en-US" sz="1600" i="0">
                                        <a:latin typeface="Cambria Math" panose="02040503050406030204" pitchFamily="18" charset="0"/>
                                      </a:rPr>
                                      <m:t>0</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𝑂</m:t>
                                    </m:r>
                                  </m:e>
                                  <m:sub>
                                    <m:r>
                                      <a:rPr lang="zh-CN" altLang="en-US" sz="1600" i="1">
                                        <a:latin typeface="Cambria Math" panose="02040503050406030204" pitchFamily="18" charset="0"/>
                                      </a:rPr>
                                      <m:t>𝑖</m:t>
                                    </m:r>
                                  </m:sub>
                                  <m:sup>
                                    <m:r>
                                      <a:rPr lang="zh-CN" altLang="en-US" sz="1600" i="0">
                                        <a:latin typeface="Cambria Math" panose="02040503050406030204" pitchFamily="18" charset="0"/>
                                      </a:rPr>
                                      <m:t>0</m:t>
                                    </m:r>
                                  </m:sup>
                                </m:sSubSup>
                              </m:e>
                            </m:d>
                            <m:r>
                              <a:rPr lang="zh-CN" altLang="en-US" sz="1600" i="0">
                                <a:latin typeface="Cambria Math" panose="02040503050406030204" pitchFamily="18" charset="0"/>
                              </a:rPr>
                              <m:t>  </m:t>
                            </m:r>
                            <m:r>
                              <a:rPr lang="zh-CN" altLang="en-US" sz="1600" i="0">
                                <a:latin typeface="Cambria Math" panose="02040503050406030204" pitchFamily="18" charset="0"/>
                              </a:rPr>
                              <m:t>第</m:t>
                            </m:r>
                            <m:r>
                              <a:rPr lang="zh-CN" altLang="en-US" sz="1600" i="1">
                                <a:latin typeface="Cambria Math" panose="02040503050406030204" pitchFamily="18" charset="0"/>
                              </a:rPr>
                              <m:t>𝑖</m:t>
                            </m:r>
                            <m:r>
                              <a:rPr lang="zh-CN" altLang="en-US" sz="1600" i="0">
                                <a:latin typeface="Cambria Math" panose="02040503050406030204" pitchFamily="18" charset="0"/>
                              </a:rPr>
                              <m:t>轴为旋转关节</m:t>
                            </m:r>
                          </m:e>
                        </m:mr>
                        <m:mr>
                          <m:e>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𝑍</m:t>
                                </m:r>
                              </m:e>
                              <m:sub>
                                <m:r>
                                  <a:rPr lang="zh-CN" altLang="en-US" sz="1600" i="1">
                                    <a:latin typeface="Cambria Math" panose="02040503050406030204" pitchFamily="18" charset="0"/>
                                  </a:rPr>
                                  <m:t>𝑖</m:t>
                                </m:r>
                              </m:sub>
                              <m:sup>
                                <m:r>
                                  <a:rPr lang="zh-CN" altLang="en-US" sz="1600" i="0">
                                    <a:latin typeface="Cambria Math" panose="02040503050406030204" pitchFamily="18" charset="0"/>
                                  </a:rPr>
                                  <m:t>0</m:t>
                                </m:r>
                              </m:sup>
                            </m:sSubSup>
                            <m:r>
                              <a:rPr lang="zh-CN" altLang="en-US" sz="1600" i="0">
                                <a:latin typeface="Cambria Math" panose="02040503050406030204" pitchFamily="18" charset="0"/>
                              </a:rPr>
                              <m:t>             </m:t>
                            </m:r>
                            <m:r>
                              <a:rPr lang="zh-CN" altLang="en-US" sz="1600" i="0">
                                <a:latin typeface="Cambria Math" panose="02040503050406030204" pitchFamily="18" charset="0"/>
                              </a:rPr>
                              <m:t>第</m:t>
                            </m:r>
                            <m:r>
                              <a:rPr lang="zh-CN" altLang="en-US" sz="1600" i="1">
                                <a:latin typeface="Cambria Math" panose="02040503050406030204" pitchFamily="18" charset="0"/>
                              </a:rPr>
                              <m:t>𝑖</m:t>
                            </m:r>
                            <m:r>
                              <a:rPr lang="zh-CN" altLang="en-US" sz="1600" i="0">
                                <a:latin typeface="Cambria Math" panose="02040503050406030204" pitchFamily="18" charset="0"/>
                              </a:rPr>
                              <m:t>轴位平动关节</m:t>
                            </m:r>
                          </m:e>
                        </m:mr>
                      </m:m>
                    </m:oMath>
                  </m:oMathPara>
                </a14:m>
                <a:endParaRPr lang="zh-CN" altLang="en-US" sz="1600" dirty="0"/>
              </a:p>
            </p:txBody>
          </p:sp>
        </mc:Choice>
        <mc:Fallback xmlns="">
          <p:sp>
            <p:nvSpPr>
              <p:cNvPr id="5" name="矩形 4"/>
              <p:cNvSpPr>
                <a:spLocks noRot="1" noChangeAspect="1" noMove="1" noResize="1" noEditPoints="1" noAdjustHandles="1" noChangeArrowheads="1" noChangeShapeType="1" noTextEdit="1"/>
              </p:cNvSpPr>
              <p:nvPr/>
            </p:nvSpPr>
            <p:spPr>
              <a:xfrm>
                <a:off x="3779912" y="2133609"/>
                <a:ext cx="3760132" cy="666786"/>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3701621" y="3043618"/>
                <a:ext cx="1262653" cy="3652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𝑍</m:t>
                          </m:r>
                        </m:e>
                        <m:sub>
                          <m:r>
                            <a:rPr lang="zh-CN" altLang="en-US" sz="1600" i="1">
                              <a:latin typeface="Cambria Math" panose="02040503050406030204" pitchFamily="18" charset="0"/>
                            </a:rPr>
                            <m:t>𝑖</m:t>
                          </m:r>
                        </m:sub>
                        <m:sup>
                          <m:r>
                            <a:rPr lang="zh-CN" altLang="en-US" sz="1600" i="0">
                              <a:latin typeface="Cambria Math" panose="02040503050406030204" pitchFamily="18" charset="0"/>
                            </a:rPr>
                            <m:t>0</m:t>
                          </m:r>
                        </m:sup>
                      </m:sSubSup>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sPre>
                            <m:sPrePr>
                              <m:ctrlPr>
                                <a:rPr lang="zh-CN" altLang="en-US" sz="1600" i="1">
                                  <a:latin typeface="Cambria Math" panose="02040503050406030204" pitchFamily="18" charset="0"/>
                                </a:rPr>
                              </m:ctrlPr>
                            </m:sPrePr>
                            <m:sub/>
                            <m:sup>
                              <m:r>
                                <a:rPr lang="zh-CN" altLang="en-US" sz="1600" i="0">
                                  <a:latin typeface="Cambria Math" panose="02040503050406030204" pitchFamily="18" charset="0"/>
                                </a:rPr>
                                <m:t>0</m:t>
                              </m:r>
                            </m:sup>
                            <m:e>
                              <m:r>
                                <a:rPr lang="zh-CN" altLang="en-US" sz="1600" i="1">
                                  <a:latin typeface="Cambria Math" panose="02040503050406030204" pitchFamily="18" charset="0"/>
                                </a:rPr>
                                <m:t>𝑇</m:t>
                              </m:r>
                            </m:e>
                          </m:sPre>
                        </m:e>
                        <m:sub>
                          <m:r>
                            <a:rPr lang="zh-CN" altLang="en-US" sz="1600" i="1">
                              <a:latin typeface="Cambria Math" panose="02040503050406030204" pitchFamily="18" charset="0"/>
                            </a:rPr>
                            <m:t>𝑖</m:t>
                          </m:r>
                        </m:sub>
                      </m:sSub>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𝑍</m:t>
                          </m:r>
                        </m:e>
                        <m:sub>
                          <m:r>
                            <a:rPr lang="zh-CN" altLang="en-US" sz="1600" i="0">
                              <a:latin typeface="Cambria Math" panose="02040503050406030204" pitchFamily="18" charset="0"/>
                            </a:rPr>
                            <m:t>0</m:t>
                          </m:r>
                        </m:sub>
                        <m:sup>
                          <m:r>
                            <a:rPr lang="zh-CN" altLang="en-US" sz="1600" i="0">
                              <a:latin typeface="Cambria Math" panose="02040503050406030204" pitchFamily="18" charset="0"/>
                            </a:rPr>
                            <m:t>0</m:t>
                          </m:r>
                        </m:sup>
                      </m:sSubSup>
                    </m:oMath>
                  </m:oMathPara>
                </a14:m>
                <a:endParaRPr lang="zh-CN" altLang="en-US" sz="1600" dirty="0"/>
              </a:p>
            </p:txBody>
          </p:sp>
        </mc:Choice>
        <mc:Fallback xmlns="">
          <p:sp>
            <p:nvSpPr>
              <p:cNvPr id="8" name="矩形 7"/>
              <p:cNvSpPr>
                <a:spLocks noRot="1" noChangeAspect="1" noMove="1" noResize="1" noEditPoints="1" noAdjustHandles="1" noChangeArrowheads="1" noChangeShapeType="1" noTextEdit="1"/>
              </p:cNvSpPr>
              <p:nvPr/>
            </p:nvSpPr>
            <p:spPr>
              <a:xfrm>
                <a:off x="3701621" y="3043618"/>
                <a:ext cx="1262653" cy="365228"/>
              </a:xfrm>
              <a:prstGeom prst="rect">
                <a:avLst/>
              </a:prstGeom>
              <a:blipFill>
                <a:blip r:embed="rId7"/>
                <a:stretch>
                  <a:fillRect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5042565" y="3056249"/>
                <a:ext cx="1724383" cy="3449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𝑍</m:t>
                          </m:r>
                        </m:e>
                        <m:sub>
                          <m:r>
                            <a:rPr lang="zh-CN" altLang="en-US" sz="1600" i="0">
                              <a:latin typeface="Cambria Math" panose="02040503050406030204" pitchFamily="18" charset="0"/>
                            </a:rPr>
                            <m:t>0</m:t>
                          </m:r>
                        </m:sub>
                        <m:sup>
                          <m:r>
                            <a:rPr lang="zh-CN" altLang="en-US" sz="1600" i="0">
                              <a:latin typeface="Cambria Math" panose="02040503050406030204" pitchFamily="18" charset="0"/>
                            </a:rPr>
                            <m:t>0</m:t>
                          </m:r>
                        </m:sup>
                      </m:sSubSup>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d>
                            <m:dPr>
                              <m:begChr m:val="["/>
                              <m:endChr m:val="]"/>
                              <m:ctrlPr>
                                <a:rPr lang="zh-CN" altLang="en-US" sz="1600" i="1">
                                  <a:latin typeface="Cambria Math" panose="02040503050406030204" pitchFamily="18" charset="0"/>
                                </a:rPr>
                              </m:ctrlPr>
                            </m:dPr>
                            <m:e>
                              <m:m>
                                <m:mPr>
                                  <m:mcs>
                                    <m:mc>
                                      <m:mcPr>
                                        <m:count m:val="3"/>
                                        <m:mcJc m:val="center"/>
                                      </m:mcPr>
                                    </m:mc>
                                  </m:mcs>
                                  <m:ctrlPr>
                                    <a:rPr lang="zh-CN" altLang="en-US" sz="1600" i="1">
                                      <a:latin typeface="Cambria Math" panose="02040503050406030204" pitchFamily="18" charset="0"/>
                                    </a:rPr>
                                  </m:ctrlPr>
                                </m:mPr>
                                <m:mr>
                                  <m:e>
                                    <m:r>
                                      <a:rPr lang="zh-CN" altLang="en-US" sz="1600" i="0">
                                        <a:latin typeface="Cambria Math" panose="02040503050406030204" pitchFamily="18" charset="0"/>
                                      </a:rPr>
                                      <m:t>0</m:t>
                                    </m:r>
                                  </m:e>
                                  <m:e>
                                    <m:r>
                                      <a:rPr lang="zh-CN" altLang="en-US" sz="1600" i="0">
                                        <a:latin typeface="Cambria Math" panose="02040503050406030204" pitchFamily="18" charset="0"/>
                                      </a:rPr>
                                      <m:t>0</m:t>
                                    </m:r>
                                  </m:e>
                                  <m:e>
                                    <m:r>
                                      <a:rPr lang="zh-CN" altLang="en-US" sz="1600" i="0">
                                        <a:latin typeface="Cambria Math" panose="02040503050406030204" pitchFamily="18" charset="0"/>
                                      </a:rPr>
                                      <m:t>1</m:t>
                                    </m:r>
                                  </m:e>
                                </m:mr>
                              </m:m>
                            </m:e>
                          </m:d>
                        </m:e>
                        <m:sup>
                          <m:r>
                            <a:rPr lang="zh-CN" altLang="en-US" sz="1600" i="1">
                              <a:latin typeface="Cambria Math" panose="02040503050406030204" pitchFamily="18" charset="0"/>
                            </a:rPr>
                            <m:t>𝑇</m:t>
                          </m:r>
                        </m:sup>
                      </m:sSup>
                    </m:oMath>
                  </m:oMathPara>
                </a14:m>
                <a:endParaRPr lang="zh-CN" altLang="en-US" sz="1600" dirty="0"/>
              </a:p>
            </p:txBody>
          </p:sp>
        </mc:Choice>
        <mc:Fallback xmlns="">
          <p:sp>
            <p:nvSpPr>
              <p:cNvPr id="9" name="矩形 8"/>
              <p:cNvSpPr>
                <a:spLocks noRot="1" noChangeAspect="1" noMove="1" noResize="1" noEditPoints="1" noAdjustHandles="1" noChangeArrowheads="1" noChangeShapeType="1" noTextEdit="1"/>
              </p:cNvSpPr>
              <p:nvPr/>
            </p:nvSpPr>
            <p:spPr>
              <a:xfrm>
                <a:off x="5042565" y="3056249"/>
                <a:ext cx="1724383" cy="344966"/>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3262638" y="2800395"/>
                <a:ext cx="4572000" cy="288220"/>
              </a:xfrm>
              <a:prstGeom prst="rect">
                <a:avLst/>
              </a:prstGeom>
            </p:spPr>
            <p:txBody>
              <a:bodyPr>
                <a:spAutoFit/>
              </a:bodyPr>
              <a:lstStyle/>
              <a:p>
                <a14:m>
                  <m:oMath xmlns:m="http://schemas.openxmlformats.org/officeDocument/2006/math">
                    <m:sSubSup>
                      <m:sSubSupPr>
                        <m:ctrlPr>
                          <a:rPr lang="zh-CN" altLang="zh-CN" sz="1200" i="1">
                            <a:latin typeface="Cambria Math" panose="02040503050406030204" pitchFamily="18" charset="0"/>
                            <a:ea typeface="Cambria Math" panose="02040503050406030204" pitchFamily="18" charset="0"/>
                          </a:rPr>
                        </m:ctrlPr>
                      </m:sSub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𝑍</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sub>
                      <m:sup>
                        <m:r>
                          <a:rPr lang="en-US" altLang="zh-CN" sz="1200" i="1">
                            <a:latin typeface="Cambria Math" panose="02040503050406030204" pitchFamily="18" charset="0"/>
                            <a:ea typeface="等线" panose="02010600030101010101" pitchFamily="2" charset="-122"/>
                            <a:cs typeface="Times New Roman" panose="02020603050405020304" pitchFamily="18" charset="0"/>
                          </a:rPr>
                          <m:t>0</m:t>
                        </m:r>
                      </m:sup>
                    </m:sSubSup>
                  </m:oMath>
                </a14:m>
                <a:r>
                  <a:rPr lang="zh-CN" altLang="zh-CN" sz="1200" dirty="0">
                    <a:ea typeface="等线" panose="02010600030101010101" pitchFamily="2" charset="-122"/>
                    <a:cs typeface="Times New Roman" panose="02020603050405020304" pitchFamily="18" charset="0"/>
                  </a:rPr>
                  <a:t>表示第</a:t>
                </a:r>
                <a:r>
                  <a:rPr lang="en-US" altLang="zh-CN" sz="1200" dirty="0" err="1">
                    <a:ea typeface="等线" panose="02010600030101010101" pitchFamily="2" charset="-122"/>
                    <a:cs typeface="Times New Roman" panose="02020603050405020304" pitchFamily="18" charset="0"/>
                  </a:rPr>
                  <a:t>i</a:t>
                </a:r>
                <a:r>
                  <a:rPr lang="zh-CN" altLang="zh-CN" sz="1200" dirty="0">
                    <a:ea typeface="等线" panose="02010600030101010101" pitchFamily="2" charset="-122"/>
                    <a:cs typeface="Times New Roman" panose="02020603050405020304" pitchFamily="18" charset="0"/>
                  </a:rPr>
                  <a:t>轴坐标系</a:t>
                </a:r>
                <a:r>
                  <a:rPr lang="en-US" altLang="zh-CN" sz="1200" dirty="0">
                    <a:ea typeface="等线" panose="02010600030101010101" pitchFamily="2" charset="-122"/>
                    <a:cs typeface="Times New Roman" panose="02020603050405020304" pitchFamily="18" charset="0"/>
                  </a:rPr>
                  <a:t>{</a:t>
                </a:r>
                <a:r>
                  <a:rPr lang="en-US" altLang="zh-CN" sz="1200" dirty="0" err="1">
                    <a:ea typeface="等线" panose="02010600030101010101" pitchFamily="2" charset="-122"/>
                    <a:cs typeface="Times New Roman" panose="02020603050405020304" pitchFamily="18" charset="0"/>
                  </a:rPr>
                  <a:t>i</a:t>
                </a:r>
                <a:r>
                  <a:rPr lang="en-US" altLang="zh-CN" sz="1200" dirty="0">
                    <a:ea typeface="等线" panose="02010600030101010101" pitchFamily="2" charset="-122"/>
                    <a:cs typeface="Times New Roman" panose="02020603050405020304" pitchFamily="18" charset="0"/>
                  </a:rPr>
                  <a:t>}</a:t>
                </a:r>
                <a:r>
                  <a:rPr lang="zh-CN" altLang="zh-CN" sz="1200" dirty="0">
                    <a:ea typeface="等线" panose="02010600030101010101" pitchFamily="2" charset="-122"/>
                    <a:cs typeface="Times New Roman" panose="02020603050405020304" pitchFamily="18" charset="0"/>
                  </a:rPr>
                  <a:t>的</a:t>
                </a:r>
                <a:r>
                  <a:rPr lang="en-US" altLang="zh-CN" sz="1200" dirty="0">
                    <a:ea typeface="等线" panose="02010600030101010101" pitchFamily="2" charset="-122"/>
                    <a:cs typeface="Times New Roman" panose="02020603050405020304" pitchFamily="18" charset="0"/>
                  </a:rPr>
                  <a:t>Z</a:t>
                </a:r>
                <a:r>
                  <a:rPr lang="zh-CN" altLang="zh-CN" sz="1200" dirty="0">
                    <a:ea typeface="等线" panose="02010600030101010101" pitchFamily="2" charset="-122"/>
                    <a:cs typeface="Times New Roman" panose="02020603050405020304" pitchFamily="18" charset="0"/>
                  </a:rPr>
                  <a:t>轴方向在基坐标系</a:t>
                </a:r>
                <a:r>
                  <a:rPr lang="en-US" altLang="zh-CN" sz="1200" dirty="0">
                    <a:ea typeface="等线" panose="02010600030101010101" pitchFamily="2" charset="-122"/>
                    <a:cs typeface="Times New Roman" panose="02020603050405020304" pitchFamily="18" charset="0"/>
                  </a:rPr>
                  <a:t>{0}</a:t>
                </a:r>
                <a:r>
                  <a:rPr lang="zh-CN" altLang="zh-CN" sz="1200" dirty="0">
                    <a:ea typeface="等线" panose="02010600030101010101" pitchFamily="2" charset="-122"/>
                    <a:cs typeface="Times New Roman" panose="02020603050405020304" pitchFamily="18" charset="0"/>
                  </a:rPr>
                  <a:t>下的方向向量</a:t>
                </a:r>
                <a:endParaRPr lang="zh-CN" altLang="en-US" sz="1200" dirty="0"/>
              </a:p>
            </p:txBody>
          </p:sp>
        </mc:Choice>
        <mc:Fallback xmlns="">
          <p:sp>
            <p:nvSpPr>
              <p:cNvPr id="10" name="矩形 9"/>
              <p:cNvSpPr>
                <a:spLocks noRot="1" noChangeAspect="1" noMove="1" noResize="1" noEditPoints="1" noAdjustHandles="1" noChangeArrowheads="1" noChangeShapeType="1" noTextEdit="1"/>
              </p:cNvSpPr>
              <p:nvPr/>
            </p:nvSpPr>
            <p:spPr>
              <a:xfrm>
                <a:off x="3262638" y="2800395"/>
                <a:ext cx="4572000" cy="288220"/>
              </a:xfrm>
              <a:prstGeom prst="rect">
                <a:avLst/>
              </a:prstGeom>
              <a:blipFill>
                <a:blip r:embed="rId9"/>
                <a:stretch>
                  <a:fillRect b="-145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3262638" y="3408846"/>
                <a:ext cx="4572000" cy="481735"/>
              </a:xfrm>
              <a:prstGeom prst="rect">
                <a:avLst/>
              </a:prstGeom>
            </p:spPr>
            <p:txBody>
              <a:bodyPr>
                <a:spAutoFit/>
              </a:bodyPr>
              <a:lstStyle/>
              <a:p>
                <a14:m>
                  <m:oMath xmlns:m="http://schemas.openxmlformats.org/officeDocument/2006/math">
                    <m:sSub>
                      <m:sSubPr>
                        <m:ctrlPr>
                          <a:rPr lang="zh-CN" altLang="zh-CN" sz="1200" i="1">
                            <a:latin typeface="Cambria Math" panose="02040503050406030204" pitchFamily="18" charset="0"/>
                            <a:ea typeface="Cambria Math" panose="02040503050406030204" pitchFamily="18" charset="0"/>
                          </a:rPr>
                        </m:ctrlPr>
                      </m:sSubPr>
                      <m:e>
                        <m:sPre>
                          <m:sPrePr>
                            <m:ctrlPr>
                              <a:rPr lang="zh-CN" altLang="zh-CN" sz="1200" i="1">
                                <a:effectLst/>
                                <a:latin typeface="Cambria Math" panose="02040503050406030204" pitchFamily="18" charset="0"/>
                                <a:ea typeface="Cambria Math" panose="02040503050406030204" pitchFamily="18" charset="0"/>
                              </a:rPr>
                            </m:ctrlPr>
                          </m:sPrePr>
                          <m:sub/>
                          <m:sup>
                            <m:r>
                              <a:rPr lang="en-US" altLang="zh-CN" sz="1200" i="1">
                                <a:latin typeface="Cambria Math" panose="02040503050406030204" pitchFamily="18" charset="0"/>
                                <a:ea typeface="等线" panose="02010600030101010101" pitchFamily="2" charset="-122"/>
                                <a:cs typeface="Times New Roman" panose="02020603050405020304" pitchFamily="18" charset="0"/>
                              </a:rPr>
                              <m:t>0</m:t>
                            </m:r>
                          </m:sup>
                          <m:e>
                            <m:r>
                              <a:rPr lang="en-US" altLang="zh-CN" sz="1200" i="1">
                                <a:latin typeface="Cambria Math" panose="02040503050406030204" pitchFamily="18" charset="0"/>
                                <a:ea typeface="等线" panose="02010600030101010101" pitchFamily="2" charset="-122"/>
                                <a:cs typeface="Times New Roman" panose="02020603050405020304" pitchFamily="18" charset="0"/>
                              </a:rPr>
                              <m:t>𝑇</m:t>
                            </m:r>
                          </m:e>
                        </m:sPre>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sub>
                    </m:sSub>
                  </m:oMath>
                </a14:m>
                <a:r>
                  <a:rPr lang="zh-CN" altLang="zh-CN" sz="1200" dirty="0">
                    <a:ea typeface="等线" panose="02010600030101010101" pitchFamily="2" charset="-122"/>
                    <a:cs typeface="Times New Roman" panose="02020603050405020304" pitchFamily="18" charset="0"/>
                  </a:rPr>
                  <a:t>为第</a:t>
                </a:r>
                <a:r>
                  <a:rPr lang="en-US" altLang="zh-CN" sz="1200" dirty="0" err="1">
                    <a:ea typeface="等线" panose="02010600030101010101" pitchFamily="2" charset="-122"/>
                    <a:cs typeface="Times New Roman" panose="02020603050405020304" pitchFamily="18" charset="0"/>
                  </a:rPr>
                  <a:t>i</a:t>
                </a:r>
                <a:r>
                  <a:rPr lang="zh-CN" altLang="zh-CN" sz="1200" dirty="0">
                    <a:ea typeface="等线" panose="02010600030101010101" pitchFamily="2" charset="-122"/>
                    <a:cs typeface="Times New Roman" panose="02020603050405020304" pitchFamily="18" charset="0"/>
                  </a:rPr>
                  <a:t>轴坐标系</a:t>
                </a:r>
                <a:r>
                  <a:rPr lang="en-US" altLang="zh-CN" sz="1200" dirty="0">
                    <a:ea typeface="等线" panose="02010600030101010101" pitchFamily="2" charset="-122"/>
                    <a:cs typeface="Times New Roman" panose="02020603050405020304" pitchFamily="18" charset="0"/>
                  </a:rPr>
                  <a:t>{</a:t>
                </a:r>
                <a:r>
                  <a:rPr lang="en-US" altLang="zh-CN" sz="1200" dirty="0" err="1">
                    <a:ea typeface="等线" panose="02010600030101010101" pitchFamily="2" charset="-122"/>
                    <a:cs typeface="Times New Roman" panose="02020603050405020304" pitchFamily="18" charset="0"/>
                  </a:rPr>
                  <a:t>i</a:t>
                </a:r>
                <a:r>
                  <a:rPr lang="en-US" altLang="zh-CN" sz="1200" dirty="0">
                    <a:ea typeface="等线" panose="02010600030101010101" pitchFamily="2" charset="-122"/>
                    <a:cs typeface="Times New Roman" panose="02020603050405020304" pitchFamily="18" charset="0"/>
                  </a:rPr>
                  <a:t>}</a:t>
                </a:r>
                <a:r>
                  <a:rPr lang="zh-CN" altLang="zh-CN" sz="1200" dirty="0">
                    <a:ea typeface="等线" panose="02010600030101010101" pitchFamily="2" charset="-122"/>
                    <a:cs typeface="Times New Roman" panose="02020603050405020304" pitchFamily="18" charset="0"/>
                  </a:rPr>
                  <a:t>相对于基坐标系</a:t>
                </a:r>
                <a:r>
                  <a:rPr lang="en-US" altLang="zh-CN" sz="1200" dirty="0">
                    <a:ea typeface="等线" panose="02010600030101010101" pitchFamily="2" charset="-122"/>
                    <a:cs typeface="Times New Roman" panose="02020603050405020304" pitchFamily="18" charset="0"/>
                  </a:rPr>
                  <a:t>{0}</a:t>
                </a:r>
                <a:r>
                  <a:rPr lang="zh-CN" altLang="zh-CN" sz="1200" dirty="0">
                    <a:ea typeface="等线" panose="02010600030101010101" pitchFamily="2" charset="-122"/>
                    <a:cs typeface="Times New Roman" panose="02020603050405020304" pitchFamily="18" charset="0"/>
                  </a:rPr>
                  <a:t>的转换矩阵；</a:t>
                </a:r>
                <a14:m>
                  <m:oMath xmlns:m="http://schemas.openxmlformats.org/officeDocument/2006/math">
                    <m:sSubSup>
                      <m:sSubSupPr>
                        <m:ctrlPr>
                          <a:rPr lang="zh-CN" altLang="zh-CN" sz="1200" i="1">
                            <a:effectLst/>
                            <a:latin typeface="Cambria Math" panose="02040503050406030204" pitchFamily="18" charset="0"/>
                            <a:ea typeface="Cambria Math" panose="02040503050406030204" pitchFamily="18" charset="0"/>
                          </a:rPr>
                        </m:ctrlPr>
                      </m:sSub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𝑂</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sub>
                      <m:sup>
                        <m:r>
                          <a:rPr lang="en-US" altLang="zh-CN" sz="1200" i="1">
                            <a:latin typeface="Cambria Math" panose="02040503050406030204" pitchFamily="18" charset="0"/>
                            <a:ea typeface="等线" panose="02010600030101010101" pitchFamily="2" charset="-122"/>
                            <a:cs typeface="Times New Roman" panose="02020603050405020304" pitchFamily="18" charset="0"/>
                          </a:rPr>
                          <m:t>0</m:t>
                        </m:r>
                      </m:sup>
                    </m:sSubSup>
                  </m:oMath>
                </a14:m>
                <a:r>
                  <a:rPr lang="zh-CN" altLang="zh-CN" sz="1200" dirty="0">
                    <a:ea typeface="等线" panose="02010600030101010101" pitchFamily="2" charset="-122"/>
                    <a:cs typeface="Times New Roman" panose="02020603050405020304" pitchFamily="18" charset="0"/>
                  </a:rPr>
                  <a:t>为第</a:t>
                </a:r>
                <a:r>
                  <a:rPr lang="en-US" altLang="zh-CN" sz="1200" dirty="0" err="1">
                    <a:ea typeface="等线" panose="02010600030101010101" pitchFamily="2" charset="-122"/>
                    <a:cs typeface="Times New Roman" panose="02020603050405020304" pitchFamily="18" charset="0"/>
                  </a:rPr>
                  <a:t>i</a:t>
                </a:r>
                <a:r>
                  <a:rPr lang="zh-CN" altLang="zh-CN" sz="1200" dirty="0">
                    <a:ea typeface="等线" panose="02010600030101010101" pitchFamily="2" charset="-122"/>
                    <a:cs typeface="Times New Roman" panose="02020603050405020304" pitchFamily="18" charset="0"/>
                  </a:rPr>
                  <a:t>轴坐标系</a:t>
                </a:r>
                <a:r>
                  <a:rPr lang="en-US" altLang="zh-CN" sz="1200" dirty="0">
                    <a:ea typeface="等线" panose="02010600030101010101" pitchFamily="2" charset="-122"/>
                    <a:cs typeface="Times New Roman" panose="02020603050405020304" pitchFamily="18" charset="0"/>
                  </a:rPr>
                  <a:t>{</a:t>
                </a:r>
                <a:r>
                  <a:rPr lang="en-US" altLang="zh-CN" sz="1200" dirty="0" err="1">
                    <a:ea typeface="等线" panose="02010600030101010101" pitchFamily="2" charset="-122"/>
                    <a:cs typeface="Times New Roman" panose="02020603050405020304" pitchFamily="18" charset="0"/>
                  </a:rPr>
                  <a:t>i</a:t>
                </a:r>
                <a:r>
                  <a:rPr lang="en-US" altLang="zh-CN" sz="1200" dirty="0">
                    <a:ea typeface="等线" panose="02010600030101010101" pitchFamily="2" charset="-122"/>
                    <a:cs typeface="Times New Roman" panose="02020603050405020304" pitchFamily="18" charset="0"/>
                  </a:rPr>
                  <a:t>}</a:t>
                </a:r>
                <a:r>
                  <a:rPr lang="zh-CN" altLang="zh-CN" sz="1200" dirty="0">
                    <a:ea typeface="等线" panose="02010600030101010101" pitchFamily="2" charset="-122"/>
                    <a:cs typeface="Times New Roman" panose="02020603050405020304" pitchFamily="18" charset="0"/>
                  </a:rPr>
                  <a:t>的原点在基坐标系</a:t>
                </a:r>
                <a:r>
                  <a:rPr lang="en-US" altLang="zh-CN" sz="1200" dirty="0">
                    <a:ea typeface="等线" panose="02010600030101010101" pitchFamily="2" charset="-122"/>
                    <a:cs typeface="Times New Roman" panose="02020603050405020304" pitchFamily="18" charset="0"/>
                  </a:rPr>
                  <a:t>{0}</a:t>
                </a:r>
                <a:r>
                  <a:rPr lang="zh-CN" altLang="zh-CN" sz="1200" dirty="0">
                    <a:ea typeface="等线" panose="02010600030101010101" pitchFamily="2" charset="-122"/>
                    <a:cs typeface="Times New Roman" panose="02020603050405020304" pitchFamily="18" charset="0"/>
                  </a:rPr>
                  <a:t>的三维坐标值</a:t>
                </a:r>
                <a:endParaRPr lang="zh-CN" altLang="en-US" sz="1200" dirty="0"/>
              </a:p>
            </p:txBody>
          </p:sp>
        </mc:Choice>
        <mc:Fallback xmlns="">
          <p:sp>
            <p:nvSpPr>
              <p:cNvPr id="11" name="矩形 10"/>
              <p:cNvSpPr>
                <a:spLocks noRot="1" noChangeAspect="1" noMove="1" noResize="1" noEditPoints="1" noAdjustHandles="1" noChangeArrowheads="1" noChangeShapeType="1" noTextEdit="1"/>
              </p:cNvSpPr>
              <p:nvPr/>
            </p:nvSpPr>
            <p:spPr>
              <a:xfrm>
                <a:off x="3262638" y="3408846"/>
                <a:ext cx="4572000" cy="481735"/>
              </a:xfrm>
              <a:prstGeom prst="rect">
                <a:avLst/>
              </a:prstGeom>
              <a:blipFill>
                <a:blip r:embed="rId10"/>
                <a:stretch>
                  <a:fillRect b="-101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1687089" y="3932753"/>
                <a:ext cx="2054088"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1">
                                  <a:latin typeface="Cambria Math" panose="02040503050406030204" pitchFamily="18" charset="0"/>
                                </a:rPr>
                                <m:t>𝜔</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1">
                                  <a:latin typeface="Cambria Math" panose="02040503050406030204" pitchFamily="18" charset="0"/>
                                </a:rPr>
                                <m:t>𝜔</m:t>
                              </m:r>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1">
                                  <a:latin typeface="Cambria Math" panose="02040503050406030204" pitchFamily="18" charset="0"/>
                                </a:rPr>
                                <m:t>𝜔</m:t>
                              </m:r>
                              <m:r>
                                <a:rPr lang="zh-CN" altLang="en-US" sz="1600" i="0">
                                  <a:latin typeface="Cambria Math" panose="02040503050406030204" pitchFamily="18" charset="0"/>
                                </a:rPr>
                                <m:t>2</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1">
                                  <a:latin typeface="Cambria Math" panose="02040503050406030204" pitchFamily="18" charset="0"/>
                                </a:rPr>
                                <m:t>𝜔</m:t>
                              </m:r>
                              <m:r>
                                <a:rPr lang="zh-CN" altLang="en-US" sz="1600" i="1">
                                  <a:latin typeface="Cambria Math" panose="02040503050406030204" pitchFamily="18" charset="0"/>
                                </a:rPr>
                                <m:t>𝑛</m:t>
                              </m:r>
                            </m:sub>
                          </m:sSub>
                        </m:e>
                      </m:d>
                    </m:oMath>
                  </m:oMathPara>
                </a14:m>
                <a:endParaRPr lang="zh-CN" altLang="en-US" sz="1600" dirty="0"/>
              </a:p>
            </p:txBody>
          </p:sp>
        </mc:Choice>
        <mc:Fallback xmlns="">
          <p:sp>
            <p:nvSpPr>
              <p:cNvPr id="13" name="矩形 12"/>
              <p:cNvSpPr>
                <a:spLocks noRot="1" noChangeAspect="1" noMove="1" noResize="1" noEditPoints="1" noAdjustHandles="1" noChangeArrowheads="1" noChangeShapeType="1" noTextEdit="1"/>
              </p:cNvSpPr>
              <p:nvPr/>
            </p:nvSpPr>
            <p:spPr>
              <a:xfrm>
                <a:off x="1687089" y="3932753"/>
                <a:ext cx="2054088" cy="338554"/>
              </a:xfrm>
              <a:prstGeom prst="rect">
                <a:avLst/>
              </a:prstGeom>
              <a:blipFill>
                <a:blip r:embed="rId11"/>
                <a:stretch>
                  <a:fillRect t="-108929" r="-20772" b="-1678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3685689" y="3903278"/>
                <a:ext cx="2651367" cy="6088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1">
                              <a:latin typeface="Cambria Math" panose="02040503050406030204" pitchFamily="18" charset="0"/>
                            </a:rPr>
                            <m:t>𝜔</m:t>
                          </m:r>
                          <m:r>
                            <a:rPr lang="zh-CN" altLang="en-US" sz="1600" i="1">
                              <a:latin typeface="Cambria Math" panose="02040503050406030204" pitchFamily="18" charset="0"/>
                            </a:rPr>
                            <m:t>𝑖</m:t>
                          </m:r>
                        </m:sub>
                      </m:sSub>
                      <m:r>
                        <a:rPr lang="zh-CN" altLang="en-US" sz="1600" i="0">
                          <a:latin typeface="Cambria Math" panose="02040503050406030204" pitchFamily="18" charset="0"/>
                        </a:rPr>
                        <m:t>={</m:t>
                      </m:r>
                      <m:m>
                        <m:mPr>
                          <m:mcs>
                            <m:mc>
                              <m:mcPr>
                                <m:count m:val="1"/>
                                <m:mcJc m:val="center"/>
                              </m:mcPr>
                            </m:mc>
                          </m:mcs>
                          <m:ctrlPr>
                            <a:rPr lang="zh-CN" altLang="en-US" sz="1600" i="1">
                              <a:latin typeface="Cambria Math" panose="02040503050406030204" pitchFamily="18" charset="0"/>
                            </a:rPr>
                          </m:ctrlPr>
                        </m:mPr>
                        <m:mr>
                          <m:e>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𝑍</m:t>
                                </m:r>
                              </m:e>
                              <m:sub>
                                <m:r>
                                  <a:rPr lang="zh-CN" altLang="en-US" sz="1600" i="1">
                                    <a:latin typeface="Cambria Math" panose="02040503050406030204" pitchFamily="18" charset="0"/>
                                  </a:rPr>
                                  <m:t>𝑖</m:t>
                                </m:r>
                              </m:sub>
                              <m:sup>
                                <m:r>
                                  <a:rPr lang="zh-CN" altLang="en-US" sz="1600" i="0">
                                    <a:latin typeface="Cambria Math" panose="02040503050406030204" pitchFamily="18" charset="0"/>
                                  </a:rPr>
                                  <m:t>0</m:t>
                                </m:r>
                              </m:sup>
                            </m:sSubSup>
                            <m:r>
                              <a:rPr lang="zh-CN" altLang="en-US" sz="1600" i="0">
                                <a:latin typeface="Cambria Math" panose="02040503050406030204" pitchFamily="18" charset="0"/>
                              </a:rPr>
                              <m:t>  </m:t>
                            </m:r>
                            <m:r>
                              <a:rPr lang="zh-CN" altLang="en-US" sz="1600" i="0">
                                <a:latin typeface="Cambria Math" panose="02040503050406030204" pitchFamily="18" charset="0"/>
                              </a:rPr>
                              <m:t>第</m:t>
                            </m:r>
                            <m:r>
                              <a:rPr lang="zh-CN" altLang="en-US" sz="1600" i="1">
                                <a:latin typeface="Cambria Math" panose="02040503050406030204" pitchFamily="18" charset="0"/>
                              </a:rPr>
                              <m:t>𝑖</m:t>
                            </m:r>
                            <m:r>
                              <a:rPr lang="zh-CN" altLang="en-US" sz="1600" i="0">
                                <a:latin typeface="Cambria Math" panose="02040503050406030204" pitchFamily="18" charset="0"/>
                              </a:rPr>
                              <m:t>轴为旋转关节</m:t>
                            </m:r>
                          </m:e>
                        </m:mr>
                        <m:mr>
                          <m:e>
                            <m:r>
                              <a:rPr lang="zh-CN" altLang="en-US" sz="1600" i="0">
                                <a:latin typeface="Cambria Math" panose="02040503050406030204" pitchFamily="18" charset="0"/>
                              </a:rPr>
                              <m:t>0    </m:t>
                            </m:r>
                            <m:r>
                              <a:rPr lang="zh-CN" altLang="en-US" sz="1600" i="0">
                                <a:latin typeface="Cambria Math" panose="02040503050406030204" pitchFamily="18" charset="0"/>
                              </a:rPr>
                              <m:t>第</m:t>
                            </m:r>
                            <m:r>
                              <a:rPr lang="zh-CN" altLang="en-US" sz="1600" i="1">
                                <a:latin typeface="Cambria Math" panose="02040503050406030204" pitchFamily="18" charset="0"/>
                              </a:rPr>
                              <m:t>𝑖</m:t>
                            </m:r>
                            <m:r>
                              <a:rPr lang="zh-CN" altLang="en-US" sz="1600" i="0">
                                <a:latin typeface="Cambria Math" panose="02040503050406030204" pitchFamily="18" charset="0"/>
                              </a:rPr>
                              <m:t>轴为平动关节</m:t>
                            </m:r>
                          </m:e>
                        </m:mr>
                      </m:m>
                    </m:oMath>
                  </m:oMathPara>
                </a14:m>
                <a:endParaRPr lang="zh-CN" altLang="en-US" sz="1600" dirty="0"/>
              </a:p>
            </p:txBody>
          </p:sp>
        </mc:Choice>
        <mc:Fallback xmlns="">
          <p:sp>
            <p:nvSpPr>
              <p:cNvPr id="14" name="矩形 13"/>
              <p:cNvSpPr>
                <a:spLocks noRot="1" noChangeAspect="1" noMove="1" noResize="1" noEditPoints="1" noAdjustHandles="1" noChangeArrowheads="1" noChangeShapeType="1" noTextEdit="1"/>
              </p:cNvSpPr>
              <p:nvPr/>
            </p:nvSpPr>
            <p:spPr>
              <a:xfrm>
                <a:off x="3685689" y="3903278"/>
                <a:ext cx="2651367" cy="608885"/>
              </a:xfrm>
              <a:prstGeom prst="rect">
                <a:avLst/>
              </a:prstGeom>
              <a:blipFill>
                <a:blip r:embed="rId12"/>
                <a:stretch>
                  <a:fillRect/>
                </a:stretch>
              </a:blipFill>
            </p:spPr>
            <p:txBody>
              <a:bodyPr/>
              <a:lstStyle/>
              <a:p>
                <a:r>
                  <a:rPr lang="zh-CN" altLang="en-US">
                    <a:noFill/>
                  </a:rPr>
                  <a:t> </a:t>
                </a:r>
              </a:p>
            </p:txBody>
          </p:sp>
        </mc:Fallback>
      </mc:AlternateContent>
      <p:sp>
        <p:nvSpPr>
          <p:cNvPr id="15" name="矩形 14"/>
          <p:cNvSpPr/>
          <p:nvPr/>
        </p:nvSpPr>
        <p:spPr>
          <a:xfrm>
            <a:off x="7523152" y="2270948"/>
            <a:ext cx="849913" cy="338554"/>
          </a:xfrm>
          <a:prstGeom prst="rect">
            <a:avLst/>
          </a:prstGeom>
        </p:spPr>
        <p:txBody>
          <a:bodyPr wrap="none">
            <a:spAutoFit/>
          </a:bodyPr>
          <a:lstStyle/>
          <a:p>
            <a:r>
              <a:rPr lang="en-US" altLang="zh-CN" sz="1600" i="1" dirty="0">
                <a:latin typeface="等线" panose="02010600030101010101" pitchFamily="2" charset="-122"/>
                <a:cs typeface="Times New Roman" panose="02020603050405020304" pitchFamily="18" charset="0"/>
              </a:rPr>
              <a:t>(</a:t>
            </a:r>
            <a:r>
              <a:rPr lang="en-US" altLang="zh-CN" sz="1600" i="1" dirty="0" err="1">
                <a:latin typeface="等线" panose="02010600030101010101" pitchFamily="2" charset="-122"/>
                <a:cs typeface="Times New Roman" panose="02020603050405020304" pitchFamily="18" charset="0"/>
              </a:rPr>
              <a:t>i</a:t>
            </a:r>
            <a:r>
              <a:rPr lang="en-US" altLang="zh-CN" sz="1600" i="1" dirty="0">
                <a:latin typeface="等线" panose="02010600030101010101" pitchFamily="2" charset="-122"/>
                <a:cs typeface="Times New Roman" panose="02020603050405020304" pitchFamily="18" charset="0"/>
              </a:rPr>
              <a:t>=1…n)</a:t>
            </a:r>
            <a:endParaRPr lang="zh-CN" altLang="en-US" sz="1600" i="1" dirty="0"/>
          </a:p>
        </p:txBody>
      </p:sp>
      <p:sp>
        <p:nvSpPr>
          <p:cNvPr id="42" name="矩形 41"/>
          <p:cNvSpPr/>
          <p:nvPr/>
        </p:nvSpPr>
        <p:spPr>
          <a:xfrm>
            <a:off x="6398246" y="4049243"/>
            <a:ext cx="849913" cy="338554"/>
          </a:xfrm>
          <a:prstGeom prst="rect">
            <a:avLst/>
          </a:prstGeom>
        </p:spPr>
        <p:txBody>
          <a:bodyPr wrap="none">
            <a:spAutoFit/>
          </a:bodyPr>
          <a:lstStyle/>
          <a:p>
            <a:r>
              <a:rPr lang="en-US" altLang="zh-CN" sz="1600" i="1" dirty="0">
                <a:latin typeface="等线" panose="02010600030101010101" pitchFamily="2" charset="-122"/>
                <a:cs typeface="Times New Roman" panose="02020603050405020304" pitchFamily="18" charset="0"/>
              </a:rPr>
              <a:t>(</a:t>
            </a:r>
            <a:r>
              <a:rPr lang="en-US" altLang="zh-CN" sz="1600" i="1" dirty="0" err="1">
                <a:latin typeface="等线" panose="02010600030101010101" pitchFamily="2" charset="-122"/>
                <a:cs typeface="Times New Roman" panose="02020603050405020304" pitchFamily="18" charset="0"/>
              </a:rPr>
              <a:t>i</a:t>
            </a:r>
            <a:r>
              <a:rPr lang="en-US" altLang="zh-CN" sz="1600" i="1" dirty="0">
                <a:latin typeface="等线" panose="02010600030101010101" pitchFamily="2" charset="-122"/>
                <a:cs typeface="Times New Roman" panose="02020603050405020304" pitchFamily="18" charset="0"/>
              </a:rPr>
              <a:t>=1…n)</a:t>
            </a:r>
            <a:endParaRPr lang="zh-CN" altLang="en-US" sz="1600" i="1" dirty="0"/>
          </a:p>
        </p:txBody>
      </p:sp>
    </p:spTree>
    <p:extLst>
      <p:ext uri="{BB962C8B-B14F-4D97-AF65-F5344CB8AC3E}">
        <p14:creationId xmlns:p14="http://schemas.microsoft.com/office/powerpoint/2010/main" val="205883807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553603" y="801132"/>
            <a:ext cx="4034621" cy="400110"/>
          </a:xfrm>
          <a:prstGeom prst="rect">
            <a:avLst/>
          </a:prstGeom>
        </p:spPr>
        <p:txBody>
          <a:bodyPr wrap="square">
            <a:spAutoFit/>
          </a:bodyPr>
          <a:lstStyle/>
          <a:p>
            <a:r>
              <a:rPr lang="zh-CN" altLang="en-US" sz="2000" b="1" dirty="0">
                <a:solidFill>
                  <a:srgbClr val="002060"/>
                </a:solidFill>
              </a:rPr>
              <a:t>机器人雅可比矩阵微分变换求法</a:t>
            </a:r>
          </a:p>
        </p:txBody>
      </p:sp>
      <p:grpSp>
        <p:nvGrpSpPr>
          <p:cNvPr id="38" name="组合 37"/>
          <p:cNvGrpSpPr/>
          <p:nvPr/>
        </p:nvGrpSpPr>
        <p:grpSpPr>
          <a:xfrm>
            <a:off x="-236220" y="219075"/>
            <a:ext cx="5153660" cy="598805"/>
            <a:chOff x="-372" y="345"/>
            <a:chExt cx="8116" cy="943"/>
          </a:xfrm>
        </p:grpSpPr>
        <p:sp>
          <p:nvSpPr>
            <p:cNvPr id="39" name="矩形 3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Jacobian Matrix of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40" name="文本框 39"/>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机器人雅可比矩阵</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41" name="椭圆 4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19" name="矩形 18"/>
              <p:cNvSpPr/>
              <p:nvPr/>
            </p:nvSpPr>
            <p:spPr>
              <a:xfrm>
                <a:off x="6184630" y="821111"/>
                <a:ext cx="42723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𝐽</m:t>
                          </m:r>
                        </m:e>
                        <m:sub>
                          <m:r>
                            <a:rPr lang="en-US" altLang="zh-CN" b="0" i="1" smtClean="0">
                              <a:solidFill>
                                <a:srgbClr val="FF0000"/>
                              </a:solidFill>
                              <a:latin typeface="Cambria Math" panose="02040503050406030204" pitchFamily="18" charset="0"/>
                            </a:rPr>
                            <m:t>𝑏</m:t>
                          </m:r>
                        </m:sub>
                      </m:sSub>
                    </m:oMath>
                  </m:oMathPara>
                </a14:m>
                <a:endParaRPr lang="zh-CN" altLang="en-US" dirty="0">
                  <a:solidFill>
                    <a:srgbClr val="FF0000"/>
                  </a:solidFill>
                </a:endParaRPr>
              </a:p>
            </p:txBody>
          </p:sp>
        </mc:Choice>
        <mc:Fallback xmlns="">
          <p:sp>
            <p:nvSpPr>
              <p:cNvPr id="19" name="矩形 18"/>
              <p:cNvSpPr>
                <a:spLocks noRot="1" noChangeAspect="1" noMove="1" noResize="1" noEditPoints="1" noAdjustHandles="1" noChangeArrowheads="1" noChangeShapeType="1" noTextEdit="1"/>
              </p:cNvSpPr>
              <p:nvPr/>
            </p:nvSpPr>
            <p:spPr>
              <a:xfrm>
                <a:off x="6184630" y="821111"/>
                <a:ext cx="427232" cy="369332"/>
              </a:xfrm>
              <a:prstGeom prst="rect">
                <a:avLst/>
              </a:prstGeom>
              <a:blipFill>
                <a:blip r:embed="rId3"/>
                <a:stretch>
                  <a:fillRect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2967393" y="1259979"/>
                <a:ext cx="2594428" cy="80650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200" i="1">
                          <a:latin typeface="Cambria Math" panose="02040503050406030204" pitchFamily="18" charset="0"/>
                        </a:rPr>
                        <m:t>𝑇𝑟𝑎𝑛𝑠</m:t>
                      </m:r>
                      <m:d>
                        <m:dPr>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r>
                                <a:rPr lang="zh-CN" altLang="en-US" sz="1200" i="1">
                                  <a:latin typeface="Cambria Math" panose="02040503050406030204" pitchFamily="18" charset="0"/>
                                </a:rPr>
                                <m:t>𝑥</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r>
                                <a:rPr lang="zh-CN" altLang="en-US" sz="1200" i="1">
                                  <a:latin typeface="Cambria Math" panose="02040503050406030204" pitchFamily="18" charset="0"/>
                                </a:rPr>
                                <m:t>𝑦</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r>
                                <a:rPr lang="zh-CN" altLang="en-US" sz="1200" i="1">
                                  <a:latin typeface="Cambria Math" panose="02040503050406030204" pitchFamily="18" charset="0"/>
                                </a:rPr>
                                <m:t>𝑧</m:t>
                              </m:r>
                            </m:sub>
                          </m:sSub>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1</m:t>
                                      </m:r>
                                    </m:e>
                                    <m:e>
                                      <m:r>
                                        <a:rPr lang="zh-CN" altLang="en-US" sz="1200" i="0">
                                          <a:latin typeface="Cambria Math" panose="02040503050406030204" pitchFamily="18" charset="0"/>
                                        </a:rPr>
                                        <m:t>0</m:t>
                                      </m:r>
                                    </m:e>
                                  </m:mr>
                                  <m:mr>
                                    <m:e>
                                      <m:r>
                                        <a:rPr lang="zh-CN" altLang="en-US" sz="1200" i="0">
                                          <a:latin typeface="Cambria Math" panose="02040503050406030204" pitchFamily="18" charset="0"/>
                                        </a:rPr>
                                        <m:t>0</m:t>
                                      </m:r>
                                    </m:e>
                                    <m:e>
                                      <m:r>
                                        <a:rPr lang="zh-CN" altLang="en-US" sz="1200" i="0">
                                          <a:latin typeface="Cambria Math" panose="02040503050406030204" pitchFamily="18" charset="0"/>
                                        </a:rPr>
                                        <m:t>1</m:t>
                                      </m:r>
                                    </m:e>
                                  </m:mr>
                                </m:m>
                              </m:e>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0</m:t>
                                      </m:r>
                                    </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r>
                                            <a:rPr lang="zh-CN" altLang="en-US" sz="1200" i="1">
                                              <a:latin typeface="Cambria Math" panose="02040503050406030204" pitchFamily="18" charset="0"/>
                                            </a:rPr>
                                            <m:t>𝑥</m:t>
                                          </m:r>
                                        </m:sub>
                                      </m:sSub>
                                    </m:e>
                                  </m:mr>
                                  <m:mr>
                                    <m:e>
                                      <m:r>
                                        <a:rPr lang="zh-CN" altLang="en-US" sz="1200" i="0">
                                          <a:latin typeface="Cambria Math" panose="02040503050406030204" pitchFamily="18" charset="0"/>
                                        </a:rPr>
                                        <m:t>0</m:t>
                                      </m:r>
                                    </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r>
                                            <a:rPr lang="zh-CN" altLang="en-US" sz="1200" i="1">
                                              <a:latin typeface="Cambria Math" panose="02040503050406030204" pitchFamily="18" charset="0"/>
                                            </a:rPr>
                                            <m:t>𝑦</m:t>
                                          </m:r>
                                        </m:sub>
                                      </m:sSub>
                                    </m:e>
                                  </m:mr>
                                </m:m>
                              </m:e>
                            </m:mr>
                            <m:mr>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0</m:t>
                                      </m:r>
                                    </m:e>
                                    <m:e>
                                      <m:r>
                                        <a:rPr lang="zh-CN" altLang="en-US" sz="1200" i="0">
                                          <a:latin typeface="Cambria Math" panose="02040503050406030204" pitchFamily="18" charset="0"/>
                                        </a:rPr>
                                        <m:t>0</m:t>
                                      </m:r>
                                    </m:e>
                                  </m:mr>
                                  <m:mr>
                                    <m:e>
                                      <m:r>
                                        <a:rPr lang="zh-CN" altLang="en-US" sz="1200" i="0">
                                          <a:latin typeface="Cambria Math" panose="02040503050406030204" pitchFamily="18" charset="0"/>
                                        </a:rPr>
                                        <m:t>0</m:t>
                                      </m:r>
                                    </m:e>
                                    <m:e>
                                      <m:r>
                                        <a:rPr lang="zh-CN" altLang="en-US" sz="1200" i="0">
                                          <a:latin typeface="Cambria Math" panose="02040503050406030204" pitchFamily="18" charset="0"/>
                                        </a:rPr>
                                        <m:t>0</m:t>
                                      </m:r>
                                    </m:e>
                                  </m:mr>
                                </m:m>
                              </m:e>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1</m:t>
                                      </m:r>
                                    </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r>
                                            <a:rPr lang="zh-CN" altLang="en-US" sz="1200" i="1">
                                              <a:latin typeface="Cambria Math" panose="02040503050406030204" pitchFamily="18" charset="0"/>
                                            </a:rPr>
                                            <m:t>𝑧</m:t>
                                          </m:r>
                                        </m:sub>
                                      </m:sSub>
                                    </m:e>
                                  </m:mr>
                                  <m:mr>
                                    <m:e>
                                      <m:r>
                                        <a:rPr lang="zh-CN" altLang="en-US" sz="1200" i="0">
                                          <a:latin typeface="Cambria Math" panose="02040503050406030204" pitchFamily="18" charset="0"/>
                                        </a:rPr>
                                        <m:t>0</m:t>
                                      </m:r>
                                    </m:e>
                                    <m:e>
                                      <m:r>
                                        <a:rPr lang="zh-CN" altLang="en-US" sz="1200" i="0">
                                          <a:latin typeface="Cambria Math" panose="02040503050406030204" pitchFamily="18" charset="0"/>
                                        </a:rPr>
                                        <m:t>1</m:t>
                                      </m:r>
                                    </m:e>
                                  </m:mr>
                                </m:m>
                              </m:e>
                            </m:mr>
                          </m:m>
                        </m:e>
                      </m:d>
                    </m:oMath>
                  </m:oMathPara>
                </a14:m>
                <a:endParaRPr lang="zh-CN" altLang="en-US" sz="1200" dirty="0"/>
              </a:p>
            </p:txBody>
          </p:sp>
        </mc:Choice>
        <mc:Fallback xmlns="">
          <p:sp>
            <p:nvSpPr>
              <p:cNvPr id="2" name="矩形 1"/>
              <p:cNvSpPr>
                <a:spLocks noRot="1" noChangeAspect="1" noMove="1" noResize="1" noEditPoints="1" noAdjustHandles="1" noChangeArrowheads="1" noChangeShapeType="1" noTextEdit="1"/>
              </p:cNvSpPr>
              <p:nvPr/>
            </p:nvSpPr>
            <p:spPr>
              <a:xfrm>
                <a:off x="2967393" y="1259979"/>
                <a:ext cx="2594428" cy="806503"/>
              </a:xfrm>
              <a:prstGeom prst="rect">
                <a:avLst/>
              </a:prstGeom>
              <a:blipFill>
                <a:blip r:embed="rId4"/>
                <a:stretch>
                  <a:fillRect/>
                </a:stretch>
              </a:blipFill>
            </p:spPr>
            <p:txBody>
              <a:bodyPr/>
              <a:lstStyle/>
              <a:p>
                <a:r>
                  <a:rPr lang="zh-CN" altLang="en-US">
                    <a:noFill/>
                  </a:rPr>
                  <a:t> </a:t>
                </a:r>
              </a:p>
            </p:txBody>
          </p:sp>
        </mc:Fallback>
      </mc:AlternateContent>
      <p:sp>
        <p:nvSpPr>
          <p:cNvPr id="6" name="矩形 5"/>
          <p:cNvSpPr/>
          <p:nvPr/>
        </p:nvSpPr>
        <p:spPr>
          <a:xfrm>
            <a:off x="773231" y="1506456"/>
            <a:ext cx="1826141" cy="338554"/>
          </a:xfrm>
          <a:prstGeom prst="rect">
            <a:avLst/>
          </a:prstGeom>
        </p:spPr>
        <p:txBody>
          <a:bodyPr wrap="none">
            <a:spAutoFit/>
          </a:bodyPr>
          <a:lstStyle/>
          <a:p>
            <a:r>
              <a:rPr lang="zh-CN" altLang="zh-CN" sz="1600" dirty="0">
                <a:solidFill>
                  <a:srgbClr val="002060"/>
                </a:solidFill>
                <a:latin typeface="+mj-ea"/>
                <a:ea typeface="+mj-ea"/>
                <a:cs typeface="Times New Roman" panose="02020603050405020304" pitchFamily="18" charset="0"/>
              </a:rPr>
              <a:t>微移动的齐次矩阵</a:t>
            </a:r>
            <a:endParaRPr lang="zh-CN" altLang="en-US" sz="1600" dirty="0">
              <a:solidFill>
                <a:srgbClr val="002060"/>
              </a:solidFill>
              <a:latin typeface="+mj-ea"/>
              <a:ea typeface="+mj-ea"/>
            </a:endParaRPr>
          </a:p>
        </p:txBody>
      </p:sp>
      <mc:AlternateContent xmlns:mc="http://schemas.openxmlformats.org/markup-compatibility/2006" xmlns:a14="http://schemas.microsoft.com/office/drawing/2010/main">
        <mc:Choice Requires="a14">
          <p:sp>
            <p:nvSpPr>
              <p:cNvPr id="7" name="矩形 6"/>
              <p:cNvSpPr/>
              <p:nvPr/>
            </p:nvSpPr>
            <p:spPr>
              <a:xfrm>
                <a:off x="1475656" y="2284272"/>
                <a:ext cx="1834540" cy="6061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200" i="1">
                          <a:latin typeface="Cambria Math" panose="02040503050406030204" pitchFamily="18" charset="0"/>
                        </a:rPr>
                        <m:t>𝑅</m:t>
                      </m:r>
                      <m:r>
                        <a:rPr lang="zh-CN" altLang="en-US" sz="1200" i="0">
                          <a:latin typeface="Cambria Math" panose="02040503050406030204" pitchFamily="18" charset="0"/>
                        </a:rPr>
                        <m:t>(</m:t>
                      </m:r>
                      <m:r>
                        <a:rPr lang="zh-CN" altLang="en-US" sz="1200" i="1">
                          <a:latin typeface="Cambria Math" panose="02040503050406030204" pitchFamily="18" charset="0"/>
                        </a:rPr>
                        <m:t>𝑋</m:t>
                      </m:r>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𝛿</m:t>
                          </m:r>
                        </m:e>
                        <m:sub>
                          <m:r>
                            <a:rPr lang="zh-CN" altLang="en-US" sz="1200" i="1">
                              <a:latin typeface="Cambria Math" panose="02040503050406030204" pitchFamily="18" charset="0"/>
                            </a:rPr>
                            <m:t>𝑥</m:t>
                          </m:r>
                        </m:sub>
                      </m:sSub>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1</m:t>
                                </m:r>
                              </m:e>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0</m:t>
                                      </m:r>
                                    </m:e>
                                    <m:e>
                                      <m:r>
                                        <a:rPr lang="zh-CN" altLang="en-US" sz="1200" i="0">
                                          <a:latin typeface="Cambria Math" panose="02040503050406030204" pitchFamily="18" charset="0"/>
                                        </a:rPr>
                                        <m:t>0</m:t>
                                      </m:r>
                                    </m:e>
                                  </m:mr>
                                </m:m>
                              </m:e>
                            </m:mr>
                            <m:mr>
                              <m:e>
                                <m:m>
                                  <m:mPr>
                                    <m:mcs>
                                      <m:mc>
                                        <m:mcPr>
                                          <m:count m:val="1"/>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0</m:t>
                                      </m:r>
                                    </m:e>
                                  </m:mr>
                                  <m:mr>
                                    <m:e>
                                      <m:r>
                                        <a:rPr lang="zh-CN" altLang="en-US" sz="1200" i="0">
                                          <a:latin typeface="Cambria Math" panose="02040503050406030204" pitchFamily="18" charset="0"/>
                                        </a:rPr>
                                        <m:t>0</m:t>
                                      </m:r>
                                    </m:e>
                                  </m:mr>
                                </m:m>
                              </m:e>
                              <m:e>
                                <m:m>
                                  <m:mPr>
                                    <m:mcs>
                                      <m:mc>
                                        <m:mcPr>
                                          <m:count m:val="1"/>
                                          <m:mcJc m:val="center"/>
                                        </m:mcPr>
                                      </m:mc>
                                    </m:mcs>
                                    <m:ctrlPr>
                                      <a:rPr lang="zh-CN" altLang="en-US" sz="1200" i="1">
                                        <a:latin typeface="Cambria Math" panose="02040503050406030204" pitchFamily="18" charset="0"/>
                                      </a:rPr>
                                    </m:ctrlPr>
                                  </m:mPr>
                                  <m:mr>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1</m:t>
                                            </m:r>
                                          </m:e>
                                          <m:e>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𝛿</m:t>
                                                </m:r>
                                              </m:e>
                                              <m:sub>
                                                <m:r>
                                                  <a:rPr lang="zh-CN" altLang="en-US" sz="1200" i="1">
                                                    <a:latin typeface="Cambria Math" panose="02040503050406030204" pitchFamily="18" charset="0"/>
                                                  </a:rPr>
                                                  <m:t>𝑥</m:t>
                                                </m:r>
                                              </m:sub>
                                            </m:sSub>
                                          </m:e>
                                        </m:mr>
                                      </m:m>
                                    </m:e>
                                  </m:mr>
                                  <m:mr>
                                    <m:e>
                                      <m:m>
                                        <m:mPr>
                                          <m:mcs>
                                            <m:mc>
                                              <m:mcPr>
                                                <m:count m:val="2"/>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𝛿</m:t>
                                                </m:r>
                                              </m:e>
                                              <m:sub>
                                                <m:r>
                                                  <a:rPr lang="zh-CN" altLang="en-US" sz="1200" i="1">
                                                    <a:latin typeface="Cambria Math" panose="02040503050406030204" pitchFamily="18" charset="0"/>
                                                  </a:rPr>
                                                  <m:t>𝑥</m:t>
                                                </m:r>
                                              </m:sub>
                                            </m:sSub>
                                          </m:e>
                                          <m:e>
                                            <m:r>
                                              <a:rPr lang="zh-CN" altLang="en-US" sz="1200" i="0">
                                                <a:latin typeface="Cambria Math" panose="02040503050406030204" pitchFamily="18" charset="0"/>
                                              </a:rPr>
                                              <m:t>1</m:t>
                                            </m:r>
                                          </m:e>
                                        </m:mr>
                                      </m:m>
                                    </m:e>
                                  </m:mr>
                                </m:m>
                              </m:e>
                            </m:mr>
                          </m:m>
                        </m:e>
                      </m:d>
                    </m:oMath>
                  </m:oMathPara>
                </a14:m>
                <a:endParaRPr lang="zh-CN" altLang="en-US" sz="1200" dirty="0"/>
              </a:p>
            </p:txBody>
          </p:sp>
        </mc:Choice>
        <mc:Fallback xmlns="">
          <p:sp>
            <p:nvSpPr>
              <p:cNvPr id="7" name="矩形 6"/>
              <p:cNvSpPr>
                <a:spLocks noRot="1" noChangeAspect="1" noMove="1" noResize="1" noEditPoints="1" noAdjustHandles="1" noChangeArrowheads="1" noChangeShapeType="1" noTextEdit="1"/>
              </p:cNvSpPr>
              <p:nvPr/>
            </p:nvSpPr>
            <p:spPr>
              <a:xfrm>
                <a:off x="1475656" y="2284272"/>
                <a:ext cx="1834540" cy="606128"/>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3333163" y="2247691"/>
                <a:ext cx="1913793" cy="6792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200" i="1">
                          <a:latin typeface="Cambria Math" panose="02040503050406030204" pitchFamily="18" charset="0"/>
                        </a:rPr>
                        <m:t>𝑅</m:t>
                      </m:r>
                      <m:r>
                        <a:rPr lang="zh-CN" altLang="en-US" sz="1200" i="0">
                          <a:latin typeface="Cambria Math" panose="02040503050406030204" pitchFamily="18" charset="0"/>
                        </a:rPr>
                        <m:t>(</m:t>
                      </m:r>
                      <m:r>
                        <a:rPr lang="zh-CN" altLang="en-US" sz="1200" i="1">
                          <a:latin typeface="Cambria Math" panose="02040503050406030204" pitchFamily="18" charset="0"/>
                        </a:rPr>
                        <m:t>𝑌</m:t>
                      </m:r>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𝛿</m:t>
                          </m:r>
                        </m:e>
                        <m:sub>
                          <m:r>
                            <a:rPr lang="zh-CN" altLang="en-US" sz="1200" i="1">
                              <a:latin typeface="Cambria Math" panose="02040503050406030204" pitchFamily="18" charset="0"/>
                            </a:rPr>
                            <m:t>𝑦</m:t>
                          </m:r>
                        </m:sub>
                      </m:sSub>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1</m:t>
                                </m:r>
                              </m:e>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0</m:t>
                                      </m:r>
                                    </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𝛿</m:t>
                                          </m:r>
                                        </m:e>
                                        <m:sub>
                                          <m:r>
                                            <a:rPr lang="zh-CN" altLang="en-US" sz="1200" i="1">
                                              <a:latin typeface="Cambria Math" panose="02040503050406030204" pitchFamily="18" charset="0"/>
                                            </a:rPr>
                                            <m:t>𝑦</m:t>
                                          </m:r>
                                        </m:sub>
                                      </m:sSub>
                                    </m:e>
                                  </m:mr>
                                </m:m>
                              </m:e>
                            </m:mr>
                            <m:mr>
                              <m:e>
                                <m:m>
                                  <m:mPr>
                                    <m:mcs>
                                      <m:mc>
                                        <m:mcPr>
                                          <m:count m:val="1"/>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0</m:t>
                                      </m:r>
                                    </m:e>
                                  </m:mr>
                                  <m:mr>
                                    <m:e>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m:t>
                                          </m:r>
                                          <m:r>
                                            <a:rPr lang="zh-CN" altLang="en-US" sz="1200" i="1">
                                              <a:latin typeface="Cambria Math" panose="02040503050406030204" pitchFamily="18" charset="0"/>
                                            </a:rPr>
                                            <m:t>𝛿</m:t>
                                          </m:r>
                                        </m:e>
                                        <m:sub>
                                          <m:r>
                                            <a:rPr lang="zh-CN" altLang="en-US" sz="1200" i="1">
                                              <a:latin typeface="Cambria Math" panose="02040503050406030204" pitchFamily="18" charset="0"/>
                                            </a:rPr>
                                            <m:t>𝑦</m:t>
                                          </m:r>
                                        </m:sub>
                                      </m:sSub>
                                    </m:e>
                                  </m:mr>
                                </m:m>
                              </m:e>
                              <m:e>
                                <m:m>
                                  <m:mPr>
                                    <m:mcs>
                                      <m:mc>
                                        <m:mcPr>
                                          <m:count m:val="1"/>
                                          <m:mcJc m:val="center"/>
                                        </m:mcPr>
                                      </m:mc>
                                    </m:mcs>
                                    <m:ctrlPr>
                                      <a:rPr lang="zh-CN" altLang="en-US" sz="1200" i="1">
                                        <a:latin typeface="Cambria Math" panose="02040503050406030204" pitchFamily="18" charset="0"/>
                                      </a:rPr>
                                    </m:ctrlPr>
                                  </m:mPr>
                                  <m:mr>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1</m:t>
                                            </m:r>
                                          </m:e>
                                          <m:e>
                                            <m:r>
                                              <a:rPr lang="zh-CN" altLang="en-US" sz="1200" i="0">
                                                <a:latin typeface="Cambria Math" panose="02040503050406030204" pitchFamily="18" charset="0"/>
                                              </a:rPr>
                                              <m:t>0</m:t>
                                            </m:r>
                                          </m:e>
                                        </m:mr>
                                      </m:m>
                                    </m:e>
                                  </m:mr>
                                  <m:mr>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0</m:t>
                                            </m:r>
                                          </m:e>
                                          <m:e>
                                            <m:r>
                                              <a:rPr lang="zh-CN" altLang="en-US" sz="1200" i="0">
                                                <a:latin typeface="Cambria Math" panose="02040503050406030204" pitchFamily="18" charset="0"/>
                                              </a:rPr>
                                              <m:t>1</m:t>
                                            </m:r>
                                          </m:e>
                                        </m:mr>
                                      </m:m>
                                    </m:e>
                                  </m:mr>
                                </m:m>
                              </m:e>
                            </m:mr>
                          </m:m>
                        </m:e>
                      </m:d>
                    </m:oMath>
                  </m:oMathPara>
                </a14:m>
                <a:endParaRPr lang="zh-CN" altLang="en-US" sz="1200" dirty="0"/>
              </a:p>
            </p:txBody>
          </p:sp>
        </mc:Choice>
        <mc:Fallback xmlns="">
          <p:sp>
            <p:nvSpPr>
              <p:cNvPr id="17" name="矩形 16"/>
              <p:cNvSpPr>
                <a:spLocks noRot="1" noChangeAspect="1" noMove="1" noResize="1" noEditPoints="1" noAdjustHandles="1" noChangeArrowheads="1" noChangeShapeType="1" noTextEdit="1"/>
              </p:cNvSpPr>
              <p:nvPr/>
            </p:nvSpPr>
            <p:spPr>
              <a:xfrm>
                <a:off x="3333163" y="2247691"/>
                <a:ext cx="1913793" cy="679289"/>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5304451" y="2247691"/>
                <a:ext cx="1874616" cy="5967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200" i="1">
                          <a:latin typeface="Cambria Math" panose="02040503050406030204" pitchFamily="18" charset="0"/>
                        </a:rPr>
                        <m:t>𝑅</m:t>
                      </m:r>
                      <m:r>
                        <a:rPr lang="zh-CN" altLang="en-US" sz="1200" i="0">
                          <a:latin typeface="Cambria Math" panose="02040503050406030204" pitchFamily="18" charset="0"/>
                        </a:rPr>
                        <m:t>(</m:t>
                      </m:r>
                      <m:r>
                        <a:rPr lang="zh-CN" altLang="en-US" sz="1200" i="1">
                          <a:latin typeface="Cambria Math" panose="02040503050406030204" pitchFamily="18" charset="0"/>
                        </a:rPr>
                        <m:t>𝑍</m:t>
                      </m:r>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𝛿</m:t>
                          </m:r>
                        </m:e>
                        <m:sub>
                          <m:r>
                            <a:rPr lang="zh-CN" altLang="en-US" sz="1200" i="1">
                              <a:latin typeface="Cambria Math" panose="02040503050406030204" pitchFamily="18" charset="0"/>
                            </a:rPr>
                            <m:t>𝑧</m:t>
                          </m:r>
                        </m:sub>
                      </m:sSub>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1</m:t>
                                </m:r>
                              </m:e>
                              <m:e>
                                <m:r>
                                  <a:rPr lang="zh-CN" altLang="en-US" sz="1200" i="0">
                                    <a:latin typeface="Cambria Math" panose="02040503050406030204" pitchFamily="18" charset="0"/>
                                  </a:rPr>
                                  <m:t>−</m:t>
                                </m:r>
                                <m:m>
                                  <m:mPr>
                                    <m:mcs>
                                      <m:mc>
                                        <m:mcPr>
                                          <m:count m:val="2"/>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𝛿</m:t>
                                          </m:r>
                                        </m:e>
                                        <m:sub>
                                          <m:r>
                                            <a:rPr lang="zh-CN" altLang="en-US" sz="1200" i="1">
                                              <a:latin typeface="Cambria Math" panose="02040503050406030204" pitchFamily="18" charset="0"/>
                                            </a:rPr>
                                            <m:t>𝑧</m:t>
                                          </m:r>
                                        </m:sub>
                                      </m:sSub>
                                    </m:e>
                                    <m:e>
                                      <m:r>
                                        <a:rPr lang="zh-CN" altLang="en-US" sz="1200" i="0">
                                          <a:latin typeface="Cambria Math" panose="02040503050406030204" pitchFamily="18" charset="0"/>
                                        </a:rPr>
                                        <m:t>0</m:t>
                                      </m:r>
                                    </m:e>
                                  </m:mr>
                                </m:m>
                              </m:e>
                            </m:mr>
                            <m:m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𝛿</m:t>
                                          </m:r>
                                        </m:e>
                                        <m:sub>
                                          <m:r>
                                            <a:rPr lang="zh-CN" altLang="en-US" sz="1200" i="1">
                                              <a:latin typeface="Cambria Math" panose="02040503050406030204" pitchFamily="18" charset="0"/>
                                            </a:rPr>
                                            <m:t>𝑧</m:t>
                                          </m:r>
                                        </m:sub>
                                      </m:sSub>
                                    </m:e>
                                  </m:mr>
                                  <m:mr>
                                    <m:e>
                                      <m:r>
                                        <a:rPr lang="zh-CN" altLang="en-US" sz="1200" i="0">
                                          <a:latin typeface="Cambria Math" panose="02040503050406030204" pitchFamily="18" charset="0"/>
                                        </a:rPr>
                                        <m:t>0</m:t>
                                      </m:r>
                                    </m:e>
                                  </m:mr>
                                </m:m>
                              </m:e>
                              <m:e>
                                <m:m>
                                  <m:mPr>
                                    <m:mcs>
                                      <m:mc>
                                        <m:mcPr>
                                          <m:count m:val="1"/>
                                          <m:mcJc m:val="center"/>
                                        </m:mcPr>
                                      </m:mc>
                                    </m:mcs>
                                    <m:ctrlPr>
                                      <a:rPr lang="zh-CN" altLang="en-US" sz="1200" i="1">
                                        <a:latin typeface="Cambria Math" panose="02040503050406030204" pitchFamily="18" charset="0"/>
                                      </a:rPr>
                                    </m:ctrlPr>
                                  </m:mPr>
                                  <m:mr>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1</m:t>
                                            </m:r>
                                          </m:e>
                                          <m:e>
                                            <m:r>
                                              <a:rPr lang="zh-CN" altLang="en-US" sz="1200" i="0">
                                                <a:latin typeface="Cambria Math" panose="02040503050406030204" pitchFamily="18" charset="0"/>
                                              </a:rPr>
                                              <m:t>0</m:t>
                                            </m:r>
                                          </m:e>
                                        </m:mr>
                                      </m:m>
                                    </m:e>
                                  </m:mr>
                                  <m:mr>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0</m:t>
                                            </m:r>
                                          </m:e>
                                          <m:e>
                                            <m:r>
                                              <a:rPr lang="zh-CN" altLang="en-US" sz="1200" i="0">
                                                <a:latin typeface="Cambria Math" panose="02040503050406030204" pitchFamily="18" charset="0"/>
                                              </a:rPr>
                                              <m:t>1</m:t>
                                            </m:r>
                                          </m:e>
                                        </m:mr>
                                      </m:m>
                                    </m:e>
                                  </m:mr>
                                </m:m>
                              </m:e>
                            </m:mr>
                          </m:m>
                        </m:e>
                      </m:d>
                    </m:oMath>
                  </m:oMathPara>
                </a14:m>
                <a:endParaRPr lang="zh-CN" altLang="en-US" sz="1200" dirty="0"/>
              </a:p>
            </p:txBody>
          </p:sp>
        </mc:Choice>
        <mc:Fallback xmlns="">
          <p:sp>
            <p:nvSpPr>
              <p:cNvPr id="18" name="矩形 17"/>
              <p:cNvSpPr>
                <a:spLocks noRot="1" noChangeAspect="1" noMove="1" noResize="1" noEditPoints="1" noAdjustHandles="1" noChangeArrowheads="1" noChangeShapeType="1" noTextEdit="1"/>
              </p:cNvSpPr>
              <p:nvPr/>
            </p:nvSpPr>
            <p:spPr>
              <a:xfrm>
                <a:off x="5304451" y="2247691"/>
                <a:ext cx="1874616" cy="596766"/>
              </a:xfrm>
              <a:prstGeom prst="rect">
                <a:avLst/>
              </a:prstGeom>
              <a:blipFill>
                <a:blip r:embed="rId7"/>
                <a:stretch>
                  <a:fillRect/>
                </a:stretch>
              </a:blipFill>
            </p:spPr>
            <p:txBody>
              <a:bodyPr/>
              <a:lstStyle/>
              <a:p>
                <a:r>
                  <a:rPr lang="zh-CN" altLang="en-US">
                    <a:noFill/>
                  </a:rPr>
                  <a:t> </a:t>
                </a:r>
              </a:p>
            </p:txBody>
          </p:sp>
        </mc:Fallback>
      </mc:AlternateContent>
      <p:sp>
        <p:nvSpPr>
          <p:cNvPr id="20" name="矩形 19"/>
          <p:cNvSpPr/>
          <p:nvPr/>
        </p:nvSpPr>
        <p:spPr>
          <a:xfrm>
            <a:off x="773231" y="1949639"/>
            <a:ext cx="2236510" cy="338554"/>
          </a:xfrm>
          <a:prstGeom prst="rect">
            <a:avLst/>
          </a:prstGeom>
        </p:spPr>
        <p:txBody>
          <a:bodyPr wrap="none">
            <a:spAutoFit/>
          </a:bodyPr>
          <a:lstStyle/>
          <a:p>
            <a:r>
              <a:rPr lang="zh-CN" altLang="en-US" sz="1600" dirty="0">
                <a:solidFill>
                  <a:srgbClr val="002060"/>
                </a:solidFill>
              </a:rPr>
              <a:t>微转动的旋转变换矩阵</a:t>
            </a:r>
          </a:p>
        </p:txBody>
      </p:sp>
      <mc:AlternateContent xmlns:mc="http://schemas.openxmlformats.org/markup-compatibility/2006" xmlns:a14="http://schemas.microsoft.com/office/drawing/2010/main">
        <mc:Choice Requires="a14">
          <p:sp>
            <p:nvSpPr>
              <p:cNvPr id="21" name="矩形 20"/>
              <p:cNvSpPr/>
              <p:nvPr/>
            </p:nvSpPr>
            <p:spPr>
              <a:xfrm>
                <a:off x="1954728" y="2981290"/>
                <a:ext cx="4572000" cy="850041"/>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r>
                        <a:rPr lang="zh-CN" altLang="en-US" sz="1200" i="1">
                          <a:latin typeface="Cambria Math" panose="02040503050406030204" pitchFamily="18" charset="0"/>
                        </a:rPr>
                        <m:t>𝑇𝑟𝑎𝑛𝑠</m:t>
                      </m:r>
                      <m:d>
                        <m:dPr>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r>
                                <a:rPr lang="zh-CN" altLang="en-US" sz="1200" i="1">
                                  <a:latin typeface="Cambria Math" panose="02040503050406030204" pitchFamily="18" charset="0"/>
                                </a:rPr>
                                <m:t>𝑥</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r>
                                <a:rPr lang="zh-CN" altLang="en-US" sz="1200" i="1">
                                  <a:latin typeface="Cambria Math" panose="02040503050406030204" pitchFamily="18" charset="0"/>
                                </a:rPr>
                                <m:t>𝑦</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r>
                                <a:rPr lang="zh-CN" altLang="en-US" sz="1200" i="1">
                                  <a:latin typeface="Cambria Math" panose="02040503050406030204" pitchFamily="18" charset="0"/>
                                </a:rPr>
                                <m:t>𝑧</m:t>
                              </m:r>
                            </m:sub>
                          </m:sSub>
                        </m:e>
                      </m:d>
                      <m:r>
                        <a:rPr lang="zh-CN" altLang="en-US" sz="1200" i="1">
                          <a:latin typeface="Cambria Math" panose="02040503050406030204" pitchFamily="18" charset="0"/>
                        </a:rPr>
                        <m:t>𝑅𝑜𝑡</m:t>
                      </m:r>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𝛿</m:t>
                          </m:r>
                        </m:e>
                        <m:sub>
                          <m:r>
                            <a:rPr lang="zh-CN" altLang="en-US" sz="1200" i="1">
                              <a:latin typeface="Cambria Math" panose="02040503050406030204" pitchFamily="18" charset="0"/>
                            </a:rPr>
                            <m:t>𝑥</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𝛿</m:t>
                          </m:r>
                        </m:e>
                        <m:sub>
                          <m:r>
                            <a:rPr lang="zh-CN" altLang="en-US" sz="1200" i="1">
                              <a:latin typeface="Cambria Math" panose="02040503050406030204" pitchFamily="18" charset="0"/>
                            </a:rPr>
                            <m:t>𝑦</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𝛿</m:t>
                          </m:r>
                        </m:e>
                        <m:sub>
                          <m:r>
                            <a:rPr lang="zh-CN" altLang="en-US" sz="1200" i="1">
                              <a:latin typeface="Cambria Math" panose="02040503050406030204" pitchFamily="18" charset="0"/>
                            </a:rPr>
                            <m:t>𝑧</m:t>
                          </m:r>
                        </m:sub>
                      </m:sSub>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1</m:t>
                                      </m:r>
                                    </m:e>
                                    <m:e>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𝛿</m:t>
                                          </m:r>
                                        </m:e>
                                        <m:sub>
                                          <m:r>
                                            <a:rPr lang="zh-CN" altLang="en-US" sz="1200" i="1">
                                              <a:latin typeface="Cambria Math" panose="02040503050406030204" pitchFamily="18" charset="0"/>
                                            </a:rPr>
                                            <m:t>𝑧</m:t>
                                          </m:r>
                                        </m:sub>
                                      </m:sSub>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𝛿</m:t>
                                          </m:r>
                                        </m:e>
                                        <m:sub>
                                          <m:r>
                                            <a:rPr lang="zh-CN" altLang="en-US" sz="1200" i="1">
                                              <a:latin typeface="Cambria Math" panose="02040503050406030204" pitchFamily="18" charset="0"/>
                                            </a:rPr>
                                            <m:t>𝑧</m:t>
                                          </m:r>
                                        </m:sub>
                                      </m:sSub>
                                    </m:e>
                                    <m:e>
                                      <m:r>
                                        <a:rPr lang="zh-CN" altLang="en-US" sz="1200" i="0">
                                          <a:latin typeface="Cambria Math" panose="02040503050406030204" pitchFamily="18" charset="0"/>
                                        </a:rPr>
                                        <m:t>1</m:t>
                                      </m:r>
                                    </m:e>
                                  </m:mr>
                                </m:m>
                              </m:e>
                              <m:e>
                                <m:m>
                                  <m:mPr>
                                    <m:mcs>
                                      <m:mc>
                                        <m:mcPr>
                                          <m:count m:val="2"/>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𝛿</m:t>
                                          </m:r>
                                        </m:e>
                                        <m:sub>
                                          <m:r>
                                            <a:rPr lang="zh-CN" altLang="en-US" sz="1200" i="1">
                                              <a:latin typeface="Cambria Math" panose="02040503050406030204" pitchFamily="18" charset="0"/>
                                            </a:rPr>
                                            <m:t>𝑦</m:t>
                                          </m:r>
                                        </m:sub>
                                      </m:sSub>
                                    </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r>
                                            <a:rPr lang="zh-CN" altLang="en-US" sz="1200" i="1">
                                              <a:latin typeface="Cambria Math" panose="02040503050406030204" pitchFamily="18" charset="0"/>
                                            </a:rPr>
                                            <m:t>𝑥</m:t>
                                          </m:r>
                                        </m:sub>
                                      </m:sSub>
                                    </m:e>
                                  </m:mr>
                                  <m:mr>
                                    <m:e>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m:t>
                                          </m:r>
                                          <m:r>
                                            <a:rPr lang="zh-CN" altLang="en-US" sz="1200" i="1">
                                              <a:latin typeface="Cambria Math" panose="02040503050406030204" pitchFamily="18" charset="0"/>
                                            </a:rPr>
                                            <m:t>𝛿</m:t>
                                          </m:r>
                                        </m:e>
                                        <m:sub>
                                          <m:r>
                                            <a:rPr lang="zh-CN" altLang="en-US" sz="1200" i="1">
                                              <a:latin typeface="Cambria Math" panose="02040503050406030204" pitchFamily="18" charset="0"/>
                                            </a:rPr>
                                            <m:t>𝑥</m:t>
                                          </m:r>
                                        </m:sub>
                                      </m:sSub>
                                    </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r>
                                            <a:rPr lang="zh-CN" altLang="en-US" sz="1200" i="1">
                                              <a:latin typeface="Cambria Math" panose="02040503050406030204" pitchFamily="18" charset="0"/>
                                            </a:rPr>
                                            <m:t>𝑦</m:t>
                                          </m:r>
                                        </m:sub>
                                      </m:sSub>
                                    </m:e>
                                  </m:mr>
                                </m:m>
                              </m:e>
                            </m:mr>
                            <m:mr>
                              <m:e>
                                <m:m>
                                  <m:mPr>
                                    <m:mcs>
                                      <m:mc>
                                        <m:mcPr>
                                          <m:count m:val="2"/>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m:t>
                                          </m:r>
                                          <m:r>
                                            <a:rPr lang="zh-CN" altLang="en-US" sz="1200" i="1">
                                              <a:latin typeface="Cambria Math" panose="02040503050406030204" pitchFamily="18" charset="0"/>
                                            </a:rPr>
                                            <m:t>𝛿</m:t>
                                          </m:r>
                                        </m:e>
                                        <m:sub>
                                          <m:r>
                                            <a:rPr lang="zh-CN" altLang="en-US" sz="1200" i="1">
                                              <a:latin typeface="Cambria Math" panose="02040503050406030204" pitchFamily="18" charset="0"/>
                                            </a:rPr>
                                            <m:t>𝑦</m:t>
                                          </m:r>
                                        </m:sub>
                                      </m:sSub>
                                    </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𝛿</m:t>
                                          </m:r>
                                        </m:e>
                                        <m:sub>
                                          <m:r>
                                            <a:rPr lang="zh-CN" altLang="en-US" sz="1200" i="1">
                                              <a:latin typeface="Cambria Math" panose="02040503050406030204" pitchFamily="18" charset="0"/>
                                            </a:rPr>
                                            <m:t>𝑥</m:t>
                                          </m:r>
                                        </m:sub>
                                      </m:sSub>
                                    </m:e>
                                  </m:mr>
                                  <m:mr>
                                    <m:e>
                                      <m:r>
                                        <a:rPr lang="zh-CN" altLang="en-US" sz="1200" i="0">
                                          <a:latin typeface="Cambria Math" panose="02040503050406030204" pitchFamily="18" charset="0"/>
                                        </a:rPr>
                                        <m:t>0</m:t>
                                      </m:r>
                                    </m:e>
                                    <m:e>
                                      <m:r>
                                        <a:rPr lang="zh-CN" altLang="en-US" sz="1200" i="0">
                                          <a:latin typeface="Cambria Math" panose="02040503050406030204" pitchFamily="18" charset="0"/>
                                        </a:rPr>
                                        <m:t>0</m:t>
                                      </m:r>
                                    </m:e>
                                  </m:mr>
                                </m:m>
                              </m:e>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1</m:t>
                                      </m:r>
                                    </m:e>
                                    <m:e>
                                      <m:r>
                                        <a:rPr lang="zh-CN" altLang="en-US" sz="1200" i="0">
                                          <a:latin typeface="Cambria Math" panose="02040503050406030204" pitchFamily="18" charset="0"/>
                                        </a:rPr>
                                        <m:t>    </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r>
                                            <a:rPr lang="zh-CN" altLang="en-US" sz="1200" i="1">
                                              <a:latin typeface="Cambria Math" panose="02040503050406030204" pitchFamily="18" charset="0"/>
                                            </a:rPr>
                                            <m:t>𝑧</m:t>
                                          </m:r>
                                        </m:sub>
                                      </m:sSub>
                                    </m:e>
                                  </m:mr>
                                  <m:mr>
                                    <m:e>
                                      <m:r>
                                        <a:rPr lang="zh-CN" altLang="en-US" sz="1200" i="0">
                                          <a:latin typeface="Cambria Math" panose="02040503050406030204" pitchFamily="18" charset="0"/>
                                        </a:rPr>
                                        <m:t>0</m:t>
                                      </m:r>
                                    </m:e>
                                    <m:e>
                                      <m:r>
                                        <a:rPr lang="zh-CN" altLang="en-US" sz="1200" i="0">
                                          <a:latin typeface="Cambria Math" panose="02040503050406030204" pitchFamily="18" charset="0"/>
                                        </a:rPr>
                                        <m:t>  1</m:t>
                                      </m:r>
                                    </m:e>
                                  </m:mr>
                                </m:m>
                              </m:e>
                            </m:mr>
                          </m:m>
                        </m:e>
                      </m:d>
                    </m:oMath>
                  </m:oMathPara>
                </a14:m>
                <a:endParaRPr lang="zh-CN" altLang="en-US" sz="1200" dirty="0"/>
              </a:p>
            </p:txBody>
          </p:sp>
        </mc:Choice>
        <mc:Fallback xmlns="">
          <p:sp>
            <p:nvSpPr>
              <p:cNvPr id="21" name="矩形 20"/>
              <p:cNvSpPr>
                <a:spLocks noRot="1" noChangeAspect="1" noMove="1" noResize="1" noEditPoints="1" noAdjustHandles="1" noChangeArrowheads="1" noChangeShapeType="1" noTextEdit="1"/>
              </p:cNvSpPr>
              <p:nvPr/>
            </p:nvSpPr>
            <p:spPr>
              <a:xfrm>
                <a:off x="1954728" y="2981290"/>
                <a:ext cx="4572000" cy="850041"/>
              </a:xfrm>
              <a:prstGeom prst="rect">
                <a:avLst/>
              </a:prstGeom>
              <a:blipFill>
                <a:blip r:embed="rId8"/>
                <a:stretch>
                  <a:fillRect/>
                </a:stretch>
              </a:blipFill>
            </p:spPr>
            <p:txBody>
              <a:bodyPr/>
              <a:lstStyle/>
              <a:p>
                <a:r>
                  <a:rPr lang="zh-CN" altLang="en-US">
                    <a:noFill/>
                  </a:rPr>
                  <a:t> </a:t>
                </a:r>
              </a:p>
            </p:txBody>
          </p:sp>
        </mc:Fallback>
      </mc:AlternateContent>
      <p:sp>
        <p:nvSpPr>
          <p:cNvPr id="22" name="矩形 21"/>
          <p:cNvSpPr/>
          <p:nvPr/>
        </p:nvSpPr>
        <p:spPr>
          <a:xfrm>
            <a:off x="767770" y="3055756"/>
            <a:ext cx="1415772" cy="338554"/>
          </a:xfrm>
          <a:prstGeom prst="rect">
            <a:avLst/>
          </a:prstGeom>
        </p:spPr>
        <p:txBody>
          <a:bodyPr wrap="none">
            <a:spAutoFit/>
          </a:bodyPr>
          <a:lstStyle/>
          <a:p>
            <a:r>
              <a:rPr lang="zh-CN" altLang="zh-CN" sz="1600" dirty="0">
                <a:ea typeface="等线" panose="02010600030101010101" pitchFamily="2" charset="-122"/>
                <a:cs typeface="Times New Roman" panose="02020603050405020304" pitchFamily="18" charset="0"/>
              </a:rPr>
              <a:t>复合变换矩阵</a:t>
            </a:r>
            <a:endParaRPr lang="zh-CN" altLang="en-US" sz="1600" dirty="0"/>
          </a:p>
        </p:txBody>
      </p:sp>
      <mc:AlternateContent xmlns:mc="http://schemas.openxmlformats.org/markup-compatibility/2006" xmlns:a14="http://schemas.microsoft.com/office/drawing/2010/main">
        <mc:Choice Requires="a14">
          <p:sp>
            <p:nvSpPr>
              <p:cNvPr id="23" name="矩形 22"/>
              <p:cNvSpPr/>
              <p:nvPr/>
            </p:nvSpPr>
            <p:spPr>
              <a:xfrm>
                <a:off x="2183542" y="3883580"/>
                <a:ext cx="2831223" cy="3048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200">
                          <a:latin typeface="Cambria Math" panose="02040503050406030204" pitchFamily="18" charset="0"/>
                        </a:rPr>
                        <m:t>∆</m:t>
                      </m:r>
                      <m:r>
                        <a:rPr lang="zh-CN" altLang="en-US" sz="1200" i="0">
                          <a:latin typeface="Cambria Math" panose="02040503050406030204" pitchFamily="18" charset="0"/>
                        </a:rPr>
                        <m:t>=</m:t>
                      </m:r>
                      <m:r>
                        <a:rPr lang="zh-CN" altLang="en-US" sz="1200" i="1">
                          <a:latin typeface="Cambria Math" panose="02040503050406030204" pitchFamily="18" charset="0"/>
                        </a:rPr>
                        <m:t>𝑇𝑟𝑎𝑛𝑠</m:t>
                      </m:r>
                      <m:d>
                        <m:dPr>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r>
                                <a:rPr lang="zh-CN" altLang="en-US" sz="1200" i="1">
                                  <a:latin typeface="Cambria Math" panose="02040503050406030204" pitchFamily="18" charset="0"/>
                                </a:rPr>
                                <m:t>𝑥</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r>
                                <a:rPr lang="zh-CN" altLang="en-US" sz="1200" i="1">
                                  <a:latin typeface="Cambria Math" panose="02040503050406030204" pitchFamily="18" charset="0"/>
                                </a:rPr>
                                <m:t>𝑦</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r>
                                <a:rPr lang="zh-CN" altLang="en-US" sz="1200" i="1">
                                  <a:latin typeface="Cambria Math" panose="02040503050406030204" pitchFamily="18" charset="0"/>
                                </a:rPr>
                                <m:t>𝑧</m:t>
                              </m:r>
                            </m:sub>
                          </m:sSub>
                        </m:e>
                      </m:d>
                      <m:r>
                        <a:rPr lang="zh-CN" altLang="en-US" sz="1200" i="1">
                          <a:latin typeface="Cambria Math" panose="02040503050406030204" pitchFamily="18" charset="0"/>
                        </a:rPr>
                        <m:t>𝑅𝑜𝑡</m:t>
                      </m:r>
                      <m:d>
                        <m:dPr>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𝛿</m:t>
                              </m:r>
                            </m:e>
                            <m:sub>
                              <m:r>
                                <a:rPr lang="zh-CN" altLang="en-US" sz="1200" i="1">
                                  <a:latin typeface="Cambria Math" panose="02040503050406030204" pitchFamily="18" charset="0"/>
                                </a:rPr>
                                <m:t>𝑥</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𝛿</m:t>
                              </m:r>
                            </m:e>
                            <m:sub>
                              <m:r>
                                <a:rPr lang="zh-CN" altLang="en-US" sz="1200" i="1">
                                  <a:latin typeface="Cambria Math" panose="02040503050406030204" pitchFamily="18" charset="0"/>
                                </a:rPr>
                                <m:t>𝑦</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𝛿</m:t>
                              </m:r>
                            </m:e>
                            <m:sub>
                              <m:r>
                                <a:rPr lang="zh-CN" altLang="en-US" sz="1200" i="1">
                                  <a:latin typeface="Cambria Math" panose="02040503050406030204" pitchFamily="18" charset="0"/>
                                </a:rPr>
                                <m:t>𝑧</m:t>
                              </m:r>
                            </m:sub>
                          </m:sSub>
                        </m:e>
                      </m:d>
                      <m:r>
                        <a:rPr lang="zh-CN" altLang="en-US" sz="1200" i="0">
                          <a:latin typeface="Cambria Math" panose="02040503050406030204" pitchFamily="18" charset="0"/>
                        </a:rPr>
                        <m:t>−</m:t>
                      </m:r>
                      <m:r>
                        <a:rPr lang="zh-CN" altLang="en-US" sz="1200" i="1">
                          <a:latin typeface="Cambria Math" panose="02040503050406030204" pitchFamily="18" charset="0"/>
                        </a:rPr>
                        <m:t>𝐼</m:t>
                      </m:r>
                    </m:oMath>
                  </m:oMathPara>
                </a14:m>
                <a:endParaRPr lang="zh-CN" altLang="en-US" sz="1200" dirty="0"/>
              </a:p>
            </p:txBody>
          </p:sp>
        </mc:Choice>
        <mc:Fallback xmlns="">
          <p:sp>
            <p:nvSpPr>
              <p:cNvPr id="23" name="矩形 22"/>
              <p:cNvSpPr>
                <a:spLocks noRot="1" noChangeAspect="1" noMove="1" noResize="1" noEditPoints="1" noAdjustHandles="1" noChangeArrowheads="1" noChangeShapeType="1" noTextEdit="1"/>
              </p:cNvSpPr>
              <p:nvPr/>
            </p:nvSpPr>
            <p:spPr>
              <a:xfrm>
                <a:off x="2183542" y="3883580"/>
                <a:ext cx="2831223" cy="304827"/>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5014765" y="3826641"/>
                <a:ext cx="4572000" cy="723531"/>
              </a:xfrm>
              <a:prstGeom prst="rect">
                <a:avLst/>
              </a:prstGeom>
            </p:spPr>
            <p:txBody>
              <a:bodyPr>
                <a:spAutoFit/>
              </a:bodyPr>
              <a:lstStyle/>
              <a:p>
                <a14:m>
                  <m:oMath xmlns:m="http://schemas.openxmlformats.org/officeDocument/2006/math">
                    <m:r>
                      <a:rPr lang="en-US" altLang="zh-CN" sz="1000" i="1">
                        <a:latin typeface="Cambria Math" panose="02040503050406030204" pitchFamily="18" charset="0"/>
                        <a:ea typeface="等线" panose="02010600030101010101" pitchFamily="2" charset="-122"/>
                        <a:cs typeface="Times New Roman" panose="02020603050405020304" pitchFamily="18" charset="0"/>
                      </a:rPr>
                      <m:t>∆=</m:t>
                    </m:r>
                    <m:d>
                      <m:dPr>
                        <m:begChr m:val="["/>
                        <m:endChr m:val="]"/>
                        <m:ctrlPr>
                          <a:rPr lang="zh-CN" altLang="zh-CN" sz="1000" i="1">
                            <a:effectLst/>
                            <a:latin typeface="Cambria Math" panose="02040503050406030204" pitchFamily="18" charset="0"/>
                            <a:ea typeface="Cambria Math" panose="02040503050406030204" pitchFamily="18" charset="0"/>
                          </a:rPr>
                        </m:ctrlPr>
                      </m:dPr>
                      <m:e>
                        <m:m>
                          <m:mPr>
                            <m:mcs>
                              <m:mc>
                                <m:mcPr>
                                  <m:count m:val="2"/>
                                  <m:mcJc m:val="center"/>
                                </m:mcPr>
                              </m:mc>
                            </m:mcs>
                            <m:ctrlPr>
                              <a:rPr lang="zh-CN" altLang="zh-CN" sz="1000" i="1">
                                <a:effectLst/>
                                <a:latin typeface="Cambria Math" panose="02040503050406030204" pitchFamily="18" charset="0"/>
                                <a:ea typeface="Cambria Math" panose="02040503050406030204" pitchFamily="18" charset="0"/>
                              </a:rPr>
                            </m:ctrlPr>
                          </m:mPr>
                          <m:mr>
                            <m:e>
                              <m:m>
                                <m:mPr>
                                  <m:mcs>
                                    <m:mc>
                                      <m:mcPr>
                                        <m:count m:val="2"/>
                                        <m:mcJc m:val="center"/>
                                      </m:mcPr>
                                    </m:mc>
                                  </m:mcs>
                                  <m:ctrlPr>
                                    <a:rPr lang="zh-CN" altLang="zh-CN" sz="1000" i="1">
                                      <a:effectLst/>
                                      <a:latin typeface="Cambria Math" panose="02040503050406030204" pitchFamily="18" charset="0"/>
                                      <a:ea typeface="Cambria Math" panose="02040503050406030204" pitchFamily="18" charset="0"/>
                                    </a:rPr>
                                  </m:ctrlPr>
                                </m:mPr>
                                <m:mr>
                                  <m:e>
                                    <m:r>
                                      <a:rPr lang="en-US" altLang="zh-CN" sz="1000" i="1">
                                        <a:latin typeface="Cambria Math" panose="02040503050406030204" pitchFamily="18" charset="0"/>
                                        <a:ea typeface="等线" panose="02010600030101010101" pitchFamily="2" charset="-122"/>
                                        <a:cs typeface="Times New Roman" panose="02020603050405020304" pitchFamily="18" charset="0"/>
                                      </a:rPr>
                                      <m:t>1</m:t>
                                    </m:r>
                                  </m:e>
                                  <m:e>
                                    <m:r>
                                      <a:rPr lang="en-US" altLang="zh-CN" sz="10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𝛿</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𝑧</m:t>
                                        </m:r>
                                      </m:sub>
                                    </m:sSub>
                                  </m:e>
                                </m:mr>
                                <m:mr>
                                  <m:e>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𝛿</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𝑧</m:t>
                                        </m:r>
                                      </m:sub>
                                    </m:sSub>
                                  </m:e>
                                  <m:e>
                                    <m:r>
                                      <a:rPr lang="en-US" altLang="zh-CN" sz="1000" i="1">
                                        <a:latin typeface="Cambria Math" panose="02040503050406030204" pitchFamily="18" charset="0"/>
                                        <a:ea typeface="等线" panose="02010600030101010101" pitchFamily="2" charset="-122"/>
                                        <a:cs typeface="Times New Roman" panose="02020603050405020304" pitchFamily="18" charset="0"/>
                                      </a:rPr>
                                      <m:t>1</m:t>
                                    </m:r>
                                  </m:e>
                                </m:mr>
                              </m:m>
                            </m:e>
                            <m:e>
                              <m:m>
                                <m:mPr>
                                  <m:mcs>
                                    <m:mc>
                                      <m:mcPr>
                                        <m:count m:val="2"/>
                                        <m:mcJc m:val="center"/>
                                      </m:mcPr>
                                    </m:mc>
                                  </m:mcs>
                                  <m:ctrlPr>
                                    <a:rPr lang="zh-CN" altLang="zh-CN" sz="1000" i="1">
                                      <a:effectLst/>
                                      <a:latin typeface="Cambria Math" panose="02040503050406030204" pitchFamily="18" charset="0"/>
                                      <a:ea typeface="Cambria Math" panose="02040503050406030204" pitchFamily="18" charset="0"/>
                                    </a:rPr>
                                  </m:ctrlPr>
                                </m:mPr>
                                <m:mr>
                                  <m:e>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𝛿</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𝑦</m:t>
                                        </m:r>
                                      </m:sub>
                                    </m:sSub>
                                  </m:e>
                                  <m:e>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𝑥</m:t>
                                        </m:r>
                                      </m:sub>
                                    </m:sSub>
                                  </m:e>
                                </m:mr>
                                <m:mr>
                                  <m:e>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m:t>
                                        </m:r>
                                        <m:r>
                                          <a:rPr lang="en-US" altLang="zh-CN" sz="1000" i="1">
                                            <a:latin typeface="Cambria Math" panose="02040503050406030204" pitchFamily="18" charset="0"/>
                                            <a:ea typeface="等线" panose="02010600030101010101" pitchFamily="2" charset="-122"/>
                                            <a:cs typeface="Times New Roman" panose="02020603050405020304" pitchFamily="18" charset="0"/>
                                          </a:rPr>
                                          <m:t>𝛿</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𝑥</m:t>
                                        </m:r>
                                      </m:sub>
                                    </m:sSub>
                                  </m:e>
                                  <m:e>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𝑦</m:t>
                                        </m:r>
                                      </m:sub>
                                    </m:sSub>
                                  </m:e>
                                </m:mr>
                              </m:m>
                            </m:e>
                          </m:mr>
                          <m:mr>
                            <m:e>
                              <m:m>
                                <m:mPr>
                                  <m:mcs>
                                    <m:mc>
                                      <m:mcPr>
                                        <m:count m:val="2"/>
                                        <m:mcJc m:val="center"/>
                                      </m:mcPr>
                                    </m:mc>
                                  </m:mcs>
                                  <m:ctrlPr>
                                    <a:rPr lang="zh-CN" altLang="zh-CN" sz="1000" i="1">
                                      <a:effectLst/>
                                      <a:latin typeface="Cambria Math" panose="02040503050406030204" pitchFamily="18" charset="0"/>
                                      <a:ea typeface="Cambria Math" panose="02040503050406030204" pitchFamily="18" charset="0"/>
                                    </a:rPr>
                                  </m:ctrlPr>
                                </m:mPr>
                                <m:mr>
                                  <m:e>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m:t>
                                        </m:r>
                                        <m:r>
                                          <a:rPr lang="en-US" altLang="zh-CN" sz="1000" i="1">
                                            <a:latin typeface="Cambria Math" panose="02040503050406030204" pitchFamily="18" charset="0"/>
                                            <a:ea typeface="等线" panose="02010600030101010101" pitchFamily="2" charset="-122"/>
                                            <a:cs typeface="Times New Roman" panose="02020603050405020304" pitchFamily="18" charset="0"/>
                                          </a:rPr>
                                          <m:t>𝛿</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𝑦</m:t>
                                        </m:r>
                                      </m:sub>
                                    </m:sSub>
                                  </m:e>
                                  <m:e>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𝛿</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𝑥</m:t>
                                        </m:r>
                                      </m:sub>
                                    </m:sSub>
                                  </m:e>
                                </m:mr>
                                <m:mr>
                                  <m:e>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e>
                                  <m:e>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e>
                                </m:mr>
                              </m:m>
                            </m:e>
                            <m:e>
                              <m:m>
                                <m:mPr>
                                  <m:mcs>
                                    <m:mc>
                                      <m:mcPr>
                                        <m:count m:val="2"/>
                                        <m:mcJc m:val="center"/>
                                      </m:mcPr>
                                    </m:mc>
                                  </m:mcs>
                                  <m:ctrlPr>
                                    <a:rPr lang="zh-CN" altLang="zh-CN" sz="1000" i="1">
                                      <a:effectLst/>
                                      <a:latin typeface="Cambria Math" panose="02040503050406030204" pitchFamily="18" charset="0"/>
                                      <a:ea typeface="Cambria Math" panose="02040503050406030204" pitchFamily="18" charset="0"/>
                                    </a:rPr>
                                  </m:ctrlPr>
                                </m:mPr>
                                <m:mr>
                                  <m:e>
                                    <m:r>
                                      <a:rPr lang="en-US" altLang="zh-CN" sz="1000" i="1">
                                        <a:latin typeface="Cambria Math" panose="02040503050406030204" pitchFamily="18" charset="0"/>
                                        <a:ea typeface="等线" panose="02010600030101010101" pitchFamily="2" charset="-122"/>
                                        <a:cs typeface="Times New Roman" panose="02020603050405020304" pitchFamily="18" charset="0"/>
                                      </a:rPr>
                                      <m:t>1</m:t>
                                    </m:r>
                                  </m:e>
                                  <m:e>
                                    <m:r>
                                      <a:rPr lang="en-US" altLang="zh-CN" sz="1000" i="1">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𝑧</m:t>
                                        </m:r>
                                      </m:sub>
                                    </m:sSub>
                                  </m:e>
                                </m:mr>
                                <m:mr>
                                  <m:e>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e>
                                  <m:e>
                                    <m:r>
                                      <a:rPr lang="en-US" altLang="zh-CN" sz="1000" i="1">
                                        <a:latin typeface="Cambria Math" panose="02040503050406030204" pitchFamily="18" charset="0"/>
                                        <a:ea typeface="等线" panose="02010600030101010101" pitchFamily="2" charset="-122"/>
                                        <a:cs typeface="Times New Roman" panose="02020603050405020304" pitchFamily="18" charset="0"/>
                                      </a:rPr>
                                      <m:t>  1</m:t>
                                    </m:r>
                                  </m:e>
                                </m:mr>
                              </m:m>
                            </m:e>
                          </m:mr>
                        </m:m>
                      </m:e>
                    </m:d>
                    <m:r>
                      <a:rPr lang="zh-CN" altLang="en-US" sz="1000" i="1">
                        <a:latin typeface="Cambria Math" panose="02040503050406030204" pitchFamily="18" charset="0"/>
                        <a:ea typeface="微软雅黑" panose="020B0503020204020204" pitchFamily="34" charset="-122"/>
                        <a:cs typeface="微软雅黑" panose="020B0503020204020204" pitchFamily="34" charset="-122"/>
                      </a:rPr>
                      <m:t>−</m:t>
                    </m:r>
                    <m:d>
                      <m:dPr>
                        <m:begChr m:val="["/>
                        <m:endChr m:val="]"/>
                        <m:ctrlPr>
                          <a:rPr lang="zh-CN" altLang="zh-CN" sz="1000" i="1">
                            <a:effectLst/>
                            <a:latin typeface="Cambria Math" panose="02040503050406030204" pitchFamily="18" charset="0"/>
                            <a:ea typeface="Cambria Math" panose="02040503050406030204" pitchFamily="18" charset="0"/>
                          </a:rPr>
                        </m:ctrlPr>
                      </m:dPr>
                      <m:e>
                        <m:m>
                          <m:mPr>
                            <m:mcs>
                              <m:mc>
                                <m:mcPr>
                                  <m:count m:val="2"/>
                                  <m:mcJc m:val="center"/>
                                </m:mcPr>
                              </m:mc>
                            </m:mcs>
                            <m:ctrlPr>
                              <a:rPr lang="zh-CN" altLang="zh-CN" sz="1000" i="1">
                                <a:effectLst/>
                                <a:latin typeface="Cambria Math" panose="02040503050406030204" pitchFamily="18" charset="0"/>
                                <a:ea typeface="Cambria Math" panose="02040503050406030204" pitchFamily="18" charset="0"/>
                              </a:rPr>
                            </m:ctrlPr>
                          </m:mPr>
                          <m:mr>
                            <m:e>
                              <m:m>
                                <m:mPr>
                                  <m:mcs>
                                    <m:mc>
                                      <m:mcPr>
                                        <m:count m:val="2"/>
                                        <m:mcJc m:val="center"/>
                                      </m:mcPr>
                                    </m:mc>
                                  </m:mcs>
                                  <m:ctrlPr>
                                    <a:rPr lang="zh-CN" altLang="zh-CN" sz="1000" i="1">
                                      <a:effectLst/>
                                      <a:latin typeface="Cambria Math" panose="02040503050406030204" pitchFamily="18" charset="0"/>
                                      <a:ea typeface="Cambria Math" panose="02040503050406030204" pitchFamily="18" charset="0"/>
                                    </a:rPr>
                                  </m:ctrlPr>
                                </m:mPr>
                                <m:mr>
                                  <m:e>
                                    <m:r>
                                      <a:rPr lang="en-US" altLang="zh-CN" sz="1000" i="1">
                                        <a:latin typeface="Cambria Math" panose="02040503050406030204" pitchFamily="18" charset="0"/>
                                        <a:ea typeface="等线" panose="02010600030101010101" pitchFamily="2" charset="-122"/>
                                        <a:cs typeface="Times New Roman" panose="02020603050405020304" pitchFamily="18" charset="0"/>
                                      </a:rPr>
                                      <m:t>1</m:t>
                                    </m:r>
                                  </m:e>
                                  <m:e>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e>
                                </m:mr>
                                <m:mr>
                                  <m:e>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e>
                                  <m:e>
                                    <m:r>
                                      <a:rPr lang="en-US" altLang="zh-CN" sz="1000" i="1">
                                        <a:latin typeface="Cambria Math" panose="02040503050406030204" pitchFamily="18" charset="0"/>
                                        <a:ea typeface="等线" panose="02010600030101010101" pitchFamily="2" charset="-122"/>
                                        <a:cs typeface="Times New Roman" panose="02020603050405020304" pitchFamily="18" charset="0"/>
                                      </a:rPr>
                                      <m:t>1</m:t>
                                    </m:r>
                                  </m:e>
                                </m:mr>
                              </m:m>
                            </m:e>
                            <m:e>
                              <m:m>
                                <m:mPr>
                                  <m:mcs>
                                    <m:mc>
                                      <m:mcPr>
                                        <m:count m:val="2"/>
                                        <m:mcJc m:val="center"/>
                                      </m:mcPr>
                                    </m:mc>
                                  </m:mcs>
                                  <m:ctrlPr>
                                    <a:rPr lang="zh-CN" altLang="zh-CN" sz="1000" i="1">
                                      <a:effectLst/>
                                      <a:latin typeface="Cambria Math" panose="02040503050406030204" pitchFamily="18" charset="0"/>
                                      <a:ea typeface="Cambria Math" panose="02040503050406030204" pitchFamily="18" charset="0"/>
                                    </a:rPr>
                                  </m:ctrlPr>
                                </m:mPr>
                                <m:mr>
                                  <m:e>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e>
                                  <m:e>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e>
                                </m:mr>
                                <m:mr>
                                  <m:e>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e>
                                  <m:e>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e>
                                </m:mr>
                              </m:m>
                            </m:e>
                          </m:mr>
                          <m:mr>
                            <m:e>
                              <m:m>
                                <m:mPr>
                                  <m:mcs>
                                    <m:mc>
                                      <m:mcPr>
                                        <m:count m:val="2"/>
                                        <m:mcJc m:val="center"/>
                                      </m:mcPr>
                                    </m:mc>
                                  </m:mcs>
                                  <m:ctrlPr>
                                    <a:rPr lang="zh-CN" altLang="zh-CN" sz="1000" i="1">
                                      <a:effectLst/>
                                      <a:latin typeface="Cambria Math" panose="02040503050406030204" pitchFamily="18" charset="0"/>
                                      <a:ea typeface="Cambria Math" panose="02040503050406030204" pitchFamily="18" charset="0"/>
                                    </a:rPr>
                                  </m:ctrlPr>
                                </m:mPr>
                                <m:mr>
                                  <m:e>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e>
                                  <m:e>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e>
                                </m:mr>
                                <m:mr>
                                  <m:e>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e>
                                  <m:e>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e>
                                </m:mr>
                              </m:m>
                            </m:e>
                            <m:e>
                              <m:m>
                                <m:mPr>
                                  <m:mcs>
                                    <m:mc>
                                      <m:mcPr>
                                        <m:count m:val="2"/>
                                        <m:mcJc m:val="center"/>
                                      </m:mcPr>
                                    </m:mc>
                                  </m:mcs>
                                  <m:ctrlPr>
                                    <a:rPr lang="zh-CN" altLang="zh-CN" sz="1000" i="1">
                                      <a:effectLst/>
                                      <a:latin typeface="Cambria Math" panose="02040503050406030204" pitchFamily="18" charset="0"/>
                                      <a:ea typeface="Cambria Math" panose="02040503050406030204" pitchFamily="18" charset="0"/>
                                    </a:rPr>
                                  </m:ctrlPr>
                                </m:mPr>
                                <m:mr>
                                  <m:e>
                                    <m:r>
                                      <a:rPr lang="en-US" altLang="zh-CN" sz="1000" i="1">
                                        <a:latin typeface="Cambria Math" panose="02040503050406030204" pitchFamily="18" charset="0"/>
                                        <a:ea typeface="等线" panose="02010600030101010101" pitchFamily="2" charset="-122"/>
                                        <a:cs typeface="Times New Roman" panose="02020603050405020304" pitchFamily="18" charset="0"/>
                                      </a:rPr>
                                      <m:t>1</m:t>
                                    </m:r>
                                  </m:e>
                                  <m:e>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e>
                                </m:mr>
                                <m:mr>
                                  <m:e>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e>
                                  <m:e>
                                    <m:r>
                                      <a:rPr lang="en-US" altLang="zh-CN" sz="1000" i="1">
                                        <a:latin typeface="Cambria Math" panose="02040503050406030204" pitchFamily="18" charset="0"/>
                                        <a:ea typeface="等线" panose="02010600030101010101" pitchFamily="2" charset="-122"/>
                                        <a:cs typeface="Times New Roman" panose="02020603050405020304" pitchFamily="18" charset="0"/>
                                      </a:rPr>
                                      <m:t>1</m:t>
                                    </m:r>
                                  </m:e>
                                </m:mr>
                              </m:m>
                            </m:e>
                          </m:mr>
                        </m:m>
                      </m:e>
                    </m:d>
                    <m:r>
                      <a:rPr lang="en-US" altLang="zh-CN" sz="1000" i="1">
                        <a:latin typeface="Cambria Math" panose="02040503050406030204" pitchFamily="18" charset="0"/>
                        <a:ea typeface="等线" panose="02010600030101010101" pitchFamily="2" charset="-122"/>
                        <a:cs typeface="Times New Roman" panose="02020603050405020304" pitchFamily="18" charset="0"/>
                      </a:rPr>
                      <m:t>=</m:t>
                    </m:r>
                    <m:d>
                      <m:dPr>
                        <m:begChr m:val="["/>
                        <m:endChr m:val="]"/>
                        <m:ctrlPr>
                          <a:rPr lang="zh-CN" altLang="zh-CN" sz="1000" i="1">
                            <a:effectLst/>
                            <a:latin typeface="Cambria Math" panose="02040503050406030204" pitchFamily="18" charset="0"/>
                            <a:ea typeface="Cambria Math" panose="02040503050406030204" pitchFamily="18" charset="0"/>
                          </a:rPr>
                        </m:ctrlPr>
                      </m:dPr>
                      <m:e>
                        <m:m>
                          <m:mPr>
                            <m:mcs>
                              <m:mc>
                                <m:mcPr>
                                  <m:count m:val="2"/>
                                  <m:mcJc m:val="center"/>
                                </m:mcPr>
                              </m:mc>
                            </m:mcs>
                            <m:ctrlPr>
                              <a:rPr lang="zh-CN" altLang="zh-CN" sz="1000" i="1">
                                <a:effectLst/>
                                <a:latin typeface="Cambria Math" panose="02040503050406030204" pitchFamily="18" charset="0"/>
                                <a:ea typeface="Cambria Math" panose="02040503050406030204" pitchFamily="18" charset="0"/>
                              </a:rPr>
                            </m:ctrlPr>
                          </m:mPr>
                          <m:mr>
                            <m:e>
                              <m:m>
                                <m:mPr>
                                  <m:mcs>
                                    <m:mc>
                                      <m:mcPr>
                                        <m:count m:val="2"/>
                                        <m:mcJc m:val="center"/>
                                      </m:mcPr>
                                    </m:mc>
                                  </m:mcs>
                                  <m:ctrlPr>
                                    <a:rPr lang="zh-CN" altLang="zh-CN" sz="1000" i="1">
                                      <a:effectLst/>
                                      <a:latin typeface="Cambria Math" panose="02040503050406030204" pitchFamily="18" charset="0"/>
                                      <a:ea typeface="Cambria Math" panose="02040503050406030204" pitchFamily="18" charset="0"/>
                                    </a:rPr>
                                  </m:ctrlPr>
                                </m:mPr>
                                <m:mr>
                                  <m:e>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e>
                                  <m:e>
                                    <m:r>
                                      <a:rPr lang="en-US" altLang="zh-CN" sz="1000"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𝛿</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𝑧</m:t>
                                        </m:r>
                                      </m:sub>
                                    </m:sSub>
                                  </m:e>
                                </m:mr>
                                <m:mr>
                                  <m:e>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𝛿</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𝑧</m:t>
                                        </m:r>
                                      </m:sub>
                                    </m:sSub>
                                  </m:e>
                                  <m:e>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e>
                                </m:mr>
                              </m:m>
                            </m:e>
                            <m:e>
                              <m:m>
                                <m:mPr>
                                  <m:mcs>
                                    <m:mc>
                                      <m:mcPr>
                                        <m:count m:val="2"/>
                                        <m:mcJc m:val="center"/>
                                      </m:mcPr>
                                    </m:mc>
                                  </m:mcs>
                                  <m:ctrlPr>
                                    <a:rPr lang="zh-CN" altLang="zh-CN" sz="1000" i="1">
                                      <a:effectLst/>
                                      <a:latin typeface="Cambria Math" panose="02040503050406030204" pitchFamily="18" charset="0"/>
                                      <a:ea typeface="Cambria Math" panose="02040503050406030204" pitchFamily="18" charset="0"/>
                                    </a:rPr>
                                  </m:ctrlPr>
                                </m:mPr>
                                <m:mr>
                                  <m:e>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𝛿</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𝑦</m:t>
                                        </m:r>
                                      </m:sub>
                                    </m:sSub>
                                  </m:e>
                                  <m:e>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𝑥</m:t>
                                        </m:r>
                                      </m:sub>
                                    </m:sSub>
                                  </m:e>
                                </m:mr>
                                <m:mr>
                                  <m:e>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m:t>
                                        </m:r>
                                        <m:r>
                                          <a:rPr lang="en-US" altLang="zh-CN" sz="1000" i="1">
                                            <a:latin typeface="Cambria Math" panose="02040503050406030204" pitchFamily="18" charset="0"/>
                                            <a:ea typeface="等线" panose="02010600030101010101" pitchFamily="2" charset="-122"/>
                                            <a:cs typeface="Times New Roman" panose="02020603050405020304" pitchFamily="18" charset="0"/>
                                          </a:rPr>
                                          <m:t>𝛿</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𝑥</m:t>
                                        </m:r>
                                      </m:sub>
                                    </m:sSub>
                                  </m:e>
                                  <m:e>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𝑦</m:t>
                                        </m:r>
                                      </m:sub>
                                    </m:sSub>
                                  </m:e>
                                </m:mr>
                              </m:m>
                            </m:e>
                          </m:mr>
                          <m:mr>
                            <m:e>
                              <m:m>
                                <m:mPr>
                                  <m:mcs>
                                    <m:mc>
                                      <m:mcPr>
                                        <m:count m:val="2"/>
                                        <m:mcJc m:val="center"/>
                                      </m:mcPr>
                                    </m:mc>
                                  </m:mcs>
                                  <m:ctrlPr>
                                    <a:rPr lang="zh-CN" altLang="zh-CN" sz="1000" i="1">
                                      <a:effectLst/>
                                      <a:latin typeface="Cambria Math" panose="02040503050406030204" pitchFamily="18" charset="0"/>
                                      <a:ea typeface="Cambria Math" panose="02040503050406030204" pitchFamily="18" charset="0"/>
                                    </a:rPr>
                                  </m:ctrlPr>
                                </m:mPr>
                                <m:mr>
                                  <m:e>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m:t>
                                        </m:r>
                                        <m:r>
                                          <a:rPr lang="en-US" altLang="zh-CN" sz="1000" i="1">
                                            <a:latin typeface="Cambria Math" panose="02040503050406030204" pitchFamily="18" charset="0"/>
                                            <a:ea typeface="等线" panose="02010600030101010101" pitchFamily="2" charset="-122"/>
                                            <a:cs typeface="Times New Roman" panose="02020603050405020304" pitchFamily="18" charset="0"/>
                                          </a:rPr>
                                          <m:t>𝛿</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𝑦</m:t>
                                        </m:r>
                                      </m:sub>
                                    </m:sSub>
                                  </m:e>
                                  <m:e>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𝛿</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𝑥</m:t>
                                        </m:r>
                                      </m:sub>
                                    </m:sSub>
                                  </m:e>
                                </m:mr>
                                <m:mr>
                                  <m:e>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e>
                                  <m:e>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e>
                                </m:mr>
                              </m:m>
                            </m:e>
                            <m:e>
                              <m:m>
                                <m:mPr>
                                  <m:mcs>
                                    <m:mc>
                                      <m:mcPr>
                                        <m:count m:val="2"/>
                                        <m:mcJc m:val="center"/>
                                      </m:mcPr>
                                    </m:mc>
                                  </m:mcs>
                                  <m:ctrlPr>
                                    <a:rPr lang="zh-CN" altLang="zh-CN" sz="1000" i="1">
                                      <a:effectLst/>
                                      <a:latin typeface="Cambria Math" panose="02040503050406030204" pitchFamily="18" charset="0"/>
                                      <a:ea typeface="Cambria Math" panose="02040503050406030204" pitchFamily="18" charset="0"/>
                                    </a:rPr>
                                  </m:ctrlPr>
                                </m:mPr>
                                <m:mr>
                                  <m:e>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e>
                                  <m:e>
                                    <m:r>
                                      <a:rPr lang="en-US" altLang="zh-CN" sz="1000" i="1">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𝑑</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𝑧</m:t>
                                        </m:r>
                                      </m:sub>
                                    </m:sSub>
                                  </m:e>
                                </m:mr>
                                <m:mr>
                                  <m:e>
                                    <m:r>
                                      <a:rPr lang="en-US" altLang="zh-CN" sz="1000" i="1">
                                        <a:latin typeface="Cambria Math" panose="02040503050406030204" pitchFamily="18" charset="0"/>
                                        <a:ea typeface="等线" panose="02010600030101010101" pitchFamily="2" charset="-122"/>
                                        <a:cs typeface="Times New Roman" panose="02020603050405020304" pitchFamily="18" charset="0"/>
                                      </a:rPr>
                                      <m:t>0</m:t>
                                    </m:r>
                                  </m:e>
                                  <m:e>
                                    <m:r>
                                      <a:rPr lang="en-US" altLang="zh-CN" sz="1000" i="1">
                                        <a:latin typeface="Cambria Math" panose="02040503050406030204" pitchFamily="18" charset="0"/>
                                        <a:ea typeface="等线" panose="02010600030101010101" pitchFamily="2" charset="-122"/>
                                        <a:cs typeface="Times New Roman" panose="02020603050405020304" pitchFamily="18" charset="0"/>
                                      </a:rPr>
                                      <m:t>  0</m:t>
                                    </m:r>
                                  </m:e>
                                </m:mr>
                              </m:m>
                            </m:e>
                          </m:mr>
                        </m:m>
                      </m:e>
                    </m:d>
                  </m:oMath>
                </a14:m>
                <a:r>
                  <a:rPr lang="en-US" altLang="zh-CN" sz="1000" dirty="0">
                    <a:latin typeface="等线" panose="02010600030101010101" pitchFamily="2" charset="-122"/>
                    <a:cs typeface="Times New Roman" panose="02020603050405020304" pitchFamily="18" charset="0"/>
                  </a:rPr>
                  <a:t> </a:t>
                </a:r>
                <a:endParaRPr lang="zh-CN" altLang="en-US" sz="1000" dirty="0"/>
              </a:p>
            </p:txBody>
          </p:sp>
        </mc:Choice>
        <mc:Fallback xmlns="">
          <p:sp>
            <p:nvSpPr>
              <p:cNvPr id="24" name="矩形 23"/>
              <p:cNvSpPr>
                <a:spLocks noRot="1" noChangeAspect="1" noMove="1" noResize="1" noEditPoints="1" noAdjustHandles="1" noChangeArrowheads="1" noChangeShapeType="1" noTextEdit="1"/>
              </p:cNvSpPr>
              <p:nvPr/>
            </p:nvSpPr>
            <p:spPr>
              <a:xfrm>
                <a:off x="5014765" y="3826641"/>
                <a:ext cx="4572000" cy="723531"/>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p:cNvSpPr/>
              <p:nvPr/>
            </p:nvSpPr>
            <p:spPr>
              <a:xfrm>
                <a:off x="6526728" y="3372815"/>
                <a:ext cx="1127232" cy="338554"/>
              </a:xfrm>
              <a:prstGeom prst="rect">
                <a:avLst/>
              </a:prstGeom>
            </p:spPr>
            <p:txBody>
              <a:bodyPr wrap="none">
                <a:spAutoFit/>
              </a:bodyPr>
              <a:lstStyle/>
              <a:p>
                <a:r>
                  <a:rPr lang="zh-CN" altLang="zh-CN" sz="1600" smtClean="0">
                    <a:solidFill>
                      <a:srgbClr val="FF0000"/>
                    </a:solidFill>
                    <a:ea typeface="等线" panose="02010600030101010101" pitchFamily="2" charset="-122"/>
                    <a:cs typeface="Times New Roman" panose="02020603050405020304" pitchFamily="18" charset="0"/>
                  </a:rPr>
                  <a:t>微分算子</a:t>
                </a:r>
                <a14:m>
                  <m:oMath xmlns:m="http://schemas.openxmlformats.org/officeDocument/2006/math">
                    <m:r>
                      <a:rPr lang="en-US" altLang="zh-CN" sz="1600" i="1">
                        <a:solidFill>
                          <a:srgbClr val="FF0000"/>
                        </a:solidFill>
                        <a:latin typeface="Cambria Math" panose="02040503050406030204" pitchFamily="18" charset="0"/>
                        <a:ea typeface="等线" panose="02010600030101010101" pitchFamily="2" charset="-122"/>
                        <a:cs typeface="Times New Roman" panose="02020603050405020304" pitchFamily="18" charset="0"/>
                      </a:rPr>
                      <m:t>∆</m:t>
                    </m:r>
                  </m:oMath>
                </a14:m>
                <a:endParaRPr lang="zh-CN" altLang="en-US" sz="1600" dirty="0">
                  <a:solidFill>
                    <a:srgbClr val="FF0000"/>
                  </a:solidFill>
                </a:endParaRPr>
              </a:p>
            </p:txBody>
          </p:sp>
        </mc:Choice>
        <mc:Fallback xmlns="">
          <p:sp>
            <p:nvSpPr>
              <p:cNvPr id="25" name="矩形 24"/>
              <p:cNvSpPr>
                <a:spLocks noRot="1" noChangeAspect="1" noMove="1" noResize="1" noEditPoints="1" noAdjustHandles="1" noChangeArrowheads="1" noChangeShapeType="1" noTextEdit="1"/>
              </p:cNvSpPr>
              <p:nvPr/>
            </p:nvSpPr>
            <p:spPr>
              <a:xfrm>
                <a:off x="6526728" y="3372815"/>
                <a:ext cx="1127232" cy="338554"/>
              </a:xfrm>
              <a:prstGeom prst="rect">
                <a:avLst/>
              </a:prstGeom>
              <a:blipFill>
                <a:blip r:embed="rId11"/>
                <a:stretch>
                  <a:fillRect l="-3243" t="-5357" b="-2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矩形 25"/>
              <p:cNvSpPr/>
              <p:nvPr/>
            </p:nvSpPr>
            <p:spPr>
              <a:xfrm>
                <a:off x="2331160" y="4550172"/>
                <a:ext cx="2043123" cy="44262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r>
                                  <a:rPr lang="zh-CN" altLang="en-US" sz="1200" i="1">
                                    <a:latin typeface="Cambria Math" panose="02040503050406030204" pitchFamily="18" charset="0"/>
                                  </a:rPr>
                                  <m:t>𝑑</m:t>
                                </m:r>
                              </m:e>
                            </m:mr>
                            <m:mr>
                              <m:e>
                                <m:r>
                                  <a:rPr lang="zh-CN" altLang="en-US" sz="1200" i="1">
                                    <a:latin typeface="Cambria Math" panose="02040503050406030204" pitchFamily="18" charset="0"/>
                                  </a:rPr>
                                  <m:t>𝛿</m:t>
                                </m:r>
                              </m:e>
                            </m:mr>
                          </m:m>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r>
                                  <a:rPr lang="zh-CN" altLang="en-US" sz="1200" i="1">
                                    <a:latin typeface="Cambria Math" panose="02040503050406030204" pitchFamily="18" charset="0"/>
                                  </a:rPr>
                                  <m:t>𝑅</m:t>
                                </m:r>
                              </m:e>
                              <m:e>
                                <m:r>
                                  <a:rPr lang="zh-CN" altLang="en-US" sz="1200" i="1">
                                    <a:latin typeface="Cambria Math" panose="02040503050406030204" pitchFamily="18" charset="0"/>
                                  </a:rPr>
                                  <m:t>𝑆</m:t>
                                </m:r>
                                <m:r>
                                  <a:rPr lang="zh-CN" altLang="en-US" sz="1200" i="0">
                                    <a:latin typeface="Cambria Math" panose="02040503050406030204" pitchFamily="18" charset="0"/>
                                  </a:rPr>
                                  <m:t>(</m:t>
                                </m:r>
                                <m:r>
                                  <a:rPr lang="zh-CN" altLang="en-US" sz="1200" i="1">
                                    <a:latin typeface="Cambria Math" panose="02040503050406030204" pitchFamily="18" charset="0"/>
                                  </a:rPr>
                                  <m:t>𝑃</m:t>
                                </m:r>
                                <m:r>
                                  <a:rPr lang="zh-CN" altLang="en-US" sz="1200" i="0">
                                    <a:latin typeface="Cambria Math" panose="02040503050406030204" pitchFamily="18" charset="0"/>
                                  </a:rPr>
                                  <m:t>)∙</m:t>
                                </m:r>
                                <m:r>
                                  <a:rPr lang="zh-CN" altLang="en-US" sz="1200" i="1">
                                    <a:latin typeface="Cambria Math" panose="02040503050406030204" pitchFamily="18" charset="0"/>
                                  </a:rPr>
                                  <m:t>𝑅</m:t>
                                </m:r>
                              </m:e>
                            </m:mr>
                            <m:mr>
                              <m:e>
                                <m:sSub>
                                  <m:sSubPr>
                                    <m:ctrlPr>
                                      <a:rPr lang="zh-CN" altLang="en-US" sz="1200" i="1">
                                        <a:latin typeface="Cambria Math" panose="02040503050406030204" pitchFamily="18" charset="0"/>
                                      </a:rPr>
                                    </m:ctrlPr>
                                  </m:sSubPr>
                                  <m:e>
                                    <m:r>
                                      <a:rPr lang="zh-CN" altLang="en-US" sz="1200" i="0">
                                        <a:latin typeface="Cambria Math" panose="02040503050406030204" pitchFamily="18" charset="0"/>
                                      </a:rPr>
                                      <m:t>0</m:t>
                                    </m:r>
                                  </m:e>
                                  <m:sub>
                                    <m:r>
                                      <a:rPr lang="zh-CN" altLang="en-US" sz="1200" i="0">
                                        <a:latin typeface="Cambria Math" panose="02040503050406030204" pitchFamily="18" charset="0"/>
                                      </a:rPr>
                                      <m:t>3×3</m:t>
                                    </m:r>
                                  </m:sub>
                                </m:sSub>
                              </m:e>
                              <m:e>
                                <m:r>
                                  <a:rPr lang="zh-CN" altLang="en-US" sz="1200" i="1">
                                    <a:latin typeface="Cambria Math" panose="02040503050406030204" pitchFamily="18" charset="0"/>
                                  </a:rPr>
                                  <m:t>𝑅</m:t>
                                </m:r>
                              </m:e>
                            </m:mr>
                          </m:m>
                        </m:e>
                      </m:d>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𝑑</m:t>
                                    </m:r>
                                  </m:e>
                                  <m:sup>
                                    <m:r>
                                      <a:rPr lang="zh-CN" altLang="en-US" sz="1200" i="1">
                                        <a:latin typeface="Cambria Math" panose="02040503050406030204" pitchFamily="18" charset="0"/>
                                      </a:rPr>
                                      <m:t>𝑛</m:t>
                                    </m:r>
                                  </m:sup>
                                </m:sSup>
                              </m:e>
                            </m:mr>
                            <m:mr>
                              <m:e>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𝛿</m:t>
                                    </m:r>
                                  </m:e>
                                  <m:sup>
                                    <m:r>
                                      <a:rPr lang="zh-CN" altLang="en-US" sz="1200" i="1">
                                        <a:latin typeface="Cambria Math" panose="02040503050406030204" pitchFamily="18" charset="0"/>
                                      </a:rPr>
                                      <m:t>𝑛</m:t>
                                    </m:r>
                                  </m:sup>
                                </m:sSup>
                              </m:e>
                            </m:mr>
                          </m:m>
                        </m:e>
                      </m:d>
                    </m:oMath>
                  </m:oMathPara>
                </a14:m>
                <a:endParaRPr lang="zh-CN" altLang="en-US" sz="1200" dirty="0"/>
              </a:p>
            </p:txBody>
          </p:sp>
        </mc:Choice>
        <mc:Fallback xmlns="">
          <p:sp>
            <p:nvSpPr>
              <p:cNvPr id="26" name="矩形 25"/>
              <p:cNvSpPr>
                <a:spLocks noRot="1" noChangeAspect="1" noMove="1" noResize="1" noEditPoints="1" noAdjustHandles="1" noChangeArrowheads="1" noChangeShapeType="1" noTextEdit="1"/>
              </p:cNvSpPr>
              <p:nvPr/>
            </p:nvSpPr>
            <p:spPr>
              <a:xfrm>
                <a:off x="2331160" y="4550172"/>
                <a:ext cx="2043123" cy="442622"/>
              </a:xfrm>
              <a:prstGeom prst="rect">
                <a:avLst/>
              </a:prstGeom>
              <a:blipFill>
                <a:blip r:embed="rId1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2748210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553603" y="801132"/>
            <a:ext cx="4034621" cy="400110"/>
          </a:xfrm>
          <a:prstGeom prst="rect">
            <a:avLst/>
          </a:prstGeom>
        </p:spPr>
        <p:txBody>
          <a:bodyPr wrap="square">
            <a:spAutoFit/>
          </a:bodyPr>
          <a:lstStyle/>
          <a:p>
            <a:r>
              <a:rPr lang="zh-CN" altLang="en-US" sz="2000" b="1" dirty="0">
                <a:solidFill>
                  <a:srgbClr val="002060"/>
                </a:solidFill>
              </a:rPr>
              <a:t>机器人雅可比矩阵微分变换求法</a:t>
            </a:r>
          </a:p>
        </p:txBody>
      </p:sp>
      <p:grpSp>
        <p:nvGrpSpPr>
          <p:cNvPr id="38" name="组合 37"/>
          <p:cNvGrpSpPr/>
          <p:nvPr/>
        </p:nvGrpSpPr>
        <p:grpSpPr>
          <a:xfrm>
            <a:off x="-236220" y="219075"/>
            <a:ext cx="5153660" cy="598805"/>
            <a:chOff x="-372" y="345"/>
            <a:chExt cx="8116" cy="943"/>
          </a:xfrm>
        </p:grpSpPr>
        <p:sp>
          <p:nvSpPr>
            <p:cNvPr id="39" name="矩形 3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Jacobian Matrix of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40" name="文本框 39"/>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机器人雅可比矩阵</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41" name="椭圆 4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19" name="矩形 18"/>
              <p:cNvSpPr/>
              <p:nvPr/>
            </p:nvSpPr>
            <p:spPr>
              <a:xfrm>
                <a:off x="6184630" y="821111"/>
                <a:ext cx="42723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𝐽</m:t>
                          </m:r>
                        </m:e>
                        <m:sub>
                          <m:r>
                            <a:rPr lang="en-US" altLang="zh-CN" b="0" i="1" smtClean="0">
                              <a:solidFill>
                                <a:srgbClr val="FF0000"/>
                              </a:solidFill>
                              <a:latin typeface="Cambria Math" panose="02040503050406030204" pitchFamily="18" charset="0"/>
                            </a:rPr>
                            <m:t>𝑏</m:t>
                          </m:r>
                        </m:sub>
                      </m:sSub>
                    </m:oMath>
                  </m:oMathPara>
                </a14:m>
                <a:endParaRPr lang="zh-CN" altLang="en-US" dirty="0">
                  <a:solidFill>
                    <a:srgbClr val="FF0000"/>
                  </a:solidFill>
                </a:endParaRPr>
              </a:p>
            </p:txBody>
          </p:sp>
        </mc:Choice>
        <mc:Fallback xmlns="">
          <p:sp>
            <p:nvSpPr>
              <p:cNvPr id="19" name="矩形 18"/>
              <p:cNvSpPr>
                <a:spLocks noRot="1" noChangeAspect="1" noMove="1" noResize="1" noEditPoints="1" noAdjustHandles="1" noChangeArrowheads="1" noChangeShapeType="1" noTextEdit="1"/>
              </p:cNvSpPr>
              <p:nvPr/>
            </p:nvSpPr>
            <p:spPr>
              <a:xfrm>
                <a:off x="6184630" y="821111"/>
                <a:ext cx="427232" cy="369332"/>
              </a:xfrm>
              <a:prstGeom prst="rect">
                <a:avLst/>
              </a:prstGeom>
              <a:blipFill>
                <a:blip r:embed="rId3"/>
                <a:stretch>
                  <a:fillRect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357345" y="1270953"/>
                <a:ext cx="4572000" cy="783035"/>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r>
                            <a:rPr lang="zh-CN" altLang="en-US" sz="1200" i="0">
                              <a:latin typeface="Cambria Math" panose="02040503050406030204" pitchFamily="18" charset="0"/>
                            </a:rPr>
                            <m:t>−1</m:t>
                          </m:r>
                        </m:sup>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1">
                                  <a:latin typeface="Cambria Math" panose="02040503050406030204" pitchFamily="18" charset="0"/>
                                </a:rPr>
                                <m:t>𝑖</m:t>
                              </m:r>
                            </m:sub>
                          </m:sSub>
                        </m:e>
                      </m:sPre>
                      <m:r>
                        <a:rPr lang="zh-CN" altLang="en-US" sz="1200" i="0">
                          <a:latin typeface="Cambria Math" panose="02040503050406030204" pitchFamily="18" charset="0"/>
                        </a:rPr>
                        <m:t>=</m:t>
                      </m:r>
                      <m:d>
                        <m:dPr>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m>
                                  <m:mPr>
                                    <m:mcs>
                                      <m:mc>
                                        <m:mcPr>
                                          <m:count m:val="2"/>
                                          <m:mcJc m:val="center"/>
                                        </m:mcPr>
                                      </m:mc>
                                    </m:mcs>
                                    <m:ctrlPr>
                                      <a:rPr lang="zh-CN" altLang="en-US" sz="1200" i="1">
                                        <a:latin typeface="Cambria Math" panose="02040503050406030204" pitchFamily="18" charset="0"/>
                                      </a:rPr>
                                    </m:ctrlPr>
                                  </m:mPr>
                                  <m:mr>
                                    <m:e>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cos</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𝑖</m:t>
                                              </m:r>
                                            </m:sub>
                                          </m:sSub>
                                        </m:e>
                                      </m:func>
                                    </m:e>
                                    <m:e>
                                      <m:r>
                                        <a:rPr lang="zh-CN" altLang="en-US" sz="1200" i="0">
                                          <a:latin typeface="Cambria Math" panose="02040503050406030204" pitchFamily="18" charset="0"/>
                                        </a:rPr>
                                        <m:t>−</m:t>
                                      </m:r>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sin</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𝑖</m:t>
                                              </m:r>
                                            </m:sub>
                                          </m:sSub>
                                        </m:e>
                                      </m:func>
                                    </m:e>
                                  </m:mr>
                                  <m:mr>
                                    <m:e>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sin</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𝑖</m:t>
                                              </m:r>
                                            </m:sub>
                                          </m:sSub>
                                        </m:e>
                                      </m:func>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cos</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𝑖</m:t>
                                              </m:r>
                                            </m:sub>
                                          </m:sSub>
                                        </m:e>
                                      </m:func>
                                    </m:e>
                                    <m:e>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cos</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𝑖</m:t>
                                              </m:r>
                                            </m:sub>
                                          </m:sSub>
                                        </m:e>
                                      </m:func>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cos</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𝑖</m:t>
                                              </m:r>
                                            </m:sub>
                                          </m:sSub>
                                        </m:e>
                                      </m:func>
                                    </m:e>
                                  </m:mr>
                                </m:m>
                              </m:e>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0</m:t>
                                      </m:r>
                                    </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𝑎</m:t>
                                          </m:r>
                                        </m:e>
                                        <m:sub>
                                          <m:r>
                                            <a:rPr lang="zh-CN" altLang="en-US" sz="1200" i="1">
                                              <a:latin typeface="Cambria Math" panose="02040503050406030204" pitchFamily="18" charset="0"/>
                                            </a:rPr>
                                            <m:t>𝑖</m:t>
                                          </m:r>
                                        </m:sub>
                                      </m:sSub>
                                    </m:e>
                                  </m:mr>
                                  <m:mr>
                                    <m:e>
                                      <m:r>
                                        <a:rPr lang="zh-CN" altLang="en-US" sz="1200" i="0">
                                          <a:latin typeface="Cambria Math" panose="02040503050406030204" pitchFamily="18" charset="0"/>
                                        </a:rPr>
                                        <m:t>−</m:t>
                                      </m:r>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sin</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𝑖</m:t>
                                              </m:r>
                                            </m:sub>
                                          </m:sSub>
                                        </m:e>
                                      </m:func>
                                    </m:e>
                                    <m:e>
                                      <m:r>
                                        <a:rPr lang="zh-CN" altLang="en-US" sz="1200" i="0">
                                          <a:latin typeface="Cambria Math" panose="02040503050406030204" pitchFamily="18" charset="0"/>
                                        </a:rPr>
                                        <m:t>−</m:t>
                                      </m:r>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sin</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𝑖</m:t>
                                              </m:r>
                                            </m:sub>
                                          </m:sSub>
                                        </m:e>
                                      </m:func>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r>
                                            <a:rPr lang="zh-CN" altLang="en-US" sz="1200" i="1">
                                              <a:latin typeface="Cambria Math" panose="02040503050406030204" pitchFamily="18" charset="0"/>
                                            </a:rPr>
                                            <m:t>𝑖</m:t>
                                          </m:r>
                                        </m:sub>
                                      </m:sSub>
                                    </m:e>
                                  </m:mr>
                                </m:m>
                              </m:e>
                            </m:mr>
                            <m:mr>
                              <m:e>
                                <m:m>
                                  <m:mPr>
                                    <m:mcs>
                                      <m:mc>
                                        <m:mcPr>
                                          <m:count m:val="2"/>
                                          <m:mcJc m:val="center"/>
                                        </m:mcPr>
                                      </m:mc>
                                    </m:mcs>
                                    <m:ctrlPr>
                                      <a:rPr lang="zh-CN" altLang="en-US" sz="1200" i="1">
                                        <a:latin typeface="Cambria Math" panose="02040503050406030204" pitchFamily="18" charset="0"/>
                                      </a:rPr>
                                    </m:ctrlPr>
                                  </m:mPr>
                                  <m:mr>
                                    <m:e>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sin</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𝑖</m:t>
                                              </m:r>
                                            </m:sub>
                                          </m:sSub>
                                        </m:e>
                                      </m:func>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sin</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𝑖</m:t>
                                              </m:r>
                                            </m:sub>
                                          </m:sSub>
                                        </m:e>
                                      </m:func>
                                    </m:e>
                                    <m:e>
                                      <m:func>
                                        <m:funcPr>
                                          <m:ctrlPr>
                                            <a:rPr lang="zh-CN" altLang="en-US" sz="1200" i="1">
                                              <a:latin typeface="Cambria Math" panose="02040503050406030204" pitchFamily="18" charset="0"/>
                                            </a:rPr>
                                          </m:ctrlPr>
                                        </m:funcPr>
                                        <m:fName>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cos</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1">
                                                      <a:latin typeface="Cambria Math" panose="02040503050406030204" pitchFamily="18" charset="0"/>
                                                    </a:rPr>
                                                    <m:t>𝑖</m:t>
                                                  </m:r>
                                                </m:sub>
                                              </m:sSub>
                                            </m:e>
                                          </m:func>
                                          <m:r>
                                            <m:rPr>
                                              <m:sty m:val="p"/>
                                            </m:rPr>
                                            <a:rPr lang="zh-CN" altLang="en-US" sz="1200" i="0">
                                              <a:latin typeface="Cambria Math" panose="02040503050406030204" pitchFamily="18" charset="0"/>
                                            </a:rPr>
                                            <m:t>sin</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𝑖</m:t>
                                              </m:r>
                                            </m:sub>
                                          </m:sSub>
                                        </m:e>
                                      </m:func>
                                    </m:e>
                                  </m:mr>
                                  <m:mr>
                                    <m:e>
                                      <m:r>
                                        <a:rPr lang="zh-CN" altLang="en-US" sz="1200" i="0">
                                          <a:latin typeface="Cambria Math" panose="02040503050406030204" pitchFamily="18" charset="0"/>
                                        </a:rPr>
                                        <m:t>0</m:t>
                                      </m:r>
                                    </m:e>
                                    <m:e>
                                      <m:r>
                                        <a:rPr lang="zh-CN" altLang="en-US" sz="1200" i="0">
                                          <a:latin typeface="Cambria Math" panose="02040503050406030204" pitchFamily="18" charset="0"/>
                                        </a:rPr>
                                        <m:t>0</m:t>
                                      </m:r>
                                    </m:e>
                                  </m:mr>
                                </m:m>
                              </m:e>
                              <m:e>
                                <m:m>
                                  <m:mPr>
                                    <m:mcs>
                                      <m:mc>
                                        <m:mcPr>
                                          <m:count m:val="2"/>
                                          <m:mcJc m:val="center"/>
                                        </m:mcPr>
                                      </m:mc>
                                    </m:mcs>
                                    <m:ctrlPr>
                                      <a:rPr lang="zh-CN" altLang="en-US" sz="1200" i="1">
                                        <a:latin typeface="Cambria Math" panose="02040503050406030204" pitchFamily="18" charset="0"/>
                                      </a:rPr>
                                    </m:ctrlPr>
                                  </m:mPr>
                                  <m:mr>
                                    <m:e>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cos</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𝑖</m:t>
                                              </m:r>
                                            </m:sub>
                                          </m:sSub>
                                        </m:e>
                                      </m:func>
                                    </m:e>
                                    <m:e>
                                      <m:sSub>
                                        <m:sSubPr>
                                          <m:ctrlPr>
                                            <a:rPr lang="zh-CN" altLang="en-US" sz="1200" i="1">
                                              <a:latin typeface="Cambria Math" panose="02040503050406030204" pitchFamily="18" charset="0"/>
                                            </a:rPr>
                                          </m:ctrlPr>
                                        </m:sSubPr>
                                        <m:e>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cos</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𝛼</m:t>
                                                  </m:r>
                                                </m:e>
                                                <m:sub>
                                                  <m:r>
                                                    <a:rPr lang="zh-CN" altLang="en-US" sz="1200" i="1">
                                                      <a:latin typeface="Cambria Math" panose="02040503050406030204" pitchFamily="18" charset="0"/>
                                                    </a:rPr>
                                                    <m:t>𝑖</m:t>
                                                  </m:r>
                                                </m:sub>
                                              </m:sSub>
                                            </m:e>
                                          </m:func>
                                          <m:r>
                                            <a:rPr lang="zh-CN" altLang="en-US" sz="1200" i="1">
                                              <a:latin typeface="Cambria Math" panose="02040503050406030204" pitchFamily="18" charset="0"/>
                                            </a:rPr>
                                            <m:t>𝑑</m:t>
                                          </m:r>
                                        </m:e>
                                        <m:sub>
                                          <m:r>
                                            <a:rPr lang="zh-CN" altLang="en-US" sz="1200" i="1">
                                              <a:latin typeface="Cambria Math" panose="02040503050406030204" pitchFamily="18" charset="0"/>
                                            </a:rPr>
                                            <m:t>𝑖</m:t>
                                          </m:r>
                                        </m:sub>
                                      </m:sSub>
                                    </m:e>
                                  </m:mr>
                                  <m:mr>
                                    <m:e>
                                      <m:r>
                                        <a:rPr lang="zh-CN" altLang="en-US" sz="1200" i="0">
                                          <a:latin typeface="Cambria Math" panose="02040503050406030204" pitchFamily="18" charset="0"/>
                                        </a:rPr>
                                        <m:t>0</m:t>
                                      </m:r>
                                    </m:e>
                                    <m:e>
                                      <m:r>
                                        <a:rPr lang="zh-CN" altLang="en-US" sz="1200" i="0">
                                          <a:latin typeface="Cambria Math" panose="02040503050406030204" pitchFamily="18" charset="0"/>
                                        </a:rPr>
                                        <m:t>1</m:t>
                                      </m:r>
                                    </m:e>
                                  </m:mr>
                                </m:m>
                              </m:e>
                            </m:mr>
                          </m:m>
                        </m:e>
                      </m:d>
                    </m:oMath>
                  </m:oMathPara>
                </a14:m>
                <a:endParaRPr lang="zh-CN" altLang="en-US" sz="1200" dirty="0"/>
              </a:p>
            </p:txBody>
          </p:sp>
        </mc:Choice>
        <mc:Fallback xmlns="">
          <p:sp>
            <p:nvSpPr>
              <p:cNvPr id="3" name="矩形 2"/>
              <p:cNvSpPr>
                <a:spLocks noRot="1" noChangeAspect="1" noMove="1" noResize="1" noEditPoints="1" noAdjustHandles="1" noChangeArrowheads="1" noChangeShapeType="1" noTextEdit="1"/>
              </p:cNvSpPr>
              <p:nvPr/>
            </p:nvSpPr>
            <p:spPr>
              <a:xfrm>
                <a:off x="357345" y="1270953"/>
                <a:ext cx="4572000" cy="78303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4427984" y="1260154"/>
                <a:ext cx="4572000" cy="772712"/>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0</m:t>
                              </m:r>
                            </m:sup>
                            <m:e>
                              <m:r>
                                <a:rPr lang="zh-CN" altLang="en-US" sz="1200" i="1">
                                  <a:latin typeface="Cambria Math" panose="02040503050406030204" pitchFamily="18" charset="0"/>
                                </a:rPr>
                                <m:t>𝑇</m:t>
                              </m:r>
                            </m:e>
                          </m:sPre>
                        </m:e>
                        <m:sub>
                          <m:r>
                            <a:rPr lang="zh-CN" altLang="en-US" sz="1200" i="1">
                              <a:latin typeface="Cambria Math" panose="02040503050406030204" pitchFamily="18" charset="0"/>
                            </a:rPr>
                            <m:t>𝑛</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𝑛</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0</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𝑛</m:t>
                              </m:r>
                              <m:r>
                                <a:rPr lang="zh-CN" altLang="en-US" sz="1200" i="0">
                                  <a:latin typeface="Cambria Math" panose="02040503050406030204" pitchFamily="18" charset="0"/>
                                </a:rPr>
                                <m:t>−1</m:t>
                              </m:r>
                            </m:sup>
                            <m:e>
                              <m:r>
                                <a:rPr lang="zh-CN" altLang="en-US" sz="1200" i="1">
                                  <a:latin typeface="Cambria Math" panose="02040503050406030204" pitchFamily="18" charset="0"/>
                                </a:rPr>
                                <m:t>𝑇</m:t>
                              </m:r>
                            </m:e>
                          </m:sPre>
                        </m:e>
                        <m:sub>
                          <m:r>
                            <a:rPr lang="zh-CN" altLang="en-US" sz="1200" i="1">
                              <a:latin typeface="Cambria Math" panose="02040503050406030204" pitchFamily="18" charset="0"/>
                            </a:rPr>
                            <m:t>𝑛</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𝑞</m:t>
                          </m:r>
                        </m:e>
                        <m:sub>
                          <m:r>
                            <a:rPr lang="zh-CN" altLang="en-US" sz="1200" i="1">
                              <a:latin typeface="Cambria Math" panose="02040503050406030204" pitchFamily="18" charset="0"/>
                            </a:rPr>
                            <m:t>𝑛</m:t>
                          </m:r>
                        </m:sub>
                      </m:sSub>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2"/>
                                    <m:mcJc m:val="center"/>
                                  </m:mcPr>
                                </m:mc>
                              </m:mcs>
                              <m:ctrlPr>
                                <a:rPr lang="zh-CN" altLang="en-US" sz="1200" i="1">
                                  <a:latin typeface="Cambria Math" panose="02040503050406030204" pitchFamily="18" charset="0"/>
                                </a:rPr>
                              </m:ctrlPr>
                            </m:mPr>
                            <m:mr>
                              <m:e>
                                <m:m>
                                  <m:mPr>
                                    <m:mcs>
                                      <m:mc>
                                        <m:mcPr>
                                          <m:count m:val="2"/>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𝑛</m:t>
                                          </m:r>
                                        </m:e>
                                        <m:sub>
                                          <m:r>
                                            <a:rPr lang="zh-CN" altLang="en-US" sz="1200" i="1">
                                              <a:latin typeface="Cambria Math" panose="02040503050406030204" pitchFamily="18" charset="0"/>
                                            </a:rPr>
                                            <m:t>𝑥</m:t>
                                          </m:r>
                                        </m:sub>
                                      </m:sSub>
                                    </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𝑜</m:t>
                                          </m:r>
                                        </m:e>
                                        <m:sub>
                                          <m:r>
                                            <a:rPr lang="zh-CN" altLang="en-US" sz="1200" i="1">
                                              <a:latin typeface="Cambria Math" panose="02040503050406030204" pitchFamily="18" charset="0"/>
                                            </a:rPr>
                                            <m:t>𝑥</m:t>
                                          </m:r>
                                        </m:sub>
                                      </m:sSub>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𝑛</m:t>
                                          </m:r>
                                        </m:e>
                                        <m:sub>
                                          <m:r>
                                            <a:rPr lang="zh-CN" altLang="en-US" sz="1200" i="1">
                                              <a:latin typeface="Cambria Math" panose="02040503050406030204" pitchFamily="18" charset="0"/>
                                            </a:rPr>
                                            <m:t>𝑦</m:t>
                                          </m:r>
                                        </m:sub>
                                      </m:sSub>
                                    </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𝑜</m:t>
                                          </m:r>
                                        </m:e>
                                        <m:sub>
                                          <m:r>
                                            <a:rPr lang="zh-CN" altLang="en-US" sz="1200" i="1">
                                              <a:latin typeface="Cambria Math" panose="02040503050406030204" pitchFamily="18" charset="0"/>
                                            </a:rPr>
                                            <m:t>𝑦</m:t>
                                          </m:r>
                                        </m:sub>
                                      </m:sSub>
                                    </m:e>
                                  </m:mr>
                                </m:m>
                              </m:e>
                              <m:e>
                                <m:m>
                                  <m:mPr>
                                    <m:mcs>
                                      <m:mc>
                                        <m:mcPr>
                                          <m:count m:val="2"/>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𝑎</m:t>
                                          </m:r>
                                        </m:e>
                                        <m:sub>
                                          <m:r>
                                            <a:rPr lang="zh-CN" altLang="en-US" sz="1200" i="1">
                                              <a:latin typeface="Cambria Math" panose="02040503050406030204" pitchFamily="18" charset="0"/>
                                            </a:rPr>
                                            <m:t>𝑥</m:t>
                                          </m:r>
                                        </m:sub>
                                      </m:sSub>
                                    </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𝑝</m:t>
                                          </m:r>
                                        </m:e>
                                        <m:sub>
                                          <m:r>
                                            <a:rPr lang="zh-CN" altLang="en-US" sz="1200" i="1">
                                              <a:latin typeface="Cambria Math" panose="02040503050406030204" pitchFamily="18" charset="0"/>
                                            </a:rPr>
                                            <m:t>𝑥</m:t>
                                          </m:r>
                                        </m:sub>
                                      </m:sSub>
                                    </m:e>
                                  </m:m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𝑎</m:t>
                                          </m:r>
                                        </m:e>
                                        <m:sub>
                                          <m:r>
                                            <a:rPr lang="zh-CN" altLang="en-US" sz="1200" i="1">
                                              <a:latin typeface="Cambria Math" panose="02040503050406030204" pitchFamily="18" charset="0"/>
                                            </a:rPr>
                                            <m:t>𝑦</m:t>
                                          </m:r>
                                        </m:sub>
                                      </m:sSub>
                                    </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𝑝</m:t>
                                          </m:r>
                                        </m:e>
                                        <m:sub>
                                          <m:r>
                                            <a:rPr lang="zh-CN" altLang="en-US" sz="1200" i="1">
                                              <a:latin typeface="Cambria Math" panose="02040503050406030204" pitchFamily="18" charset="0"/>
                                            </a:rPr>
                                            <m:t>𝑦</m:t>
                                          </m:r>
                                        </m:sub>
                                      </m:sSub>
                                    </m:e>
                                  </m:mr>
                                </m:m>
                              </m:e>
                            </m:mr>
                            <m:mr>
                              <m:e>
                                <m:m>
                                  <m:mPr>
                                    <m:mcs>
                                      <m:mc>
                                        <m:mcPr>
                                          <m:count m:val="2"/>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𝑛</m:t>
                                          </m:r>
                                        </m:e>
                                        <m:sub>
                                          <m:r>
                                            <a:rPr lang="zh-CN" altLang="en-US" sz="1200" i="1">
                                              <a:latin typeface="Cambria Math" panose="02040503050406030204" pitchFamily="18" charset="0"/>
                                            </a:rPr>
                                            <m:t>𝑧</m:t>
                                          </m:r>
                                        </m:sub>
                                      </m:sSub>
                                    </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𝑜</m:t>
                                          </m:r>
                                        </m:e>
                                        <m:sub>
                                          <m:r>
                                            <a:rPr lang="zh-CN" altLang="en-US" sz="1200" i="1">
                                              <a:latin typeface="Cambria Math" panose="02040503050406030204" pitchFamily="18" charset="0"/>
                                            </a:rPr>
                                            <m:t>𝑧</m:t>
                                          </m:r>
                                        </m:sub>
                                      </m:sSub>
                                    </m:e>
                                  </m:mr>
                                  <m:mr>
                                    <m:e>
                                      <m:r>
                                        <a:rPr lang="zh-CN" altLang="en-US" sz="1200" i="0">
                                          <a:latin typeface="Cambria Math" panose="02040503050406030204" pitchFamily="18" charset="0"/>
                                        </a:rPr>
                                        <m:t>0</m:t>
                                      </m:r>
                                    </m:e>
                                    <m:e>
                                      <m:r>
                                        <a:rPr lang="zh-CN" altLang="en-US" sz="1200" i="0">
                                          <a:latin typeface="Cambria Math" panose="02040503050406030204" pitchFamily="18" charset="0"/>
                                        </a:rPr>
                                        <m:t>0</m:t>
                                      </m:r>
                                    </m:e>
                                  </m:mr>
                                </m:m>
                              </m:e>
                              <m:e>
                                <m:m>
                                  <m:mPr>
                                    <m:mcs>
                                      <m:mc>
                                        <m:mcPr>
                                          <m:count m:val="2"/>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𝑎</m:t>
                                          </m:r>
                                        </m:e>
                                        <m:sub>
                                          <m:r>
                                            <a:rPr lang="zh-CN" altLang="en-US" sz="1200" i="1">
                                              <a:latin typeface="Cambria Math" panose="02040503050406030204" pitchFamily="18" charset="0"/>
                                            </a:rPr>
                                            <m:t>𝑧</m:t>
                                          </m:r>
                                        </m:sub>
                                      </m:sSub>
                                    </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𝑝</m:t>
                                          </m:r>
                                        </m:e>
                                        <m:sub>
                                          <m:r>
                                            <a:rPr lang="zh-CN" altLang="en-US" sz="1200" i="1">
                                              <a:latin typeface="Cambria Math" panose="02040503050406030204" pitchFamily="18" charset="0"/>
                                            </a:rPr>
                                            <m:t>𝑧</m:t>
                                          </m:r>
                                        </m:sub>
                                      </m:sSub>
                                    </m:e>
                                  </m:mr>
                                  <m:mr>
                                    <m:e>
                                      <m:r>
                                        <a:rPr lang="zh-CN" altLang="en-US" sz="1200" i="0">
                                          <a:latin typeface="Cambria Math" panose="02040503050406030204" pitchFamily="18" charset="0"/>
                                        </a:rPr>
                                        <m:t>0</m:t>
                                      </m:r>
                                    </m:e>
                                    <m:e>
                                      <m:r>
                                        <a:rPr lang="zh-CN" altLang="en-US" sz="1200" i="0">
                                          <a:latin typeface="Cambria Math" panose="02040503050406030204" pitchFamily="18" charset="0"/>
                                        </a:rPr>
                                        <m:t>1</m:t>
                                      </m:r>
                                    </m:e>
                                  </m:mr>
                                </m:m>
                              </m:e>
                            </m:mr>
                          </m:m>
                        </m:e>
                      </m:d>
                    </m:oMath>
                  </m:oMathPara>
                </a14:m>
                <a:endParaRPr lang="zh-CN" altLang="en-US" sz="1200" dirty="0"/>
              </a:p>
            </p:txBody>
          </p:sp>
        </mc:Choice>
        <mc:Fallback xmlns="">
          <p:sp>
            <p:nvSpPr>
              <p:cNvPr id="4" name="矩形 3"/>
              <p:cNvSpPr>
                <a:spLocks noRot="1" noChangeAspect="1" noMove="1" noResize="1" noEditPoints="1" noAdjustHandles="1" noChangeArrowheads="1" noChangeShapeType="1" noTextEdit="1"/>
              </p:cNvSpPr>
              <p:nvPr/>
            </p:nvSpPr>
            <p:spPr>
              <a:xfrm>
                <a:off x="4427984" y="1260154"/>
                <a:ext cx="4572000" cy="77271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683569" y="2133369"/>
                <a:ext cx="2160240" cy="619913"/>
              </a:xfrm>
              <a:prstGeom prst="rect">
                <a:avLst/>
              </a:prstGeom>
            </p:spPr>
            <p:txBody>
              <a:bodyPr wrap="square">
                <a:spAutoFit/>
              </a:bodyPr>
              <a:lstStyle/>
              <a:p>
                <a:r>
                  <a:rPr lang="zh-CN" altLang="zh-CN" sz="1600" dirty="0">
                    <a:ea typeface="等线" panose="02010600030101010101" pitchFamily="2" charset="-122"/>
                    <a:cs typeface="Times New Roman" panose="02020603050405020304" pitchFamily="18" charset="0"/>
                  </a:rPr>
                  <a:t>末端连杆</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oMath>
                </a14:m>
                <a:r>
                  <a:rPr lang="zh-CN" altLang="zh-CN" sz="1600" dirty="0">
                    <a:ea typeface="等线" panose="02010600030101010101" pitchFamily="2" charset="-122"/>
                    <a:cs typeface="Times New Roman" panose="02020603050405020304" pitchFamily="18" charset="0"/>
                  </a:rPr>
                  <a:t>到各连杆</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𝑖</m:t>
                    </m:r>
                  </m:oMath>
                </a14:m>
                <a:r>
                  <a:rPr lang="zh-CN" altLang="zh-CN" sz="1600" dirty="0">
                    <a:ea typeface="等线" panose="02010600030101010101" pitchFamily="2" charset="-122"/>
                    <a:cs typeface="Times New Roman" panose="02020603050405020304" pitchFamily="18" charset="0"/>
                  </a:rPr>
                  <a:t>的变换矩阵</a:t>
                </a:r>
                <a14:m>
                  <m:oMath xmlns:m="http://schemas.openxmlformats.org/officeDocument/2006/math">
                    <m:sSub>
                      <m:sSubPr>
                        <m:ctrlPr>
                          <a:rPr lang="zh-CN" altLang="zh-CN" sz="1600" i="1">
                            <a:effectLst/>
                            <a:latin typeface="Cambria Math" panose="02040503050406030204" pitchFamily="18" charset="0"/>
                            <a:ea typeface="Cambria Math" panose="02040503050406030204" pitchFamily="18" charset="0"/>
                          </a:rPr>
                        </m:ctrlPr>
                      </m:sSubPr>
                      <m:e>
                        <m:sPre>
                          <m:sPrePr>
                            <m:ctrlPr>
                              <a:rPr lang="zh-CN" altLang="zh-CN" sz="1600" i="1">
                                <a:effectLst/>
                                <a:latin typeface="Cambria Math" panose="02040503050406030204" pitchFamily="18" charset="0"/>
                                <a:ea typeface="Cambria Math" panose="02040503050406030204" pitchFamily="18" charset="0"/>
                              </a:rPr>
                            </m:ctrlPr>
                          </m:sPrePr>
                          <m:sub/>
                          <m:sup>
                            <m:r>
                              <a:rPr lang="en-US" altLang="zh-CN" sz="1600" i="1">
                                <a:latin typeface="Cambria Math" panose="02040503050406030204" pitchFamily="18" charset="0"/>
                                <a:ea typeface="等线" panose="02010600030101010101" pitchFamily="2" charset="-122"/>
                                <a:cs typeface="Times New Roman" panose="02020603050405020304" pitchFamily="18" charset="0"/>
                              </a:rPr>
                              <m:t>𝑖</m:t>
                            </m:r>
                          </m:sup>
                          <m:e>
                            <m:r>
                              <a:rPr lang="en-US" altLang="zh-CN" sz="1600" i="1">
                                <a:latin typeface="Cambria Math" panose="02040503050406030204" pitchFamily="18" charset="0"/>
                                <a:ea typeface="等线" panose="02010600030101010101" pitchFamily="2" charset="-122"/>
                                <a:cs typeface="Times New Roman" panose="02020603050405020304" pitchFamily="18" charset="0"/>
                              </a:rPr>
                              <m:t>𝑇</m:t>
                            </m:r>
                          </m:e>
                        </m:sPre>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𝑛</m:t>
                        </m:r>
                      </m:sub>
                    </m:sSub>
                  </m:oMath>
                </a14:m>
                <a:r>
                  <a:rPr lang="en-US" altLang="zh-CN" sz="1600" dirty="0">
                    <a:latin typeface="等线" panose="02010600030101010101" pitchFamily="2" charset="-122"/>
                    <a:cs typeface="Times New Roman" panose="02020603050405020304" pitchFamily="18" charset="0"/>
                  </a:rPr>
                  <a:t>:</a:t>
                </a:r>
                <a:endParaRPr lang="zh-CN" altLang="en-US" sz="1600" dirty="0"/>
              </a:p>
            </p:txBody>
          </p:sp>
        </mc:Choice>
        <mc:Fallback xmlns="">
          <p:sp>
            <p:nvSpPr>
              <p:cNvPr id="5" name="矩形 4"/>
              <p:cNvSpPr>
                <a:spLocks noRot="1" noChangeAspect="1" noMove="1" noResize="1" noEditPoints="1" noAdjustHandles="1" noChangeArrowheads="1" noChangeShapeType="1" noTextEdit="1"/>
              </p:cNvSpPr>
              <p:nvPr/>
            </p:nvSpPr>
            <p:spPr>
              <a:xfrm>
                <a:off x="683569" y="2133369"/>
                <a:ext cx="2160240" cy="619913"/>
              </a:xfrm>
              <a:prstGeom prst="rect">
                <a:avLst/>
              </a:prstGeom>
              <a:blipFill>
                <a:blip r:embed="rId6"/>
                <a:stretch>
                  <a:fillRect l="-1408" t="-2941" b="-1078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1115616" y="2931790"/>
                <a:ext cx="1184812" cy="29655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𝑛</m:t>
                              </m:r>
                              <m:r>
                                <a:rPr lang="zh-CN" altLang="en-US" sz="1200" i="0">
                                  <a:latin typeface="Cambria Math" panose="02040503050406030204" pitchFamily="18" charset="0"/>
                                </a:rPr>
                                <m:t>−1</m:t>
                              </m:r>
                            </m:sup>
                            <m:e>
                              <m:r>
                                <a:rPr lang="zh-CN" altLang="en-US" sz="1200" i="1">
                                  <a:latin typeface="Cambria Math" panose="02040503050406030204" pitchFamily="18" charset="0"/>
                                </a:rPr>
                                <m:t>𝑇</m:t>
                              </m:r>
                            </m:e>
                          </m:sPre>
                        </m:e>
                        <m:sub>
                          <m:r>
                            <a:rPr lang="zh-CN" altLang="en-US" sz="1200" i="1">
                              <a:latin typeface="Cambria Math" panose="02040503050406030204" pitchFamily="18" charset="0"/>
                            </a:rPr>
                            <m:t>𝑛</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𝑛</m:t>
                              </m:r>
                              <m:r>
                                <a:rPr lang="zh-CN" altLang="en-US" sz="1200" i="0">
                                  <a:latin typeface="Cambria Math" panose="02040503050406030204" pitchFamily="18" charset="0"/>
                                </a:rPr>
                                <m:t>−1</m:t>
                              </m:r>
                            </m:sup>
                            <m:e>
                              <m:r>
                                <a:rPr lang="zh-CN" altLang="en-US" sz="1200" i="1">
                                  <a:latin typeface="Cambria Math" panose="02040503050406030204" pitchFamily="18" charset="0"/>
                                </a:rPr>
                                <m:t>𝑇</m:t>
                              </m:r>
                            </m:e>
                          </m:sPre>
                        </m:e>
                        <m:sub>
                          <m:r>
                            <a:rPr lang="zh-CN" altLang="en-US" sz="1200" i="1">
                              <a:latin typeface="Cambria Math" panose="02040503050406030204" pitchFamily="18" charset="0"/>
                            </a:rPr>
                            <m:t>𝑛</m:t>
                          </m:r>
                        </m:sub>
                      </m:sSub>
                    </m:oMath>
                  </m:oMathPara>
                </a14:m>
                <a:endParaRPr lang="zh-CN" altLang="en-US" sz="1200" dirty="0"/>
              </a:p>
            </p:txBody>
          </p:sp>
        </mc:Choice>
        <mc:Fallback xmlns="">
          <p:sp>
            <p:nvSpPr>
              <p:cNvPr id="8" name="矩形 7"/>
              <p:cNvSpPr>
                <a:spLocks noRot="1" noChangeAspect="1" noMove="1" noResize="1" noEditPoints="1" noAdjustHandles="1" noChangeArrowheads="1" noChangeShapeType="1" noTextEdit="1"/>
              </p:cNvSpPr>
              <p:nvPr/>
            </p:nvSpPr>
            <p:spPr>
              <a:xfrm>
                <a:off x="1115616" y="2931790"/>
                <a:ext cx="1184812" cy="296556"/>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755576" y="3250838"/>
                <a:ext cx="1718739" cy="2969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𝑛</m:t>
                              </m:r>
                              <m:r>
                                <a:rPr lang="zh-CN" altLang="en-US" sz="1200" i="0">
                                  <a:latin typeface="Cambria Math" panose="02040503050406030204" pitchFamily="18" charset="0"/>
                                </a:rPr>
                                <m:t>−2</m:t>
                              </m:r>
                            </m:sup>
                            <m:e>
                              <m:r>
                                <a:rPr lang="zh-CN" altLang="en-US" sz="1200" i="1">
                                  <a:latin typeface="Cambria Math" panose="02040503050406030204" pitchFamily="18" charset="0"/>
                                </a:rPr>
                                <m:t>𝑇</m:t>
                              </m:r>
                            </m:e>
                          </m:sPre>
                        </m:e>
                        <m:sub>
                          <m:r>
                            <a:rPr lang="zh-CN" altLang="en-US" sz="1200" i="1">
                              <a:latin typeface="Cambria Math" panose="02040503050406030204" pitchFamily="18" charset="0"/>
                            </a:rPr>
                            <m:t>𝑛</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𝑛</m:t>
                              </m:r>
                              <m:r>
                                <a:rPr lang="zh-CN" altLang="en-US" sz="1200" i="0">
                                  <a:latin typeface="Cambria Math" panose="02040503050406030204" pitchFamily="18" charset="0"/>
                                </a:rPr>
                                <m:t>−2</m:t>
                              </m:r>
                            </m:sup>
                            <m:e>
                              <m:r>
                                <a:rPr lang="zh-CN" altLang="en-US" sz="1200" i="1">
                                  <a:latin typeface="Cambria Math" panose="02040503050406030204" pitchFamily="18" charset="0"/>
                                </a:rPr>
                                <m:t>𝑇</m:t>
                              </m:r>
                            </m:e>
                          </m:sPre>
                        </m:e>
                        <m:sub>
                          <m:r>
                            <a:rPr lang="zh-CN" altLang="en-US" sz="1200" i="1">
                              <a:latin typeface="Cambria Math" panose="02040503050406030204" pitchFamily="18" charset="0"/>
                            </a:rPr>
                            <m:t>𝑛</m:t>
                          </m:r>
                          <m:r>
                            <a:rPr lang="zh-CN" altLang="en-US" sz="1200" i="0">
                              <a:latin typeface="Cambria Math" panose="02040503050406030204" pitchFamily="18" charset="0"/>
                            </a:rPr>
                            <m:t>−1</m:t>
                          </m:r>
                        </m:sub>
                      </m:sSub>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𝑛</m:t>
                              </m:r>
                              <m:r>
                                <a:rPr lang="zh-CN" altLang="en-US" sz="1200" i="0">
                                  <a:latin typeface="Cambria Math" panose="02040503050406030204" pitchFamily="18" charset="0"/>
                                </a:rPr>
                                <m:t>−1</m:t>
                              </m:r>
                            </m:sup>
                            <m:e>
                              <m:r>
                                <a:rPr lang="zh-CN" altLang="en-US" sz="1200" i="1">
                                  <a:latin typeface="Cambria Math" panose="02040503050406030204" pitchFamily="18" charset="0"/>
                                </a:rPr>
                                <m:t>𝑇</m:t>
                              </m:r>
                            </m:e>
                          </m:sPre>
                        </m:e>
                        <m:sub>
                          <m:r>
                            <a:rPr lang="zh-CN" altLang="en-US" sz="1200" i="1">
                              <a:latin typeface="Cambria Math" panose="02040503050406030204" pitchFamily="18" charset="0"/>
                            </a:rPr>
                            <m:t>𝑛</m:t>
                          </m:r>
                        </m:sub>
                      </m:sSub>
                    </m:oMath>
                  </m:oMathPara>
                </a14:m>
                <a:endParaRPr lang="zh-CN" altLang="en-US" sz="1200" dirty="0"/>
              </a:p>
            </p:txBody>
          </p:sp>
        </mc:Choice>
        <mc:Fallback xmlns="">
          <p:sp>
            <p:nvSpPr>
              <p:cNvPr id="9" name="矩形 8"/>
              <p:cNvSpPr>
                <a:spLocks noRot="1" noChangeAspect="1" noMove="1" noResize="1" noEditPoints="1" noAdjustHandles="1" noChangeArrowheads="1" noChangeShapeType="1" noTextEdit="1"/>
              </p:cNvSpPr>
              <p:nvPr/>
            </p:nvSpPr>
            <p:spPr>
              <a:xfrm>
                <a:off x="755576" y="3250838"/>
                <a:ext cx="1718739" cy="296941"/>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944929" y="3794500"/>
                <a:ext cx="1355499" cy="3034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r>
                                <a:rPr lang="zh-CN" altLang="en-US" sz="1200" i="0">
                                  <a:latin typeface="Cambria Math" panose="02040503050406030204" pitchFamily="18" charset="0"/>
                                </a:rPr>
                                <m:t>−1</m:t>
                              </m:r>
                            </m:sup>
                            <m:e>
                              <m:r>
                                <a:rPr lang="zh-CN" altLang="en-US" sz="1200" i="1">
                                  <a:latin typeface="Cambria Math" panose="02040503050406030204" pitchFamily="18" charset="0"/>
                                </a:rPr>
                                <m:t>𝑇</m:t>
                              </m:r>
                            </m:e>
                          </m:sPre>
                        </m:e>
                        <m:sub>
                          <m:r>
                            <a:rPr lang="zh-CN" altLang="en-US" sz="1200" i="1">
                              <a:latin typeface="Cambria Math" panose="02040503050406030204" pitchFamily="18" charset="0"/>
                            </a:rPr>
                            <m:t>𝑛</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r>
                                <a:rPr lang="zh-CN" altLang="en-US" sz="1200" i="0">
                                  <a:latin typeface="Cambria Math" panose="02040503050406030204" pitchFamily="18" charset="0"/>
                                </a:rPr>
                                <m:t>−1</m:t>
                              </m:r>
                            </m:sup>
                            <m:e>
                              <m:r>
                                <a:rPr lang="zh-CN" altLang="en-US" sz="1200" i="1">
                                  <a:latin typeface="Cambria Math" panose="02040503050406030204" pitchFamily="18" charset="0"/>
                                </a:rPr>
                                <m:t>𝑇</m:t>
                              </m:r>
                            </m:e>
                          </m:sPre>
                        </m:e>
                        <m:sub>
                          <m:r>
                            <a:rPr lang="zh-CN" altLang="en-US" sz="1200" i="1">
                              <a:latin typeface="Cambria Math" panose="02040503050406030204" pitchFamily="18" charset="0"/>
                            </a:rPr>
                            <m:t>𝑖</m:t>
                          </m:r>
                        </m:sub>
                      </m:sSub>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𝑖</m:t>
                              </m:r>
                            </m:sup>
                            <m:e>
                              <m:r>
                                <a:rPr lang="zh-CN" altLang="en-US" sz="1200" i="1">
                                  <a:latin typeface="Cambria Math" panose="02040503050406030204" pitchFamily="18" charset="0"/>
                                </a:rPr>
                                <m:t>𝑇</m:t>
                              </m:r>
                            </m:e>
                          </m:sPre>
                        </m:e>
                        <m:sub>
                          <m:r>
                            <a:rPr lang="zh-CN" altLang="en-US" sz="1200" i="1">
                              <a:latin typeface="Cambria Math" panose="02040503050406030204" pitchFamily="18" charset="0"/>
                            </a:rPr>
                            <m:t>𝑛</m:t>
                          </m:r>
                        </m:sub>
                      </m:sSub>
                    </m:oMath>
                  </m:oMathPara>
                </a14:m>
                <a:endParaRPr lang="zh-CN" altLang="en-US" sz="1200" dirty="0"/>
              </a:p>
            </p:txBody>
          </p:sp>
        </mc:Choice>
        <mc:Fallback xmlns="">
          <p:sp>
            <p:nvSpPr>
              <p:cNvPr id="10" name="矩形 9"/>
              <p:cNvSpPr>
                <a:spLocks noRot="1" noChangeAspect="1" noMove="1" noResize="1" noEditPoints="1" noAdjustHandles="1" noChangeArrowheads="1" noChangeShapeType="1" noTextEdit="1"/>
              </p:cNvSpPr>
              <p:nvPr/>
            </p:nvSpPr>
            <p:spPr>
              <a:xfrm>
                <a:off x="944929" y="3794500"/>
                <a:ext cx="1355499" cy="303416"/>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1356644" y="3566132"/>
                <a:ext cx="351378"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200">
                          <a:latin typeface="Cambria Math" panose="02040503050406030204" pitchFamily="18" charset="0"/>
                        </a:rPr>
                        <m:t>⋯</m:t>
                      </m:r>
                    </m:oMath>
                  </m:oMathPara>
                </a14:m>
                <a:endParaRPr lang="zh-CN" altLang="en-US" sz="1200" dirty="0"/>
              </a:p>
            </p:txBody>
          </p:sp>
        </mc:Choice>
        <mc:Fallback xmlns="">
          <p:sp>
            <p:nvSpPr>
              <p:cNvPr id="11" name="矩形 10"/>
              <p:cNvSpPr>
                <a:spLocks noRot="1" noChangeAspect="1" noMove="1" noResize="1" noEditPoints="1" noAdjustHandles="1" noChangeArrowheads="1" noChangeShapeType="1" noTextEdit="1"/>
              </p:cNvSpPr>
              <p:nvPr/>
            </p:nvSpPr>
            <p:spPr>
              <a:xfrm>
                <a:off x="1356644" y="3566132"/>
                <a:ext cx="351378" cy="276999"/>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矩形 26"/>
              <p:cNvSpPr/>
              <p:nvPr/>
            </p:nvSpPr>
            <p:spPr>
              <a:xfrm>
                <a:off x="1356644" y="4097916"/>
                <a:ext cx="351378"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200">
                          <a:latin typeface="Cambria Math" panose="02040503050406030204" pitchFamily="18" charset="0"/>
                        </a:rPr>
                        <m:t>⋯</m:t>
                      </m:r>
                    </m:oMath>
                  </m:oMathPara>
                </a14:m>
                <a:endParaRPr lang="zh-CN" altLang="en-US" sz="1200" dirty="0"/>
              </a:p>
            </p:txBody>
          </p:sp>
        </mc:Choice>
        <mc:Fallback xmlns="">
          <p:sp>
            <p:nvSpPr>
              <p:cNvPr id="27" name="矩形 26"/>
              <p:cNvSpPr>
                <a:spLocks noRot="1" noChangeAspect="1" noMove="1" noResize="1" noEditPoints="1" noAdjustHandles="1" noChangeArrowheads="1" noChangeShapeType="1" noTextEdit="1"/>
              </p:cNvSpPr>
              <p:nvPr/>
            </p:nvSpPr>
            <p:spPr>
              <a:xfrm>
                <a:off x="1356644" y="4097916"/>
                <a:ext cx="351378" cy="276999"/>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934284" y="4369567"/>
                <a:ext cx="1196097" cy="2970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0</m:t>
                              </m:r>
                            </m:sup>
                            <m:e>
                              <m:r>
                                <a:rPr lang="zh-CN" altLang="en-US" sz="1200" i="1">
                                  <a:latin typeface="Cambria Math" panose="02040503050406030204" pitchFamily="18" charset="0"/>
                                </a:rPr>
                                <m:t>𝑇</m:t>
                              </m:r>
                            </m:e>
                          </m:sPre>
                        </m:e>
                        <m:sub>
                          <m:r>
                            <a:rPr lang="zh-CN" altLang="en-US" sz="1200" i="1">
                              <a:latin typeface="Cambria Math" panose="02040503050406030204" pitchFamily="18" charset="0"/>
                            </a:rPr>
                            <m:t>𝑛</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0</m:t>
                              </m:r>
                            </m:sup>
                            <m:e>
                              <m:r>
                                <a:rPr lang="zh-CN" altLang="en-US" sz="1200" i="1">
                                  <a:latin typeface="Cambria Math" panose="02040503050406030204" pitchFamily="18" charset="0"/>
                                </a:rPr>
                                <m:t>𝑇</m:t>
                              </m:r>
                            </m:e>
                          </m:sPre>
                        </m:e>
                        <m:sub>
                          <m:r>
                            <a:rPr lang="zh-CN" altLang="en-US" sz="1200" i="0">
                              <a:latin typeface="Cambria Math" panose="02040503050406030204" pitchFamily="18" charset="0"/>
                            </a:rPr>
                            <m:t>1</m:t>
                          </m:r>
                        </m:sub>
                      </m:sSub>
                      <m:sSub>
                        <m:sSubPr>
                          <m:ctrlPr>
                            <a:rPr lang="zh-CN" altLang="en-US" sz="1200" i="1">
                              <a:latin typeface="Cambria Math" panose="02040503050406030204" pitchFamily="18" charset="0"/>
                            </a:rPr>
                          </m:ctrlPr>
                        </m:sSubPr>
                        <m:e>
                          <m:sPre>
                            <m:sPrePr>
                              <m:ctrlPr>
                                <a:rPr lang="zh-CN" altLang="en-US" sz="1200" i="1">
                                  <a:latin typeface="Cambria Math" panose="02040503050406030204" pitchFamily="18" charset="0"/>
                                </a:rPr>
                              </m:ctrlPr>
                            </m:sPrePr>
                            <m:sub/>
                            <m:sup>
                              <m:r>
                                <a:rPr lang="zh-CN" altLang="en-US" sz="1200" i="0">
                                  <a:latin typeface="Cambria Math" panose="02040503050406030204" pitchFamily="18" charset="0"/>
                                </a:rPr>
                                <m:t>1</m:t>
                              </m:r>
                            </m:sup>
                            <m:e>
                              <m:r>
                                <a:rPr lang="zh-CN" altLang="en-US" sz="1200" i="1">
                                  <a:latin typeface="Cambria Math" panose="02040503050406030204" pitchFamily="18" charset="0"/>
                                </a:rPr>
                                <m:t>𝑇</m:t>
                              </m:r>
                            </m:e>
                          </m:sPre>
                        </m:e>
                        <m:sub>
                          <m:r>
                            <a:rPr lang="zh-CN" altLang="en-US" sz="1200" i="1">
                              <a:latin typeface="Cambria Math" panose="02040503050406030204" pitchFamily="18" charset="0"/>
                            </a:rPr>
                            <m:t>𝑛</m:t>
                          </m:r>
                        </m:sub>
                      </m:sSub>
                    </m:oMath>
                  </m:oMathPara>
                </a14:m>
                <a:endParaRPr lang="zh-CN" altLang="en-US" sz="1200" dirty="0"/>
              </a:p>
            </p:txBody>
          </p:sp>
        </mc:Choice>
        <mc:Fallback xmlns="">
          <p:sp>
            <p:nvSpPr>
              <p:cNvPr id="13" name="矩形 12"/>
              <p:cNvSpPr>
                <a:spLocks noRot="1" noChangeAspect="1" noMove="1" noResize="1" noEditPoints="1" noAdjustHandles="1" noChangeArrowheads="1" noChangeShapeType="1" noTextEdit="1"/>
              </p:cNvSpPr>
              <p:nvPr/>
            </p:nvSpPr>
            <p:spPr>
              <a:xfrm>
                <a:off x="934284" y="4369567"/>
                <a:ext cx="1196097" cy="297069"/>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3707904" y="2078487"/>
                <a:ext cx="3594308" cy="501291"/>
              </a:xfrm>
              <a:prstGeom prst="rect">
                <a:avLst/>
              </a:prstGeom>
            </p:spPr>
            <p:txBody>
              <a:bodyPr wrap="square">
                <a:spAutoFit/>
              </a:bodyPr>
              <a:lstStyle/>
              <a:p>
                <a:r>
                  <a:rPr lang="zh-CN" altLang="zh-CN" sz="1200" dirty="0">
                    <a:ea typeface="等线" panose="02010600030101010101" pitchFamily="2" charset="-122"/>
                    <a:cs typeface="Times New Roman" panose="02020603050405020304" pitchFamily="18" charset="0"/>
                  </a:rPr>
                  <a:t>雅可比矩阵第</a:t>
                </a:r>
                <a:r>
                  <a:rPr lang="en-US" altLang="zh-CN" sz="1200" dirty="0">
                    <a:ea typeface="等线" panose="02010600030101010101" pitchFamily="2" charset="-122"/>
                    <a:cs typeface="Times New Roman" panose="02020603050405020304" pitchFamily="18" charset="0"/>
                  </a:rPr>
                  <a:t>1</a:t>
                </a:r>
                <a:r>
                  <a:rPr lang="zh-CN" altLang="zh-CN" sz="1200" dirty="0">
                    <a:ea typeface="等线" panose="02010600030101010101" pitchFamily="2" charset="-122"/>
                    <a:cs typeface="Times New Roman" panose="02020603050405020304" pitchFamily="18" charset="0"/>
                  </a:rPr>
                  <a:t>列用</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sPre>
                          <m:sPrePr>
                            <m:ctrlPr>
                              <a:rPr lang="zh-CN" altLang="zh-CN" sz="1200" i="1">
                                <a:effectLst/>
                                <a:latin typeface="Cambria Math" panose="02040503050406030204" pitchFamily="18" charset="0"/>
                                <a:ea typeface="Cambria Math" panose="02040503050406030204" pitchFamily="18" charset="0"/>
                              </a:rPr>
                            </m:ctrlPr>
                          </m:sPrePr>
                          <m:sub/>
                          <m:sup>
                            <m:r>
                              <a:rPr lang="en-US" altLang="zh-CN" sz="1200" i="1">
                                <a:latin typeface="Cambria Math" panose="02040503050406030204" pitchFamily="18" charset="0"/>
                                <a:ea typeface="等线" panose="02010600030101010101" pitchFamily="2" charset="-122"/>
                                <a:cs typeface="Times New Roman" panose="02020603050405020304" pitchFamily="18" charset="0"/>
                              </a:rPr>
                              <m:t>0</m:t>
                            </m:r>
                          </m:sup>
                          <m:e>
                            <m:r>
                              <a:rPr lang="en-US" altLang="zh-CN" sz="1200" i="1">
                                <a:latin typeface="Cambria Math" panose="02040503050406030204" pitchFamily="18" charset="0"/>
                                <a:ea typeface="等线" panose="02010600030101010101" pitchFamily="2" charset="-122"/>
                                <a:cs typeface="Times New Roman" panose="02020603050405020304" pitchFamily="18" charset="0"/>
                              </a:rPr>
                              <m:t>𝑇</m:t>
                            </m:r>
                          </m:e>
                        </m:sPre>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𝑛</m:t>
                        </m:r>
                      </m:sub>
                    </m:sSub>
                  </m:oMath>
                </a14:m>
                <a:r>
                  <a:rPr lang="zh-CN" altLang="zh-CN" sz="1200" dirty="0">
                    <a:ea typeface="等线" panose="02010600030101010101" pitchFamily="2" charset="-122"/>
                    <a:cs typeface="Times New Roman" panose="02020603050405020304" pitchFamily="18" charset="0"/>
                  </a:rPr>
                  <a:t>的元素</a:t>
                </a:r>
                <a:r>
                  <a:rPr lang="en-US" altLang="zh-CN" sz="1200" dirty="0">
                    <a:ea typeface="等线" panose="02010600030101010101" pitchFamily="2" charset="-122"/>
                    <a:cs typeface="Times New Roman" panose="02020603050405020304" pitchFamily="18" charset="0"/>
                  </a:rPr>
                  <a:t>,</a:t>
                </a:r>
                <a:r>
                  <a:rPr lang="zh-CN" altLang="zh-CN" sz="1200" dirty="0">
                    <a:ea typeface="等线" panose="02010600030101010101" pitchFamily="2" charset="-122"/>
                    <a:cs typeface="Times New Roman" panose="02020603050405020304" pitchFamily="18" charset="0"/>
                  </a:rPr>
                  <a:t>第</a:t>
                </a:r>
                <a:r>
                  <a:rPr lang="en-US" altLang="zh-CN" sz="1200" dirty="0">
                    <a:ea typeface="等线" panose="02010600030101010101" pitchFamily="2" charset="-122"/>
                    <a:cs typeface="Times New Roman" panose="02020603050405020304" pitchFamily="18" charset="0"/>
                  </a:rPr>
                  <a:t>2</a:t>
                </a:r>
                <a:r>
                  <a:rPr lang="zh-CN" altLang="zh-CN" sz="1200" dirty="0">
                    <a:ea typeface="等线" panose="02010600030101010101" pitchFamily="2" charset="-122"/>
                    <a:cs typeface="Times New Roman" panose="02020603050405020304" pitchFamily="18" charset="0"/>
                  </a:rPr>
                  <a:t>列用</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sPre>
                          <m:sPrePr>
                            <m:ctrlPr>
                              <a:rPr lang="zh-CN" altLang="zh-CN" sz="1200" i="1">
                                <a:effectLst/>
                                <a:latin typeface="Cambria Math" panose="02040503050406030204" pitchFamily="18" charset="0"/>
                                <a:ea typeface="Cambria Math" panose="02040503050406030204" pitchFamily="18" charset="0"/>
                              </a:rPr>
                            </m:ctrlPr>
                          </m:sPrePr>
                          <m:sub/>
                          <m:sup>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sup>
                          <m:e>
                            <m:r>
                              <a:rPr lang="en-US" altLang="zh-CN" sz="1200" i="1">
                                <a:latin typeface="Cambria Math" panose="02040503050406030204" pitchFamily="18" charset="0"/>
                                <a:ea typeface="等线" panose="02010600030101010101" pitchFamily="2" charset="-122"/>
                                <a:cs typeface="Times New Roman" panose="02020603050405020304" pitchFamily="18" charset="0"/>
                              </a:rPr>
                              <m:t>𝑇</m:t>
                            </m:r>
                          </m:e>
                        </m:sPre>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𝑛</m:t>
                        </m:r>
                      </m:sub>
                    </m:sSub>
                  </m:oMath>
                </a14:m>
                <a:r>
                  <a:rPr lang="zh-CN" altLang="zh-CN" sz="1200" dirty="0">
                    <a:ea typeface="等线" panose="02010600030101010101" pitchFamily="2" charset="-122"/>
                    <a:cs typeface="Times New Roman" panose="02020603050405020304" pitchFamily="18" charset="0"/>
                  </a:rPr>
                  <a:t>的元素，依次类推，第</a:t>
                </a:r>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𝑛</m:t>
                    </m:r>
                  </m:oMath>
                </a14:m>
                <a:r>
                  <a:rPr lang="zh-CN" altLang="zh-CN" sz="1200" dirty="0">
                    <a:ea typeface="等线" panose="02010600030101010101" pitchFamily="2" charset="-122"/>
                    <a:cs typeface="Times New Roman" panose="02020603050405020304" pitchFamily="18" charset="0"/>
                  </a:rPr>
                  <a:t>列用</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sPre>
                          <m:sPrePr>
                            <m:ctrlPr>
                              <a:rPr lang="zh-CN" altLang="zh-CN" sz="1200" i="1">
                                <a:effectLst/>
                                <a:latin typeface="Cambria Math" panose="02040503050406030204" pitchFamily="18" charset="0"/>
                                <a:ea typeface="Cambria Math" panose="02040503050406030204" pitchFamily="18" charset="0"/>
                              </a:rPr>
                            </m:ctrlPr>
                          </m:sPrePr>
                          <m:sub/>
                          <m:sup>
                            <m:r>
                              <a:rPr lang="en-US" altLang="zh-CN" sz="1200" i="1">
                                <a:latin typeface="Cambria Math" panose="02040503050406030204" pitchFamily="18" charset="0"/>
                                <a:ea typeface="等线" panose="02010600030101010101" pitchFamily="2" charset="-122"/>
                                <a:cs typeface="Times New Roman" panose="02020603050405020304" pitchFamily="18" charset="0"/>
                              </a:rPr>
                              <m:t>𝑛</m:t>
                            </m:r>
                            <m:r>
                              <a:rPr lang="en-US" altLang="zh-CN" sz="1200" i="1">
                                <a:latin typeface="Cambria Math" panose="02040503050406030204" pitchFamily="18" charset="0"/>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sup>
                          <m:e>
                            <m:r>
                              <a:rPr lang="en-US" altLang="zh-CN" sz="1200" i="1">
                                <a:latin typeface="Cambria Math" panose="02040503050406030204" pitchFamily="18" charset="0"/>
                                <a:ea typeface="等线" panose="02010600030101010101" pitchFamily="2" charset="-122"/>
                                <a:cs typeface="Times New Roman" panose="02020603050405020304" pitchFamily="18" charset="0"/>
                              </a:rPr>
                              <m:t>𝑇</m:t>
                            </m:r>
                          </m:e>
                        </m:sPre>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𝑛</m:t>
                        </m:r>
                      </m:sub>
                    </m:sSub>
                  </m:oMath>
                </a14:m>
                <a:r>
                  <a:rPr lang="zh-CN" altLang="zh-CN" sz="1200" dirty="0">
                    <a:ea typeface="等线" panose="02010600030101010101" pitchFamily="2" charset="-122"/>
                    <a:cs typeface="Times New Roman" panose="02020603050405020304" pitchFamily="18" charset="0"/>
                  </a:rPr>
                  <a:t>的元素。</a:t>
                </a:r>
                <a:endParaRPr lang="zh-CN" altLang="en-US" sz="1200" dirty="0"/>
              </a:p>
            </p:txBody>
          </p:sp>
        </mc:Choice>
        <mc:Fallback xmlns="">
          <p:sp>
            <p:nvSpPr>
              <p:cNvPr id="14" name="矩形 13"/>
              <p:cNvSpPr>
                <a:spLocks noRot="1" noChangeAspect="1" noMove="1" noResize="1" noEditPoints="1" noAdjustHandles="1" noChangeArrowheads="1" noChangeShapeType="1" noTextEdit="1"/>
              </p:cNvSpPr>
              <p:nvPr/>
            </p:nvSpPr>
            <p:spPr>
              <a:xfrm>
                <a:off x="3707904" y="2078487"/>
                <a:ext cx="3594308" cy="501291"/>
              </a:xfrm>
              <a:prstGeom prst="rect">
                <a:avLst/>
              </a:prstGeom>
              <a:blipFill>
                <a:blip r:embed="rId13"/>
                <a:stretch>
                  <a:fillRect r="-4237" b="-8537"/>
                </a:stretch>
              </a:blipFill>
            </p:spPr>
            <p:txBody>
              <a:bodyPr/>
              <a:lstStyle/>
              <a:p>
                <a:r>
                  <a:rPr lang="zh-CN" altLang="en-US">
                    <a:noFill/>
                  </a:rPr>
                  <a:t> </a:t>
                </a:r>
              </a:p>
            </p:txBody>
          </p:sp>
        </mc:Fallback>
      </mc:AlternateContent>
      <p:sp>
        <p:nvSpPr>
          <p:cNvPr id="15" name="圆角矩形 14"/>
          <p:cNvSpPr/>
          <p:nvPr/>
        </p:nvSpPr>
        <p:spPr>
          <a:xfrm>
            <a:off x="357345" y="2053988"/>
            <a:ext cx="2486464" cy="289402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右箭头 15"/>
          <p:cNvSpPr/>
          <p:nvPr/>
        </p:nvSpPr>
        <p:spPr>
          <a:xfrm>
            <a:off x="2987824" y="3147814"/>
            <a:ext cx="432048" cy="5040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8" name="矩形 27"/>
              <p:cNvSpPr/>
              <p:nvPr/>
            </p:nvSpPr>
            <p:spPr>
              <a:xfrm>
                <a:off x="3629290" y="2584889"/>
                <a:ext cx="4572000" cy="276999"/>
              </a:xfrm>
              <a:prstGeom prst="rect">
                <a:avLst/>
              </a:prstGeom>
            </p:spPr>
            <p:txBody>
              <a:bodyPr>
                <a:spAutoFit/>
              </a:bodyPr>
              <a:lstStyle/>
              <a:p>
                <a:r>
                  <a:rPr lang="zh-CN" altLang="zh-CN" sz="1200" dirty="0">
                    <a:ea typeface="楷体" panose="02010609060101010101" pitchFamily="49" charset="-122"/>
                    <a:cs typeface="Times New Roman" panose="02020603050405020304" pitchFamily="18" charset="0"/>
                  </a:rPr>
                  <a:t>①</a:t>
                </a:r>
                <a:r>
                  <a:rPr lang="zh-CN" altLang="zh-CN" sz="1200" dirty="0">
                    <a:ea typeface="等线" panose="02010600030101010101" pitchFamily="2" charset="-122"/>
                    <a:cs typeface="Times New Roman" panose="02020603050405020304" pitchFamily="18" charset="0"/>
                  </a:rPr>
                  <a:t>如果关节</a:t>
                </a:r>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oMath>
                </a14:m>
                <a:r>
                  <a:rPr lang="zh-CN" altLang="zh-CN" sz="1200" dirty="0">
                    <a:ea typeface="等线" panose="02010600030101010101" pitchFamily="2" charset="-122"/>
                    <a:cs typeface="Times New Roman" panose="02020603050405020304" pitchFamily="18" charset="0"/>
                  </a:rPr>
                  <a:t>为旋转关节，那么雅可比矩阵的第</a:t>
                </a:r>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oMath>
                </a14:m>
                <a:r>
                  <a:rPr lang="zh-CN" altLang="zh-CN" sz="1200" dirty="0">
                    <a:ea typeface="等线" panose="02010600030101010101" pitchFamily="2" charset="-122"/>
                    <a:cs typeface="Times New Roman" panose="02020603050405020304" pitchFamily="18" charset="0"/>
                  </a:rPr>
                  <a:t>列元素：</a:t>
                </a:r>
                <a:endParaRPr lang="zh-CN" altLang="en-US" sz="1200" dirty="0"/>
              </a:p>
            </p:txBody>
          </p:sp>
        </mc:Choice>
        <mc:Fallback xmlns="">
          <p:sp>
            <p:nvSpPr>
              <p:cNvPr id="28" name="矩形 27"/>
              <p:cNvSpPr>
                <a:spLocks noRot="1" noChangeAspect="1" noMove="1" noResize="1" noEditPoints="1" noAdjustHandles="1" noChangeArrowheads="1" noChangeShapeType="1" noTextEdit="1"/>
              </p:cNvSpPr>
              <p:nvPr/>
            </p:nvSpPr>
            <p:spPr>
              <a:xfrm>
                <a:off x="3629290" y="2584889"/>
                <a:ext cx="4572000" cy="276999"/>
              </a:xfrm>
              <a:prstGeom prst="rect">
                <a:avLst/>
              </a:prstGeom>
              <a:blipFill>
                <a:blip r:embed="rId14"/>
                <a:stretch>
                  <a:fillRect t="-2222" b="-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矩形 28"/>
              <p:cNvSpPr/>
              <p:nvPr/>
            </p:nvSpPr>
            <p:spPr>
              <a:xfrm>
                <a:off x="4293472" y="2779376"/>
                <a:ext cx="1663148" cy="3048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0">
                                  <a:latin typeface="Cambria Math" panose="02040503050406030204" pitchFamily="18" charset="0"/>
                                </a:rPr>
                                <m:t>1</m:t>
                              </m:r>
                              <m:r>
                                <a:rPr lang="zh-CN" altLang="en-US" sz="1200" i="1">
                                  <a:latin typeface="Cambria Math" panose="02040503050406030204" pitchFamily="18" charset="0"/>
                                </a:rPr>
                                <m:t>𝑖</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𝑛</m:t>
                              </m:r>
                            </m:e>
                            <m:sub>
                              <m:r>
                                <a:rPr lang="zh-CN" altLang="en-US" sz="1200" i="1">
                                  <a:latin typeface="Cambria Math" panose="02040503050406030204" pitchFamily="18" charset="0"/>
                                </a:rPr>
                                <m:t>𝑥</m:t>
                              </m:r>
                            </m:sub>
                          </m:s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𝑝</m:t>
                              </m:r>
                            </m:e>
                            <m:sub>
                              <m:r>
                                <a:rPr lang="zh-CN" altLang="en-US" sz="1200" i="1">
                                  <a:latin typeface="Cambria Math" panose="02040503050406030204" pitchFamily="18" charset="0"/>
                                </a:rPr>
                                <m:t>𝑦</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𝑛</m:t>
                              </m:r>
                            </m:e>
                            <m:sub>
                              <m:r>
                                <a:rPr lang="zh-CN" altLang="en-US" sz="1200" i="1">
                                  <a:latin typeface="Cambria Math" panose="02040503050406030204" pitchFamily="18" charset="0"/>
                                </a:rPr>
                                <m:t>𝑦</m:t>
                              </m:r>
                            </m:sub>
                          </m:s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𝑝</m:t>
                              </m:r>
                            </m:e>
                            <m:sub>
                              <m:r>
                                <a:rPr lang="zh-CN" altLang="en-US" sz="1200" i="1">
                                  <a:latin typeface="Cambria Math" panose="02040503050406030204" pitchFamily="18" charset="0"/>
                                </a:rPr>
                                <m:t>𝑥</m:t>
                              </m:r>
                            </m:sub>
                          </m:sSub>
                        </m:e>
                      </m:d>
                    </m:oMath>
                  </m:oMathPara>
                </a14:m>
                <a:endParaRPr lang="zh-CN" altLang="en-US" sz="1200" dirty="0"/>
              </a:p>
            </p:txBody>
          </p:sp>
        </mc:Choice>
        <mc:Fallback xmlns="">
          <p:sp>
            <p:nvSpPr>
              <p:cNvPr id="29" name="矩形 28"/>
              <p:cNvSpPr>
                <a:spLocks noRot="1" noChangeAspect="1" noMove="1" noResize="1" noEditPoints="1" noAdjustHandles="1" noChangeArrowheads="1" noChangeShapeType="1" noTextEdit="1"/>
              </p:cNvSpPr>
              <p:nvPr/>
            </p:nvSpPr>
            <p:spPr>
              <a:xfrm>
                <a:off x="4293472" y="2779376"/>
                <a:ext cx="1663148" cy="304827"/>
              </a:xfrm>
              <a:prstGeom prst="rect">
                <a:avLst/>
              </a:prstGeom>
              <a:blipFill>
                <a:blip r:embed="rId15"/>
                <a:stretch>
                  <a:fillRect t="-128000" r="-24176" b="-19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矩形 29"/>
              <p:cNvSpPr/>
              <p:nvPr/>
            </p:nvSpPr>
            <p:spPr>
              <a:xfrm>
                <a:off x="4248897" y="3022638"/>
                <a:ext cx="1641860" cy="3048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0">
                                  <a:latin typeface="Cambria Math" panose="02040503050406030204" pitchFamily="18" charset="0"/>
                                </a:rPr>
                                <m:t>2</m:t>
                              </m:r>
                              <m:r>
                                <a:rPr lang="zh-CN" altLang="en-US" sz="1200" i="1">
                                  <a:latin typeface="Cambria Math" panose="02040503050406030204" pitchFamily="18" charset="0"/>
                                </a:rPr>
                                <m:t>𝑖</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𝑜</m:t>
                              </m:r>
                            </m:e>
                            <m:sub>
                              <m:r>
                                <a:rPr lang="zh-CN" altLang="en-US" sz="1200" i="1">
                                  <a:latin typeface="Cambria Math" panose="02040503050406030204" pitchFamily="18" charset="0"/>
                                </a:rPr>
                                <m:t>𝑥</m:t>
                              </m:r>
                            </m:sub>
                          </m:s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𝑝</m:t>
                              </m:r>
                            </m:e>
                            <m:sub>
                              <m:r>
                                <a:rPr lang="zh-CN" altLang="en-US" sz="1200" i="1">
                                  <a:latin typeface="Cambria Math" panose="02040503050406030204" pitchFamily="18" charset="0"/>
                                </a:rPr>
                                <m:t>𝑦</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𝑜</m:t>
                              </m:r>
                            </m:e>
                            <m:sub>
                              <m:r>
                                <a:rPr lang="zh-CN" altLang="en-US" sz="1200" i="1">
                                  <a:latin typeface="Cambria Math" panose="02040503050406030204" pitchFamily="18" charset="0"/>
                                </a:rPr>
                                <m:t>𝑦</m:t>
                              </m:r>
                            </m:sub>
                          </m:s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𝑝</m:t>
                              </m:r>
                            </m:e>
                            <m:sub>
                              <m:r>
                                <a:rPr lang="zh-CN" altLang="en-US" sz="1200" i="1">
                                  <a:latin typeface="Cambria Math" panose="02040503050406030204" pitchFamily="18" charset="0"/>
                                </a:rPr>
                                <m:t>𝑥</m:t>
                              </m:r>
                            </m:sub>
                          </m:sSub>
                        </m:e>
                      </m:d>
                    </m:oMath>
                  </m:oMathPara>
                </a14:m>
                <a:endParaRPr lang="zh-CN" altLang="en-US" sz="1200" dirty="0"/>
              </a:p>
            </p:txBody>
          </p:sp>
        </mc:Choice>
        <mc:Fallback xmlns="">
          <p:sp>
            <p:nvSpPr>
              <p:cNvPr id="30" name="矩形 29"/>
              <p:cNvSpPr>
                <a:spLocks noRot="1" noChangeAspect="1" noMove="1" noResize="1" noEditPoints="1" noAdjustHandles="1" noChangeArrowheads="1" noChangeShapeType="1" noTextEdit="1"/>
              </p:cNvSpPr>
              <p:nvPr/>
            </p:nvSpPr>
            <p:spPr>
              <a:xfrm>
                <a:off x="4248897" y="3022638"/>
                <a:ext cx="1641860" cy="304827"/>
              </a:xfrm>
              <a:prstGeom prst="rect">
                <a:avLst/>
              </a:prstGeom>
              <a:blipFill>
                <a:blip r:embed="rId16"/>
                <a:stretch>
                  <a:fillRect t="-128000" r="-24535" b="-19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30"/>
              <p:cNvSpPr/>
              <p:nvPr/>
            </p:nvSpPr>
            <p:spPr>
              <a:xfrm>
                <a:off x="4239664" y="3267641"/>
                <a:ext cx="1660326" cy="3048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0">
                                  <a:latin typeface="Cambria Math" panose="02040503050406030204" pitchFamily="18" charset="0"/>
                                </a:rPr>
                                <m:t>3</m:t>
                              </m:r>
                              <m:r>
                                <a:rPr lang="zh-CN" altLang="en-US" sz="1200" i="1">
                                  <a:latin typeface="Cambria Math" panose="02040503050406030204" pitchFamily="18" charset="0"/>
                                </a:rPr>
                                <m:t>𝑖</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𝑎</m:t>
                              </m:r>
                            </m:e>
                            <m:sub>
                              <m:r>
                                <a:rPr lang="zh-CN" altLang="en-US" sz="1200" i="1">
                                  <a:latin typeface="Cambria Math" panose="02040503050406030204" pitchFamily="18" charset="0"/>
                                </a:rPr>
                                <m:t>𝑥</m:t>
                              </m:r>
                            </m:sub>
                          </m:s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𝑝</m:t>
                              </m:r>
                            </m:e>
                            <m:sub>
                              <m:r>
                                <a:rPr lang="zh-CN" altLang="en-US" sz="1200" i="1">
                                  <a:latin typeface="Cambria Math" panose="02040503050406030204" pitchFamily="18" charset="0"/>
                                </a:rPr>
                                <m:t>𝑦</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𝑎</m:t>
                              </m:r>
                            </m:e>
                            <m:sub>
                              <m:r>
                                <a:rPr lang="zh-CN" altLang="en-US" sz="1200" i="1">
                                  <a:latin typeface="Cambria Math" panose="02040503050406030204" pitchFamily="18" charset="0"/>
                                </a:rPr>
                                <m:t>𝑦</m:t>
                              </m:r>
                            </m:sub>
                          </m:sSub>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𝑝</m:t>
                              </m:r>
                            </m:e>
                            <m:sub>
                              <m:r>
                                <a:rPr lang="zh-CN" altLang="en-US" sz="1200" i="1">
                                  <a:latin typeface="Cambria Math" panose="02040503050406030204" pitchFamily="18" charset="0"/>
                                </a:rPr>
                                <m:t>𝑥</m:t>
                              </m:r>
                            </m:sub>
                          </m:sSub>
                        </m:e>
                      </m:d>
                    </m:oMath>
                  </m:oMathPara>
                </a14:m>
                <a:endParaRPr lang="zh-CN" altLang="en-US" sz="1200" dirty="0"/>
              </a:p>
            </p:txBody>
          </p:sp>
        </mc:Choice>
        <mc:Fallback xmlns="">
          <p:sp>
            <p:nvSpPr>
              <p:cNvPr id="31" name="矩形 30"/>
              <p:cNvSpPr>
                <a:spLocks noRot="1" noChangeAspect="1" noMove="1" noResize="1" noEditPoints="1" noAdjustHandles="1" noChangeArrowheads="1" noChangeShapeType="1" noTextEdit="1"/>
              </p:cNvSpPr>
              <p:nvPr/>
            </p:nvSpPr>
            <p:spPr>
              <a:xfrm>
                <a:off x="4239664" y="3267641"/>
                <a:ext cx="1660326" cy="304827"/>
              </a:xfrm>
              <a:prstGeom prst="rect">
                <a:avLst/>
              </a:prstGeom>
              <a:blipFill>
                <a:blip r:embed="rId17"/>
                <a:stretch>
                  <a:fillRect t="-128000" r="-24176" b="-19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p:cNvSpPr/>
              <p:nvPr/>
            </p:nvSpPr>
            <p:spPr>
              <a:xfrm>
                <a:off x="6304469" y="2800284"/>
                <a:ext cx="743537"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0">
                              <a:latin typeface="Cambria Math" panose="02040503050406030204" pitchFamily="18" charset="0"/>
                            </a:rPr>
                            <m:t>4</m:t>
                          </m:r>
                          <m:r>
                            <a:rPr lang="zh-CN" altLang="en-US" sz="1200" i="1">
                              <a:latin typeface="Cambria Math" panose="02040503050406030204" pitchFamily="18" charset="0"/>
                            </a:rPr>
                            <m:t>𝑖</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𝑛</m:t>
                          </m:r>
                        </m:e>
                        <m:sub>
                          <m:r>
                            <a:rPr lang="zh-CN" altLang="en-US" sz="1200" i="1">
                              <a:latin typeface="Cambria Math" panose="02040503050406030204" pitchFamily="18" charset="0"/>
                            </a:rPr>
                            <m:t>𝑧</m:t>
                          </m:r>
                        </m:sub>
                      </m:sSub>
                    </m:oMath>
                  </m:oMathPara>
                </a14:m>
                <a:endParaRPr lang="zh-CN" altLang="en-US" sz="1200" dirty="0"/>
              </a:p>
            </p:txBody>
          </p:sp>
        </mc:Choice>
        <mc:Fallback xmlns="">
          <p:sp>
            <p:nvSpPr>
              <p:cNvPr id="32" name="矩形 31"/>
              <p:cNvSpPr>
                <a:spLocks noRot="1" noChangeAspect="1" noMove="1" noResize="1" noEditPoints="1" noAdjustHandles="1" noChangeArrowheads="1" noChangeShapeType="1" noTextEdit="1"/>
              </p:cNvSpPr>
              <p:nvPr/>
            </p:nvSpPr>
            <p:spPr>
              <a:xfrm>
                <a:off x="6304469" y="2800284"/>
                <a:ext cx="743537" cy="276999"/>
              </a:xfrm>
              <a:prstGeom prst="rect">
                <a:avLst/>
              </a:prstGeom>
              <a:blipFill>
                <a:blip r:embed="rId1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矩形 32"/>
              <p:cNvSpPr/>
              <p:nvPr/>
            </p:nvSpPr>
            <p:spPr>
              <a:xfrm>
                <a:off x="6281994" y="3036551"/>
                <a:ext cx="731098"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0">
                              <a:latin typeface="Cambria Math" panose="02040503050406030204" pitchFamily="18" charset="0"/>
                            </a:rPr>
                            <m:t>5</m:t>
                          </m:r>
                          <m:r>
                            <a:rPr lang="zh-CN" altLang="en-US" sz="1200" i="1">
                              <a:latin typeface="Cambria Math" panose="02040503050406030204" pitchFamily="18" charset="0"/>
                            </a:rPr>
                            <m:t>𝑖</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𝑜</m:t>
                          </m:r>
                        </m:e>
                        <m:sub>
                          <m:r>
                            <a:rPr lang="zh-CN" altLang="en-US" sz="1200" i="1">
                              <a:latin typeface="Cambria Math" panose="02040503050406030204" pitchFamily="18" charset="0"/>
                            </a:rPr>
                            <m:t>𝑧</m:t>
                          </m:r>
                        </m:sub>
                      </m:sSub>
                    </m:oMath>
                  </m:oMathPara>
                </a14:m>
                <a:endParaRPr lang="zh-CN" altLang="en-US" sz="1200" dirty="0"/>
              </a:p>
            </p:txBody>
          </p:sp>
        </mc:Choice>
        <mc:Fallback xmlns="">
          <p:sp>
            <p:nvSpPr>
              <p:cNvPr id="33" name="矩形 32"/>
              <p:cNvSpPr>
                <a:spLocks noRot="1" noChangeAspect="1" noMove="1" noResize="1" noEditPoints="1" noAdjustHandles="1" noChangeArrowheads="1" noChangeShapeType="1" noTextEdit="1"/>
              </p:cNvSpPr>
              <p:nvPr/>
            </p:nvSpPr>
            <p:spPr>
              <a:xfrm>
                <a:off x="6281994" y="3036551"/>
                <a:ext cx="731098" cy="276999"/>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矩形 33"/>
              <p:cNvSpPr/>
              <p:nvPr/>
            </p:nvSpPr>
            <p:spPr>
              <a:xfrm>
                <a:off x="6247080" y="3289133"/>
                <a:ext cx="740331"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0">
                              <a:latin typeface="Cambria Math" panose="02040503050406030204" pitchFamily="18" charset="0"/>
                            </a:rPr>
                            <m:t>6</m:t>
                          </m:r>
                          <m:r>
                            <a:rPr lang="zh-CN" altLang="en-US" sz="1200" i="1">
                              <a:latin typeface="Cambria Math" panose="02040503050406030204" pitchFamily="18" charset="0"/>
                            </a:rPr>
                            <m:t>𝑖</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𝑎</m:t>
                          </m:r>
                        </m:e>
                        <m:sub>
                          <m:r>
                            <a:rPr lang="zh-CN" altLang="en-US" sz="1200" i="1">
                              <a:latin typeface="Cambria Math" panose="02040503050406030204" pitchFamily="18" charset="0"/>
                            </a:rPr>
                            <m:t>𝑧</m:t>
                          </m:r>
                        </m:sub>
                      </m:sSub>
                    </m:oMath>
                  </m:oMathPara>
                </a14:m>
                <a:endParaRPr lang="zh-CN" altLang="en-US" sz="1200" dirty="0"/>
              </a:p>
            </p:txBody>
          </p:sp>
        </mc:Choice>
        <mc:Fallback xmlns="">
          <p:sp>
            <p:nvSpPr>
              <p:cNvPr id="34" name="矩形 33"/>
              <p:cNvSpPr>
                <a:spLocks noRot="1" noChangeAspect="1" noMove="1" noResize="1" noEditPoints="1" noAdjustHandles="1" noChangeArrowheads="1" noChangeShapeType="1" noTextEdit="1"/>
              </p:cNvSpPr>
              <p:nvPr/>
            </p:nvSpPr>
            <p:spPr>
              <a:xfrm>
                <a:off x="6247080" y="3289133"/>
                <a:ext cx="740331" cy="276999"/>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矩形 34"/>
              <p:cNvSpPr/>
              <p:nvPr/>
            </p:nvSpPr>
            <p:spPr>
              <a:xfrm>
                <a:off x="3629290" y="3656000"/>
                <a:ext cx="4572000" cy="276999"/>
              </a:xfrm>
              <a:prstGeom prst="rect">
                <a:avLst/>
              </a:prstGeom>
            </p:spPr>
            <p:txBody>
              <a:bodyPr>
                <a:spAutoFit/>
              </a:bodyPr>
              <a:lstStyle/>
              <a:p>
                <a:r>
                  <a:rPr lang="zh-CN" altLang="zh-CN" sz="1200">
                    <a:ea typeface="楷体" panose="02010609060101010101" pitchFamily="49" charset="-122"/>
                    <a:cs typeface="Times New Roman" panose="02020603050405020304" pitchFamily="18" charset="0"/>
                  </a:rPr>
                  <a:t>②</a:t>
                </a:r>
                <a:r>
                  <a:rPr lang="zh-CN" altLang="zh-CN" sz="1200">
                    <a:ea typeface="等线" panose="02010600030101010101" pitchFamily="2" charset="-122"/>
                    <a:cs typeface="Times New Roman" panose="02020603050405020304" pitchFamily="18" charset="0"/>
                  </a:rPr>
                  <a:t>如果关节</a:t>
                </a:r>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oMath>
                </a14:m>
                <a:r>
                  <a:rPr lang="zh-CN" altLang="zh-CN" sz="1200" dirty="0">
                    <a:ea typeface="等线" panose="02010600030101010101" pitchFamily="2" charset="-122"/>
                    <a:cs typeface="Times New Roman" panose="02020603050405020304" pitchFamily="18" charset="0"/>
                  </a:rPr>
                  <a:t>为平移关节，那么雅可比矩阵的第</a:t>
                </a:r>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oMath>
                </a14:m>
                <a:r>
                  <a:rPr lang="zh-CN" altLang="zh-CN" sz="1200" dirty="0">
                    <a:ea typeface="等线" panose="02010600030101010101" pitchFamily="2" charset="-122"/>
                    <a:cs typeface="Times New Roman" panose="02020603050405020304" pitchFamily="18" charset="0"/>
                  </a:rPr>
                  <a:t>列元素：</a:t>
                </a:r>
                <a:endParaRPr lang="zh-CN" altLang="en-US" sz="1200" dirty="0"/>
              </a:p>
            </p:txBody>
          </p:sp>
        </mc:Choice>
        <mc:Fallback xmlns="">
          <p:sp>
            <p:nvSpPr>
              <p:cNvPr id="35" name="矩形 34"/>
              <p:cNvSpPr>
                <a:spLocks noRot="1" noChangeAspect="1" noMove="1" noResize="1" noEditPoints="1" noAdjustHandles="1" noChangeArrowheads="1" noChangeShapeType="1" noTextEdit="1"/>
              </p:cNvSpPr>
              <p:nvPr/>
            </p:nvSpPr>
            <p:spPr>
              <a:xfrm>
                <a:off x="3629290" y="3656000"/>
                <a:ext cx="4572000" cy="276999"/>
              </a:xfrm>
              <a:prstGeom prst="rect">
                <a:avLst/>
              </a:prstGeom>
              <a:blipFill>
                <a:blip r:embed="rId21"/>
                <a:stretch>
                  <a:fillRect t="-4444" b="-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矩形 35"/>
              <p:cNvSpPr/>
              <p:nvPr/>
            </p:nvSpPr>
            <p:spPr>
              <a:xfrm>
                <a:off x="4260034" y="3899262"/>
                <a:ext cx="739946"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0">
                              <a:latin typeface="Cambria Math" panose="02040503050406030204" pitchFamily="18" charset="0"/>
                            </a:rPr>
                            <m:t>1</m:t>
                          </m:r>
                          <m:r>
                            <a:rPr lang="zh-CN" altLang="en-US" sz="1200" i="1">
                              <a:latin typeface="Cambria Math" panose="02040503050406030204" pitchFamily="18" charset="0"/>
                            </a:rPr>
                            <m:t>𝑖</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𝑛</m:t>
                          </m:r>
                        </m:e>
                        <m:sub>
                          <m:r>
                            <a:rPr lang="zh-CN" altLang="en-US" sz="1200" i="1">
                              <a:latin typeface="Cambria Math" panose="02040503050406030204" pitchFamily="18" charset="0"/>
                            </a:rPr>
                            <m:t>𝑧</m:t>
                          </m:r>
                        </m:sub>
                      </m:sSub>
                    </m:oMath>
                  </m:oMathPara>
                </a14:m>
                <a:endParaRPr lang="zh-CN" altLang="en-US" sz="1200" dirty="0"/>
              </a:p>
            </p:txBody>
          </p:sp>
        </mc:Choice>
        <mc:Fallback xmlns="">
          <p:sp>
            <p:nvSpPr>
              <p:cNvPr id="36" name="矩形 35"/>
              <p:cNvSpPr>
                <a:spLocks noRot="1" noChangeAspect="1" noMove="1" noResize="1" noEditPoints="1" noAdjustHandles="1" noChangeArrowheads="1" noChangeShapeType="1" noTextEdit="1"/>
              </p:cNvSpPr>
              <p:nvPr/>
            </p:nvSpPr>
            <p:spPr>
              <a:xfrm>
                <a:off x="4260034" y="3899262"/>
                <a:ext cx="739946" cy="276999"/>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矩形 36"/>
              <p:cNvSpPr/>
              <p:nvPr/>
            </p:nvSpPr>
            <p:spPr>
              <a:xfrm>
                <a:off x="4272950" y="4121577"/>
                <a:ext cx="731098"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0">
                              <a:latin typeface="Cambria Math" panose="02040503050406030204" pitchFamily="18" charset="0"/>
                            </a:rPr>
                            <m:t>2</m:t>
                          </m:r>
                          <m:r>
                            <a:rPr lang="zh-CN" altLang="en-US" sz="1200" i="1">
                              <a:latin typeface="Cambria Math" panose="02040503050406030204" pitchFamily="18" charset="0"/>
                            </a:rPr>
                            <m:t>𝑖</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𝑜</m:t>
                          </m:r>
                        </m:e>
                        <m:sub>
                          <m:r>
                            <a:rPr lang="zh-CN" altLang="en-US" sz="1200" i="1">
                              <a:latin typeface="Cambria Math" panose="02040503050406030204" pitchFamily="18" charset="0"/>
                            </a:rPr>
                            <m:t>𝑧</m:t>
                          </m:r>
                        </m:sub>
                      </m:sSub>
                    </m:oMath>
                  </m:oMathPara>
                </a14:m>
                <a:endParaRPr lang="zh-CN" altLang="en-US" sz="1200" dirty="0"/>
              </a:p>
            </p:txBody>
          </p:sp>
        </mc:Choice>
        <mc:Fallback xmlns="">
          <p:sp>
            <p:nvSpPr>
              <p:cNvPr id="37" name="矩形 36"/>
              <p:cNvSpPr>
                <a:spLocks noRot="1" noChangeAspect="1" noMove="1" noResize="1" noEditPoints="1" noAdjustHandles="1" noChangeArrowheads="1" noChangeShapeType="1" noTextEdit="1"/>
              </p:cNvSpPr>
              <p:nvPr/>
            </p:nvSpPr>
            <p:spPr>
              <a:xfrm>
                <a:off x="4272950" y="4121577"/>
                <a:ext cx="731098" cy="276999"/>
              </a:xfrm>
              <a:prstGeom prst="rect">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矩形 41"/>
              <p:cNvSpPr/>
              <p:nvPr/>
            </p:nvSpPr>
            <p:spPr>
              <a:xfrm>
                <a:off x="4263717" y="4402488"/>
                <a:ext cx="740331"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0">
                              <a:latin typeface="Cambria Math" panose="02040503050406030204" pitchFamily="18" charset="0"/>
                            </a:rPr>
                            <m:t>3</m:t>
                          </m:r>
                          <m:r>
                            <a:rPr lang="zh-CN" altLang="en-US" sz="1200" i="1">
                              <a:latin typeface="Cambria Math" panose="02040503050406030204" pitchFamily="18" charset="0"/>
                            </a:rPr>
                            <m:t>𝑖</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𝑎</m:t>
                          </m:r>
                        </m:e>
                        <m:sub>
                          <m:r>
                            <a:rPr lang="zh-CN" altLang="en-US" sz="1200" i="1">
                              <a:latin typeface="Cambria Math" panose="02040503050406030204" pitchFamily="18" charset="0"/>
                            </a:rPr>
                            <m:t>𝑧</m:t>
                          </m:r>
                        </m:sub>
                      </m:sSub>
                    </m:oMath>
                  </m:oMathPara>
                </a14:m>
                <a:endParaRPr lang="zh-CN" altLang="en-US" sz="1200" dirty="0"/>
              </a:p>
            </p:txBody>
          </p:sp>
        </mc:Choice>
        <mc:Fallback xmlns="">
          <p:sp>
            <p:nvSpPr>
              <p:cNvPr id="42" name="矩形 41"/>
              <p:cNvSpPr>
                <a:spLocks noRot="1" noChangeAspect="1" noMove="1" noResize="1" noEditPoints="1" noAdjustHandles="1" noChangeArrowheads="1" noChangeShapeType="1" noTextEdit="1"/>
              </p:cNvSpPr>
              <p:nvPr/>
            </p:nvSpPr>
            <p:spPr>
              <a:xfrm>
                <a:off x="4263717" y="4402488"/>
                <a:ext cx="740331" cy="276999"/>
              </a:xfrm>
              <a:prstGeom prst="rect">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矩形 42"/>
              <p:cNvSpPr/>
              <p:nvPr/>
            </p:nvSpPr>
            <p:spPr>
              <a:xfrm>
                <a:off x="5424819" y="3899262"/>
                <a:ext cx="672171"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0">
                              <a:latin typeface="Cambria Math" panose="02040503050406030204" pitchFamily="18" charset="0"/>
                            </a:rPr>
                            <m:t>4</m:t>
                          </m:r>
                          <m:r>
                            <a:rPr lang="zh-CN" altLang="en-US" sz="1200" i="1">
                              <a:latin typeface="Cambria Math" panose="02040503050406030204" pitchFamily="18" charset="0"/>
                            </a:rPr>
                            <m:t>𝑖</m:t>
                          </m:r>
                        </m:sub>
                      </m:sSub>
                      <m:r>
                        <a:rPr lang="zh-CN" altLang="en-US" sz="1200" i="0">
                          <a:latin typeface="Cambria Math" panose="02040503050406030204" pitchFamily="18" charset="0"/>
                        </a:rPr>
                        <m:t>=0</m:t>
                      </m:r>
                    </m:oMath>
                  </m:oMathPara>
                </a14:m>
                <a:endParaRPr lang="zh-CN" altLang="en-US" sz="1200" dirty="0"/>
              </a:p>
            </p:txBody>
          </p:sp>
        </mc:Choice>
        <mc:Fallback xmlns="">
          <p:sp>
            <p:nvSpPr>
              <p:cNvPr id="43" name="矩形 42"/>
              <p:cNvSpPr>
                <a:spLocks noRot="1" noChangeAspect="1" noMove="1" noResize="1" noEditPoints="1" noAdjustHandles="1" noChangeArrowheads="1" noChangeShapeType="1" noTextEdit="1"/>
              </p:cNvSpPr>
              <p:nvPr/>
            </p:nvSpPr>
            <p:spPr>
              <a:xfrm>
                <a:off x="5424819" y="3899262"/>
                <a:ext cx="672171" cy="276999"/>
              </a:xfrm>
              <a:prstGeom prst="rect">
                <a:avLst/>
              </a:prstGeom>
              <a:blipFill>
                <a:blip r:embed="rId2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矩形 43"/>
              <p:cNvSpPr/>
              <p:nvPr/>
            </p:nvSpPr>
            <p:spPr>
              <a:xfrm>
                <a:off x="5360390" y="4150875"/>
                <a:ext cx="714451" cy="27699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0">
                              <a:latin typeface="Cambria Math" panose="02040503050406030204" pitchFamily="18" charset="0"/>
                            </a:rPr>
                            <m:t>5</m:t>
                          </m:r>
                          <m:r>
                            <a:rPr lang="zh-CN" altLang="en-US" sz="1200" i="1">
                              <a:latin typeface="Cambria Math" panose="02040503050406030204" pitchFamily="18" charset="0"/>
                            </a:rPr>
                            <m:t>𝑖</m:t>
                          </m:r>
                        </m:sub>
                      </m:sSub>
                      <m:r>
                        <a:rPr lang="zh-CN" altLang="en-US" sz="1200" i="0">
                          <a:latin typeface="Cambria Math" panose="02040503050406030204" pitchFamily="18" charset="0"/>
                        </a:rPr>
                        <m:t>=0</m:t>
                      </m:r>
                    </m:oMath>
                  </m:oMathPara>
                </a14:m>
                <a:endParaRPr lang="zh-CN" altLang="en-US" sz="1200" dirty="0"/>
              </a:p>
            </p:txBody>
          </p:sp>
        </mc:Choice>
        <mc:Fallback xmlns="">
          <p:sp>
            <p:nvSpPr>
              <p:cNvPr id="44" name="矩形 43"/>
              <p:cNvSpPr>
                <a:spLocks noRot="1" noChangeAspect="1" noMove="1" noResize="1" noEditPoints="1" noAdjustHandles="1" noChangeArrowheads="1" noChangeShapeType="1" noTextEdit="1"/>
              </p:cNvSpPr>
              <p:nvPr/>
            </p:nvSpPr>
            <p:spPr>
              <a:xfrm>
                <a:off x="5360390" y="4150875"/>
                <a:ext cx="714451" cy="276999"/>
              </a:xfrm>
              <a:prstGeom prst="rect">
                <a:avLst/>
              </a:prstGeom>
              <a:blipFill>
                <a:blip r:embed="rId2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矩形 44"/>
              <p:cNvSpPr/>
              <p:nvPr/>
            </p:nvSpPr>
            <p:spPr>
              <a:xfrm>
                <a:off x="5396585" y="4427874"/>
                <a:ext cx="672171"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0">
                              <a:latin typeface="Cambria Math" panose="02040503050406030204" pitchFamily="18" charset="0"/>
                            </a:rPr>
                            <m:t>6</m:t>
                          </m:r>
                          <m:r>
                            <a:rPr lang="zh-CN" altLang="en-US" sz="1200" i="1">
                              <a:latin typeface="Cambria Math" panose="02040503050406030204" pitchFamily="18" charset="0"/>
                            </a:rPr>
                            <m:t>𝑖</m:t>
                          </m:r>
                        </m:sub>
                      </m:sSub>
                      <m:r>
                        <a:rPr lang="zh-CN" altLang="en-US" sz="1200" i="0">
                          <a:latin typeface="Cambria Math" panose="02040503050406030204" pitchFamily="18" charset="0"/>
                        </a:rPr>
                        <m:t>=0</m:t>
                      </m:r>
                    </m:oMath>
                  </m:oMathPara>
                </a14:m>
                <a:endParaRPr lang="zh-CN" altLang="en-US" sz="1200" dirty="0"/>
              </a:p>
            </p:txBody>
          </p:sp>
        </mc:Choice>
        <mc:Fallback xmlns="">
          <p:sp>
            <p:nvSpPr>
              <p:cNvPr id="45" name="矩形 44"/>
              <p:cNvSpPr>
                <a:spLocks noRot="1" noChangeAspect="1" noMove="1" noResize="1" noEditPoints="1" noAdjustHandles="1" noChangeArrowheads="1" noChangeShapeType="1" noTextEdit="1"/>
              </p:cNvSpPr>
              <p:nvPr/>
            </p:nvSpPr>
            <p:spPr>
              <a:xfrm>
                <a:off x="5396585" y="4427874"/>
                <a:ext cx="672171" cy="276999"/>
              </a:xfrm>
              <a:prstGeom prst="rect">
                <a:avLst/>
              </a:prstGeom>
              <a:blipFill>
                <a:blip r:embed="rId2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矩形 45"/>
              <p:cNvSpPr/>
              <p:nvPr/>
            </p:nvSpPr>
            <p:spPr>
              <a:xfrm>
                <a:off x="6676237" y="4054855"/>
                <a:ext cx="1981440" cy="67351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1">
                              <a:latin typeface="Cambria Math" panose="02040503050406030204" pitchFamily="18" charset="0"/>
                            </a:rPr>
                            <m:t>𝑏</m:t>
                          </m:r>
                        </m:sub>
                      </m:sSub>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m>
                            <m:mPr>
                              <m:mcs>
                                <m:mc>
                                  <m:mcPr>
                                    <m:count m:val="2"/>
                                    <m:mcJc m:val="center"/>
                                  </m:mcPr>
                                </m:mc>
                              </m:mcs>
                              <m:ctrlPr>
                                <a:rPr lang="zh-CN" altLang="en-US" sz="1600" i="1">
                                  <a:latin typeface="Cambria Math" panose="02040503050406030204" pitchFamily="18" charset="0"/>
                                </a:rPr>
                              </m:ctrlPr>
                            </m:mPr>
                            <m:mr>
                              <m:e>
                                <m:sSub>
                                  <m:sSubPr>
                                    <m:ctrlPr>
                                      <a:rPr lang="zh-CN" altLang="en-US" sz="1600" i="1">
                                        <a:latin typeface="Cambria Math" panose="02040503050406030204" pitchFamily="18" charset="0"/>
                                      </a:rPr>
                                    </m:ctrlPr>
                                  </m:sSubPr>
                                  <m:e>
                                    <m:sPre>
                                      <m:sPrePr>
                                        <m:ctrlPr>
                                          <a:rPr lang="zh-CN" altLang="en-US" sz="1600" i="1">
                                            <a:latin typeface="Cambria Math" panose="02040503050406030204" pitchFamily="18" charset="0"/>
                                          </a:rPr>
                                        </m:ctrlPr>
                                      </m:sPrePr>
                                      <m:sub/>
                                      <m:sup>
                                        <m:r>
                                          <a:rPr lang="zh-CN" altLang="en-US" sz="1600" i="0">
                                            <a:latin typeface="Cambria Math" panose="02040503050406030204" pitchFamily="18" charset="0"/>
                                          </a:rPr>
                                          <m:t>0</m:t>
                                        </m:r>
                                      </m:sup>
                                      <m:e>
                                        <m:r>
                                          <a:rPr lang="zh-CN" altLang="en-US" sz="1600" i="1">
                                            <a:latin typeface="Cambria Math" panose="02040503050406030204" pitchFamily="18" charset="0"/>
                                          </a:rPr>
                                          <m:t>𝑅</m:t>
                                        </m:r>
                                      </m:e>
                                    </m:sPre>
                                  </m:e>
                                  <m:sub>
                                    <m:r>
                                      <a:rPr lang="zh-CN" altLang="en-US" sz="1600" i="1">
                                        <a:latin typeface="Cambria Math" panose="02040503050406030204" pitchFamily="18" charset="0"/>
                                      </a:rPr>
                                      <m:t>𝑛</m:t>
                                    </m:r>
                                  </m:sub>
                                </m:sSub>
                              </m:e>
                              <m:e>
                                <m:r>
                                  <a:rPr lang="zh-CN" altLang="en-US" sz="1600" i="0">
                                    <a:latin typeface="Cambria Math" panose="02040503050406030204" pitchFamily="18" charset="0"/>
                                  </a:rPr>
                                  <m:t>0</m:t>
                                </m:r>
                              </m:e>
                            </m:mr>
                            <m:mr>
                              <m:e>
                                <m:r>
                                  <a:rPr lang="zh-CN" altLang="en-US" sz="1600" i="0">
                                    <a:latin typeface="Cambria Math" panose="02040503050406030204" pitchFamily="18" charset="0"/>
                                  </a:rPr>
                                  <m:t>0</m:t>
                                </m:r>
                              </m:e>
                              <m:e>
                                <m:sSub>
                                  <m:sSubPr>
                                    <m:ctrlPr>
                                      <a:rPr lang="zh-CN" altLang="en-US" sz="1600" i="1">
                                        <a:latin typeface="Cambria Math" panose="02040503050406030204" pitchFamily="18" charset="0"/>
                                      </a:rPr>
                                    </m:ctrlPr>
                                  </m:sSubPr>
                                  <m:e>
                                    <m:sPre>
                                      <m:sPrePr>
                                        <m:ctrlPr>
                                          <a:rPr lang="zh-CN" altLang="en-US" sz="1600" i="1">
                                            <a:latin typeface="Cambria Math" panose="02040503050406030204" pitchFamily="18" charset="0"/>
                                          </a:rPr>
                                        </m:ctrlPr>
                                      </m:sPrePr>
                                      <m:sub/>
                                      <m:sup>
                                        <m:r>
                                          <a:rPr lang="zh-CN" altLang="en-US" sz="1600" i="0">
                                            <a:latin typeface="Cambria Math" panose="02040503050406030204" pitchFamily="18" charset="0"/>
                                          </a:rPr>
                                          <m:t>0</m:t>
                                        </m:r>
                                      </m:sup>
                                      <m:e>
                                        <m:r>
                                          <a:rPr lang="zh-CN" altLang="en-US" sz="1600" i="1">
                                            <a:latin typeface="Cambria Math" panose="02040503050406030204" pitchFamily="18" charset="0"/>
                                          </a:rPr>
                                          <m:t>𝑅</m:t>
                                        </m:r>
                                      </m:e>
                                    </m:sPre>
                                  </m:e>
                                  <m:sub>
                                    <m:r>
                                      <a:rPr lang="zh-CN" altLang="en-US" sz="1600" i="1">
                                        <a:latin typeface="Cambria Math" panose="02040503050406030204" pitchFamily="18" charset="0"/>
                                      </a:rPr>
                                      <m:t>𝑛</m:t>
                                    </m:r>
                                  </m:sub>
                                </m:sSub>
                              </m:e>
                            </m:mr>
                          </m:m>
                        </m:e>
                      </m:d>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1">
                              <a:latin typeface="Cambria Math" panose="02040503050406030204" pitchFamily="18" charset="0"/>
                            </a:rPr>
                            <m:t>𝑠</m:t>
                          </m:r>
                        </m:sub>
                      </m:sSub>
                    </m:oMath>
                  </m:oMathPara>
                </a14:m>
                <a:endParaRPr lang="zh-CN" altLang="en-US" sz="1600" dirty="0"/>
              </a:p>
            </p:txBody>
          </p:sp>
        </mc:Choice>
        <mc:Fallback xmlns="">
          <p:sp>
            <p:nvSpPr>
              <p:cNvPr id="46" name="矩形 45"/>
              <p:cNvSpPr>
                <a:spLocks noRot="1" noChangeAspect="1" noMove="1" noResize="1" noEditPoints="1" noAdjustHandles="1" noChangeArrowheads="1" noChangeShapeType="1" noTextEdit="1"/>
              </p:cNvSpPr>
              <p:nvPr/>
            </p:nvSpPr>
            <p:spPr>
              <a:xfrm>
                <a:off x="6676237" y="4054855"/>
                <a:ext cx="1981440" cy="673518"/>
              </a:xfrm>
              <a:prstGeom prst="rect">
                <a:avLst/>
              </a:prstGeom>
              <a:blipFill>
                <a:blip r:embed="rId28"/>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0634126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553603" y="801132"/>
            <a:ext cx="4034621" cy="400110"/>
          </a:xfrm>
          <a:prstGeom prst="rect">
            <a:avLst/>
          </a:prstGeom>
        </p:spPr>
        <p:txBody>
          <a:bodyPr wrap="square">
            <a:spAutoFit/>
          </a:bodyPr>
          <a:lstStyle/>
          <a:p>
            <a:r>
              <a:rPr lang="zh-CN" altLang="en-US" sz="2000" b="1" dirty="0">
                <a:solidFill>
                  <a:srgbClr val="002060"/>
                </a:solidFill>
              </a:rPr>
              <a:t>机器人雅可比矩阵指数积求法</a:t>
            </a:r>
          </a:p>
        </p:txBody>
      </p:sp>
      <p:grpSp>
        <p:nvGrpSpPr>
          <p:cNvPr id="38" name="组合 37"/>
          <p:cNvGrpSpPr/>
          <p:nvPr/>
        </p:nvGrpSpPr>
        <p:grpSpPr>
          <a:xfrm>
            <a:off x="-236220" y="219075"/>
            <a:ext cx="5153660" cy="598805"/>
            <a:chOff x="-372" y="345"/>
            <a:chExt cx="8116" cy="943"/>
          </a:xfrm>
        </p:grpSpPr>
        <p:sp>
          <p:nvSpPr>
            <p:cNvPr id="39" name="矩形 3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Jacobian Matrix of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40" name="文本框 39"/>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机器人雅可比矩阵</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41" name="椭圆 4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19" name="矩形 18"/>
              <p:cNvSpPr/>
              <p:nvPr/>
            </p:nvSpPr>
            <p:spPr>
              <a:xfrm>
                <a:off x="6184630" y="821111"/>
                <a:ext cx="40697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FF0000"/>
                              </a:solidFill>
                              <a:latin typeface="Cambria Math" panose="02040503050406030204" pitchFamily="18" charset="0"/>
                            </a:rPr>
                          </m:ctrlPr>
                        </m:sSubPr>
                        <m:e>
                          <m:r>
                            <a:rPr lang="zh-CN" altLang="en-US" i="1">
                              <a:solidFill>
                                <a:srgbClr val="FF0000"/>
                              </a:solidFill>
                              <a:latin typeface="Cambria Math" panose="02040503050406030204" pitchFamily="18" charset="0"/>
                            </a:rPr>
                            <m:t>𝐽</m:t>
                          </m:r>
                        </m:e>
                        <m:sub>
                          <m:r>
                            <a:rPr lang="en-US" altLang="zh-CN" b="0" i="1" smtClean="0">
                              <a:solidFill>
                                <a:srgbClr val="FF0000"/>
                              </a:solidFill>
                              <a:latin typeface="Cambria Math" panose="02040503050406030204" pitchFamily="18" charset="0"/>
                            </a:rPr>
                            <m:t>𝑠</m:t>
                          </m:r>
                        </m:sub>
                      </m:sSub>
                    </m:oMath>
                  </m:oMathPara>
                </a14:m>
                <a:endParaRPr lang="zh-CN" altLang="en-US" dirty="0">
                  <a:solidFill>
                    <a:srgbClr val="FF0000"/>
                  </a:solidFill>
                </a:endParaRPr>
              </a:p>
            </p:txBody>
          </p:sp>
        </mc:Choice>
        <mc:Fallback xmlns="">
          <p:sp>
            <p:nvSpPr>
              <p:cNvPr id="19" name="矩形 18"/>
              <p:cNvSpPr>
                <a:spLocks noRot="1" noChangeAspect="1" noMove="1" noResize="1" noEditPoints="1" noAdjustHandles="1" noChangeArrowheads="1" noChangeShapeType="1" noTextEdit="1"/>
              </p:cNvSpPr>
              <p:nvPr/>
            </p:nvSpPr>
            <p:spPr>
              <a:xfrm>
                <a:off x="6184630" y="821111"/>
                <a:ext cx="406970" cy="369332"/>
              </a:xfrm>
              <a:prstGeom prst="rect">
                <a:avLst/>
              </a:prstGeom>
              <a:blipFill>
                <a:blip r:embed="rId3"/>
                <a:stretch>
                  <a:fillRect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755576" y="1373089"/>
                <a:ext cx="3588162" cy="338554"/>
              </a:xfrm>
              <a:prstGeom prst="rect">
                <a:avLst/>
              </a:prstGeom>
            </p:spPr>
            <p:txBody>
              <a:bodyPr wrap="none">
                <a:spAutoFit/>
              </a:bodyPr>
              <a:lstStyle/>
              <a:p>
                <a14:m>
                  <m:oMath xmlns:m="http://schemas.openxmlformats.org/officeDocument/2006/math">
                    <m:r>
                      <a:rPr lang="en-US" altLang="zh-CN" sz="1600" i="1" smtClean="0">
                        <a:solidFill>
                          <a:srgbClr val="002060"/>
                        </a:solidFill>
                        <a:latin typeface="Cambria Math" panose="02040503050406030204" pitchFamily="18" charset="0"/>
                        <a:ea typeface="等线" panose="02010600030101010101" pitchFamily="2" charset="-122"/>
                        <a:cs typeface="Times New Roman" panose="02020603050405020304" pitchFamily="18" charset="0"/>
                      </a:rPr>
                      <m:t>𝑛</m:t>
                    </m:r>
                  </m:oMath>
                </a14:m>
                <a:r>
                  <a:rPr lang="zh-CN" altLang="zh-CN" sz="1600" dirty="0">
                    <a:solidFill>
                      <a:srgbClr val="002060"/>
                    </a:solidFill>
                    <a:ea typeface="等线" panose="02010600030101010101" pitchFamily="2" charset="-122"/>
                    <a:cs typeface="Times New Roman" panose="02020603050405020304" pitchFamily="18" charset="0"/>
                  </a:rPr>
                  <a:t>连杆串联机器人正运动学指数积公式</a:t>
                </a:r>
                <a:endParaRPr lang="zh-CN" altLang="en-US" sz="1600" dirty="0">
                  <a:solidFill>
                    <a:srgbClr val="002060"/>
                  </a:solidFill>
                </a:endParaRPr>
              </a:p>
            </p:txBody>
          </p:sp>
        </mc:Choice>
        <mc:Fallback xmlns="">
          <p:sp>
            <p:nvSpPr>
              <p:cNvPr id="3" name="矩形 2"/>
              <p:cNvSpPr>
                <a:spLocks noRot="1" noChangeAspect="1" noMove="1" noResize="1" noEditPoints="1" noAdjustHandles="1" noChangeArrowheads="1" noChangeShapeType="1" noTextEdit="1"/>
              </p:cNvSpPr>
              <p:nvPr/>
            </p:nvSpPr>
            <p:spPr>
              <a:xfrm>
                <a:off x="755576" y="1373089"/>
                <a:ext cx="3588162" cy="338554"/>
              </a:xfrm>
              <a:prstGeom prst="rect">
                <a:avLst/>
              </a:prstGeom>
              <a:blipFill>
                <a:blip r:embed="rId4"/>
                <a:stretch>
                  <a:fillRect t="-5357" b="-2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4323632" y="1356096"/>
                <a:ext cx="3369256" cy="35554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𝑇</m:t>
                      </m:r>
                      <m:r>
                        <a:rPr lang="zh-CN" altLang="en-US" sz="1600" i="0">
                          <a:latin typeface="Cambria Math" panose="02040503050406030204" pitchFamily="18" charset="0"/>
                        </a:rPr>
                        <m:t>(</m:t>
                      </m:r>
                      <m:r>
                        <a:rPr lang="zh-CN" altLang="en-US" sz="1600" i="1">
                          <a:latin typeface="Cambria Math" panose="02040503050406030204" pitchFamily="18" charset="0"/>
                        </a:rPr>
                        <m:t>𝜃</m:t>
                      </m:r>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𝑒</m:t>
                          </m:r>
                        </m:e>
                        <m:sup>
                          <m:d>
                            <m:dPr>
                              <m:begChr m:val="["/>
                              <m:endChr m:val="]"/>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m:rPr>
                                      <m:sty m:val="p"/>
                                    </m:rPr>
                                    <a:rPr lang="zh-CN" altLang="en-US" sz="1600" i="0">
                                      <a:latin typeface="Cambria Math" panose="02040503050406030204" pitchFamily="18" charset="0"/>
                                    </a:rPr>
                                    <m:t>ξ</m:t>
                                  </m:r>
                                </m:e>
                                <m:sub>
                                  <m:r>
                                    <a:rPr lang="zh-CN" altLang="en-US" sz="1600" i="0">
                                      <a:latin typeface="Cambria Math" panose="02040503050406030204" pitchFamily="18" charset="0"/>
                                    </a:rPr>
                                    <m:t>1</m:t>
                                  </m:r>
                                </m:sub>
                              </m:sSub>
                            </m:e>
                          </m:d>
                          <m:sSub>
                            <m:sSubPr>
                              <m:ctrlPr>
                                <a:rPr lang="zh-CN" altLang="en-US" sz="1600" i="1">
                                  <a:latin typeface="Cambria Math" panose="02040503050406030204" pitchFamily="18" charset="0"/>
                                </a:rPr>
                              </m:ctrlPr>
                            </m:sSubPr>
                            <m:e>
                              <m:r>
                                <m:rPr>
                                  <m:sty m:val="p"/>
                                </m:rPr>
                                <a:rPr lang="zh-CN" altLang="en-US" sz="1600" i="0">
                                  <a:latin typeface="Cambria Math" panose="02040503050406030204" pitchFamily="18" charset="0"/>
                                </a:rPr>
                                <m:t>θ</m:t>
                              </m:r>
                            </m:e>
                            <m:sub>
                              <m:r>
                                <a:rPr lang="zh-CN" altLang="en-US" sz="1600" i="0">
                                  <a:latin typeface="Cambria Math" panose="02040503050406030204" pitchFamily="18" charset="0"/>
                                </a:rPr>
                                <m:t>1</m:t>
                              </m:r>
                            </m:sub>
                          </m:sSub>
                        </m:sup>
                      </m:sSup>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𝑒</m:t>
                          </m:r>
                        </m:e>
                        <m:sup>
                          <m:d>
                            <m:dPr>
                              <m:begChr m:val="["/>
                              <m:endChr m:val="]"/>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m:rPr>
                                      <m:sty m:val="p"/>
                                    </m:rPr>
                                    <a:rPr lang="zh-CN" altLang="en-US" sz="1600" i="0">
                                      <a:latin typeface="Cambria Math" panose="02040503050406030204" pitchFamily="18" charset="0"/>
                                    </a:rPr>
                                    <m:t>ξ</m:t>
                                  </m:r>
                                </m:e>
                                <m:sub>
                                  <m:r>
                                    <a:rPr lang="zh-CN" altLang="en-US" sz="1600" i="1">
                                      <a:latin typeface="Cambria Math" panose="02040503050406030204" pitchFamily="18" charset="0"/>
                                    </a:rPr>
                                    <m:t>𝑛</m:t>
                                  </m:r>
                                  <m:r>
                                    <a:rPr lang="zh-CN" altLang="en-US" sz="1600" i="0">
                                      <a:latin typeface="Cambria Math" panose="02040503050406030204" pitchFamily="18" charset="0"/>
                                    </a:rPr>
                                    <m:t>−1</m:t>
                                  </m:r>
                                </m:sub>
                              </m:sSub>
                            </m:e>
                          </m:d>
                          <m:sSub>
                            <m:sSubPr>
                              <m:ctrlPr>
                                <a:rPr lang="zh-CN" altLang="en-US" sz="1600" i="1">
                                  <a:latin typeface="Cambria Math" panose="02040503050406030204" pitchFamily="18" charset="0"/>
                                </a:rPr>
                              </m:ctrlPr>
                            </m:sSubPr>
                            <m:e>
                              <m:r>
                                <m:rPr>
                                  <m:sty m:val="p"/>
                                </m:rPr>
                                <a:rPr lang="zh-CN" altLang="en-US" sz="1600" i="0">
                                  <a:latin typeface="Cambria Math" panose="02040503050406030204" pitchFamily="18" charset="0"/>
                                </a:rPr>
                                <m:t>θ</m:t>
                              </m:r>
                            </m:e>
                            <m:sub>
                              <m:r>
                                <a:rPr lang="zh-CN" altLang="en-US" sz="1600" i="1">
                                  <a:latin typeface="Cambria Math" panose="02040503050406030204" pitchFamily="18" charset="0"/>
                                </a:rPr>
                                <m:t>𝑛</m:t>
                              </m:r>
                              <m:r>
                                <a:rPr lang="zh-CN" altLang="en-US" sz="1600" i="0">
                                  <a:latin typeface="Cambria Math" panose="02040503050406030204" pitchFamily="18" charset="0"/>
                                </a:rPr>
                                <m:t>−1</m:t>
                              </m:r>
                            </m:sub>
                          </m:sSub>
                        </m:sup>
                      </m:sSup>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𝑒</m:t>
                          </m:r>
                        </m:e>
                        <m:sup>
                          <m:d>
                            <m:dPr>
                              <m:begChr m:val="["/>
                              <m:endChr m:val="]"/>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m:rPr>
                                      <m:sty m:val="p"/>
                                    </m:rPr>
                                    <a:rPr lang="zh-CN" altLang="en-US" sz="1600" i="0">
                                      <a:latin typeface="Cambria Math" panose="02040503050406030204" pitchFamily="18" charset="0"/>
                                    </a:rPr>
                                    <m:t>ξ</m:t>
                                  </m:r>
                                </m:e>
                                <m:sub>
                                  <m:r>
                                    <a:rPr lang="zh-CN" altLang="en-US" sz="1600" i="1">
                                      <a:latin typeface="Cambria Math" panose="02040503050406030204" pitchFamily="18" charset="0"/>
                                    </a:rPr>
                                    <m:t>𝑛</m:t>
                                  </m:r>
                                </m:sub>
                              </m:sSub>
                            </m:e>
                          </m:d>
                          <m:sSub>
                            <m:sSubPr>
                              <m:ctrlPr>
                                <a:rPr lang="zh-CN" altLang="en-US" sz="1600" i="1">
                                  <a:latin typeface="Cambria Math" panose="02040503050406030204" pitchFamily="18" charset="0"/>
                                </a:rPr>
                              </m:ctrlPr>
                            </m:sSubPr>
                            <m:e>
                              <m:r>
                                <m:rPr>
                                  <m:sty m:val="p"/>
                                </m:rPr>
                                <a:rPr lang="zh-CN" altLang="en-US" sz="1600" i="0">
                                  <a:latin typeface="Cambria Math" panose="02040503050406030204" pitchFamily="18" charset="0"/>
                                </a:rPr>
                                <m:t>θ</m:t>
                              </m:r>
                            </m:e>
                            <m:sub>
                              <m:r>
                                <a:rPr lang="zh-CN" altLang="en-US" sz="1600" i="1">
                                  <a:latin typeface="Cambria Math" panose="02040503050406030204" pitchFamily="18" charset="0"/>
                                </a:rPr>
                                <m:t>𝑛</m:t>
                              </m:r>
                            </m:sub>
                          </m:sSub>
                        </m:sup>
                      </m:sSup>
                      <m:r>
                        <a:rPr lang="zh-CN" altLang="en-US" sz="1600" i="1">
                          <a:latin typeface="Cambria Math" panose="02040503050406030204" pitchFamily="18" charset="0"/>
                        </a:rPr>
                        <m:t>𝑀</m:t>
                      </m:r>
                    </m:oMath>
                  </m:oMathPara>
                </a14:m>
                <a:endParaRPr lang="zh-CN" altLang="en-US" sz="1600" dirty="0"/>
              </a:p>
            </p:txBody>
          </p:sp>
        </mc:Choice>
        <mc:Fallback xmlns="">
          <p:sp>
            <p:nvSpPr>
              <p:cNvPr id="4" name="矩形 3"/>
              <p:cNvSpPr>
                <a:spLocks noRot="1" noChangeAspect="1" noMove="1" noResize="1" noEditPoints="1" noAdjustHandles="1" noChangeArrowheads="1" noChangeShapeType="1" noTextEdit="1"/>
              </p:cNvSpPr>
              <p:nvPr/>
            </p:nvSpPr>
            <p:spPr>
              <a:xfrm>
                <a:off x="4323632" y="1356096"/>
                <a:ext cx="3369256" cy="355547"/>
              </a:xfrm>
              <a:prstGeom prst="rect">
                <a:avLst/>
              </a:prstGeom>
              <a:blipFill>
                <a:blip r:embed="rId5"/>
                <a:stretch>
                  <a:fillRect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971600" y="1734500"/>
                <a:ext cx="4572000" cy="285591"/>
              </a:xfrm>
              <a:prstGeom prst="rect">
                <a:avLst/>
              </a:prstGeom>
            </p:spPr>
            <p:txBody>
              <a:bodyPr>
                <a:spAutoFit/>
              </a:bodyPr>
              <a:lstStyle/>
              <a:p>
                <a:r>
                  <a:rPr lang="zh-CN" altLang="zh-CN" sz="1200" dirty="0">
                    <a:ea typeface="等线" panose="02010600030101010101" pitchFamily="2" charset="-122"/>
                    <a:cs typeface="Times New Roman" panose="02020603050405020304" pitchFamily="18" charset="0"/>
                  </a:rPr>
                  <a:t>推导机器人关节速度</a:t>
                </a:r>
                <a14:m>
                  <m:oMath xmlns:m="http://schemas.openxmlformats.org/officeDocument/2006/math">
                    <m:acc>
                      <m:accPr>
                        <m:chr m:val="̇"/>
                        <m:ctrlPr>
                          <a:rPr lang="zh-CN" altLang="zh-CN" sz="1200" i="1">
                            <a:effectLst/>
                            <a:latin typeface="Cambria Math" panose="02040503050406030204" pitchFamily="18" charset="0"/>
                            <a:ea typeface="Cambria Math" panose="02040503050406030204" pitchFamily="18" charset="0"/>
                          </a:rPr>
                        </m:ctrlPr>
                      </m:acc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𝜃</m:t>
                        </m:r>
                      </m:e>
                    </m:acc>
                  </m:oMath>
                </a14:m>
                <a:r>
                  <a:rPr lang="zh-CN" altLang="zh-CN" sz="1200" dirty="0">
                    <a:ea typeface="等线" panose="02010600030101010101" pitchFamily="2" charset="-122"/>
                    <a:cs typeface="Times New Roman" panose="02020603050405020304" pitchFamily="18" charset="0"/>
                  </a:rPr>
                  <a:t>与末端执行器的空间速度</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effectLst/>
                            <a:latin typeface="Cambria Math" panose="02040503050406030204" pitchFamily="18" charset="0"/>
                            <a:ea typeface="等线" panose="02010600030101010101" pitchFamily="2" charset="-122"/>
                            <a:cs typeface="Times New Roman" panose="02020603050405020304" pitchFamily="18" charset="0"/>
                          </a:rPr>
                          <m:t>𝜈</m:t>
                        </m:r>
                      </m:e>
                      <m:sub>
                        <m:r>
                          <a:rPr lang="en-US" altLang="zh-CN" sz="1200" i="1">
                            <a:effectLst/>
                            <a:latin typeface="Cambria Math" panose="02040503050406030204" pitchFamily="18" charset="0"/>
                            <a:ea typeface="等线" panose="02010600030101010101" pitchFamily="2" charset="-122"/>
                            <a:cs typeface="Times New Roman" panose="02020603050405020304" pitchFamily="18" charset="0"/>
                          </a:rPr>
                          <m:t>𝑠</m:t>
                        </m:r>
                      </m:sub>
                    </m:sSub>
                  </m:oMath>
                </a14:m>
                <a:r>
                  <a:rPr lang="zh-CN" altLang="zh-CN" sz="1200" dirty="0">
                    <a:ea typeface="等线" panose="02010600030101010101" pitchFamily="2" charset="-122"/>
                    <a:cs typeface="Times New Roman" panose="02020603050405020304" pitchFamily="18" charset="0"/>
                  </a:rPr>
                  <a:t>之间的关系</a:t>
                </a:r>
                <a:endParaRPr lang="zh-CN" altLang="en-US" sz="1200" dirty="0"/>
              </a:p>
            </p:txBody>
          </p:sp>
        </mc:Choice>
        <mc:Fallback xmlns="">
          <p:sp>
            <p:nvSpPr>
              <p:cNvPr id="5" name="矩形 4"/>
              <p:cNvSpPr>
                <a:spLocks noRot="1" noChangeAspect="1" noMove="1" noResize="1" noEditPoints="1" noAdjustHandles="1" noChangeArrowheads="1" noChangeShapeType="1" noTextEdit="1"/>
              </p:cNvSpPr>
              <p:nvPr/>
            </p:nvSpPr>
            <p:spPr>
              <a:xfrm>
                <a:off x="971600" y="1734500"/>
                <a:ext cx="4572000" cy="285591"/>
              </a:xfrm>
              <a:prstGeom prst="rect">
                <a:avLst/>
              </a:prstGeom>
              <a:blipFill>
                <a:blip r:embed="rId6"/>
                <a:stretch>
                  <a:fillRect b="-195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5295693" y="1711643"/>
                <a:ext cx="1012392" cy="2828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𝜈</m:t>
                              </m:r>
                            </m:e>
                            <m:sub>
                              <m:r>
                                <a:rPr lang="zh-CN" altLang="en-US" sz="1200" i="1">
                                  <a:latin typeface="Cambria Math" panose="02040503050406030204" pitchFamily="18" charset="0"/>
                                </a:rPr>
                                <m:t>𝑠</m:t>
                              </m:r>
                            </m:sub>
                          </m:sSub>
                        </m:e>
                      </m:d>
                      <m:r>
                        <a:rPr lang="zh-CN" altLang="en-US" sz="1200" i="0">
                          <a:latin typeface="Cambria Math" panose="02040503050406030204" pitchFamily="18" charset="0"/>
                        </a:rPr>
                        <m:t>=</m:t>
                      </m:r>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𝑇</m:t>
                          </m:r>
                        </m:e>
                      </m:acc>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𝑇</m:t>
                          </m:r>
                        </m:e>
                        <m:sup>
                          <m:r>
                            <a:rPr lang="zh-CN" altLang="en-US" sz="1200" i="0">
                              <a:latin typeface="Cambria Math" panose="02040503050406030204" pitchFamily="18" charset="0"/>
                            </a:rPr>
                            <m:t>−1</m:t>
                          </m:r>
                        </m:sup>
                      </m:sSup>
                    </m:oMath>
                  </m:oMathPara>
                </a14:m>
                <a:endParaRPr lang="zh-CN" altLang="en-US" sz="1200" dirty="0"/>
              </a:p>
            </p:txBody>
          </p:sp>
        </mc:Choice>
        <mc:Fallback xmlns="">
          <p:sp>
            <p:nvSpPr>
              <p:cNvPr id="8" name="矩形 7"/>
              <p:cNvSpPr>
                <a:spLocks noRot="1" noChangeAspect="1" noMove="1" noResize="1" noEditPoints="1" noAdjustHandles="1" noChangeArrowheads="1" noChangeShapeType="1" noTextEdit="1"/>
              </p:cNvSpPr>
              <p:nvPr/>
            </p:nvSpPr>
            <p:spPr>
              <a:xfrm>
                <a:off x="5295693" y="1711643"/>
                <a:ext cx="1012392" cy="28283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2284913" y="1988098"/>
                <a:ext cx="4572000" cy="507318"/>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𝑇</m:t>
                          </m:r>
                        </m:e>
                      </m:acc>
                      <m:r>
                        <a:rPr lang="zh-CN" altLang="en-US" sz="1200" i="0">
                          <a:latin typeface="Cambria Math" panose="02040503050406030204" pitchFamily="18" charset="0"/>
                        </a:rPr>
                        <m:t>=</m:t>
                      </m:r>
                      <m:d>
                        <m:dPr>
                          <m:ctrlPr>
                            <a:rPr lang="zh-CN" altLang="en-US" sz="1200" i="1">
                              <a:latin typeface="Cambria Math" panose="02040503050406030204" pitchFamily="18" charset="0"/>
                            </a:rPr>
                          </m:ctrlPr>
                        </m:dPr>
                        <m:e>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𝑑</m:t>
                              </m:r>
                            </m:num>
                            <m:den>
                              <m:r>
                                <a:rPr lang="zh-CN" altLang="en-US" sz="1200" i="1">
                                  <a:latin typeface="Cambria Math" panose="02040503050406030204" pitchFamily="18" charset="0"/>
                                </a:rPr>
                                <m:t>𝑑𝑡</m:t>
                              </m:r>
                            </m:den>
                          </m:f>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𝑒</m:t>
                              </m:r>
                            </m:e>
                            <m:sup>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ξ</m:t>
                                      </m:r>
                                    </m:e>
                                    <m:sub>
                                      <m:r>
                                        <a:rPr lang="zh-CN" altLang="en-US" sz="1200" i="0">
                                          <a:latin typeface="Cambria Math" panose="02040503050406030204" pitchFamily="18" charset="0"/>
                                        </a:rPr>
                                        <m:t>1</m:t>
                                      </m:r>
                                    </m:sub>
                                  </m:sSub>
                                </m:e>
                              </m:d>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θ</m:t>
                                  </m:r>
                                </m:e>
                                <m:sub>
                                  <m:r>
                                    <a:rPr lang="zh-CN" altLang="en-US" sz="1200" i="0">
                                      <a:latin typeface="Cambria Math" panose="02040503050406030204" pitchFamily="18" charset="0"/>
                                    </a:rPr>
                                    <m:t>1</m:t>
                                  </m:r>
                                </m:sub>
                              </m:sSub>
                            </m:sup>
                          </m:sSup>
                        </m:e>
                      </m:d>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𝑒</m:t>
                          </m:r>
                        </m:e>
                        <m:sup>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ξ</m:t>
                                  </m:r>
                                </m:e>
                                <m:sub>
                                  <m:r>
                                    <a:rPr lang="zh-CN" altLang="en-US" sz="1200" i="1">
                                      <a:latin typeface="Cambria Math" panose="02040503050406030204" pitchFamily="18" charset="0"/>
                                    </a:rPr>
                                    <m:t>𝑛</m:t>
                                  </m:r>
                                </m:sub>
                              </m:sSub>
                            </m:e>
                          </m:d>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θ</m:t>
                              </m:r>
                            </m:e>
                            <m:sub>
                              <m:r>
                                <a:rPr lang="zh-CN" altLang="en-US" sz="1200" i="1">
                                  <a:latin typeface="Cambria Math" panose="02040503050406030204" pitchFamily="18" charset="0"/>
                                </a:rPr>
                                <m:t>𝑛</m:t>
                              </m:r>
                            </m:sub>
                          </m:sSub>
                        </m:sup>
                      </m:sSup>
                      <m:r>
                        <a:rPr lang="zh-CN" altLang="en-US" sz="1200" i="1">
                          <a:latin typeface="Cambria Math" panose="02040503050406030204" pitchFamily="18" charset="0"/>
                        </a:rPr>
                        <m:t>𝑀</m:t>
                      </m:r>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𝑒</m:t>
                          </m:r>
                        </m:e>
                        <m:sup>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ξ</m:t>
                                  </m:r>
                                </m:e>
                                <m:sub>
                                  <m:r>
                                    <a:rPr lang="zh-CN" altLang="en-US" sz="1200" i="0">
                                      <a:latin typeface="Cambria Math" panose="02040503050406030204" pitchFamily="18" charset="0"/>
                                    </a:rPr>
                                    <m:t>1</m:t>
                                  </m:r>
                                </m:sub>
                              </m:sSub>
                            </m:e>
                          </m:d>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θ</m:t>
                              </m:r>
                            </m:e>
                            <m:sub>
                              <m:r>
                                <a:rPr lang="zh-CN" altLang="en-US" sz="1200" i="0">
                                  <a:latin typeface="Cambria Math" panose="02040503050406030204" pitchFamily="18" charset="0"/>
                                </a:rPr>
                                <m:t>1</m:t>
                              </m:r>
                            </m:sub>
                          </m:sSub>
                        </m:sup>
                      </m:sSup>
                      <m:d>
                        <m:dPr>
                          <m:ctrlPr>
                            <a:rPr lang="zh-CN" altLang="en-US" sz="1200" i="1">
                              <a:latin typeface="Cambria Math" panose="02040503050406030204" pitchFamily="18" charset="0"/>
                            </a:rPr>
                          </m:ctrlPr>
                        </m:dPr>
                        <m:e>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𝑑</m:t>
                              </m:r>
                            </m:num>
                            <m:den>
                              <m:r>
                                <a:rPr lang="zh-CN" altLang="en-US" sz="1200" i="1">
                                  <a:latin typeface="Cambria Math" panose="02040503050406030204" pitchFamily="18" charset="0"/>
                                </a:rPr>
                                <m:t>𝑑𝑡</m:t>
                              </m:r>
                            </m:den>
                          </m:f>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𝑒</m:t>
                              </m:r>
                            </m:e>
                            <m:sup>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ξ</m:t>
                                      </m:r>
                                    </m:e>
                                    <m:sub>
                                      <m:r>
                                        <a:rPr lang="zh-CN" altLang="en-US" sz="1200" i="0">
                                          <a:latin typeface="Cambria Math" panose="02040503050406030204" pitchFamily="18" charset="0"/>
                                        </a:rPr>
                                        <m:t>2</m:t>
                                      </m:r>
                                    </m:sub>
                                  </m:sSub>
                                </m:e>
                              </m:d>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θ</m:t>
                                  </m:r>
                                </m:e>
                                <m:sub>
                                  <m:r>
                                    <a:rPr lang="zh-CN" altLang="en-US" sz="1200" i="0">
                                      <a:latin typeface="Cambria Math" panose="02040503050406030204" pitchFamily="18" charset="0"/>
                                    </a:rPr>
                                    <m:t>2</m:t>
                                  </m:r>
                                </m:sub>
                              </m:sSub>
                            </m:sup>
                          </m:sSup>
                        </m:e>
                      </m:d>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𝑒</m:t>
                          </m:r>
                        </m:e>
                        <m:sup>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ξ</m:t>
                                  </m:r>
                                </m:e>
                                <m:sub>
                                  <m:r>
                                    <a:rPr lang="zh-CN" altLang="en-US" sz="1200" i="1">
                                      <a:latin typeface="Cambria Math" panose="02040503050406030204" pitchFamily="18" charset="0"/>
                                    </a:rPr>
                                    <m:t>𝑛</m:t>
                                  </m:r>
                                </m:sub>
                              </m:sSub>
                            </m:e>
                          </m:d>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θ</m:t>
                              </m:r>
                            </m:e>
                            <m:sub>
                              <m:r>
                                <a:rPr lang="zh-CN" altLang="en-US" sz="1200" i="1">
                                  <a:latin typeface="Cambria Math" panose="02040503050406030204" pitchFamily="18" charset="0"/>
                                </a:rPr>
                                <m:t>𝑛</m:t>
                              </m:r>
                            </m:sub>
                          </m:sSub>
                        </m:sup>
                      </m:sSup>
                      <m:r>
                        <a:rPr lang="zh-CN" altLang="en-US" sz="1200" i="1">
                          <a:latin typeface="Cambria Math" panose="02040503050406030204" pitchFamily="18" charset="0"/>
                        </a:rPr>
                        <m:t>𝑀</m:t>
                      </m:r>
                      <m:r>
                        <a:rPr lang="zh-CN" altLang="en-US" sz="1200" i="0">
                          <a:latin typeface="Cambria Math" panose="02040503050406030204" pitchFamily="18" charset="0"/>
                        </a:rPr>
                        <m:t>+⋯</m:t>
                      </m:r>
                    </m:oMath>
                  </m:oMathPara>
                </a14:m>
                <a:endParaRPr lang="zh-CN" altLang="en-US" sz="1200" dirty="0"/>
              </a:p>
            </p:txBody>
          </p:sp>
        </mc:Choice>
        <mc:Fallback xmlns="">
          <p:sp>
            <p:nvSpPr>
              <p:cNvPr id="9" name="矩形 8"/>
              <p:cNvSpPr>
                <a:spLocks noRot="1" noChangeAspect="1" noMove="1" noResize="1" noEditPoints="1" noAdjustHandles="1" noChangeArrowheads="1" noChangeShapeType="1" noTextEdit="1"/>
              </p:cNvSpPr>
              <p:nvPr/>
            </p:nvSpPr>
            <p:spPr>
              <a:xfrm>
                <a:off x="2284913" y="1988098"/>
                <a:ext cx="4572000" cy="507318"/>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2123728" y="2458998"/>
                <a:ext cx="4572000" cy="290016"/>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r>
                        <a:rPr lang="zh-CN" altLang="en-US" sz="1200">
                          <a:latin typeface="Cambria Math" panose="02040503050406030204" pitchFamily="18" charset="0"/>
                        </a:rPr>
                        <m:t>=</m:t>
                      </m:r>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𝜉</m:t>
                              </m:r>
                            </m:e>
                            <m:sub>
                              <m:r>
                                <a:rPr lang="zh-CN" altLang="en-US" sz="1200" i="0">
                                  <a:latin typeface="Cambria Math" panose="02040503050406030204" pitchFamily="18" charset="0"/>
                                </a:rPr>
                                <m:t>1</m:t>
                              </m:r>
                            </m:sub>
                          </m:sSub>
                        </m:e>
                      </m:d>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e>
                        <m:sub>
                          <m:r>
                            <a:rPr lang="zh-CN" altLang="en-US" sz="1200" i="0">
                              <a:latin typeface="Cambria Math" panose="02040503050406030204" pitchFamily="18" charset="0"/>
                            </a:rPr>
                            <m:t>1</m:t>
                          </m:r>
                        </m:sub>
                      </m:sSub>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𝑒</m:t>
                          </m:r>
                        </m:e>
                        <m:sup>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ξ</m:t>
                                  </m:r>
                                </m:e>
                                <m:sub>
                                  <m:r>
                                    <a:rPr lang="zh-CN" altLang="en-US" sz="1200" i="0">
                                      <a:latin typeface="Cambria Math" panose="02040503050406030204" pitchFamily="18" charset="0"/>
                                    </a:rPr>
                                    <m:t>1</m:t>
                                  </m:r>
                                </m:sub>
                              </m:sSub>
                            </m:e>
                          </m:d>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θ</m:t>
                              </m:r>
                            </m:e>
                            <m:sub>
                              <m:r>
                                <a:rPr lang="zh-CN" altLang="en-US" sz="1200" i="0">
                                  <a:latin typeface="Cambria Math" panose="02040503050406030204" pitchFamily="18" charset="0"/>
                                </a:rPr>
                                <m:t>1</m:t>
                              </m:r>
                            </m:sub>
                          </m:sSub>
                        </m:sup>
                      </m:sSup>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𝑒</m:t>
                          </m:r>
                        </m:e>
                        <m:sup>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ξ</m:t>
                                  </m:r>
                                </m:e>
                                <m:sub>
                                  <m:r>
                                    <a:rPr lang="zh-CN" altLang="en-US" sz="1200" i="1">
                                      <a:latin typeface="Cambria Math" panose="02040503050406030204" pitchFamily="18" charset="0"/>
                                    </a:rPr>
                                    <m:t>𝑛</m:t>
                                  </m:r>
                                </m:sub>
                              </m:sSub>
                            </m:e>
                          </m:d>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θ</m:t>
                              </m:r>
                            </m:e>
                            <m:sub>
                              <m:r>
                                <a:rPr lang="zh-CN" altLang="en-US" sz="1200" i="1">
                                  <a:latin typeface="Cambria Math" panose="02040503050406030204" pitchFamily="18" charset="0"/>
                                </a:rPr>
                                <m:t>𝑛</m:t>
                              </m:r>
                            </m:sub>
                          </m:sSub>
                        </m:sup>
                      </m:sSup>
                      <m:r>
                        <a:rPr lang="zh-CN" altLang="en-US" sz="1200" i="1">
                          <a:latin typeface="Cambria Math" panose="02040503050406030204" pitchFamily="18" charset="0"/>
                        </a:rPr>
                        <m:t>𝑀</m:t>
                      </m:r>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𝑒</m:t>
                          </m:r>
                        </m:e>
                        <m:sup>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ξ</m:t>
                                  </m:r>
                                </m:e>
                                <m:sub>
                                  <m:r>
                                    <a:rPr lang="zh-CN" altLang="en-US" sz="1200" i="0">
                                      <a:latin typeface="Cambria Math" panose="02040503050406030204" pitchFamily="18" charset="0"/>
                                    </a:rPr>
                                    <m:t>1</m:t>
                                  </m:r>
                                </m:sub>
                              </m:sSub>
                            </m:e>
                          </m:d>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θ</m:t>
                              </m:r>
                            </m:e>
                            <m:sub>
                              <m:r>
                                <a:rPr lang="zh-CN" altLang="en-US" sz="1200" i="0">
                                  <a:latin typeface="Cambria Math" panose="02040503050406030204" pitchFamily="18" charset="0"/>
                                </a:rPr>
                                <m:t>1</m:t>
                              </m:r>
                            </m:sub>
                          </m:sSub>
                        </m:sup>
                      </m:sSup>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𝜉</m:t>
                          </m:r>
                        </m:e>
                        <m:sub>
                          <m:r>
                            <a:rPr lang="zh-CN" altLang="en-US" sz="1200" i="0">
                              <a:latin typeface="Cambria Math" panose="02040503050406030204" pitchFamily="18" charset="0"/>
                            </a:rPr>
                            <m:t>2</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e>
                        <m:sub>
                          <m:r>
                            <a:rPr lang="zh-CN" altLang="en-US" sz="1200" i="0">
                              <a:latin typeface="Cambria Math" panose="02040503050406030204" pitchFamily="18" charset="0"/>
                            </a:rPr>
                            <m:t>2</m:t>
                          </m:r>
                        </m:sub>
                      </m:sSub>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𝑒</m:t>
                          </m:r>
                        </m:e>
                        <m:sup>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ξ</m:t>
                                  </m:r>
                                </m:e>
                                <m:sub>
                                  <m:r>
                                    <a:rPr lang="zh-CN" altLang="en-US" sz="1200" i="1">
                                      <a:latin typeface="Cambria Math" panose="02040503050406030204" pitchFamily="18" charset="0"/>
                                    </a:rPr>
                                    <m:t>𝑛</m:t>
                                  </m:r>
                                </m:sub>
                              </m:sSub>
                            </m:e>
                          </m:d>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θ</m:t>
                              </m:r>
                            </m:e>
                            <m:sub>
                              <m:r>
                                <a:rPr lang="zh-CN" altLang="en-US" sz="1200" i="1">
                                  <a:latin typeface="Cambria Math" panose="02040503050406030204" pitchFamily="18" charset="0"/>
                                </a:rPr>
                                <m:t>𝑛</m:t>
                              </m:r>
                            </m:sub>
                          </m:sSub>
                        </m:sup>
                      </m:sSup>
                      <m:r>
                        <a:rPr lang="zh-CN" altLang="en-US" sz="1200" i="1">
                          <a:latin typeface="Cambria Math" panose="02040503050406030204" pitchFamily="18" charset="0"/>
                        </a:rPr>
                        <m:t>𝑀</m:t>
                      </m:r>
                      <m:r>
                        <a:rPr lang="zh-CN" altLang="en-US" sz="1200" i="0">
                          <a:latin typeface="Cambria Math" panose="02040503050406030204" pitchFamily="18" charset="0"/>
                        </a:rPr>
                        <m:t>+⋯</m:t>
                      </m:r>
                    </m:oMath>
                  </m:oMathPara>
                </a14:m>
                <a:endParaRPr lang="zh-CN" altLang="en-US" sz="1200" dirty="0"/>
              </a:p>
            </p:txBody>
          </p:sp>
        </mc:Choice>
        <mc:Fallback xmlns="">
          <p:sp>
            <p:nvSpPr>
              <p:cNvPr id="10" name="矩形 9"/>
              <p:cNvSpPr>
                <a:spLocks noRot="1" noChangeAspect="1" noMove="1" noResize="1" noEditPoints="1" noAdjustHandles="1" noChangeArrowheads="1" noChangeShapeType="1" noTextEdit="1"/>
              </p:cNvSpPr>
              <p:nvPr/>
            </p:nvSpPr>
            <p:spPr>
              <a:xfrm>
                <a:off x="2123728" y="2458998"/>
                <a:ext cx="4572000" cy="290016"/>
              </a:xfrm>
              <a:prstGeom prst="rect">
                <a:avLst/>
              </a:prstGeom>
              <a:blipFill>
                <a:blip r:embed="rId9"/>
                <a:stretch>
                  <a:fillRect b="-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2284913" y="2799610"/>
                <a:ext cx="2153089" cy="2897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𝑇</m:t>
                          </m:r>
                        </m:e>
                        <m:sup>
                          <m:r>
                            <a:rPr lang="zh-CN" altLang="en-US" sz="1200" i="0">
                              <a:latin typeface="Cambria Math" panose="02040503050406030204" pitchFamily="18" charset="0"/>
                            </a:rPr>
                            <m:t>−1</m:t>
                          </m:r>
                        </m:sup>
                      </m:sSup>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𝑀</m:t>
                          </m:r>
                        </m:e>
                        <m:sup>
                          <m:r>
                            <a:rPr lang="zh-CN" altLang="en-US" sz="1200" i="0">
                              <a:latin typeface="Cambria Math" panose="02040503050406030204" pitchFamily="18" charset="0"/>
                            </a:rPr>
                            <m:t>−1</m:t>
                          </m:r>
                        </m:sup>
                      </m:sSup>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𝑒</m:t>
                          </m:r>
                        </m:e>
                        <m:sup>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ξ</m:t>
                                  </m:r>
                                </m:e>
                                <m:sub>
                                  <m:r>
                                    <a:rPr lang="zh-CN" altLang="en-US" sz="1200" i="1">
                                      <a:latin typeface="Cambria Math" panose="02040503050406030204" pitchFamily="18" charset="0"/>
                                    </a:rPr>
                                    <m:t>𝑛</m:t>
                                  </m:r>
                                </m:sub>
                              </m:sSub>
                            </m:e>
                          </m:d>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θ</m:t>
                              </m:r>
                            </m:e>
                            <m:sub>
                              <m:r>
                                <a:rPr lang="zh-CN" altLang="en-US" sz="1200" i="1">
                                  <a:latin typeface="Cambria Math" panose="02040503050406030204" pitchFamily="18" charset="0"/>
                                </a:rPr>
                                <m:t>𝑛</m:t>
                              </m:r>
                            </m:sub>
                          </m:sSub>
                        </m:sup>
                      </m:sSup>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𝑒</m:t>
                          </m:r>
                        </m:e>
                        <m:sup>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ξ</m:t>
                                  </m:r>
                                </m:e>
                                <m:sub>
                                  <m:r>
                                    <a:rPr lang="zh-CN" altLang="en-US" sz="1200" i="0">
                                      <a:latin typeface="Cambria Math" panose="02040503050406030204" pitchFamily="18" charset="0"/>
                                    </a:rPr>
                                    <m:t>1</m:t>
                                  </m:r>
                                </m:sub>
                              </m:sSub>
                            </m:e>
                          </m:d>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θ</m:t>
                              </m:r>
                            </m:e>
                            <m:sub>
                              <m:r>
                                <a:rPr lang="zh-CN" altLang="en-US" sz="1200" i="0">
                                  <a:latin typeface="Cambria Math" panose="02040503050406030204" pitchFamily="18" charset="0"/>
                                </a:rPr>
                                <m:t>1</m:t>
                              </m:r>
                            </m:sub>
                          </m:sSub>
                        </m:sup>
                      </m:sSup>
                    </m:oMath>
                  </m:oMathPara>
                </a14:m>
                <a:endParaRPr lang="zh-CN" altLang="en-US" sz="1200" dirty="0"/>
              </a:p>
            </p:txBody>
          </p:sp>
        </mc:Choice>
        <mc:Fallback xmlns="">
          <p:sp>
            <p:nvSpPr>
              <p:cNvPr id="11" name="矩形 10"/>
              <p:cNvSpPr>
                <a:spLocks noRot="1" noChangeAspect="1" noMove="1" noResize="1" noEditPoints="1" noAdjustHandles="1" noChangeArrowheads="1" noChangeShapeType="1" noTextEdit="1"/>
              </p:cNvSpPr>
              <p:nvPr/>
            </p:nvSpPr>
            <p:spPr>
              <a:xfrm>
                <a:off x="2284913" y="2799610"/>
                <a:ext cx="2153089" cy="289759"/>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1229888" y="3180126"/>
                <a:ext cx="5465839" cy="29001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𝜈</m:t>
                              </m:r>
                            </m:e>
                            <m:sub>
                              <m:r>
                                <a:rPr lang="zh-CN" altLang="en-US" sz="1200" i="1">
                                  <a:latin typeface="Cambria Math" panose="02040503050406030204" pitchFamily="18" charset="0"/>
                                </a:rPr>
                                <m:t>𝑠</m:t>
                              </m:r>
                            </m:sub>
                          </m:sSub>
                        </m:e>
                      </m:d>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𝜉</m:t>
                          </m:r>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𝑒</m:t>
                          </m:r>
                        </m:e>
                        <m:sup>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ξ</m:t>
                                  </m:r>
                                </m:e>
                                <m:sub>
                                  <m:r>
                                    <a:rPr lang="zh-CN" altLang="en-US" sz="1200" i="0">
                                      <a:latin typeface="Cambria Math" panose="02040503050406030204" pitchFamily="18" charset="0"/>
                                    </a:rPr>
                                    <m:t>1</m:t>
                                  </m:r>
                                </m:sub>
                              </m:sSub>
                            </m:e>
                          </m:d>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θ</m:t>
                              </m:r>
                            </m:e>
                            <m:sub>
                              <m:r>
                                <a:rPr lang="zh-CN" altLang="en-US" sz="1200" i="0">
                                  <a:latin typeface="Cambria Math" panose="02040503050406030204" pitchFamily="18" charset="0"/>
                                </a:rPr>
                                <m:t>1</m:t>
                              </m:r>
                            </m:sub>
                          </m:sSub>
                        </m:sup>
                      </m:sSup>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𝜉</m:t>
                          </m:r>
                        </m:e>
                        <m:sub>
                          <m:r>
                            <a:rPr lang="zh-CN" altLang="en-US" sz="1200" i="0">
                              <a:latin typeface="Cambria Math" panose="02040503050406030204" pitchFamily="18" charset="0"/>
                            </a:rPr>
                            <m:t>2</m:t>
                          </m:r>
                        </m:sub>
                      </m:sSub>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𝑒</m:t>
                          </m:r>
                        </m:e>
                        <m:sup>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S</m:t>
                                  </m:r>
                                </m:e>
                                <m:sub>
                                  <m:r>
                                    <a:rPr lang="zh-CN" altLang="en-US" sz="1200" i="0">
                                      <a:latin typeface="Cambria Math" panose="02040503050406030204" pitchFamily="18" charset="0"/>
                                    </a:rPr>
                                    <m:t>1</m:t>
                                  </m:r>
                                </m:sub>
                              </m:sSub>
                            </m:e>
                          </m:d>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θ</m:t>
                              </m:r>
                            </m:e>
                            <m:sub>
                              <m:r>
                                <a:rPr lang="zh-CN" altLang="en-US" sz="1200" i="0">
                                  <a:latin typeface="Cambria Math" panose="02040503050406030204" pitchFamily="18" charset="0"/>
                                </a:rPr>
                                <m:t>1</m:t>
                              </m:r>
                            </m:sub>
                          </m:sSub>
                        </m:sup>
                      </m:sSup>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e>
                        <m:sub>
                          <m:r>
                            <a:rPr lang="zh-CN" altLang="en-US" sz="1200" i="0">
                              <a:latin typeface="Cambria Math" panose="02040503050406030204" pitchFamily="18" charset="0"/>
                            </a:rPr>
                            <m:t>2</m:t>
                          </m:r>
                        </m:sub>
                      </m:sSub>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𝑒</m:t>
                          </m:r>
                        </m:e>
                        <m:sup>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ξ</m:t>
                                  </m:r>
                                </m:e>
                                <m:sub>
                                  <m:r>
                                    <a:rPr lang="zh-CN" altLang="en-US" sz="1200" i="0">
                                      <a:latin typeface="Cambria Math" panose="02040503050406030204" pitchFamily="18" charset="0"/>
                                    </a:rPr>
                                    <m:t>1</m:t>
                                  </m:r>
                                </m:sub>
                              </m:sSub>
                            </m:e>
                          </m:d>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θ</m:t>
                              </m:r>
                            </m:e>
                            <m:sub>
                              <m:r>
                                <a:rPr lang="zh-CN" altLang="en-US" sz="1200" i="0">
                                  <a:latin typeface="Cambria Math" panose="02040503050406030204" pitchFamily="18" charset="0"/>
                                </a:rPr>
                                <m:t>1</m:t>
                              </m:r>
                            </m:sub>
                          </m:sSub>
                        </m:sup>
                      </m:sSup>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𝑒</m:t>
                          </m:r>
                        </m:e>
                        <m:sup>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ξ</m:t>
                                  </m:r>
                                </m:e>
                                <m:sub>
                                  <m:r>
                                    <a:rPr lang="zh-CN" altLang="en-US" sz="1200" i="0">
                                      <a:latin typeface="Cambria Math" panose="02040503050406030204" pitchFamily="18" charset="0"/>
                                    </a:rPr>
                                    <m:t>2</m:t>
                                  </m:r>
                                </m:sub>
                              </m:sSub>
                            </m:e>
                          </m:d>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θ</m:t>
                              </m:r>
                            </m:e>
                            <m:sub>
                              <m:r>
                                <a:rPr lang="zh-CN" altLang="en-US" sz="1200" i="0">
                                  <a:latin typeface="Cambria Math" panose="02040503050406030204" pitchFamily="18" charset="0"/>
                                </a:rPr>
                                <m:t>2</m:t>
                              </m:r>
                            </m:sub>
                          </m:sSub>
                        </m:sup>
                      </m:sSup>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𝜉</m:t>
                          </m:r>
                        </m:e>
                        <m:sub>
                          <m:r>
                            <a:rPr lang="zh-CN" altLang="en-US" sz="1200" i="0">
                              <a:latin typeface="Cambria Math" panose="02040503050406030204" pitchFamily="18" charset="0"/>
                            </a:rPr>
                            <m:t>3</m:t>
                          </m:r>
                        </m:sub>
                      </m:sSub>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𝑒</m:t>
                          </m:r>
                        </m:e>
                        <m:sup>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ξ</m:t>
                                  </m:r>
                                </m:e>
                                <m:sub>
                                  <m:r>
                                    <a:rPr lang="zh-CN" altLang="en-US" sz="1200" i="0">
                                      <a:latin typeface="Cambria Math" panose="02040503050406030204" pitchFamily="18" charset="0"/>
                                    </a:rPr>
                                    <m:t>1</m:t>
                                  </m:r>
                                </m:sub>
                              </m:sSub>
                            </m:e>
                          </m:d>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θ</m:t>
                              </m:r>
                            </m:e>
                            <m:sub>
                              <m:r>
                                <a:rPr lang="zh-CN" altLang="en-US" sz="1200" i="0">
                                  <a:latin typeface="Cambria Math" panose="02040503050406030204" pitchFamily="18" charset="0"/>
                                </a:rPr>
                                <m:t>1</m:t>
                              </m:r>
                            </m:sub>
                          </m:sSub>
                        </m:sup>
                      </m:sSup>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𝑒</m:t>
                          </m:r>
                        </m:e>
                        <m:sup>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ξ</m:t>
                                  </m:r>
                                </m:e>
                                <m:sub>
                                  <m:r>
                                    <a:rPr lang="zh-CN" altLang="en-US" sz="1200" i="0">
                                      <a:latin typeface="Cambria Math" panose="02040503050406030204" pitchFamily="18" charset="0"/>
                                    </a:rPr>
                                    <m:t>2</m:t>
                                  </m:r>
                                </m:sub>
                              </m:sSub>
                            </m:e>
                          </m:d>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θ</m:t>
                              </m:r>
                            </m:e>
                            <m:sub>
                              <m:r>
                                <a:rPr lang="zh-CN" altLang="en-US" sz="1200" i="0">
                                  <a:latin typeface="Cambria Math" panose="02040503050406030204" pitchFamily="18" charset="0"/>
                                </a:rPr>
                                <m:t>2</m:t>
                              </m:r>
                            </m:sub>
                          </m:sSub>
                        </m:sup>
                      </m:sSup>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e>
                        <m:sub>
                          <m:r>
                            <a:rPr lang="zh-CN" altLang="en-US" sz="1200" i="0">
                              <a:latin typeface="Cambria Math" panose="02040503050406030204" pitchFamily="18" charset="0"/>
                            </a:rPr>
                            <m:t>3</m:t>
                          </m:r>
                        </m:sub>
                      </m:sSub>
                      <m:r>
                        <a:rPr lang="zh-CN" altLang="en-US" sz="1200" i="0">
                          <a:latin typeface="Cambria Math" panose="02040503050406030204" pitchFamily="18" charset="0"/>
                        </a:rPr>
                        <m:t>+⋯</m:t>
                      </m:r>
                    </m:oMath>
                  </m:oMathPara>
                </a14:m>
                <a:endParaRPr lang="zh-CN" altLang="en-US" sz="1200" dirty="0"/>
              </a:p>
            </p:txBody>
          </p:sp>
        </mc:Choice>
        <mc:Fallback xmlns="">
          <p:sp>
            <p:nvSpPr>
              <p:cNvPr id="13" name="矩形 12"/>
              <p:cNvSpPr>
                <a:spLocks noRot="1" noChangeAspect="1" noMove="1" noResize="1" noEditPoints="1" noAdjustHandles="1" noChangeArrowheads="1" noChangeShapeType="1" noTextEdit="1"/>
              </p:cNvSpPr>
              <p:nvPr/>
            </p:nvSpPr>
            <p:spPr>
              <a:xfrm>
                <a:off x="1229888" y="3180126"/>
                <a:ext cx="5465839" cy="290016"/>
              </a:xfrm>
              <a:prstGeom prst="rect">
                <a:avLst/>
              </a:prstGeom>
              <a:blipFill>
                <a:blip r:embed="rId11"/>
                <a:stretch>
                  <a:fillRect b="-10638"/>
                </a:stretch>
              </a:blipFill>
            </p:spPr>
            <p:txBody>
              <a:bodyPr/>
              <a:lstStyle/>
              <a:p>
                <a:r>
                  <a:rPr lang="zh-CN" altLang="en-US">
                    <a:noFill/>
                  </a:rPr>
                  <a:t> </a:t>
                </a:r>
              </a:p>
            </p:txBody>
          </p:sp>
        </mc:Fallback>
      </mc:AlternateContent>
      <p:sp>
        <p:nvSpPr>
          <p:cNvPr id="14" name="矩形 13"/>
          <p:cNvSpPr/>
          <p:nvPr/>
        </p:nvSpPr>
        <p:spPr>
          <a:xfrm>
            <a:off x="692169" y="3457806"/>
            <a:ext cx="2185214" cy="276999"/>
          </a:xfrm>
          <a:prstGeom prst="rect">
            <a:avLst/>
          </a:prstGeom>
        </p:spPr>
        <p:txBody>
          <a:bodyPr wrap="none">
            <a:spAutoFit/>
          </a:bodyPr>
          <a:lstStyle/>
          <a:p>
            <a:r>
              <a:rPr lang="zh-CN" altLang="zh-CN" sz="1200" dirty="0">
                <a:ea typeface="等线" panose="02010600030101010101" pitchFamily="2" charset="-122"/>
                <a:cs typeface="Times New Roman" panose="02020603050405020304" pitchFamily="18" charset="0"/>
              </a:rPr>
              <a:t>通过伴随映射写成向量的形式</a:t>
            </a:r>
            <a:endParaRPr lang="zh-CN" altLang="en-US" sz="1200" dirty="0"/>
          </a:p>
        </p:txBody>
      </p:sp>
      <mc:AlternateContent xmlns:mc="http://schemas.openxmlformats.org/markup-compatibility/2006" xmlns:a14="http://schemas.microsoft.com/office/drawing/2010/main">
        <mc:Choice Requires="a14">
          <p:sp>
            <p:nvSpPr>
              <p:cNvPr id="15" name="矩形 14"/>
              <p:cNvSpPr/>
              <p:nvPr/>
            </p:nvSpPr>
            <p:spPr>
              <a:xfrm>
                <a:off x="2500555" y="3498061"/>
                <a:ext cx="4572000" cy="305789"/>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𝜈</m:t>
                          </m:r>
                        </m:e>
                        <m:sub>
                          <m:r>
                            <a:rPr lang="zh-CN" altLang="en-US" sz="1200" i="1">
                              <a:latin typeface="Cambria Math" panose="02040503050406030204" pitchFamily="18" charset="0"/>
                            </a:rPr>
                            <m:t>𝑠</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𝜉</m:t>
                          </m:r>
                        </m:e>
                        <m:sub>
                          <m:r>
                            <a:rPr lang="zh-CN" altLang="en-US" sz="1200" i="0">
                              <a:latin typeface="Cambria Math" panose="02040503050406030204" pitchFamily="18" charset="0"/>
                            </a:rPr>
                            <m:t>1</m:t>
                          </m:r>
                        </m:sub>
                      </m:sSub>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r>
                        <a:rPr lang="zh-CN" altLang="en-US" sz="1200" i="1">
                          <a:latin typeface="Cambria Math" panose="02040503050406030204" pitchFamily="18" charset="0"/>
                        </a:rPr>
                        <m:t>𝐴</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𝑒</m:t>
                              </m:r>
                            </m:e>
                            <m:sup>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ξ</m:t>
                                      </m:r>
                                    </m:e>
                                    <m:sub>
                                      <m:r>
                                        <a:rPr lang="zh-CN" altLang="en-US" sz="1200" i="0">
                                          <a:latin typeface="Cambria Math" panose="02040503050406030204" pitchFamily="18" charset="0"/>
                                        </a:rPr>
                                        <m:t>1</m:t>
                                      </m:r>
                                    </m:sub>
                                  </m:sSub>
                                </m:e>
                              </m:d>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θ</m:t>
                                  </m:r>
                                </m:e>
                                <m:sub>
                                  <m:r>
                                    <a:rPr lang="zh-CN" altLang="en-US" sz="1200" i="0">
                                      <a:latin typeface="Cambria Math" panose="02040503050406030204" pitchFamily="18" charset="0"/>
                                    </a:rPr>
                                    <m:t>1</m:t>
                                  </m:r>
                                </m:sub>
                              </m:sSub>
                            </m:sup>
                          </m:sSup>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𝜉</m:t>
                          </m:r>
                        </m:e>
                        <m:sub>
                          <m:r>
                            <a:rPr lang="zh-CN" altLang="en-US" sz="1200" i="0">
                              <a:latin typeface="Cambria Math" panose="02040503050406030204" pitchFamily="18" charset="0"/>
                            </a:rPr>
                            <m:t>2</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e>
                        <m:sub>
                          <m:r>
                            <a:rPr lang="zh-CN" altLang="en-US" sz="1200" i="0">
                              <a:latin typeface="Cambria Math" panose="02040503050406030204" pitchFamily="18" charset="0"/>
                            </a:rPr>
                            <m:t>2</m:t>
                          </m:r>
                        </m:sub>
                      </m:sSub>
                      <m:r>
                        <a:rPr lang="zh-CN" altLang="en-US" sz="1200" i="0">
                          <a:latin typeface="Cambria Math" panose="02040503050406030204" pitchFamily="18" charset="0"/>
                        </a:rPr>
                        <m:t>+</m:t>
                      </m:r>
                      <m:r>
                        <a:rPr lang="zh-CN" altLang="en-US" sz="1200" i="1">
                          <a:latin typeface="Cambria Math" panose="02040503050406030204" pitchFamily="18" charset="0"/>
                        </a:rPr>
                        <m:t>𝐴</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𝑒</m:t>
                              </m:r>
                            </m:e>
                            <m:sup>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ξ</m:t>
                                      </m:r>
                                    </m:e>
                                    <m:sub>
                                      <m:r>
                                        <a:rPr lang="zh-CN" altLang="en-US" sz="1200" i="0">
                                          <a:latin typeface="Cambria Math" panose="02040503050406030204" pitchFamily="18" charset="0"/>
                                        </a:rPr>
                                        <m:t>1</m:t>
                                      </m:r>
                                    </m:sub>
                                  </m:sSub>
                                </m:e>
                              </m:d>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θ</m:t>
                                  </m:r>
                                </m:e>
                                <m:sub>
                                  <m:r>
                                    <a:rPr lang="zh-CN" altLang="en-US" sz="1200" i="0">
                                      <a:latin typeface="Cambria Math" panose="02040503050406030204" pitchFamily="18" charset="0"/>
                                    </a:rPr>
                                    <m:t>1</m:t>
                                  </m:r>
                                </m:sub>
                              </m:sSub>
                            </m:sup>
                          </m:sSup>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𝑒</m:t>
                              </m:r>
                            </m:e>
                            <m:sup>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ξ</m:t>
                                      </m:r>
                                    </m:e>
                                    <m:sub>
                                      <m:r>
                                        <a:rPr lang="zh-CN" altLang="en-US" sz="1200" i="0">
                                          <a:latin typeface="Cambria Math" panose="02040503050406030204" pitchFamily="18" charset="0"/>
                                        </a:rPr>
                                        <m:t>2</m:t>
                                      </m:r>
                                    </m:sub>
                                  </m:sSub>
                                </m:e>
                              </m:d>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θ</m:t>
                                  </m:r>
                                </m:e>
                                <m:sub>
                                  <m:r>
                                    <a:rPr lang="zh-CN" altLang="en-US" sz="1200" i="0">
                                      <a:latin typeface="Cambria Math" panose="02040503050406030204" pitchFamily="18" charset="0"/>
                                    </a:rPr>
                                    <m:t>2</m:t>
                                  </m:r>
                                </m:sub>
                              </m:sSub>
                            </m:sup>
                          </m:sSup>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𝜉</m:t>
                          </m:r>
                        </m:e>
                        <m:sub>
                          <m:r>
                            <a:rPr lang="zh-CN" altLang="en-US" sz="1200" i="0">
                              <a:latin typeface="Cambria Math" panose="02040503050406030204" pitchFamily="18" charset="0"/>
                            </a:rPr>
                            <m:t>3</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e>
                        <m:sub>
                          <m:r>
                            <a:rPr lang="zh-CN" altLang="en-US" sz="1200" i="0">
                              <a:latin typeface="Cambria Math" panose="02040503050406030204" pitchFamily="18" charset="0"/>
                            </a:rPr>
                            <m:t>3</m:t>
                          </m:r>
                        </m:sub>
                      </m:sSub>
                      <m:r>
                        <a:rPr lang="zh-CN" altLang="en-US" sz="1200" i="0">
                          <a:latin typeface="Cambria Math" panose="02040503050406030204" pitchFamily="18" charset="0"/>
                        </a:rPr>
                        <m:t>+⋯</m:t>
                      </m:r>
                    </m:oMath>
                  </m:oMathPara>
                </a14:m>
                <a:endParaRPr lang="zh-CN" altLang="en-US" sz="1200" dirty="0"/>
              </a:p>
            </p:txBody>
          </p:sp>
        </mc:Choice>
        <mc:Fallback xmlns="">
          <p:sp>
            <p:nvSpPr>
              <p:cNvPr id="15" name="矩形 14"/>
              <p:cNvSpPr>
                <a:spLocks noRot="1" noChangeAspect="1" noMove="1" noResize="1" noEditPoints="1" noAdjustHandles="1" noChangeArrowheads="1" noChangeShapeType="1" noTextEdit="1"/>
              </p:cNvSpPr>
              <p:nvPr/>
            </p:nvSpPr>
            <p:spPr>
              <a:xfrm>
                <a:off x="2500555" y="3498061"/>
                <a:ext cx="4572000" cy="305789"/>
              </a:xfrm>
              <a:prstGeom prst="rect">
                <a:avLst/>
              </a:prstGeom>
              <a:blipFill>
                <a:blip r:embed="rId12"/>
                <a:stretch>
                  <a:fillRect b="-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2244977" y="3910446"/>
                <a:ext cx="2672463" cy="28559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𝜈</m:t>
                          </m:r>
                        </m:e>
                        <m:sub>
                          <m:r>
                            <a:rPr lang="zh-CN" altLang="en-US" sz="1200" i="1">
                              <a:latin typeface="Cambria Math" panose="02040503050406030204" pitchFamily="18" charset="0"/>
                            </a:rPr>
                            <m:t>𝑠</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1">
                              <a:latin typeface="Cambria Math" panose="02040503050406030204" pitchFamily="18" charset="0"/>
                            </a:rPr>
                            <m:t>𝑠</m:t>
                          </m:r>
                          <m:r>
                            <a:rPr lang="zh-CN" altLang="en-US" sz="1200" i="0">
                              <a:latin typeface="Cambria Math" panose="02040503050406030204" pitchFamily="18" charset="0"/>
                            </a:rPr>
                            <m:t>1</m:t>
                          </m:r>
                        </m:sub>
                      </m:sSub>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1">
                              <a:latin typeface="Cambria Math" panose="02040503050406030204" pitchFamily="18" charset="0"/>
                            </a:rPr>
                            <m:t>𝑠</m:t>
                          </m:r>
                          <m:r>
                            <a:rPr lang="zh-CN" altLang="en-US" sz="1200" i="0">
                              <a:latin typeface="Cambria Math" panose="02040503050406030204" pitchFamily="18" charset="0"/>
                            </a:rPr>
                            <m:t>2</m:t>
                          </m:r>
                        </m:sub>
                      </m:sSub>
                      <m:r>
                        <a:rPr lang="zh-CN" altLang="en-US" sz="1200" i="0">
                          <a:latin typeface="Cambria Math" panose="02040503050406030204" pitchFamily="18" charset="0"/>
                        </a:rPr>
                        <m:t>(</m:t>
                      </m:r>
                      <m:r>
                        <a:rPr lang="zh-CN" altLang="en-US" sz="1200" i="1">
                          <a:latin typeface="Cambria Math" panose="02040503050406030204" pitchFamily="18" charset="0"/>
                        </a:rPr>
                        <m:t>𝜃</m:t>
                      </m:r>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e>
                        <m:sub>
                          <m:r>
                            <a:rPr lang="zh-CN" altLang="en-US" sz="1200" i="0">
                              <a:latin typeface="Cambria Math" panose="02040503050406030204" pitchFamily="18" charset="0"/>
                            </a:rPr>
                            <m:t>2</m:t>
                          </m:r>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1">
                              <a:latin typeface="Cambria Math" panose="02040503050406030204" pitchFamily="18" charset="0"/>
                            </a:rPr>
                            <m:t>𝑠𝑛</m:t>
                          </m:r>
                        </m:sub>
                      </m:sSub>
                      <m:r>
                        <a:rPr lang="zh-CN" altLang="en-US" sz="1200" i="0">
                          <a:latin typeface="Cambria Math" panose="02040503050406030204" pitchFamily="18" charset="0"/>
                        </a:rPr>
                        <m:t>(</m:t>
                      </m:r>
                      <m:r>
                        <a:rPr lang="zh-CN" altLang="en-US" sz="1200" i="1">
                          <a:latin typeface="Cambria Math" panose="02040503050406030204" pitchFamily="18" charset="0"/>
                        </a:rPr>
                        <m:t>𝜃</m:t>
                      </m:r>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e>
                        <m:sub>
                          <m:r>
                            <a:rPr lang="zh-CN" altLang="en-US" sz="1200" i="1">
                              <a:latin typeface="Cambria Math" panose="02040503050406030204" pitchFamily="18" charset="0"/>
                            </a:rPr>
                            <m:t>𝑛</m:t>
                          </m:r>
                        </m:sub>
                      </m:sSub>
                    </m:oMath>
                  </m:oMathPara>
                </a14:m>
                <a:endParaRPr lang="zh-CN" altLang="en-US" sz="1200" dirty="0"/>
              </a:p>
            </p:txBody>
          </p:sp>
        </mc:Choice>
        <mc:Fallback xmlns="">
          <p:sp>
            <p:nvSpPr>
              <p:cNvPr id="16" name="矩形 15"/>
              <p:cNvSpPr>
                <a:spLocks noRot="1" noChangeAspect="1" noMove="1" noResize="1" noEditPoints="1" noAdjustHandles="1" noChangeArrowheads="1" noChangeShapeType="1" noTextEdit="1"/>
              </p:cNvSpPr>
              <p:nvPr/>
            </p:nvSpPr>
            <p:spPr>
              <a:xfrm>
                <a:off x="2244977" y="3910446"/>
                <a:ext cx="2672463" cy="285591"/>
              </a:xfrm>
              <a:prstGeom prst="rect">
                <a:avLst/>
              </a:prstGeom>
              <a:blipFill>
                <a:blip r:embed="rId13"/>
                <a:stretch>
                  <a:fillRect b="-85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矩形 26"/>
              <p:cNvSpPr/>
              <p:nvPr/>
            </p:nvSpPr>
            <p:spPr>
              <a:xfrm>
                <a:off x="1708418" y="4288583"/>
                <a:ext cx="3352584" cy="10510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𝜈</m:t>
                          </m:r>
                        </m:e>
                        <m:sub>
                          <m:r>
                            <a:rPr lang="zh-CN" altLang="en-US" sz="1200" i="1">
                              <a:latin typeface="Cambria Math" panose="02040503050406030204" pitchFamily="18" charset="0"/>
                            </a:rPr>
                            <m:t>𝑠</m:t>
                          </m:r>
                        </m:sub>
                      </m:sSub>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3"/>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1">
                                        <a:latin typeface="Cambria Math" panose="02040503050406030204" pitchFamily="18" charset="0"/>
                                      </a:rPr>
                                      <m:t>𝑠</m:t>
                                    </m:r>
                                    <m:r>
                                      <a:rPr lang="zh-CN" altLang="en-US" sz="1200" i="0">
                                        <a:latin typeface="Cambria Math" panose="02040503050406030204" pitchFamily="18" charset="0"/>
                                      </a:rPr>
                                      <m:t>1</m:t>
                                    </m:r>
                                  </m:sub>
                                </m:sSub>
                              </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1">
                                        <a:latin typeface="Cambria Math" panose="02040503050406030204" pitchFamily="18" charset="0"/>
                                      </a:rPr>
                                      <m:t>𝑠</m:t>
                                    </m:r>
                                    <m:r>
                                      <a:rPr lang="zh-CN" altLang="en-US" sz="1200" i="0">
                                        <a:latin typeface="Cambria Math" panose="02040503050406030204" pitchFamily="18" charset="0"/>
                                      </a:rPr>
                                      <m:t>2</m:t>
                                    </m:r>
                                  </m:sub>
                                </m:sSub>
                                <m:d>
                                  <m:dPr>
                                    <m:ctrlPr>
                                      <a:rPr lang="zh-CN" altLang="en-US" sz="1200" i="1">
                                        <a:latin typeface="Cambria Math" panose="02040503050406030204" pitchFamily="18" charset="0"/>
                                      </a:rPr>
                                    </m:ctrlPr>
                                  </m:dPr>
                                  <m:e>
                                    <m:r>
                                      <a:rPr lang="zh-CN" altLang="en-US" sz="1200" i="1">
                                        <a:latin typeface="Cambria Math" panose="02040503050406030204" pitchFamily="18" charset="0"/>
                                      </a:rPr>
                                      <m:t>𝜃</m:t>
                                    </m:r>
                                  </m:e>
                                </m:d>
                              </m:e>
                              <m:e>
                                <m:m>
                                  <m:mPr>
                                    <m:mcs>
                                      <m:mc>
                                        <m:mcPr>
                                          <m:count m:val="2"/>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m:t>
                                      </m:r>
                                    </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1">
                                              <a:latin typeface="Cambria Math" panose="02040503050406030204" pitchFamily="18" charset="0"/>
                                            </a:rPr>
                                            <m:t>𝑠𝑛</m:t>
                                          </m:r>
                                        </m:sub>
                                      </m:sSub>
                                      <m:d>
                                        <m:dPr>
                                          <m:ctrlPr>
                                            <a:rPr lang="zh-CN" altLang="en-US" sz="1200" i="1">
                                              <a:latin typeface="Cambria Math" panose="02040503050406030204" pitchFamily="18" charset="0"/>
                                            </a:rPr>
                                          </m:ctrlPr>
                                        </m:dPr>
                                        <m:e>
                                          <m:r>
                                            <a:rPr lang="zh-CN" altLang="en-US" sz="1200" i="1">
                                              <a:latin typeface="Cambria Math" panose="02040503050406030204" pitchFamily="18" charset="0"/>
                                            </a:rPr>
                                            <m:t>𝜃</m:t>
                                          </m:r>
                                        </m:e>
                                      </m:d>
                                    </m:e>
                                  </m:mr>
                                </m:m>
                              </m:e>
                            </m:mr>
                          </m:m>
                        </m:e>
                      </m:d>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e>
                                  <m:sub>
                                    <m:r>
                                      <a:rPr lang="zh-CN" altLang="en-US" sz="1200" i="0">
                                        <a:latin typeface="Cambria Math" panose="02040503050406030204" pitchFamily="18" charset="0"/>
                                      </a:rPr>
                                      <m:t>1</m:t>
                                    </m:r>
                                  </m:sub>
                                </m:sSub>
                              </m:e>
                            </m:mr>
                            <m:mr>
                              <m:e>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e>
                                  <m:sub>
                                    <m:r>
                                      <a:rPr lang="zh-CN" altLang="en-US" sz="1200" i="0">
                                        <a:latin typeface="Cambria Math" panose="02040503050406030204" pitchFamily="18" charset="0"/>
                                      </a:rPr>
                                      <m:t>2</m:t>
                                    </m:r>
                                  </m:sub>
                                </m:sSub>
                              </m:e>
                            </m:mr>
                            <m:mr>
                              <m:e>
                                <m:m>
                                  <m:mPr>
                                    <m:mcs>
                                      <m:mc>
                                        <m:mcPr>
                                          <m:count m:val="1"/>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m:t>
                                      </m:r>
                                    </m:e>
                                  </m:mr>
                                  <m:mr>
                                    <m:e>
                                      <m:sSub>
                                        <m:sSubPr>
                                          <m:ctrlPr>
                                            <a:rPr lang="zh-CN" altLang="en-US" sz="1200" i="1">
                                              <a:latin typeface="Cambria Math" panose="02040503050406030204" pitchFamily="18" charset="0"/>
                                            </a:rPr>
                                          </m:ctrlPr>
                                        </m:sSubPr>
                                        <m:e>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𝜃</m:t>
                                              </m:r>
                                            </m:e>
                                          </m:acc>
                                        </m:e>
                                        <m:sub>
                                          <m:r>
                                            <a:rPr lang="zh-CN" altLang="en-US" sz="1200" i="1">
                                              <a:latin typeface="Cambria Math" panose="02040503050406030204" pitchFamily="18" charset="0"/>
                                            </a:rPr>
                                            <m:t>𝑛</m:t>
                                          </m:r>
                                        </m:sub>
                                      </m:sSub>
                                    </m:e>
                                  </m:mr>
                                </m:m>
                              </m:e>
                            </m:mr>
                          </m:m>
                        </m:e>
                      </m:d>
                      <m:r>
                        <a:rPr lang="en-US" altLang="zh-CN" sz="1200" i="1">
                          <a:latin typeface="Cambria Math" panose="02040503050406030204" pitchFamily="18" charset="0"/>
                        </a:rPr>
                        <m:t>=</m:t>
                      </m:r>
                      <m:sSub>
                        <m:sSubPr>
                          <m:ctrlPr>
                            <a:rPr lang="zh-CN" altLang="zh-CN" sz="1200" i="1">
                              <a:latin typeface="Cambria Math" panose="02040503050406030204" pitchFamily="18" charset="0"/>
                            </a:rPr>
                          </m:ctrlPr>
                        </m:sSubPr>
                        <m:e>
                          <m:r>
                            <a:rPr lang="en-US" altLang="zh-CN" sz="1200" i="1">
                              <a:latin typeface="Cambria Math" panose="02040503050406030204" pitchFamily="18" charset="0"/>
                            </a:rPr>
                            <m:t>𝐽</m:t>
                          </m:r>
                        </m:e>
                        <m:sub>
                          <m:r>
                            <a:rPr lang="en-US" altLang="zh-CN" sz="1200" i="1">
                              <a:latin typeface="Cambria Math" panose="02040503050406030204" pitchFamily="18" charset="0"/>
                            </a:rPr>
                            <m:t>𝑠</m:t>
                          </m:r>
                        </m:sub>
                      </m:sSub>
                      <m:d>
                        <m:dPr>
                          <m:ctrlPr>
                            <a:rPr lang="zh-CN" altLang="zh-CN" sz="1200" i="1">
                              <a:latin typeface="Cambria Math" panose="02040503050406030204" pitchFamily="18" charset="0"/>
                            </a:rPr>
                          </m:ctrlPr>
                        </m:dPr>
                        <m:e>
                          <m:r>
                            <a:rPr lang="en-US" altLang="zh-CN" sz="1200" i="1">
                              <a:latin typeface="Cambria Math" panose="02040503050406030204" pitchFamily="18" charset="0"/>
                            </a:rPr>
                            <m:t>𝜃</m:t>
                          </m:r>
                        </m:e>
                      </m:d>
                      <m:acc>
                        <m:accPr>
                          <m:chr m:val="̇"/>
                          <m:ctrlPr>
                            <a:rPr lang="zh-CN" altLang="zh-CN" sz="1200" i="1">
                              <a:latin typeface="Cambria Math" panose="02040503050406030204" pitchFamily="18" charset="0"/>
                            </a:rPr>
                          </m:ctrlPr>
                        </m:accPr>
                        <m:e>
                          <m:r>
                            <a:rPr lang="en-US" altLang="zh-CN" sz="1200" i="1">
                              <a:latin typeface="Cambria Math" panose="02040503050406030204" pitchFamily="18" charset="0"/>
                            </a:rPr>
                            <m:t>𝜃</m:t>
                          </m:r>
                        </m:e>
                      </m:acc>
                    </m:oMath>
                  </m:oMathPara>
                </a14:m>
                <a:endParaRPr lang="zh-CN" altLang="zh-CN" sz="1200" dirty="0"/>
              </a:p>
              <a:p>
                <a:endParaRPr lang="zh-CN" altLang="en-US" sz="1200" dirty="0"/>
              </a:p>
            </p:txBody>
          </p:sp>
        </mc:Choice>
        <mc:Fallback xmlns="">
          <p:sp>
            <p:nvSpPr>
              <p:cNvPr id="27" name="矩形 26"/>
              <p:cNvSpPr>
                <a:spLocks noRot="1" noChangeAspect="1" noMove="1" noResize="1" noEditPoints="1" noAdjustHandles="1" noChangeArrowheads="1" noChangeShapeType="1" noTextEdit="1"/>
              </p:cNvSpPr>
              <p:nvPr/>
            </p:nvSpPr>
            <p:spPr>
              <a:xfrm>
                <a:off x="1708418" y="4288583"/>
                <a:ext cx="3352584" cy="1051057"/>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矩形 27"/>
              <p:cNvSpPr/>
              <p:nvPr/>
            </p:nvSpPr>
            <p:spPr>
              <a:xfrm>
                <a:off x="4984847" y="4518281"/>
                <a:ext cx="2251449" cy="36740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𝐽</m:t>
                              </m:r>
                            </m:e>
                            <m:sub>
                              <m:r>
                                <a:rPr lang="zh-CN" altLang="en-US" sz="1200" i="1">
                                  <a:latin typeface="Cambria Math" panose="02040503050406030204" pitchFamily="18" charset="0"/>
                                </a:rPr>
                                <m:t>𝑠𝑖</m:t>
                              </m:r>
                            </m:sub>
                          </m:sSub>
                          <m:d>
                            <m:dPr>
                              <m:ctrlPr>
                                <a:rPr lang="zh-CN" altLang="en-US" sz="1200" i="1">
                                  <a:latin typeface="Cambria Math" panose="02040503050406030204" pitchFamily="18" charset="0"/>
                                </a:rPr>
                              </m:ctrlPr>
                            </m:dPr>
                            <m:e>
                              <m:r>
                                <a:rPr lang="zh-CN" altLang="en-US" sz="1200" i="1">
                                  <a:latin typeface="Cambria Math" panose="02040503050406030204" pitchFamily="18" charset="0"/>
                                </a:rPr>
                                <m:t>𝜃</m:t>
                              </m:r>
                            </m:e>
                          </m:d>
                          <m:r>
                            <a:rPr lang="zh-CN" altLang="en-US" sz="1200" i="0">
                              <a:latin typeface="Cambria Math" panose="02040503050406030204" pitchFamily="18" charset="0"/>
                            </a:rPr>
                            <m:t>=</m:t>
                          </m:r>
                          <m:r>
                            <a:rPr lang="zh-CN" altLang="en-US" sz="1200" i="1">
                              <a:latin typeface="Cambria Math" panose="02040503050406030204" pitchFamily="18" charset="0"/>
                            </a:rPr>
                            <m:t>𝐴</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𝑑</m:t>
                              </m:r>
                            </m:e>
                            <m:sub>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𝑒</m:t>
                                  </m:r>
                                </m:e>
                                <m:sup>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ξ</m:t>
                                          </m:r>
                                        </m:e>
                                        <m:sub>
                                          <m:r>
                                            <a:rPr lang="zh-CN" altLang="en-US" sz="1200" i="0">
                                              <a:latin typeface="Cambria Math" panose="02040503050406030204" pitchFamily="18" charset="0"/>
                                            </a:rPr>
                                            <m:t>1</m:t>
                                          </m:r>
                                        </m:sub>
                                      </m:sSub>
                                    </m:e>
                                  </m:d>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θ</m:t>
                                      </m:r>
                                    </m:e>
                                    <m:sub>
                                      <m:r>
                                        <a:rPr lang="zh-CN" altLang="en-US" sz="1200" i="0">
                                          <a:latin typeface="Cambria Math" panose="02040503050406030204" pitchFamily="18" charset="0"/>
                                        </a:rPr>
                                        <m:t>1</m:t>
                                      </m:r>
                                    </m:sub>
                                  </m:sSub>
                                </m:sup>
                              </m:sSup>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𝑒</m:t>
                                  </m:r>
                                </m:e>
                                <m:sup>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ξ</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e>
                                  </m:d>
                                  <m:sSub>
                                    <m:sSubPr>
                                      <m:ctrlPr>
                                        <a:rPr lang="zh-CN" altLang="en-US" sz="1200" i="1">
                                          <a:latin typeface="Cambria Math" panose="02040503050406030204" pitchFamily="18" charset="0"/>
                                        </a:rPr>
                                      </m:ctrlPr>
                                    </m:sSubPr>
                                    <m:e>
                                      <m:r>
                                        <m:rPr>
                                          <m:sty m:val="p"/>
                                        </m:rPr>
                                        <a:rPr lang="zh-CN" altLang="en-US" sz="1200" i="0">
                                          <a:latin typeface="Cambria Math" panose="02040503050406030204" pitchFamily="18" charset="0"/>
                                        </a:rPr>
                                        <m:t>θ</m:t>
                                      </m:r>
                                    </m:e>
                                    <m:sub>
                                      <m:r>
                                        <a:rPr lang="zh-CN" altLang="en-US" sz="1200" i="1">
                                          <a:latin typeface="Cambria Math" panose="02040503050406030204" pitchFamily="18" charset="0"/>
                                        </a:rPr>
                                        <m:t>𝑖</m:t>
                                      </m:r>
                                      <m:r>
                                        <a:rPr lang="zh-CN" altLang="en-US" sz="1200" i="0">
                                          <a:latin typeface="Cambria Math" panose="02040503050406030204" pitchFamily="18" charset="0"/>
                                        </a:rPr>
                                        <m:t>−1</m:t>
                                      </m:r>
                                    </m:sub>
                                  </m:sSub>
                                </m:sup>
                              </m:sSup>
                            </m:sub>
                          </m:sSub>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𝜉</m:t>
                              </m:r>
                            </m:e>
                            <m:sub>
                              <m:r>
                                <a:rPr lang="zh-CN" altLang="en-US" sz="1200" i="1">
                                  <a:latin typeface="Cambria Math" panose="02040503050406030204" pitchFamily="18" charset="0"/>
                                </a:rPr>
                                <m:t>𝑖</m:t>
                              </m:r>
                            </m:sub>
                          </m:sSub>
                        </m:e>
                      </m:d>
                    </m:oMath>
                  </m:oMathPara>
                </a14:m>
                <a:endParaRPr lang="zh-CN" altLang="en-US" sz="1200" dirty="0"/>
              </a:p>
            </p:txBody>
          </p:sp>
        </mc:Choice>
        <mc:Fallback xmlns="">
          <p:sp>
            <p:nvSpPr>
              <p:cNvPr id="28" name="矩形 27"/>
              <p:cNvSpPr>
                <a:spLocks noRot="1" noChangeAspect="1" noMove="1" noResize="1" noEditPoints="1" noAdjustHandles="1" noChangeArrowheads="1" noChangeShapeType="1" noTextEdit="1"/>
              </p:cNvSpPr>
              <p:nvPr/>
            </p:nvSpPr>
            <p:spPr>
              <a:xfrm>
                <a:off x="4984847" y="4518281"/>
                <a:ext cx="2251449" cy="367408"/>
              </a:xfrm>
              <a:prstGeom prst="rect">
                <a:avLst/>
              </a:prstGeom>
              <a:blipFill>
                <a:blip r:embed="rId15"/>
                <a:stretch>
                  <a:fillRect t="-151667" r="-22222" b="-228333"/>
                </a:stretch>
              </a:blipFill>
            </p:spPr>
            <p:txBody>
              <a:bodyPr/>
              <a:lstStyle/>
              <a:p>
                <a:r>
                  <a:rPr lang="zh-CN" altLang="en-US">
                    <a:noFill/>
                  </a:rPr>
                  <a:t> </a:t>
                </a:r>
              </a:p>
            </p:txBody>
          </p:sp>
        </mc:Fallback>
      </mc:AlternateContent>
      <p:sp>
        <p:nvSpPr>
          <p:cNvPr id="29" name="圆角矩形 28"/>
          <p:cNvSpPr/>
          <p:nvPr/>
        </p:nvSpPr>
        <p:spPr>
          <a:xfrm>
            <a:off x="1547664" y="4249405"/>
            <a:ext cx="5832648" cy="89409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4272036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236220" y="219075"/>
            <a:ext cx="5153660" cy="598805"/>
            <a:chOff x="-372" y="345"/>
            <a:chExt cx="8116" cy="943"/>
          </a:xfrm>
        </p:grpSpPr>
        <p:sp>
          <p:nvSpPr>
            <p:cNvPr id="39" name="矩形 3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Numerical Solutions for Inverse Kinematics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40" name="文本框 39"/>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逆运动学的数值求解</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41" name="椭圆 4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1116335" y="1151958"/>
            <a:ext cx="2448272" cy="584775"/>
          </a:xfrm>
          <a:prstGeom prst="rect">
            <a:avLst/>
          </a:prstGeom>
        </p:spPr>
        <p:txBody>
          <a:bodyPr wrap="square">
            <a:spAutoFit/>
          </a:bodyPr>
          <a:lstStyle/>
          <a:p>
            <a:r>
              <a:rPr lang="zh-CN" altLang="en-US" sz="1600" b="1" dirty="0">
                <a:solidFill>
                  <a:srgbClr val="002060"/>
                </a:solidFill>
              </a:rPr>
              <a:t>雅可比逆矩阵迭代法(Jacobian Inverse Method)</a:t>
            </a:r>
          </a:p>
        </p:txBody>
      </p:sp>
      <mc:AlternateContent xmlns:mc="http://schemas.openxmlformats.org/markup-compatibility/2006" xmlns:a14="http://schemas.microsoft.com/office/drawing/2010/main">
        <mc:Choice Requires="a14">
          <p:sp>
            <p:nvSpPr>
              <p:cNvPr id="6" name="矩形 5"/>
              <p:cNvSpPr/>
              <p:nvPr/>
            </p:nvSpPr>
            <p:spPr>
              <a:xfrm>
                <a:off x="1714453" y="2041731"/>
                <a:ext cx="1074653"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a:latin typeface="Cambria Math" panose="02040503050406030204" pitchFamily="18" charset="0"/>
                        </a:rPr>
                        <m:t>∆</m:t>
                      </m:r>
                      <m:r>
                        <a:rPr lang="zh-CN" altLang="en-US" sz="1600" i="1">
                          <a:latin typeface="Cambria Math" panose="02040503050406030204" pitchFamily="18" charset="0"/>
                        </a:rPr>
                        <m:t>𝑒</m:t>
                      </m:r>
                      <m:r>
                        <a:rPr lang="zh-CN" altLang="en-US" sz="1600" i="0">
                          <a:latin typeface="Cambria Math" panose="02040503050406030204" pitchFamily="18" charset="0"/>
                        </a:rPr>
                        <m:t>≈</m:t>
                      </m:r>
                      <m:r>
                        <a:rPr lang="zh-CN" altLang="en-US" sz="1600" i="1">
                          <a:latin typeface="Cambria Math" panose="02040503050406030204" pitchFamily="18" charset="0"/>
                        </a:rPr>
                        <m:t>𝐽</m:t>
                      </m:r>
                      <m:r>
                        <a:rPr lang="zh-CN" altLang="en-US" sz="1600" i="0">
                          <a:latin typeface="Cambria Math" panose="02040503050406030204" pitchFamily="18" charset="0"/>
                        </a:rPr>
                        <m:t>∆</m:t>
                      </m:r>
                      <m:r>
                        <a:rPr lang="zh-CN" altLang="en-US" sz="1600" i="1">
                          <a:latin typeface="Cambria Math" panose="02040503050406030204" pitchFamily="18" charset="0"/>
                        </a:rPr>
                        <m:t>𝑄</m:t>
                      </m:r>
                    </m:oMath>
                  </m:oMathPara>
                </a14:m>
                <a:endParaRPr lang="zh-CN" altLang="en-US" sz="1600" dirty="0"/>
              </a:p>
            </p:txBody>
          </p:sp>
        </mc:Choice>
        <mc:Fallback xmlns="">
          <p:sp>
            <p:nvSpPr>
              <p:cNvPr id="6" name="矩形 5"/>
              <p:cNvSpPr>
                <a:spLocks noRot="1" noChangeAspect="1" noMove="1" noResize="1" noEditPoints="1" noAdjustHandles="1" noChangeArrowheads="1" noChangeShapeType="1" noTextEdit="1"/>
              </p:cNvSpPr>
              <p:nvPr/>
            </p:nvSpPr>
            <p:spPr>
              <a:xfrm>
                <a:off x="1714453" y="2041731"/>
                <a:ext cx="1074653" cy="338554"/>
              </a:xfrm>
              <a:prstGeom prst="rect">
                <a:avLst/>
              </a:prstGeom>
              <a:blipFill>
                <a:blip r:embed="rId3"/>
                <a:stretch>
                  <a:fillRect b="-90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1701097" y="2405506"/>
                <a:ext cx="1278748"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a:latin typeface="Cambria Math" panose="02040503050406030204" pitchFamily="18" charset="0"/>
                        </a:rPr>
                        <m:t>∆</m:t>
                      </m:r>
                      <m:r>
                        <a:rPr lang="zh-CN" altLang="en-US" sz="1600" i="1">
                          <a:latin typeface="Cambria Math" panose="02040503050406030204" pitchFamily="18" charset="0"/>
                        </a:rPr>
                        <m:t>𝑄</m:t>
                      </m:r>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𝐽</m:t>
                          </m:r>
                        </m:e>
                        <m:sup>
                          <m:r>
                            <a:rPr lang="zh-CN" altLang="en-US" sz="1600" i="0">
                              <a:latin typeface="Cambria Math" panose="02040503050406030204" pitchFamily="18" charset="0"/>
                            </a:rPr>
                            <m:t>−1</m:t>
                          </m:r>
                        </m:sup>
                      </m:sSup>
                      <m:r>
                        <a:rPr lang="zh-CN" altLang="en-US" sz="1600" i="0">
                          <a:latin typeface="Cambria Math" panose="02040503050406030204" pitchFamily="18" charset="0"/>
                        </a:rPr>
                        <m:t>∆</m:t>
                      </m:r>
                      <m:r>
                        <a:rPr lang="zh-CN" altLang="en-US" sz="1600" i="1">
                          <a:latin typeface="Cambria Math" panose="02040503050406030204" pitchFamily="18" charset="0"/>
                        </a:rPr>
                        <m:t>𝑒</m:t>
                      </m:r>
                    </m:oMath>
                  </m:oMathPara>
                </a14:m>
                <a:endParaRPr lang="zh-CN" altLang="en-US" sz="1600" dirty="0"/>
              </a:p>
            </p:txBody>
          </p:sp>
        </mc:Choice>
        <mc:Fallback xmlns="">
          <p:sp>
            <p:nvSpPr>
              <p:cNvPr id="7" name="矩形 6"/>
              <p:cNvSpPr>
                <a:spLocks noRot="1" noChangeAspect="1" noMove="1" noResize="1" noEditPoints="1" noAdjustHandles="1" noChangeArrowheads="1" noChangeShapeType="1" noTextEdit="1"/>
              </p:cNvSpPr>
              <p:nvPr/>
            </p:nvSpPr>
            <p:spPr>
              <a:xfrm>
                <a:off x="1701097" y="2405506"/>
                <a:ext cx="1278748" cy="338554"/>
              </a:xfrm>
              <a:prstGeom prst="rect">
                <a:avLst/>
              </a:prstGeom>
              <a:blipFill>
                <a:blip r:embed="rId4"/>
                <a:stretch>
                  <a:fillRect b="-90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1296355" y="2877813"/>
                <a:ext cx="2088232" cy="846065"/>
              </a:xfrm>
              <a:prstGeom prst="rect">
                <a:avLst/>
              </a:prstGeom>
            </p:spPr>
            <p:txBody>
              <a:bodyPr wrap="square">
                <a:spAutoFit/>
              </a:bodyPr>
              <a:lstStyle/>
              <a:p>
                <a:r>
                  <a:rPr lang="zh-CN" altLang="zh-CN" sz="1200" dirty="0">
                    <a:ea typeface="等线" panose="02010600030101010101" pitchFamily="2" charset="-122"/>
                    <a:cs typeface="Times New Roman" panose="02020603050405020304" pitchFamily="18" charset="0"/>
                  </a:rPr>
                  <a:t>如果已知末端执行器的目标位姿</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𝑇</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𝑔</m:t>
                        </m:r>
                      </m:sub>
                    </m:sSub>
                  </m:oMath>
                </a14:m>
                <a:r>
                  <a:rPr lang="zh-CN" altLang="zh-CN" sz="1200" dirty="0">
                    <a:ea typeface="等线" panose="02010600030101010101" pitchFamily="2" charset="-122"/>
                    <a:cs typeface="Times New Roman" panose="02020603050405020304" pitchFamily="18" charset="0"/>
                  </a:rPr>
                  <a:t>，采用迭代法，我们可以求出各关节的运动变量</a:t>
                </a:r>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𝑄</m:t>
                    </m:r>
                  </m:oMath>
                </a14:m>
                <a:r>
                  <a:rPr lang="zh-CN" altLang="zh-CN" sz="1200" dirty="0">
                    <a:ea typeface="等线" panose="02010600030101010101" pitchFamily="2" charset="-122"/>
                    <a:cs typeface="Times New Roman" panose="02020603050405020304" pitchFamily="18" charset="0"/>
                  </a:rPr>
                  <a:t>。</a:t>
                </a:r>
                <a:endParaRPr lang="zh-CN" altLang="en-US" sz="1200" dirty="0"/>
              </a:p>
            </p:txBody>
          </p:sp>
        </mc:Choice>
        <mc:Fallback xmlns="">
          <p:sp>
            <p:nvSpPr>
              <p:cNvPr id="17" name="矩形 16"/>
              <p:cNvSpPr>
                <a:spLocks noRot="1" noChangeAspect="1" noMove="1" noResize="1" noEditPoints="1" noAdjustHandles="1" noChangeArrowheads="1" noChangeShapeType="1" noTextEdit="1"/>
              </p:cNvSpPr>
              <p:nvPr/>
            </p:nvSpPr>
            <p:spPr>
              <a:xfrm>
                <a:off x="1296355" y="2877813"/>
                <a:ext cx="2088232" cy="846065"/>
              </a:xfrm>
              <a:prstGeom prst="rect">
                <a:avLst/>
              </a:prstGeom>
              <a:blipFill>
                <a:blip r:embed="rId5"/>
                <a:stretch>
                  <a:fillRect l="-292" b="-50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3564607" y="437320"/>
                <a:ext cx="5297453" cy="3999365"/>
              </a:xfrm>
              <a:prstGeom prst="rect">
                <a:avLst/>
              </a:prstGeom>
            </p:spPr>
            <p:txBody>
              <a:bodyPr wrap="square">
                <a:spAutoFit/>
              </a:bodyPr>
              <a:lstStyle/>
              <a:p>
                <a:pPr indent="266700">
                  <a:spcBef>
                    <a:spcPts val="600"/>
                  </a:spcBef>
                  <a:spcAft>
                    <a:spcPts val="600"/>
                  </a:spcAft>
                </a:pPr>
                <a:r>
                  <a:rPr lang="zh-CN" altLang="zh-CN" sz="1200" dirty="0">
                    <a:latin typeface="宋体" panose="02010600030101010101" pitchFamily="2" charset="-122"/>
                    <a:cs typeface="宋体" panose="02010600030101010101" pitchFamily="2" charset="-122"/>
                  </a:rPr>
                  <a:t>算法步骤如下：</a:t>
                </a:r>
              </a:p>
              <a:p>
                <a:pPr indent="266700">
                  <a:spcBef>
                    <a:spcPts val="600"/>
                  </a:spcBef>
                  <a:spcAft>
                    <a:spcPts val="600"/>
                  </a:spcAft>
                </a:pPr>
                <a:r>
                  <a:rPr lang="en-US" altLang="zh-CN" sz="1200" dirty="0">
                    <a:latin typeface="宋体" panose="02010600030101010101" pitchFamily="2" charset="-122"/>
                    <a:cs typeface="宋体" panose="02010600030101010101" pitchFamily="2" charset="-122"/>
                  </a:rPr>
                  <a:t>1) </a:t>
                </a:r>
                <a:r>
                  <a:rPr lang="zh-CN" altLang="zh-CN" sz="1200" dirty="0">
                    <a:latin typeface="宋体" panose="02010600030101010101" pitchFamily="2" charset="-122"/>
                    <a:cs typeface="宋体" panose="02010600030101010101" pitchFamily="2" charset="-122"/>
                  </a:rPr>
                  <a:t>选择一个靠近目标位姿的初始假设位姿</a:t>
                </a:r>
                <a14:m>
                  <m:oMath xmlns:m="http://schemas.openxmlformats.org/officeDocument/2006/math">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𝑇</m:t>
                        </m:r>
                      </m:e>
                      <m:sub>
                        <m:r>
                          <a:rPr lang="en-US" altLang="zh-CN" sz="1200" i="1">
                            <a:latin typeface="Cambria Math" panose="02040503050406030204" pitchFamily="18" charset="0"/>
                            <a:cs typeface="宋体" panose="02010600030101010101" pitchFamily="2" charset="-122"/>
                          </a:rPr>
                          <m:t>0</m:t>
                        </m:r>
                      </m:sub>
                    </m:sSub>
                  </m:oMath>
                </a14:m>
                <a:r>
                  <a:rPr lang="en-US" altLang="zh-CN" sz="1200" dirty="0">
                    <a:latin typeface="宋体" panose="02010600030101010101" pitchFamily="2" charset="-122"/>
                    <a:cs typeface="宋体" panose="02010600030101010101" pitchFamily="2" charset="-122"/>
                  </a:rPr>
                  <a:t>=</a:t>
                </a:r>
                <a14:m>
                  <m:oMath xmlns:m="http://schemas.openxmlformats.org/officeDocument/2006/math">
                    <m:r>
                      <a:rPr lang="en-US" altLang="zh-CN" sz="1200" i="1">
                        <a:latin typeface="Cambria Math" panose="02040503050406030204" pitchFamily="18" charset="0"/>
                        <a:cs typeface="宋体" panose="02010600030101010101" pitchFamily="2" charset="-122"/>
                      </a:rPr>
                      <m:t>𝑓</m:t>
                    </m:r>
                    <m:r>
                      <a:rPr lang="en-US" altLang="zh-CN" sz="1200" i="1">
                        <a:latin typeface="Cambria Math" panose="02040503050406030204" pitchFamily="18" charset="0"/>
                        <a:cs typeface="宋体" panose="02010600030101010101" pitchFamily="2" charset="-122"/>
                      </a:rPr>
                      <m:t>(</m:t>
                    </m:r>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𝑄</m:t>
                        </m:r>
                      </m:e>
                      <m:sub>
                        <m:r>
                          <a:rPr lang="en-US" altLang="zh-CN" sz="1200" i="1">
                            <a:latin typeface="Cambria Math" panose="02040503050406030204" pitchFamily="18" charset="0"/>
                            <a:cs typeface="宋体" panose="02010600030101010101" pitchFamily="2" charset="-122"/>
                          </a:rPr>
                          <m:t>0</m:t>
                        </m:r>
                      </m:sub>
                    </m:sSub>
                    <m:r>
                      <a:rPr lang="en-US" altLang="zh-CN" sz="1200" i="1">
                        <a:latin typeface="Cambria Math" panose="02040503050406030204" pitchFamily="18" charset="0"/>
                        <a:cs typeface="宋体" panose="02010600030101010101" pitchFamily="2" charset="-122"/>
                      </a:rPr>
                      <m:t>)</m:t>
                    </m:r>
                  </m:oMath>
                </a14:m>
                <a:r>
                  <a:rPr lang="zh-CN" altLang="zh-CN" sz="1200" dirty="0">
                    <a:latin typeface="宋体" panose="02010600030101010101" pitchFamily="2" charset="-122"/>
                    <a:cs typeface="宋体" panose="02010600030101010101" pitchFamily="2" charset="-122"/>
                  </a:rPr>
                  <a:t>，令</a:t>
                </a:r>
                <a14:m>
                  <m:oMath xmlns:m="http://schemas.openxmlformats.org/officeDocument/2006/math">
                    <m:r>
                      <a:rPr lang="zh-CN" altLang="zh-CN" sz="1200" i="1">
                        <a:latin typeface="Cambria Math" panose="02040503050406030204" pitchFamily="18" charset="0"/>
                        <a:ea typeface="Cambria Math" panose="02040503050406030204" pitchFamily="18" charset="0"/>
                        <a:cs typeface="宋体" panose="02010600030101010101" pitchFamily="2" charset="-122"/>
                      </a:rPr>
                      <m:t> </m:t>
                    </m:r>
                    <m:r>
                      <a:rPr lang="en-US" altLang="zh-CN" sz="1200" i="1">
                        <a:latin typeface="Cambria Math" panose="02040503050406030204" pitchFamily="18" charset="0"/>
                        <a:ea typeface="Cambria Math" panose="02040503050406030204" pitchFamily="18" charset="0"/>
                        <a:cs typeface="宋体" panose="02010600030101010101" pitchFamily="2" charset="-122"/>
                      </a:rPr>
                      <m:t>𝑄</m:t>
                    </m:r>
                    <m:r>
                      <a:rPr lang="en-US" altLang="zh-CN" sz="1200" i="1">
                        <a:latin typeface="Cambria Math" panose="02040503050406030204" pitchFamily="18" charset="0"/>
                        <a:ea typeface="Cambria Math" panose="02040503050406030204" pitchFamily="18" charset="0"/>
                        <a:cs typeface="宋体" panose="02010600030101010101" pitchFamily="2" charset="-122"/>
                      </a:rPr>
                      <m:t>=</m:t>
                    </m:r>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𝑄</m:t>
                        </m:r>
                      </m:e>
                      <m:sub>
                        <m:r>
                          <a:rPr lang="en-US" altLang="zh-CN" sz="1200" i="1">
                            <a:latin typeface="Cambria Math" panose="02040503050406030204" pitchFamily="18" charset="0"/>
                            <a:cs typeface="宋体" panose="02010600030101010101" pitchFamily="2" charset="-122"/>
                          </a:rPr>
                          <m:t>0</m:t>
                        </m:r>
                      </m:sub>
                    </m:sSub>
                  </m:oMath>
                </a14:m>
                <a:r>
                  <a:rPr lang="zh-CN" altLang="zh-CN" sz="1200" dirty="0">
                    <a:latin typeface="宋体" panose="02010600030101010101" pitchFamily="2" charset="-122"/>
                    <a:cs typeface="宋体" panose="02010600030101010101" pitchFamily="2" charset="-122"/>
                  </a:rPr>
                  <a:t>。</a:t>
                </a:r>
              </a:p>
              <a:p>
                <a:pPr indent="266700">
                  <a:spcBef>
                    <a:spcPts val="600"/>
                  </a:spcBef>
                  <a:spcAft>
                    <a:spcPts val="600"/>
                  </a:spcAft>
                </a:pPr>
                <a:r>
                  <a:rPr lang="en-US" altLang="zh-CN" sz="1200" dirty="0">
                    <a:latin typeface="宋体" panose="02010600030101010101" pitchFamily="2" charset="-122"/>
                    <a:cs typeface="宋体" panose="02010600030101010101" pitchFamily="2" charset="-122"/>
                  </a:rPr>
                  <a:t>2) </a:t>
                </a:r>
                <a:r>
                  <a:rPr lang="zh-CN" altLang="zh-CN" sz="1200" dirty="0">
                    <a:latin typeface="宋体" panose="02010600030101010101" pitchFamily="2" charset="-122"/>
                    <a:cs typeface="宋体" panose="02010600030101010101" pitchFamily="2" charset="-122"/>
                  </a:rPr>
                  <a:t>选取假设位姿</a:t>
                </a:r>
                <a14:m>
                  <m:oMath xmlns:m="http://schemas.openxmlformats.org/officeDocument/2006/math">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𝑇</m:t>
                        </m:r>
                      </m:e>
                      <m:sub>
                        <m:r>
                          <a:rPr lang="en-US" altLang="zh-CN" sz="1200" i="1">
                            <a:latin typeface="Cambria Math" panose="02040503050406030204" pitchFamily="18" charset="0"/>
                            <a:cs typeface="宋体" panose="02010600030101010101" pitchFamily="2" charset="-122"/>
                          </a:rPr>
                          <m:t>𝑞</m:t>
                        </m:r>
                      </m:sub>
                    </m:sSub>
                  </m:oMath>
                </a14:m>
                <a:r>
                  <a:rPr lang="zh-CN" altLang="zh-CN" sz="1200" dirty="0">
                    <a:latin typeface="宋体" panose="02010600030101010101" pitchFamily="2" charset="-122"/>
                    <a:cs typeface="宋体" panose="02010600030101010101" pitchFamily="2" charset="-122"/>
                  </a:rPr>
                  <a:t>与目标位姿</a:t>
                </a:r>
                <a14:m>
                  <m:oMath xmlns:m="http://schemas.openxmlformats.org/officeDocument/2006/math">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𝑇</m:t>
                        </m:r>
                      </m:e>
                      <m:sub>
                        <m:r>
                          <a:rPr lang="en-US" altLang="zh-CN" sz="1200" i="1">
                            <a:latin typeface="Cambria Math" panose="02040503050406030204" pitchFamily="18" charset="0"/>
                            <a:cs typeface="宋体" panose="02010600030101010101" pitchFamily="2" charset="-122"/>
                          </a:rPr>
                          <m:t>𝑔</m:t>
                        </m:r>
                      </m:sub>
                    </m:sSub>
                  </m:oMath>
                </a14:m>
                <a:r>
                  <a:rPr lang="zh-CN" altLang="zh-CN" sz="1200" dirty="0">
                    <a:latin typeface="宋体" panose="02010600030101010101" pitchFamily="2" charset="-122"/>
                    <a:cs typeface="宋体" panose="02010600030101010101" pitchFamily="2" charset="-122"/>
                  </a:rPr>
                  <a:t>之间的微小运动步长：</a:t>
                </a:r>
              </a:p>
              <a:p>
                <a:pPr indent="266700">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200" i="1">
                          <a:latin typeface="Cambria Math" panose="02040503050406030204" pitchFamily="18" charset="0"/>
                          <a:cs typeface="宋体" panose="02010600030101010101" pitchFamily="2" charset="-122"/>
                        </a:rPr>
                        <m:t>∆</m:t>
                      </m:r>
                      <m:r>
                        <a:rPr lang="en-US" altLang="zh-CN" sz="1200" i="1">
                          <a:latin typeface="Cambria Math" panose="02040503050406030204" pitchFamily="18" charset="0"/>
                          <a:cs typeface="宋体" panose="02010600030101010101" pitchFamily="2" charset="-122"/>
                        </a:rPr>
                        <m:t>𝑒</m:t>
                      </m:r>
                      <m:r>
                        <a:rPr lang="en-US" altLang="zh-CN" sz="1200" i="1">
                          <a:latin typeface="Cambria Math" panose="02040503050406030204" pitchFamily="18" charset="0"/>
                          <a:cs typeface="宋体" panose="02010600030101010101" pitchFamily="2" charset="-122"/>
                        </a:rPr>
                        <m:t>=</m:t>
                      </m:r>
                      <m:r>
                        <a:rPr lang="en-US" altLang="zh-CN" sz="1200" i="1">
                          <a:latin typeface="Cambria Math" panose="02040503050406030204" pitchFamily="18" charset="0"/>
                          <a:cs typeface="宋体" panose="02010600030101010101" pitchFamily="2" charset="-122"/>
                        </a:rPr>
                        <m:t>𝛽</m:t>
                      </m:r>
                      <m:r>
                        <a:rPr lang="en-US" altLang="zh-CN" sz="1200" i="1">
                          <a:latin typeface="Cambria Math" panose="02040503050406030204" pitchFamily="18" charset="0"/>
                          <a:cs typeface="宋体" panose="02010600030101010101" pitchFamily="2" charset="-122"/>
                        </a:rPr>
                        <m:t>(</m:t>
                      </m:r>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𝑇</m:t>
                          </m:r>
                        </m:e>
                        <m:sub>
                          <m:r>
                            <a:rPr lang="en-US" altLang="zh-CN" sz="1200" i="1">
                              <a:latin typeface="Cambria Math" panose="02040503050406030204" pitchFamily="18" charset="0"/>
                              <a:cs typeface="宋体" panose="02010600030101010101" pitchFamily="2" charset="-122"/>
                            </a:rPr>
                            <m:t>𝑔</m:t>
                          </m:r>
                        </m:sub>
                      </m:sSub>
                      <m:r>
                        <a:rPr lang="en-US" altLang="zh-CN" sz="1200" i="1">
                          <a:latin typeface="Cambria Math" panose="02040503050406030204" pitchFamily="18" charset="0"/>
                          <a:cs typeface="宋体" panose="02010600030101010101" pitchFamily="2" charset="-122"/>
                        </a:rPr>
                        <m:t>−</m:t>
                      </m:r>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𝑇</m:t>
                          </m:r>
                        </m:e>
                        <m:sub>
                          <m:r>
                            <a:rPr lang="en-US" altLang="zh-CN" sz="1200" i="1">
                              <a:latin typeface="Cambria Math" panose="02040503050406030204" pitchFamily="18" charset="0"/>
                              <a:cs typeface="宋体" panose="02010600030101010101" pitchFamily="2" charset="-122"/>
                            </a:rPr>
                            <m:t>𝑞</m:t>
                          </m:r>
                        </m:sub>
                      </m:sSub>
                      <m:r>
                        <a:rPr lang="en-US" altLang="zh-CN" sz="1200" i="1">
                          <a:latin typeface="Cambria Math" panose="02040503050406030204" pitchFamily="18" charset="0"/>
                          <a:cs typeface="宋体" panose="02010600030101010101" pitchFamily="2" charset="-122"/>
                        </a:rPr>
                        <m:t>)</m:t>
                      </m:r>
                    </m:oMath>
                  </m:oMathPara>
                </a14:m>
                <a:endParaRPr lang="zh-CN" altLang="zh-CN" sz="1200" dirty="0">
                  <a:latin typeface="宋体" panose="02010600030101010101" pitchFamily="2" charset="-122"/>
                  <a:cs typeface="宋体" panose="02010600030101010101" pitchFamily="2" charset="-122"/>
                </a:endParaRPr>
              </a:p>
              <a:p>
                <a:pPr indent="266700">
                  <a:spcBef>
                    <a:spcPts val="600"/>
                  </a:spcBef>
                  <a:spcAft>
                    <a:spcPts val="600"/>
                  </a:spcAft>
                </a:pPr>
                <a:r>
                  <a:rPr lang="zh-CN" altLang="zh-CN" sz="1200" dirty="0">
                    <a:latin typeface="宋体" panose="02010600030101010101" pitchFamily="2" charset="-122"/>
                    <a:cs typeface="宋体" panose="02010600030101010101" pitchFamily="2" charset="-122"/>
                  </a:rPr>
                  <a:t>式中</a:t>
                </a:r>
                <a14:m>
                  <m:oMath xmlns:m="http://schemas.openxmlformats.org/officeDocument/2006/math">
                    <m:r>
                      <a:rPr lang="en-US" altLang="zh-CN" sz="1200" i="1">
                        <a:latin typeface="Cambria Math" panose="02040503050406030204" pitchFamily="18" charset="0"/>
                        <a:cs typeface="宋体" panose="02010600030101010101" pitchFamily="2" charset="-122"/>
                      </a:rPr>
                      <m:t>0≤</m:t>
                    </m:r>
                    <m:r>
                      <a:rPr lang="en-US" altLang="zh-CN" sz="1200" i="1">
                        <a:latin typeface="Cambria Math" panose="02040503050406030204" pitchFamily="18" charset="0"/>
                        <a:cs typeface="宋体" panose="02010600030101010101" pitchFamily="2" charset="-122"/>
                      </a:rPr>
                      <m:t>𝛽</m:t>
                    </m:r>
                    <m:r>
                      <a:rPr lang="en-US" altLang="zh-CN" sz="1200" i="1">
                        <a:latin typeface="Cambria Math" panose="02040503050406030204" pitchFamily="18" charset="0"/>
                        <a:cs typeface="宋体" panose="02010600030101010101" pitchFamily="2" charset="-122"/>
                      </a:rPr>
                      <m:t>≤1</m:t>
                    </m:r>
                  </m:oMath>
                </a14:m>
                <a:r>
                  <a:rPr lang="zh-CN" altLang="zh-CN" sz="1200" dirty="0">
                    <a:latin typeface="宋体" panose="02010600030101010101" pitchFamily="2" charset="-122"/>
                    <a:cs typeface="宋体" panose="02010600030101010101" pitchFamily="2" charset="-122"/>
                  </a:rPr>
                  <a:t>，</a:t>
                </a:r>
                <a14:m>
                  <m:oMath xmlns:m="http://schemas.openxmlformats.org/officeDocument/2006/math">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𝑇</m:t>
                        </m:r>
                      </m:e>
                      <m:sub>
                        <m:r>
                          <a:rPr lang="en-US" altLang="zh-CN" sz="1200" i="1">
                            <a:latin typeface="Cambria Math" panose="02040503050406030204" pitchFamily="18" charset="0"/>
                            <a:cs typeface="宋体" panose="02010600030101010101" pitchFamily="2" charset="-122"/>
                          </a:rPr>
                          <m:t>𝑞</m:t>
                        </m:r>
                      </m:sub>
                    </m:sSub>
                  </m:oMath>
                </a14:m>
                <a:r>
                  <a:rPr lang="en-US" altLang="zh-CN" sz="1200" dirty="0">
                    <a:latin typeface="宋体" panose="02010600030101010101" pitchFamily="2" charset="-122"/>
                    <a:cs typeface="宋体" panose="02010600030101010101" pitchFamily="2" charset="-122"/>
                  </a:rPr>
                  <a:t>=</a:t>
                </a:r>
                <a14:m>
                  <m:oMath xmlns:m="http://schemas.openxmlformats.org/officeDocument/2006/math">
                    <m:r>
                      <a:rPr lang="en-US" altLang="zh-CN" sz="1200" i="1">
                        <a:latin typeface="Cambria Math" panose="02040503050406030204" pitchFamily="18" charset="0"/>
                        <a:cs typeface="宋体" panose="02010600030101010101" pitchFamily="2" charset="-122"/>
                      </a:rPr>
                      <m:t>𝑓</m:t>
                    </m:r>
                    <m:r>
                      <a:rPr lang="en-US" altLang="zh-CN" sz="1200" i="1">
                        <a:latin typeface="Cambria Math" panose="02040503050406030204" pitchFamily="18" charset="0"/>
                        <a:cs typeface="宋体" panose="02010600030101010101" pitchFamily="2" charset="-122"/>
                      </a:rPr>
                      <m:t>( </m:t>
                    </m:r>
                    <m:r>
                      <a:rPr lang="en-US" altLang="zh-CN" sz="1200" i="1">
                        <a:latin typeface="Cambria Math" panose="02040503050406030204" pitchFamily="18" charset="0"/>
                        <a:cs typeface="宋体" panose="02010600030101010101" pitchFamily="2" charset="-122"/>
                      </a:rPr>
                      <m:t>𝑄</m:t>
                    </m:r>
                    <m:r>
                      <a:rPr lang="en-US" altLang="zh-CN" sz="1200" i="1">
                        <a:latin typeface="Cambria Math" panose="02040503050406030204" pitchFamily="18" charset="0"/>
                        <a:cs typeface="宋体" panose="02010600030101010101" pitchFamily="2" charset="-122"/>
                      </a:rPr>
                      <m:t>)</m:t>
                    </m:r>
                  </m:oMath>
                </a14:m>
                <a:r>
                  <a:rPr lang="zh-CN" altLang="zh-CN" sz="1200" dirty="0">
                    <a:latin typeface="宋体" panose="02010600030101010101" pitchFamily="2" charset="-122"/>
                    <a:cs typeface="宋体" panose="02010600030101010101" pitchFamily="2" charset="-122"/>
                  </a:rPr>
                  <a:t>，</a:t>
                </a:r>
                <a14:m>
                  <m:oMath xmlns:m="http://schemas.openxmlformats.org/officeDocument/2006/math">
                    <m:r>
                      <a:rPr lang="en-US" altLang="zh-CN" sz="1200" i="1">
                        <a:latin typeface="Cambria Math" panose="02040503050406030204" pitchFamily="18" charset="0"/>
                        <a:cs typeface="宋体" panose="02010600030101010101" pitchFamily="2" charset="-122"/>
                      </a:rPr>
                      <m:t>𝑓</m:t>
                    </m:r>
                  </m:oMath>
                </a14:m>
                <a:r>
                  <a:rPr lang="zh-CN" altLang="zh-CN" sz="1200" dirty="0">
                    <a:latin typeface="宋体" panose="02010600030101010101" pitchFamily="2" charset="-122"/>
                    <a:cs typeface="宋体" panose="02010600030101010101" pitchFamily="2" charset="-122"/>
                  </a:rPr>
                  <a:t>为正运动学函数。</a:t>
                </a:r>
              </a:p>
              <a:p>
                <a:pPr indent="266700">
                  <a:spcBef>
                    <a:spcPts val="600"/>
                  </a:spcBef>
                  <a:spcAft>
                    <a:spcPts val="600"/>
                  </a:spcAft>
                </a:pPr>
                <a:r>
                  <a:rPr lang="en-US" altLang="zh-CN" sz="1200" dirty="0">
                    <a:latin typeface="宋体" panose="02010600030101010101" pitchFamily="2" charset="-122"/>
                    <a:cs typeface="宋体" panose="02010600030101010101" pitchFamily="2" charset="-122"/>
                  </a:rPr>
                  <a:t>3) </a:t>
                </a:r>
                <a:r>
                  <a:rPr lang="zh-CN" altLang="zh-CN" sz="1200" dirty="0">
                    <a:latin typeface="宋体" panose="02010600030101010101" pitchFamily="2" charset="-122"/>
                    <a:cs typeface="宋体" panose="02010600030101010101" pitchFamily="2" charset="-122"/>
                  </a:rPr>
                  <a:t>采用雅可比矩阵矢量积求法计算雅可比矩阵</a:t>
                </a:r>
                <a14:m>
                  <m:oMath xmlns:m="http://schemas.openxmlformats.org/officeDocument/2006/math">
                    <m:r>
                      <a:rPr lang="en-US" altLang="zh-CN" sz="1200" i="1">
                        <a:latin typeface="Cambria Math" panose="02040503050406030204" pitchFamily="18" charset="0"/>
                        <a:cs typeface="宋体" panose="02010600030101010101" pitchFamily="2" charset="-122"/>
                      </a:rPr>
                      <m:t>𝐽</m:t>
                    </m:r>
                  </m:oMath>
                </a14:m>
                <a:r>
                  <a:rPr lang="zh-CN" altLang="zh-CN" sz="1200" dirty="0">
                    <a:latin typeface="宋体" panose="02010600030101010101" pitchFamily="2" charset="-122"/>
                    <a:cs typeface="宋体" panose="02010600030101010101" pitchFamily="2" charset="-122"/>
                  </a:rPr>
                  <a:t>及雅可比逆矩阵</a:t>
                </a:r>
                <a14:m>
                  <m:oMath xmlns:m="http://schemas.openxmlformats.org/officeDocument/2006/math">
                    <m:sSup>
                      <m:sSup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200" i="1">
                            <a:latin typeface="Cambria Math" panose="02040503050406030204" pitchFamily="18" charset="0"/>
                            <a:cs typeface="宋体" panose="02010600030101010101" pitchFamily="2" charset="-122"/>
                          </a:rPr>
                          <m:t>𝐽</m:t>
                        </m:r>
                      </m:e>
                      <m:sup>
                        <m:r>
                          <a:rPr lang="zh-CN" altLang="en-US" sz="1200" i="1">
                            <a:latin typeface="Cambria Math" panose="02040503050406030204" pitchFamily="18" charset="0"/>
                            <a:ea typeface="微软雅黑" panose="020B0503020204020204" pitchFamily="34" charset="-122"/>
                            <a:cs typeface="微软雅黑" panose="020B0503020204020204" pitchFamily="34" charset="-122"/>
                          </a:rPr>
                          <m:t>−</m:t>
                        </m:r>
                        <m:r>
                          <a:rPr lang="en-US" altLang="zh-CN" sz="1200" i="1">
                            <a:latin typeface="Cambria Math" panose="02040503050406030204" pitchFamily="18" charset="0"/>
                            <a:cs typeface="宋体" panose="02010600030101010101" pitchFamily="2" charset="-122"/>
                          </a:rPr>
                          <m:t>1</m:t>
                        </m:r>
                      </m:sup>
                    </m:sSup>
                  </m:oMath>
                </a14:m>
                <a:r>
                  <a:rPr lang="zh-CN" altLang="zh-CN" sz="1200" dirty="0">
                    <a:latin typeface="宋体" panose="02010600030101010101" pitchFamily="2" charset="-122"/>
                    <a:cs typeface="宋体" panose="02010600030101010101" pitchFamily="2" charset="-122"/>
                  </a:rPr>
                  <a:t>。</a:t>
                </a:r>
              </a:p>
              <a:p>
                <a:pPr indent="266700">
                  <a:spcBef>
                    <a:spcPts val="600"/>
                  </a:spcBef>
                  <a:spcAft>
                    <a:spcPts val="600"/>
                  </a:spcAft>
                </a:pPr>
                <a:r>
                  <a:rPr lang="en-US" altLang="zh-CN" sz="1200" dirty="0">
                    <a:latin typeface="宋体" panose="02010600030101010101" pitchFamily="2" charset="-122"/>
                    <a:cs typeface="宋体" panose="02010600030101010101" pitchFamily="2" charset="-122"/>
                  </a:rPr>
                  <a:t>4) </a:t>
                </a:r>
                <a:r>
                  <a:rPr lang="zh-CN" altLang="zh-CN" sz="1200" dirty="0">
                    <a:latin typeface="宋体" panose="02010600030101010101" pitchFamily="2" charset="-122"/>
                    <a:cs typeface="宋体" panose="02010600030101010101" pitchFamily="2" charset="-122"/>
                  </a:rPr>
                  <a:t>计算</a:t>
                </a:r>
                <a14:m>
                  <m:oMath xmlns:m="http://schemas.openxmlformats.org/officeDocument/2006/math">
                    <m:r>
                      <a:rPr lang="en-US" altLang="zh-CN" sz="1200" i="1">
                        <a:latin typeface="Cambria Math" panose="02040503050406030204" pitchFamily="18" charset="0"/>
                        <a:cs typeface="宋体" panose="02010600030101010101" pitchFamily="2" charset="-122"/>
                      </a:rPr>
                      <m:t>∆</m:t>
                    </m:r>
                    <m:r>
                      <a:rPr lang="en-US" altLang="zh-CN" sz="1200" i="1">
                        <a:latin typeface="Cambria Math" panose="02040503050406030204" pitchFamily="18" charset="0"/>
                        <a:cs typeface="宋体" panose="02010600030101010101" pitchFamily="2" charset="-122"/>
                      </a:rPr>
                      <m:t>𝑄</m:t>
                    </m:r>
                  </m:oMath>
                </a14:m>
                <a:r>
                  <a:rPr lang="zh-CN" altLang="zh-CN" sz="1200" dirty="0">
                    <a:latin typeface="宋体" panose="02010600030101010101" pitchFamily="2" charset="-122"/>
                    <a:cs typeface="宋体" panose="02010600030101010101" pitchFamily="2" charset="-122"/>
                  </a:rPr>
                  <a:t>：</a:t>
                </a:r>
              </a:p>
              <a:p>
                <a:pPr indent="266700">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200" i="1">
                          <a:latin typeface="Cambria Math" panose="02040503050406030204" pitchFamily="18" charset="0"/>
                          <a:cs typeface="宋体" panose="02010600030101010101" pitchFamily="2" charset="-122"/>
                        </a:rPr>
                        <m:t>∆</m:t>
                      </m:r>
                      <m:r>
                        <a:rPr lang="en-US" altLang="zh-CN" sz="1200" i="1">
                          <a:latin typeface="Cambria Math" panose="02040503050406030204" pitchFamily="18" charset="0"/>
                          <a:cs typeface="宋体" panose="02010600030101010101" pitchFamily="2" charset="-122"/>
                        </a:rPr>
                        <m:t>𝑄</m:t>
                      </m:r>
                      <m:r>
                        <a:rPr lang="en-US" altLang="zh-CN" sz="1200" i="1">
                          <a:latin typeface="Cambria Math" panose="02040503050406030204" pitchFamily="18" charset="0"/>
                          <a:cs typeface="宋体" panose="02010600030101010101" pitchFamily="2" charset="-122"/>
                        </a:rPr>
                        <m:t>≈</m:t>
                      </m:r>
                      <m:sSup>
                        <m:sSup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200" i="1">
                              <a:latin typeface="Cambria Math" panose="02040503050406030204" pitchFamily="18" charset="0"/>
                              <a:cs typeface="宋体" panose="02010600030101010101" pitchFamily="2" charset="-122"/>
                            </a:rPr>
                            <m:t>𝐽</m:t>
                          </m:r>
                        </m:e>
                        <m:sup>
                          <m:r>
                            <a:rPr lang="zh-CN" altLang="en-US" sz="1200" i="1">
                              <a:latin typeface="Cambria Math" panose="02040503050406030204" pitchFamily="18" charset="0"/>
                              <a:ea typeface="微软雅黑" panose="020B0503020204020204" pitchFamily="34" charset="-122"/>
                              <a:cs typeface="微软雅黑" panose="020B0503020204020204" pitchFamily="34" charset="-122"/>
                            </a:rPr>
                            <m:t>−</m:t>
                          </m:r>
                          <m:r>
                            <a:rPr lang="en-US" altLang="zh-CN" sz="1200" i="1">
                              <a:latin typeface="Cambria Math" panose="02040503050406030204" pitchFamily="18" charset="0"/>
                              <a:cs typeface="宋体" panose="02010600030101010101" pitchFamily="2" charset="-122"/>
                            </a:rPr>
                            <m:t>1</m:t>
                          </m:r>
                        </m:sup>
                      </m:sSup>
                      <m:r>
                        <a:rPr lang="en-US" altLang="zh-CN" sz="1200" i="1">
                          <a:latin typeface="Cambria Math" panose="02040503050406030204" pitchFamily="18" charset="0"/>
                          <a:cs typeface="宋体" panose="02010600030101010101" pitchFamily="2" charset="-122"/>
                        </a:rPr>
                        <m:t>∆</m:t>
                      </m:r>
                      <m:r>
                        <a:rPr lang="en-US" altLang="zh-CN" sz="1200" i="1">
                          <a:latin typeface="Cambria Math" panose="02040503050406030204" pitchFamily="18" charset="0"/>
                          <a:cs typeface="宋体" panose="02010600030101010101" pitchFamily="2" charset="-122"/>
                        </a:rPr>
                        <m:t>𝑒</m:t>
                      </m:r>
                    </m:oMath>
                  </m:oMathPara>
                </a14:m>
                <a:endParaRPr lang="zh-CN" altLang="zh-CN" sz="1200" dirty="0">
                  <a:latin typeface="宋体" panose="02010600030101010101" pitchFamily="2" charset="-122"/>
                  <a:cs typeface="宋体" panose="02010600030101010101" pitchFamily="2" charset="-122"/>
                </a:endParaRPr>
              </a:p>
              <a:p>
                <a:pPr indent="266700">
                  <a:spcBef>
                    <a:spcPts val="600"/>
                  </a:spcBef>
                  <a:spcAft>
                    <a:spcPts val="600"/>
                  </a:spcAft>
                </a:pPr>
                <a:r>
                  <a:rPr lang="zh-CN" altLang="zh-CN" sz="1200" dirty="0">
                    <a:latin typeface="宋体" panose="02010600030101010101" pitchFamily="2" charset="-122"/>
                    <a:cs typeface="宋体" panose="02010600030101010101" pitchFamily="2" charset="-122"/>
                  </a:rPr>
                  <a:t>若</a:t>
                </a:r>
                <a14:m>
                  <m:oMath xmlns:m="http://schemas.openxmlformats.org/officeDocument/2006/math">
                    <m:r>
                      <a:rPr lang="en-US" altLang="zh-CN" sz="1200" i="1">
                        <a:latin typeface="Cambria Math" panose="02040503050406030204" pitchFamily="18" charset="0"/>
                        <a:cs typeface="宋体" panose="02010600030101010101" pitchFamily="2" charset="-122"/>
                      </a:rPr>
                      <m:t>∆</m:t>
                    </m:r>
                    <m:r>
                      <a:rPr lang="en-US" altLang="zh-CN" sz="1200" i="1">
                        <a:latin typeface="Cambria Math" panose="02040503050406030204" pitchFamily="18" charset="0"/>
                        <a:cs typeface="宋体" panose="02010600030101010101" pitchFamily="2" charset="-122"/>
                      </a:rPr>
                      <m:t>𝑄</m:t>
                    </m:r>
                  </m:oMath>
                </a14:m>
                <a:r>
                  <a:rPr lang="zh-CN" altLang="zh-CN" sz="1200" dirty="0">
                    <a:latin typeface="宋体" panose="02010600030101010101" pitchFamily="2" charset="-122"/>
                    <a:cs typeface="宋体" panose="02010600030101010101" pitchFamily="2" charset="-122"/>
                  </a:rPr>
                  <a:t>中的每个元素或者它的范数</a:t>
                </a:r>
                <a14:m>
                  <m:oMath xmlns:m="http://schemas.openxmlformats.org/officeDocument/2006/math">
                    <m:d>
                      <m:dPr>
                        <m:begChr m:val="‖"/>
                        <m:endChr m:val="‖"/>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dPr>
                      <m:e>
                        <m:sSup>
                          <m:sSup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200" i="1">
                                <a:latin typeface="Cambria Math" panose="02040503050406030204" pitchFamily="18" charset="0"/>
                                <a:cs typeface="宋体" panose="02010600030101010101" pitchFamily="2" charset="-122"/>
                              </a:rPr>
                              <m:t>𝐽</m:t>
                            </m:r>
                          </m:e>
                          <m:sup>
                            <m:r>
                              <a:rPr lang="zh-CN" altLang="en-US" sz="1200" i="1">
                                <a:latin typeface="Cambria Math" panose="02040503050406030204" pitchFamily="18" charset="0"/>
                                <a:ea typeface="微软雅黑" panose="020B0503020204020204" pitchFamily="34" charset="-122"/>
                                <a:cs typeface="微软雅黑" panose="020B0503020204020204" pitchFamily="34" charset="-122"/>
                              </a:rPr>
                              <m:t>−</m:t>
                            </m:r>
                            <m:r>
                              <a:rPr lang="en-US" altLang="zh-CN" sz="1200" i="1">
                                <a:latin typeface="Cambria Math" panose="02040503050406030204" pitchFamily="18" charset="0"/>
                                <a:cs typeface="宋体" panose="02010600030101010101" pitchFamily="2" charset="-122"/>
                              </a:rPr>
                              <m:t>1</m:t>
                            </m:r>
                          </m:sup>
                        </m:sSup>
                        <m:r>
                          <a:rPr lang="en-US" altLang="zh-CN" sz="1200" i="1">
                            <a:latin typeface="Cambria Math" panose="02040503050406030204" pitchFamily="18" charset="0"/>
                            <a:cs typeface="宋体" panose="02010600030101010101" pitchFamily="2" charset="-122"/>
                          </a:rPr>
                          <m:t>∆</m:t>
                        </m:r>
                        <m:r>
                          <a:rPr lang="en-US" altLang="zh-CN" sz="1200" i="1">
                            <a:latin typeface="Cambria Math" panose="02040503050406030204" pitchFamily="18" charset="0"/>
                            <a:cs typeface="宋体" panose="02010600030101010101" pitchFamily="2" charset="-122"/>
                          </a:rPr>
                          <m:t>𝑒</m:t>
                        </m:r>
                      </m:e>
                    </m:d>
                  </m:oMath>
                </a14:m>
                <a:r>
                  <a:rPr lang="zh-CN" altLang="zh-CN" sz="1200" dirty="0">
                    <a:latin typeface="宋体" panose="02010600030101010101" pitchFamily="2" charset="-122"/>
                    <a:cs typeface="宋体" panose="02010600030101010101" pitchFamily="2" charset="-122"/>
                  </a:rPr>
                  <a:t>小于一个误差，</a:t>
                </a:r>
                <a14:m>
                  <m:oMath xmlns:m="http://schemas.openxmlformats.org/officeDocument/2006/math">
                    <m:d>
                      <m:dPr>
                        <m:begChr m:val="‖"/>
                        <m:endChr m:val="‖"/>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dPr>
                      <m:e>
                        <m:sSup>
                          <m:sSup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200" i="1">
                                <a:latin typeface="Cambria Math" panose="02040503050406030204" pitchFamily="18" charset="0"/>
                                <a:cs typeface="宋体" panose="02010600030101010101" pitchFamily="2" charset="-122"/>
                              </a:rPr>
                              <m:t>𝐽</m:t>
                            </m:r>
                          </m:e>
                          <m:sup>
                            <m:r>
                              <a:rPr lang="zh-CN" altLang="en-US" sz="1200" i="1">
                                <a:latin typeface="Cambria Math" panose="02040503050406030204" pitchFamily="18" charset="0"/>
                                <a:ea typeface="微软雅黑" panose="020B0503020204020204" pitchFamily="34" charset="-122"/>
                                <a:cs typeface="微软雅黑" panose="020B0503020204020204" pitchFamily="34" charset="-122"/>
                              </a:rPr>
                              <m:t>−</m:t>
                            </m:r>
                            <m:r>
                              <a:rPr lang="en-US" altLang="zh-CN" sz="1200" i="1">
                                <a:latin typeface="Cambria Math" panose="02040503050406030204" pitchFamily="18" charset="0"/>
                                <a:cs typeface="宋体" panose="02010600030101010101" pitchFamily="2" charset="-122"/>
                              </a:rPr>
                              <m:t>1</m:t>
                            </m:r>
                          </m:sup>
                        </m:sSup>
                        <m:r>
                          <a:rPr lang="en-US" altLang="zh-CN" sz="1200" i="1">
                            <a:latin typeface="Cambria Math" panose="02040503050406030204" pitchFamily="18" charset="0"/>
                            <a:cs typeface="宋体" panose="02010600030101010101" pitchFamily="2" charset="-122"/>
                          </a:rPr>
                          <m:t>∆</m:t>
                        </m:r>
                        <m:r>
                          <a:rPr lang="en-US" altLang="zh-CN" sz="1200" i="1">
                            <a:latin typeface="Cambria Math" panose="02040503050406030204" pitchFamily="18" charset="0"/>
                            <a:cs typeface="宋体" panose="02010600030101010101" pitchFamily="2" charset="-122"/>
                          </a:rPr>
                          <m:t>𝑒</m:t>
                        </m:r>
                      </m:e>
                    </m:d>
                    <m:r>
                      <a:rPr lang="en-US" altLang="zh-CN" sz="1200" i="1">
                        <a:latin typeface="Cambria Math" panose="02040503050406030204" pitchFamily="18" charset="0"/>
                        <a:cs typeface="宋体" panose="02010600030101010101" pitchFamily="2" charset="-122"/>
                      </a:rPr>
                      <m:t>&lt;</m:t>
                    </m:r>
                    <m:r>
                      <a:rPr lang="en-US" altLang="zh-CN" sz="1200" i="1">
                        <a:latin typeface="Cambria Math" panose="02040503050406030204" pitchFamily="18" charset="0"/>
                        <a:cs typeface="宋体" panose="02010600030101010101" pitchFamily="2" charset="-122"/>
                      </a:rPr>
                      <m:t>𝜀</m:t>
                    </m:r>
                  </m:oMath>
                </a14:m>
                <a:r>
                  <a:rPr lang="en-US" altLang="zh-CN" sz="1200" dirty="0">
                    <a:latin typeface="宋体" panose="02010600030101010101" pitchFamily="2" charset="-122"/>
                    <a:cs typeface="宋体" panose="02010600030101010101" pitchFamily="2" charset="-122"/>
                  </a:rPr>
                  <a:t>,</a:t>
                </a:r>
                <a:r>
                  <a:rPr lang="zh-CN" altLang="zh-CN" sz="1200" dirty="0">
                    <a:latin typeface="宋体" panose="02010600030101010101" pitchFamily="2" charset="-122"/>
                    <a:cs typeface="宋体" panose="02010600030101010101" pitchFamily="2" charset="-122"/>
                  </a:rPr>
                  <a:t>则停止迭代，</a:t>
                </a:r>
                <a14:m>
                  <m:oMath xmlns:m="http://schemas.openxmlformats.org/officeDocument/2006/math">
                    <m:r>
                      <a:rPr lang="en-US" altLang="zh-CN" sz="1200" i="1">
                        <a:latin typeface="Cambria Math" panose="02040503050406030204" pitchFamily="18" charset="0"/>
                        <a:cs typeface="宋体" panose="02010600030101010101" pitchFamily="2" charset="-122"/>
                      </a:rPr>
                      <m:t>𝑄</m:t>
                    </m:r>
                  </m:oMath>
                </a14:m>
                <a:r>
                  <a:rPr lang="zh-CN" altLang="zh-CN" sz="1200" dirty="0">
                    <a:latin typeface="宋体" panose="02010600030101010101" pitchFamily="2" charset="-122"/>
                    <a:cs typeface="宋体" panose="02010600030101010101" pitchFamily="2" charset="-122"/>
                  </a:rPr>
                  <a:t>就是期望解。</a:t>
                </a:r>
              </a:p>
              <a:p>
                <a:pPr indent="266700">
                  <a:spcBef>
                    <a:spcPts val="600"/>
                  </a:spcBef>
                  <a:spcAft>
                    <a:spcPts val="600"/>
                  </a:spcAft>
                </a:pPr>
                <a:r>
                  <a:rPr lang="en-US" altLang="zh-CN" sz="1200" dirty="0">
                    <a:latin typeface="宋体" panose="02010600030101010101" pitchFamily="2" charset="-122"/>
                    <a:cs typeface="宋体" panose="02010600030101010101" pitchFamily="2" charset="-122"/>
                  </a:rPr>
                  <a:t>5) </a:t>
                </a:r>
                <a:r>
                  <a:rPr lang="zh-CN" altLang="zh-CN" sz="1200" dirty="0">
                    <a:latin typeface="宋体" panose="02010600030101010101" pitchFamily="2" charset="-122"/>
                    <a:cs typeface="宋体" panose="02010600030101010101" pitchFamily="2" charset="-122"/>
                  </a:rPr>
                  <a:t>更新假设位姿：</a:t>
                </a:r>
              </a:p>
              <a:p>
                <a:pPr indent="266700">
                  <a:spcBef>
                    <a:spcPts val="600"/>
                  </a:spcBef>
                  <a:spcAft>
                    <a:spcPts val="600"/>
                  </a:spcAft>
                </a:pPr>
                <a:r>
                  <a:rPr lang="en-US" altLang="zh-CN" sz="1200" dirty="0">
                    <a:latin typeface="宋体" panose="02010600030101010101" pitchFamily="2" charset="-122"/>
                    <a:cs typeface="宋体" panose="02010600030101010101" pitchFamily="2" charset="-122"/>
                  </a:rPr>
                  <a:t>	</a:t>
                </a:r>
                <a14:m>
                  <m:oMath xmlns:m="http://schemas.openxmlformats.org/officeDocument/2006/math">
                    <m:r>
                      <a:rPr lang="en-US" altLang="zh-CN" sz="1200" i="1">
                        <a:latin typeface="Cambria Math" panose="02040503050406030204" pitchFamily="18" charset="0"/>
                        <a:cs typeface="宋体" panose="02010600030101010101" pitchFamily="2" charset="-122"/>
                      </a:rPr>
                      <m:t>𝑄</m:t>
                    </m:r>
                    <m:r>
                      <a:rPr lang="en-US" altLang="zh-CN" sz="1200" i="1">
                        <a:latin typeface="Cambria Math" panose="02040503050406030204" pitchFamily="18" charset="0"/>
                        <a:cs typeface="宋体" panose="02010600030101010101" pitchFamily="2" charset="-122"/>
                      </a:rPr>
                      <m:t>=</m:t>
                    </m:r>
                    <m:r>
                      <a:rPr lang="en-US" altLang="zh-CN" sz="1200" i="1">
                        <a:latin typeface="Cambria Math" panose="02040503050406030204" pitchFamily="18" charset="0"/>
                        <a:cs typeface="宋体" panose="02010600030101010101" pitchFamily="2" charset="-122"/>
                      </a:rPr>
                      <m:t>𝑄</m:t>
                    </m:r>
                    <m:r>
                      <a:rPr lang="en-US" altLang="zh-CN" sz="1200" i="1">
                        <a:latin typeface="Cambria Math" panose="02040503050406030204" pitchFamily="18" charset="0"/>
                        <a:cs typeface="宋体" panose="02010600030101010101" pitchFamily="2" charset="-122"/>
                      </a:rPr>
                      <m:t>+∆</m:t>
                    </m:r>
                    <m:r>
                      <a:rPr lang="en-US" altLang="zh-CN" sz="1200" i="1">
                        <a:latin typeface="Cambria Math" panose="02040503050406030204" pitchFamily="18" charset="0"/>
                        <a:cs typeface="宋体" panose="02010600030101010101" pitchFamily="2" charset="-122"/>
                      </a:rPr>
                      <m:t>𝑄</m:t>
                    </m:r>
                  </m:oMath>
                </a14:m>
                <a:endParaRPr lang="zh-CN" altLang="zh-CN" sz="1200" dirty="0">
                  <a:latin typeface="宋体" panose="02010600030101010101" pitchFamily="2" charset="-122"/>
                  <a:cs typeface="宋体" panose="02010600030101010101" pitchFamily="2" charset="-122"/>
                </a:endParaRPr>
              </a:p>
              <a:p>
                <a:r>
                  <a:rPr lang="en-US" altLang="zh-CN" sz="1200" dirty="0">
                    <a:effectLst/>
                    <a:latin typeface="等线" panose="02010600030101010101" pitchFamily="2" charset="-122"/>
                    <a:cs typeface="Times New Roman" panose="02020603050405020304" pitchFamily="18" charset="0"/>
                  </a:rPr>
                  <a:t>	</a:t>
                </a:r>
                <a:r>
                  <a:rPr lang="zh-CN" altLang="zh-CN" sz="1200" dirty="0">
                    <a:effectLst/>
                    <a:ea typeface="等线" panose="02010600030101010101" pitchFamily="2" charset="-122"/>
                    <a:cs typeface="Times New Roman" panose="02020603050405020304" pitchFamily="18" charset="0"/>
                  </a:rPr>
                  <a:t>返回步骤</a:t>
                </a:r>
                <a:r>
                  <a:rPr lang="en-US" altLang="zh-CN" sz="1200" dirty="0">
                    <a:effectLst/>
                    <a:ea typeface="等线" panose="02010600030101010101" pitchFamily="2" charset="-122"/>
                    <a:cs typeface="Times New Roman" panose="02020603050405020304" pitchFamily="18" charset="0"/>
                  </a:rPr>
                  <a:t>2)</a:t>
                </a:r>
                <a:r>
                  <a:rPr lang="zh-CN" altLang="zh-CN" sz="1200" dirty="0">
                    <a:effectLst/>
                    <a:ea typeface="等线" panose="02010600030101010101" pitchFamily="2" charset="-122"/>
                    <a:cs typeface="Times New Roman" panose="02020603050405020304" pitchFamily="18" charset="0"/>
                  </a:rPr>
                  <a:t>。</a:t>
                </a:r>
                <a:endParaRPr lang="zh-CN" altLang="en-US" sz="1200" dirty="0"/>
              </a:p>
            </p:txBody>
          </p:sp>
        </mc:Choice>
        <mc:Fallback xmlns="">
          <p:sp>
            <p:nvSpPr>
              <p:cNvPr id="18" name="矩形 17"/>
              <p:cNvSpPr>
                <a:spLocks noRot="1" noChangeAspect="1" noMove="1" noResize="1" noEditPoints="1" noAdjustHandles="1" noChangeArrowheads="1" noChangeShapeType="1" noTextEdit="1"/>
              </p:cNvSpPr>
              <p:nvPr/>
            </p:nvSpPr>
            <p:spPr>
              <a:xfrm>
                <a:off x="3564607" y="437320"/>
                <a:ext cx="5297453" cy="3999365"/>
              </a:xfrm>
              <a:prstGeom prst="rect">
                <a:avLst/>
              </a:prstGeom>
              <a:blipFill>
                <a:blip r:embed="rId6"/>
                <a:stretch>
                  <a:fillRect l="-115" b="-305"/>
                </a:stretch>
              </a:blipFill>
            </p:spPr>
            <p:txBody>
              <a:bodyPr/>
              <a:lstStyle/>
              <a:p>
                <a:r>
                  <a:rPr lang="zh-CN" altLang="en-US">
                    <a:noFill/>
                  </a:rPr>
                  <a:t> </a:t>
                </a:r>
              </a:p>
            </p:txBody>
          </p:sp>
        </mc:Fallback>
      </mc:AlternateContent>
      <p:sp>
        <p:nvSpPr>
          <p:cNvPr id="19" name="圆角矩形 18"/>
          <p:cNvSpPr/>
          <p:nvPr/>
        </p:nvSpPr>
        <p:spPr>
          <a:xfrm>
            <a:off x="3491881" y="437320"/>
            <a:ext cx="5370180" cy="399936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7879169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236220" y="219075"/>
            <a:ext cx="5153660" cy="598805"/>
            <a:chOff x="-372" y="345"/>
            <a:chExt cx="8116" cy="943"/>
          </a:xfrm>
        </p:grpSpPr>
        <p:sp>
          <p:nvSpPr>
            <p:cNvPr id="39" name="矩形 3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Numerical Solutions for Inverse Kinematics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40" name="文本框 39"/>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逆运动学的数值求解</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41" name="椭圆 4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899592" y="1151958"/>
            <a:ext cx="2665015" cy="584775"/>
          </a:xfrm>
          <a:prstGeom prst="rect">
            <a:avLst/>
          </a:prstGeom>
        </p:spPr>
        <p:txBody>
          <a:bodyPr wrap="square">
            <a:spAutoFit/>
          </a:bodyPr>
          <a:lstStyle/>
          <a:p>
            <a:r>
              <a:rPr lang="zh-CN" altLang="en-US" sz="1600" b="1" dirty="0">
                <a:solidFill>
                  <a:srgbClr val="002060"/>
                </a:solidFill>
              </a:rPr>
              <a:t>雅可比转置矩阵迭代法</a:t>
            </a:r>
            <a:r>
              <a:rPr lang="en-US" altLang="zh-CN" sz="1600" b="1" dirty="0">
                <a:solidFill>
                  <a:srgbClr val="002060"/>
                </a:solidFill>
              </a:rPr>
              <a:t>(Jacobian Transpose Method)</a:t>
            </a:r>
            <a:endParaRPr lang="zh-CN" altLang="en-US" sz="1600" b="1" dirty="0">
              <a:solidFill>
                <a:srgbClr val="002060"/>
              </a:solidFill>
            </a:endParaRPr>
          </a:p>
        </p:txBody>
      </p:sp>
      <mc:AlternateContent xmlns:mc="http://schemas.openxmlformats.org/markup-compatibility/2006" xmlns:a14="http://schemas.microsoft.com/office/drawing/2010/main">
        <mc:Choice Requires="a14">
          <p:sp>
            <p:nvSpPr>
              <p:cNvPr id="6" name="矩形 5"/>
              <p:cNvSpPr/>
              <p:nvPr/>
            </p:nvSpPr>
            <p:spPr>
              <a:xfrm>
                <a:off x="1714453" y="2041731"/>
                <a:ext cx="1074653"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a:latin typeface="Cambria Math" panose="02040503050406030204" pitchFamily="18" charset="0"/>
                        </a:rPr>
                        <m:t>∆</m:t>
                      </m:r>
                      <m:r>
                        <a:rPr lang="zh-CN" altLang="en-US" sz="1600" i="1">
                          <a:latin typeface="Cambria Math" panose="02040503050406030204" pitchFamily="18" charset="0"/>
                        </a:rPr>
                        <m:t>𝑒</m:t>
                      </m:r>
                      <m:r>
                        <a:rPr lang="zh-CN" altLang="en-US" sz="1600" i="0">
                          <a:latin typeface="Cambria Math" panose="02040503050406030204" pitchFamily="18" charset="0"/>
                        </a:rPr>
                        <m:t>≈</m:t>
                      </m:r>
                      <m:r>
                        <a:rPr lang="zh-CN" altLang="en-US" sz="1600" i="1">
                          <a:latin typeface="Cambria Math" panose="02040503050406030204" pitchFamily="18" charset="0"/>
                        </a:rPr>
                        <m:t>𝐽</m:t>
                      </m:r>
                      <m:r>
                        <a:rPr lang="zh-CN" altLang="en-US" sz="1600" i="0">
                          <a:latin typeface="Cambria Math" panose="02040503050406030204" pitchFamily="18" charset="0"/>
                        </a:rPr>
                        <m:t>∆</m:t>
                      </m:r>
                      <m:r>
                        <a:rPr lang="zh-CN" altLang="en-US" sz="1600" i="1">
                          <a:latin typeface="Cambria Math" panose="02040503050406030204" pitchFamily="18" charset="0"/>
                        </a:rPr>
                        <m:t>𝑄</m:t>
                      </m:r>
                    </m:oMath>
                  </m:oMathPara>
                </a14:m>
                <a:endParaRPr lang="zh-CN" altLang="en-US" sz="1600" dirty="0"/>
              </a:p>
            </p:txBody>
          </p:sp>
        </mc:Choice>
        <mc:Fallback xmlns="">
          <p:sp>
            <p:nvSpPr>
              <p:cNvPr id="6" name="矩形 5"/>
              <p:cNvSpPr>
                <a:spLocks noRot="1" noChangeAspect="1" noMove="1" noResize="1" noEditPoints="1" noAdjustHandles="1" noChangeArrowheads="1" noChangeShapeType="1" noTextEdit="1"/>
              </p:cNvSpPr>
              <p:nvPr/>
            </p:nvSpPr>
            <p:spPr>
              <a:xfrm>
                <a:off x="1714453" y="2041731"/>
                <a:ext cx="1074653" cy="338554"/>
              </a:xfrm>
              <a:prstGeom prst="rect">
                <a:avLst/>
              </a:prstGeom>
              <a:blipFill>
                <a:blip r:embed="rId3"/>
                <a:stretch>
                  <a:fillRect b="-90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1701097" y="2405506"/>
                <a:ext cx="1278748"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a:latin typeface="Cambria Math" panose="02040503050406030204" pitchFamily="18" charset="0"/>
                        </a:rPr>
                        <m:t>∆</m:t>
                      </m:r>
                      <m:r>
                        <a:rPr lang="zh-CN" altLang="en-US" sz="1600" i="1">
                          <a:latin typeface="Cambria Math" panose="02040503050406030204" pitchFamily="18" charset="0"/>
                        </a:rPr>
                        <m:t>𝑄</m:t>
                      </m:r>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𝐽</m:t>
                          </m:r>
                        </m:e>
                        <m:sup>
                          <m:r>
                            <a:rPr lang="zh-CN" altLang="en-US" sz="1600" i="0">
                              <a:latin typeface="Cambria Math" panose="02040503050406030204" pitchFamily="18" charset="0"/>
                            </a:rPr>
                            <m:t>−1</m:t>
                          </m:r>
                        </m:sup>
                      </m:sSup>
                      <m:r>
                        <a:rPr lang="zh-CN" altLang="en-US" sz="1600" i="0">
                          <a:latin typeface="Cambria Math" panose="02040503050406030204" pitchFamily="18" charset="0"/>
                        </a:rPr>
                        <m:t>∆</m:t>
                      </m:r>
                      <m:r>
                        <a:rPr lang="zh-CN" altLang="en-US" sz="1600" i="1">
                          <a:latin typeface="Cambria Math" panose="02040503050406030204" pitchFamily="18" charset="0"/>
                        </a:rPr>
                        <m:t>𝑒</m:t>
                      </m:r>
                    </m:oMath>
                  </m:oMathPara>
                </a14:m>
                <a:endParaRPr lang="zh-CN" altLang="en-US" sz="1600" dirty="0"/>
              </a:p>
            </p:txBody>
          </p:sp>
        </mc:Choice>
        <mc:Fallback xmlns="">
          <p:sp>
            <p:nvSpPr>
              <p:cNvPr id="7" name="矩形 6"/>
              <p:cNvSpPr>
                <a:spLocks noRot="1" noChangeAspect="1" noMove="1" noResize="1" noEditPoints="1" noAdjustHandles="1" noChangeArrowheads="1" noChangeShapeType="1" noTextEdit="1"/>
              </p:cNvSpPr>
              <p:nvPr/>
            </p:nvSpPr>
            <p:spPr>
              <a:xfrm>
                <a:off x="1701097" y="2405506"/>
                <a:ext cx="1278748" cy="338554"/>
              </a:xfrm>
              <a:prstGeom prst="rect">
                <a:avLst/>
              </a:prstGeom>
              <a:blipFill>
                <a:blip r:embed="rId4"/>
                <a:stretch>
                  <a:fillRect b="-90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1296355" y="2877813"/>
                <a:ext cx="2088232" cy="846065"/>
              </a:xfrm>
              <a:prstGeom prst="rect">
                <a:avLst/>
              </a:prstGeom>
            </p:spPr>
            <p:txBody>
              <a:bodyPr wrap="square">
                <a:spAutoFit/>
              </a:bodyPr>
              <a:lstStyle/>
              <a:p>
                <a:r>
                  <a:rPr lang="zh-CN" altLang="zh-CN" sz="1200" dirty="0">
                    <a:ea typeface="等线" panose="02010600030101010101" pitchFamily="2" charset="-122"/>
                    <a:cs typeface="Times New Roman" panose="02020603050405020304" pitchFamily="18" charset="0"/>
                  </a:rPr>
                  <a:t>如果已知末端执行器的目标位姿</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𝑇</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𝑔</m:t>
                        </m:r>
                      </m:sub>
                    </m:sSub>
                  </m:oMath>
                </a14:m>
                <a:r>
                  <a:rPr lang="zh-CN" altLang="zh-CN" sz="1200" dirty="0">
                    <a:ea typeface="等线" panose="02010600030101010101" pitchFamily="2" charset="-122"/>
                    <a:cs typeface="Times New Roman" panose="02020603050405020304" pitchFamily="18" charset="0"/>
                  </a:rPr>
                  <a:t>，采用迭代法，我们可以求出各关节的运动变量</a:t>
                </a:r>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𝑄</m:t>
                    </m:r>
                  </m:oMath>
                </a14:m>
                <a:r>
                  <a:rPr lang="zh-CN" altLang="zh-CN" sz="1200" dirty="0">
                    <a:ea typeface="等线" panose="02010600030101010101" pitchFamily="2" charset="-122"/>
                    <a:cs typeface="Times New Roman" panose="02020603050405020304" pitchFamily="18" charset="0"/>
                  </a:rPr>
                  <a:t>。</a:t>
                </a:r>
                <a:endParaRPr lang="zh-CN" altLang="en-US" sz="1200" dirty="0"/>
              </a:p>
            </p:txBody>
          </p:sp>
        </mc:Choice>
        <mc:Fallback xmlns="">
          <p:sp>
            <p:nvSpPr>
              <p:cNvPr id="17" name="矩形 16"/>
              <p:cNvSpPr>
                <a:spLocks noRot="1" noChangeAspect="1" noMove="1" noResize="1" noEditPoints="1" noAdjustHandles="1" noChangeArrowheads="1" noChangeShapeType="1" noTextEdit="1"/>
              </p:cNvSpPr>
              <p:nvPr/>
            </p:nvSpPr>
            <p:spPr>
              <a:xfrm>
                <a:off x="1296355" y="2877813"/>
                <a:ext cx="2088232" cy="846065"/>
              </a:xfrm>
              <a:prstGeom prst="rect">
                <a:avLst/>
              </a:prstGeom>
              <a:blipFill>
                <a:blip r:embed="rId5"/>
                <a:stretch>
                  <a:fillRect l="-292" b="-50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3564607" y="437320"/>
                <a:ext cx="5297453" cy="3999365"/>
              </a:xfrm>
              <a:prstGeom prst="rect">
                <a:avLst/>
              </a:prstGeom>
            </p:spPr>
            <p:txBody>
              <a:bodyPr wrap="square">
                <a:spAutoFit/>
              </a:bodyPr>
              <a:lstStyle/>
              <a:p>
                <a:pPr indent="266700">
                  <a:spcBef>
                    <a:spcPts val="600"/>
                  </a:spcBef>
                  <a:spcAft>
                    <a:spcPts val="600"/>
                  </a:spcAft>
                </a:pPr>
                <a:r>
                  <a:rPr lang="zh-CN" altLang="zh-CN" sz="1200" dirty="0">
                    <a:latin typeface="宋体" panose="02010600030101010101" pitchFamily="2" charset="-122"/>
                    <a:cs typeface="宋体" panose="02010600030101010101" pitchFamily="2" charset="-122"/>
                  </a:rPr>
                  <a:t>算法步骤如下：</a:t>
                </a:r>
              </a:p>
              <a:p>
                <a:pPr indent="266700">
                  <a:spcBef>
                    <a:spcPts val="600"/>
                  </a:spcBef>
                  <a:spcAft>
                    <a:spcPts val="600"/>
                  </a:spcAft>
                </a:pPr>
                <a:r>
                  <a:rPr lang="en-US" altLang="zh-CN" sz="1200" dirty="0">
                    <a:latin typeface="宋体" panose="02010600030101010101" pitchFamily="2" charset="-122"/>
                    <a:cs typeface="宋体" panose="02010600030101010101" pitchFamily="2" charset="-122"/>
                  </a:rPr>
                  <a:t>1) </a:t>
                </a:r>
                <a:r>
                  <a:rPr lang="zh-CN" altLang="zh-CN" sz="1200" dirty="0">
                    <a:latin typeface="宋体" panose="02010600030101010101" pitchFamily="2" charset="-122"/>
                    <a:cs typeface="宋体" panose="02010600030101010101" pitchFamily="2" charset="-122"/>
                  </a:rPr>
                  <a:t>选择一个靠近目标位姿的初始假设位姿</a:t>
                </a:r>
                <a14:m>
                  <m:oMath xmlns:m="http://schemas.openxmlformats.org/officeDocument/2006/math">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𝑇</m:t>
                        </m:r>
                      </m:e>
                      <m:sub>
                        <m:r>
                          <a:rPr lang="en-US" altLang="zh-CN" sz="1200" i="1">
                            <a:latin typeface="Cambria Math" panose="02040503050406030204" pitchFamily="18" charset="0"/>
                            <a:cs typeface="宋体" panose="02010600030101010101" pitchFamily="2" charset="-122"/>
                          </a:rPr>
                          <m:t>0</m:t>
                        </m:r>
                      </m:sub>
                    </m:sSub>
                  </m:oMath>
                </a14:m>
                <a:r>
                  <a:rPr lang="en-US" altLang="zh-CN" sz="1200" dirty="0">
                    <a:latin typeface="宋体" panose="02010600030101010101" pitchFamily="2" charset="-122"/>
                    <a:cs typeface="宋体" panose="02010600030101010101" pitchFamily="2" charset="-122"/>
                  </a:rPr>
                  <a:t>=</a:t>
                </a:r>
                <a14:m>
                  <m:oMath xmlns:m="http://schemas.openxmlformats.org/officeDocument/2006/math">
                    <m:r>
                      <a:rPr lang="en-US" altLang="zh-CN" sz="1200" i="1">
                        <a:latin typeface="Cambria Math" panose="02040503050406030204" pitchFamily="18" charset="0"/>
                        <a:cs typeface="宋体" panose="02010600030101010101" pitchFamily="2" charset="-122"/>
                      </a:rPr>
                      <m:t>𝑓</m:t>
                    </m:r>
                    <m:r>
                      <a:rPr lang="en-US" altLang="zh-CN" sz="1200" i="1">
                        <a:latin typeface="Cambria Math" panose="02040503050406030204" pitchFamily="18" charset="0"/>
                        <a:cs typeface="宋体" panose="02010600030101010101" pitchFamily="2" charset="-122"/>
                      </a:rPr>
                      <m:t>(</m:t>
                    </m:r>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𝑄</m:t>
                        </m:r>
                      </m:e>
                      <m:sub>
                        <m:r>
                          <a:rPr lang="en-US" altLang="zh-CN" sz="1200" i="1">
                            <a:latin typeface="Cambria Math" panose="02040503050406030204" pitchFamily="18" charset="0"/>
                            <a:cs typeface="宋体" panose="02010600030101010101" pitchFamily="2" charset="-122"/>
                          </a:rPr>
                          <m:t>0</m:t>
                        </m:r>
                      </m:sub>
                    </m:sSub>
                    <m:r>
                      <a:rPr lang="en-US" altLang="zh-CN" sz="1200" i="1">
                        <a:latin typeface="Cambria Math" panose="02040503050406030204" pitchFamily="18" charset="0"/>
                        <a:cs typeface="宋体" panose="02010600030101010101" pitchFamily="2" charset="-122"/>
                      </a:rPr>
                      <m:t>)</m:t>
                    </m:r>
                  </m:oMath>
                </a14:m>
                <a:r>
                  <a:rPr lang="zh-CN" altLang="zh-CN" sz="1200" dirty="0">
                    <a:latin typeface="宋体" panose="02010600030101010101" pitchFamily="2" charset="-122"/>
                    <a:cs typeface="宋体" panose="02010600030101010101" pitchFamily="2" charset="-122"/>
                  </a:rPr>
                  <a:t>，令</a:t>
                </a:r>
                <a14:m>
                  <m:oMath xmlns:m="http://schemas.openxmlformats.org/officeDocument/2006/math">
                    <m:r>
                      <a:rPr lang="zh-CN" altLang="zh-CN" sz="1200" i="1">
                        <a:latin typeface="Cambria Math" panose="02040503050406030204" pitchFamily="18" charset="0"/>
                        <a:ea typeface="Cambria Math" panose="02040503050406030204" pitchFamily="18" charset="0"/>
                        <a:cs typeface="宋体" panose="02010600030101010101" pitchFamily="2" charset="-122"/>
                      </a:rPr>
                      <m:t> </m:t>
                    </m:r>
                    <m:r>
                      <a:rPr lang="en-US" altLang="zh-CN" sz="1200" i="1">
                        <a:latin typeface="Cambria Math" panose="02040503050406030204" pitchFamily="18" charset="0"/>
                        <a:ea typeface="Cambria Math" panose="02040503050406030204" pitchFamily="18" charset="0"/>
                        <a:cs typeface="宋体" panose="02010600030101010101" pitchFamily="2" charset="-122"/>
                      </a:rPr>
                      <m:t>𝑄</m:t>
                    </m:r>
                    <m:r>
                      <a:rPr lang="en-US" altLang="zh-CN" sz="1200" i="1">
                        <a:latin typeface="Cambria Math" panose="02040503050406030204" pitchFamily="18" charset="0"/>
                        <a:ea typeface="Cambria Math" panose="02040503050406030204" pitchFamily="18" charset="0"/>
                        <a:cs typeface="宋体" panose="02010600030101010101" pitchFamily="2" charset="-122"/>
                      </a:rPr>
                      <m:t>=</m:t>
                    </m:r>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𝑄</m:t>
                        </m:r>
                      </m:e>
                      <m:sub>
                        <m:r>
                          <a:rPr lang="en-US" altLang="zh-CN" sz="1200" i="1">
                            <a:latin typeface="Cambria Math" panose="02040503050406030204" pitchFamily="18" charset="0"/>
                            <a:cs typeface="宋体" panose="02010600030101010101" pitchFamily="2" charset="-122"/>
                          </a:rPr>
                          <m:t>0</m:t>
                        </m:r>
                      </m:sub>
                    </m:sSub>
                  </m:oMath>
                </a14:m>
                <a:r>
                  <a:rPr lang="zh-CN" altLang="zh-CN" sz="1200" dirty="0">
                    <a:latin typeface="宋体" panose="02010600030101010101" pitchFamily="2" charset="-122"/>
                    <a:cs typeface="宋体" panose="02010600030101010101" pitchFamily="2" charset="-122"/>
                  </a:rPr>
                  <a:t>。</a:t>
                </a:r>
              </a:p>
              <a:p>
                <a:pPr indent="266700">
                  <a:spcBef>
                    <a:spcPts val="600"/>
                  </a:spcBef>
                  <a:spcAft>
                    <a:spcPts val="600"/>
                  </a:spcAft>
                </a:pPr>
                <a:r>
                  <a:rPr lang="en-US" altLang="zh-CN" sz="1200" dirty="0">
                    <a:latin typeface="宋体" panose="02010600030101010101" pitchFamily="2" charset="-122"/>
                    <a:cs typeface="宋体" panose="02010600030101010101" pitchFamily="2" charset="-122"/>
                  </a:rPr>
                  <a:t>2) </a:t>
                </a:r>
                <a:r>
                  <a:rPr lang="zh-CN" altLang="zh-CN" sz="1200" dirty="0">
                    <a:latin typeface="宋体" panose="02010600030101010101" pitchFamily="2" charset="-122"/>
                    <a:cs typeface="宋体" panose="02010600030101010101" pitchFamily="2" charset="-122"/>
                  </a:rPr>
                  <a:t>选取假设位姿</a:t>
                </a:r>
                <a14:m>
                  <m:oMath xmlns:m="http://schemas.openxmlformats.org/officeDocument/2006/math">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𝑇</m:t>
                        </m:r>
                      </m:e>
                      <m:sub>
                        <m:r>
                          <a:rPr lang="en-US" altLang="zh-CN" sz="1200" i="1">
                            <a:latin typeface="Cambria Math" panose="02040503050406030204" pitchFamily="18" charset="0"/>
                            <a:cs typeface="宋体" panose="02010600030101010101" pitchFamily="2" charset="-122"/>
                          </a:rPr>
                          <m:t>𝑞</m:t>
                        </m:r>
                      </m:sub>
                    </m:sSub>
                  </m:oMath>
                </a14:m>
                <a:r>
                  <a:rPr lang="zh-CN" altLang="zh-CN" sz="1200" dirty="0">
                    <a:latin typeface="宋体" panose="02010600030101010101" pitchFamily="2" charset="-122"/>
                    <a:cs typeface="宋体" panose="02010600030101010101" pitchFamily="2" charset="-122"/>
                  </a:rPr>
                  <a:t>与目标位姿</a:t>
                </a:r>
                <a14:m>
                  <m:oMath xmlns:m="http://schemas.openxmlformats.org/officeDocument/2006/math">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𝑇</m:t>
                        </m:r>
                      </m:e>
                      <m:sub>
                        <m:r>
                          <a:rPr lang="en-US" altLang="zh-CN" sz="1200" i="1">
                            <a:latin typeface="Cambria Math" panose="02040503050406030204" pitchFamily="18" charset="0"/>
                            <a:cs typeface="宋体" panose="02010600030101010101" pitchFamily="2" charset="-122"/>
                          </a:rPr>
                          <m:t>𝑔</m:t>
                        </m:r>
                      </m:sub>
                    </m:sSub>
                  </m:oMath>
                </a14:m>
                <a:r>
                  <a:rPr lang="zh-CN" altLang="zh-CN" sz="1200" dirty="0">
                    <a:latin typeface="宋体" panose="02010600030101010101" pitchFamily="2" charset="-122"/>
                    <a:cs typeface="宋体" panose="02010600030101010101" pitchFamily="2" charset="-122"/>
                  </a:rPr>
                  <a:t>之间的微小运动步长：</a:t>
                </a:r>
              </a:p>
              <a:p>
                <a:pPr indent="266700">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200" i="1">
                          <a:latin typeface="Cambria Math" panose="02040503050406030204" pitchFamily="18" charset="0"/>
                          <a:cs typeface="宋体" panose="02010600030101010101" pitchFamily="2" charset="-122"/>
                        </a:rPr>
                        <m:t>∆</m:t>
                      </m:r>
                      <m:r>
                        <a:rPr lang="en-US" altLang="zh-CN" sz="1200" i="1">
                          <a:latin typeface="Cambria Math" panose="02040503050406030204" pitchFamily="18" charset="0"/>
                          <a:cs typeface="宋体" panose="02010600030101010101" pitchFamily="2" charset="-122"/>
                        </a:rPr>
                        <m:t>𝑒</m:t>
                      </m:r>
                      <m:r>
                        <a:rPr lang="en-US" altLang="zh-CN" sz="1200" i="1">
                          <a:latin typeface="Cambria Math" panose="02040503050406030204" pitchFamily="18" charset="0"/>
                          <a:cs typeface="宋体" panose="02010600030101010101" pitchFamily="2" charset="-122"/>
                        </a:rPr>
                        <m:t>=</m:t>
                      </m:r>
                      <m:r>
                        <a:rPr lang="en-US" altLang="zh-CN" sz="1200" i="1">
                          <a:latin typeface="Cambria Math" panose="02040503050406030204" pitchFamily="18" charset="0"/>
                          <a:cs typeface="宋体" panose="02010600030101010101" pitchFamily="2" charset="-122"/>
                        </a:rPr>
                        <m:t>𝛽</m:t>
                      </m:r>
                      <m:r>
                        <a:rPr lang="en-US" altLang="zh-CN" sz="1200" i="1">
                          <a:latin typeface="Cambria Math" panose="02040503050406030204" pitchFamily="18" charset="0"/>
                          <a:cs typeface="宋体" panose="02010600030101010101" pitchFamily="2" charset="-122"/>
                        </a:rPr>
                        <m:t>(</m:t>
                      </m:r>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𝑇</m:t>
                          </m:r>
                        </m:e>
                        <m:sub>
                          <m:r>
                            <a:rPr lang="en-US" altLang="zh-CN" sz="1200" i="1">
                              <a:latin typeface="Cambria Math" panose="02040503050406030204" pitchFamily="18" charset="0"/>
                              <a:cs typeface="宋体" panose="02010600030101010101" pitchFamily="2" charset="-122"/>
                            </a:rPr>
                            <m:t>𝑔</m:t>
                          </m:r>
                        </m:sub>
                      </m:sSub>
                      <m:r>
                        <a:rPr lang="en-US" altLang="zh-CN" sz="1200" i="1">
                          <a:latin typeface="Cambria Math" panose="02040503050406030204" pitchFamily="18" charset="0"/>
                          <a:cs typeface="宋体" panose="02010600030101010101" pitchFamily="2" charset="-122"/>
                        </a:rPr>
                        <m:t>−</m:t>
                      </m:r>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𝑇</m:t>
                          </m:r>
                        </m:e>
                        <m:sub>
                          <m:r>
                            <a:rPr lang="en-US" altLang="zh-CN" sz="1200" i="1">
                              <a:latin typeface="Cambria Math" panose="02040503050406030204" pitchFamily="18" charset="0"/>
                              <a:cs typeface="宋体" panose="02010600030101010101" pitchFamily="2" charset="-122"/>
                            </a:rPr>
                            <m:t>𝑞</m:t>
                          </m:r>
                        </m:sub>
                      </m:sSub>
                      <m:r>
                        <a:rPr lang="en-US" altLang="zh-CN" sz="1200" i="1">
                          <a:latin typeface="Cambria Math" panose="02040503050406030204" pitchFamily="18" charset="0"/>
                          <a:cs typeface="宋体" panose="02010600030101010101" pitchFamily="2" charset="-122"/>
                        </a:rPr>
                        <m:t>)</m:t>
                      </m:r>
                    </m:oMath>
                  </m:oMathPara>
                </a14:m>
                <a:endParaRPr lang="zh-CN" altLang="zh-CN" sz="1200" dirty="0">
                  <a:latin typeface="宋体" panose="02010600030101010101" pitchFamily="2" charset="-122"/>
                  <a:cs typeface="宋体" panose="02010600030101010101" pitchFamily="2" charset="-122"/>
                </a:endParaRPr>
              </a:p>
              <a:p>
                <a:pPr indent="266700">
                  <a:spcBef>
                    <a:spcPts val="600"/>
                  </a:spcBef>
                  <a:spcAft>
                    <a:spcPts val="600"/>
                  </a:spcAft>
                </a:pPr>
                <a:r>
                  <a:rPr lang="zh-CN" altLang="zh-CN" sz="1200" dirty="0">
                    <a:latin typeface="宋体" panose="02010600030101010101" pitchFamily="2" charset="-122"/>
                    <a:cs typeface="宋体" panose="02010600030101010101" pitchFamily="2" charset="-122"/>
                  </a:rPr>
                  <a:t>式中</a:t>
                </a:r>
                <a14:m>
                  <m:oMath xmlns:m="http://schemas.openxmlformats.org/officeDocument/2006/math">
                    <m:r>
                      <a:rPr lang="en-US" altLang="zh-CN" sz="1200" i="1">
                        <a:latin typeface="Cambria Math" panose="02040503050406030204" pitchFamily="18" charset="0"/>
                        <a:cs typeface="宋体" panose="02010600030101010101" pitchFamily="2" charset="-122"/>
                      </a:rPr>
                      <m:t>0≤</m:t>
                    </m:r>
                    <m:r>
                      <a:rPr lang="en-US" altLang="zh-CN" sz="1200" i="1">
                        <a:latin typeface="Cambria Math" panose="02040503050406030204" pitchFamily="18" charset="0"/>
                        <a:cs typeface="宋体" panose="02010600030101010101" pitchFamily="2" charset="-122"/>
                      </a:rPr>
                      <m:t>𝛽</m:t>
                    </m:r>
                    <m:r>
                      <a:rPr lang="en-US" altLang="zh-CN" sz="1200" i="1">
                        <a:latin typeface="Cambria Math" panose="02040503050406030204" pitchFamily="18" charset="0"/>
                        <a:cs typeface="宋体" panose="02010600030101010101" pitchFamily="2" charset="-122"/>
                      </a:rPr>
                      <m:t>≤1</m:t>
                    </m:r>
                  </m:oMath>
                </a14:m>
                <a:r>
                  <a:rPr lang="zh-CN" altLang="zh-CN" sz="1200" dirty="0">
                    <a:latin typeface="宋体" panose="02010600030101010101" pitchFamily="2" charset="-122"/>
                    <a:cs typeface="宋体" panose="02010600030101010101" pitchFamily="2" charset="-122"/>
                  </a:rPr>
                  <a:t>，</a:t>
                </a:r>
                <a14:m>
                  <m:oMath xmlns:m="http://schemas.openxmlformats.org/officeDocument/2006/math">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𝑇</m:t>
                        </m:r>
                      </m:e>
                      <m:sub>
                        <m:r>
                          <a:rPr lang="en-US" altLang="zh-CN" sz="1200" i="1">
                            <a:latin typeface="Cambria Math" panose="02040503050406030204" pitchFamily="18" charset="0"/>
                            <a:cs typeface="宋体" panose="02010600030101010101" pitchFamily="2" charset="-122"/>
                          </a:rPr>
                          <m:t>𝑞</m:t>
                        </m:r>
                      </m:sub>
                    </m:sSub>
                  </m:oMath>
                </a14:m>
                <a:r>
                  <a:rPr lang="en-US" altLang="zh-CN" sz="1200" dirty="0">
                    <a:latin typeface="宋体" panose="02010600030101010101" pitchFamily="2" charset="-122"/>
                    <a:cs typeface="宋体" panose="02010600030101010101" pitchFamily="2" charset="-122"/>
                  </a:rPr>
                  <a:t>=</a:t>
                </a:r>
                <a14:m>
                  <m:oMath xmlns:m="http://schemas.openxmlformats.org/officeDocument/2006/math">
                    <m:r>
                      <a:rPr lang="en-US" altLang="zh-CN" sz="1200" i="1">
                        <a:latin typeface="Cambria Math" panose="02040503050406030204" pitchFamily="18" charset="0"/>
                        <a:cs typeface="宋体" panose="02010600030101010101" pitchFamily="2" charset="-122"/>
                      </a:rPr>
                      <m:t>𝑓</m:t>
                    </m:r>
                    <m:r>
                      <a:rPr lang="en-US" altLang="zh-CN" sz="1200" i="1">
                        <a:latin typeface="Cambria Math" panose="02040503050406030204" pitchFamily="18" charset="0"/>
                        <a:cs typeface="宋体" panose="02010600030101010101" pitchFamily="2" charset="-122"/>
                      </a:rPr>
                      <m:t>( </m:t>
                    </m:r>
                    <m:r>
                      <a:rPr lang="en-US" altLang="zh-CN" sz="1200" i="1">
                        <a:latin typeface="Cambria Math" panose="02040503050406030204" pitchFamily="18" charset="0"/>
                        <a:cs typeface="宋体" panose="02010600030101010101" pitchFamily="2" charset="-122"/>
                      </a:rPr>
                      <m:t>𝑄</m:t>
                    </m:r>
                    <m:r>
                      <a:rPr lang="en-US" altLang="zh-CN" sz="1200" i="1">
                        <a:latin typeface="Cambria Math" panose="02040503050406030204" pitchFamily="18" charset="0"/>
                        <a:cs typeface="宋体" panose="02010600030101010101" pitchFamily="2" charset="-122"/>
                      </a:rPr>
                      <m:t>)</m:t>
                    </m:r>
                  </m:oMath>
                </a14:m>
                <a:r>
                  <a:rPr lang="zh-CN" altLang="zh-CN" sz="1200" dirty="0">
                    <a:latin typeface="宋体" panose="02010600030101010101" pitchFamily="2" charset="-122"/>
                    <a:cs typeface="宋体" panose="02010600030101010101" pitchFamily="2" charset="-122"/>
                  </a:rPr>
                  <a:t>，</a:t>
                </a:r>
                <a14:m>
                  <m:oMath xmlns:m="http://schemas.openxmlformats.org/officeDocument/2006/math">
                    <m:r>
                      <a:rPr lang="en-US" altLang="zh-CN" sz="1200" i="1">
                        <a:latin typeface="Cambria Math" panose="02040503050406030204" pitchFamily="18" charset="0"/>
                        <a:cs typeface="宋体" panose="02010600030101010101" pitchFamily="2" charset="-122"/>
                      </a:rPr>
                      <m:t>𝑓</m:t>
                    </m:r>
                  </m:oMath>
                </a14:m>
                <a:r>
                  <a:rPr lang="zh-CN" altLang="zh-CN" sz="1200" dirty="0">
                    <a:latin typeface="宋体" panose="02010600030101010101" pitchFamily="2" charset="-122"/>
                    <a:cs typeface="宋体" panose="02010600030101010101" pitchFamily="2" charset="-122"/>
                  </a:rPr>
                  <a:t>为正运动学函数。</a:t>
                </a:r>
              </a:p>
              <a:p>
                <a:pPr indent="266700">
                  <a:spcBef>
                    <a:spcPts val="600"/>
                  </a:spcBef>
                  <a:spcAft>
                    <a:spcPts val="600"/>
                  </a:spcAft>
                </a:pPr>
                <a:r>
                  <a:rPr lang="en-US" altLang="zh-CN" sz="1200" dirty="0">
                    <a:latin typeface="宋体" panose="02010600030101010101" pitchFamily="2" charset="-122"/>
                    <a:cs typeface="宋体" panose="02010600030101010101" pitchFamily="2" charset="-122"/>
                  </a:rPr>
                  <a:t>3) </a:t>
                </a:r>
                <a:r>
                  <a:rPr lang="zh-CN" altLang="zh-CN" sz="1200" dirty="0">
                    <a:latin typeface="宋体" panose="02010600030101010101" pitchFamily="2" charset="-122"/>
                    <a:cs typeface="宋体" panose="02010600030101010101" pitchFamily="2" charset="-122"/>
                  </a:rPr>
                  <a:t>采用雅可比矩阵矢量积求法计算雅可比矩阵</a:t>
                </a:r>
                <a14:m>
                  <m:oMath xmlns:m="http://schemas.openxmlformats.org/officeDocument/2006/math">
                    <m:r>
                      <a:rPr lang="en-US" altLang="zh-CN" sz="1200" i="1">
                        <a:latin typeface="Cambria Math" panose="02040503050406030204" pitchFamily="18" charset="0"/>
                        <a:cs typeface="宋体" panose="02010600030101010101" pitchFamily="2" charset="-122"/>
                      </a:rPr>
                      <m:t>𝐽</m:t>
                    </m:r>
                  </m:oMath>
                </a14:m>
                <a:r>
                  <a:rPr lang="zh-CN" altLang="zh-CN" sz="1200" dirty="0">
                    <a:latin typeface="宋体" panose="02010600030101010101" pitchFamily="2" charset="-122"/>
                    <a:cs typeface="宋体" panose="02010600030101010101" pitchFamily="2" charset="-122"/>
                  </a:rPr>
                  <a:t>及雅可比逆矩阵</a:t>
                </a:r>
                <a14:m>
                  <m:oMath xmlns:m="http://schemas.openxmlformats.org/officeDocument/2006/math">
                    <m:sSup>
                      <m:sSup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200" i="1">
                            <a:latin typeface="Cambria Math" panose="02040503050406030204" pitchFamily="18" charset="0"/>
                            <a:cs typeface="宋体" panose="02010600030101010101" pitchFamily="2" charset="-122"/>
                          </a:rPr>
                          <m:t>𝐽</m:t>
                        </m:r>
                      </m:e>
                      <m:sup>
                        <m:r>
                          <a:rPr lang="zh-CN" altLang="en-US" sz="1200" i="1">
                            <a:latin typeface="Cambria Math" panose="02040503050406030204" pitchFamily="18" charset="0"/>
                            <a:ea typeface="微软雅黑" panose="020B0503020204020204" pitchFamily="34" charset="-122"/>
                            <a:cs typeface="微软雅黑" panose="020B0503020204020204" pitchFamily="34" charset="-122"/>
                          </a:rPr>
                          <m:t>−</m:t>
                        </m:r>
                        <m:r>
                          <a:rPr lang="en-US" altLang="zh-CN" sz="1200" i="1">
                            <a:latin typeface="Cambria Math" panose="02040503050406030204" pitchFamily="18" charset="0"/>
                            <a:cs typeface="宋体" panose="02010600030101010101" pitchFamily="2" charset="-122"/>
                          </a:rPr>
                          <m:t>1</m:t>
                        </m:r>
                      </m:sup>
                    </m:sSup>
                  </m:oMath>
                </a14:m>
                <a:r>
                  <a:rPr lang="zh-CN" altLang="zh-CN" sz="1200" dirty="0">
                    <a:latin typeface="宋体" panose="02010600030101010101" pitchFamily="2" charset="-122"/>
                    <a:cs typeface="宋体" panose="02010600030101010101" pitchFamily="2" charset="-122"/>
                  </a:rPr>
                  <a:t>。</a:t>
                </a:r>
              </a:p>
              <a:p>
                <a:pPr indent="266700">
                  <a:spcBef>
                    <a:spcPts val="600"/>
                  </a:spcBef>
                  <a:spcAft>
                    <a:spcPts val="600"/>
                  </a:spcAft>
                </a:pPr>
                <a:r>
                  <a:rPr lang="en-US" altLang="zh-CN" sz="1200" dirty="0">
                    <a:latin typeface="宋体" panose="02010600030101010101" pitchFamily="2" charset="-122"/>
                    <a:cs typeface="宋体" panose="02010600030101010101" pitchFamily="2" charset="-122"/>
                  </a:rPr>
                  <a:t>4) </a:t>
                </a:r>
                <a:r>
                  <a:rPr lang="zh-CN" altLang="zh-CN" sz="1200" dirty="0">
                    <a:latin typeface="宋体" panose="02010600030101010101" pitchFamily="2" charset="-122"/>
                    <a:cs typeface="宋体" panose="02010600030101010101" pitchFamily="2" charset="-122"/>
                  </a:rPr>
                  <a:t>计算</a:t>
                </a:r>
                <a14:m>
                  <m:oMath xmlns:m="http://schemas.openxmlformats.org/officeDocument/2006/math">
                    <m:r>
                      <a:rPr lang="en-US" altLang="zh-CN" sz="1200" i="1">
                        <a:latin typeface="Cambria Math" panose="02040503050406030204" pitchFamily="18" charset="0"/>
                        <a:cs typeface="宋体" panose="02010600030101010101" pitchFamily="2" charset="-122"/>
                      </a:rPr>
                      <m:t>∆</m:t>
                    </m:r>
                    <m:r>
                      <a:rPr lang="en-US" altLang="zh-CN" sz="1200" i="1">
                        <a:latin typeface="Cambria Math" panose="02040503050406030204" pitchFamily="18" charset="0"/>
                        <a:cs typeface="宋体" panose="02010600030101010101" pitchFamily="2" charset="-122"/>
                      </a:rPr>
                      <m:t>𝑄</m:t>
                    </m:r>
                  </m:oMath>
                </a14:m>
                <a:r>
                  <a:rPr lang="zh-CN" altLang="zh-CN" sz="1200" dirty="0">
                    <a:latin typeface="宋体" panose="02010600030101010101" pitchFamily="2" charset="-122"/>
                    <a:cs typeface="宋体" panose="02010600030101010101" pitchFamily="2" charset="-122"/>
                  </a:rPr>
                  <a:t>：</a:t>
                </a:r>
              </a:p>
              <a:p>
                <a:pPr indent="266700">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200" i="1">
                          <a:latin typeface="Cambria Math" panose="02040503050406030204" pitchFamily="18" charset="0"/>
                          <a:cs typeface="宋体" panose="02010600030101010101" pitchFamily="2" charset="-122"/>
                        </a:rPr>
                        <m:t>∆</m:t>
                      </m:r>
                      <m:r>
                        <a:rPr lang="en-US" altLang="zh-CN" sz="1200" i="1">
                          <a:latin typeface="Cambria Math" panose="02040503050406030204" pitchFamily="18" charset="0"/>
                          <a:cs typeface="宋体" panose="02010600030101010101" pitchFamily="2" charset="-122"/>
                        </a:rPr>
                        <m:t>𝑄</m:t>
                      </m:r>
                      <m:r>
                        <a:rPr lang="en-US" altLang="zh-CN" sz="1200" i="1">
                          <a:latin typeface="Cambria Math" panose="02040503050406030204" pitchFamily="18" charset="0"/>
                          <a:cs typeface="宋体" panose="02010600030101010101" pitchFamily="2" charset="-122"/>
                        </a:rPr>
                        <m:t>≈</m:t>
                      </m:r>
                      <m:sSup>
                        <m:sSup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200" i="1">
                              <a:latin typeface="Cambria Math" panose="02040503050406030204" pitchFamily="18" charset="0"/>
                              <a:cs typeface="宋体" panose="02010600030101010101" pitchFamily="2" charset="-122"/>
                            </a:rPr>
                            <m:t>𝐽</m:t>
                          </m:r>
                        </m:e>
                        <m:sup>
                          <m:r>
                            <a:rPr lang="zh-CN" altLang="en-US" sz="1200" i="1">
                              <a:latin typeface="Cambria Math" panose="02040503050406030204" pitchFamily="18" charset="0"/>
                              <a:ea typeface="微软雅黑" panose="020B0503020204020204" pitchFamily="34" charset="-122"/>
                              <a:cs typeface="微软雅黑" panose="020B0503020204020204" pitchFamily="34" charset="-122"/>
                            </a:rPr>
                            <m:t>−</m:t>
                          </m:r>
                          <m:r>
                            <a:rPr lang="en-US" altLang="zh-CN" sz="1200" i="1">
                              <a:latin typeface="Cambria Math" panose="02040503050406030204" pitchFamily="18" charset="0"/>
                              <a:cs typeface="宋体" panose="02010600030101010101" pitchFamily="2" charset="-122"/>
                            </a:rPr>
                            <m:t>1</m:t>
                          </m:r>
                        </m:sup>
                      </m:sSup>
                      <m:r>
                        <a:rPr lang="en-US" altLang="zh-CN" sz="1200" i="1">
                          <a:latin typeface="Cambria Math" panose="02040503050406030204" pitchFamily="18" charset="0"/>
                          <a:cs typeface="宋体" panose="02010600030101010101" pitchFamily="2" charset="-122"/>
                        </a:rPr>
                        <m:t>∆</m:t>
                      </m:r>
                      <m:r>
                        <a:rPr lang="en-US" altLang="zh-CN" sz="1200" i="1">
                          <a:latin typeface="Cambria Math" panose="02040503050406030204" pitchFamily="18" charset="0"/>
                          <a:cs typeface="宋体" panose="02010600030101010101" pitchFamily="2" charset="-122"/>
                        </a:rPr>
                        <m:t>𝑒</m:t>
                      </m:r>
                    </m:oMath>
                  </m:oMathPara>
                </a14:m>
                <a:endParaRPr lang="zh-CN" altLang="zh-CN" sz="1200" dirty="0">
                  <a:latin typeface="宋体" panose="02010600030101010101" pitchFamily="2" charset="-122"/>
                  <a:cs typeface="宋体" panose="02010600030101010101" pitchFamily="2" charset="-122"/>
                </a:endParaRPr>
              </a:p>
              <a:p>
                <a:pPr indent="266700">
                  <a:spcBef>
                    <a:spcPts val="600"/>
                  </a:spcBef>
                  <a:spcAft>
                    <a:spcPts val="600"/>
                  </a:spcAft>
                </a:pPr>
                <a:r>
                  <a:rPr lang="zh-CN" altLang="zh-CN" sz="1200" dirty="0">
                    <a:latin typeface="宋体" panose="02010600030101010101" pitchFamily="2" charset="-122"/>
                    <a:cs typeface="宋体" panose="02010600030101010101" pitchFamily="2" charset="-122"/>
                  </a:rPr>
                  <a:t>若</a:t>
                </a:r>
                <a14:m>
                  <m:oMath xmlns:m="http://schemas.openxmlformats.org/officeDocument/2006/math">
                    <m:r>
                      <a:rPr lang="en-US" altLang="zh-CN" sz="1200" i="1">
                        <a:latin typeface="Cambria Math" panose="02040503050406030204" pitchFamily="18" charset="0"/>
                        <a:cs typeface="宋体" panose="02010600030101010101" pitchFamily="2" charset="-122"/>
                      </a:rPr>
                      <m:t>∆</m:t>
                    </m:r>
                    <m:r>
                      <a:rPr lang="en-US" altLang="zh-CN" sz="1200" i="1">
                        <a:latin typeface="Cambria Math" panose="02040503050406030204" pitchFamily="18" charset="0"/>
                        <a:cs typeface="宋体" panose="02010600030101010101" pitchFamily="2" charset="-122"/>
                      </a:rPr>
                      <m:t>𝑄</m:t>
                    </m:r>
                  </m:oMath>
                </a14:m>
                <a:r>
                  <a:rPr lang="zh-CN" altLang="zh-CN" sz="1200" dirty="0">
                    <a:latin typeface="宋体" panose="02010600030101010101" pitchFamily="2" charset="-122"/>
                    <a:cs typeface="宋体" panose="02010600030101010101" pitchFamily="2" charset="-122"/>
                  </a:rPr>
                  <a:t>中的每个元素或者它的范数</a:t>
                </a:r>
                <a14:m>
                  <m:oMath xmlns:m="http://schemas.openxmlformats.org/officeDocument/2006/math">
                    <m:d>
                      <m:dPr>
                        <m:begChr m:val="‖"/>
                        <m:endChr m:val="‖"/>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dPr>
                      <m:e>
                        <m:sSup>
                          <m:sSup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200" i="1">
                                <a:latin typeface="Cambria Math" panose="02040503050406030204" pitchFamily="18" charset="0"/>
                                <a:cs typeface="宋体" panose="02010600030101010101" pitchFamily="2" charset="-122"/>
                              </a:rPr>
                              <m:t>𝐽</m:t>
                            </m:r>
                          </m:e>
                          <m:sup>
                            <m:r>
                              <a:rPr lang="zh-CN" altLang="en-US" sz="1200" i="1">
                                <a:latin typeface="Cambria Math" panose="02040503050406030204" pitchFamily="18" charset="0"/>
                                <a:ea typeface="微软雅黑" panose="020B0503020204020204" pitchFamily="34" charset="-122"/>
                                <a:cs typeface="微软雅黑" panose="020B0503020204020204" pitchFamily="34" charset="-122"/>
                              </a:rPr>
                              <m:t>−</m:t>
                            </m:r>
                            <m:r>
                              <a:rPr lang="en-US" altLang="zh-CN" sz="1200" i="1">
                                <a:latin typeface="Cambria Math" panose="02040503050406030204" pitchFamily="18" charset="0"/>
                                <a:cs typeface="宋体" panose="02010600030101010101" pitchFamily="2" charset="-122"/>
                              </a:rPr>
                              <m:t>1</m:t>
                            </m:r>
                          </m:sup>
                        </m:sSup>
                        <m:r>
                          <a:rPr lang="en-US" altLang="zh-CN" sz="1200" i="1">
                            <a:latin typeface="Cambria Math" panose="02040503050406030204" pitchFamily="18" charset="0"/>
                            <a:cs typeface="宋体" panose="02010600030101010101" pitchFamily="2" charset="-122"/>
                          </a:rPr>
                          <m:t>∆</m:t>
                        </m:r>
                        <m:r>
                          <a:rPr lang="en-US" altLang="zh-CN" sz="1200" i="1">
                            <a:latin typeface="Cambria Math" panose="02040503050406030204" pitchFamily="18" charset="0"/>
                            <a:cs typeface="宋体" panose="02010600030101010101" pitchFamily="2" charset="-122"/>
                          </a:rPr>
                          <m:t>𝑒</m:t>
                        </m:r>
                      </m:e>
                    </m:d>
                  </m:oMath>
                </a14:m>
                <a:r>
                  <a:rPr lang="zh-CN" altLang="zh-CN" sz="1200" dirty="0">
                    <a:latin typeface="宋体" panose="02010600030101010101" pitchFamily="2" charset="-122"/>
                    <a:cs typeface="宋体" panose="02010600030101010101" pitchFamily="2" charset="-122"/>
                  </a:rPr>
                  <a:t>小于一个误差，</a:t>
                </a:r>
                <a14:m>
                  <m:oMath xmlns:m="http://schemas.openxmlformats.org/officeDocument/2006/math">
                    <m:d>
                      <m:dPr>
                        <m:begChr m:val="‖"/>
                        <m:endChr m:val="‖"/>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dPr>
                      <m:e>
                        <m:sSup>
                          <m:sSup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200" i="1">
                                <a:latin typeface="Cambria Math" panose="02040503050406030204" pitchFamily="18" charset="0"/>
                                <a:cs typeface="宋体" panose="02010600030101010101" pitchFamily="2" charset="-122"/>
                              </a:rPr>
                              <m:t>𝐽</m:t>
                            </m:r>
                          </m:e>
                          <m:sup>
                            <m:r>
                              <a:rPr lang="zh-CN" altLang="en-US" sz="1200" i="1">
                                <a:latin typeface="Cambria Math" panose="02040503050406030204" pitchFamily="18" charset="0"/>
                                <a:ea typeface="微软雅黑" panose="020B0503020204020204" pitchFamily="34" charset="-122"/>
                                <a:cs typeface="微软雅黑" panose="020B0503020204020204" pitchFamily="34" charset="-122"/>
                              </a:rPr>
                              <m:t>−</m:t>
                            </m:r>
                            <m:r>
                              <a:rPr lang="en-US" altLang="zh-CN" sz="1200" i="1">
                                <a:latin typeface="Cambria Math" panose="02040503050406030204" pitchFamily="18" charset="0"/>
                                <a:cs typeface="宋体" panose="02010600030101010101" pitchFamily="2" charset="-122"/>
                              </a:rPr>
                              <m:t>1</m:t>
                            </m:r>
                          </m:sup>
                        </m:sSup>
                        <m:r>
                          <a:rPr lang="en-US" altLang="zh-CN" sz="1200" i="1">
                            <a:latin typeface="Cambria Math" panose="02040503050406030204" pitchFamily="18" charset="0"/>
                            <a:cs typeface="宋体" panose="02010600030101010101" pitchFamily="2" charset="-122"/>
                          </a:rPr>
                          <m:t>∆</m:t>
                        </m:r>
                        <m:r>
                          <a:rPr lang="en-US" altLang="zh-CN" sz="1200" i="1">
                            <a:latin typeface="Cambria Math" panose="02040503050406030204" pitchFamily="18" charset="0"/>
                            <a:cs typeface="宋体" panose="02010600030101010101" pitchFamily="2" charset="-122"/>
                          </a:rPr>
                          <m:t>𝑒</m:t>
                        </m:r>
                      </m:e>
                    </m:d>
                    <m:r>
                      <a:rPr lang="en-US" altLang="zh-CN" sz="1200" i="1">
                        <a:latin typeface="Cambria Math" panose="02040503050406030204" pitchFamily="18" charset="0"/>
                        <a:cs typeface="宋体" panose="02010600030101010101" pitchFamily="2" charset="-122"/>
                      </a:rPr>
                      <m:t>&lt;</m:t>
                    </m:r>
                    <m:r>
                      <a:rPr lang="en-US" altLang="zh-CN" sz="1200" i="1">
                        <a:latin typeface="Cambria Math" panose="02040503050406030204" pitchFamily="18" charset="0"/>
                        <a:cs typeface="宋体" panose="02010600030101010101" pitchFamily="2" charset="-122"/>
                      </a:rPr>
                      <m:t>𝜀</m:t>
                    </m:r>
                  </m:oMath>
                </a14:m>
                <a:r>
                  <a:rPr lang="en-US" altLang="zh-CN" sz="1200" dirty="0">
                    <a:latin typeface="宋体" panose="02010600030101010101" pitchFamily="2" charset="-122"/>
                    <a:cs typeface="宋体" panose="02010600030101010101" pitchFamily="2" charset="-122"/>
                  </a:rPr>
                  <a:t>,</a:t>
                </a:r>
                <a:r>
                  <a:rPr lang="zh-CN" altLang="zh-CN" sz="1200" dirty="0">
                    <a:latin typeface="宋体" panose="02010600030101010101" pitchFamily="2" charset="-122"/>
                    <a:cs typeface="宋体" panose="02010600030101010101" pitchFamily="2" charset="-122"/>
                  </a:rPr>
                  <a:t>则停止迭代，</a:t>
                </a:r>
                <a14:m>
                  <m:oMath xmlns:m="http://schemas.openxmlformats.org/officeDocument/2006/math">
                    <m:r>
                      <a:rPr lang="en-US" altLang="zh-CN" sz="1200" i="1">
                        <a:latin typeface="Cambria Math" panose="02040503050406030204" pitchFamily="18" charset="0"/>
                        <a:cs typeface="宋体" panose="02010600030101010101" pitchFamily="2" charset="-122"/>
                      </a:rPr>
                      <m:t>𝑄</m:t>
                    </m:r>
                  </m:oMath>
                </a14:m>
                <a:r>
                  <a:rPr lang="zh-CN" altLang="zh-CN" sz="1200" dirty="0">
                    <a:latin typeface="宋体" panose="02010600030101010101" pitchFamily="2" charset="-122"/>
                    <a:cs typeface="宋体" panose="02010600030101010101" pitchFamily="2" charset="-122"/>
                  </a:rPr>
                  <a:t>就是期望解。</a:t>
                </a:r>
              </a:p>
              <a:p>
                <a:pPr indent="266700">
                  <a:spcBef>
                    <a:spcPts val="600"/>
                  </a:spcBef>
                  <a:spcAft>
                    <a:spcPts val="600"/>
                  </a:spcAft>
                </a:pPr>
                <a:r>
                  <a:rPr lang="en-US" altLang="zh-CN" sz="1200" dirty="0">
                    <a:latin typeface="宋体" panose="02010600030101010101" pitchFamily="2" charset="-122"/>
                    <a:cs typeface="宋体" panose="02010600030101010101" pitchFamily="2" charset="-122"/>
                  </a:rPr>
                  <a:t>5) </a:t>
                </a:r>
                <a:r>
                  <a:rPr lang="zh-CN" altLang="zh-CN" sz="1200" dirty="0">
                    <a:latin typeface="宋体" panose="02010600030101010101" pitchFamily="2" charset="-122"/>
                    <a:cs typeface="宋体" panose="02010600030101010101" pitchFamily="2" charset="-122"/>
                  </a:rPr>
                  <a:t>更新假设位姿：</a:t>
                </a:r>
              </a:p>
              <a:p>
                <a:pPr indent="266700">
                  <a:spcBef>
                    <a:spcPts val="600"/>
                  </a:spcBef>
                  <a:spcAft>
                    <a:spcPts val="600"/>
                  </a:spcAft>
                </a:pPr>
                <a:r>
                  <a:rPr lang="en-US" altLang="zh-CN" sz="1200" dirty="0">
                    <a:latin typeface="宋体" panose="02010600030101010101" pitchFamily="2" charset="-122"/>
                    <a:cs typeface="宋体" panose="02010600030101010101" pitchFamily="2" charset="-122"/>
                  </a:rPr>
                  <a:t>	</a:t>
                </a:r>
                <a14:m>
                  <m:oMath xmlns:m="http://schemas.openxmlformats.org/officeDocument/2006/math">
                    <m:r>
                      <a:rPr lang="en-US" altLang="zh-CN" sz="1200" i="1">
                        <a:latin typeface="Cambria Math" panose="02040503050406030204" pitchFamily="18" charset="0"/>
                        <a:cs typeface="宋体" panose="02010600030101010101" pitchFamily="2" charset="-122"/>
                      </a:rPr>
                      <m:t>𝑄</m:t>
                    </m:r>
                    <m:r>
                      <a:rPr lang="en-US" altLang="zh-CN" sz="1200" i="1">
                        <a:latin typeface="Cambria Math" panose="02040503050406030204" pitchFamily="18" charset="0"/>
                        <a:cs typeface="宋体" panose="02010600030101010101" pitchFamily="2" charset="-122"/>
                      </a:rPr>
                      <m:t>=</m:t>
                    </m:r>
                    <m:r>
                      <a:rPr lang="en-US" altLang="zh-CN" sz="1200" i="1">
                        <a:latin typeface="Cambria Math" panose="02040503050406030204" pitchFamily="18" charset="0"/>
                        <a:cs typeface="宋体" panose="02010600030101010101" pitchFamily="2" charset="-122"/>
                      </a:rPr>
                      <m:t>𝑄</m:t>
                    </m:r>
                    <m:r>
                      <a:rPr lang="en-US" altLang="zh-CN" sz="1200" i="1">
                        <a:latin typeface="Cambria Math" panose="02040503050406030204" pitchFamily="18" charset="0"/>
                        <a:cs typeface="宋体" panose="02010600030101010101" pitchFamily="2" charset="-122"/>
                      </a:rPr>
                      <m:t>+∆</m:t>
                    </m:r>
                    <m:r>
                      <a:rPr lang="en-US" altLang="zh-CN" sz="1200" i="1">
                        <a:latin typeface="Cambria Math" panose="02040503050406030204" pitchFamily="18" charset="0"/>
                        <a:cs typeface="宋体" panose="02010600030101010101" pitchFamily="2" charset="-122"/>
                      </a:rPr>
                      <m:t>𝑄</m:t>
                    </m:r>
                  </m:oMath>
                </a14:m>
                <a:endParaRPr lang="zh-CN" altLang="zh-CN" sz="1200" dirty="0">
                  <a:latin typeface="宋体" panose="02010600030101010101" pitchFamily="2" charset="-122"/>
                  <a:cs typeface="宋体" panose="02010600030101010101" pitchFamily="2" charset="-122"/>
                </a:endParaRPr>
              </a:p>
              <a:p>
                <a:r>
                  <a:rPr lang="en-US" altLang="zh-CN" sz="1200" dirty="0">
                    <a:effectLst/>
                    <a:latin typeface="等线" panose="02010600030101010101" pitchFamily="2" charset="-122"/>
                    <a:cs typeface="Times New Roman" panose="02020603050405020304" pitchFamily="18" charset="0"/>
                  </a:rPr>
                  <a:t>	</a:t>
                </a:r>
                <a:r>
                  <a:rPr lang="zh-CN" altLang="zh-CN" sz="1200" dirty="0">
                    <a:effectLst/>
                    <a:ea typeface="等线" panose="02010600030101010101" pitchFamily="2" charset="-122"/>
                    <a:cs typeface="Times New Roman" panose="02020603050405020304" pitchFamily="18" charset="0"/>
                  </a:rPr>
                  <a:t>返回步骤</a:t>
                </a:r>
                <a:r>
                  <a:rPr lang="en-US" altLang="zh-CN" sz="1200" dirty="0">
                    <a:effectLst/>
                    <a:ea typeface="等线" panose="02010600030101010101" pitchFamily="2" charset="-122"/>
                    <a:cs typeface="Times New Roman" panose="02020603050405020304" pitchFamily="18" charset="0"/>
                  </a:rPr>
                  <a:t>2)</a:t>
                </a:r>
                <a:r>
                  <a:rPr lang="zh-CN" altLang="zh-CN" sz="1200" dirty="0">
                    <a:effectLst/>
                    <a:ea typeface="等线" panose="02010600030101010101" pitchFamily="2" charset="-122"/>
                    <a:cs typeface="Times New Roman" panose="02020603050405020304" pitchFamily="18" charset="0"/>
                  </a:rPr>
                  <a:t>。</a:t>
                </a:r>
                <a:endParaRPr lang="zh-CN" altLang="en-US" sz="1200" dirty="0"/>
              </a:p>
            </p:txBody>
          </p:sp>
        </mc:Choice>
        <mc:Fallback xmlns="">
          <p:sp>
            <p:nvSpPr>
              <p:cNvPr id="18" name="矩形 17"/>
              <p:cNvSpPr>
                <a:spLocks noRot="1" noChangeAspect="1" noMove="1" noResize="1" noEditPoints="1" noAdjustHandles="1" noChangeArrowheads="1" noChangeShapeType="1" noTextEdit="1"/>
              </p:cNvSpPr>
              <p:nvPr/>
            </p:nvSpPr>
            <p:spPr>
              <a:xfrm>
                <a:off x="3564607" y="437320"/>
                <a:ext cx="5297453" cy="3999365"/>
              </a:xfrm>
              <a:prstGeom prst="rect">
                <a:avLst/>
              </a:prstGeom>
              <a:blipFill>
                <a:blip r:embed="rId6"/>
                <a:stretch>
                  <a:fillRect l="-115" b="-305"/>
                </a:stretch>
              </a:blipFill>
            </p:spPr>
            <p:txBody>
              <a:bodyPr/>
              <a:lstStyle/>
              <a:p>
                <a:r>
                  <a:rPr lang="zh-CN" altLang="en-US">
                    <a:noFill/>
                  </a:rPr>
                  <a:t> </a:t>
                </a:r>
              </a:p>
            </p:txBody>
          </p:sp>
        </mc:Fallback>
      </mc:AlternateContent>
      <p:sp>
        <p:nvSpPr>
          <p:cNvPr id="19" name="圆角矩形 18"/>
          <p:cNvSpPr/>
          <p:nvPr/>
        </p:nvSpPr>
        <p:spPr>
          <a:xfrm>
            <a:off x="3491881" y="437320"/>
            <a:ext cx="5370180" cy="399936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 name="矩形 2"/>
              <p:cNvSpPr/>
              <p:nvPr/>
            </p:nvSpPr>
            <p:spPr>
              <a:xfrm>
                <a:off x="6595163" y="2574783"/>
                <a:ext cx="1188723" cy="338554"/>
              </a:xfrm>
              <a:prstGeom prst="rect">
                <a:avLst/>
              </a:prstGeom>
            </p:spPr>
            <p:txBody>
              <a:bodyPr wrap="none">
                <a:spAutoFit/>
              </a:bodyPr>
              <a:lstStyle/>
              <a:p>
                <a14:m>
                  <m:oMath xmlns:m="http://schemas.openxmlformats.org/officeDocument/2006/math">
                    <m:r>
                      <a:rPr lang="en-US" altLang="zh-CN" sz="1600" i="1" smtClean="0">
                        <a:solidFill>
                          <a:srgbClr val="FF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smtClean="0">
                        <a:solidFill>
                          <a:srgbClr val="FF0000"/>
                        </a:solidFill>
                        <a:latin typeface="Cambria Math" panose="02040503050406030204" pitchFamily="18" charset="0"/>
                        <a:ea typeface="等线" panose="02010600030101010101" pitchFamily="2" charset="-122"/>
                        <a:cs typeface="Times New Roman" panose="02020603050405020304" pitchFamily="18" charset="0"/>
                      </a:rPr>
                      <m:t>𝑄</m:t>
                    </m:r>
                    <m:r>
                      <a:rPr lang="en-US" altLang="zh-CN" sz="1600" i="1" smtClean="0">
                        <a:solidFill>
                          <a:srgbClr val="FF0000"/>
                        </a:solidFill>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600" i="1">
                            <a:solidFill>
                              <a:srgbClr val="FF0000"/>
                            </a:solidFill>
                            <a:effectLst/>
                            <a:latin typeface="Cambria Math" panose="02040503050406030204" pitchFamily="18" charset="0"/>
                            <a:ea typeface="Cambria Math" panose="02040503050406030204" pitchFamily="18" charset="0"/>
                          </a:rPr>
                        </m:ctrlPr>
                      </m:sSupPr>
                      <m:e>
                        <m:r>
                          <a:rPr lang="en-US" altLang="zh-CN" sz="1600" i="1">
                            <a:solidFill>
                              <a:srgbClr val="FF0000"/>
                            </a:solidFill>
                            <a:latin typeface="Cambria Math" panose="02040503050406030204" pitchFamily="18" charset="0"/>
                            <a:ea typeface="等线" panose="02010600030101010101" pitchFamily="2" charset="-122"/>
                            <a:cs typeface="Times New Roman" panose="02020603050405020304" pitchFamily="18" charset="0"/>
                          </a:rPr>
                          <m:t>𝐽</m:t>
                        </m:r>
                      </m:e>
                      <m:sup>
                        <m:r>
                          <a:rPr lang="en-US" altLang="zh-CN" sz="1600" i="1">
                            <a:solidFill>
                              <a:srgbClr val="FF0000"/>
                            </a:solidFill>
                            <a:latin typeface="Cambria Math" panose="02040503050406030204" pitchFamily="18" charset="0"/>
                            <a:ea typeface="微软雅黑" panose="020B0503020204020204" pitchFamily="34" charset="-122"/>
                            <a:cs typeface="微软雅黑" panose="020B0503020204020204" pitchFamily="34" charset="-122"/>
                          </a:rPr>
                          <m:t>𝑇</m:t>
                        </m:r>
                      </m:sup>
                    </m:sSup>
                    <m:r>
                      <a:rPr lang="en-US" altLang="zh-CN" sz="1600" i="1">
                        <a:solidFill>
                          <a:srgbClr val="FF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solidFill>
                          <a:srgbClr val="FF0000"/>
                        </a:solidFill>
                        <a:latin typeface="Cambria Math" panose="02040503050406030204" pitchFamily="18" charset="0"/>
                        <a:ea typeface="等线" panose="02010600030101010101" pitchFamily="2" charset="-122"/>
                        <a:cs typeface="Times New Roman" panose="02020603050405020304" pitchFamily="18" charset="0"/>
                      </a:rPr>
                      <m:t>𝑒</m:t>
                    </m:r>
                  </m:oMath>
                </a14:m>
                <a:r>
                  <a:rPr lang="en-US" altLang="zh-CN" sz="1600" dirty="0">
                    <a:solidFill>
                      <a:srgbClr val="FF0000"/>
                    </a:solidFill>
                    <a:latin typeface="等线" panose="02010600030101010101" pitchFamily="2" charset="-122"/>
                    <a:cs typeface="Times New Roman" panose="02020603050405020304" pitchFamily="18" charset="0"/>
                  </a:rPr>
                  <a:t> </a:t>
                </a:r>
                <a:endParaRPr lang="zh-CN" altLang="en-US" sz="1600" dirty="0">
                  <a:solidFill>
                    <a:srgbClr val="FF0000"/>
                  </a:solidFill>
                </a:endParaRPr>
              </a:p>
            </p:txBody>
          </p:sp>
        </mc:Choice>
        <mc:Fallback xmlns="">
          <p:sp>
            <p:nvSpPr>
              <p:cNvPr id="3" name="矩形 2"/>
              <p:cNvSpPr>
                <a:spLocks noRot="1" noChangeAspect="1" noMove="1" noResize="1" noEditPoints="1" noAdjustHandles="1" noChangeArrowheads="1" noChangeShapeType="1" noTextEdit="1"/>
              </p:cNvSpPr>
              <p:nvPr/>
            </p:nvSpPr>
            <p:spPr>
              <a:xfrm>
                <a:off x="6595163" y="2574783"/>
                <a:ext cx="1188723" cy="338554"/>
              </a:xfrm>
              <a:prstGeom prst="rect">
                <a:avLst/>
              </a:prstGeom>
              <a:blipFill>
                <a:blip r:embed="rId7"/>
                <a:stretch>
                  <a:fillRect b="-8929"/>
                </a:stretch>
              </a:blipFill>
            </p:spPr>
            <p:txBody>
              <a:bodyPr/>
              <a:lstStyle/>
              <a:p>
                <a:r>
                  <a:rPr lang="zh-CN" altLang="en-US">
                    <a:noFill/>
                  </a:rPr>
                  <a:t> </a:t>
                </a:r>
              </a:p>
            </p:txBody>
          </p:sp>
        </mc:Fallback>
      </mc:AlternateContent>
      <p:sp>
        <p:nvSpPr>
          <p:cNvPr id="4" name="圆角矩形 3"/>
          <p:cNvSpPr/>
          <p:nvPr/>
        </p:nvSpPr>
        <p:spPr>
          <a:xfrm>
            <a:off x="5580112" y="2574783"/>
            <a:ext cx="936104" cy="42901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流程图: 汇总连接 4"/>
          <p:cNvSpPr/>
          <p:nvPr/>
        </p:nvSpPr>
        <p:spPr>
          <a:xfrm>
            <a:off x="5724128" y="2574783"/>
            <a:ext cx="720080" cy="429015"/>
          </a:xfrm>
          <a:prstGeom prst="flowChartSummingJuncti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0981215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236220" y="219075"/>
            <a:ext cx="5153660" cy="598805"/>
            <a:chOff x="-372" y="345"/>
            <a:chExt cx="8116" cy="943"/>
          </a:xfrm>
        </p:grpSpPr>
        <p:sp>
          <p:nvSpPr>
            <p:cNvPr id="39" name="矩形 3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Numerical Solutions for Inverse Kinematics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40" name="文本框 39"/>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逆运动学的数值求解</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41" name="椭圆 4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1116335" y="826426"/>
            <a:ext cx="2448272" cy="830997"/>
          </a:xfrm>
          <a:prstGeom prst="rect">
            <a:avLst/>
          </a:prstGeom>
        </p:spPr>
        <p:txBody>
          <a:bodyPr wrap="square">
            <a:spAutoFit/>
          </a:bodyPr>
          <a:lstStyle/>
          <a:p>
            <a:r>
              <a:rPr lang="zh-CN" altLang="en-US" sz="1600" b="1" dirty="0">
                <a:solidFill>
                  <a:srgbClr val="002060"/>
                </a:solidFill>
              </a:rPr>
              <a:t>雅可比伪逆矩阵迭代法</a:t>
            </a:r>
            <a:r>
              <a:rPr lang="en-US" altLang="zh-CN" sz="1600" b="1" dirty="0">
                <a:solidFill>
                  <a:srgbClr val="002060"/>
                </a:solidFill>
              </a:rPr>
              <a:t>(Jacobian Pseudo Inverse Method)</a:t>
            </a:r>
            <a:endParaRPr lang="zh-CN" altLang="en-US" sz="1600" b="1" dirty="0">
              <a:solidFill>
                <a:srgbClr val="002060"/>
              </a:solidFill>
            </a:endParaRPr>
          </a:p>
        </p:txBody>
      </p:sp>
      <mc:AlternateContent xmlns:mc="http://schemas.openxmlformats.org/markup-compatibility/2006" xmlns:a14="http://schemas.microsoft.com/office/drawing/2010/main">
        <mc:Choice Requires="a14">
          <p:sp>
            <p:nvSpPr>
              <p:cNvPr id="6" name="矩形 5"/>
              <p:cNvSpPr/>
              <p:nvPr/>
            </p:nvSpPr>
            <p:spPr>
              <a:xfrm>
                <a:off x="1714453" y="1716199"/>
                <a:ext cx="1074653"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a:latin typeface="Cambria Math" panose="02040503050406030204" pitchFamily="18" charset="0"/>
                        </a:rPr>
                        <m:t>∆</m:t>
                      </m:r>
                      <m:r>
                        <a:rPr lang="zh-CN" altLang="en-US" sz="1600" i="1">
                          <a:latin typeface="Cambria Math" panose="02040503050406030204" pitchFamily="18" charset="0"/>
                        </a:rPr>
                        <m:t>𝑒</m:t>
                      </m:r>
                      <m:r>
                        <a:rPr lang="zh-CN" altLang="en-US" sz="1600" i="0">
                          <a:latin typeface="Cambria Math" panose="02040503050406030204" pitchFamily="18" charset="0"/>
                        </a:rPr>
                        <m:t>≈</m:t>
                      </m:r>
                      <m:r>
                        <a:rPr lang="zh-CN" altLang="en-US" sz="1600" i="1">
                          <a:latin typeface="Cambria Math" panose="02040503050406030204" pitchFamily="18" charset="0"/>
                        </a:rPr>
                        <m:t>𝐽</m:t>
                      </m:r>
                      <m:r>
                        <a:rPr lang="zh-CN" altLang="en-US" sz="1600" i="0">
                          <a:latin typeface="Cambria Math" panose="02040503050406030204" pitchFamily="18" charset="0"/>
                        </a:rPr>
                        <m:t>∆</m:t>
                      </m:r>
                      <m:r>
                        <a:rPr lang="zh-CN" altLang="en-US" sz="1600" i="1">
                          <a:latin typeface="Cambria Math" panose="02040503050406030204" pitchFamily="18" charset="0"/>
                        </a:rPr>
                        <m:t>𝑄</m:t>
                      </m:r>
                    </m:oMath>
                  </m:oMathPara>
                </a14:m>
                <a:endParaRPr lang="zh-CN" altLang="en-US" sz="1600" dirty="0"/>
              </a:p>
            </p:txBody>
          </p:sp>
        </mc:Choice>
        <mc:Fallback xmlns="">
          <p:sp>
            <p:nvSpPr>
              <p:cNvPr id="6" name="矩形 5"/>
              <p:cNvSpPr>
                <a:spLocks noRot="1" noChangeAspect="1" noMove="1" noResize="1" noEditPoints="1" noAdjustHandles="1" noChangeArrowheads="1" noChangeShapeType="1" noTextEdit="1"/>
              </p:cNvSpPr>
              <p:nvPr/>
            </p:nvSpPr>
            <p:spPr>
              <a:xfrm>
                <a:off x="1714453" y="1716199"/>
                <a:ext cx="1074653" cy="338554"/>
              </a:xfrm>
              <a:prstGeom prst="rect">
                <a:avLst/>
              </a:prstGeom>
              <a:blipFill>
                <a:blip r:embed="rId4"/>
                <a:stretch>
                  <a:fillRect b="-90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1701097" y="2079974"/>
                <a:ext cx="1278748"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a:latin typeface="Cambria Math" panose="02040503050406030204" pitchFamily="18" charset="0"/>
                        </a:rPr>
                        <m:t>∆</m:t>
                      </m:r>
                      <m:r>
                        <a:rPr lang="zh-CN" altLang="en-US" sz="1600" i="1">
                          <a:latin typeface="Cambria Math" panose="02040503050406030204" pitchFamily="18" charset="0"/>
                        </a:rPr>
                        <m:t>𝑄</m:t>
                      </m:r>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𝐽</m:t>
                          </m:r>
                        </m:e>
                        <m:sup>
                          <m:r>
                            <a:rPr lang="zh-CN" altLang="en-US" sz="1600" i="0">
                              <a:latin typeface="Cambria Math" panose="02040503050406030204" pitchFamily="18" charset="0"/>
                            </a:rPr>
                            <m:t>−1</m:t>
                          </m:r>
                        </m:sup>
                      </m:sSup>
                      <m:r>
                        <a:rPr lang="zh-CN" altLang="en-US" sz="1600" i="0">
                          <a:latin typeface="Cambria Math" panose="02040503050406030204" pitchFamily="18" charset="0"/>
                        </a:rPr>
                        <m:t>∆</m:t>
                      </m:r>
                      <m:r>
                        <a:rPr lang="zh-CN" altLang="en-US" sz="1600" i="1">
                          <a:latin typeface="Cambria Math" panose="02040503050406030204" pitchFamily="18" charset="0"/>
                        </a:rPr>
                        <m:t>𝑒</m:t>
                      </m:r>
                    </m:oMath>
                  </m:oMathPara>
                </a14:m>
                <a:endParaRPr lang="zh-CN" altLang="en-US" sz="1600" dirty="0"/>
              </a:p>
            </p:txBody>
          </p:sp>
        </mc:Choice>
        <mc:Fallback xmlns="">
          <p:sp>
            <p:nvSpPr>
              <p:cNvPr id="7" name="矩形 6"/>
              <p:cNvSpPr>
                <a:spLocks noRot="1" noChangeAspect="1" noMove="1" noResize="1" noEditPoints="1" noAdjustHandles="1" noChangeArrowheads="1" noChangeShapeType="1" noTextEdit="1"/>
              </p:cNvSpPr>
              <p:nvPr/>
            </p:nvSpPr>
            <p:spPr>
              <a:xfrm>
                <a:off x="1701097" y="2079974"/>
                <a:ext cx="1278748" cy="338554"/>
              </a:xfrm>
              <a:prstGeom prst="rect">
                <a:avLst/>
              </a:prstGeom>
              <a:blipFill>
                <a:blip r:embed="rId5"/>
                <a:stretch>
                  <a:fillRect b="-89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1296355" y="2552281"/>
                <a:ext cx="2088232" cy="846065"/>
              </a:xfrm>
              <a:prstGeom prst="rect">
                <a:avLst/>
              </a:prstGeom>
            </p:spPr>
            <p:txBody>
              <a:bodyPr wrap="square">
                <a:spAutoFit/>
              </a:bodyPr>
              <a:lstStyle/>
              <a:p>
                <a:r>
                  <a:rPr lang="zh-CN" altLang="zh-CN" sz="1200" dirty="0">
                    <a:ea typeface="等线" panose="02010600030101010101" pitchFamily="2" charset="-122"/>
                    <a:cs typeface="Times New Roman" panose="02020603050405020304" pitchFamily="18" charset="0"/>
                  </a:rPr>
                  <a:t>如果已知末端执行器的目标位姿</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𝑇</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𝑔</m:t>
                        </m:r>
                      </m:sub>
                    </m:sSub>
                  </m:oMath>
                </a14:m>
                <a:r>
                  <a:rPr lang="zh-CN" altLang="zh-CN" sz="1200" dirty="0">
                    <a:ea typeface="等线" panose="02010600030101010101" pitchFamily="2" charset="-122"/>
                    <a:cs typeface="Times New Roman" panose="02020603050405020304" pitchFamily="18" charset="0"/>
                  </a:rPr>
                  <a:t>，采用迭代法，我们可以求出各关节的运动变量</a:t>
                </a:r>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𝑄</m:t>
                    </m:r>
                  </m:oMath>
                </a14:m>
                <a:r>
                  <a:rPr lang="zh-CN" altLang="zh-CN" sz="1200" dirty="0">
                    <a:ea typeface="等线" panose="02010600030101010101" pitchFamily="2" charset="-122"/>
                    <a:cs typeface="Times New Roman" panose="02020603050405020304" pitchFamily="18" charset="0"/>
                  </a:rPr>
                  <a:t>。</a:t>
                </a:r>
                <a:endParaRPr lang="zh-CN" altLang="en-US" sz="1200" dirty="0"/>
              </a:p>
            </p:txBody>
          </p:sp>
        </mc:Choice>
        <mc:Fallback xmlns="">
          <p:sp>
            <p:nvSpPr>
              <p:cNvPr id="17" name="矩形 16"/>
              <p:cNvSpPr>
                <a:spLocks noRot="1" noChangeAspect="1" noMove="1" noResize="1" noEditPoints="1" noAdjustHandles="1" noChangeArrowheads="1" noChangeShapeType="1" noTextEdit="1"/>
              </p:cNvSpPr>
              <p:nvPr/>
            </p:nvSpPr>
            <p:spPr>
              <a:xfrm>
                <a:off x="1296355" y="2552281"/>
                <a:ext cx="2088232" cy="846065"/>
              </a:xfrm>
              <a:prstGeom prst="rect">
                <a:avLst/>
              </a:prstGeom>
              <a:blipFill>
                <a:blip r:embed="rId6"/>
                <a:stretch>
                  <a:fillRect l="-292" t="-725" b="-5797"/>
                </a:stretch>
              </a:blipFill>
            </p:spPr>
            <p:txBody>
              <a:bodyPr/>
              <a:lstStyle/>
              <a:p>
                <a:r>
                  <a:rPr lang="zh-CN" altLang="en-US">
                    <a:noFill/>
                  </a:rPr>
                  <a:t> </a:t>
                </a:r>
              </a:p>
            </p:txBody>
          </p:sp>
        </mc:Fallback>
      </mc:AlternateContent>
      <p:sp>
        <p:nvSpPr>
          <p:cNvPr id="3" name="矩形 2"/>
          <p:cNvSpPr/>
          <p:nvPr/>
        </p:nvSpPr>
        <p:spPr>
          <a:xfrm>
            <a:off x="3923928" y="820753"/>
            <a:ext cx="2914580" cy="338554"/>
          </a:xfrm>
          <a:prstGeom prst="rect">
            <a:avLst/>
          </a:prstGeom>
        </p:spPr>
        <p:txBody>
          <a:bodyPr wrap="none">
            <a:spAutoFit/>
          </a:bodyPr>
          <a:lstStyle/>
          <a:p>
            <a:r>
              <a:rPr lang="zh-CN" altLang="zh-CN" sz="1600" dirty="0">
                <a:ea typeface="等线" panose="02010600030101010101" pitchFamily="2" charset="-122"/>
                <a:cs typeface="Times New Roman" panose="02020603050405020304" pitchFamily="18" charset="0"/>
              </a:rPr>
              <a:t>牛顿</a:t>
            </a:r>
            <a:r>
              <a:rPr lang="en-US" altLang="zh-CN" sz="1600" dirty="0">
                <a:ea typeface="等线" panose="02010600030101010101" pitchFamily="2" charset="-122"/>
                <a:cs typeface="Times New Roman" panose="02020603050405020304" pitchFamily="18" charset="0"/>
              </a:rPr>
              <a:t>-</a:t>
            </a:r>
            <a:r>
              <a:rPr lang="zh-CN" altLang="zh-CN" sz="1600" dirty="0">
                <a:ea typeface="等线" panose="02010600030101010101" pitchFamily="2" charset="-122"/>
                <a:cs typeface="Times New Roman" panose="02020603050405020304" pitchFamily="18" charset="0"/>
              </a:rPr>
              <a:t>拉夫森法求解非线性方程</a:t>
            </a:r>
            <a:endParaRPr lang="zh-CN" altLang="en-US" sz="1600" dirty="0"/>
          </a:p>
        </p:txBody>
      </p:sp>
      <mc:AlternateContent xmlns:mc="http://schemas.openxmlformats.org/markup-compatibility/2006" xmlns:a14="http://schemas.microsoft.com/office/drawing/2010/main">
        <mc:Choice Requires="a14">
          <p:sp>
            <p:nvSpPr>
              <p:cNvPr id="4" name="矩形 3"/>
              <p:cNvSpPr/>
              <p:nvPr/>
            </p:nvSpPr>
            <p:spPr>
              <a:xfrm>
                <a:off x="3779912" y="1271924"/>
                <a:ext cx="4824536" cy="591187"/>
              </a:xfrm>
              <a:prstGeom prst="rect">
                <a:avLst/>
              </a:prstGeom>
            </p:spPr>
            <p:txBody>
              <a:bodyPr wrap="square">
                <a:spAutoFit/>
              </a:bodyPr>
              <a:lstStyle/>
              <a:p>
                <a:r>
                  <a:rPr lang="zh-CN" altLang="zh-CN" sz="1600" dirty="0" smtClean="0">
                    <a:solidFill>
                      <a:srgbClr val="FF0000"/>
                    </a:solidFill>
                    <a:ea typeface="等线" panose="02010600030101010101" pitchFamily="2" charset="-122"/>
                    <a:cs typeface="Times New Roman" panose="02020603050405020304" pitchFamily="18" charset="0"/>
                  </a:rPr>
                  <a:t>如果</a:t>
                </a:r>
                <a14:m>
                  <m:oMath xmlns:m="http://schemas.openxmlformats.org/officeDocument/2006/math">
                    <m:r>
                      <a:rPr lang="en-US" altLang="zh-CN" sz="1600" i="1">
                        <a:solidFill>
                          <a:srgbClr val="FF0000"/>
                        </a:solidFill>
                        <a:latin typeface="Cambria Math" panose="02040503050406030204" pitchFamily="18" charset="0"/>
                        <a:ea typeface="等线" panose="02010600030101010101" pitchFamily="2" charset="-122"/>
                        <a:cs typeface="Times New Roman" panose="02020603050405020304" pitchFamily="18" charset="0"/>
                      </a:rPr>
                      <m:t>𝐽</m:t>
                    </m:r>
                  </m:oMath>
                </a14:m>
                <a:r>
                  <a:rPr lang="zh-CN" altLang="zh-CN" sz="1600" dirty="0">
                    <a:solidFill>
                      <a:srgbClr val="FF0000"/>
                    </a:solidFill>
                    <a:ea typeface="等线" panose="02010600030101010101" pitchFamily="2" charset="-122"/>
                    <a:cs typeface="Times New Roman" panose="02020603050405020304" pitchFamily="18" charset="0"/>
                  </a:rPr>
                  <a:t>不是方阵，或者存在奇异，则</a:t>
                </a:r>
                <a14:m>
                  <m:oMath xmlns:m="http://schemas.openxmlformats.org/officeDocument/2006/math">
                    <m:r>
                      <a:rPr lang="en-US" altLang="zh-CN" sz="1600" i="1">
                        <a:solidFill>
                          <a:srgbClr val="FF0000"/>
                        </a:solidFill>
                        <a:latin typeface="Cambria Math" panose="02040503050406030204" pitchFamily="18" charset="0"/>
                        <a:ea typeface="等线" panose="02010600030101010101" pitchFamily="2" charset="-122"/>
                        <a:cs typeface="Times New Roman" panose="02020603050405020304" pitchFamily="18" charset="0"/>
                      </a:rPr>
                      <m:t>𝐽</m:t>
                    </m:r>
                  </m:oMath>
                </a14:m>
                <a:r>
                  <a:rPr lang="zh-CN" altLang="zh-CN" sz="1600" dirty="0">
                    <a:solidFill>
                      <a:srgbClr val="FF0000"/>
                    </a:solidFill>
                    <a:ea typeface="等线" panose="02010600030101010101" pitchFamily="2" charset="-122"/>
                    <a:cs typeface="Times New Roman" panose="02020603050405020304" pitchFamily="18" charset="0"/>
                  </a:rPr>
                  <a:t>不可逆。这时我们可以将</a:t>
                </a:r>
                <a14:m>
                  <m:oMath xmlns:m="http://schemas.openxmlformats.org/officeDocument/2006/math">
                    <m:sSup>
                      <m:sSupPr>
                        <m:ctrlPr>
                          <a:rPr lang="zh-CN" altLang="zh-CN" sz="1600" i="1">
                            <a:solidFill>
                              <a:srgbClr val="FF0000"/>
                            </a:solidFill>
                            <a:effectLst/>
                            <a:latin typeface="Cambria Math" panose="02040503050406030204" pitchFamily="18" charset="0"/>
                            <a:ea typeface="Cambria Math" panose="02040503050406030204" pitchFamily="18" charset="0"/>
                          </a:rPr>
                        </m:ctrlPr>
                      </m:sSupPr>
                      <m:e>
                        <m:r>
                          <a:rPr lang="en-US" altLang="zh-CN" sz="1600" i="1">
                            <a:solidFill>
                              <a:srgbClr val="FF0000"/>
                            </a:solidFill>
                            <a:latin typeface="Cambria Math" panose="02040503050406030204" pitchFamily="18" charset="0"/>
                            <a:ea typeface="等线" panose="02010600030101010101" pitchFamily="2" charset="-122"/>
                            <a:cs typeface="Times New Roman" panose="02020603050405020304" pitchFamily="18" charset="0"/>
                          </a:rPr>
                          <m:t>𝐽</m:t>
                        </m:r>
                      </m:e>
                      <m:sup>
                        <m:r>
                          <a:rPr lang="zh-CN" altLang="en-US" sz="1600" i="1">
                            <a:solidFill>
                              <a:srgbClr val="FF0000"/>
                            </a:solidFill>
                            <a:latin typeface="Cambria Math" panose="02040503050406030204" pitchFamily="18" charset="0"/>
                            <a:ea typeface="微软雅黑" panose="020B0503020204020204" pitchFamily="34" charset="-122"/>
                            <a:cs typeface="微软雅黑" panose="020B0503020204020204" pitchFamily="34" charset="-122"/>
                          </a:rPr>
                          <m:t>−</m:t>
                        </m:r>
                        <m:r>
                          <a:rPr lang="en-US" altLang="zh-CN" sz="1600" i="1">
                            <a:solidFill>
                              <a:srgbClr val="FF0000"/>
                            </a:solidFill>
                            <a:latin typeface="Cambria Math" panose="02040503050406030204" pitchFamily="18" charset="0"/>
                            <a:ea typeface="等线" panose="02010600030101010101" pitchFamily="2" charset="-122"/>
                            <a:cs typeface="Times New Roman" panose="02020603050405020304" pitchFamily="18" charset="0"/>
                          </a:rPr>
                          <m:t>1</m:t>
                        </m:r>
                      </m:sup>
                    </m:sSup>
                  </m:oMath>
                </a14:m>
                <a:r>
                  <a:rPr lang="zh-CN" altLang="zh-CN" sz="1600" dirty="0">
                    <a:solidFill>
                      <a:srgbClr val="FF0000"/>
                    </a:solidFill>
                    <a:ea typeface="等线" panose="02010600030101010101" pitchFamily="2" charset="-122"/>
                    <a:cs typeface="Times New Roman" panose="02020603050405020304" pitchFamily="18" charset="0"/>
                  </a:rPr>
                  <a:t>替换成</a:t>
                </a:r>
                <a:r>
                  <a:rPr lang="en-US" altLang="zh-CN" sz="1600" dirty="0">
                    <a:solidFill>
                      <a:srgbClr val="FF0000"/>
                    </a:solidFill>
                    <a:ea typeface="等线" panose="02010600030101010101" pitchFamily="2" charset="-122"/>
                    <a:cs typeface="Times New Roman" panose="02020603050405020304" pitchFamily="18" charset="0"/>
                  </a:rPr>
                  <a:t>Moore-Penrose</a:t>
                </a:r>
                <a:r>
                  <a:rPr lang="zh-CN" altLang="zh-CN" sz="1600" dirty="0">
                    <a:solidFill>
                      <a:srgbClr val="FF0000"/>
                    </a:solidFill>
                    <a:ea typeface="等线" panose="02010600030101010101" pitchFamily="2" charset="-122"/>
                    <a:cs typeface="Times New Roman" panose="02020603050405020304" pitchFamily="18" charset="0"/>
                  </a:rPr>
                  <a:t>伪逆形式</a:t>
                </a:r>
                <a14:m>
                  <m:oMath xmlns:m="http://schemas.openxmlformats.org/officeDocument/2006/math">
                    <m:sSup>
                      <m:sSupPr>
                        <m:ctrlPr>
                          <a:rPr lang="zh-CN" altLang="zh-CN" sz="1600" i="1">
                            <a:solidFill>
                              <a:srgbClr val="FF0000"/>
                            </a:solidFill>
                            <a:effectLst/>
                            <a:latin typeface="Cambria Math" panose="02040503050406030204" pitchFamily="18" charset="0"/>
                            <a:ea typeface="Cambria Math" panose="02040503050406030204" pitchFamily="18" charset="0"/>
                          </a:rPr>
                        </m:ctrlPr>
                      </m:sSupPr>
                      <m:e>
                        <m:r>
                          <a:rPr lang="en-US" altLang="zh-CN" sz="1600" i="1">
                            <a:solidFill>
                              <a:srgbClr val="FF0000"/>
                            </a:solidFill>
                            <a:latin typeface="Cambria Math" panose="02040503050406030204" pitchFamily="18" charset="0"/>
                            <a:ea typeface="等线" panose="02010600030101010101" pitchFamily="2" charset="-122"/>
                            <a:cs typeface="Times New Roman" panose="02020603050405020304" pitchFamily="18" charset="0"/>
                          </a:rPr>
                          <m:t>𝐽</m:t>
                        </m:r>
                      </m:e>
                      <m:sup>
                        <m:r>
                          <a:rPr lang="en-US" altLang="zh-CN" sz="1600" i="1">
                            <a:solidFill>
                              <a:srgbClr val="FF0000"/>
                            </a:solidFill>
                            <a:latin typeface="Cambria Math" panose="02040503050406030204" pitchFamily="18" charset="0"/>
                            <a:ea typeface="等线" panose="02010600030101010101" pitchFamily="2" charset="-122"/>
                            <a:cs typeface="Times New Roman" panose="02020603050405020304" pitchFamily="18" charset="0"/>
                          </a:rPr>
                          <m:t>†</m:t>
                        </m:r>
                      </m:sup>
                    </m:sSup>
                  </m:oMath>
                </a14:m>
                <a:r>
                  <a:rPr lang="zh-CN" altLang="zh-CN" sz="1600" dirty="0">
                    <a:solidFill>
                      <a:srgbClr val="FF0000"/>
                    </a:solidFill>
                    <a:ea typeface="等线" panose="02010600030101010101" pitchFamily="2" charset="-122"/>
                    <a:cs typeface="Times New Roman" panose="02020603050405020304" pitchFamily="18" charset="0"/>
                  </a:rPr>
                  <a:t>。</a:t>
                </a:r>
                <a:endParaRPr lang="zh-CN" altLang="en-US" sz="1600" dirty="0">
                  <a:solidFill>
                    <a:srgbClr val="FF0000"/>
                  </a:solidFill>
                </a:endParaRPr>
              </a:p>
            </p:txBody>
          </p:sp>
        </mc:Choice>
        <mc:Fallback xmlns="">
          <p:sp>
            <p:nvSpPr>
              <p:cNvPr id="4" name="矩形 3"/>
              <p:cNvSpPr>
                <a:spLocks noRot="1" noChangeAspect="1" noMove="1" noResize="1" noEditPoints="1" noAdjustHandles="1" noChangeArrowheads="1" noChangeShapeType="1" noTextEdit="1"/>
              </p:cNvSpPr>
              <p:nvPr/>
            </p:nvSpPr>
            <p:spPr>
              <a:xfrm>
                <a:off x="3779912" y="1271924"/>
                <a:ext cx="4824536" cy="591187"/>
              </a:xfrm>
              <a:prstGeom prst="rect">
                <a:avLst/>
              </a:prstGeom>
              <a:blipFill>
                <a:blip r:embed="rId7"/>
                <a:stretch>
                  <a:fillRect l="-632" t="-3093" b="-12371"/>
                </a:stretch>
              </a:blipFill>
            </p:spPr>
            <p:txBody>
              <a:bodyPr/>
              <a:lstStyle/>
              <a:p>
                <a:r>
                  <a:rPr lang="zh-CN" altLang="en-US">
                    <a:noFill/>
                  </a:rPr>
                  <a:t> </a:t>
                </a:r>
              </a:p>
            </p:txBody>
          </p:sp>
        </mc:Fallback>
      </mc:AlternateContent>
      <p:graphicFrame>
        <p:nvGraphicFramePr>
          <p:cNvPr id="8" name="对象 7"/>
          <p:cNvGraphicFramePr>
            <a:graphicFrameLocks noChangeAspect="1"/>
          </p:cNvGraphicFramePr>
          <p:nvPr>
            <p:extLst>
              <p:ext uri="{D42A27DB-BD31-4B8C-83A1-F6EECF244321}">
                <p14:modId xmlns:p14="http://schemas.microsoft.com/office/powerpoint/2010/main" val="2033790285"/>
              </p:ext>
            </p:extLst>
          </p:nvPr>
        </p:nvGraphicFramePr>
        <p:xfrm>
          <a:off x="3792583" y="1701899"/>
          <a:ext cx="4410075" cy="2886075"/>
        </p:xfrm>
        <a:graphic>
          <a:graphicData uri="http://schemas.openxmlformats.org/presentationml/2006/ole">
            <mc:AlternateContent xmlns:mc="http://schemas.openxmlformats.org/markup-compatibility/2006">
              <mc:Choice xmlns:v="urn:schemas-microsoft-com:vml" Requires="v">
                <p:oleObj spid="_x0000_s35898" name="Visio" r:id="rId8" imgW="4411260" imgH="2886075" progId="Visio.Drawing.11">
                  <p:embed/>
                </p:oleObj>
              </mc:Choice>
              <mc:Fallback>
                <p:oleObj name="Visio" r:id="rId8" imgW="4411260" imgH="2886075" progId="Visio.Drawing.11">
                  <p:embed/>
                  <p:pic>
                    <p:nvPicPr>
                      <p:cNvPr id="0" name="Object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92583" y="1701899"/>
                        <a:ext cx="4410075" cy="2886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9" name="矩形 8"/>
              <p:cNvSpPr/>
              <p:nvPr/>
            </p:nvSpPr>
            <p:spPr>
              <a:xfrm>
                <a:off x="1714453" y="3532099"/>
                <a:ext cx="1147301" cy="3449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smtClean="0">
                          <a:solidFill>
                            <a:srgbClr val="FF0000"/>
                          </a:solidFill>
                          <a:latin typeface="Cambria Math" panose="02040503050406030204" pitchFamily="18" charset="0"/>
                        </a:rPr>
                        <m:t>∆</m:t>
                      </m:r>
                      <m:r>
                        <a:rPr lang="zh-CN" altLang="en-US" sz="1600" i="1">
                          <a:solidFill>
                            <a:srgbClr val="FF0000"/>
                          </a:solidFill>
                          <a:latin typeface="Cambria Math" panose="02040503050406030204" pitchFamily="18" charset="0"/>
                        </a:rPr>
                        <m:t>𝜃</m:t>
                      </m:r>
                      <m:r>
                        <a:rPr lang="zh-CN" altLang="en-US" sz="1600" i="0">
                          <a:solidFill>
                            <a:srgbClr val="FF0000"/>
                          </a:solidFill>
                          <a:latin typeface="Cambria Math" panose="02040503050406030204" pitchFamily="18" charset="0"/>
                        </a:rPr>
                        <m:t>≈</m:t>
                      </m:r>
                      <m:sSup>
                        <m:sSupPr>
                          <m:ctrlPr>
                            <a:rPr lang="zh-CN" altLang="en-US" sz="1600" i="1">
                              <a:solidFill>
                                <a:srgbClr val="FF0000"/>
                              </a:solidFill>
                              <a:latin typeface="Cambria Math" panose="02040503050406030204" pitchFamily="18" charset="0"/>
                            </a:rPr>
                          </m:ctrlPr>
                        </m:sSupPr>
                        <m:e>
                          <m:r>
                            <a:rPr lang="zh-CN" altLang="en-US" sz="1600" i="1">
                              <a:solidFill>
                                <a:srgbClr val="FF0000"/>
                              </a:solidFill>
                              <a:latin typeface="Cambria Math" panose="02040503050406030204" pitchFamily="18" charset="0"/>
                            </a:rPr>
                            <m:t>𝐽</m:t>
                          </m:r>
                        </m:e>
                        <m:sup>
                          <m:r>
                            <a:rPr lang="zh-CN" altLang="en-US" sz="1600" i="0">
                              <a:solidFill>
                                <a:srgbClr val="FF0000"/>
                              </a:solidFill>
                              <a:latin typeface="Cambria Math" panose="02040503050406030204" pitchFamily="18" charset="0"/>
                            </a:rPr>
                            <m:t>†</m:t>
                          </m:r>
                        </m:sup>
                      </m:sSup>
                      <m:r>
                        <a:rPr lang="zh-CN" altLang="en-US" sz="1600" i="0">
                          <a:solidFill>
                            <a:srgbClr val="FF0000"/>
                          </a:solidFill>
                          <a:latin typeface="Cambria Math" panose="02040503050406030204" pitchFamily="18" charset="0"/>
                        </a:rPr>
                        <m:t>∆</m:t>
                      </m:r>
                      <m:r>
                        <a:rPr lang="zh-CN" altLang="en-US" sz="1600" i="1">
                          <a:solidFill>
                            <a:srgbClr val="FF0000"/>
                          </a:solidFill>
                          <a:latin typeface="Cambria Math" panose="02040503050406030204" pitchFamily="18" charset="0"/>
                        </a:rPr>
                        <m:t>𝑒</m:t>
                      </m:r>
                    </m:oMath>
                  </m:oMathPara>
                </a14:m>
                <a:endParaRPr lang="zh-CN" altLang="en-US" sz="1600" dirty="0">
                  <a:solidFill>
                    <a:srgbClr val="FF0000"/>
                  </a:solidFill>
                </a:endParaRPr>
              </a:p>
            </p:txBody>
          </p:sp>
        </mc:Choice>
        <mc:Fallback xmlns="">
          <p:sp>
            <p:nvSpPr>
              <p:cNvPr id="9" name="矩形 8"/>
              <p:cNvSpPr>
                <a:spLocks noRot="1" noChangeAspect="1" noMove="1" noResize="1" noEditPoints="1" noAdjustHandles="1" noChangeArrowheads="1" noChangeShapeType="1" noTextEdit="1"/>
              </p:cNvSpPr>
              <p:nvPr/>
            </p:nvSpPr>
            <p:spPr>
              <a:xfrm>
                <a:off x="1714453" y="3532099"/>
                <a:ext cx="1147301" cy="344966"/>
              </a:xfrm>
              <a:prstGeom prst="rect">
                <a:avLst/>
              </a:prstGeom>
              <a:blipFill>
                <a:blip r:embed="rId10"/>
                <a:stretch>
                  <a:fillRect b="-105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1022098" y="4308982"/>
                <a:ext cx="5085017" cy="548227"/>
              </a:xfrm>
              <a:prstGeom prst="rect">
                <a:avLst/>
              </a:prstGeom>
            </p:spPr>
            <p:txBody>
              <a:bodyPr wrap="square">
                <a:spAutoFit/>
              </a:bodyPr>
              <a:lstStyle/>
              <a:p>
                <a:pPr marL="171450" indent="-171450">
                  <a:spcBef>
                    <a:spcPts val="600"/>
                  </a:spcBef>
                  <a:spcAft>
                    <a:spcPts val="600"/>
                  </a:spcAft>
                  <a:buFont typeface="Wingdings" panose="05000000000000000000" pitchFamily="2" charset="2"/>
                  <a:buChar char="Ø"/>
                </a:pPr>
                <a14:m>
                  <m:oMath xmlns:m="http://schemas.openxmlformats.org/officeDocument/2006/math">
                    <m:sSup>
                      <m:sSupPr>
                        <m:ctrlPr>
                          <a:rPr lang="zh-CN" altLang="zh-CN" sz="1200" b="1" i="1" smtClean="0">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200" b="1" i="1">
                            <a:solidFill>
                              <a:srgbClr val="002060"/>
                            </a:solidFill>
                            <a:latin typeface="Cambria Math" panose="02040503050406030204" pitchFamily="18" charset="0"/>
                            <a:cs typeface="宋体" panose="02010600030101010101" pitchFamily="2" charset="-122"/>
                          </a:rPr>
                          <m:t>𝑱</m:t>
                        </m:r>
                      </m:e>
                      <m:sup>
                        <m:r>
                          <a:rPr lang="en-US" altLang="zh-CN" sz="1200" b="1" i="1">
                            <a:solidFill>
                              <a:srgbClr val="002060"/>
                            </a:solidFill>
                            <a:latin typeface="Cambria Math" panose="02040503050406030204" pitchFamily="18" charset="0"/>
                            <a:cs typeface="宋体" panose="02010600030101010101" pitchFamily="2" charset="-122"/>
                          </a:rPr>
                          <m:t>†</m:t>
                        </m:r>
                      </m:sup>
                    </m:sSup>
                    <m:r>
                      <a:rPr lang="en-US" altLang="zh-CN" sz="1200" b="1" i="1">
                        <a:solidFill>
                          <a:srgbClr val="002060"/>
                        </a:solidFill>
                        <a:latin typeface="Cambria Math" panose="02040503050406030204" pitchFamily="18" charset="0"/>
                        <a:cs typeface="宋体" panose="02010600030101010101" pitchFamily="2" charset="-122"/>
                      </a:rPr>
                      <m:t>=</m:t>
                    </m:r>
                    <m:sSup>
                      <m:sSupPr>
                        <m:ctrlPr>
                          <a:rPr lang="zh-CN" altLang="zh-CN" sz="12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200" b="1" i="1">
                            <a:solidFill>
                              <a:srgbClr val="002060"/>
                            </a:solidFill>
                            <a:latin typeface="Cambria Math" panose="02040503050406030204" pitchFamily="18" charset="0"/>
                            <a:cs typeface="宋体" panose="02010600030101010101" pitchFamily="2" charset="-122"/>
                          </a:rPr>
                          <m:t>𝑱</m:t>
                        </m:r>
                      </m:e>
                      <m:sup>
                        <m:r>
                          <a:rPr lang="en-US" altLang="zh-CN" sz="1200" b="1" i="1">
                            <a:solidFill>
                              <a:srgbClr val="002060"/>
                            </a:solidFill>
                            <a:latin typeface="Cambria Math" panose="02040503050406030204" pitchFamily="18" charset="0"/>
                            <a:cs typeface="宋体" panose="02010600030101010101" pitchFamily="2" charset="-122"/>
                          </a:rPr>
                          <m:t>𝑻</m:t>
                        </m:r>
                      </m:sup>
                    </m:sSup>
                    <m:sSup>
                      <m:sSupPr>
                        <m:ctrlPr>
                          <a:rPr lang="zh-CN" altLang="zh-CN" sz="12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200" b="1" i="1">
                            <a:solidFill>
                              <a:srgbClr val="002060"/>
                            </a:solidFill>
                            <a:latin typeface="Cambria Math" panose="02040503050406030204" pitchFamily="18" charset="0"/>
                            <a:cs typeface="宋体" panose="02010600030101010101" pitchFamily="2" charset="-122"/>
                          </a:rPr>
                          <m:t>(</m:t>
                        </m:r>
                        <m:r>
                          <a:rPr lang="en-US" altLang="zh-CN" sz="1200" b="1" i="1">
                            <a:solidFill>
                              <a:srgbClr val="002060"/>
                            </a:solidFill>
                            <a:latin typeface="Cambria Math" panose="02040503050406030204" pitchFamily="18" charset="0"/>
                            <a:cs typeface="宋体" panose="02010600030101010101" pitchFamily="2" charset="-122"/>
                          </a:rPr>
                          <m:t>𝑱</m:t>
                        </m:r>
                        <m:sSup>
                          <m:sSupPr>
                            <m:ctrlPr>
                              <a:rPr lang="zh-CN" altLang="zh-CN" sz="12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200" b="1" i="1">
                                <a:solidFill>
                                  <a:srgbClr val="002060"/>
                                </a:solidFill>
                                <a:latin typeface="Cambria Math" panose="02040503050406030204" pitchFamily="18" charset="0"/>
                                <a:cs typeface="宋体" panose="02010600030101010101" pitchFamily="2" charset="-122"/>
                              </a:rPr>
                              <m:t>𝑱</m:t>
                            </m:r>
                          </m:e>
                          <m:sup>
                            <m:r>
                              <a:rPr lang="en-US" altLang="zh-CN" sz="1200" b="1" i="1">
                                <a:solidFill>
                                  <a:srgbClr val="002060"/>
                                </a:solidFill>
                                <a:latin typeface="Cambria Math" panose="02040503050406030204" pitchFamily="18" charset="0"/>
                                <a:cs typeface="宋体" panose="02010600030101010101" pitchFamily="2" charset="-122"/>
                              </a:rPr>
                              <m:t>𝑻</m:t>
                            </m:r>
                          </m:sup>
                        </m:sSup>
                        <m:r>
                          <a:rPr lang="en-US" altLang="zh-CN" sz="1200" b="1" i="1">
                            <a:solidFill>
                              <a:srgbClr val="002060"/>
                            </a:solidFill>
                            <a:latin typeface="Cambria Math" panose="02040503050406030204" pitchFamily="18" charset="0"/>
                            <a:cs typeface="宋体" panose="02010600030101010101" pitchFamily="2" charset="-122"/>
                          </a:rPr>
                          <m:t>)</m:t>
                        </m:r>
                      </m:e>
                      <m:sup>
                        <m:r>
                          <a:rPr lang="en-US" altLang="zh-CN" sz="1200" b="1" i="1">
                            <a:solidFill>
                              <a:srgbClr val="002060"/>
                            </a:solidFill>
                            <a:latin typeface="Cambria Math" panose="02040503050406030204" pitchFamily="18" charset="0"/>
                            <a:cs typeface="宋体" panose="02010600030101010101" pitchFamily="2" charset="-122"/>
                          </a:rPr>
                          <m:t>−</m:t>
                        </m:r>
                        <m:r>
                          <a:rPr lang="en-US" altLang="zh-CN" sz="1200" b="1" i="1">
                            <a:solidFill>
                              <a:srgbClr val="002060"/>
                            </a:solidFill>
                            <a:latin typeface="Cambria Math" panose="02040503050406030204" pitchFamily="18" charset="0"/>
                            <a:cs typeface="宋体" panose="02010600030101010101" pitchFamily="2" charset="-122"/>
                          </a:rPr>
                          <m:t>𝟏</m:t>
                        </m:r>
                      </m:sup>
                    </m:sSup>
                  </m:oMath>
                </a14:m>
                <a:r>
                  <a:rPr lang="zh-CN" altLang="zh-CN" sz="1200" b="1" dirty="0">
                    <a:solidFill>
                      <a:srgbClr val="002060"/>
                    </a:solidFill>
                    <a:latin typeface="宋体" panose="02010600030101010101" pitchFamily="2" charset="-122"/>
                    <a:cs typeface="宋体" panose="02010600030101010101" pitchFamily="2" charset="-122"/>
                  </a:rPr>
                  <a:t>，</a:t>
                </a:r>
                <a14:m>
                  <m:oMath xmlns:m="http://schemas.openxmlformats.org/officeDocument/2006/math">
                    <m:r>
                      <a:rPr lang="en-US" altLang="zh-CN" sz="1200" b="1" i="1">
                        <a:solidFill>
                          <a:srgbClr val="002060"/>
                        </a:solidFill>
                        <a:latin typeface="Cambria Math" panose="02040503050406030204" pitchFamily="18" charset="0"/>
                        <a:cs typeface="宋体" panose="02010600030101010101" pitchFamily="2" charset="-122"/>
                      </a:rPr>
                      <m:t>𝒏</m:t>
                    </m:r>
                    <m:r>
                      <a:rPr lang="en-US" altLang="zh-CN" sz="1200" b="1" i="1">
                        <a:solidFill>
                          <a:srgbClr val="002060"/>
                        </a:solidFill>
                        <a:latin typeface="Cambria Math" panose="02040503050406030204" pitchFamily="18" charset="0"/>
                        <a:cs typeface="宋体" panose="02010600030101010101" pitchFamily="2" charset="-122"/>
                      </a:rPr>
                      <m:t>&gt;</m:t>
                    </m:r>
                    <m:r>
                      <a:rPr lang="en-US" altLang="zh-CN" sz="1200" b="1" i="1">
                        <a:solidFill>
                          <a:srgbClr val="002060"/>
                        </a:solidFill>
                        <a:latin typeface="Cambria Math" panose="02040503050406030204" pitchFamily="18" charset="0"/>
                        <a:cs typeface="宋体" panose="02010600030101010101" pitchFamily="2" charset="-122"/>
                      </a:rPr>
                      <m:t>𝒎</m:t>
                    </m:r>
                  </m:oMath>
                </a14:m>
                <a:r>
                  <a:rPr lang="zh-CN" altLang="zh-CN" sz="1200" b="1" dirty="0">
                    <a:solidFill>
                      <a:srgbClr val="002060"/>
                    </a:solidFill>
                    <a:latin typeface="宋体" panose="02010600030101010101" pitchFamily="2" charset="-122"/>
                    <a:cs typeface="宋体" panose="02010600030101010101" pitchFamily="2" charset="-122"/>
                  </a:rPr>
                  <a:t>，</a:t>
                </a:r>
                <a14:m>
                  <m:oMath xmlns:m="http://schemas.openxmlformats.org/officeDocument/2006/math">
                    <m:r>
                      <a:rPr lang="en-US" altLang="zh-CN" sz="1200" b="1" i="1">
                        <a:solidFill>
                          <a:srgbClr val="002060"/>
                        </a:solidFill>
                        <a:latin typeface="Cambria Math" panose="02040503050406030204" pitchFamily="18" charset="0"/>
                        <a:cs typeface="宋体" panose="02010600030101010101" pitchFamily="2" charset="-122"/>
                      </a:rPr>
                      <m:t>𝑱</m:t>
                    </m:r>
                  </m:oMath>
                </a14:m>
                <a:r>
                  <a:rPr lang="zh-CN" altLang="zh-CN" sz="1200" b="1" dirty="0">
                    <a:solidFill>
                      <a:srgbClr val="002060"/>
                    </a:solidFill>
                    <a:latin typeface="宋体" panose="02010600030101010101" pitchFamily="2" charset="-122"/>
                    <a:cs typeface="宋体" panose="02010600030101010101" pitchFamily="2" charset="-122"/>
                  </a:rPr>
                  <a:t>为矮粗型，由于</a:t>
                </a:r>
                <a14:m>
                  <m:oMath xmlns:m="http://schemas.openxmlformats.org/officeDocument/2006/math">
                    <m:r>
                      <a:rPr lang="en-US" altLang="zh-CN" sz="1200" b="1" i="1">
                        <a:solidFill>
                          <a:srgbClr val="002060"/>
                        </a:solidFill>
                        <a:latin typeface="Cambria Math" panose="02040503050406030204" pitchFamily="18" charset="0"/>
                        <a:cs typeface="宋体" panose="02010600030101010101" pitchFamily="2" charset="-122"/>
                      </a:rPr>
                      <m:t>𝑱</m:t>
                    </m:r>
                    <m:sSup>
                      <m:sSupPr>
                        <m:ctrlPr>
                          <a:rPr lang="zh-CN" altLang="zh-CN" sz="12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200" b="1" i="1">
                            <a:solidFill>
                              <a:srgbClr val="002060"/>
                            </a:solidFill>
                            <a:latin typeface="Cambria Math" panose="02040503050406030204" pitchFamily="18" charset="0"/>
                            <a:cs typeface="宋体" panose="02010600030101010101" pitchFamily="2" charset="-122"/>
                          </a:rPr>
                          <m:t>𝑱</m:t>
                        </m:r>
                      </m:e>
                      <m:sup>
                        <m:r>
                          <a:rPr lang="en-US" altLang="zh-CN" sz="1200" b="1" i="1">
                            <a:solidFill>
                              <a:srgbClr val="002060"/>
                            </a:solidFill>
                            <a:latin typeface="Cambria Math" panose="02040503050406030204" pitchFamily="18" charset="0"/>
                            <a:cs typeface="宋体" panose="02010600030101010101" pitchFamily="2" charset="-122"/>
                          </a:rPr>
                          <m:t>†</m:t>
                        </m:r>
                      </m:sup>
                    </m:sSup>
                    <m:r>
                      <a:rPr lang="en-US" altLang="zh-CN" sz="1200" b="1" i="1">
                        <a:solidFill>
                          <a:srgbClr val="002060"/>
                        </a:solidFill>
                        <a:latin typeface="Cambria Math" panose="02040503050406030204" pitchFamily="18" charset="0"/>
                        <a:cs typeface="宋体" panose="02010600030101010101" pitchFamily="2" charset="-122"/>
                      </a:rPr>
                      <m:t>=</m:t>
                    </m:r>
                    <m:r>
                      <a:rPr lang="en-US" altLang="zh-CN" sz="1200" b="1" i="1">
                        <a:solidFill>
                          <a:srgbClr val="002060"/>
                        </a:solidFill>
                        <a:latin typeface="Cambria Math" panose="02040503050406030204" pitchFamily="18" charset="0"/>
                        <a:cs typeface="宋体" panose="02010600030101010101" pitchFamily="2" charset="-122"/>
                      </a:rPr>
                      <m:t>𝑰</m:t>
                    </m:r>
                  </m:oMath>
                </a14:m>
                <a:r>
                  <a:rPr lang="zh-CN" altLang="zh-CN" sz="1200" b="1" dirty="0">
                    <a:solidFill>
                      <a:srgbClr val="002060"/>
                    </a:solidFill>
                    <a:latin typeface="宋体" panose="02010600030101010101" pitchFamily="2" charset="-122"/>
                    <a:cs typeface="宋体" panose="02010600030101010101" pitchFamily="2" charset="-122"/>
                  </a:rPr>
                  <a:t>，因此又称右逆；</a:t>
                </a:r>
              </a:p>
              <a:p>
                <a:pPr marL="171450" indent="-171450">
                  <a:buFont typeface="Wingdings" panose="05000000000000000000" pitchFamily="2" charset="2"/>
                  <a:buChar char="Ø"/>
                </a:pPr>
                <a14:m>
                  <m:oMath xmlns:m="http://schemas.openxmlformats.org/officeDocument/2006/math">
                    <m:sSup>
                      <m:sSupPr>
                        <m:ctrlPr>
                          <a:rPr lang="zh-CN" altLang="zh-CN" sz="1200" b="1" i="1">
                            <a:solidFill>
                              <a:srgbClr val="002060"/>
                            </a:solidFill>
                            <a:effectLst/>
                            <a:latin typeface="Cambria Math" panose="02040503050406030204" pitchFamily="18" charset="0"/>
                            <a:ea typeface="Cambria Math" panose="02040503050406030204" pitchFamily="18" charset="0"/>
                          </a:rPr>
                        </m:ctrlPr>
                      </m:sSupPr>
                      <m:e>
                        <m:r>
                          <a:rPr lang="en-US" altLang="zh-CN" sz="12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𝑱</m:t>
                        </m:r>
                      </m:e>
                      <m:sup>
                        <m:r>
                          <a:rPr lang="en-US" altLang="zh-CN" sz="12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m:t>
                        </m:r>
                      </m:sup>
                    </m:sSup>
                    <m:r>
                      <a:rPr lang="en-US" altLang="zh-CN" sz="12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b="1" i="1">
                            <a:solidFill>
                              <a:srgbClr val="002060"/>
                            </a:solidFill>
                            <a:effectLst/>
                            <a:latin typeface="Cambria Math" panose="02040503050406030204" pitchFamily="18" charset="0"/>
                            <a:ea typeface="Cambria Math" panose="02040503050406030204" pitchFamily="18" charset="0"/>
                          </a:rPr>
                        </m:ctrlPr>
                      </m:sSupPr>
                      <m:e>
                        <m:r>
                          <a:rPr lang="en-US" altLang="zh-CN" sz="12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b="1" i="1">
                                <a:solidFill>
                                  <a:srgbClr val="002060"/>
                                </a:solidFill>
                                <a:effectLst/>
                                <a:latin typeface="Cambria Math" panose="02040503050406030204" pitchFamily="18" charset="0"/>
                                <a:ea typeface="Cambria Math" panose="02040503050406030204" pitchFamily="18" charset="0"/>
                              </a:rPr>
                            </m:ctrlPr>
                          </m:sSupPr>
                          <m:e>
                            <m:r>
                              <a:rPr lang="en-US" altLang="zh-CN" sz="12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𝑱</m:t>
                            </m:r>
                          </m:e>
                          <m:sup>
                            <m:r>
                              <a:rPr lang="en-US" altLang="zh-CN" sz="12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𝑻</m:t>
                            </m:r>
                          </m:sup>
                        </m:sSup>
                        <m:r>
                          <a:rPr lang="en-US" altLang="zh-CN" sz="12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𝑱</m:t>
                        </m:r>
                        <m:r>
                          <a:rPr lang="en-US" altLang="zh-CN" sz="12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m:t>
                        </m:r>
                      </m:e>
                      <m:sup>
                        <m:r>
                          <a:rPr lang="en-US" altLang="zh-CN" sz="12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2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𝟏</m:t>
                        </m:r>
                      </m:sup>
                    </m:sSup>
                    <m:sSup>
                      <m:sSupPr>
                        <m:ctrlPr>
                          <a:rPr lang="zh-CN" altLang="zh-CN" sz="1200" b="1" i="1">
                            <a:solidFill>
                              <a:srgbClr val="002060"/>
                            </a:solidFill>
                            <a:effectLst/>
                            <a:latin typeface="Cambria Math" panose="02040503050406030204" pitchFamily="18" charset="0"/>
                            <a:ea typeface="Cambria Math" panose="02040503050406030204" pitchFamily="18" charset="0"/>
                          </a:rPr>
                        </m:ctrlPr>
                      </m:sSupPr>
                      <m:e>
                        <m:r>
                          <a:rPr lang="en-US" altLang="zh-CN" sz="12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𝑱</m:t>
                        </m:r>
                      </m:e>
                      <m:sup>
                        <m:r>
                          <a:rPr lang="en-US" altLang="zh-CN" sz="12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𝑻</m:t>
                        </m:r>
                      </m:sup>
                    </m:sSup>
                  </m:oMath>
                </a14:m>
                <a:r>
                  <a:rPr lang="zh-CN" altLang="zh-CN" sz="1200" b="1" dirty="0">
                    <a:solidFill>
                      <a:srgbClr val="002060"/>
                    </a:solidFill>
                    <a:effectLst/>
                    <a:ea typeface="等线" panose="02010600030101010101" pitchFamily="2" charset="-122"/>
                    <a:cs typeface="Times New Roman" panose="02020603050405020304" pitchFamily="18" charset="0"/>
                  </a:rPr>
                  <a:t>，</a:t>
                </a:r>
                <a14:m>
                  <m:oMath xmlns:m="http://schemas.openxmlformats.org/officeDocument/2006/math">
                    <m:r>
                      <a:rPr lang="en-US" altLang="zh-CN" sz="12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𝒏</m:t>
                    </m:r>
                    <m:r>
                      <a:rPr lang="en-US" altLang="zh-CN" sz="12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&lt;</m:t>
                    </m:r>
                    <m:r>
                      <a:rPr lang="en-US" altLang="zh-CN" sz="12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𝒎</m:t>
                    </m:r>
                  </m:oMath>
                </a14:m>
                <a:r>
                  <a:rPr lang="zh-CN" altLang="zh-CN" sz="1200" b="1" dirty="0">
                    <a:solidFill>
                      <a:srgbClr val="002060"/>
                    </a:solidFill>
                    <a:effectLst/>
                    <a:ea typeface="等线" panose="02010600030101010101" pitchFamily="2" charset="-122"/>
                    <a:cs typeface="Times New Roman" panose="02020603050405020304" pitchFamily="18" charset="0"/>
                  </a:rPr>
                  <a:t>，</a:t>
                </a:r>
                <a14:m>
                  <m:oMath xmlns:m="http://schemas.openxmlformats.org/officeDocument/2006/math">
                    <m:r>
                      <a:rPr lang="en-US" altLang="zh-CN" sz="12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𝑱</m:t>
                    </m:r>
                  </m:oMath>
                </a14:m>
                <a:r>
                  <a:rPr lang="zh-CN" altLang="zh-CN" sz="1200" b="1" dirty="0">
                    <a:solidFill>
                      <a:srgbClr val="002060"/>
                    </a:solidFill>
                    <a:effectLst/>
                    <a:ea typeface="等线" panose="02010600030101010101" pitchFamily="2" charset="-122"/>
                    <a:cs typeface="Times New Roman" panose="02020603050405020304" pitchFamily="18" charset="0"/>
                  </a:rPr>
                  <a:t>为瘦高型，由于</a:t>
                </a:r>
                <a14:m>
                  <m:oMath xmlns:m="http://schemas.openxmlformats.org/officeDocument/2006/math">
                    <m:sSup>
                      <m:sSupPr>
                        <m:ctrlPr>
                          <a:rPr lang="zh-CN" altLang="zh-CN" sz="1200" b="1" i="1">
                            <a:solidFill>
                              <a:srgbClr val="002060"/>
                            </a:solidFill>
                            <a:effectLst/>
                            <a:latin typeface="Cambria Math" panose="02040503050406030204" pitchFamily="18" charset="0"/>
                            <a:ea typeface="Cambria Math" panose="02040503050406030204" pitchFamily="18" charset="0"/>
                          </a:rPr>
                        </m:ctrlPr>
                      </m:sSupPr>
                      <m:e>
                        <m:r>
                          <a:rPr lang="en-US" altLang="zh-CN" sz="12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𝑱</m:t>
                        </m:r>
                      </m:e>
                      <m:sup>
                        <m:r>
                          <a:rPr lang="en-US" altLang="zh-CN" sz="12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m:t>
                        </m:r>
                      </m:sup>
                    </m:sSup>
                    <m:r>
                      <a:rPr lang="en-US" altLang="zh-CN" sz="12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𝑱</m:t>
                    </m:r>
                    <m:r>
                      <a:rPr lang="en-US" altLang="zh-CN" sz="12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2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𝑰</m:t>
                    </m:r>
                  </m:oMath>
                </a14:m>
                <a:r>
                  <a:rPr lang="zh-CN" altLang="zh-CN" sz="1200" b="1" dirty="0">
                    <a:solidFill>
                      <a:srgbClr val="002060"/>
                    </a:solidFill>
                    <a:effectLst/>
                    <a:ea typeface="等线" panose="02010600030101010101" pitchFamily="2" charset="-122"/>
                    <a:cs typeface="Times New Roman" panose="02020603050405020304" pitchFamily="18" charset="0"/>
                  </a:rPr>
                  <a:t>，因此又称左逆。</a:t>
                </a:r>
                <a:endParaRPr lang="zh-CN" altLang="en-US" sz="1200" b="1" dirty="0">
                  <a:solidFill>
                    <a:srgbClr val="002060"/>
                  </a:solidFill>
                </a:endParaRPr>
              </a:p>
            </p:txBody>
          </p:sp>
        </mc:Choice>
        <mc:Fallback xmlns="">
          <p:sp>
            <p:nvSpPr>
              <p:cNvPr id="10" name="矩形 9"/>
              <p:cNvSpPr>
                <a:spLocks noRot="1" noChangeAspect="1" noMove="1" noResize="1" noEditPoints="1" noAdjustHandles="1" noChangeArrowheads="1" noChangeShapeType="1" noTextEdit="1"/>
              </p:cNvSpPr>
              <p:nvPr/>
            </p:nvSpPr>
            <p:spPr>
              <a:xfrm>
                <a:off x="1022098" y="4308982"/>
                <a:ext cx="5085017" cy="548227"/>
              </a:xfrm>
              <a:prstGeom prst="rect">
                <a:avLst/>
              </a:prstGeom>
              <a:blipFill>
                <a:blip r:embed="rId11"/>
                <a:stretch>
                  <a:fillRect t="-1111" b="-88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858737" y="3847727"/>
                <a:ext cx="2786084" cy="344966"/>
              </a:xfrm>
              <a:prstGeom prst="rect">
                <a:avLst/>
              </a:prstGeom>
            </p:spPr>
            <p:txBody>
              <a:bodyPr wrap="none">
                <a:spAutoFit/>
              </a:bodyPr>
              <a:lstStyle/>
              <a:p>
                <a14:m>
                  <m:oMath xmlns:m="http://schemas.openxmlformats.org/officeDocument/2006/math">
                    <m:sSup>
                      <m:sSupPr>
                        <m:ctrlPr>
                          <a:rPr lang="zh-CN" altLang="zh-CN" sz="1600" i="1">
                            <a:latin typeface="Cambria Math" panose="02040503050406030204" pitchFamily="18" charset="0"/>
                            <a:ea typeface="Cambria Math" panose="02040503050406030204" pitchFamily="18" charset="0"/>
                          </a:rPr>
                        </m:ctrlPr>
                      </m:sSup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𝐽</m:t>
                        </m:r>
                      </m:e>
                      <m:sup>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up>
                    </m:sSup>
                  </m:oMath>
                </a14:m>
                <a:r>
                  <a:rPr lang="zh-CN" altLang="en-US" sz="1600" dirty="0" smtClean="0">
                    <a:latin typeface="等线" panose="02010600030101010101" pitchFamily="2" charset="-122"/>
                    <a:cs typeface="Times New Roman" panose="02020603050405020304" pitchFamily="18" charset="0"/>
                  </a:rPr>
                  <a:t>：</a:t>
                </a:r>
                <a:r>
                  <a:rPr lang="en-US" altLang="zh-CN" sz="1600" dirty="0">
                    <a:latin typeface="等线" panose="02010600030101010101" pitchFamily="2" charset="-122"/>
                    <a:cs typeface="Times New Roman" panose="02020603050405020304" pitchFamily="18" charset="0"/>
                  </a:rPr>
                  <a:t>Moore-Penrose</a:t>
                </a:r>
                <a:r>
                  <a:rPr lang="zh-CN" altLang="zh-CN" sz="1600" dirty="0">
                    <a:ea typeface="等线" panose="02010600030101010101" pitchFamily="2" charset="-122"/>
                    <a:cs typeface="Times New Roman" panose="02020603050405020304" pitchFamily="18" charset="0"/>
                  </a:rPr>
                  <a:t>伪逆</a:t>
                </a:r>
                <a:r>
                  <a:rPr lang="zh-CN" altLang="zh-CN" sz="1600" dirty="0" smtClean="0">
                    <a:ea typeface="等线" panose="02010600030101010101" pitchFamily="2" charset="-122"/>
                    <a:cs typeface="Times New Roman" panose="02020603050405020304" pitchFamily="18" charset="0"/>
                  </a:rPr>
                  <a:t>形式</a:t>
                </a:r>
                <a:endParaRPr lang="zh-CN" altLang="en-US" sz="1600" dirty="0"/>
              </a:p>
            </p:txBody>
          </p:sp>
        </mc:Choice>
        <mc:Fallback xmlns="">
          <p:sp>
            <p:nvSpPr>
              <p:cNvPr id="20" name="矩形 19"/>
              <p:cNvSpPr>
                <a:spLocks noRot="1" noChangeAspect="1" noMove="1" noResize="1" noEditPoints="1" noAdjustHandles="1" noChangeArrowheads="1" noChangeShapeType="1" noTextEdit="1"/>
              </p:cNvSpPr>
              <p:nvPr/>
            </p:nvSpPr>
            <p:spPr>
              <a:xfrm>
                <a:off x="858737" y="3847727"/>
                <a:ext cx="2786084" cy="344966"/>
              </a:xfrm>
              <a:prstGeom prst="rect">
                <a:avLst/>
              </a:prstGeom>
              <a:blipFill>
                <a:blip r:embed="rId12"/>
                <a:stretch>
                  <a:fillRect t="-7018" b="-2280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9163788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236220" y="219075"/>
            <a:ext cx="5153660" cy="598805"/>
            <a:chOff x="-372" y="345"/>
            <a:chExt cx="8116" cy="943"/>
          </a:xfrm>
        </p:grpSpPr>
        <p:sp>
          <p:nvSpPr>
            <p:cNvPr id="39" name="矩形 3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Numerical Solutions for Inverse Kinematics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40" name="文本框 39"/>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逆运动学的数值求解</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41" name="椭圆 4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643595" y="806259"/>
            <a:ext cx="2448272" cy="830997"/>
          </a:xfrm>
          <a:prstGeom prst="rect">
            <a:avLst/>
          </a:prstGeom>
        </p:spPr>
        <p:txBody>
          <a:bodyPr wrap="square">
            <a:spAutoFit/>
          </a:bodyPr>
          <a:lstStyle/>
          <a:p>
            <a:r>
              <a:rPr lang="zh-CN" altLang="en-US" sz="1600" b="1" dirty="0">
                <a:solidFill>
                  <a:srgbClr val="002060"/>
                </a:solidFill>
              </a:rPr>
              <a:t>雅可比伪逆矩阵迭代法</a:t>
            </a:r>
            <a:r>
              <a:rPr lang="en-US" altLang="zh-CN" sz="1600" b="1" dirty="0">
                <a:solidFill>
                  <a:srgbClr val="002060"/>
                </a:solidFill>
              </a:rPr>
              <a:t>(Jacobian Pseudo Inverse Method)</a:t>
            </a:r>
            <a:endParaRPr lang="zh-CN" altLang="en-US" sz="1600" b="1" dirty="0">
              <a:solidFill>
                <a:srgbClr val="002060"/>
              </a:solidFill>
            </a:endParaRPr>
          </a:p>
        </p:txBody>
      </p:sp>
      <mc:AlternateContent xmlns:mc="http://schemas.openxmlformats.org/markup-compatibility/2006" xmlns:a14="http://schemas.microsoft.com/office/drawing/2010/main">
        <mc:Choice Requires="a14">
          <p:sp>
            <p:nvSpPr>
              <p:cNvPr id="9" name="矩形 8"/>
              <p:cNvSpPr/>
              <p:nvPr/>
            </p:nvSpPr>
            <p:spPr>
              <a:xfrm>
                <a:off x="1669336" y="1357982"/>
                <a:ext cx="1147301" cy="3449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smtClean="0">
                          <a:solidFill>
                            <a:srgbClr val="FF0000"/>
                          </a:solidFill>
                          <a:latin typeface="Cambria Math" panose="02040503050406030204" pitchFamily="18" charset="0"/>
                        </a:rPr>
                        <m:t>∆</m:t>
                      </m:r>
                      <m:r>
                        <a:rPr lang="zh-CN" altLang="en-US" sz="1600" i="1">
                          <a:solidFill>
                            <a:srgbClr val="FF0000"/>
                          </a:solidFill>
                          <a:latin typeface="Cambria Math" panose="02040503050406030204" pitchFamily="18" charset="0"/>
                        </a:rPr>
                        <m:t>𝜃</m:t>
                      </m:r>
                      <m:r>
                        <a:rPr lang="zh-CN" altLang="en-US" sz="1600" i="0">
                          <a:solidFill>
                            <a:srgbClr val="FF0000"/>
                          </a:solidFill>
                          <a:latin typeface="Cambria Math" panose="02040503050406030204" pitchFamily="18" charset="0"/>
                        </a:rPr>
                        <m:t>≈</m:t>
                      </m:r>
                      <m:sSup>
                        <m:sSupPr>
                          <m:ctrlPr>
                            <a:rPr lang="zh-CN" altLang="en-US" sz="1600" i="1">
                              <a:solidFill>
                                <a:srgbClr val="FF0000"/>
                              </a:solidFill>
                              <a:latin typeface="Cambria Math" panose="02040503050406030204" pitchFamily="18" charset="0"/>
                            </a:rPr>
                          </m:ctrlPr>
                        </m:sSupPr>
                        <m:e>
                          <m:r>
                            <a:rPr lang="zh-CN" altLang="en-US" sz="1600" i="1">
                              <a:solidFill>
                                <a:srgbClr val="FF0000"/>
                              </a:solidFill>
                              <a:latin typeface="Cambria Math" panose="02040503050406030204" pitchFamily="18" charset="0"/>
                            </a:rPr>
                            <m:t>𝐽</m:t>
                          </m:r>
                        </m:e>
                        <m:sup>
                          <m:r>
                            <a:rPr lang="zh-CN" altLang="en-US" sz="1600" i="0">
                              <a:solidFill>
                                <a:srgbClr val="FF0000"/>
                              </a:solidFill>
                              <a:latin typeface="Cambria Math" panose="02040503050406030204" pitchFamily="18" charset="0"/>
                            </a:rPr>
                            <m:t>†</m:t>
                          </m:r>
                        </m:sup>
                      </m:sSup>
                      <m:r>
                        <a:rPr lang="zh-CN" altLang="en-US" sz="1600" i="0">
                          <a:solidFill>
                            <a:srgbClr val="FF0000"/>
                          </a:solidFill>
                          <a:latin typeface="Cambria Math" panose="02040503050406030204" pitchFamily="18" charset="0"/>
                        </a:rPr>
                        <m:t>∆</m:t>
                      </m:r>
                      <m:r>
                        <a:rPr lang="zh-CN" altLang="en-US" sz="1600" i="1">
                          <a:solidFill>
                            <a:srgbClr val="FF0000"/>
                          </a:solidFill>
                          <a:latin typeface="Cambria Math" panose="02040503050406030204" pitchFamily="18" charset="0"/>
                        </a:rPr>
                        <m:t>𝑒</m:t>
                      </m:r>
                    </m:oMath>
                  </m:oMathPara>
                </a14:m>
                <a:endParaRPr lang="zh-CN" altLang="en-US" sz="1600" dirty="0">
                  <a:solidFill>
                    <a:srgbClr val="FF0000"/>
                  </a:solidFill>
                </a:endParaRPr>
              </a:p>
            </p:txBody>
          </p:sp>
        </mc:Choice>
        <mc:Fallback xmlns="">
          <p:sp>
            <p:nvSpPr>
              <p:cNvPr id="9" name="矩形 8"/>
              <p:cNvSpPr>
                <a:spLocks noRot="1" noChangeAspect="1" noMove="1" noResize="1" noEditPoints="1" noAdjustHandles="1" noChangeArrowheads="1" noChangeShapeType="1" noTextEdit="1"/>
              </p:cNvSpPr>
              <p:nvPr/>
            </p:nvSpPr>
            <p:spPr>
              <a:xfrm>
                <a:off x="1669336" y="1357982"/>
                <a:ext cx="1147301" cy="344966"/>
              </a:xfrm>
              <a:prstGeom prst="rect">
                <a:avLst/>
              </a:prstGeom>
              <a:blipFill>
                <a:blip r:embed="rId3"/>
                <a:stretch>
                  <a:fillRect b="-107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354959" y="1727184"/>
                <a:ext cx="2818063" cy="830997"/>
              </a:xfrm>
              <a:prstGeom prst="rect">
                <a:avLst/>
              </a:prstGeom>
            </p:spPr>
            <p:txBody>
              <a:bodyPr wrap="square">
                <a:spAutoFit/>
              </a:bodyPr>
              <a:lstStyle/>
              <a:p>
                <a:r>
                  <a:rPr lang="zh-CN" altLang="zh-CN" sz="1200" dirty="0">
                    <a:ea typeface="等线" panose="02010600030101010101" pitchFamily="2" charset="-122"/>
                    <a:cs typeface="Times New Roman" panose="02020603050405020304" pitchFamily="18" charset="0"/>
                  </a:rPr>
                  <a:t>已知机器人基坐标系</a:t>
                </a:r>
                <a14:m>
                  <m:oMath xmlns:m="http://schemas.openxmlformats.org/officeDocument/2006/math">
                    <m:d>
                      <m:dPr>
                        <m:begChr m:val="{"/>
                        <m:endChr m:val="}"/>
                        <m:ctrlPr>
                          <a:rPr lang="zh-CN" altLang="zh-CN" sz="1200" i="1">
                            <a:effectLst/>
                            <a:latin typeface="Cambria Math" panose="02040503050406030204" pitchFamily="18" charset="0"/>
                            <a:ea typeface="Cambria Math" panose="02040503050406030204" pitchFamily="18" charset="0"/>
                          </a:rPr>
                        </m:ctrlPr>
                      </m:d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𝑠</m:t>
                        </m:r>
                      </m:e>
                    </m:d>
                  </m:oMath>
                </a14:m>
                <a:r>
                  <a:rPr lang="zh-CN" altLang="zh-CN" sz="1200" dirty="0">
                    <a:ea typeface="等线" panose="02010600030101010101" pitchFamily="2" charset="-122"/>
                    <a:cs typeface="Times New Roman" panose="02020603050405020304" pitchFamily="18" charset="0"/>
                  </a:rPr>
                  <a:t>，末端坐标系</a:t>
                </a:r>
                <a14:m>
                  <m:oMath xmlns:m="http://schemas.openxmlformats.org/officeDocument/2006/math">
                    <m:d>
                      <m:dPr>
                        <m:begChr m:val="{"/>
                        <m:endChr m:val="}"/>
                        <m:ctrlPr>
                          <a:rPr lang="zh-CN" altLang="zh-CN" sz="1200" i="1">
                            <a:effectLst/>
                            <a:latin typeface="Cambria Math" panose="02040503050406030204" pitchFamily="18" charset="0"/>
                            <a:ea typeface="Cambria Math" panose="02040503050406030204" pitchFamily="18" charset="0"/>
                          </a:rPr>
                        </m:ctrlPr>
                      </m:d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𝑏</m:t>
                        </m:r>
                      </m:e>
                    </m:d>
                  </m:oMath>
                </a14:m>
                <a:r>
                  <a:rPr lang="zh-CN" altLang="zh-CN" sz="1200" dirty="0">
                    <a:ea typeface="等线" panose="02010600030101010101" pitchFamily="2" charset="-122"/>
                    <a:cs typeface="Times New Roman" panose="02020603050405020304" pitchFamily="18" charset="0"/>
                  </a:rPr>
                  <a:t>，机器人的正运动学可以写成</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𝑇</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𝑠𝑏</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𝜃</m:t>
                    </m:r>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1200" dirty="0">
                    <a:ea typeface="等线" panose="02010600030101010101" pitchFamily="2" charset="-122"/>
                    <a:cs typeface="Times New Roman" panose="02020603050405020304" pitchFamily="18" charset="0"/>
                  </a:rPr>
                  <a:t>，末端的空间速度在基坐标下的表现形式为</a:t>
                </a:r>
                <a:endParaRPr lang="zh-CN" altLang="en-US" sz="1200" dirty="0"/>
              </a:p>
            </p:txBody>
          </p:sp>
        </mc:Choice>
        <mc:Fallback xmlns="">
          <p:sp>
            <p:nvSpPr>
              <p:cNvPr id="5" name="矩形 4"/>
              <p:cNvSpPr>
                <a:spLocks noRot="1" noChangeAspect="1" noMove="1" noResize="1" noEditPoints="1" noAdjustHandles="1" noChangeArrowheads="1" noChangeShapeType="1" noTextEdit="1"/>
              </p:cNvSpPr>
              <p:nvPr/>
            </p:nvSpPr>
            <p:spPr>
              <a:xfrm>
                <a:off x="354959" y="1727184"/>
                <a:ext cx="2818063" cy="830997"/>
              </a:xfrm>
              <a:prstGeom prst="rect">
                <a:avLst/>
              </a:prstGeom>
              <a:blipFill>
                <a:blip r:embed="rId4"/>
                <a:stretch>
                  <a:fillRect r="-5400" b="-43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1252658" y="2283979"/>
                <a:ext cx="1230145" cy="28777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𝜈</m:t>
                              </m:r>
                            </m:e>
                            <m:sub>
                              <m:r>
                                <a:rPr lang="zh-CN" altLang="en-US" sz="1200" i="1">
                                  <a:latin typeface="Cambria Math" panose="02040503050406030204" pitchFamily="18" charset="0"/>
                                </a:rPr>
                                <m:t>𝑠</m:t>
                              </m:r>
                            </m:sub>
                          </m:sSub>
                        </m:e>
                      </m:d>
                      <m:r>
                        <a:rPr lang="zh-CN" altLang="en-US" sz="1200" i="0">
                          <a:latin typeface="Cambria Math" panose="02040503050406030204" pitchFamily="18" charset="0"/>
                        </a:rPr>
                        <m:t>=</m:t>
                      </m:r>
                      <m:acc>
                        <m:accPr>
                          <m:chr m:val="̇"/>
                          <m:ctrlPr>
                            <a:rPr lang="zh-CN" altLang="en-US" sz="1200" i="1">
                              <a:latin typeface="Cambria Math" panose="02040503050406030204" pitchFamily="18" charset="0"/>
                            </a:rPr>
                          </m:ctrlPr>
                        </m:acc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1">
                                  <a:latin typeface="Cambria Math" panose="02040503050406030204" pitchFamily="18" charset="0"/>
                                </a:rPr>
                                <m:t>𝑠𝑏</m:t>
                              </m:r>
                            </m:sub>
                          </m:sSub>
                        </m:e>
                      </m:acc>
                      <m:sSup>
                        <m:sSupPr>
                          <m:ctrlPr>
                            <a:rPr lang="zh-CN" altLang="en-US" sz="1200" i="1">
                              <a:latin typeface="Cambria Math" panose="02040503050406030204" pitchFamily="18" charset="0"/>
                            </a:rPr>
                          </m:ctrlPr>
                        </m:sSup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1">
                                  <a:latin typeface="Cambria Math" panose="02040503050406030204" pitchFamily="18" charset="0"/>
                                </a:rPr>
                                <m:t>𝑠𝑏</m:t>
                              </m:r>
                            </m:sub>
                          </m:sSub>
                        </m:e>
                        <m:sup>
                          <m:r>
                            <a:rPr lang="zh-CN" altLang="en-US" sz="1200" i="0">
                              <a:latin typeface="Cambria Math" panose="02040503050406030204" pitchFamily="18" charset="0"/>
                            </a:rPr>
                            <m:t>−1</m:t>
                          </m:r>
                        </m:sup>
                      </m:sSup>
                    </m:oMath>
                  </m:oMathPara>
                </a14:m>
                <a:endParaRPr lang="zh-CN" altLang="en-US" sz="1200" dirty="0"/>
              </a:p>
            </p:txBody>
          </p:sp>
        </mc:Choice>
        <mc:Fallback xmlns="">
          <p:sp>
            <p:nvSpPr>
              <p:cNvPr id="11" name="矩形 10"/>
              <p:cNvSpPr>
                <a:spLocks noRot="1" noChangeAspect="1" noMove="1" noResize="1" noEditPoints="1" noAdjustHandles="1" noChangeArrowheads="1" noChangeShapeType="1" noTextEdit="1"/>
              </p:cNvSpPr>
              <p:nvPr/>
            </p:nvSpPr>
            <p:spPr>
              <a:xfrm>
                <a:off x="1252658" y="2283979"/>
                <a:ext cx="1230145" cy="28777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360040" y="2546560"/>
                <a:ext cx="2731827" cy="652358"/>
              </a:xfrm>
              <a:prstGeom prst="rect">
                <a:avLst/>
              </a:prstGeom>
            </p:spPr>
            <p:txBody>
              <a:bodyPr wrap="square">
                <a:spAutoFit/>
              </a:bodyPr>
              <a:lstStyle/>
              <a:p>
                <a:r>
                  <a:rPr lang="zh-CN" altLang="zh-CN" sz="1200" dirty="0">
                    <a:ea typeface="等线" panose="02010600030101010101" pitchFamily="2" charset="-122"/>
                    <a:cs typeface="Times New Roman" panose="02020603050405020304" pitchFamily="18" charset="0"/>
                  </a:rPr>
                  <a:t>迭代的过程即为从</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𝑇</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𝑠𝑏</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𝜃</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𝑖</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1200" dirty="0">
                    <a:ea typeface="等线" panose="02010600030101010101" pitchFamily="2" charset="-122"/>
                    <a:cs typeface="Times New Roman" panose="02020603050405020304" pitchFamily="18" charset="0"/>
                  </a:rPr>
                  <a:t>到期望位形</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𝑇</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𝑠𝑑</m:t>
                        </m:r>
                      </m:sub>
                    </m:sSub>
                  </m:oMath>
                </a14:m>
                <a:r>
                  <a:rPr lang="zh-CN" altLang="zh-CN" sz="1200" dirty="0">
                    <a:ea typeface="等线" panose="02010600030101010101" pitchFamily="2" charset="-122"/>
                    <a:cs typeface="Times New Roman" panose="02020603050405020304" pitchFamily="18" charset="0"/>
                  </a:rPr>
                  <a:t>的迭代。首先计算相对基坐标系的期望位形：</a:t>
                </a:r>
                <a:endParaRPr lang="zh-CN" altLang="en-US" sz="1200" dirty="0"/>
              </a:p>
            </p:txBody>
          </p:sp>
        </mc:Choice>
        <mc:Fallback xmlns="">
          <p:sp>
            <p:nvSpPr>
              <p:cNvPr id="12" name="矩形 11"/>
              <p:cNvSpPr>
                <a:spLocks noRot="1" noChangeAspect="1" noMove="1" noResize="1" noEditPoints="1" noAdjustHandles="1" noChangeArrowheads="1" noChangeShapeType="1" noTextEdit="1"/>
              </p:cNvSpPr>
              <p:nvPr/>
            </p:nvSpPr>
            <p:spPr>
              <a:xfrm>
                <a:off x="360040" y="2546560"/>
                <a:ext cx="2731827" cy="652358"/>
              </a:xfrm>
              <a:prstGeom prst="rect">
                <a:avLst/>
              </a:prstGeom>
              <a:blipFill>
                <a:blip r:embed="rId6"/>
                <a:stretch>
                  <a:fillRect b="-65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985488" y="3037141"/>
                <a:ext cx="1759071" cy="3025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1">
                              <a:latin typeface="Cambria Math" panose="02040503050406030204" pitchFamily="18" charset="0"/>
                            </a:rPr>
                            <m:t>𝑠𝑑</m:t>
                          </m:r>
                        </m:sub>
                      </m:sSub>
                      <m:d>
                        <m:dPr>
                          <m:ctrlPr>
                            <a:rPr lang="zh-CN" altLang="en-US" sz="1200" i="1">
                              <a:latin typeface="Cambria Math" panose="02040503050406030204" pitchFamily="18" charset="0"/>
                            </a:rPr>
                          </m:ctrlPr>
                        </m:dPr>
                        <m:e>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𝜃</m:t>
                              </m:r>
                            </m:e>
                            <m:sup>
                              <m:r>
                                <a:rPr lang="zh-CN" altLang="en-US" sz="1200" i="1">
                                  <a:latin typeface="Cambria Math" panose="02040503050406030204" pitchFamily="18" charset="0"/>
                                </a:rPr>
                                <m:t>𝑖</m:t>
                              </m:r>
                            </m:sup>
                          </m:sSup>
                        </m:e>
                      </m:d>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1">
                              <a:latin typeface="Cambria Math" panose="02040503050406030204" pitchFamily="18" charset="0"/>
                            </a:rPr>
                            <m:t>𝑠𝑏</m:t>
                          </m:r>
                        </m:sub>
                      </m:sSub>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𝜃</m:t>
                          </m:r>
                        </m:e>
                        <m:sup>
                          <m:r>
                            <a:rPr lang="zh-CN" altLang="en-US" sz="1200" i="1">
                              <a:latin typeface="Cambria Math" panose="02040503050406030204" pitchFamily="18" charset="0"/>
                            </a:rPr>
                            <m:t>𝑖</m:t>
                          </m:r>
                        </m:sup>
                      </m:sSup>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1">
                                  <a:latin typeface="Cambria Math" panose="02040503050406030204" pitchFamily="18" charset="0"/>
                                </a:rPr>
                                <m:t>𝑠𝑑</m:t>
                              </m:r>
                            </m:sub>
                          </m:sSub>
                        </m:e>
                        <m:sup>
                          <m:r>
                            <a:rPr lang="zh-CN" altLang="en-US" sz="1200" i="0">
                              <a:latin typeface="Cambria Math" panose="02040503050406030204" pitchFamily="18" charset="0"/>
                            </a:rPr>
                            <m:t>−1</m:t>
                          </m:r>
                        </m:sup>
                      </m:sSup>
                    </m:oMath>
                  </m:oMathPara>
                </a14:m>
                <a:endParaRPr lang="zh-CN" altLang="en-US" sz="1200" dirty="0"/>
              </a:p>
            </p:txBody>
          </p:sp>
        </mc:Choice>
        <mc:Fallback xmlns="">
          <p:sp>
            <p:nvSpPr>
              <p:cNvPr id="13" name="矩形 12"/>
              <p:cNvSpPr>
                <a:spLocks noRot="1" noChangeAspect="1" noMove="1" noResize="1" noEditPoints="1" noAdjustHandles="1" noChangeArrowheads="1" noChangeShapeType="1" noTextEdit="1"/>
              </p:cNvSpPr>
              <p:nvPr/>
            </p:nvSpPr>
            <p:spPr>
              <a:xfrm>
                <a:off x="985488" y="3037141"/>
                <a:ext cx="1759071" cy="302583"/>
              </a:xfrm>
              <a:prstGeom prst="rect">
                <a:avLst/>
              </a:prstGeom>
              <a:blipFill>
                <a:blip r:embed="rId7"/>
                <a:stretch>
                  <a:fillRect b="-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395536" y="3362613"/>
                <a:ext cx="2166812" cy="276999"/>
              </a:xfrm>
              <a:prstGeom prst="rect">
                <a:avLst/>
              </a:prstGeom>
            </p:spPr>
            <p:txBody>
              <a:bodyPr wrap="none">
                <a:spAutoFit/>
              </a:bodyPr>
              <a:lstStyle/>
              <a:p>
                <a:r>
                  <a:rPr lang="zh-CN" altLang="zh-CN" sz="1200" dirty="0">
                    <a:ea typeface="等线" panose="02010600030101010101" pitchFamily="2" charset="-122"/>
                    <a:cs typeface="Times New Roman" panose="02020603050405020304" pitchFamily="18" charset="0"/>
                  </a:rPr>
                  <a:t>然后，利用矩阵对数确定</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𝜈</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𝑠</m:t>
                        </m:r>
                      </m:sub>
                    </m:sSub>
                  </m:oMath>
                </a14:m>
                <a:r>
                  <a:rPr lang="zh-CN" altLang="zh-CN" sz="1200" dirty="0">
                    <a:ea typeface="等线" panose="02010600030101010101" pitchFamily="2" charset="-122"/>
                    <a:cs typeface="Times New Roman" panose="02020603050405020304" pitchFamily="18" charset="0"/>
                  </a:rPr>
                  <a:t>：</a:t>
                </a:r>
                <a:endParaRPr lang="zh-CN" altLang="en-US" sz="1200" dirty="0"/>
              </a:p>
            </p:txBody>
          </p:sp>
        </mc:Choice>
        <mc:Fallback xmlns="">
          <p:sp>
            <p:nvSpPr>
              <p:cNvPr id="14" name="矩形 13"/>
              <p:cNvSpPr>
                <a:spLocks noRot="1" noChangeAspect="1" noMove="1" noResize="1" noEditPoints="1" noAdjustHandles="1" noChangeArrowheads="1" noChangeShapeType="1" noTextEdit="1"/>
              </p:cNvSpPr>
              <p:nvPr/>
            </p:nvSpPr>
            <p:spPr>
              <a:xfrm>
                <a:off x="395536" y="3362613"/>
                <a:ext cx="2166812" cy="276999"/>
              </a:xfrm>
              <a:prstGeom prst="rect">
                <a:avLst/>
              </a:prstGeom>
              <a:blipFill>
                <a:blip r:embed="rId8"/>
                <a:stretch>
                  <a:fillRect l="-282" t="-2222" b="-1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875232" y="3688085"/>
                <a:ext cx="1382622" cy="3007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𝜈</m:t>
                              </m:r>
                            </m:e>
                            <m:sub>
                              <m:r>
                                <a:rPr lang="zh-CN" altLang="en-US" sz="1200" i="1">
                                  <a:latin typeface="Cambria Math" panose="02040503050406030204" pitchFamily="18" charset="0"/>
                                </a:rPr>
                                <m:t>𝑠</m:t>
                              </m:r>
                            </m:sub>
                          </m:sSub>
                        </m:e>
                      </m:d>
                      <m:r>
                        <a:rPr lang="zh-CN" altLang="en-US" sz="1200" i="0">
                          <a:latin typeface="Cambria Math" panose="02040503050406030204" pitchFamily="18" charset="0"/>
                        </a:rPr>
                        <m:t>=</m:t>
                      </m:r>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log</m:t>
                          </m:r>
                        </m:fName>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𝑇</m:t>
                              </m:r>
                            </m:e>
                            <m:sub>
                              <m:r>
                                <a:rPr lang="zh-CN" altLang="en-US" sz="1200" i="1">
                                  <a:latin typeface="Cambria Math" panose="02040503050406030204" pitchFamily="18" charset="0"/>
                                </a:rPr>
                                <m:t>𝑠𝑑</m:t>
                              </m:r>
                            </m:sub>
                          </m:sSub>
                          <m:d>
                            <m:dPr>
                              <m:ctrlPr>
                                <a:rPr lang="zh-CN" altLang="en-US" sz="1200" i="1">
                                  <a:latin typeface="Cambria Math" panose="02040503050406030204" pitchFamily="18" charset="0"/>
                                </a:rPr>
                              </m:ctrlPr>
                            </m:dPr>
                            <m:e>
                              <m:sSup>
                                <m:sSupPr>
                                  <m:ctrlPr>
                                    <a:rPr lang="zh-CN" altLang="en-US" sz="1200" i="1">
                                      <a:latin typeface="Cambria Math" panose="02040503050406030204" pitchFamily="18" charset="0"/>
                                    </a:rPr>
                                  </m:ctrlPr>
                                </m:sSupPr>
                                <m:e>
                                  <m:r>
                                    <a:rPr lang="zh-CN" altLang="en-US" sz="1200" i="1">
                                      <a:latin typeface="Cambria Math" panose="02040503050406030204" pitchFamily="18" charset="0"/>
                                    </a:rPr>
                                    <m:t>𝜃</m:t>
                                  </m:r>
                                </m:e>
                                <m:sup>
                                  <m:r>
                                    <a:rPr lang="zh-CN" altLang="en-US" sz="1200" i="1">
                                      <a:latin typeface="Cambria Math" panose="02040503050406030204" pitchFamily="18" charset="0"/>
                                    </a:rPr>
                                    <m:t>𝑖</m:t>
                                  </m:r>
                                </m:sup>
                              </m:sSup>
                            </m:e>
                          </m:d>
                        </m:e>
                      </m:func>
                    </m:oMath>
                  </m:oMathPara>
                </a14:m>
                <a:endParaRPr lang="zh-CN" altLang="en-US" sz="1200" dirty="0"/>
              </a:p>
            </p:txBody>
          </p:sp>
        </mc:Choice>
        <mc:Fallback xmlns="">
          <p:sp>
            <p:nvSpPr>
              <p:cNvPr id="15" name="矩形 14"/>
              <p:cNvSpPr>
                <a:spLocks noRot="1" noChangeAspect="1" noMove="1" noResize="1" noEditPoints="1" noAdjustHandles="1" noChangeArrowheads="1" noChangeShapeType="1" noTextEdit="1"/>
              </p:cNvSpPr>
              <p:nvPr/>
            </p:nvSpPr>
            <p:spPr>
              <a:xfrm>
                <a:off x="875232" y="3688085"/>
                <a:ext cx="1382622" cy="300788"/>
              </a:xfrm>
              <a:prstGeom prst="rect">
                <a:avLst/>
              </a:prstGeom>
              <a:blipFill>
                <a:blip r:embed="rId9"/>
                <a:stretch>
                  <a:fillRect b="-2041"/>
                </a:stretch>
              </a:blipFill>
            </p:spPr>
            <p:txBody>
              <a:bodyPr/>
              <a:lstStyle/>
              <a:p>
                <a:r>
                  <a:rPr lang="zh-CN" altLang="en-US">
                    <a:noFill/>
                  </a:rPr>
                  <a:t> </a:t>
                </a:r>
              </a:p>
            </p:txBody>
          </p:sp>
        </mc:Fallback>
      </mc:AlternateContent>
      <p:sp>
        <p:nvSpPr>
          <p:cNvPr id="18" name="矩形 17"/>
          <p:cNvSpPr/>
          <p:nvPr/>
        </p:nvSpPr>
        <p:spPr>
          <a:xfrm>
            <a:off x="3771531" y="114131"/>
            <a:ext cx="4536504" cy="307777"/>
          </a:xfrm>
          <a:prstGeom prst="rect">
            <a:avLst/>
          </a:prstGeom>
        </p:spPr>
        <p:txBody>
          <a:bodyPr wrap="square">
            <a:spAutoFit/>
          </a:bodyPr>
          <a:lstStyle/>
          <a:p>
            <a:r>
              <a:rPr lang="zh-CN" altLang="zh-CN" sz="1400" b="1" dirty="0">
                <a:solidFill>
                  <a:srgbClr val="7030A0"/>
                </a:solidFill>
                <a:ea typeface="等线" panose="02010600030101010101" pitchFamily="2" charset="-122"/>
                <a:cs typeface="Times New Roman" panose="02020603050405020304" pitchFamily="18" charset="0"/>
              </a:rPr>
              <a:t>基于指数积求取的雅可比伪逆矩阵牛顿</a:t>
            </a:r>
            <a:r>
              <a:rPr lang="en-US" altLang="zh-CN" sz="1400" b="1" dirty="0">
                <a:solidFill>
                  <a:srgbClr val="7030A0"/>
                </a:solidFill>
                <a:ea typeface="等线" panose="02010600030101010101" pitchFamily="2" charset="-122"/>
                <a:cs typeface="Times New Roman" panose="02020603050405020304" pitchFamily="18" charset="0"/>
              </a:rPr>
              <a:t>-</a:t>
            </a:r>
            <a:r>
              <a:rPr lang="zh-CN" altLang="zh-CN" sz="1400" b="1" dirty="0">
                <a:solidFill>
                  <a:srgbClr val="7030A0"/>
                </a:solidFill>
                <a:ea typeface="等线" panose="02010600030101010101" pitchFamily="2" charset="-122"/>
                <a:cs typeface="Times New Roman" panose="02020603050405020304" pitchFamily="18" charset="0"/>
              </a:rPr>
              <a:t>拉夫森算法步骤</a:t>
            </a:r>
            <a:endParaRPr lang="zh-CN" altLang="en-US" sz="1400" b="1" dirty="0">
              <a:solidFill>
                <a:srgbClr val="7030A0"/>
              </a:solidFill>
            </a:endParaRPr>
          </a:p>
        </p:txBody>
      </p:sp>
      <mc:AlternateContent xmlns:mc="http://schemas.openxmlformats.org/markup-compatibility/2006" xmlns:a14="http://schemas.microsoft.com/office/drawing/2010/main">
        <mc:Choice Requires="a14">
          <p:sp>
            <p:nvSpPr>
              <p:cNvPr id="19" name="矩形 18"/>
              <p:cNvSpPr/>
              <p:nvPr/>
            </p:nvSpPr>
            <p:spPr>
              <a:xfrm>
                <a:off x="3091867" y="429895"/>
                <a:ext cx="5895833" cy="4651017"/>
              </a:xfrm>
              <a:prstGeom prst="rect">
                <a:avLst/>
              </a:prstGeom>
            </p:spPr>
            <p:txBody>
              <a:bodyPr wrap="square">
                <a:spAutoFit/>
              </a:bodyPr>
              <a:lstStyle/>
              <a:p>
                <a:pPr>
                  <a:spcBef>
                    <a:spcPts val="600"/>
                  </a:spcBef>
                  <a:spcAft>
                    <a:spcPts val="600"/>
                  </a:spcAft>
                </a:pPr>
                <a:r>
                  <a:rPr lang="en-US" altLang="zh-CN" sz="1000" b="1" dirty="0" smtClean="0">
                    <a:solidFill>
                      <a:srgbClr val="FF0000"/>
                    </a:solidFill>
                    <a:latin typeface="宋体" panose="02010600030101010101" pitchFamily="2" charset="-122"/>
                    <a:cs typeface="宋体" panose="02010600030101010101" pitchFamily="2" charset="-122"/>
                  </a:rPr>
                  <a:t>1) </a:t>
                </a:r>
                <a:r>
                  <a:rPr lang="zh-CN" altLang="zh-CN" sz="1000" b="1" dirty="0" smtClean="0">
                    <a:solidFill>
                      <a:srgbClr val="002060"/>
                    </a:solidFill>
                    <a:latin typeface="宋体" panose="02010600030101010101" pitchFamily="2" charset="-122"/>
                    <a:cs typeface="宋体" panose="02010600030101010101" pitchFamily="2" charset="-122"/>
                  </a:rPr>
                  <a:t>初始化</a:t>
                </a:r>
                <a:r>
                  <a:rPr lang="en-US" altLang="zh-CN" sz="1000" b="1" dirty="0">
                    <a:solidFill>
                      <a:srgbClr val="002060"/>
                    </a:solidFill>
                    <a:latin typeface="宋体" panose="02010600030101010101" pitchFamily="2" charset="-122"/>
                    <a:cs typeface="宋体" panose="02010600030101010101" pitchFamily="2" charset="-122"/>
                  </a:rPr>
                  <a:t>: </a:t>
                </a:r>
                <a:r>
                  <a:rPr lang="zh-CN" altLang="zh-CN" sz="1000" b="1" dirty="0">
                    <a:solidFill>
                      <a:srgbClr val="002060"/>
                    </a:solidFill>
                    <a:latin typeface="宋体" panose="02010600030101010101" pitchFamily="2" charset="-122"/>
                    <a:cs typeface="宋体" panose="02010600030101010101" pitchFamily="2" charset="-122"/>
                  </a:rPr>
                  <a:t>已知期望位形为</a:t>
                </a:r>
                <a14:m>
                  <m:oMath xmlns:m="http://schemas.openxmlformats.org/officeDocument/2006/math">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𝑻</m:t>
                        </m:r>
                      </m:e>
                      <m:sub>
                        <m:r>
                          <a:rPr lang="en-US" altLang="zh-CN" sz="1000" b="1" i="1">
                            <a:solidFill>
                              <a:srgbClr val="002060"/>
                            </a:solidFill>
                            <a:latin typeface="Cambria Math" panose="02040503050406030204" pitchFamily="18" charset="0"/>
                            <a:cs typeface="宋体" panose="02010600030101010101" pitchFamily="2" charset="-122"/>
                          </a:rPr>
                          <m:t>𝒔𝒅</m:t>
                        </m:r>
                      </m:sub>
                    </m:sSub>
                  </m:oMath>
                </a14:m>
                <a:r>
                  <a:rPr lang="zh-CN" altLang="zh-CN" sz="1000" b="1" dirty="0">
                    <a:solidFill>
                      <a:srgbClr val="002060"/>
                    </a:solidFill>
                    <a:latin typeface="宋体" panose="02010600030101010101" pitchFamily="2" charset="-122"/>
                    <a:cs typeface="宋体" panose="02010600030101010101" pitchFamily="2" charset="-122"/>
                  </a:rPr>
                  <a:t>，初始估计值</a:t>
                </a:r>
                <a14:m>
                  <m:oMath xmlns:m="http://schemas.openxmlformats.org/officeDocument/2006/math">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𝜽</m:t>
                        </m:r>
                      </m:e>
                      <m:sup>
                        <m:r>
                          <a:rPr lang="en-US" altLang="zh-CN" sz="1000" b="1" i="1">
                            <a:solidFill>
                              <a:srgbClr val="002060"/>
                            </a:solidFill>
                            <a:latin typeface="Cambria Math" panose="02040503050406030204" pitchFamily="18" charset="0"/>
                            <a:cs typeface="宋体" panose="02010600030101010101" pitchFamily="2" charset="-122"/>
                          </a:rPr>
                          <m:t>𝟎</m:t>
                        </m:r>
                      </m:sup>
                    </m:sSup>
                    <m:r>
                      <a:rPr lang="en-US" altLang="zh-CN" sz="1000" b="1" i="1">
                        <a:solidFill>
                          <a:srgbClr val="002060"/>
                        </a:solidFill>
                        <a:latin typeface="Cambria Math" panose="02040503050406030204" pitchFamily="18" charset="0"/>
                        <a:cs typeface="宋体" panose="02010600030101010101" pitchFamily="2" charset="-122"/>
                      </a:rPr>
                      <m:t>∈</m:t>
                    </m:r>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ℝ</m:t>
                        </m:r>
                      </m:e>
                      <m:sup>
                        <m:r>
                          <a:rPr lang="en-US" altLang="zh-CN" sz="1000" b="1" i="1">
                            <a:solidFill>
                              <a:srgbClr val="002060"/>
                            </a:solidFill>
                            <a:latin typeface="Cambria Math" panose="02040503050406030204" pitchFamily="18" charset="0"/>
                            <a:cs typeface="宋体" panose="02010600030101010101" pitchFamily="2" charset="-122"/>
                          </a:rPr>
                          <m:t>𝒏</m:t>
                        </m:r>
                      </m:sup>
                    </m:sSup>
                  </m:oMath>
                </a14:m>
                <a:r>
                  <a:rPr lang="en-US" altLang="zh-CN" sz="1000" b="1" dirty="0">
                    <a:solidFill>
                      <a:srgbClr val="002060"/>
                    </a:solidFill>
                    <a:latin typeface="宋体" panose="02010600030101010101" pitchFamily="2" charset="-122"/>
                    <a:cs typeface="宋体" panose="02010600030101010101" pitchFamily="2" charset="-122"/>
                  </a:rPr>
                  <a:t>,</a:t>
                </a:r>
                <a:r>
                  <a:rPr lang="zh-CN" altLang="zh-CN" sz="1000" b="1" dirty="0">
                    <a:solidFill>
                      <a:srgbClr val="002060"/>
                    </a:solidFill>
                    <a:latin typeface="宋体" panose="02010600030101010101" pitchFamily="2" charset="-122"/>
                    <a:cs typeface="宋体" panose="02010600030101010101" pitchFamily="2" charset="-122"/>
                  </a:rPr>
                  <a:t>初始位形为</a:t>
                </a:r>
                <a14:m>
                  <m:oMath xmlns:m="http://schemas.openxmlformats.org/officeDocument/2006/math">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𝑻</m:t>
                        </m:r>
                      </m:e>
                      <m:sub>
                        <m:r>
                          <a:rPr lang="en-US" altLang="zh-CN" sz="1000" b="1" i="1">
                            <a:solidFill>
                              <a:srgbClr val="002060"/>
                            </a:solidFill>
                            <a:latin typeface="Cambria Math" panose="02040503050406030204" pitchFamily="18" charset="0"/>
                            <a:cs typeface="宋体" panose="02010600030101010101" pitchFamily="2" charset="-122"/>
                          </a:rPr>
                          <m:t>𝟎</m:t>
                        </m:r>
                      </m:sub>
                    </m:sSub>
                  </m:oMath>
                </a14:m>
                <a:endParaRPr lang="zh-CN" altLang="zh-CN" sz="1000" b="1" dirty="0">
                  <a:solidFill>
                    <a:srgbClr val="002060"/>
                  </a:solidFill>
                  <a:latin typeface="宋体" panose="02010600030101010101" pitchFamily="2" charset="-122"/>
                  <a:cs typeface="宋体" panose="02010600030101010101" pitchFamily="2" charset="-122"/>
                </a:endParaRPr>
              </a:p>
              <a:p>
                <a:pPr indent="266700">
                  <a:spcBef>
                    <a:spcPts val="600"/>
                  </a:spcBef>
                  <a:spcAft>
                    <a:spcPts val="600"/>
                  </a:spcAft>
                </a:pPr>
                <a14:m>
                  <m:oMath xmlns:m="http://schemas.openxmlformats.org/officeDocument/2006/math">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𝜽</m:t>
                        </m:r>
                      </m:e>
                      <m:sup>
                        <m:r>
                          <a:rPr lang="en-US" altLang="zh-CN" sz="1000" b="1" i="1">
                            <a:solidFill>
                              <a:srgbClr val="002060"/>
                            </a:solidFill>
                            <a:latin typeface="Cambria Math" panose="02040503050406030204" pitchFamily="18" charset="0"/>
                            <a:cs typeface="宋体" panose="02010600030101010101" pitchFamily="2" charset="-122"/>
                          </a:rPr>
                          <m:t>𝒌</m:t>
                        </m:r>
                      </m:sup>
                    </m:sSup>
                    <m:r>
                      <a:rPr lang="en-US" altLang="zh-CN" sz="1000" b="1" i="1">
                        <a:solidFill>
                          <a:srgbClr val="002060"/>
                        </a:solidFill>
                        <a:latin typeface="Cambria Math" panose="02040503050406030204" pitchFamily="18" charset="0"/>
                        <a:cs typeface="宋体" panose="02010600030101010101" pitchFamily="2" charset="-122"/>
                      </a:rPr>
                      <m:t>=</m:t>
                    </m:r>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𝜽</m:t>
                        </m:r>
                      </m:e>
                      <m:sup>
                        <m:r>
                          <a:rPr lang="en-US" altLang="zh-CN" sz="1000" b="1" i="1">
                            <a:solidFill>
                              <a:srgbClr val="002060"/>
                            </a:solidFill>
                            <a:latin typeface="Cambria Math" panose="02040503050406030204" pitchFamily="18" charset="0"/>
                            <a:cs typeface="宋体" panose="02010600030101010101" pitchFamily="2" charset="-122"/>
                          </a:rPr>
                          <m:t>𝟎</m:t>
                        </m:r>
                      </m:sup>
                    </m:sSup>
                  </m:oMath>
                </a14:m>
                <a:r>
                  <a:rPr lang="en-US" altLang="zh-CN" sz="1000" b="1" dirty="0" smtClean="0">
                    <a:solidFill>
                      <a:srgbClr val="002060"/>
                    </a:solidFill>
                    <a:latin typeface="宋体" panose="02010600030101010101" pitchFamily="2" charset="-122"/>
                    <a:cs typeface="宋体" panose="02010600030101010101" pitchFamily="2" charset="-122"/>
                  </a:rPr>
                  <a:t> </a:t>
                </a:r>
              </a:p>
              <a:p>
                <a:pPr>
                  <a:spcBef>
                    <a:spcPts val="600"/>
                  </a:spcBef>
                  <a:spcAft>
                    <a:spcPts val="600"/>
                  </a:spcAft>
                </a:pPr>
                <a:r>
                  <a:rPr lang="en-US" altLang="zh-CN" sz="1000" b="1" dirty="0" smtClean="0">
                    <a:solidFill>
                      <a:srgbClr val="FF0000"/>
                    </a:solidFill>
                    <a:latin typeface="宋体" panose="02010600030101010101" pitchFamily="2" charset="-122"/>
                    <a:cs typeface="宋体" panose="02010600030101010101" pitchFamily="2" charset="-122"/>
                  </a:rPr>
                  <a:t>2) </a:t>
                </a:r>
                <a:r>
                  <a:rPr lang="zh-CN" altLang="zh-CN" sz="1000" b="1" dirty="0" smtClean="0">
                    <a:solidFill>
                      <a:srgbClr val="002060"/>
                    </a:solidFill>
                    <a:latin typeface="宋体" panose="02010600030101010101" pitchFamily="2" charset="-122"/>
                    <a:cs typeface="宋体" panose="02010600030101010101" pitchFamily="2" charset="-122"/>
                  </a:rPr>
                  <a:t>设定</a:t>
                </a:r>
                <a14:m>
                  <m:oMath xmlns:m="http://schemas.openxmlformats.org/officeDocument/2006/math">
                    <m:d>
                      <m:dPr>
                        <m:begChr m:val="["/>
                        <m:endChr m:val="]"/>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𝝂</m:t>
                            </m:r>
                          </m:e>
                          <m:sub>
                            <m:r>
                              <a:rPr lang="en-US" altLang="zh-CN" sz="1000" b="1" i="1">
                                <a:solidFill>
                                  <a:srgbClr val="002060"/>
                                </a:solidFill>
                                <a:latin typeface="Cambria Math" panose="02040503050406030204" pitchFamily="18" charset="0"/>
                                <a:cs typeface="宋体" panose="02010600030101010101" pitchFamily="2" charset="-122"/>
                              </a:rPr>
                              <m:t>𝒔</m:t>
                            </m:r>
                          </m:sub>
                        </m:sSub>
                      </m:e>
                    </m:d>
                    <m:r>
                      <a:rPr lang="en-US" altLang="zh-CN" sz="1000" b="1" i="1">
                        <a:solidFill>
                          <a:srgbClr val="002060"/>
                        </a:solidFill>
                        <a:latin typeface="Cambria Math" panose="02040503050406030204" pitchFamily="18" charset="0"/>
                        <a:cs typeface="宋体" panose="02010600030101010101" pitchFamily="2" charset="-122"/>
                      </a:rPr>
                      <m:t>=</m:t>
                    </m:r>
                    <m:func>
                      <m:func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funcPr>
                      <m:fName>
                        <m:r>
                          <a:rPr lang="en-US" altLang="zh-CN" sz="1000" b="1" i="1">
                            <a:solidFill>
                              <a:srgbClr val="002060"/>
                            </a:solidFill>
                            <a:latin typeface="Cambria Math" panose="02040503050406030204" pitchFamily="18" charset="0"/>
                            <a:cs typeface="宋体" panose="02010600030101010101" pitchFamily="2" charset="-122"/>
                          </a:rPr>
                          <m:t>𝒍𝒐𝒈</m:t>
                        </m:r>
                      </m:fName>
                      <m:e>
                        <m:r>
                          <a:rPr lang="en-US" altLang="zh-CN" sz="1000" b="1" i="1">
                            <a:solidFill>
                              <a:srgbClr val="002060"/>
                            </a:solidFill>
                            <a:latin typeface="Cambria Math" panose="02040503050406030204" pitchFamily="18" charset="0"/>
                            <a:cs typeface="宋体" panose="02010600030101010101" pitchFamily="2" charset="-122"/>
                          </a:rPr>
                          <m:t>(</m:t>
                        </m:r>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𝑻</m:t>
                            </m:r>
                          </m:e>
                          <m:sub>
                            <m:r>
                              <a:rPr lang="en-US" altLang="zh-CN" sz="1000" b="1" i="1">
                                <a:solidFill>
                                  <a:srgbClr val="002060"/>
                                </a:solidFill>
                                <a:latin typeface="Cambria Math" panose="02040503050406030204" pitchFamily="18" charset="0"/>
                                <a:cs typeface="宋体" panose="02010600030101010101" pitchFamily="2" charset="-122"/>
                              </a:rPr>
                              <m:t>𝒔𝒃</m:t>
                            </m:r>
                          </m:sub>
                        </m:sSub>
                        <m:r>
                          <a:rPr lang="en-US" altLang="zh-CN" sz="1000" b="1" i="1">
                            <a:solidFill>
                              <a:srgbClr val="002060"/>
                            </a:solidFill>
                            <a:latin typeface="Cambria Math" panose="02040503050406030204" pitchFamily="18" charset="0"/>
                            <a:cs typeface="宋体" panose="02010600030101010101" pitchFamily="2" charset="-122"/>
                          </a:rPr>
                          <m:t>(</m:t>
                        </m:r>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𝜽</m:t>
                            </m:r>
                          </m:e>
                          <m:sup>
                            <m:r>
                              <a:rPr lang="en-US" altLang="zh-CN" sz="1000" b="1" i="1">
                                <a:solidFill>
                                  <a:srgbClr val="002060"/>
                                </a:solidFill>
                                <a:latin typeface="Cambria Math" panose="02040503050406030204" pitchFamily="18" charset="0"/>
                                <a:cs typeface="宋体" panose="02010600030101010101" pitchFamily="2" charset="-122"/>
                              </a:rPr>
                              <m:t>𝒊</m:t>
                            </m:r>
                          </m:sup>
                        </m:sSup>
                        <m:r>
                          <a:rPr lang="en-US" altLang="zh-CN" sz="1000" b="1" i="1">
                            <a:solidFill>
                              <a:srgbClr val="002060"/>
                            </a:solidFill>
                            <a:latin typeface="Cambria Math" panose="02040503050406030204" pitchFamily="18" charset="0"/>
                            <a:cs typeface="宋体" panose="02010600030101010101" pitchFamily="2" charset="-122"/>
                          </a:rPr>
                          <m:t>)</m:t>
                        </m:r>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𝑻</m:t>
                                </m:r>
                              </m:e>
                              <m:sub>
                                <m:r>
                                  <a:rPr lang="en-US" altLang="zh-CN" sz="1000" b="1" i="1">
                                    <a:solidFill>
                                      <a:srgbClr val="002060"/>
                                    </a:solidFill>
                                    <a:latin typeface="Cambria Math" panose="02040503050406030204" pitchFamily="18" charset="0"/>
                                    <a:cs typeface="宋体" panose="02010600030101010101" pitchFamily="2" charset="-122"/>
                                  </a:rPr>
                                  <m:t>𝒔𝒅</m:t>
                                </m:r>
                              </m:sub>
                            </m:sSub>
                          </m:e>
                          <m:sup>
                            <m:r>
                              <a:rPr lang="en-US" altLang="zh-CN" sz="1000" b="1" i="1">
                                <a:solidFill>
                                  <a:srgbClr val="002060"/>
                                </a:solidFill>
                                <a:latin typeface="Cambria Math" panose="02040503050406030204" pitchFamily="18" charset="0"/>
                                <a:cs typeface="宋体" panose="02010600030101010101" pitchFamily="2" charset="-122"/>
                              </a:rPr>
                              <m:t>−</m:t>
                            </m:r>
                            <m:r>
                              <a:rPr lang="en-US" altLang="zh-CN" sz="1000" b="1" i="1">
                                <a:solidFill>
                                  <a:srgbClr val="002060"/>
                                </a:solidFill>
                                <a:latin typeface="Cambria Math" panose="02040503050406030204" pitchFamily="18" charset="0"/>
                                <a:cs typeface="宋体" panose="02010600030101010101" pitchFamily="2" charset="-122"/>
                              </a:rPr>
                              <m:t>𝟏</m:t>
                            </m:r>
                          </m:sup>
                        </m:sSup>
                      </m:e>
                    </m:func>
                    <m:r>
                      <a:rPr lang="en-US" altLang="zh-CN" sz="1000" b="1" i="1">
                        <a:solidFill>
                          <a:srgbClr val="002060"/>
                        </a:solidFill>
                        <a:latin typeface="Cambria Math" panose="02040503050406030204" pitchFamily="18" charset="0"/>
                        <a:cs typeface="宋体" panose="02010600030101010101" pitchFamily="2" charset="-122"/>
                      </a:rPr>
                      <m:t>)</m:t>
                    </m:r>
                  </m:oMath>
                </a14:m>
                <a:r>
                  <a:rPr lang="zh-CN" altLang="zh-CN" sz="1000" b="1" dirty="0">
                    <a:solidFill>
                      <a:srgbClr val="002060"/>
                    </a:solidFill>
                    <a:latin typeface="宋体" panose="02010600030101010101" pitchFamily="2" charset="-122"/>
                    <a:cs typeface="宋体" panose="02010600030101010101" pitchFamily="2" charset="-122"/>
                  </a:rPr>
                  <a:t>，则：</a:t>
                </a:r>
                <a14:m>
                  <m:oMath xmlns:m="http://schemas.openxmlformats.org/officeDocument/2006/math">
                    <m:r>
                      <a:rPr lang="en-US" altLang="zh-CN" sz="1000" b="1" i="1">
                        <a:solidFill>
                          <a:srgbClr val="002060"/>
                        </a:solidFill>
                        <a:latin typeface="Cambria Math" panose="02040503050406030204" pitchFamily="18" charset="0"/>
                        <a:cs typeface="宋体" panose="02010600030101010101" pitchFamily="2" charset="-122"/>
                      </a:rPr>
                      <m:t>𝜳</m:t>
                    </m:r>
                    <m:d>
                      <m:d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𝜽</m:t>
                            </m:r>
                          </m:e>
                          <m:sup>
                            <m:r>
                              <a:rPr lang="en-US" altLang="zh-CN" sz="1000" b="1" i="1">
                                <a:solidFill>
                                  <a:srgbClr val="002060"/>
                                </a:solidFill>
                                <a:latin typeface="Cambria Math" panose="02040503050406030204" pitchFamily="18" charset="0"/>
                                <a:cs typeface="宋体" panose="02010600030101010101" pitchFamily="2" charset="-122"/>
                              </a:rPr>
                              <m:t>𝒌</m:t>
                            </m:r>
                          </m:sup>
                        </m:sSup>
                      </m:e>
                    </m:d>
                    <m:r>
                      <a:rPr lang="en-US" altLang="zh-CN" sz="1000" b="1" i="1">
                        <a:solidFill>
                          <a:srgbClr val="002060"/>
                        </a:solidFill>
                        <a:latin typeface="Cambria Math" panose="02040503050406030204" pitchFamily="18" charset="0"/>
                        <a:cs typeface="宋体" panose="02010600030101010101" pitchFamily="2" charset="-122"/>
                      </a:rPr>
                      <m:t>=</m:t>
                    </m:r>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d>
                          <m:d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func>
                              <m:func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funcPr>
                              <m:fName>
                                <m:r>
                                  <a:rPr lang="en-US" altLang="zh-CN" sz="1000" b="1" i="1">
                                    <a:solidFill>
                                      <a:srgbClr val="002060"/>
                                    </a:solidFill>
                                    <a:latin typeface="Cambria Math" panose="02040503050406030204" pitchFamily="18" charset="0"/>
                                    <a:cs typeface="宋体" panose="02010600030101010101" pitchFamily="2" charset="-122"/>
                                  </a:rPr>
                                  <m:t>𝒍𝒐𝒈</m:t>
                                </m:r>
                              </m:fName>
                              <m:e>
                                <m:d>
                                  <m:d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𝒆</m:t>
                                        </m:r>
                                      </m:e>
                                      <m:sup>
                                        <m:d>
                                          <m:dPr>
                                            <m:begChr m:val="["/>
                                            <m:endChr m:val="]"/>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𝝃</m:t>
                                                </m:r>
                                              </m:e>
                                              <m:sub>
                                                <m:r>
                                                  <a:rPr lang="en-US" altLang="zh-CN" sz="1000" b="1" i="1">
                                                    <a:solidFill>
                                                      <a:srgbClr val="002060"/>
                                                    </a:solidFill>
                                                    <a:latin typeface="Cambria Math" panose="02040503050406030204" pitchFamily="18" charset="0"/>
                                                    <a:cs typeface="宋体" panose="02010600030101010101" pitchFamily="2" charset="-122"/>
                                                  </a:rPr>
                                                  <m:t>𝟏</m:t>
                                                </m:r>
                                              </m:sub>
                                            </m:sSub>
                                          </m:e>
                                        </m:d>
                                        <m:sSubSup>
                                          <m:sSub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SupPr>
                                          <m:e>
                                            <m:r>
                                              <a:rPr lang="en-US" altLang="zh-CN" sz="1000" b="1" i="1">
                                                <a:solidFill>
                                                  <a:srgbClr val="002060"/>
                                                </a:solidFill>
                                                <a:latin typeface="Cambria Math" panose="02040503050406030204" pitchFamily="18" charset="0"/>
                                                <a:cs typeface="宋体" panose="02010600030101010101" pitchFamily="2" charset="-122"/>
                                              </a:rPr>
                                              <m:t>𝜽</m:t>
                                            </m:r>
                                          </m:e>
                                          <m:sub>
                                            <m:r>
                                              <a:rPr lang="en-US" altLang="zh-CN" sz="1000" b="1" i="1">
                                                <a:solidFill>
                                                  <a:srgbClr val="002060"/>
                                                </a:solidFill>
                                                <a:latin typeface="Cambria Math" panose="02040503050406030204" pitchFamily="18" charset="0"/>
                                                <a:cs typeface="宋体" panose="02010600030101010101" pitchFamily="2" charset="-122"/>
                                              </a:rPr>
                                              <m:t>𝟏</m:t>
                                            </m:r>
                                          </m:sub>
                                          <m:sup>
                                            <m:r>
                                              <a:rPr lang="en-US" altLang="zh-CN" sz="1000" b="1" i="1">
                                                <a:solidFill>
                                                  <a:srgbClr val="002060"/>
                                                </a:solidFill>
                                                <a:latin typeface="Cambria Math" panose="02040503050406030204" pitchFamily="18" charset="0"/>
                                                <a:cs typeface="宋体" panose="02010600030101010101" pitchFamily="2" charset="-122"/>
                                              </a:rPr>
                                              <m:t>𝒌</m:t>
                                            </m:r>
                                          </m:sup>
                                        </m:sSubSup>
                                      </m:sup>
                                    </m:sSup>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𝒆</m:t>
                                        </m:r>
                                      </m:e>
                                      <m:sup>
                                        <m:d>
                                          <m:dPr>
                                            <m:begChr m:val="["/>
                                            <m:endChr m:val="]"/>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𝝃</m:t>
                                                </m:r>
                                              </m:e>
                                              <m:sub>
                                                <m:r>
                                                  <a:rPr lang="en-US" altLang="zh-CN" sz="1000" b="1" i="1">
                                                    <a:solidFill>
                                                      <a:srgbClr val="002060"/>
                                                    </a:solidFill>
                                                    <a:latin typeface="Cambria Math" panose="02040503050406030204" pitchFamily="18" charset="0"/>
                                                    <a:cs typeface="宋体" panose="02010600030101010101" pitchFamily="2" charset="-122"/>
                                                  </a:rPr>
                                                  <m:t>𝟐</m:t>
                                                </m:r>
                                              </m:sub>
                                            </m:sSub>
                                          </m:e>
                                        </m:d>
                                        <m:sSubSup>
                                          <m:sSub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SupPr>
                                          <m:e>
                                            <m:r>
                                              <a:rPr lang="en-US" altLang="zh-CN" sz="1000" b="1" i="1">
                                                <a:solidFill>
                                                  <a:srgbClr val="002060"/>
                                                </a:solidFill>
                                                <a:latin typeface="Cambria Math" panose="02040503050406030204" pitchFamily="18" charset="0"/>
                                                <a:cs typeface="宋体" panose="02010600030101010101" pitchFamily="2" charset="-122"/>
                                              </a:rPr>
                                              <m:t>𝜽</m:t>
                                            </m:r>
                                          </m:e>
                                          <m:sub>
                                            <m:r>
                                              <a:rPr lang="en-US" altLang="zh-CN" sz="1000" b="1" i="1">
                                                <a:solidFill>
                                                  <a:srgbClr val="002060"/>
                                                </a:solidFill>
                                                <a:latin typeface="Cambria Math" panose="02040503050406030204" pitchFamily="18" charset="0"/>
                                                <a:cs typeface="宋体" panose="02010600030101010101" pitchFamily="2" charset="-122"/>
                                              </a:rPr>
                                              <m:t>𝟐</m:t>
                                            </m:r>
                                          </m:sub>
                                          <m:sup>
                                            <m:r>
                                              <a:rPr lang="en-US" altLang="zh-CN" sz="1000" b="1" i="1">
                                                <a:solidFill>
                                                  <a:srgbClr val="002060"/>
                                                </a:solidFill>
                                                <a:latin typeface="Cambria Math" panose="02040503050406030204" pitchFamily="18" charset="0"/>
                                                <a:cs typeface="宋体" panose="02010600030101010101" pitchFamily="2" charset="-122"/>
                                              </a:rPr>
                                              <m:t>𝒌</m:t>
                                            </m:r>
                                          </m:sup>
                                        </m:sSubSup>
                                      </m:sup>
                                    </m:sSup>
                                    <m:r>
                                      <a:rPr lang="en-US" altLang="zh-CN" sz="1000" b="1" i="1">
                                        <a:solidFill>
                                          <a:srgbClr val="002060"/>
                                        </a:solidFill>
                                        <a:latin typeface="Cambria Math" panose="02040503050406030204" pitchFamily="18" charset="0"/>
                                        <a:cs typeface="宋体" panose="02010600030101010101" pitchFamily="2" charset="-122"/>
                                      </a:rPr>
                                      <m:t>⋯</m:t>
                                    </m:r>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𝒆</m:t>
                                        </m:r>
                                      </m:e>
                                      <m:sup>
                                        <m:d>
                                          <m:dPr>
                                            <m:begChr m:val="["/>
                                            <m:endChr m:val="]"/>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𝝃</m:t>
                                                </m:r>
                                              </m:e>
                                              <m:sub>
                                                <m:r>
                                                  <a:rPr lang="en-US" altLang="zh-CN" sz="1000" b="1" i="1">
                                                    <a:solidFill>
                                                      <a:srgbClr val="002060"/>
                                                    </a:solidFill>
                                                    <a:latin typeface="Cambria Math" panose="02040503050406030204" pitchFamily="18" charset="0"/>
                                                    <a:cs typeface="宋体" panose="02010600030101010101" pitchFamily="2" charset="-122"/>
                                                  </a:rPr>
                                                  <m:t>𝒏</m:t>
                                                </m:r>
                                              </m:sub>
                                            </m:sSub>
                                          </m:e>
                                        </m:d>
                                        <m:sSubSup>
                                          <m:sSub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SupPr>
                                          <m:e>
                                            <m:r>
                                              <a:rPr lang="en-US" altLang="zh-CN" sz="1000" b="1" i="1">
                                                <a:solidFill>
                                                  <a:srgbClr val="002060"/>
                                                </a:solidFill>
                                                <a:latin typeface="Cambria Math" panose="02040503050406030204" pitchFamily="18" charset="0"/>
                                                <a:cs typeface="宋体" panose="02010600030101010101" pitchFamily="2" charset="-122"/>
                                              </a:rPr>
                                              <m:t>𝜽</m:t>
                                            </m:r>
                                          </m:e>
                                          <m:sub>
                                            <m:r>
                                              <a:rPr lang="en-US" altLang="zh-CN" sz="1000" b="1" i="1">
                                                <a:solidFill>
                                                  <a:srgbClr val="002060"/>
                                                </a:solidFill>
                                                <a:latin typeface="Cambria Math" panose="02040503050406030204" pitchFamily="18" charset="0"/>
                                                <a:cs typeface="宋体" panose="02010600030101010101" pitchFamily="2" charset="-122"/>
                                              </a:rPr>
                                              <m:t>𝒏</m:t>
                                            </m:r>
                                          </m:sub>
                                          <m:sup>
                                            <m:r>
                                              <a:rPr lang="en-US" altLang="zh-CN" sz="1000" b="1" i="1">
                                                <a:solidFill>
                                                  <a:srgbClr val="002060"/>
                                                </a:solidFill>
                                                <a:latin typeface="Cambria Math" panose="02040503050406030204" pitchFamily="18" charset="0"/>
                                                <a:cs typeface="宋体" panose="02010600030101010101" pitchFamily="2" charset="-122"/>
                                              </a:rPr>
                                              <m:t>𝒌</m:t>
                                            </m:r>
                                          </m:sup>
                                        </m:sSubSup>
                                      </m:sup>
                                    </m:sSup>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𝑻</m:t>
                                        </m:r>
                                      </m:e>
                                      <m:sub>
                                        <m:r>
                                          <a:rPr lang="en-US" altLang="zh-CN" sz="1000" b="1" i="1">
                                            <a:solidFill>
                                              <a:srgbClr val="002060"/>
                                            </a:solidFill>
                                            <a:latin typeface="Cambria Math" panose="02040503050406030204" pitchFamily="18" charset="0"/>
                                            <a:cs typeface="宋体" panose="02010600030101010101" pitchFamily="2" charset="-122"/>
                                          </a:rPr>
                                          <m:t>𝟎</m:t>
                                        </m:r>
                                      </m:sub>
                                    </m:sSub>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𝑻</m:t>
                                            </m:r>
                                          </m:e>
                                          <m:sub>
                                            <m:r>
                                              <a:rPr lang="en-US" altLang="zh-CN" sz="1000" b="1" i="1">
                                                <a:solidFill>
                                                  <a:srgbClr val="002060"/>
                                                </a:solidFill>
                                                <a:latin typeface="Cambria Math" panose="02040503050406030204" pitchFamily="18" charset="0"/>
                                                <a:cs typeface="宋体" panose="02010600030101010101" pitchFamily="2" charset="-122"/>
                                              </a:rPr>
                                              <m:t>𝒔𝒅</m:t>
                                            </m:r>
                                          </m:sub>
                                        </m:sSub>
                                      </m:e>
                                      <m:sup>
                                        <m:r>
                                          <a:rPr lang="en-US" altLang="zh-CN" sz="1000" b="1" i="1">
                                            <a:solidFill>
                                              <a:srgbClr val="002060"/>
                                            </a:solidFill>
                                            <a:latin typeface="Cambria Math" panose="02040503050406030204" pitchFamily="18" charset="0"/>
                                            <a:cs typeface="宋体" panose="02010600030101010101" pitchFamily="2" charset="-122"/>
                                          </a:rPr>
                                          <m:t>−</m:t>
                                        </m:r>
                                        <m:r>
                                          <a:rPr lang="en-US" altLang="zh-CN" sz="1000" b="1" i="1">
                                            <a:solidFill>
                                              <a:srgbClr val="002060"/>
                                            </a:solidFill>
                                            <a:latin typeface="Cambria Math" panose="02040503050406030204" pitchFamily="18" charset="0"/>
                                            <a:cs typeface="宋体" panose="02010600030101010101" pitchFamily="2" charset="-122"/>
                                          </a:rPr>
                                          <m:t>𝟏</m:t>
                                        </m:r>
                                      </m:sup>
                                    </m:sSup>
                                  </m:e>
                                </m:d>
                              </m:e>
                            </m:func>
                          </m:e>
                        </m:d>
                      </m:e>
                      <m:sup>
                        <m:r>
                          <a:rPr lang="en-US" altLang="zh-CN" sz="1000" b="1" i="1">
                            <a:solidFill>
                              <a:srgbClr val="002060"/>
                            </a:solidFill>
                            <a:latin typeface="Cambria Math" panose="02040503050406030204" pitchFamily="18" charset="0"/>
                            <a:cs typeface="宋体" panose="02010600030101010101" pitchFamily="2" charset="-122"/>
                          </a:rPr>
                          <m:t>𝑽</m:t>
                        </m:r>
                      </m:sup>
                    </m:sSup>
                  </m:oMath>
                </a14:m>
                <a:r>
                  <a:rPr lang="en-US" altLang="zh-CN" sz="1000" b="1" dirty="0">
                    <a:solidFill>
                      <a:srgbClr val="002060"/>
                    </a:solidFill>
                    <a:latin typeface="宋体" panose="02010600030101010101" pitchFamily="2" charset="-122"/>
                    <a:cs typeface="宋体" panose="02010600030101010101" pitchFamily="2" charset="-122"/>
                  </a:rPr>
                  <a:t> (3-105</a:t>
                </a:r>
                <a:r>
                  <a:rPr lang="en-US" altLang="zh-CN" sz="1000" b="1" dirty="0" smtClean="0">
                    <a:solidFill>
                      <a:srgbClr val="002060"/>
                    </a:solidFill>
                    <a:latin typeface="宋体" panose="02010600030101010101" pitchFamily="2" charset="-122"/>
                    <a:cs typeface="宋体" panose="02010600030101010101" pitchFamily="2" charset="-122"/>
                  </a:rPr>
                  <a:t>)</a:t>
                </a:r>
              </a:p>
              <a:p>
                <a:pPr>
                  <a:spcBef>
                    <a:spcPts val="600"/>
                  </a:spcBef>
                  <a:spcAft>
                    <a:spcPts val="600"/>
                  </a:spcAft>
                </a:pPr>
                <a:r>
                  <a:rPr lang="zh-CN" altLang="zh-CN" sz="1000" b="1" dirty="0" smtClean="0">
                    <a:solidFill>
                      <a:srgbClr val="002060"/>
                    </a:solidFill>
                    <a:latin typeface="宋体" panose="02010600030101010101" pitchFamily="2" charset="-122"/>
                    <a:cs typeface="宋体" panose="02010600030101010101" pitchFamily="2" charset="-122"/>
                  </a:rPr>
                  <a:t>公式</a:t>
                </a:r>
                <a:r>
                  <a:rPr lang="en-US" altLang="zh-CN" sz="1000" b="1" dirty="0">
                    <a:solidFill>
                      <a:srgbClr val="002060"/>
                    </a:solidFill>
                    <a:latin typeface="宋体" panose="02010600030101010101" pitchFamily="2" charset="-122"/>
                    <a:cs typeface="宋体" panose="02010600030101010101" pitchFamily="2" charset="-122"/>
                  </a:rPr>
                  <a:t>(3-105)</a:t>
                </a:r>
                <a:r>
                  <a:rPr lang="zh-CN" altLang="zh-CN" sz="1000" b="1" dirty="0">
                    <a:solidFill>
                      <a:srgbClr val="002060"/>
                    </a:solidFill>
                    <a:latin typeface="宋体" panose="02010600030101010101" pitchFamily="2" charset="-122"/>
                    <a:cs typeface="宋体" panose="02010600030101010101" pitchFamily="2" charset="-122"/>
                  </a:rPr>
                  <a:t>中的</a:t>
                </a:r>
                <a14:m>
                  <m:oMath xmlns:m="http://schemas.openxmlformats.org/officeDocument/2006/math">
                    <m:r>
                      <a:rPr lang="en-US" altLang="zh-CN" sz="1000" b="1" i="1">
                        <a:solidFill>
                          <a:srgbClr val="002060"/>
                        </a:solidFill>
                        <a:latin typeface="Cambria Math" panose="02040503050406030204" pitchFamily="18" charset="0"/>
                        <a:cs typeface="宋体" panose="02010600030101010101" pitchFamily="2" charset="-122"/>
                      </a:rPr>
                      <m:t>𝜳</m:t>
                    </m:r>
                    <m:d>
                      <m:d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𝜽</m:t>
                            </m:r>
                          </m:e>
                          <m:sup>
                            <m:r>
                              <a:rPr lang="en-US" altLang="zh-CN" sz="1000" b="1" i="1">
                                <a:solidFill>
                                  <a:srgbClr val="002060"/>
                                </a:solidFill>
                                <a:latin typeface="Cambria Math" panose="02040503050406030204" pitchFamily="18" charset="0"/>
                                <a:cs typeface="宋体" panose="02010600030101010101" pitchFamily="2" charset="-122"/>
                              </a:rPr>
                              <m:t>𝒌</m:t>
                            </m:r>
                          </m:sup>
                        </m:sSup>
                      </m:e>
                    </m:d>
                  </m:oMath>
                </a14:m>
                <a:r>
                  <a:rPr lang="zh-CN" altLang="zh-CN" sz="1000" b="1" dirty="0">
                    <a:solidFill>
                      <a:srgbClr val="002060"/>
                    </a:solidFill>
                    <a:latin typeface="宋体" panose="02010600030101010101" pitchFamily="2" charset="-122"/>
                    <a:cs typeface="宋体" panose="02010600030101010101" pitchFamily="2" charset="-122"/>
                  </a:rPr>
                  <a:t>为求取矩阵对数</a:t>
                </a:r>
                <a14:m>
                  <m:oMath xmlns:m="http://schemas.openxmlformats.org/officeDocument/2006/math">
                    <m:d>
                      <m:dPr>
                        <m:begChr m:val="["/>
                        <m:endChr m:val="]"/>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𝝂</m:t>
                            </m:r>
                          </m:e>
                          <m:sub>
                            <m:r>
                              <a:rPr lang="en-US" altLang="zh-CN" sz="1000" b="1" i="1">
                                <a:solidFill>
                                  <a:srgbClr val="002060"/>
                                </a:solidFill>
                                <a:latin typeface="Cambria Math" panose="02040503050406030204" pitchFamily="18" charset="0"/>
                                <a:cs typeface="宋体" panose="02010600030101010101" pitchFamily="2" charset="-122"/>
                              </a:rPr>
                              <m:t>𝒔</m:t>
                            </m:r>
                          </m:sub>
                        </m:sSub>
                      </m:e>
                    </m:d>
                  </m:oMath>
                </a14:m>
                <a:r>
                  <a:rPr lang="zh-CN" altLang="zh-CN" sz="1000" b="1" dirty="0">
                    <a:solidFill>
                      <a:srgbClr val="002060"/>
                    </a:solidFill>
                    <a:latin typeface="宋体" panose="02010600030101010101" pitchFamily="2" charset="-122"/>
                    <a:cs typeface="宋体" panose="02010600030101010101" pitchFamily="2" charset="-122"/>
                  </a:rPr>
                  <a:t>后，根据前面描述过的微分运动算子</a:t>
                </a:r>
                <a14:m>
                  <m:oMath xmlns:m="http://schemas.openxmlformats.org/officeDocument/2006/math">
                    <m:r>
                      <a:rPr lang="en-US" altLang="zh-CN" sz="1000" b="1" i="1">
                        <a:solidFill>
                          <a:srgbClr val="002060"/>
                        </a:solidFill>
                        <a:latin typeface="Cambria Math" panose="02040503050406030204" pitchFamily="18" charset="0"/>
                        <a:cs typeface="宋体" panose="02010600030101010101" pitchFamily="2" charset="-122"/>
                      </a:rPr>
                      <m:t>∆</m:t>
                    </m:r>
                  </m:oMath>
                </a14:m>
                <a:r>
                  <a:rPr lang="zh-CN" altLang="zh-CN" sz="1000" b="1" dirty="0">
                    <a:solidFill>
                      <a:srgbClr val="002060"/>
                    </a:solidFill>
                    <a:latin typeface="宋体" panose="02010600030101010101" pitchFamily="2" charset="-122"/>
                    <a:cs typeface="宋体" panose="02010600030101010101" pitchFamily="2" charset="-122"/>
                  </a:rPr>
                  <a:t>的形式，分别取出的微分运动</a:t>
                </a:r>
                <a14:m>
                  <m:oMath xmlns:m="http://schemas.openxmlformats.org/officeDocument/2006/math">
                    <m:r>
                      <a:rPr lang="en-US" altLang="zh-CN" sz="1000" b="1" i="1">
                        <a:solidFill>
                          <a:srgbClr val="002060"/>
                        </a:solidFill>
                        <a:latin typeface="Cambria Math" panose="02040503050406030204" pitchFamily="18" charset="0"/>
                        <a:cs typeface="宋体" panose="02010600030101010101" pitchFamily="2" charset="-122"/>
                      </a:rPr>
                      <m:t>𝑫</m:t>
                    </m:r>
                    <m:r>
                      <a:rPr lang="en-US" altLang="zh-CN" sz="1000" b="1" i="1">
                        <a:solidFill>
                          <a:srgbClr val="002060"/>
                        </a:solidFill>
                        <a:latin typeface="Cambria Math" panose="02040503050406030204" pitchFamily="18" charset="0"/>
                        <a:cs typeface="宋体" panose="02010600030101010101" pitchFamily="2" charset="-122"/>
                      </a:rPr>
                      <m:t>=[</m:t>
                    </m:r>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𝒅</m:t>
                        </m:r>
                      </m:e>
                      <m:sub>
                        <m:r>
                          <a:rPr lang="en-US" altLang="zh-CN" sz="1000" b="1" i="1">
                            <a:solidFill>
                              <a:srgbClr val="002060"/>
                            </a:solidFill>
                            <a:latin typeface="Cambria Math" panose="02040503050406030204" pitchFamily="18" charset="0"/>
                            <a:cs typeface="宋体" panose="02010600030101010101" pitchFamily="2" charset="-122"/>
                          </a:rPr>
                          <m:t>𝒙</m:t>
                        </m:r>
                      </m:sub>
                    </m:sSub>
                    <m:r>
                      <a:rPr lang="en-US" altLang="zh-CN" sz="1000" b="1" i="1">
                        <a:solidFill>
                          <a:srgbClr val="002060"/>
                        </a:solidFill>
                        <a:latin typeface="Cambria Math" panose="02040503050406030204" pitchFamily="18" charset="0"/>
                        <a:cs typeface="宋体" panose="02010600030101010101" pitchFamily="2" charset="-122"/>
                      </a:rPr>
                      <m:t> </m:t>
                    </m:r>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𝒅</m:t>
                        </m:r>
                      </m:e>
                      <m:sub>
                        <m:r>
                          <a:rPr lang="en-US" altLang="zh-CN" sz="1000" b="1" i="1">
                            <a:solidFill>
                              <a:srgbClr val="002060"/>
                            </a:solidFill>
                            <a:latin typeface="Cambria Math" panose="02040503050406030204" pitchFamily="18" charset="0"/>
                            <a:cs typeface="宋体" panose="02010600030101010101" pitchFamily="2" charset="-122"/>
                          </a:rPr>
                          <m:t>𝒚</m:t>
                        </m:r>
                      </m:sub>
                    </m:sSub>
                    <m:r>
                      <a:rPr lang="en-US" altLang="zh-CN" sz="1000" b="1" i="1">
                        <a:solidFill>
                          <a:srgbClr val="002060"/>
                        </a:solidFill>
                        <a:latin typeface="Cambria Math" panose="02040503050406030204" pitchFamily="18" charset="0"/>
                        <a:cs typeface="宋体" panose="02010600030101010101" pitchFamily="2" charset="-122"/>
                      </a:rPr>
                      <m:t> </m:t>
                    </m:r>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𝒅</m:t>
                        </m:r>
                      </m:e>
                      <m:sub>
                        <m:r>
                          <a:rPr lang="en-US" altLang="zh-CN" sz="1000" b="1" i="1">
                            <a:solidFill>
                              <a:srgbClr val="002060"/>
                            </a:solidFill>
                            <a:latin typeface="Cambria Math" panose="02040503050406030204" pitchFamily="18" charset="0"/>
                            <a:cs typeface="宋体" panose="02010600030101010101" pitchFamily="2" charset="-122"/>
                          </a:rPr>
                          <m:t>𝒛</m:t>
                        </m:r>
                      </m:sub>
                    </m:sSub>
                    <m:r>
                      <a:rPr lang="en-US" altLang="zh-CN" sz="1000" b="1" i="1">
                        <a:solidFill>
                          <a:srgbClr val="002060"/>
                        </a:solidFill>
                        <a:latin typeface="Cambria Math" panose="02040503050406030204" pitchFamily="18" charset="0"/>
                        <a:cs typeface="宋体" panose="02010600030101010101" pitchFamily="2" charset="-122"/>
                      </a:rPr>
                      <m:t> </m:t>
                    </m:r>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𝜹</m:t>
                        </m:r>
                      </m:e>
                      <m:sub>
                        <m:r>
                          <a:rPr lang="en-US" altLang="zh-CN" sz="1000" b="1" i="1">
                            <a:solidFill>
                              <a:srgbClr val="002060"/>
                            </a:solidFill>
                            <a:latin typeface="Cambria Math" panose="02040503050406030204" pitchFamily="18" charset="0"/>
                            <a:cs typeface="宋体" panose="02010600030101010101" pitchFamily="2" charset="-122"/>
                          </a:rPr>
                          <m:t>𝒙</m:t>
                        </m:r>
                      </m:sub>
                    </m:sSub>
                    <m:r>
                      <a:rPr lang="en-US" altLang="zh-CN" sz="1000" b="1" i="1">
                        <a:solidFill>
                          <a:srgbClr val="002060"/>
                        </a:solidFill>
                        <a:latin typeface="Cambria Math" panose="02040503050406030204" pitchFamily="18" charset="0"/>
                        <a:cs typeface="宋体" panose="02010600030101010101" pitchFamily="2" charset="-122"/>
                      </a:rPr>
                      <m:t> </m:t>
                    </m:r>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𝜹</m:t>
                        </m:r>
                      </m:e>
                      <m:sub>
                        <m:r>
                          <a:rPr lang="en-US" altLang="zh-CN" sz="1000" b="1" i="1">
                            <a:solidFill>
                              <a:srgbClr val="002060"/>
                            </a:solidFill>
                            <a:latin typeface="Cambria Math" panose="02040503050406030204" pitchFamily="18" charset="0"/>
                            <a:cs typeface="宋体" panose="02010600030101010101" pitchFamily="2" charset="-122"/>
                          </a:rPr>
                          <m:t>𝒚</m:t>
                        </m:r>
                      </m:sub>
                    </m:sSub>
                    <m:r>
                      <a:rPr lang="en-US" altLang="zh-CN" sz="1000" b="1" i="1">
                        <a:solidFill>
                          <a:srgbClr val="002060"/>
                        </a:solidFill>
                        <a:latin typeface="Cambria Math" panose="02040503050406030204" pitchFamily="18" charset="0"/>
                        <a:cs typeface="宋体" panose="02010600030101010101" pitchFamily="2" charset="-122"/>
                      </a:rPr>
                      <m:t> </m:t>
                    </m:r>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𝜹</m:t>
                        </m:r>
                      </m:e>
                      <m:sub>
                        <m:r>
                          <a:rPr lang="en-US" altLang="zh-CN" sz="1000" b="1" i="1">
                            <a:solidFill>
                              <a:srgbClr val="002060"/>
                            </a:solidFill>
                            <a:latin typeface="Cambria Math" panose="02040503050406030204" pitchFamily="18" charset="0"/>
                            <a:cs typeface="宋体" panose="02010600030101010101" pitchFamily="2" charset="-122"/>
                          </a:rPr>
                          <m:t>𝒛</m:t>
                        </m:r>
                      </m:sub>
                    </m:sSub>
                    <m:r>
                      <a:rPr lang="en-US" altLang="zh-CN" sz="1000" b="1" i="1">
                        <a:solidFill>
                          <a:srgbClr val="002060"/>
                        </a:solidFill>
                        <a:latin typeface="Cambria Math" panose="02040503050406030204" pitchFamily="18" charset="0"/>
                        <a:cs typeface="宋体" panose="02010600030101010101" pitchFamily="2" charset="-122"/>
                      </a:rPr>
                      <m:t>]</m:t>
                    </m:r>
                  </m:oMath>
                </a14:m>
                <a:r>
                  <a:rPr lang="zh-CN" altLang="zh-CN" sz="1000" b="1" dirty="0">
                    <a:solidFill>
                      <a:srgbClr val="002060"/>
                    </a:solidFill>
                    <a:latin typeface="宋体" panose="02010600030101010101" pitchFamily="2" charset="-122"/>
                    <a:cs typeface="宋体" panose="02010600030101010101" pitchFamily="2" charset="-122"/>
                  </a:rPr>
                  <a:t>。</a:t>
                </a:r>
              </a:p>
              <a:p>
                <a:pPr indent="266700">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000" b="1" i="1">
                          <a:solidFill>
                            <a:srgbClr val="002060"/>
                          </a:solidFill>
                          <a:latin typeface="Cambria Math" panose="02040503050406030204" pitchFamily="18" charset="0"/>
                          <a:cs typeface="宋体" panose="02010600030101010101" pitchFamily="2" charset="-122"/>
                        </a:rPr>
                        <m:t>∆=</m:t>
                      </m:r>
                      <m:d>
                        <m:dPr>
                          <m:begChr m:val="["/>
                          <m:endChr m:val="]"/>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m>
                            <m:mPr>
                              <m:mcs>
                                <m:mc>
                                  <m:mcPr>
                                    <m:count m:val="2"/>
                                    <m:mcJc m:val="center"/>
                                  </m:mcPr>
                                </m:mc>
                              </m:mcs>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mPr>
                            <m:mr>
                              <m:e>
                                <m:m>
                                  <m:mPr>
                                    <m:mcs>
                                      <m:mc>
                                        <m:mcPr>
                                          <m:count m:val="2"/>
                                          <m:mcJc m:val="center"/>
                                        </m:mcPr>
                                      </m:mc>
                                    </m:mcs>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mPr>
                                  <m:mr>
                                    <m:e>
                                      <m:r>
                                        <a:rPr lang="en-US" altLang="zh-CN" sz="1000" b="1" i="1">
                                          <a:solidFill>
                                            <a:srgbClr val="002060"/>
                                          </a:solidFill>
                                          <a:latin typeface="Cambria Math" panose="02040503050406030204" pitchFamily="18" charset="0"/>
                                          <a:cs typeface="宋体" panose="02010600030101010101" pitchFamily="2" charset="-122"/>
                                        </a:rPr>
                                        <m:t>𝟎</m:t>
                                      </m:r>
                                    </m:e>
                                    <m:e>
                                      <m:r>
                                        <a:rPr lang="en-US" altLang="zh-CN" sz="1000" b="1" i="1">
                                          <a:solidFill>
                                            <a:srgbClr val="002060"/>
                                          </a:solidFill>
                                          <a:latin typeface="Cambria Math" panose="02040503050406030204" pitchFamily="18" charset="0"/>
                                          <a:cs typeface="宋体" panose="02010600030101010101" pitchFamily="2" charset="-122"/>
                                        </a:rPr>
                                        <m:t>−</m:t>
                                      </m:r>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𝜹</m:t>
                                          </m:r>
                                        </m:e>
                                        <m:sub>
                                          <m:r>
                                            <a:rPr lang="en-US" altLang="zh-CN" sz="1000" b="1" i="1">
                                              <a:solidFill>
                                                <a:srgbClr val="002060"/>
                                              </a:solidFill>
                                              <a:latin typeface="Cambria Math" panose="02040503050406030204" pitchFamily="18" charset="0"/>
                                              <a:cs typeface="宋体" panose="02010600030101010101" pitchFamily="2" charset="-122"/>
                                            </a:rPr>
                                            <m:t>𝒛</m:t>
                                          </m:r>
                                        </m:sub>
                                      </m:sSub>
                                    </m:e>
                                  </m:mr>
                                  <m:mr>
                                    <m:e>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𝜹</m:t>
                                          </m:r>
                                        </m:e>
                                        <m:sub>
                                          <m:r>
                                            <a:rPr lang="en-US" altLang="zh-CN" sz="1000" b="1" i="1">
                                              <a:solidFill>
                                                <a:srgbClr val="002060"/>
                                              </a:solidFill>
                                              <a:latin typeface="Cambria Math" panose="02040503050406030204" pitchFamily="18" charset="0"/>
                                              <a:cs typeface="宋体" panose="02010600030101010101" pitchFamily="2" charset="-122"/>
                                            </a:rPr>
                                            <m:t>𝒛</m:t>
                                          </m:r>
                                        </m:sub>
                                      </m:sSub>
                                    </m:e>
                                    <m:e>
                                      <m:r>
                                        <a:rPr lang="en-US" altLang="zh-CN" sz="1000" b="1" i="1">
                                          <a:solidFill>
                                            <a:srgbClr val="002060"/>
                                          </a:solidFill>
                                          <a:latin typeface="Cambria Math" panose="02040503050406030204" pitchFamily="18" charset="0"/>
                                          <a:cs typeface="宋体" panose="02010600030101010101" pitchFamily="2" charset="-122"/>
                                        </a:rPr>
                                        <m:t>𝟎</m:t>
                                      </m:r>
                                    </m:e>
                                  </m:mr>
                                </m:m>
                              </m:e>
                              <m:e>
                                <m:m>
                                  <m:mPr>
                                    <m:mcs>
                                      <m:mc>
                                        <m:mcPr>
                                          <m:count m:val="2"/>
                                          <m:mcJc m:val="center"/>
                                        </m:mcPr>
                                      </m:mc>
                                    </m:mcs>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mPr>
                                  <m:mr>
                                    <m:e>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𝜹</m:t>
                                          </m:r>
                                        </m:e>
                                        <m:sub>
                                          <m:r>
                                            <a:rPr lang="en-US" altLang="zh-CN" sz="1000" b="1" i="1">
                                              <a:solidFill>
                                                <a:srgbClr val="002060"/>
                                              </a:solidFill>
                                              <a:latin typeface="Cambria Math" panose="02040503050406030204" pitchFamily="18" charset="0"/>
                                              <a:cs typeface="宋体" panose="02010600030101010101" pitchFamily="2" charset="-122"/>
                                            </a:rPr>
                                            <m:t>𝒚</m:t>
                                          </m:r>
                                        </m:sub>
                                      </m:sSub>
                                    </m:e>
                                    <m:e>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𝒅</m:t>
                                          </m:r>
                                        </m:e>
                                        <m:sub>
                                          <m:r>
                                            <a:rPr lang="en-US" altLang="zh-CN" sz="1000" b="1" i="1">
                                              <a:solidFill>
                                                <a:srgbClr val="002060"/>
                                              </a:solidFill>
                                              <a:latin typeface="Cambria Math" panose="02040503050406030204" pitchFamily="18" charset="0"/>
                                              <a:cs typeface="宋体" panose="02010600030101010101" pitchFamily="2" charset="-122"/>
                                            </a:rPr>
                                            <m:t>𝒙</m:t>
                                          </m:r>
                                        </m:sub>
                                      </m:sSub>
                                    </m:e>
                                  </m:mr>
                                  <m:mr>
                                    <m:e>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m:t>
                                          </m:r>
                                          <m:r>
                                            <a:rPr lang="en-US" altLang="zh-CN" sz="1000" b="1" i="1">
                                              <a:solidFill>
                                                <a:srgbClr val="002060"/>
                                              </a:solidFill>
                                              <a:latin typeface="Cambria Math" panose="02040503050406030204" pitchFamily="18" charset="0"/>
                                              <a:cs typeface="宋体" panose="02010600030101010101" pitchFamily="2" charset="-122"/>
                                            </a:rPr>
                                            <m:t>𝜹</m:t>
                                          </m:r>
                                        </m:e>
                                        <m:sub>
                                          <m:r>
                                            <a:rPr lang="en-US" altLang="zh-CN" sz="1000" b="1" i="1">
                                              <a:solidFill>
                                                <a:srgbClr val="002060"/>
                                              </a:solidFill>
                                              <a:latin typeface="Cambria Math" panose="02040503050406030204" pitchFamily="18" charset="0"/>
                                              <a:cs typeface="宋体" panose="02010600030101010101" pitchFamily="2" charset="-122"/>
                                            </a:rPr>
                                            <m:t>𝒙</m:t>
                                          </m:r>
                                        </m:sub>
                                      </m:sSub>
                                    </m:e>
                                    <m:e>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𝒅</m:t>
                                          </m:r>
                                        </m:e>
                                        <m:sub>
                                          <m:r>
                                            <a:rPr lang="en-US" altLang="zh-CN" sz="1000" b="1" i="1">
                                              <a:solidFill>
                                                <a:srgbClr val="002060"/>
                                              </a:solidFill>
                                              <a:latin typeface="Cambria Math" panose="02040503050406030204" pitchFamily="18" charset="0"/>
                                              <a:cs typeface="宋体" panose="02010600030101010101" pitchFamily="2" charset="-122"/>
                                            </a:rPr>
                                            <m:t>𝒚</m:t>
                                          </m:r>
                                        </m:sub>
                                      </m:sSub>
                                    </m:e>
                                  </m:mr>
                                </m:m>
                              </m:e>
                            </m:mr>
                            <m:mr>
                              <m:e>
                                <m:m>
                                  <m:mPr>
                                    <m:mcs>
                                      <m:mc>
                                        <m:mcPr>
                                          <m:count m:val="2"/>
                                          <m:mcJc m:val="center"/>
                                        </m:mcPr>
                                      </m:mc>
                                    </m:mcs>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mPr>
                                  <m:mr>
                                    <m:e>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m:t>
                                          </m:r>
                                          <m:r>
                                            <a:rPr lang="en-US" altLang="zh-CN" sz="1000" b="1" i="1">
                                              <a:solidFill>
                                                <a:srgbClr val="002060"/>
                                              </a:solidFill>
                                              <a:latin typeface="Cambria Math" panose="02040503050406030204" pitchFamily="18" charset="0"/>
                                              <a:cs typeface="宋体" panose="02010600030101010101" pitchFamily="2" charset="-122"/>
                                            </a:rPr>
                                            <m:t>𝜹</m:t>
                                          </m:r>
                                        </m:e>
                                        <m:sub>
                                          <m:r>
                                            <a:rPr lang="en-US" altLang="zh-CN" sz="1000" b="1" i="1">
                                              <a:solidFill>
                                                <a:srgbClr val="002060"/>
                                              </a:solidFill>
                                              <a:latin typeface="Cambria Math" panose="02040503050406030204" pitchFamily="18" charset="0"/>
                                              <a:cs typeface="宋体" panose="02010600030101010101" pitchFamily="2" charset="-122"/>
                                            </a:rPr>
                                            <m:t>𝒚</m:t>
                                          </m:r>
                                        </m:sub>
                                      </m:sSub>
                                    </m:e>
                                    <m:e>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𝜹</m:t>
                                          </m:r>
                                        </m:e>
                                        <m:sub>
                                          <m:r>
                                            <a:rPr lang="en-US" altLang="zh-CN" sz="1000" b="1" i="1">
                                              <a:solidFill>
                                                <a:srgbClr val="002060"/>
                                              </a:solidFill>
                                              <a:latin typeface="Cambria Math" panose="02040503050406030204" pitchFamily="18" charset="0"/>
                                              <a:cs typeface="宋体" panose="02010600030101010101" pitchFamily="2" charset="-122"/>
                                            </a:rPr>
                                            <m:t>𝒙</m:t>
                                          </m:r>
                                        </m:sub>
                                      </m:sSub>
                                    </m:e>
                                  </m:mr>
                                  <m:mr>
                                    <m:e>
                                      <m:r>
                                        <a:rPr lang="en-US" altLang="zh-CN" sz="1000" b="1" i="1">
                                          <a:solidFill>
                                            <a:srgbClr val="002060"/>
                                          </a:solidFill>
                                          <a:latin typeface="Cambria Math" panose="02040503050406030204" pitchFamily="18" charset="0"/>
                                          <a:cs typeface="宋体" panose="02010600030101010101" pitchFamily="2" charset="-122"/>
                                        </a:rPr>
                                        <m:t>𝟎</m:t>
                                      </m:r>
                                    </m:e>
                                    <m:e>
                                      <m:r>
                                        <a:rPr lang="en-US" altLang="zh-CN" sz="1000" b="1" i="1">
                                          <a:solidFill>
                                            <a:srgbClr val="002060"/>
                                          </a:solidFill>
                                          <a:latin typeface="Cambria Math" panose="02040503050406030204" pitchFamily="18" charset="0"/>
                                          <a:cs typeface="宋体" panose="02010600030101010101" pitchFamily="2" charset="-122"/>
                                        </a:rPr>
                                        <m:t>𝟎</m:t>
                                      </m:r>
                                    </m:e>
                                  </m:mr>
                                </m:m>
                              </m:e>
                              <m:e>
                                <m:m>
                                  <m:mPr>
                                    <m:mcs>
                                      <m:mc>
                                        <m:mcPr>
                                          <m:count m:val="2"/>
                                          <m:mcJc m:val="center"/>
                                        </m:mcPr>
                                      </m:mc>
                                    </m:mcs>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mPr>
                                  <m:mr>
                                    <m:e>
                                      <m:r>
                                        <a:rPr lang="en-US" altLang="zh-CN" sz="1000" b="1" i="1">
                                          <a:solidFill>
                                            <a:srgbClr val="002060"/>
                                          </a:solidFill>
                                          <a:latin typeface="Cambria Math" panose="02040503050406030204" pitchFamily="18" charset="0"/>
                                          <a:cs typeface="宋体" panose="02010600030101010101" pitchFamily="2" charset="-122"/>
                                        </a:rPr>
                                        <m:t>𝟎</m:t>
                                      </m:r>
                                    </m:e>
                                    <m:e>
                                      <m:r>
                                        <a:rPr lang="en-US" altLang="zh-CN" sz="1000" b="1" i="1">
                                          <a:solidFill>
                                            <a:srgbClr val="002060"/>
                                          </a:solidFill>
                                          <a:latin typeface="Cambria Math" panose="02040503050406030204" pitchFamily="18" charset="0"/>
                                          <a:cs typeface="宋体" panose="02010600030101010101" pitchFamily="2" charset="-122"/>
                                        </a:rPr>
                                        <m:t>    </m:t>
                                      </m:r>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𝒅</m:t>
                                          </m:r>
                                        </m:e>
                                        <m:sub>
                                          <m:r>
                                            <a:rPr lang="en-US" altLang="zh-CN" sz="1000" b="1" i="1">
                                              <a:solidFill>
                                                <a:srgbClr val="002060"/>
                                              </a:solidFill>
                                              <a:latin typeface="Cambria Math" panose="02040503050406030204" pitchFamily="18" charset="0"/>
                                              <a:cs typeface="宋体" panose="02010600030101010101" pitchFamily="2" charset="-122"/>
                                            </a:rPr>
                                            <m:t>𝒛</m:t>
                                          </m:r>
                                        </m:sub>
                                      </m:sSub>
                                    </m:e>
                                  </m:mr>
                                  <m:mr>
                                    <m:e>
                                      <m:r>
                                        <a:rPr lang="en-US" altLang="zh-CN" sz="1000" b="1" i="1">
                                          <a:solidFill>
                                            <a:srgbClr val="002060"/>
                                          </a:solidFill>
                                          <a:latin typeface="Cambria Math" panose="02040503050406030204" pitchFamily="18" charset="0"/>
                                          <a:cs typeface="宋体" panose="02010600030101010101" pitchFamily="2" charset="-122"/>
                                        </a:rPr>
                                        <m:t>𝟎</m:t>
                                      </m:r>
                                    </m:e>
                                    <m:e>
                                      <m:r>
                                        <a:rPr lang="en-US" altLang="zh-CN" sz="1000" b="1" i="1">
                                          <a:solidFill>
                                            <a:srgbClr val="002060"/>
                                          </a:solidFill>
                                          <a:latin typeface="Cambria Math" panose="02040503050406030204" pitchFamily="18" charset="0"/>
                                          <a:cs typeface="宋体" panose="02010600030101010101" pitchFamily="2" charset="-122"/>
                                        </a:rPr>
                                        <m:t>  </m:t>
                                      </m:r>
                                      <m:r>
                                        <a:rPr lang="en-US" altLang="zh-CN" sz="1000" b="1" i="1">
                                          <a:solidFill>
                                            <a:srgbClr val="002060"/>
                                          </a:solidFill>
                                          <a:latin typeface="Cambria Math" panose="02040503050406030204" pitchFamily="18" charset="0"/>
                                          <a:cs typeface="宋体" panose="02010600030101010101" pitchFamily="2" charset="-122"/>
                                        </a:rPr>
                                        <m:t>𝟎</m:t>
                                      </m:r>
                                    </m:e>
                                  </m:mr>
                                </m:m>
                              </m:e>
                            </m:mr>
                          </m:m>
                        </m:e>
                      </m:d>
                    </m:oMath>
                  </m:oMathPara>
                </a14:m>
                <a:endParaRPr lang="zh-CN" altLang="zh-CN" sz="1000" b="1" dirty="0">
                  <a:solidFill>
                    <a:srgbClr val="002060"/>
                  </a:solidFill>
                  <a:latin typeface="宋体" panose="02010600030101010101" pitchFamily="2" charset="-122"/>
                  <a:cs typeface="宋体" panose="02010600030101010101" pitchFamily="2" charset="-122"/>
                </a:endParaRPr>
              </a:p>
              <a:p>
                <a:pPr>
                  <a:spcBef>
                    <a:spcPts val="600"/>
                  </a:spcBef>
                  <a:spcAft>
                    <a:spcPts val="600"/>
                  </a:spcAft>
                </a:pPr>
                <a:r>
                  <a:rPr lang="en-US" altLang="zh-CN" sz="1000" b="1" dirty="0" smtClean="0">
                    <a:solidFill>
                      <a:srgbClr val="FF0000"/>
                    </a:solidFill>
                    <a:latin typeface="宋体" panose="02010600030101010101" pitchFamily="2" charset="-122"/>
                    <a:cs typeface="宋体" panose="02010600030101010101" pitchFamily="2" charset="-122"/>
                  </a:rPr>
                  <a:t>3</a:t>
                </a:r>
                <a:r>
                  <a:rPr lang="en-US" altLang="zh-CN" sz="1000" b="1" dirty="0">
                    <a:solidFill>
                      <a:srgbClr val="FF0000"/>
                    </a:solidFill>
                    <a:latin typeface="宋体" panose="02010600030101010101" pitchFamily="2" charset="-122"/>
                    <a:cs typeface="宋体" panose="02010600030101010101" pitchFamily="2" charset="-122"/>
                  </a:rPr>
                  <a:t>) </a:t>
                </a:r>
                <a:r>
                  <a:rPr lang="zh-CN" altLang="zh-CN" sz="1000" b="1" dirty="0">
                    <a:solidFill>
                      <a:srgbClr val="002060"/>
                    </a:solidFill>
                    <a:latin typeface="宋体" panose="02010600030101010101" pitchFamily="2" charset="-122"/>
                    <a:cs typeface="宋体" panose="02010600030101010101" pitchFamily="2" charset="-122"/>
                  </a:rPr>
                  <a:t>根据指数积法求雅可比矩阵</a:t>
                </a: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𝑱</m:t>
                          </m:r>
                        </m:e>
                        <m:sub>
                          <m:r>
                            <a:rPr lang="en-US" altLang="zh-CN" sz="1000" b="1" i="1">
                              <a:solidFill>
                                <a:srgbClr val="002060"/>
                              </a:solidFill>
                              <a:latin typeface="Cambria Math" panose="02040503050406030204" pitchFamily="18" charset="0"/>
                              <a:cs typeface="宋体" panose="02010600030101010101" pitchFamily="2" charset="-122"/>
                            </a:rPr>
                            <m:t>𝒔</m:t>
                          </m:r>
                        </m:sub>
                      </m:sSub>
                      <m:d>
                        <m:d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𝜽</m:t>
                              </m:r>
                            </m:e>
                            <m:sup>
                              <m:r>
                                <a:rPr lang="en-US" altLang="zh-CN" sz="1000" b="1" i="1">
                                  <a:solidFill>
                                    <a:srgbClr val="002060"/>
                                  </a:solidFill>
                                  <a:latin typeface="Cambria Math" panose="02040503050406030204" pitchFamily="18" charset="0"/>
                                  <a:cs typeface="宋体" panose="02010600030101010101" pitchFamily="2" charset="-122"/>
                                </a:rPr>
                                <m:t>𝒌</m:t>
                              </m:r>
                            </m:sup>
                          </m:sSup>
                        </m:e>
                      </m:d>
                      <m:r>
                        <a:rPr lang="en-US" altLang="zh-CN" sz="1000" b="1" i="1">
                          <a:solidFill>
                            <a:srgbClr val="002060"/>
                          </a:solidFill>
                          <a:latin typeface="Cambria Math" panose="02040503050406030204" pitchFamily="18" charset="0"/>
                          <a:cs typeface="宋体" panose="02010600030101010101" pitchFamily="2" charset="-122"/>
                        </a:rPr>
                        <m:t>=</m:t>
                      </m:r>
                      <m:d>
                        <m:dPr>
                          <m:begChr m:val="["/>
                          <m:endChr m:val="]"/>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𝝃</m:t>
                              </m:r>
                            </m:e>
                            <m:sub>
                              <m:r>
                                <a:rPr lang="en-US" altLang="zh-CN" sz="1000" b="1" i="1">
                                  <a:solidFill>
                                    <a:srgbClr val="002060"/>
                                  </a:solidFill>
                                  <a:latin typeface="Cambria Math" panose="02040503050406030204" pitchFamily="18" charset="0"/>
                                  <a:cs typeface="宋体" panose="02010600030101010101" pitchFamily="2" charset="-122"/>
                                </a:rPr>
                                <m:t>𝟏</m:t>
                              </m:r>
                            </m:sub>
                          </m:sSub>
                          <m:r>
                            <a:rPr lang="en-US" altLang="zh-CN" sz="1000" b="1" i="1">
                              <a:solidFill>
                                <a:srgbClr val="002060"/>
                              </a:solidFill>
                              <a:latin typeface="Cambria Math" panose="02040503050406030204" pitchFamily="18" charset="0"/>
                              <a:cs typeface="宋体" panose="02010600030101010101" pitchFamily="2" charset="-122"/>
                            </a:rPr>
                            <m:t>  </m:t>
                          </m:r>
                          <m:r>
                            <a:rPr lang="en-US" altLang="zh-CN" sz="1000" b="1" i="1">
                              <a:solidFill>
                                <a:srgbClr val="002060"/>
                              </a:solidFill>
                              <a:latin typeface="Cambria Math" panose="02040503050406030204" pitchFamily="18" charset="0"/>
                              <a:cs typeface="宋体" panose="02010600030101010101" pitchFamily="2" charset="-122"/>
                            </a:rPr>
                            <m:t>𝑨</m:t>
                          </m:r>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𝒅</m:t>
                              </m:r>
                            </m:e>
                            <m:sub>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𝒆</m:t>
                                  </m:r>
                                </m:e>
                                <m:sup>
                                  <m:d>
                                    <m:dPr>
                                      <m:begChr m:val="["/>
                                      <m:endChr m:val="]"/>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𝝃</m:t>
                                          </m:r>
                                        </m:e>
                                        <m:sub>
                                          <m:r>
                                            <a:rPr lang="en-US" altLang="zh-CN" sz="1000" b="1" i="1">
                                              <a:solidFill>
                                                <a:srgbClr val="002060"/>
                                              </a:solidFill>
                                              <a:latin typeface="Cambria Math" panose="02040503050406030204" pitchFamily="18" charset="0"/>
                                              <a:cs typeface="宋体" panose="02010600030101010101" pitchFamily="2" charset="-122"/>
                                            </a:rPr>
                                            <m:t>𝟏</m:t>
                                          </m:r>
                                        </m:sub>
                                      </m:sSub>
                                    </m:e>
                                  </m:d>
                                  <m:sSubSup>
                                    <m:sSub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SupPr>
                                    <m:e>
                                      <m:r>
                                        <a:rPr lang="en-US" altLang="zh-CN" sz="1000" b="1" i="1">
                                          <a:solidFill>
                                            <a:srgbClr val="002060"/>
                                          </a:solidFill>
                                          <a:latin typeface="Cambria Math" panose="02040503050406030204" pitchFamily="18" charset="0"/>
                                          <a:cs typeface="宋体" panose="02010600030101010101" pitchFamily="2" charset="-122"/>
                                        </a:rPr>
                                        <m:t>𝜽</m:t>
                                      </m:r>
                                    </m:e>
                                    <m:sub>
                                      <m:r>
                                        <a:rPr lang="en-US" altLang="zh-CN" sz="1000" b="1" i="1">
                                          <a:solidFill>
                                            <a:srgbClr val="002060"/>
                                          </a:solidFill>
                                          <a:latin typeface="Cambria Math" panose="02040503050406030204" pitchFamily="18" charset="0"/>
                                          <a:cs typeface="宋体" panose="02010600030101010101" pitchFamily="2" charset="-122"/>
                                        </a:rPr>
                                        <m:t>𝟏</m:t>
                                      </m:r>
                                    </m:sub>
                                    <m:sup>
                                      <m:r>
                                        <a:rPr lang="en-US" altLang="zh-CN" sz="1000" b="1" i="1">
                                          <a:solidFill>
                                            <a:srgbClr val="002060"/>
                                          </a:solidFill>
                                          <a:latin typeface="Cambria Math" panose="02040503050406030204" pitchFamily="18" charset="0"/>
                                          <a:cs typeface="宋体" panose="02010600030101010101" pitchFamily="2" charset="-122"/>
                                        </a:rPr>
                                        <m:t>𝒌</m:t>
                                      </m:r>
                                    </m:sup>
                                  </m:sSubSup>
                                </m:sup>
                              </m:sSup>
                            </m:sub>
                          </m:sSub>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𝝃</m:t>
                              </m:r>
                            </m:e>
                            <m:sub>
                              <m:r>
                                <a:rPr lang="en-US" altLang="zh-CN" sz="1000" b="1" i="1">
                                  <a:solidFill>
                                    <a:srgbClr val="002060"/>
                                  </a:solidFill>
                                  <a:latin typeface="Cambria Math" panose="02040503050406030204" pitchFamily="18" charset="0"/>
                                  <a:cs typeface="宋体" panose="02010600030101010101" pitchFamily="2" charset="-122"/>
                                </a:rPr>
                                <m:t>𝟐</m:t>
                              </m:r>
                            </m:sub>
                          </m:sSub>
                          <m:r>
                            <a:rPr lang="en-US" altLang="zh-CN" sz="1000" b="1" i="1">
                              <a:solidFill>
                                <a:srgbClr val="002060"/>
                              </a:solidFill>
                              <a:latin typeface="Cambria Math" panose="02040503050406030204" pitchFamily="18" charset="0"/>
                              <a:cs typeface="宋体" panose="02010600030101010101" pitchFamily="2" charset="-122"/>
                            </a:rPr>
                            <m:t> ⋯  </m:t>
                          </m:r>
                          <m:r>
                            <a:rPr lang="en-US" altLang="zh-CN" sz="1000" b="1" i="1">
                              <a:solidFill>
                                <a:srgbClr val="002060"/>
                              </a:solidFill>
                              <a:latin typeface="Cambria Math" panose="02040503050406030204" pitchFamily="18" charset="0"/>
                              <a:cs typeface="宋体" panose="02010600030101010101" pitchFamily="2" charset="-122"/>
                            </a:rPr>
                            <m:t>𝑨</m:t>
                          </m:r>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𝒅</m:t>
                              </m:r>
                            </m:e>
                            <m:sub>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𝒆</m:t>
                                  </m:r>
                                </m:e>
                                <m:sup>
                                  <m:d>
                                    <m:dPr>
                                      <m:begChr m:val="["/>
                                      <m:endChr m:val="]"/>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𝝃</m:t>
                                          </m:r>
                                        </m:e>
                                        <m:sub>
                                          <m:r>
                                            <a:rPr lang="en-US" altLang="zh-CN" sz="1000" b="1" i="1">
                                              <a:solidFill>
                                                <a:srgbClr val="002060"/>
                                              </a:solidFill>
                                              <a:latin typeface="Cambria Math" panose="02040503050406030204" pitchFamily="18" charset="0"/>
                                              <a:cs typeface="宋体" panose="02010600030101010101" pitchFamily="2" charset="-122"/>
                                            </a:rPr>
                                            <m:t>𝟏</m:t>
                                          </m:r>
                                        </m:sub>
                                      </m:sSub>
                                    </m:e>
                                  </m:d>
                                  <m:sSubSup>
                                    <m:sSub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SupPr>
                                    <m:e>
                                      <m:r>
                                        <a:rPr lang="en-US" altLang="zh-CN" sz="1000" b="1" i="1">
                                          <a:solidFill>
                                            <a:srgbClr val="002060"/>
                                          </a:solidFill>
                                          <a:latin typeface="Cambria Math" panose="02040503050406030204" pitchFamily="18" charset="0"/>
                                          <a:cs typeface="宋体" panose="02010600030101010101" pitchFamily="2" charset="-122"/>
                                        </a:rPr>
                                        <m:t>𝜽</m:t>
                                      </m:r>
                                    </m:e>
                                    <m:sub>
                                      <m:r>
                                        <a:rPr lang="en-US" altLang="zh-CN" sz="1000" b="1" i="1">
                                          <a:solidFill>
                                            <a:srgbClr val="002060"/>
                                          </a:solidFill>
                                          <a:latin typeface="Cambria Math" panose="02040503050406030204" pitchFamily="18" charset="0"/>
                                          <a:cs typeface="宋体" panose="02010600030101010101" pitchFamily="2" charset="-122"/>
                                        </a:rPr>
                                        <m:t>𝟏</m:t>
                                      </m:r>
                                    </m:sub>
                                    <m:sup>
                                      <m:r>
                                        <a:rPr lang="en-US" altLang="zh-CN" sz="1000" b="1" i="1">
                                          <a:solidFill>
                                            <a:srgbClr val="002060"/>
                                          </a:solidFill>
                                          <a:latin typeface="Cambria Math" panose="02040503050406030204" pitchFamily="18" charset="0"/>
                                          <a:cs typeface="宋体" panose="02010600030101010101" pitchFamily="2" charset="-122"/>
                                        </a:rPr>
                                        <m:t>𝒌</m:t>
                                      </m:r>
                                    </m:sup>
                                  </m:sSubSup>
                                </m:sup>
                              </m:sSup>
                              <m:r>
                                <a:rPr lang="en-US" altLang="zh-CN" sz="1000" b="1" i="1">
                                  <a:solidFill>
                                    <a:srgbClr val="002060"/>
                                  </a:solidFill>
                                  <a:latin typeface="Cambria Math" panose="02040503050406030204" pitchFamily="18" charset="0"/>
                                  <a:cs typeface="宋体" panose="02010600030101010101" pitchFamily="2" charset="-122"/>
                                </a:rPr>
                                <m:t>⋯</m:t>
                              </m:r>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𝒆</m:t>
                                  </m:r>
                                </m:e>
                                <m:sup>
                                  <m:d>
                                    <m:dPr>
                                      <m:begChr m:val="["/>
                                      <m:endChr m:val="]"/>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𝝃</m:t>
                                          </m:r>
                                        </m:e>
                                        <m:sub>
                                          <m:r>
                                            <a:rPr lang="en-US" altLang="zh-CN" sz="1000" b="1" i="1">
                                              <a:solidFill>
                                                <a:srgbClr val="002060"/>
                                              </a:solidFill>
                                              <a:latin typeface="Cambria Math" panose="02040503050406030204" pitchFamily="18" charset="0"/>
                                              <a:cs typeface="宋体" panose="02010600030101010101" pitchFamily="2" charset="-122"/>
                                            </a:rPr>
                                            <m:t>𝒏</m:t>
                                          </m:r>
                                          <m:r>
                                            <a:rPr lang="en-US" altLang="zh-CN" sz="1000" b="1" i="1">
                                              <a:solidFill>
                                                <a:srgbClr val="002060"/>
                                              </a:solidFill>
                                              <a:latin typeface="Cambria Math" panose="02040503050406030204" pitchFamily="18" charset="0"/>
                                              <a:cs typeface="宋体" panose="02010600030101010101" pitchFamily="2" charset="-122"/>
                                            </a:rPr>
                                            <m:t>−</m:t>
                                          </m:r>
                                          <m:r>
                                            <a:rPr lang="en-US" altLang="zh-CN" sz="1000" b="1" i="1">
                                              <a:solidFill>
                                                <a:srgbClr val="002060"/>
                                              </a:solidFill>
                                              <a:latin typeface="Cambria Math" panose="02040503050406030204" pitchFamily="18" charset="0"/>
                                              <a:cs typeface="宋体" panose="02010600030101010101" pitchFamily="2" charset="-122"/>
                                            </a:rPr>
                                            <m:t>𝟏</m:t>
                                          </m:r>
                                        </m:sub>
                                      </m:sSub>
                                    </m:e>
                                  </m:d>
                                  <m:sSubSup>
                                    <m:sSub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SupPr>
                                    <m:e>
                                      <m:r>
                                        <a:rPr lang="en-US" altLang="zh-CN" sz="1000" b="1" i="1">
                                          <a:solidFill>
                                            <a:srgbClr val="002060"/>
                                          </a:solidFill>
                                          <a:latin typeface="Cambria Math" panose="02040503050406030204" pitchFamily="18" charset="0"/>
                                          <a:cs typeface="宋体" panose="02010600030101010101" pitchFamily="2" charset="-122"/>
                                        </a:rPr>
                                        <m:t>𝜽</m:t>
                                      </m:r>
                                    </m:e>
                                    <m:sub>
                                      <m:r>
                                        <a:rPr lang="en-US" altLang="zh-CN" sz="1000" b="1" i="1">
                                          <a:solidFill>
                                            <a:srgbClr val="002060"/>
                                          </a:solidFill>
                                          <a:latin typeface="Cambria Math" panose="02040503050406030204" pitchFamily="18" charset="0"/>
                                          <a:cs typeface="宋体" panose="02010600030101010101" pitchFamily="2" charset="-122"/>
                                        </a:rPr>
                                        <m:t>𝒏</m:t>
                                      </m:r>
                                      <m:r>
                                        <a:rPr lang="en-US" altLang="zh-CN" sz="1000" b="1" i="1">
                                          <a:solidFill>
                                            <a:srgbClr val="002060"/>
                                          </a:solidFill>
                                          <a:latin typeface="Cambria Math" panose="02040503050406030204" pitchFamily="18" charset="0"/>
                                          <a:cs typeface="宋体" panose="02010600030101010101" pitchFamily="2" charset="-122"/>
                                        </a:rPr>
                                        <m:t>−</m:t>
                                      </m:r>
                                      <m:r>
                                        <a:rPr lang="en-US" altLang="zh-CN" sz="1000" b="1" i="1">
                                          <a:solidFill>
                                            <a:srgbClr val="002060"/>
                                          </a:solidFill>
                                          <a:latin typeface="Cambria Math" panose="02040503050406030204" pitchFamily="18" charset="0"/>
                                          <a:cs typeface="宋体" panose="02010600030101010101" pitchFamily="2" charset="-122"/>
                                        </a:rPr>
                                        <m:t>𝟏</m:t>
                                      </m:r>
                                    </m:sub>
                                    <m:sup>
                                      <m:r>
                                        <a:rPr lang="en-US" altLang="zh-CN" sz="1000" b="1" i="1">
                                          <a:solidFill>
                                            <a:srgbClr val="002060"/>
                                          </a:solidFill>
                                          <a:latin typeface="Cambria Math" panose="02040503050406030204" pitchFamily="18" charset="0"/>
                                          <a:cs typeface="宋体" panose="02010600030101010101" pitchFamily="2" charset="-122"/>
                                        </a:rPr>
                                        <m:t>𝒌</m:t>
                                      </m:r>
                                    </m:sup>
                                  </m:sSubSup>
                                </m:sup>
                              </m:sSup>
                            </m:sub>
                          </m:sSub>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𝝃</m:t>
                              </m:r>
                            </m:e>
                            <m:sub>
                              <m:r>
                                <a:rPr lang="en-US" altLang="zh-CN" sz="1000" b="1" i="1">
                                  <a:solidFill>
                                    <a:srgbClr val="002060"/>
                                  </a:solidFill>
                                  <a:latin typeface="Cambria Math" panose="02040503050406030204" pitchFamily="18" charset="0"/>
                                  <a:cs typeface="宋体" panose="02010600030101010101" pitchFamily="2" charset="-122"/>
                                </a:rPr>
                                <m:t>𝒏</m:t>
                              </m:r>
                            </m:sub>
                          </m:sSub>
                          <m:r>
                            <a:rPr lang="en-US" altLang="zh-CN" sz="1000" b="1" i="1">
                              <a:solidFill>
                                <a:srgbClr val="002060"/>
                              </a:solidFill>
                              <a:latin typeface="Cambria Math" panose="02040503050406030204" pitchFamily="18" charset="0"/>
                              <a:cs typeface="宋体" panose="02010600030101010101" pitchFamily="2" charset="-122"/>
                            </a:rPr>
                            <m:t> </m:t>
                          </m:r>
                        </m:e>
                      </m:d>
                    </m:oMath>
                  </m:oMathPara>
                </a14:m>
                <a:endParaRPr lang="zh-CN" altLang="zh-CN" sz="1000" b="1" dirty="0">
                  <a:solidFill>
                    <a:srgbClr val="002060"/>
                  </a:solidFill>
                  <a:latin typeface="宋体" panose="02010600030101010101" pitchFamily="2" charset="-122"/>
                  <a:cs typeface="宋体" panose="02010600030101010101" pitchFamily="2" charset="-122"/>
                </a:endParaRPr>
              </a:p>
              <a:p>
                <a:pPr>
                  <a:spcBef>
                    <a:spcPts val="600"/>
                  </a:spcBef>
                  <a:spcAft>
                    <a:spcPts val="600"/>
                  </a:spcAft>
                </a:pPr>
                <a:r>
                  <a:rPr lang="en-US" altLang="zh-CN" sz="1000" b="1" dirty="0" smtClean="0">
                    <a:solidFill>
                      <a:srgbClr val="FF0000"/>
                    </a:solidFill>
                    <a:latin typeface="宋体" panose="02010600030101010101" pitchFamily="2" charset="-122"/>
                    <a:cs typeface="宋体" panose="02010600030101010101" pitchFamily="2" charset="-122"/>
                  </a:rPr>
                  <a:t>4</a:t>
                </a:r>
                <a:r>
                  <a:rPr lang="en-US" altLang="zh-CN" sz="1000" b="1" dirty="0">
                    <a:solidFill>
                      <a:srgbClr val="FF0000"/>
                    </a:solidFill>
                    <a:latin typeface="宋体" panose="02010600030101010101" pitchFamily="2" charset="-122"/>
                    <a:cs typeface="宋体" panose="02010600030101010101" pitchFamily="2" charset="-122"/>
                  </a:rPr>
                  <a:t>) </a:t>
                </a:r>
                <a:r>
                  <a:rPr lang="zh-CN" altLang="zh-CN" sz="1000" b="1" dirty="0">
                    <a:solidFill>
                      <a:srgbClr val="002060"/>
                    </a:solidFill>
                    <a:latin typeface="宋体" panose="02010600030101010101" pitchFamily="2" charset="-122"/>
                    <a:cs typeface="宋体" panose="02010600030101010101" pitchFamily="2" charset="-122"/>
                  </a:rPr>
                  <a:t>计算雅可比矩阵</a:t>
                </a:r>
                <a14:m>
                  <m:oMath xmlns:m="http://schemas.openxmlformats.org/officeDocument/2006/math">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𝑱</m:t>
                        </m:r>
                      </m:e>
                      <m:sub>
                        <m:r>
                          <a:rPr lang="en-US" altLang="zh-CN" sz="1000" b="1" i="1">
                            <a:solidFill>
                              <a:srgbClr val="002060"/>
                            </a:solidFill>
                            <a:latin typeface="Cambria Math" panose="02040503050406030204" pitchFamily="18" charset="0"/>
                            <a:cs typeface="宋体" panose="02010600030101010101" pitchFamily="2" charset="-122"/>
                          </a:rPr>
                          <m:t>𝒔</m:t>
                        </m:r>
                      </m:sub>
                    </m:sSub>
                    <m:d>
                      <m:d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𝜽</m:t>
                            </m:r>
                          </m:e>
                          <m:sup>
                            <m:r>
                              <a:rPr lang="en-US" altLang="zh-CN" sz="1000" b="1" i="1">
                                <a:solidFill>
                                  <a:srgbClr val="002060"/>
                                </a:solidFill>
                                <a:latin typeface="Cambria Math" panose="02040503050406030204" pitchFamily="18" charset="0"/>
                                <a:cs typeface="宋体" panose="02010600030101010101" pitchFamily="2" charset="-122"/>
                              </a:rPr>
                              <m:t>𝒌</m:t>
                            </m:r>
                          </m:sup>
                        </m:sSup>
                      </m:e>
                    </m:d>
                  </m:oMath>
                </a14:m>
                <a:r>
                  <a:rPr lang="zh-CN" altLang="zh-CN" sz="1000" b="1" dirty="0">
                    <a:solidFill>
                      <a:srgbClr val="002060"/>
                    </a:solidFill>
                    <a:latin typeface="宋体" panose="02010600030101010101" pitchFamily="2" charset="-122"/>
                    <a:cs typeface="宋体" panose="02010600030101010101" pitchFamily="2" charset="-122"/>
                  </a:rPr>
                  <a:t>伪逆</a:t>
                </a:r>
                <a14:m>
                  <m:oMath xmlns:m="http://schemas.openxmlformats.org/officeDocument/2006/math">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𝑱</m:t>
                        </m:r>
                      </m:e>
                      <m:sup>
                        <m:r>
                          <a:rPr lang="en-US" altLang="zh-CN" sz="1000" b="1" i="1">
                            <a:solidFill>
                              <a:srgbClr val="002060"/>
                            </a:solidFill>
                            <a:latin typeface="Cambria Math" panose="02040503050406030204" pitchFamily="18" charset="0"/>
                            <a:cs typeface="宋体" panose="02010600030101010101" pitchFamily="2" charset="-122"/>
                          </a:rPr>
                          <m:t>†</m:t>
                        </m:r>
                      </m:sup>
                    </m:sSup>
                    <m:d>
                      <m:d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𝜽</m:t>
                            </m:r>
                          </m:e>
                          <m:sup>
                            <m:r>
                              <a:rPr lang="en-US" altLang="zh-CN" sz="1000" b="1" i="1">
                                <a:solidFill>
                                  <a:srgbClr val="002060"/>
                                </a:solidFill>
                                <a:latin typeface="Cambria Math" panose="02040503050406030204" pitchFamily="18" charset="0"/>
                                <a:cs typeface="宋体" panose="02010600030101010101" pitchFamily="2" charset="-122"/>
                              </a:rPr>
                              <m:t>𝒌</m:t>
                            </m:r>
                          </m:sup>
                        </m:sSup>
                      </m:e>
                    </m:d>
                  </m:oMath>
                </a14:m>
                <a:endParaRPr lang="zh-CN" altLang="zh-CN" sz="1000" b="1" dirty="0">
                  <a:solidFill>
                    <a:srgbClr val="002060"/>
                  </a:solidFill>
                  <a:latin typeface="宋体" panose="02010600030101010101" pitchFamily="2" charset="-122"/>
                  <a:cs typeface="宋体" panose="02010600030101010101" pitchFamily="2" charset="-122"/>
                </a:endParaRPr>
              </a:p>
              <a:p>
                <a:pPr>
                  <a:spcBef>
                    <a:spcPts val="600"/>
                  </a:spcBef>
                  <a:spcAft>
                    <a:spcPts val="600"/>
                  </a:spcAft>
                </a:pPr>
                <a:r>
                  <a:rPr lang="en-US" altLang="zh-CN" sz="1000" b="1" dirty="0">
                    <a:solidFill>
                      <a:srgbClr val="002060"/>
                    </a:solidFill>
                    <a:latin typeface="宋体" panose="02010600030101010101" pitchFamily="2" charset="-122"/>
                    <a:cs typeface="宋体" panose="02010600030101010101" pitchFamily="2" charset="-122"/>
                  </a:rPr>
                  <a:t>	</a:t>
                </a:r>
                <a:r>
                  <a:rPr lang="zh-CN" altLang="zh-CN" sz="1000" b="1" dirty="0">
                    <a:solidFill>
                      <a:srgbClr val="002060"/>
                    </a:solidFill>
                    <a:latin typeface="宋体" panose="02010600030101010101" pitchFamily="2" charset="-122"/>
                    <a:cs typeface="宋体" panose="02010600030101010101" pitchFamily="2" charset="-122"/>
                  </a:rPr>
                  <a:t>（</a:t>
                </a:r>
                <a:r>
                  <a:rPr lang="en-US" altLang="zh-CN" sz="1000" b="1" dirty="0" err="1">
                    <a:solidFill>
                      <a:srgbClr val="002060"/>
                    </a:solidFill>
                    <a:latin typeface="宋体" panose="02010600030101010101" pitchFamily="2" charset="-122"/>
                    <a:cs typeface="宋体" panose="02010600030101010101" pitchFamily="2" charset="-122"/>
                  </a:rPr>
                  <a:t>i</a:t>
                </a:r>
                <a:r>
                  <a:rPr lang="zh-CN" altLang="zh-CN" sz="1000" b="1" dirty="0">
                    <a:solidFill>
                      <a:srgbClr val="002060"/>
                    </a:solidFill>
                    <a:latin typeface="宋体" panose="02010600030101010101" pitchFamily="2" charset="-122"/>
                    <a:cs typeface="宋体" panose="02010600030101010101" pitchFamily="2" charset="-122"/>
                  </a:rPr>
                  <a:t>）</a:t>
                </a:r>
                <a14:m>
                  <m:oMath xmlns:m="http://schemas.openxmlformats.org/officeDocument/2006/math">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𝑱</m:t>
                        </m:r>
                      </m:e>
                      <m:sup>
                        <m:r>
                          <a:rPr lang="en-US" altLang="zh-CN" sz="1000" b="1" i="1">
                            <a:solidFill>
                              <a:srgbClr val="002060"/>
                            </a:solidFill>
                            <a:latin typeface="Cambria Math" panose="02040503050406030204" pitchFamily="18" charset="0"/>
                            <a:cs typeface="宋体" panose="02010600030101010101" pitchFamily="2" charset="-122"/>
                          </a:rPr>
                          <m:t>†</m:t>
                        </m:r>
                      </m:sup>
                    </m:sSup>
                    <m:r>
                      <a:rPr lang="en-US" altLang="zh-CN" sz="1000" b="1" i="1">
                        <a:solidFill>
                          <a:srgbClr val="002060"/>
                        </a:solidFill>
                        <a:latin typeface="Cambria Math" panose="02040503050406030204" pitchFamily="18" charset="0"/>
                        <a:cs typeface="宋体" panose="02010600030101010101" pitchFamily="2" charset="-122"/>
                      </a:rPr>
                      <m:t>=</m:t>
                    </m:r>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𝑱</m:t>
                        </m:r>
                      </m:e>
                      <m:sup>
                        <m:r>
                          <a:rPr lang="en-US" altLang="zh-CN" sz="1000" b="1" i="1">
                            <a:solidFill>
                              <a:srgbClr val="002060"/>
                            </a:solidFill>
                            <a:latin typeface="Cambria Math" panose="02040503050406030204" pitchFamily="18" charset="0"/>
                            <a:cs typeface="宋体" panose="02010600030101010101" pitchFamily="2" charset="-122"/>
                          </a:rPr>
                          <m:t>𝑻</m:t>
                        </m:r>
                      </m:sup>
                    </m:sSup>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m:t>
                        </m:r>
                        <m:r>
                          <a:rPr lang="en-US" altLang="zh-CN" sz="1000" b="1" i="1">
                            <a:solidFill>
                              <a:srgbClr val="002060"/>
                            </a:solidFill>
                            <a:latin typeface="Cambria Math" panose="02040503050406030204" pitchFamily="18" charset="0"/>
                            <a:cs typeface="宋体" panose="02010600030101010101" pitchFamily="2" charset="-122"/>
                          </a:rPr>
                          <m:t>𝑱</m:t>
                        </m:r>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𝑱</m:t>
                            </m:r>
                          </m:e>
                          <m:sup>
                            <m:r>
                              <a:rPr lang="en-US" altLang="zh-CN" sz="1000" b="1" i="1">
                                <a:solidFill>
                                  <a:srgbClr val="002060"/>
                                </a:solidFill>
                                <a:latin typeface="Cambria Math" panose="02040503050406030204" pitchFamily="18" charset="0"/>
                                <a:cs typeface="宋体" panose="02010600030101010101" pitchFamily="2" charset="-122"/>
                              </a:rPr>
                              <m:t>𝑻</m:t>
                            </m:r>
                          </m:sup>
                        </m:sSup>
                        <m:r>
                          <a:rPr lang="en-US" altLang="zh-CN" sz="1000" b="1" i="1">
                            <a:solidFill>
                              <a:srgbClr val="002060"/>
                            </a:solidFill>
                            <a:latin typeface="Cambria Math" panose="02040503050406030204" pitchFamily="18" charset="0"/>
                            <a:cs typeface="宋体" panose="02010600030101010101" pitchFamily="2" charset="-122"/>
                          </a:rPr>
                          <m:t>)</m:t>
                        </m:r>
                      </m:e>
                      <m:sup>
                        <m:r>
                          <a:rPr lang="en-US" altLang="zh-CN" sz="1000" b="1" i="1">
                            <a:solidFill>
                              <a:srgbClr val="002060"/>
                            </a:solidFill>
                            <a:latin typeface="Cambria Math" panose="02040503050406030204" pitchFamily="18" charset="0"/>
                            <a:cs typeface="宋体" panose="02010600030101010101" pitchFamily="2" charset="-122"/>
                          </a:rPr>
                          <m:t>−</m:t>
                        </m:r>
                        <m:r>
                          <a:rPr lang="en-US" altLang="zh-CN" sz="1000" b="1" i="1">
                            <a:solidFill>
                              <a:srgbClr val="002060"/>
                            </a:solidFill>
                            <a:latin typeface="Cambria Math" panose="02040503050406030204" pitchFamily="18" charset="0"/>
                            <a:cs typeface="宋体" panose="02010600030101010101" pitchFamily="2" charset="-122"/>
                          </a:rPr>
                          <m:t>𝟏</m:t>
                        </m:r>
                      </m:sup>
                    </m:sSup>
                  </m:oMath>
                </a14:m>
                <a:r>
                  <a:rPr lang="zh-CN" altLang="zh-CN" sz="1000" b="1" dirty="0">
                    <a:solidFill>
                      <a:srgbClr val="002060"/>
                    </a:solidFill>
                    <a:latin typeface="宋体" panose="02010600030101010101" pitchFamily="2" charset="-122"/>
                    <a:cs typeface="宋体" panose="02010600030101010101" pitchFamily="2" charset="-122"/>
                  </a:rPr>
                  <a:t>，</a:t>
                </a:r>
                <a14:m>
                  <m:oMath xmlns:m="http://schemas.openxmlformats.org/officeDocument/2006/math">
                    <m:r>
                      <a:rPr lang="en-US" altLang="zh-CN" sz="1000" b="1" i="1">
                        <a:solidFill>
                          <a:srgbClr val="002060"/>
                        </a:solidFill>
                        <a:latin typeface="Cambria Math" panose="02040503050406030204" pitchFamily="18" charset="0"/>
                        <a:cs typeface="宋体" panose="02010600030101010101" pitchFamily="2" charset="-122"/>
                      </a:rPr>
                      <m:t>𝒏</m:t>
                    </m:r>
                    <m:r>
                      <a:rPr lang="en-US" altLang="zh-CN" sz="1000" b="1" i="1">
                        <a:solidFill>
                          <a:srgbClr val="002060"/>
                        </a:solidFill>
                        <a:latin typeface="Cambria Math" panose="02040503050406030204" pitchFamily="18" charset="0"/>
                        <a:cs typeface="宋体" panose="02010600030101010101" pitchFamily="2" charset="-122"/>
                      </a:rPr>
                      <m:t>&gt;</m:t>
                    </m:r>
                    <m:r>
                      <a:rPr lang="en-US" altLang="zh-CN" sz="1000" b="1" i="1">
                        <a:solidFill>
                          <a:srgbClr val="002060"/>
                        </a:solidFill>
                        <a:latin typeface="Cambria Math" panose="02040503050406030204" pitchFamily="18" charset="0"/>
                        <a:cs typeface="宋体" panose="02010600030101010101" pitchFamily="2" charset="-122"/>
                      </a:rPr>
                      <m:t>𝒎</m:t>
                    </m:r>
                  </m:oMath>
                </a14:m>
                <a:r>
                  <a:rPr lang="zh-CN" altLang="zh-CN" sz="1000" b="1" dirty="0" smtClean="0">
                    <a:solidFill>
                      <a:srgbClr val="002060"/>
                    </a:solidFill>
                    <a:latin typeface="宋体" panose="02010600030101010101" pitchFamily="2" charset="-122"/>
                    <a:cs typeface="宋体" panose="02010600030101010101" pitchFamily="2" charset="-122"/>
                  </a:rPr>
                  <a:t>；（</a:t>
                </a:r>
                <a:r>
                  <a:rPr lang="en-US" altLang="zh-CN" sz="1000" b="1" dirty="0">
                    <a:solidFill>
                      <a:srgbClr val="002060"/>
                    </a:solidFill>
                    <a:latin typeface="宋体" panose="02010600030101010101" pitchFamily="2" charset="-122"/>
                    <a:cs typeface="宋体" panose="02010600030101010101" pitchFamily="2" charset="-122"/>
                  </a:rPr>
                  <a:t>ii</a:t>
                </a:r>
                <a:r>
                  <a:rPr lang="zh-CN" altLang="zh-CN" sz="1000" b="1" dirty="0">
                    <a:solidFill>
                      <a:srgbClr val="002060"/>
                    </a:solidFill>
                    <a:latin typeface="宋体" panose="02010600030101010101" pitchFamily="2" charset="-122"/>
                    <a:cs typeface="宋体" panose="02010600030101010101" pitchFamily="2" charset="-122"/>
                  </a:rPr>
                  <a:t>）</a:t>
                </a:r>
                <a14:m>
                  <m:oMath xmlns:m="http://schemas.openxmlformats.org/officeDocument/2006/math">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𝑱</m:t>
                        </m:r>
                      </m:e>
                      <m:sup>
                        <m:r>
                          <a:rPr lang="en-US" altLang="zh-CN" sz="1000" b="1" i="1">
                            <a:solidFill>
                              <a:srgbClr val="002060"/>
                            </a:solidFill>
                            <a:latin typeface="Cambria Math" panose="02040503050406030204" pitchFamily="18" charset="0"/>
                            <a:cs typeface="宋体" panose="02010600030101010101" pitchFamily="2" charset="-122"/>
                          </a:rPr>
                          <m:t>†</m:t>
                        </m:r>
                      </m:sup>
                    </m:sSup>
                    <m:r>
                      <a:rPr lang="en-US" altLang="zh-CN" sz="1000" b="1" i="1">
                        <a:solidFill>
                          <a:srgbClr val="002060"/>
                        </a:solidFill>
                        <a:latin typeface="Cambria Math" panose="02040503050406030204" pitchFamily="18" charset="0"/>
                        <a:cs typeface="宋体" panose="02010600030101010101" pitchFamily="2" charset="-122"/>
                      </a:rPr>
                      <m:t>=</m:t>
                    </m:r>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m:t>
                        </m:r>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𝑱</m:t>
                            </m:r>
                          </m:e>
                          <m:sup>
                            <m:r>
                              <a:rPr lang="en-US" altLang="zh-CN" sz="1000" b="1" i="1">
                                <a:solidFill>
                                  <a:srgbClr val="002060"/>
                                </a:solidFill>
                                <a:latin typeface="Cambria Math" panose="02040503050406030204" pitchFamily="18" charset="0"/>
                                <a:cs typeface="宋体" panose="02010600030101010101" pitchFamily="2" charset="-122"/>
                              </a:rPr>
                              <m:t>𝑻</m:t>
                            </m:r>
                          </m:sup>
                        </m:sSup>
                        <m:r>
                          <a:rPr lang="en-US" altLang="zh-CN" sz="1000" b="1" i="1">
                            <a:solidFill>
                              <a:srgbClr val="002060"/>
                            </a:solidFill>
                            <a:latin typeface="Cambria Math" panose="02040503050406030204" pitchFamily="18" charset="0"/>
                            <a:cs typeface="宋体" panose="02010600030101010101" pitchFamily="2" charset="-122"/>
                          </a:rPr>
                          <m:t>𝑱</m:t>
                        </m:r>
                        <m:r>
                          <a:rPr lang="en-US" altLang="zh-CN" sz="1000" b="1" i="1">
                            <a:solidFill>
                              <a:srgbClr val="002060"/>
                            </a:solidFill>
                            <a:latin typeface="Cambria Math" panose="02040503050406030204" pitchFamily="18" charset="0"/>
                            <a:cs typeface="宋体" panose="02010600030101010101" pitchFamily="2" charset="-122"/>
                          </a:rPr>
                          <m:t>)</m:t>
                        </m:r>
                      </m:e>
                      <m:sup>
                        <m:r>
                          <a:rPr lang="en-US" altLang="zh-CN" sz="1000" b="1" i="1">
                            <a:solidFill>
                              <a:srgbClr val="002060"/>
                            </a:solidFill>
                            <a:latin typeface="Cambria Math" panose="02040503050406030204" pitchFamily="18" charset="0"/>
                            <a:cs typeface="宋体" panose="02010600030101010101" pitchFamily="2" charset="-122"/>
                          </a:rPr>
                          <m:t>−</m:t>
                        </m:r>
                        <m:r>
                          <a:rPr lang="en-US" altLang="zh-CN" sz="1000" b="1" i="1">
                            <a:solidFill>
                              <a:srgbClr val="002060"/>
                            </a:solidFill>
                            <a:latin typeface="Cambria Math" panose="02040503050406030204" pitchFamily="18" charset="0"/>
                            <a:cs typeface="宋体" panose="02010600030101010101" pitchFamily="2" charset="-122"/>
                          </a:rPr>
                          <m:t>𝟏</m:t>
                        </m:r>
                      </m:sup>
                    </m:sSup>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𝑱</m:t>
                        </m:r>
                      </m:e>
                      <m:sup>
                        <m:r>
                          <a:rPr lang="en-US" altLang="zh-CN" sz="1000" b="1" i="1">
                            <a:solidFill>
                              <a:srgbClr val="002060"/>
                            </a:solidFill>
                            <a:latin typeface="Cambria Math" panose="02040503050406030204" pitchFamily="18" charset="0"/>
                            <a:cs typeface="宋体" panose="02010600030101010101" pitchFamily="2" charset="-122"/>
                          </a:rPr>
                          <m:t>𝑻</m:t>
                        </m:r>
                      </m:sup>
                    </m:sSup>
                  </m:oMath>
                </a14:m>
                <a:r>
                  <a:rPr lang="zh-CN" altLang="zh-CN" sz="1000" b="1" dirty="0">
                    <a:solidFill>
                      <a:srgbClr val="002060"/>
                    </a:solidFill>
                    <a:latin typeface="宋体" panose="02010600030101010101" pitchFamily="2" charset="-122"/>
                    <a:cs typeface="宋体" panose="02010600030101010101" pitchFamily="2" charset="-122"/>
                  </a:rPr>
                  <a:t>，</a:t>
                </a:r>
                <a14:m>
                  <m:oMath xmlns:m="http://schemas.openxmlformats.org/officeDocument/2006/math">
                    <m:r>
                      <a:rPr lang="en-US" altLang="zh-CN" sz="1000" b="1" i="1">
                        <a:solidFill>
                          <a:srgbClr val="002060"/>
                        </a:solidFill>
                        <a:latin typeface="Cambria Math" panose="02040503050406030204" pitchFamily="18" charset="0"/>
                        <a:cs typeface="宋体" panose="02010600030101010101" pitchFamily="2" charset="-122"/>
                      </a:rPr>
                      <m:t>𝒏</m:t>
                    </m:r>
                    <m:r>
                      <a:rPr lang="en-US" altLang="zh-CN" sz="1000" b="1" i="1">
                        <a:solidFill>
                          <a:srgbClr val="002060"/>
                        </a:solidFill>
                        <a:latin typeface="Cambria Math" panose="02040503050406030204" pitchFamily="18" charset="0"/>
                        <a:cs typeface="宋体" panose="02010600030101010101" pitchFamily="2" charset="-122"/>
                      </a:rPr>
                      <m:t>&lt;</m:t>
                    </m:r>
                    <m:r>
                      <a:rPr lang="en-US" altLang="zh-CN" sz="1000" b="1" i="1">
                        <a:solidFill>
                          <a:srgbClr val="002060"/>
                        </a:solidFill>
                        <a:latin typeface="Cambria Math" panose="02040503050406030204" pitchFamily="18" charset="0"/>
                        <a:cs typeface="宋体" panose="02010600030101010101" pitchFamily="2" charset="-122"/>
                      </a:rPr>
                      <m:t>𝒎</m:t>
                    </m:r>
                  </m:oMath>
                </a14:m>
                <a:r>
                  <a:rPr lang="zh-CN" altLang="zh-CN" sz="1000" b="1" dirty="0">
                    <a:solidFill>
                      <a:srgbClr val="002060"/>
                    </a:solidFill>
                    <a:latin typeface="宋体" panose="02010600030101010101" pitchFamily="2" charset="-122"/>
                    <a:cs typeface="宋体" panose="02010600030101010101" pitchFamily="2" charset="-122"/>
                  </a:rPr>
                  <a:t>。</a:t>
                </a:r>
              </a:p>
              <a:p>
                <a:pPr>
                  <a:spcBef>
                    <a:spcPts val="600"/>
                  </a:spcBef>
                  <a:spcAft>
                    <a:spcPts val="600"/>
                  </a:spcAft>
                </a:pPr>
                <a:r>
                  <a:rPr lang="en-US" altLang="zh-CN" sz="1000" b="1" dirty="0" smtClean="0">
                    <a:solidFill>
                      <a:srgbClr val="FF0000"/>
                    </a:solidFill>
                    <a:latin typeface="宋体" panose="02010600030101010101" pitchFamily="2" charset="-122"/>
                    <a:cs typeface="宋体" panose="02010600030101010101" pitchFamily="2" charset="-122"/>
                  </a:rPr>
                  <a:t>5</a:t>
                </a:r>
                <a:r>
                  <a:rPr lang="en-US" altLang="zh-CN" sz="1000" b="1" dirty="0">
                    <a:solidFill>
                      <a:srgbClr val="FF0000"/>
                    </a:solidFill>
                    <a:latin typeface="宋体" panose="02010600030101010101" pitchFamily="2" charset="-122"/>
                    <a:cs typeface="宋体" panose="02010600030101010101" pitchFamily="2" charset="-122"/>
                  </a:rPr>
                  <a:t>) </a:t>
                </a:r>
                <a:r>
                  <a:rPr lang="zh-CN" altLang="zh-CN" sz="1000" b="1" dirty="0">
                    <a:solidFill>
                      <a:srgbClr val="002060"/>
                    </a:solidFill>
                    <a:latin typeface="宋体" panose="02010600030101010101" pitchFamily="2" charset="-122"/>
                    <a:cs typeface="宋体" panose="02010600030101010101" pitchFamily="2" charset="-122"/>
                  </a:rPr>
                  <a:t>更新估值，并求残差</a:t>
                </a:r>
                <a14:m>
                  <m:oMath xmlns:m="http://schemas.openxmlformats.org/officeDocument/2006/math">
                    <m:r>
                      <a:rPr lang="en-US" altLang="zh-CN" sz="1000" b="1" i="1">
                        <a:solidFill>
                          <a:srgbClr val="002060"/>
                        </a:solidFill>
                        <a:latin typeface="Cambria Math" panose="02040503050406030204" pitchFamily="18" charset="0"/>
                        <a:cs typeface="宋体" panose="02010600030101010101" pitchFamily="2" charset="-122"/>
                      </a:rPr>
                      <m:t>𝒆𝒓𝒓𝒐𝒓</m:t>
                    </m:r>
                  </m:oMath>
                </a14:m>
                <a:r>
                  <a:rPr lang="zh-CN" altLang="zh-CN" sz="1000" b="1" dirty="0">
                    <a:solidFill>
                      <a:srgbClr val="002060"/>
                    </a:solidFill>
                    <a:latin typeface="宋体" panose="02010600030101010101" pitchFamily="2" charset="-122"/>
                    <a:cs typeface="宋体" panose="02010600030101010101" pitchFamily="2" charset="-122"/>
                  </a:rPr>
                  <a:t>的值用于评估迭代是否终止</a:t>
                </a:r>
              </a:p>
              <a:p>
                <a:pPr>
                  <a:spcBef>
                    <a:spcPts val="600"/>
                  </a:spcBef>
                  <a:spcAft>
                    <a:spcPts val="600"/>
                  </a:spcAft>
                </a:pPr>
                <a14:m>
                  <m:oMathPara xmlns:m="http://schemas.openxmlformats.org/officeDocument/2006/math">
                    <m:oMathParaPr>
                      <m:jc m:val="centerGroup"/>
                    </m:oMathParaPr>
                    <m:oMath xmlns:m="http://schemas.openxmlformats.org/officeDocument/2006/math">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𝜽</m:t>
                          </m:r>
                        </m:e>
                        <m:sup>
                          <m:r>
                            <a:rPr lang="en-US" altLang="zh-CN" sz="1000" b="1" i="1">
                              <a:solidFill>
                                <a:srgbClr val="002060"/>
                              </a:solidFill>
                              <a:latin typeface="Cambria Math" panose="02040503050406030204" pitchFamily="18" charset="0"/>
                              <a:cs typeface="宋体" panose="02010600030101010101" pitchFamily="2" charset="-122"/>
                            </a:rPr>
                            <m:t>𝒌</m:t>
                          </m:r>
                          <m:r>
                            <a:rPr lang="en-US" altLang="zh-CN" sz="1000" b="1" i="1">
                              <a:solidFill>
                                <a:srgbClr val="002060"/>
                              </a:solidFill>
                              <a:latin typeface="Cambria Math" panose="02040503050406030204" pitchFamily="18" charset="0"/>
                              <a:cs typeface="宋体" panose="02010600030101010101" pitchFamily="2" charset="-122"/>
                            </a:rPr>
                            <m:t>+</m:t>
                          </m:r>
                          <m:r>
                            <a:rPr lang="en-US" altLang="zh-CN" sz="1000" b="1" i="1">
                              <a:solidFill>
                                <a:srgbClr val="002060"/>
                              </a:solidFill>
                              <a:latin typeface="Cambria Math" panose="02040503050406030204" pitchFamily="18" charset="0"/>
                              <a:cs typeface="宋体" panose="02010600030101010101" pitchFamily="2" charset="-122"/>
                            </a:rPr>
                            <m:t>𝟏</m:t>
                          </m:r>
                        </m:sup>
                      </m:sSup>
                      <m:r>
                        <a:rPr lang="en-US" altLang="zh-CN" sz="1000" b="1" i="1">
                          <a:solidFill>
                            <a:srgbClr val="002060"/>
                          </a:solidFill>
                          <a:latin typeface="Cambria Math" panose="02040503050406030204" pitchFamily="18" charset="0"/>
                          <a:cs typeface="宋体" panose="02010600030101010101" pitchFamily="2" charset="-122"/>
                        </a:rPr>
                        <m:t>=</m:t>
                      </m:r>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𝜽</m:t>
                          </m:r>
                        </m:e>
                        <m:sup>
                          <m:r>
                            <a:rPr lang="en-US" altLang="zh-CN" sz="1000" b="1" i="1">
                              <a:solidFill>
                                <a:srgbClr val="002060"/>
                              </a:solidFill>
                              <a:latin typeface="Cambria Math" panose="02040503050406030204" pitchFamily="18" charset="0"/>
                              <a:cs typeface="宋体" panose="02010600030101010101" pitchFamily="2" charset="-122"/>
                            </a:rPr>
                            <m:t>𝒌</m:t>
                          </m:r>
                        </m:sup>
                      </m:sSup>
                      <m:r>
                        <a:rPr lang="zh-CN" altLang="en-US" sz="1000" b="1" i="1">
                          <a:solidFill>
                            <a:srgbClr val="002060"/>
                          </a:solidFill>
                          <a:latin typeface="Cambria Math" panose="02040503050406030204" pitchFamily="18" charset="0"/>
                          <a:ea typeface="微软雅黑" panose="020B0503020204020204" pitchFamily="34" charset="-122"/>
                          <a:cs typeface="微软雅黑" panose="020B0503020204020204" pitchFamily="34" charset="-122"/>
                        </a:rPr>
                        <m:t>−</m:t>
                      </m:r>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𝑱</m:t>
                          </m:r>
                        </m:e>
                        <m:sup>
                          <m:r>
                            <a:rPr lang="en-US" altLang="zh-CN" sz="1000" b="1" i="1">
                              <a:solidFill>
                                <a:srgbClr val="002060"/>
                              </a:solidFill>
                              <a:latin typeface="Cambria Math" panose="02040503050406030204" pitchFamily="18" charset="0"/>
                              <a:cs typeface="宋体" panose="02010600030101010101" pitchFamily="2" charset="-122"/>
                            </a:rPr>
                            <m:t>†</m:t>
                          </m:r>
                        </m:sup>
                      </m:sSup>
                      <m:d>
                        <m:d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𝜽</m:t>
                              </m:r>
                            </m:e>
                            <m:sup>
                              <m:r>
                                <a:rPr lang="en-US" altLang="zh-CN" sz="1000" b="1" i="1">
                                  <a:solidFill>
                                    <a:srgbClr val="002060"/>
                                  </a:solidFill>
                                  <a:latin typeface="Cambria Math" panose="02040503050406030204" pitchFamily="18" charset="0"/>
                                  <a:cs typeface="宋体" panose="02010600030101010101" pitchFamily="2" charset="-122"/>
                                </a:rPr>
                                <m:t>𝒌</m:t>
                              </m:r>
                            </m:sup>
                          </m:sSup>
                        </m:e>
                      </m:d>
                      <m:r>
                        <a:rPr lang="en-US" altLang="zh-CN" sz="1000" b="1" i="1">
                          <a:solidFill>
                            <a:srgbClr val="002060"/>
                          </a:solidFill>
                          <a:latin typeface="Cambria Math" panose="02040503050406030204" pitchFamily="18" charset="0"/>
                          <a:cs typeface="宋体" panose="02010600030101010101" pitchFamily="2" charset="-122"/>
                        </a:rPr>
                        <m:t>𝜳</m:t>
                      </m:r>
                      <m:d>
                        <m:d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𝜽</m:t>
                              </m:r>
                            </m:e>
                            <m:sup>
                              <m:r>
                                <a:rPr lang="en-US" altLang="zh-CN" sz="1000" b="1" i="1">
                                  <a:solidFill>
                                    <a:srgbClr val="002060"/>
                                  </a:solidFill>
                                  <a:latin typeface="Cambria Math" panose="02040503050406030204" pitchFamily="18" charset="0"/>
                                  <a:cs typeface="宋体" panose="02010600030101010101" pitchFamily="2" charset="-122"/>
                                </a:rPr>
                                <m:t>𝒌</m:t>
                              </m:r>
                            </m:sup>
                          </m:sSup>
                        </m:e>
                      </m:d>
                    </m:oMath>
                  </m:oMathPara>
                </a14:m>
                <a:endParaRPr lang="zh-CN" altLang="zh-CN" sz="1000" b="1" dirty="0">
                  <a:solidFill>
                    <a:srgbClr val="002060"/>
                  </a:solidFill>
                  <a:latin typeface="宋体" panose="02010600030101010101" pitchFamily="2" charset="-122"/>
                  <a:cs typeface="宋体" panose="02010600030101010101" pitchFamily="2" charset="-122"/>
                </a:endParaRP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000" b="1" i="1">
                          <a:solidFill>
                            <a:srgbClr val="002060"/>
                          </a:solidFill>
                          <a:latin typeface="Cambria Math" panose="02040503050406030204" pitchFamily="18" charset="0"/>
                          <a:cs typeface="宋体" panose="02010600030101010101" pitchFamily="2" charset="-122"/>
                        </a:rPr>
                        <m:t>𝒆𝒓𝒓𝒐𝒓</m:t>
                      </m:r>
                      <m:r>
                        <a:rPr lang="en-US" altLang="zh-CN" sz="1000" b="1" i="1">
                          <a:solidFill>
                            <a:srgbClr val="002060"/>
                          </a:solidFill>
                          <a:latin typeface="Cambria Math" panose="02040503050406030204" pitchFamily="18" charset="0"/>
                          <a:cs typeface="宋体" panose="02010600030101010101" pitchFamily="2" charset="-122"/>
                        </a:rPr>
                        <m:t>=</m:t>
                      </m:r>
                      <m:d>
                        <m:dPr>
                          <m:begChr m:val="‖"/>
                          <m:endChr m:val="‖"/>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1000" b="1" i="1">
                              <a:solidFill>
                                <a:srgbClr val="002060"/>
                              </a:solidFill>
                              <a:latin typeface="Cambria Math" panose="02040503050406030204" pitchFamily="18" charset="0"/>
                              <a:cs typeface="宋体" panose="02010600030101010101" pitchFamily="2" charset="-122"/>
                            </a:rPr>
                            <m:t>𝜳</m:t>
                          </m:r>
                          <m:d>
                            <m:d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sSup>
                                <m:sSup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000" b="1" i="1">
                                      <a:solidFill>
                                        <a:srgbClr val="002060"/>
                                      </a:solidFill>
                                      <a:latin typeface="Cambria Math" panose="02040503050406030204" pitchFamily="18" charset="0"/>
                                      <a:cs typeface="宋体" panose="02010600030101010101" pitchFamily="2" charset="-122"/>
                                    </a:rPr>
                                    <m:t>𝜽</m:t>
                                  </m:r>
                                </m:e>
                                <m:sup>
                                  <m:r>
                                    <a:rPr lang="en-US" altLang="zh-CN" sz="1000" b="1" i="1">
                                      <a:solidFill>
                                        <a:srgbClr val="002060"/>
                                      </a:solidFill>
                                      <a:latin typeface="Cambria Math" panose="02040503050406030204" pitchFamily="18" charset="0"/>
                                      <a:cs typeface="宋体" panose="02010600030101010101" pitchFamily="2" charset="-122"/>
                                    </a:rPr>
                                    <m:t>𝒌</m:t>
                                  </m:r>
                                </m:sup>
                              </m:sSup>
                            </m:e>
                          </m:d>
                        </m:e>
                      </m:d>
                    </m:oMath>
                  </m:oMathPara>
                </a14:m>
                <a:endParaRPr lang="zh-CN" altLang="zh-CN" sz="1000" b="1" dirty="0">
                  <a:solidFill>
                    <a:srgbClr val="002060"/>
                  </a:solidFill>
                  <a:latin typeface="宋体" panose="02010600030101010101" pitchFamily="2" charset="-122"/>
                  <a:cs typeface="宋体" panose="02010600030101010101" pitchFamily="2" charset="-122"/>
                </a:endParaRPr>
              </a:p>
              <a:p>
                <a:r>
                  <a:rPr lang="en-US" altLang="zh-CN" sz="1000" b="1" dirty="0" smtClean="0">
                    <a:solidFill>
                      <a:srgbClr val="FF0000"/>
                    </a:solidFill>
                    <a:effectLst/>
                    <a:latin typeface="等线" panose="02010600030101010101" pitchFamily="2" charset="-122"/>
                    <a:cs typeface="Times New Roman" panose="02020603050405020304" pitchFamily="18" charset="0"/>
                  </a:rPr>
                  <a:t>6</a:t>
                </a:r>
                <a:r>
                  <a:rPr lang="zh-CN" altLang="zh-CN" sz="1000" b="1" dirty="0">
                    <a:solidFill>
                      <a:srgbClr val="FF0000"/>
                    </a:solidFill>
                    <a:effectLst/>
                    <a:ea typeface="等线" panose="02010600030101010101" pitchFamily="2" charset="-122"/>
                    <a:cs typeface="Times New Roman" panose="02020603050405020304" pitchFamily="18" charset="0"/>
                  </a:rPr>
                  <a:t>）</a:t>
                </a:r>
                <a:r>
                  <a:rPr lang="zh-CN" altLang="zh-CN" sz="1000" b="1" dirty="0">
                    <a:solidFill>
                      <a:srgbClr val="002060"/>
                    </a:solidFill>
                    <a:effectLst/>
                    <a:ea typeface="等线" panose="02010600030101010101" pitchFamily="2" charset="-122"/>
                    <a:cs typeface="Times New Roman" panose="02020603050405020304" pitchFamily="18" charset="0"/>
                  </a:rPr>
                  <a:t>重复以上步骤，直至终止迭代。终止迭代的条件为残差小于一个误差值，</a:t>
                </a:r>
                <a14:m>
                  <m:oMath xmlns:m="http://schemas.openxmlformats.org/officeDocument/2006/math">
                    <m:r>
                      <a:rPr lang="en-US" altLang="zh-CN" sz="10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𝒆𝒓𝒓𝒐𝒓</m:t>
                    </m:r>
                    <m:r>
                      <a:rPr lang="en-US" altLang="zh-CN" sz="10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&lt;</m:t>
                    </m:r>
                    <m:r>
                      <a:rPr lang="en-US" altLang="zh-CN" sz="1000" b="1" i="1">
                        <a:solidFill>
                          <a:srgbClr val="002060"/>
                        </a:solidFill>
                        <a:effectLst/>
                        <a:latin typeface="Cambria Math" panose="02040503050406030204" pitchFamily="18" charset="0"/>
                        <a:ea typeface="等线" panose="02010600030101010101" pitchFamily="2" charset="-122"/>
                        <a:cs typeface="Times New Roman" panose="02020603050405020304" pitchFamily="18" charset="0"/>
                      </a:rPr>
                      <m:t>𝜺</m:t>
                    </m:r>
                  </m:oMath>
                </a14:m>
                <a:r>
                  <a:rPr lang="zh-CN" altLang="zh-CN" sz="1000" b="1" dirty="0">
                    <a:solidFill>
                      <a:srgbClr val="002060"/>
                    </a:solidFill>
                    <a:effectLst/>
                    <a:ea typeface="等线" panose="02010600030101010101" pitchFamily="2" charset="-122"/>
                    <a:cs typeface="Times New Roman" panose="02020603050405020304" pitchFamily="18" charset="0"/>
                  </a:rPr>
                  <a:t>，或者迭代次数超出预设最大迭代次数。</a:t>
                </a:r>
                <a:endParaRPr lang="zh-CN" altLang="en-US" sz="1000" b="1" dirty="0">
                  <a:solidFill>
                    <a:srgbClr val="002060"/>
                  </a:solidFill>
                </a:endParaRPr>
              </a:p>
            </p:txBody>
          </p:sp>
        </mc:Choice>
        <mc:Fallback xmlns="">
          <p:sp>
            <p:nvSpPr>
              <p:cNvPr id="19" name="矩形 18"/>
              <p:cNvSpPr>
                <a:spLocks noRot="1" noChangeAspect="1" noMove="1" noResize="1" noEditPoints="1" noAdjustHandles="1" noChangeArrowheads="1" noChangeShapeType="1" noTextEdit="1"/>
              </p:cNvSpPr>
              <p:nvPr/>
            </p:nvSpPr>
            <p:spPr>
              <a:xfrm>
                <a:off x="3091867" y="429895"/>
                <a:ext cx="5895833" cy="4651017"/>
              </a:xfrm>
              <a:prstGeom prst="rect">
                <a:avLst/>
              </a:prstGeom>
              <a:blipFill>
                <a:blip r:embed="rId10"/>
                <a:stretch>
                  <a:fillRect/>
                </a:stretch>
              </a:blipFill>
            </p:spPr>
            <p:txBody>
              <a:bodyPr/>
              <a:lstStyle/>
              <a:p>
                <a:r>
                  <a:rPr lang="zh-CN" altLang="en-US">
                    <a:noFill/>
                  </a:rPr>
                  <a:t> </a:t>
                </a:r>
              </a:p>
            </p:txBody>
          </p:sp>
        </mc:Fallback>
      </mc:AlternateContent>
      <p:sp>
        <p:nvSpPr>
          <p:cNvPr id="21" name="矩形 20"/>
          <p:cNvSpPr/>
          <p:nvPr/>
        </p:nvSpPr>
        <p:spPr>
          <a:xfrm>
            <a:off x="3091867" y="429895"/>
            <a:ext cx="5800613" cy="465101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0545826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350923" y="123478"/>
            <a:ext cx="8816435" cy="4098315"/>
            <a:chOff x="794096" y="799970"/>
            <a:chExt cx="11342056" cy="5408205"/>
          </a:xfrm>
        </p:grpSpPr>
        <p:sp>
          <p:nvSpPr>
            <p:cNvPr id="2" name="矩形 1"/>
            <p:cNvSpPr/>
            <p:nvPr/>
          </p:nvSpPr>
          <p:spPr>
            <a:xfrm>
              <a:off x="2693739" y="799970"/>
              <a:ext cx="9442413" cy="690450"/>
            </a:xfrm>
            <a:prstGeom prst="rect">
              <a:avLst/>
            </a:prstGeom>
          </p:spPr>
          <p:txBody>
            <a:bodyPr wrap="square">
              <a:spAutoFit/>
            </a:bodyPr>
            <a:lstStyle/>
            <a:p>
              <a:r>
                <a:rPr lang="zh-CN" altLang="en-US" sz="1400" b="1" dirty="0">
                  <a:solidFill>
                    <a:srgbClr val="FF0000"/>
                  </a:solidFill>
                </a:rPr>
                <a:t>逆运动学</a:t>
              </a:r>
              <a:r>
                <a:rPr lang="zh-CN" altLang="en-US" sz="1400" b="1" dirty="0"/>
                <a:t>：</a:t>
              </a:r>
              <a:r>
                <a:rPr lang="zh-CN" altLang="en-US" sz="1400" b="1" dirty="0">
                  <a:solidFill>
                    <a:srgbClr val="00B050"/>
                  </a:solidFill>
                </a:rPr>
                <a:t>几何法、解析法 </a:t>
              </a:r>
              <a:r>
                <a:rPr lang="en-US" altLang="zh-CN" sz="1400" b="1" dirty="0">
                  <a:solidFill>
                    <a:srgbClr val="00B050"/>
                  </a:solidFill>
                </a:rPr>
                <a:t>(</a:t>
              </a:r>
              <a:r>
                <a:rPr lang="zh-CN" altLang="en-US" sz="1400" b="1" dirty="0">
                  <a:solidFill>
                    <a:srgbClr val="00B050"/>
                  </a:solidFill>
                </a:rPr>
                <a:t>代数法</a:t>
              </a:r>
              <a:r>
                <a:rPr lang="en-US" altLang="zh-CN" sz="1400" b="1" dirty="0">
                  <a:solidFill>
                    <a:srgbClr val="00B050"/>
                  </a:solidFill>
                </a:rPr>
                <a:t>)</a:t>
              </a:r>
              <a:r>
                <a:rPr lang="zh-CN" altLang="en-US" sz="1400" b="1" dirty="0">
                  <a:solidFill>
                    <a:srgbClr val="00B050"/>
                  </a:solidFill>
                </a:rPr>
                <a:t>、数值法，智能控制算法（包括遗传算法、神经网络等智能方法）</a:t>
              </a:r>
            </a:p>
          </p:txBody>
        </p:sp>
        <p:sp>
          <p:nvSpPr>
            <p:cNvPr id="3" name="矩形 2"/>
            <p:cNvSpPr/>
            <p:nvPr/>
          </p:nvSpPr>
          <p:spPr>
            <a:xfrm>
              <a:off x="837217" y="1602819"/>
              <a:ext cx="1074824" cy="365533"/>
            </a:xfrm>
            <a:prstGeom prst="rect">
              <a:avLst/>
            </a:prstGeom>
          </p:spPr>
          <p:txBody>
            <a:bodyPr wrap="none">
              <a:spAutoFit/>
            </a:bodyPr>
            <a:lstStyle/>
            <a:p>
              <a:r>
                <a:rPr lang="zh-CN" altLang="en-US" sz="1200" b="1" dirty="0" smtClean="0">
                  <a:solidFill>
                    <a:srgbClr val="00B050"/>
                  </a:solidFill>
                </a:rPr>
                <a:t>解析</a:t>
              </a:r>
              <a:r>
                <a:rPr lang="zh-CN" altLang="en-US" sz="1200" b="1" dirty="0">
                  <a:solidFill>
                    <a:srgbClr val="00B050"/>
                  </a:solidFill>
                </a:rPr>
                <a:t>法： </a:t>
              </a:r>
              <a:endParaRPr lang="zh-CN" altLang="en-US" sz="1200" dirty="0"/>
            </a:p>
          </p:txBody>
        </p:sp>
        <p:graphicFrame>
          <p:nvGraphicFramePr>
            <p:cNvPr id="4" name="对象 3"/>
            <p:cNvGraphicFramePr>
              <a:graphicFrameLocks noChangeAspect="1"/>
            </p:cNvGraphicFramePr>
            <p:nvPr>
              <p:extLst>
                <p:ext uri="{D42A27DB-BD31-4B8C-83A1-F6EECF244321}">
                  <p14:modId xmlns:p14="http://schemas.microsoft.com/office/powerpoint/2010/main" val="4033292589"/>
                </p:ext>
              </p:extLst>
            </p:nvPr>
          </p:nvGraphicFramePr>
          <p:xfrm>
            <a:off x="1906719" y="1677451"/>
            <a:ext cx="161925" cy="228600"/>
          </p:xfrm>
          <a:graphic>
            <a:graphicData uri="http://schemas.openxmlformats.org/presentationml/2006/ole">
              <mc:AlternateContent xmlns:mc="http://schemas.openxmlformats.org/markup-compatibility/2006">
                <mc:Choice xmlns:v="urn:schemas-microsoft-com:vml" Requires="v">
                  <p:oleObj spid="_x0000_s37490" r:id="rId3" imgW="152532" imgH="228799" progId="Equation.DSMT4">
                    <p:embed/>
                  </p:oleObj>
                </mc:Choice>
                <mc:Fallback>
                  <p:oleObj r:id="rId3" imgW="152532" imgH="228799" progId="Equation.DSMT4">
                    <p:embed/>
                    <p:pic>
                      <p:nvPicPr>
                        <p:cNvPr id="10" name="对象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6719" y="1677451"/>
                          <a:ext cx="161925"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右箭头 4"/>
            <p:cNvSpPr/>
            <p:nvPr/>
          </p:nvSpPr>
          <p:spPr>
            <a:xfrm>
              <a:off x="2115238" y="1695153"/>
              <a:ext cx="101679" cy="184666"/>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200"/>
            </a:p>
          </p:txBody>
        </p:sp>
        <p:graphicFrame>
          <p:nvGraphicFramePr>
            <p:cNvPr id="6" name="对象 5"/>
            <p:cNvGraphicFramePr>
              <a:graphicFrameLocks noChangeAspect="1"/>
            </p:cNvGraphicFramePr>
            <p:nvPr>
              <p:extLst>
                <p:ext uri="{D42A27DB-BD31-4B8C-83A1-F6EECF244321}">
                  <p14:modId xmlns:p14="http://schemas.microsoft.com/office/powerpoint/2010/main" val="3812017113"/>
                </p:ext>
              </p:extLst>
            </p:nvPr>
          </p:nvGraphicFramePr>
          <p:xfrm>
            <a:off x="2216917" y="1673186"/>
            <a:ext cx="171450" cy="228600"/>
          </p:xfrm>
          <a:graphic>
            <a:graphicData uri="http://schemas.openxmlformats.org/presentationml/2006/ole">
              <mc:AlternateContent xmlns:mc="http://schemas.openxmlformats.org/markup-compatibility/2006">
                <mc:Choice xmlns:v="urn:schemas-microsoft-com:vml" Requires="v">
                  <p:oleObj spid="_x0000_s37491" r:id="rId5" imgW="165172" imgH="228699" progId="Equation.DSMT4">
                    <p:embed/>
                  </p:oleObj>
                </mc:Choice>
                <mc:Fallback>
                  <p:oleObj r:id="rId5" imgW="165172" imgH="228699" progId="Equation.DSMT4">
                    <p:embed/>
                    <p:pic>
                      <p:nvPicPr>
                        <p:cNvPr id="13" name="对象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16917" y="1673186"/>
                          <a:ext cx="17145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右箭头 6"/>
            <p:cNvSpPr/>
            <p:nvPr/>
          </p:nvSpPr>
          <p:spPr>
            <a:xfrm>
              <a:off x="2423710" y="1708923"/>
              <a:ext cx="101679" cy="184666"/>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200"/>
            </a:p>
          </p:txBody>
        </p:sp>
        <p:graphicFrame>
          <p:nvGraphicFramePr>
            <p:cNvPr id="8" name="对象 7"/>
            <p:cNvGraphicFramePr>
              <a:graphicFrameLocks noChangeAspect="1"/>
            </p:cNvGraphicFramePr>
            <p:nvPr>
              <p:extLst>
                <p:ext uri="{D42A27DB-BD31-4B8C-83A1-F6EECF244321}">
                  <p14:modId xmlns:p14="http://schemas.microsoft.com/office/powerpoint/2010/main" val="969874697"/>
                </p:ext>
              </p:extLst>
            </p:nvPr>
          </p:nvGraphicFramePr>
          <p:xfrm>
            <a:off x="2525389" y="1673186"/>
            <a:ext cx="171450" cy="228600"/>
          </p:xfrm>
          <a:graphic>
            <a:graphicData uri="http://schemas.openxmlformats.org/presentationml/2006/ole">
              <mc:AlternateContent xmlns:mc="http://schemas.openxmlformats.org/markup-compatibility/2006">
                <mc:Choice xmlns:v="urn:schemas-microsoft-com:vml" Requires="v">
                  <p:oleObj spid="_x0000_s37492" r:id="rId7" imgW="165172" imgH="228699" progId="Equation.DSMT4">
                    <p:embed/>
                  </p:oleObj>
                </mc:Choice>
                <mc:Fallback>
                  <p:oleObj r:id="rId7" imgW="165172" imgH="228699" progId="Equation.DSMT4">
                    <p:embed/>
                    <p:pic>
                      <p:nvPicPr>
                        <p:cNvPr id="16" name="对象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25389" y="1673186"/>
                          <a:ext cx="17145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右箭头 8"/>
            <p:cNvSpPr/>
            <p:nvPr/>
          </p:nvSpPr>
          <p:spPr>
            <a:xfrm>
              <a:off x="2710148" y="1708923"/>
              <a:ext cx="101679" cy="184666"/>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200"/>
            </a:p>
          </p:txBody>
        </p:sp>
        <p:graphicFrame>
          <p:nvGraphicFramePr>
            <p:cNvPr id="10" name="对象 9"/>
            <p:cNvGraphicFramePr>
              <a:graphicFrameLocks noChangeAspect="1"/>
            </p:cNvGraphicFramePr>
            <p:nvPr>
              <p:extLst>
                <p:ext uri="{D42A27DB-BD31-4B8C-83A1-F6EECF244321}">
                  <p14:modId xmlns:p14="http://schemas.microsoft.com/office/powerpoint/2010/main" val="1991698230"/>
                </p:ext>
              </p:extLst>
            </p:nvPr>
          </p:nvGraphicFramePr>
          <p:xfrm>
            <a:off x="2822844" y="1676006"/>
            <a:ext cx="171450" cy="228600"/>
          </p:xfrm>
          <a:graphic>
            <a:graphicData uri="http://schemas.openxmlformats.org/presentationml/2006/ole">
              <mc:AlternateContent xmlns:mc="http://schemas.openxmlformats.org/markup-compatibility/2006">
                <mc:Choice xmlns:v="urn:schemas-microsoft-com:vml" Requires="v">
                  <p:oleObj spid="_x0000_s37493" r:id="rId9" imgW="165172" imgH="228699" progId="Equation.DSMT4">
                    <p:embed/>
                  </p:oleObj>
                </mc:Choice>
                <mc:Fallback>
                  <p:oleObj r:id="rId9" imgW="165172" imgH="228699" progId="Equation.DSMT4">
                    <p:embed/>
                    <p:pic>
                      <p:nvPicPr>
                        <p:cNvPr id="27" name="对象 2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22844" y="1676006"/>
                          <a:ext cx="17145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右箭头 10"/>
            <p:cNvSpPr/>
            <p:nvPr/>
          </p:nvSpPr>
          <p:spPr>
            <a:xfrm>
              <a:off x="3018619" y="1695153"/>
              <a:ext cx="101679" cy="184666"/>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200"/>
            </a:p>
          </p:txBody>
        </p:sp>
        <p:graphicFrame>
          <p:nvGraphicFramePr>
            <p:cNvPr id="12" name="对象 11"/>
            <p:cNvGraphicFramePr>
              <a:graphicFrameLocks noChangeAspect="1"/>
            </p:cNvGraphicFramePr>
            <p:nvPr>
              <p:extLst>
                <p:ext uri="{D42A27DB-BD31-4B8C-83A1-F6EECF244321}">
                  <p14:modId xmlns:p14="http://schemas.microsoft.com/office/powerpoint/2010/main" val="2085190593"/>
                </p:ext>
              </p:extLst>
            </p:nvPr>
          </p:nvGraphicFramePr>
          <p:xfrm>
            <a:off x="3120298" y="1673186"/>
            <a:ext cx="171450" cy="228600"/>
          </p:xfrm>
          <a:graphic>
            <a:graphicData uri="http://schemas.openxmlformats.org/presentationml/2006/ole">
              <mc:AlternateContent xmlns:mc="http://schemas.openxmlformats.org/markup-compatibility/2006">
                <mc:Choice xmlns:v="urn:schemas-microsoft-com:vml" Requires="v">
                  <p:oleObj spid="_x0000_s37494" r:id="rId11" imgW="165172" imgH="228699" progId="Equation.DSMT4">
                    <p:embed/>
                  </p:oleObj>
                </mc:Choice>
                <mc:Fallback>
                  <p:oleObj r:id="rId11" imgW="165172" imgH="228699" progId="Equation.DSMT4">
                    <p:embed/>
                    <p:pic>
                      <p:nvPicPr>
                        <p:cNvPr id="29" name="对象 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20298" y="1673186"/>
                          <a:ext cx="17145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右箭头 12"/>
            <p:cNvSpPr/>
            <p:nvPr/>
          </p:nvSpPr>
          <p:spPr>
            <a:xfrm>
              <a:off x="3317039" y="1708923"/>
              <a:ext cx="101679" cy="184666"/>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200"/>
            </a:p>
          </p:txBody>
        </p:sp>
        <p:graphicFrame>
          <p:nvGraphicFramePr>
            <p:cNvPr id="14" name="对象 13"/>
            <p:cNvGraphicFramePr>
              <a:graphicFrameLocks noChangeAspect="1"/>
            </p:cNvGraphicFramePr>
            <p:nvPr>
              <p:extLst>
                <p:ext uri="{D42A27DB-BD31-4B8C-83A1-F6EECF244321}">
                  <p14:modId xmlns:p14="http://schemas.microsoft.com/office/powerpoint/2010/main" val="3894910980"/>
                </p:ext>
              </p:extLst>
            </p:nvPr>
          </p:nvGraphicFramePr>
          <p:xfrm>
            <a:off x="3440752" y="1673186"/>
            <a:ext cx="171450" cy="228600"/>
          </p:xfrm>
          <a:graphic>
            <a:graphicData uri="http://schemas.openxmlformats.org/presentationml/2006/ole">
              <mc:AlternateContent xmlns:mc="http://schemas.openxmlformats.org/markup-compatibility/2006">
                <mc:Choice xmlns:v="urn:schemas-microsoft-com:vml" Requires="v">
                  <p:oleObj spid="_x0000_s37495" r:id="rId13" imgW="165172" imgH="228699" progId="Equation.DSMT4">
                    <p:embed/>
                  </p:oleObj>
                </mc:Choice>
                <mc:Fallback>
                  <p:oleObj r:id="rId13" imgW="165172" imgH="228699" progId="Equation.DSMT4">
                    <p:embed/>
                    <p:pic>
                      <p:nvPicPr>
                        <p:cNvPr id="32" name="对象 3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40752" y="1673186"/>
                          <a:ext cx="17145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矩形 14"/>
            <p:cNvSpPr/>
            <p:nvPr/>
          </p:nvSpPr>
          <p:spPr>
            <a:xfrm>
              <a:off x="3664945" y="1602819"/>
              <a:ext cx="7850082" cy="365533"/>
            </a:xfrm>
            <a:prstGeom prst="rect">
              <a:avLst/>
            </a:prstGeom>
          </p:spPr>
          <p:txBody>
            <a:bodyPr wrap="square">
              <a:spAutoFit/>
            </a:bodyPr>
            <a:lstStyle/>
            <a:p>
              <a:r>
                <a:rPr lang="zh-CN" altLang="en-US" sz="1200" dirty="0"/>
                <a:t>已知机器人末端位姿的情况下，可以求出其封闭逆解，</a:t>
              </a:r>
              <a:r>
                <a:rPr lang="zh-CN" altLang="en-US" sz="1200" dirty="0" smtClean="0"/>
                <a:t>可以解出最多</a:t>
              </a:r>
              <a:r>
                <a:rPr lang="en-US" altLang="zh-CN" sz="1200" dirty="0"/>
                <a:t>8</a:t>
              </a:r>
              <a:r>
                <a:rPr lang="zh-CN" altLang="en-US" sz="1200" dirty="0"/>
                <a:t>组解</a:t>
              </a:r>
            </a:p>
          </p:txBody>
        </p:sp>
        <p:sp>
          <p:nvSpPr>
            <p:cNvPr id="16" name="矩形 15"/>
            <p:cNvSpPr/>
            <p:nvPr/>
          </p:nvSpPr>
          <p:spPr>
            <a:xfrm>
              <a:off x="804165" y="1977527"/>
              <a:ext cx="2270907" cy="365533"/>
            </a:xfrm>
            <a:prstGeom prst="rect">
              <a:avLst/>
            </a:prstGeom>
          </p:spPr>
          <p:txBody>
            <a:bodyPr wrap="none">
              <a:spAutoFit/>
            </a:bodyPr>
            <a:lstStyle/>
            <a:p>
              <a:r>
                <a:rPr lang="zh-CN" altLang="zh-CN" sz="1200" b="1" dirty="0">
                  <a:solidFill>
                    <a:srgbClr val="00B050"/>
                  </a:solidFill>
                </a:rPr>
                <a:t>解析</a:t>
              </a:r>
              <a:r>
                <a:rPr lang="zh-CN" altLang="en-US" sz="1200" b="1" dirty="0">
                  <a:solidFill>
                    <a:srgbClr val="00B050"/>
                  </a:solidFill>
                </a:rPr>
                <a:t>法</a:t>
              </a:r>
              <a:r>
                <a:rPr lang="en-US" altLang="zh-CN" sz="1200" b="1" dirty="0">
                  <a:solidFill>
                    <a:srgbClr val="00B050"/>
                  </a:solidFill>
                </a:rPr>
                <a:t>+</a:t>
              </a:r>
              <a:r>
                <a:rPr lang="zh-CN" altLang="zh-CN" sz="1200" b="1" dirty="0">
                  <a:solidFill>
                    <a:srgbClr val="00B050"/>
                  </a:solidFill>
                </a:rPr>
                <a:t>球面几何法</a:t>
              </a:r>
              <a:r>
                <a:rPr lang="en-US" altLang="zh-CN" sz="1200" b="1" baseline="30000" dirty="0">
                  <a:solidFill>
                    <a:srgbClr val="00B050"/>
                  </a:solidFill>
                </a:rPr>
                <a:t>[1]</a:t>
              </a:r>
              <a:r>
                <a:rPr lang="zh-CN" altLang="en-US" sz="1200" b="1" dirty="0">
                  <a:solidFill>
                    <a:srgbClr val="00B050"/>
                  </a:solidFill>
                </a:rPr>
                <a:t>：</a:t>
              </a:r>
            </a:p>
          </p:txBody>
        </p:sp>
        <p:graphicFrame>
          <p:nvGraphicFramePr>
            <p:cNvPr id="17" name="对象 16"/>
            <p:cNvGraphicFramePr>
              <a:graphicFrameLocks noChangeAspect="1"/>
            </p:cNvGraphicFramePr>
            <p:nvPr>
              <p:extLst>
                <p:ext uri="{D42A27DB-BD31-4B8C-83A1-F6EECF244321}">
                  <p14:modId xmlns:p14="http://schemas.microsoft.com/office/powerpoint/2010/main" val="3986945110"/>
                </p:ext>
              </p:extLst>
            </p:nvPr>
          </p:nvGraphicFramePr>
          <p:xfrm>
            <a:off x="3403193" y="2061208"/>
            <a:ext cx="161925" cy="228600"/>
          </p:xfrm>
          <a:graphic>
            <a:graphicData uri="http://schemas.openxmlformats.org/presentationml/2006/ole">
              <mc:AlternateContent xmlns:mc="http://schemas.openxmlformats.org/markup-compatibility/2006">
                <mc:Choice xmlns:v="urn:schemas-microsoft-com:vml" Requires="v">
                  <p:oleObj spid="_x0000_s37496" r:id="rId15" imgW="152532" imgH="228799" progId="Equation.DSMT4">
                    <p:embed/>
                  </p:oleObj>
                </mc:Choice>
                <mc:Fallback>
                  <p:oleObj r:id="rId15" imgW="152532" imgH="228799" progId="Equation.DSMT4">
                    <p:embed/>
                    <p:pic>
                      <p:nvPicPr>
                        <p:cNvPr id="44" name="对象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3193" y="2061208"/>
                          <a:ext cx="161925"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右箭头 17"/>
            <p:cNvSpPr/>
            <p:nvPr/>
          </p:nvSpPr>
          <p:spPr>
            <a:xfrm>
              <a:off x="3611712" y="2078910"/>
              <a:ext cx="101679" cy="184666"/>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200"/>
            </a:p>
          </p:txBody>
        </p:sp>
        <p:graphicFrame>
          <p:nvGraphicFramePr>
            <p:cNvPr id="19" name="对象 18"/>
            <p:cNvGraphicFramePr>
              <a:graphicFrameLocks noChangeAspect="1"/>
            </p:cNvGraphicFramePr>
            <p:nvPr>
              <p:extLst>
                <p:ext uri="{D42A27DB-BD31-4B8C-83A1-F6EECF244321}">
                  <p14:modId xmlns:p14="http://schemas.microsoft.com/office/powerpoint/2010/main" val="2395708700"/>
                </p:ext>
              </p:extLst>
            </p:nvPr>
          </p:nvGraphicFramePr>
          <p:xfrm>
            <a:off x="4319318" y="2068027"/>
            <a:ext cx="171450" cy="228600"/>
          </p:xfrm>
          <a:graphic>
            <a:graphicData uri="http://schemas.openxmlformats.org/presentationml/2006/ole">
              <mc:AlternateContent xmlns:mc="http://schemas.openxmlformats.org/markup-compatibility/2006">
                <mc:Choice xmlns:v="urn:schemas-microsoft-com:vml" Requires="v">
                  <p:oleObj spid="_x0000_s37497" r:id="rId16" imgW="165172" imgH="228699" progId="Equation.DSMT4">
                    <p:embed/>
                  </p:oleObj>
                </mc:Choice>
                <mc:Fallback>
                  <p:oleObj r:id="rId16" imgW="165172" imgH="228699" progId="Equation.DSMT4">
                    <p:embed/>
                    <p:pic>
                      <p:nvPicPr>
                        <p:cNvPr id="46" name="对象 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19318" y="2068027"/>
                          <a:ext cx="17145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右箭头 19"/>
            <p:cNvSpPr/>
            <p:nvPr/>
          </p:nvSpPr>
          <p:spPr>
            <a:xfrm>
              <a:off x="3920184" y="2092680"/>
              <a:ext cx="101679" cy="184666"/>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200"/>
            </a:p>
          </p:txBody>
        </p:sp>
        <p:graphicFrame>
          <p:nvGraphicFramePr>
            <p:cNvPr id="21" name="对象 20"/>
            <p:cNvGraphicFramePr>
              <a:graphicFrameLocks noChangeAspect="1"/>
            </p:cNvGraphicFramePr>
            <p:nvPr>
              <p:extLst>
                <p:ext uri="{D42A27DB-BD31-4B8C-83A1-F6EECF244321}">
                  <p14:modId xmlns:p14="http://schemas.microsoft.com/office/powerpoint/2010/main" val="256213458"/>
                </p:ext>
              </p:extLst>
            </p:nvPr>
          </p:nvGraphicFramePr>
          <p:xfrm>
            <a:off x="4616772" y="2034976"/>
            <a:ext cx="171450" cy="228600"/>
          </p:xfrm>
          <a:graphic>
            <a:graphicData uri="http://schemas.openxmlformats.org/presentationml/2006/ole">
              <mc:AlternateContent xmlns:mc="http://schemas.openxmlformats.org/markup-compatibility/2006">
                <mc:Choice xmlns:v="urn:schemas-microsoft-com:vml" Requires="v">
                  <p:oleObj spid="_x0000_s37498" r:id="rId17" imgW="165172" imgH="228699" progId="Equation.DSMT4">
                    <p:embed/>
                  </p:oleObj>
                </mc:Choice>
                <mc:Fallback>
                  <p:oleObj r:id="rId17" imgW="165172" imgH="228699" progId="Equation.DSMT4">
                    <p:embed/>
                    <p:pic>
                      <p:nvPicPr>
                        <p:cNvPr id="48" name="对象 4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16772" y="2034976"/>
                          <a:ext cx="17145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右箭头 21"/>
            <p:cNvSpPr/>
            <p:nvPr/>
          </p:nvSpPr>
          <p:spPr>
            <a:xfrm>
              <a:off x="4206622" y="2092680"/>
              <a:ext cx="101679" cy="184666"/>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200"/>
            </a:p>
          </p:txBody>
        </p:sp>
        <p:graphicFrame>
          <p:nvGraphicFramePr>
            <p:cNvPr id="23" name="对象 22"/>
            <p:cNvGraphicFramePr>
              <a:graphicFrameLocks noChangeAspect="1"/>
            </p:cNvGraphicFramePr>
            <p:nvPr>
              <p:extLst>
                <p:ext uri="{D42A27DB-BD31-4B8C-83A1-F6EECF244321}">
                  <p14:modId xmlns:p14="http://schemas.microsoft.com/office/powerpoint/2010/main" val="3429710574"/>
                </p:ext>
              </p:extLst>
            </p:nvPr>
          </p:nvGraphicFramePr>
          <p:xfrm>
            <a:off x="4915192" y="2056943"/>
            <a:ext cx="171450" cy="228600"/>
          </p:xfrm>
          <a:graphic>
            <a:graphicData uri="http://schemas.openxmlformats.org/presentationml/2006/ole">
              <mc:AlternateContent xmlns:mc="http://schemas.openxmlformats.org/markup-compatibility/2006">
                <mc:Choice xmlns:v="urn:schemas-microsoft-com:vml" Requires="v">
                  <p:oleObj spid="_x0000_s37499" r:id="rId18" imgW="165172" imgH="228699" progId="Equation.DSMT4">
                    <p:embed/>
                  </p:oleObj>
                </mc:Choice>
                <mc:Fallback>
                  <p:oleObj r:id="rId18" imgW="165172" imgH="228699" progId="Equation.DSMT4">
                    <p:embed/>
                    <p:pic>
                      <p:nvPicPr>
                        <p:cNvPr id="50" name="对象 4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15192" y="2056943"/>
                          <a:ext cx="17145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右箭头 23"/>
            <p:cNvSpPr/>
            <p:nvPr/>
          </p:nvSpPr>
          <p:spPr>
            <a:xfrm>
              <a:off x="4515093" y="2078910"/>
              <a:ext cx="101679" cy="184666"/>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200"/>
            </a:p>
          </p:txBody>
        </p:sp>
        <p:graphicFrame>
          <p:nvGraphicFramePr>
            <p:cNvPr id="25" name="对象 24"/>
            <p:cNvGraphicFramePr>
              <a:graphicFrameLocks noChangeAspect="1"/>
            </p:cNvGraphicFramePr>
            <p:nvPr>
              <p:extLst>
                <p:ext uri="{D42A27DB-BD31-4B8C-83A1-F6EECF244321}">
                  <p14:modId xmlns:p14="http://schemas.microsoft.com/office/powerpoint/2010/main" val="3558752787"/>
                </p:ext>
              </p:extLst>
            </p:nvPr>
          </p:nvGraphicFramePr>
          <p:xfrm>
            <a:off x="3716177" y="2047893"/>
            <a:ext cx="171450" cy="228600"/>
          </p:xfrm>
          <a:graphic>
            <a:graphicData uri="http://schemas.openxmlformats.org/presentationml/2006/ole">
              <mc:AlternateContent xmlns:mc="http://schemas.openxmlformats.org/markup-compatibility/2006">
                <mc:Choice xmlns:v="urn:schemas-microsoft-com:vml" Requires="v">
                  <p:oleObj spid="_x0000_s37500" r:id="rId19" imgW="165172" imgH="228699" progId="Equation.DSMT4">
                    <p:embed/>
                  </p:oleObj>
                </mc:Choice>
                <mc:Fallback>
                  <p:oleObj r:id="rId19" imgW="165172" imgH="228699" progId="Equation.DSMT4">
                    <p:embed/>
                    <p:pic>
                      <p:nvPicPr>
                        <p:cNvPr id="52" name="对象 5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16177" y="2047893"/>
                          <a:ext cx="17145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右箭头 25"/>
            <p:cNvSpPr/>
            <p:nvPr/>
          </p:nvSpPr>
          <p:spPr>
            <a:xfrm>
              <a:off x="4813513" y="2092680"/>
              <a:ext cx="101679" cy="184666"/>
            </a:xfrm>
            <a:prstGeom prst="righ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200"/>
            </a:p>
          </p:txBody>
        </p:sp>
        <p:graphicFrame>
          <p:nvGraphicFramePr>
            <p:cNvPr id="27" name="对象 26"/>
            <p:cNvGraphicFramePr>
              <a:graphicFrameLocks noChangeAspect="1"/>
            </p:cNvGraphicFramePr>
            <p:nvPr>
              <p:extLst>
                <p:ext uri="{D42A27DB-BD31-4B8C-83A1-F6EECF244321}">
                  <p14:modId xmlns:p14="http://schemas.microsoft.com/office/powerpoint/2010/main" val="205885132"/>
                </p:ext>
              </p:extLst>
            </p:nvPr>
          </p:nvGraphicFramePr>
          <p:xfrm>
            <a:off x="4021863" y="2078910"/>
            <a:ext cx="171450" cy="228600"/>
          </p:xfrm>
          <a:graphic>
            <a:graphicData uri="http://schemas.openxmlformats.org/presentationml/2006/ole">
              <mc:AlternateContent xmlns:mc="http://schemas.openxmlformats.org/markup-compatibility/2006">
                <mc:Choice xmlns:v="urn:schemas-microsoft-com:vml" Requires="v">
                  <p:oleObj spid="_x0000_s37501" r:id="rId20" imgW="165172" imgH="228699" progId="Equation.DSMT4">
                    <p:embed/>
                  </p:oleObj>
                </mc:Choice>
                <mc:Fallback>
                  <p:oleObj r:id="rId20" imgW="165172" imgH="228699" progId="Equation.DSMT4">
                    <p:embed/>
                    <p:pic>
                      <p:nvPicPr>
                        <p:cNvPr id="54" name="对象 5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21863" y="2078910"/>
                          <a:ext cx="17145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8" name="图片 27"/>
            <p:cNvPicPr/>
            <p:nvPr/>
          </p:nvPicPr>
          <p:blipFill>
            <a:blip r:embed="rId21"/>
            <a:stretch>
              <a:fillRect/>
            </a:stretch>
          </p:blipFill>
          <p:spPr>
            <a:xfrm>
              <a:off x="6072560" y="1993216"/>
              <a:ext cx="2247265" cy="237490"/>
            </a:xfrm>
            <a:prstGeom prst="rect">
              <a:avLst/>
            </a:prstGeom>
          </p:spPr>
        </p:pic>
        <p:sp>
          <p:nvSpPr>
            <p:cNvPr id="29" name="矩形 28"/>
            <p:cNvSpPr/>
            <p:nvPr/>
          </p:nvSpPr>
          <p:spPr>
            <a:xfrm>
              <a:off x="5087691" y="1960165"/>
              <a:ext cx="1328477" cy="365533"/>
            </a:xfrm>
            <a:prstGeom prst="rect">
              <a:avLst/>
            </a:prstGeom>
          </p:spPr>
          <p:txBody>
            <a:bodyPr wrap="none">
              <a:spAutoFit/>
            </a:bodyPr>
            <a:lstStyle/>
            <a:p>
              <a:r>
                <a:rPr lang="zh-CN" altLang="en-US" sz="1200" dirty="0"/>
                <a:t>最多</a:t>
              </a:r>
              <a:r>
                <a:rPr lang="en-US" altLang="zh-CN" sz="1200" dirty="0"/>
                <a:t>8</a:t>
              </a:r>
              <a:r>
                <a:rPr lang="zh-CN" altLang="en-US" sz="1200" dirty="0"/>
                <a:t>组解：</a:t>
              </a:r>
            </a:p>
          </p:txBody>
        </p:sp>
        <p:pic>
          <p:nvPicPr>
            <p:cNvPr id="30" name="Picture 1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416219" y="2346859"/>
              <a:ext cx="5273675" cy="2609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 name="图片 30"/>
            <p:cNvPicPr/>
            <p:nvPr/>
          </p:nvPicPr>
          <p:blipFill>
            <a:blip r:embed="rId23"/>
            <a:stretch>
              <a:fillRect/>
            </a:stretch>
          </p:blipFill>
          <p:spPr>
            <a:xfrm>
              <a:off x="1357353" y="2372022"/>
              <a:ext cx="4971415" cy="351790"/>
            </a:xfrm>
            <a:prstGeom prst="rect">
              <a:avLst/>
            </a:prstGeom>
          </p:spPr>
        </p:pic>
        <p:pic>
          <p:nvPicPr>
            <p:cNvPr id="33" name="Picture 20"/>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1577721" y="3127280"/>
              <a:ext cx="3478636" cy="1620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 name="矩形 33"/>
            <p:cNvSpPr/>
            <p:nvPr/>
          </p:nvSpPr>
          <p:spPr>
            <a:xfrm>
              <a:off x="794096" y="4772043"/>
              <a:ext cx="3043989" cy="365533"/>
            </a:xfrm>
            <a:prstGeom prst="rect">
              <a:avLst/>
            </a:prstGeom>
          </p:spPr>
          <p:txBody>
            <a:bodyPr wrap="none">
              <a:spAutoFit/>
            </a:bodyPr>
            <a:lstStyle/>
            <a:p>
              <a:r>
                <a:rPr lang="zh-CN" altLang="en-US" sz="1200" b="1" dirty="0">
                  <a:solidFill>
                    <a:srgbClr val="00B050"/>
                  </a:solidFill>
                </a:rPr>
                <a:t>牛顿迭代法</a:t>
              </a:r>
              <a:r>
                <a:rPr lang="en-US" altLang="zh-CN" sz="1200" b="1" dirty="0">
                  <a:solidFill>
                    <a:srgbClr val="00B050"/>
                  </a:solidFill>
                </a:rPr>
                <a:t>(</a:t>
              </a:r>
              <a:r>
                <a:rPr lang="en-US" altLang="zh-CN" sz="1200" b="1" dirty="0" err="1">
                  <a:solidFill>
                    <a:srgbClr val="00B050"/>
                  </a:solidFill>
                </a:rPr>
                <a:t>jacobian</a:t>
              </a:r>
              <a:r>
                <a:rPr lang="zh-CN" altLang="en-US" sz="1200" b="1" dirty="0">
                  <a:solidFill>
                    <a:srgbClr val="00B050"/>
                  </a:solidFill>
                </a:rPr>
                <a:t>矩阵迭代</a:t>
              </a:r>
              <a:r>
                <a:rPr lang="en-US" altLang="zh-CN" sz="1200" b="1" dirty="0">
                  <a:solidFill>
                    <a:srgbClr val="00B050"/>
                  </a:solidFill>
                </a:rPr>
                <a:t>)</a:t>
              </a:r>
              <a:r>
                <a:rPr lang="zh-CN" altLang="en-US" sz="1200" b="1" dirty="0">
                  <a:solidFill>
                    <a:srgbClr val="00B050"/>
                  </a:solidFill>
                </a:rPr>
                <a:t>：</a:t>
              </a:r>
            </a:p>
          </p:txBody>
        </p:sp>
        <p:pic>
          <p:nvPicPr>
            <p:cNvPr id="35" name="Picture 2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673749" y="4074575"/>
              <a:ext cx="5273675"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38" name="Picture 3"/>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1277955" y="3421230"/>
            <a:ext cx="2526328" cy="1410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9" name="组合 38"/>
          <p:cNvGrpSpPr/>
          <p:nvPr/>
        </p:nvGrpSpPr>
        <p:grpSpPr>
          <a:xfrm>
            <a:off x="-236220" y="219075"/>
            <a:ext cx="5153660" cy="598805"/>
            <a:chOff x="-372" y="345"/>
            <a:chExt cx="8116" cy="943"/>
          </a:xfrm>
        </p:grpSpPr>
        <p:sp>
          <p:nvSpPr>
            <p:cNvPr id="40" name="矩形 39"/>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Examples for Aubo-i5</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41" name="文本框 40"/>
            <p:cNvSpPr txBox="1"/>
            <p:nvPr/>
          </p:nvSpPr>
          <p:spPr>
            <a:xfrm>
              <a:off x="443" y="363"/>
              <a:ext cx="7301" cy="628"/>
            </a:xfrm>
            <a:prstGeom prst="rect">
              <a:avLst/>
            </a:prstGeom>
            <a:noFill/>
          </p:spPr>
          <p:txBody>
            <a:bodyPr wrap="square" rtlCol="0" anchor="t">
              <a:spAutoFit/>
            </a:bodyPr>
            <a:lstStyle/>
            <a:p>
              <a:r>
                <a:rPr lang="en-US" altLang="zh-CN" sz="2000" b="1" dirty="0" smtClean="0">
                  <a:latin typeface="Arial" panose="020B0604020202020204" pitchFamily="34" charset="0"/>
                  <a:ea typeface="微软雅黑" panose="020B0503020204020204" charset="-122"/>
                  <a:sym typeface="+mn-ea"/>
                </a:rPr>
                <a:t>Aubo-i5</a:t>
              </a:r>
              <a:r>
                <a:rPr lang="zh-CN" altLang="en-US" sz="2000" b="1" dirty="0" smtClean="0">
                  <a:latin typeface="Arial" panose="020B0604020202020204" pitchFamily="34" charset="0"/>
                  <a:ea typeface="微软雅黑" panose="020B0503020204020204" charset="-122"/>
                  <a:sym typeface="+mn-ea"/>
                </a:rPr>
                <a:t>实例</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42" name="椭圆 41"/>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文本框 42"/>
          <p:cNvSpPr txBox="1"/>
          <p:nvPr/>
        </p:nvSpPr>
        <p:spPr>
          <a:xfrm>
            <a:off x="4290060" y="4486689"/>
            <a:ext cx="3906839" cy="338554"/>
          </a:xfrm>
          <a:prstGeom prst="rect">
            <a:avLst/>
          </a:prstGeom>
          <a:noFill/>
        </p:spPr>
        <p:txBody>
          <a:bodyPr wrap="none" rtlCol="0">
            <a:spAutoFit/>
          </a:bodyPr>
          <a:lstStyle/>
          <a:p>
            <a:r>
              <a:rPr lang="zh-CN" altLang="en-US" sz="1600" b="1" dirty="0" smtClean="0">
                <a:solidFill>
                  <a:srgbClr val="7030A0"/>
                </a:solidFill>
              </a:rPr>
              <a:t>请根据讲义及实验代码分析各算法优缺点</a:t>
            </a:r>
            <a:endParaRPr lang="zh-CN" altLang="en-US" sz="1600" b="1" dirty="0">
              <a:solidFill>
                <a:srgbClr val="7030A0"/>
              </a:solidFill>
            </a:endParaRPr>
          </a:p>
        </p:txBody>
      </p:sp>
      <p:sp>
        <p:nvSpPr>
          <p:cNvPr id="45" name="矩形 44"/>
          <p:cNvSpPr/>
          <p:nvPr/>
        </p:nvSpPr>
        <p:spPr>
          <a:xfrm>
            <a:off x="3068877" y="4819771"/>
            <a:ext cx="5842682" cy="276999"/>
          </a:xfrm>
          <a:prstGeom prst="rect">
            <a:avLst/>
          </a:prstGeom>
        </p:spPr>
        <p:txBody>
          <a:bodyPr wrap="square">
            <a:spAutoFit/>
          </a:bodyPr>
          <a:lstStyle/>
          <a:p>
            <a:r>
              <a:rPr lang="zh-CN" altLang="en-US" sz="1200" dirty="0"/>
              <a:t>https://github.com/mhuasong/Basics-of-Robotics-Theory-and-Technology/tree/main/ch3</a:t>
            </a:r>
          </a:p>
        </p:txBody>
      </p:sp>
    </p:spTree>
    <p:extLst>
      <p:ext uri="{BB962C8B-B14F-4D97-AF65-F5344CB8AC3E}">
        <p14:creationId xmlns:p14="http://schemas.microsoft.com/office/powerpoint/2010/main" val="307543584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1477328"/>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通过</a:t>
            </a:r>
            <a:r>
              <a:rPr lang="zh-CN" altLang="en-US" sz="1200" dirty="0" smtClean="0">
                <a:latin typeface="Arial" panose="020B0604020202020204" pitchFamily="34" charset="0"/>
                <a:ea typeface="微软雅黑" panose="020B0503020204020204" charset="-122"/>
                <a:sym typeface="+mn-ea"/>
              </a:rPr>
              <a:t>雅可比矩阵</a:t>
            </a:r>
            <a:r>
              <a:rPr lang="zh-CN" altLang="en-US" sz="1200" dirty="0">
                <a:latin typeface="Arial" panose="020B0604020202020204" pitchFamily="34" charset="0"/>
                <a:ea typeface="微软雅黑" panose="020B0503020204020204" charset="-122"/>
                <a:sym typeface="+mn-ea"/>
              </a:rPr>
              <a:t>，</a:t>
            </a:r>
            <a:r>
              <a:rPr lang="zh-CN" altLang="en-US" sz="1200" dirty="0" smtClean="0">
                <a:latin typeface="Arial" panose="020B0604020202020204" pitchFamily="34" charset="0"/>
                <a:ea typeface="微软雅黑" panose="020B0503020204020204" charset="-122"/>
                <a:sym typeface="+mn-ea"/>
              </a:rPr>
              <a:t>给定</a:t>
            </a:r>
            <a:r>
              <a:rPr lang="zh-CN" altLang="en-US" sz="1200" dirty="0">
                <a:latin typeface="Arial" panose="020B0604020202020204" pitchFamily="34" charset="0"/>
                <a:ea typeface="微软雅黑" panose="020B0503020204020204" charset="-122"/>
                <a:sym typeface="+mn-ea"/>
              </a:rPr>
              <a:t>各个关节的速度（角速度、线速度</a:t>
            </a:r>
            <a:r>
              <a:rPr lang="zh-CN" altLang="en-US" sz="1200" dirty="0" smtClean="0">
                <a:latin typeface="Arial" panose="020B0604020202020204" pitchFamily="34" charset="0"/>
                <a:ea typeface="微软雅黑" panose="020B0503020204020204" charset="-122"/>
                <a:sym typeface="+mn-ea"/>
              </a:rPr>
              <a:t>），</a:t>
            </a:r>
            <a:r>
              <a:rPr lang="zh-CN" altLang="en-US" sz="1200" dirty="0">
                <a:latin typeface="Arial" panose="020B0604020202020204" pitchFamily="34" charset="0"/>
                <a:ea typeface="微软雅黑" panose="020B0503020204020204" charset="-122"/>
                <a:sym typeface="+mn-ea"/>
              </a:rPr>
              <a:t>可</a:t>
            </a:r>
            <a:r>
              <a:rPr lang="zh-CN" altLang="en-US" sz="1200" dirty="0" smtClean="0">
                <a:latin typeface="Arial" panose="020B0604020202020204" pitchFamily="34" charset="0"/>
                <a:ea typeface="微软雅黑" panose="020B0503020204020204" charset="-122"/>
                <a:sym typeface="+mn-ea"/>
              </a:rPr>
              <a:t>以求得末端</a:t>
            </a:r>
            <a:r>
              <a:rPr lang="zh-CN" altLang="en-US" sz="1200" dirty="0">
                <a:latin typeface="Arial" panose="020B0604020202020204" pitchFamily="34" charset="0"/>
                <a:ea typeface="微软雅黑" panose="020B0503020204020204" charset="-122"/>
                <a:sym typeface="+mn-ea"/>
              </a:rPr>
              <a:t>速度；反过来，基于末端速度，我们也可以得到各关节的速度。同理，假设机器人处于静平衡状态，各关节力矩和末端力矩之间的关系也可通过雅可比矩阵进行计算。</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7" name="文本框 6"/>
          <p:cNvSpPr txBox="1"/>
          <p:nvPr/>
        </p:nvSpPr>
        <p:spPr>
          <a:xfrm>
            <a:off x="4319270" y="1951355"/>
            <a:ext cx="3335655" cy="521970"/>
          </a:xfrm>
          <a:prstGeom prst="rect">
            <a:avLst/>
          </a:prstGeom>
          <a:noFill/>
        </p:spPr>
        <p:txBody>
          <a:bodyPr wrap="square" rtlCol="0" anchor="t">
            <a:spAutoFit/>
          </a:bodyPr>
          <a:lstStyle/>
          <a:p>
            <a:r>
              <a:rPr lang="zh-CN" altLang="en-US" sz="2800" b="1" dirty="0">
                <a:latin typeface="Arial" panose="020B0604020202020204" pitchFamily="34" charset="0"/>
                <a:ea typeface="微软雅黑" panose="020B0503020204020204" charset="-122"/>
                <a:sym typeface="+mn-ea"/>
              </a:rPr>
              <a:t>速度与静力学</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08</a:t>
            </a:r>
            <a:endParaRPr lang="en-US" altLang="zh-CN" sz="6600" b="1" dirty="0">
              <a:solidFill>
                <a:schemeClr val="bg1"/>
              </a:solidFill>
              <a:latin typeface="微软雅黑" panose="020B0503020204020204" charset="-122"/>
              <a:ea typeface="微软雅黑" panose="020B0503020204020204" charset="-122"/>
              <a:sym typeface="+mn-ea"/>
            </a:endParaRPr>
          </a:p>
        </p:txBody>
      </p:sp>
    </p:spTree>
    <p:extLst>
      <p:ext uri="{BB962C8B-B14F-4D97-AF65-F5344CB8AC3E}">
        <p14:creationId xmlns:p14="http://schemas.microsoft.com/office/powerpoint/2010/main" val="84614657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a:off x="-236220" y="219075"/>
            <a:ext cx="5153660" cy="598805"/>
            <a:chOff x="-372" y="345"/>
            <a:chExt cx="8116" cy="943"/>
          </a:xfrm>
        </p:grpSpPr>
        <p:sp>
          <p:nvSpPr>
            <p:cNvPr id="40" name="矩形 39"/>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Velocity Kinematics and Statics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41" name="文本框 40"/>
            <p:cNvSpPr txBox="1"/>
            <p:nvPr/>
          </p:nvSpPr>
          <p:spPr>
            <a:xfrm>
              <a:off x="443" y="363"/>
              <a:ext cx="7301"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速度与静力学</a:t>
              </a:r>
              <a:endParaRPr lang="en-US" altLang="zh-CN" sz="2000" b="1" dirty="0" smtClean="0">
                <a:latin typeface="Arial" panose="020B0604020202020204" pitchFamily="34" charset="0"/>
                <a:ea typeface="微软雅黑" panose="020B0503020204020204" charset="-122"/>
                <a:sym typeface="+mn-ea"/>
              </a:endParaRPr>
            </a:p>
          </p:txBody>
        </p:sp>
        <p:sp>
          <p:nvSpPr>
            <p:cNvPr id="42" name="椭圆 41"/>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32" name="矩形 31"/>
              <p:cNvSpPr/>
              <p:nvPr/>
            </p:nvSpPr>
            <p:spPr>
              <a:xfrm>
                <a:off x="1540181" y="1647918"/>
                <a:ext cx="1104661" cy="3500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𝜈</m:t>
                      </m:r>
                      <m:r>
                        <a:rPr lang="zh-CN" altLang="en-US" sz="1600" i="0">
                          <a:latin typeface="Cambria Math" panose="02040503050406030204" pitchFamily="18" charset="0"/>
                        </a:rPr>
                        <m:t>=</m:t>
                      </m:r>
                      <m:r>
                        <a:rPr lang="zh-CN" altLang="en-US" sz="1600" i="1">
                          <a:latin typeface="Cambria Math" panose="02040503050406030204" pitchFamily="18" charset="0"/>
                        </a:rPr>
                        <m:t>𝐽</m:t>
                      </m:r>
                      <m:r>
                        <a:rPr lang="zh-CN" altLang="en-US" sz="1600" i="0">
                          <a:latin typeface="Cambria Math" panose="02040503050406030204" pitchFamily="18" charset="0"/>
                        </a:rPr>
                        <m:t>(</m:t>
                      </m:r>
                      <m:r>
                        <a:rPr lang="zh-CN" altLang="en-US" sz="1600" i="1">
                          <a:latin typeface="Cambria Math" panose="02040503050406030204" pitchFamily="18" charset="0"/>
                        </a:rPr>
                        <m:t>𝜃</m:t>
                      </m:r>
                      <m:r>
                        <a:rPr lang="zh-CN" altLang="en-US" sz="1600" i="0">
                          <a:latin typeface="Cambria Math" panose="02040503050406030204" pitchFamily="18" charset="0"/>
                        </a:rPr>
                        <m:t>)</m:t>
                      </m:r>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𝜃</m:t>
                          </m:r>
                        </m:e>
                      </m:acc>
                    </m:oMath>
                  </m:oMathPara>
                </a14:m>
                <a:endParaRPr lang="zh-CN" altLang="en-US" sz="1600" dirty="0"/>
              </a:p>
            </p:txBody>
          </p:sp>
        </mc:Choice>
        <mc:Fallback xmlns="">
          <p:sp>
            <p:nvSpPr>
              <p:cNvPr id="32" name="矩形 31"/>
              <p:cNvSpPr>
                <a:spLocks noRot="1" noChangeAspect="1" noMove="1" noResize="1" noEditPoints="1" noAdjustHandles="1" noChangeArrowheads="1" noChangeShapeType="1" noTextEdit="1"/>
              </p:cNvSpPr>
              <p:nvPr/>
            </p:nvSpPr>
            <p:spPr>
              <a:xfrm>
                <a:off x="1540181" y="1647918"/>
                <a:ext cx="1104661" cy="350032"/>
              </a:xfrm>
              <a:prstGeom prst="rect">
                <a:avLst/>
              </a:prstGeom>
              <a:blipFill>
                <a:blip r:embed="rId3"/>
                <a:stretch>
                  <a:fillRect r="-1105" b="-86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矩形 35"/>
              <p:cNvSpPr/>
              <p:nvPr/>
            </p:nvSpPr>
            <p:spPr>
              <a:xfrm>
                <a:off x="1259632" y="2079966"/>
                <a:ext cx="1781944" cy="767261"/>
              </a:xfrm>
              <a:prstGeom prst="rect">
                <a:avLst/>
              </a:prstGeom>
            </p:spPr>
            <p:txBody>
              <a:bodyPr wrap="square">
                <a:spAutoFit/>
              </a:bodyPr>
              <a:lstStyle/>
              <a:p>
                <a:pPr>
                  <a:spcBef>
                    <a:spcPts val="600"/>
                  </a:spcBef>
                  <a:spcAft>
                    <a:spcPts val="600"/>
                  </a:spcAft>
                </a:pPr>
                <a14:m>
                  <m:oMathPara xmlns:m="http://schemas.openxmlformats.org/officeDocument/2006/math">
                    <m:oMathParaPr>
                      <m:jc m:val="centerGroup"/>
                    </m:oMathParaPr>
                    <m:oMath xmlns:m="http://schemas.openxmlformats.org/officeDocument/2006/math">
                      <m:d>
                        <m:dPr>
                          <m:begChr m:val="["/>
                          <m:endChr m:val="]"/>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600" i="1">
                                  <a:latin typeface="Cambria Math" panose="02040503050406030204" pitchFamily="18" charset="0"/>
                                  <a:cs typeface="宋体" panose="02010600030101010101" pitchFamily="2" charset="-122"/>
                                </a:rPr>
                                <m:t>𝜈</m:t>
                              </m:r>
                            </m:e>
                            <m:sub>
                              <m:r>
                                <a:rPr lang="en-US" altLang="zh-CN" sz="1600" i="1">
                                  <a:latin typeface="Cambria Math" panose="02040503050406030204" pitchFamily="18" charset="0"/>
                                  <a:cs typeface="宋体" panose="02010600030101010101" pitchFamily="2" charset="-122"/>
                                </a:rPr>
                                <m:t>𝑠</m:t>
                              </m:r>
                            </m:sub>
                          </m:sSub>
                        </m:e>
                      </m:d>
                      <m:r>
                        <a:rPr lang="en-US" altLang="zh-CN" sz="1600" i="1">
                          <a:latin typeface="Cambria Math" panose="02040503050406030204" pitchFamily="18" charset="0"/>
                          <a:cs typeface="宋体" panose="02010600030101010101" pitchFamily="2" charset="-122"/>
                        </a:rPr>
                        <m:t>=</m:t>
                      </m:r>
                      <m:acc>
                        <m:accPr>
                          <m:chr m:val="̇"/>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accPr>
                        <m:e>
                          <m:sSub>
                            <m:sSub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600" i="1">
                                  <a:latin typeface="Cambria Math" panose="02040503050406030204" pitchFamily="18" charset="0"/>
                                  <a:cs typeface="宋体" panose="02010600030101010101" pitchFamily="2" charset="-122"/>
                                </a:rPr>
                                <m:t>𝑇</m:t>
                              </m:r>
                            </m:e>
                            <m:sub>
                              <m:r>
                                <a:rPr lang="en-US" altLang="zh-CN" sz="1600" i="1">
                                  <a:latin typeface="Cambria Math" panose="02040503050406030204" pitchFamily="18" charset="0"/>
                                  <a:cs typeface="宋体" panose="02010600030101010101" pitchFamily="2" charset="-122"/>
                                </a:rPr>
                                <m:t>𝑠𝑏</m:t>
                              </m:r>
                            </m:sub>
                          </m:sSub>
                        </m:e>
                      </m:acc>
                      <m:sSup>
                        <m:sSup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sSupPr>
                        <m:e>
                          <m:sSub>
                            <m:sSub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600" i="1">
                                  <a:latin typeface="Cambria Math" panose="02040503050406030204" pitchFamily="18" charset="0"/>
                                  <a:cs typeface="宋体" panose="02010600030101010101" pitchFamily="2" charset="-122"/>
                                </a:rPr>
                                <m:t>𝑇</m:t>
                              </m:r>
                            </m:e>
                            <m:sub>
                              <m:r>
                                <a:rPr lang="en-US" altLang="zh-CN" sz="1600" i="1">
                                  <a:latin typeface="Cambria Math" panose="02040503050406030204" pitchFamily="18" charset="0"/>
                                  <a:cs typeface="宋体" panose="02010600030101010101" pitchFamily="2" charset="-122"/>
                                </a:rPr>
                                <m:t>𝑠𝑏</m:t>
                              </m:r>
                            </m:sub>
                          </m:sSub>
                        </m:e>
                        <m:sup>
                          <m:r>
                            <a:rPr lang="zh-CN" altLang="en-US" sz="1600" i="1">
                              <a:latin typeface="Cambria Math" panose="02040503050406030204" pitchFamily="18" charset="0"/>
                              <a:ea typeface="微软雅黑" panose="020B0503020204020204" pitchFamily="34" charset="-122"/>
                              <a:cs typeface="微软雅黑" panose="020B0503020204020204" pitchFamily="34" charset="-122"/>
                            </a:rPr>
                            <m:t>−</m:t>
                          </m:r>
                          <m:r>
                            <a:rPr lang="en-US" altLang="zh-CN" sz="1600" i="1">
                              <a:latin typeface="Cambria Math" panose="02040503050406030204" pitchFamily="18" charset="0"/>
                              <a:cs typeface="宋体" panose="02010600030101010101" pitchFamily="2" charset="-122"/>
                            </a:rPr>
                            <m:t>1</m:t>
                          </m:r>
                        </m:sup>
                      </m:sSup>
                    </m:oMath>
                  </m:oMathPara>
                </a14:m>
                <a:endParaRPr lang="zh-CN" altLang="zh-CN" sz="1600" dirty="0">
                  <a:latin typeface="宋体" panose="02010600030101010101" pitchFamily="2" charset="-122"/>
                  <a:cs typeface="宋体" panose="02010600030101010101" pitchFamily="2" charset="-122"/>
                </a:endParaRPr>
              </a:p>
              <a:p>
                <a:pPr>
                  <a:spcBef>
                    <a:spcPts val="600"/>
                  </a:spcBef>
                  <a:spcAft>
                    <a:spcPts val="600"/>
                  </a:spcAft>
                </a:pPr>
                <a14:m>
                  <m:oMathPara xmlns:m="http://schemas.openxmlformats.org/officeDocument/2006/math">
                    <m:oMathParaPr>
                      <m:jc m:val="centerGroup"/>
                    </m:oMathParaPr>
                    <m:oMath xmlns:m="http://schemas.openxmlformats.org/officeDocument/2006/math">
                      <m:d>
                        <m:dPr>
                          <m:begChr m:val="["/>
                          <m:endChr m:val="]"/>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dPr>
                        <m:e>
                          <m:sSub>
                            <m:sSub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600" i="1">
                                  <a:latin typeface="Cambria Math" panose="02040503050406030204" pitchFamily="18" charset="0"/>
                                  <a:cs typeface="宋体" panose="02010600030101010101" pitchFamily="2" charset="-122"/>
                                </a:rPr>
                                <m:t>𝜈</m:t>
                              </m:r>
                            </m:e>
                            <m:sub>
                              <m:r>
                                <a:rPr lang="en-US" altLang="zh-CN" sz="1600" i="1">
                                  <a:latin typeface="Cambria Math" panose="02040503050406030204" pitchFamily="18" charset="0"/>
                                  <a:cs typeface="宋体" panose="02010600030101010101" pitchFamily="2" charset="-122"/>
                                </a:rPr>
                                <m:t>𝑏</m:t>
                              </m:r>
                            </m:sub>
                          </m:sSub>
                        </m:e>
                      </m:d>
                      <m:r>
                        <a:rPr lang="en-US" altLang="zh-CN" sz="1600" i="1">
                          <a:latin typeface="Cambria Math" panose="02040503050406030204" pitchFamily="18" charset="0"/>
                          <a:cs typeface="宋体" panose="02010600030101010101" pitchFamily="2" charset="-122"/>
                        </a:rPr>
                        <m:t>=</m:t>
                      </m:r>
                      <m:sSup>
                        <m:sSup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sSupPr>
                        <m:e>
                          <m:sSub>
                            <m:sSub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600" i="1">
                                  <a:latin typeface="Cambria Math" panose="02040503050406030204" pitchFamily="18" charset="0"/>
                                  <a:cs typeface="宋体" panose="02010600030101010101" pitchFamily="2" charset="-122"/>
                                </a:rPr>
                                <m:t>𝑇</m:t>
                              </m:r>
                            </m:e>
                            <m:sub>
                              <m:r>
                                <a:rPr lang="en-US" altLang="zh-CN" sz="1600" i="1">
                                  <a:latin typeface="Cambria Math" panose="02040503050406030204" pitchFamily="18" charset="0"/>
                                  <a:cs typeface="宋体" panose="02010600030101010101" pitchFamily="2" charset="-122"/>
                                </a:rPr>
                                <m:t>𝑠𝑏</m:t>
                              </m:r>
                            </m:sub>
                          </m:sSub>
                        </m:e>
                        <m:sup>
                          <m:r>
                            <a:rPr lang="zh-CN" altLang="en-US" sz="1600" i="1">
                              <a:latin typeface="Cambria Math" panose="02040503050406030204" pitchFamily="18" charset="0"/>
                              <a:ea typeface="微软雅黑" panose="020B0503020204020204" pitchFamily="34" charset="-122"/>
                              <a:cs typeface="微软雅黑" panose="020B0503020204020204" pitchFamily="34" charset="-122"/>
                            </a:rPr>
                            <m:t>−</m:t>
                          </m:r>
                          <m:r>
                            <a:rPr lang="en-US" altLang="zh-CN" sz="1600" i="1">
                              <a:latin typeface="Cambria Math" panose="02040503050406030204" pitchFamily="18" charset="0"/>
                              <a:cs typeface="宋体" panose="02010600030101010101" pitchFamily="2" charset="-122"/>
                            </a:rPr>
                            <m:t>1</m:t>
                          </m:r>
                        </m:sup>
                      </m:sSup>
                      <m:acc>
                        <m:accPr>
                          <m:chr m:val="̇"/>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accPr>
                        <m:e>
                          <m:sSub>
                            <m:sSub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600" i="1">
                                  <a:latin typeface="Cambria Math" panose="02040503050406030204" pitchFamily="18" charset="0"/>
                                  <a:cs typeface="宋体" panose="02010600030101010101" pitchFamily="2" charset="-122"/>
                                </a:rPr>
                                <m:t>𝑇</m:t>
                              </m:r>
                            </m:e>
                            <m:sub>
                              <m:r>
                                <a:rPr lang="en-US" altLang="zh-CN" sz="1600" i="1">
                                  <a:latin typeface="Cambria Math" panose="02040503050406030204" pitchFamily="18" charset="0"/>
                                  <a:cs typeface="宋体" panose="02010600030101010101" pitchFamily="2" charset="-122"/>
                                </a:rPr>
                                <m:t>𝑠𝑏</m:t>
                              </m:r>
                            </m:sub>
                          </m:sSub>
                        </m:e>
                      </m:acc>
                    </m:oMath>
                  </m:oMathPara>
                </a14:m>
                <a:endParaRPr lang="zh-CN" altLang="zh-CN" sz="1600" dirty="0">
                  <a:latin typeface="宋体" panose="02010600030101010101" pitchFamily="2" charset="-122"/>
                  <a:cs typeface="宋体" panose="02010600030101010101" pitchFamily="2" charset="-122"/>
                </a:endParaRPr>
              </a:p>
            </p:txBody>
          </p:sp>
        </mc:Choice>
        <mc:Fallback xmlns="">
          <p:sp>
            <p:nvSpPr>
              <p:cNvPr id="36" name="矩形 35"/>
              <p:cNvSpPr>
                <a:spLocks noRot="1" noChangeAspect="1" noMove="1" noResize="1" noEditPoints="1" noAdjustHandles="1" noChangeArrowheads="1" noChangeShapeType="1" noTextEdit="1"/>
              </p:cNvSpPr>
              <p:nvPr/>
            </p:nvSpPr>
            <p:spPr>
              <a:xfrm>
                <a:off x="1259632" y="2079966"/>
                <a:ext cx="1781944" cy="767261"/>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矩形 43"/>
              <p:cNvSpPr/>
              <p:nvPr/>
            </p:nvSpPr>
            <p:spPr>
              <a:xfrm>
                <a:off x="1425598" y="2897119"/>
                <a:ext cx="1308756" cy="3500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𝜃</m:t>
                          </m:r>
                        </m:e>
                      </m:acc>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𝐽</m:t>
                          </m:r>
                        </m:e>
                        <m:sup>
                          <m:r>
                            <a:rPr lang="zh-CN" altLang="en-US" sz="1600" i="0">
                              <a:latin typeface="Cambria Math" panose="02040503050406030204" pitchFamily="18" charset="0"/>
                            </a:rPr>
                            <m:t>−1</m:t>
                          </m:r>
                        </m:sup>
                      </m:sSup>
                      <m:r>
                        <a:rPr lang="zh-CN" altLang="en-US" sz="1600" i="0">
                          <a:latin typeface="Cambria Math" panose="02040503050406030204" pitchFamily="18" charset="0"/>
                        </a:rPr>
                        <m:t>(</m:t>
                      </m:r>
                      <m:r>
                        <a:rPr lang="zh-CN" altLang="en-US" sz="1600" i="1">
                          <a:latin typeface="Cambria Math" panose="02040503050406030204" pitchFamily="18" charset="0"/>
                        </a:rPr>
                        <m:t>𝜃</m:t>
                      </m:r>
                      <m:r>
                        <a:rPr lang="zh-CN" altLang="en-US" sz="1600" i="0">
                          <a:latin typeface="Cambria Math" panose="02040503050406030204" pitchFamily="18" charset="0"/>
                        </a:rPr>
                        <m:t>)</m:t>
                      </m:r>
                      <m:r>
                        <a:rPr lang="zh-CN" altLang="en-US" sz="1600" i="1">
                          <a:latin typeface="Cambria Math" panose="02040503050406030204" pitchFamily="18" charset="0"/>
                        </a:rPr>
                        <m:t>𝜈</m:t>
                      </m:r>
                    </m:oMath>
                  </m:oMathPara>
                </a14:m>
                <a:endParaRPr lang="zh-CN" altLang="en-US" sz="1600" dirty="0"/>
              </a:p>
            </p:txBody>
          </p:sp>
        </mc:Choice>
        <mc:Fallback xmlns="">
          <p:sp>
            <p:nvSpPr>
              <p:cNvPr id="44" name="矩形 43"/>
              <p:cNvSpPr>
                <a:spLocks noRot="1" noChangeAspect="1" noMove="1" noResize="1" noEditPoints="1" noAdjustHandles="1" noChangeArrowheads="1" noChangeShapeType="1" noTextEdit="1"/>
              </p:cNvSpPr>
              <p:nvPr/>
            </p:nvSpPr>
            <p:spPr>
              <a:xfrm>
                <a:off x="1425598" y="2897119"/>
                <a:ext cx="1308756" cy="350032"/>
              </a:xfrm>
              <a:prstGeom prst="rect">
                <a:avLst/>
              </a:prstGeom>
              <a:blipFill>
                <a:blip r:embed="rId5"/>
                <a:stretch>
                  <a:fillRect b="-862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5" name="矩形 44"/>
              <p:cNvSpPr/>
              <p:nvPr/>
            </p:nvSpPr>
            <p:spPr>
              <a:xfrm>
                <a:off x="5508104" y="1384951"/>
                <a:ext cx="1217128" cy="3500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𝜏</m:t>
                          </m:r>
                        </m:e>
                        <m:sup>
                          <m:r>
                            <a:rPr lang="zh-CN" altLang="en-US" sz="1600" i="1">
                              <a:latin typeface="Cambria Math" panose="02040503050406030204" pitchFamily="18" charset="0"/>
                            </a:rPr>
                            <m:t>𝑇</m:t>
                          </m:r>
                        </m:sup>
                      </m:sSup>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𝜃</m:t>
                          </m:r>
                        </m:e>
                      </m:acc>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𝐹</m:t>
                          </m:r>
                          <m:r>
                            <m:rPr>
                              <m:nor/>
                            </m:rPr>
                            <a:rPr lang="zh-CN" altLang="en-US" sz="1600" dirty="0"/>
                            <m:t> </m:t>
                          </m:r>
                        </m:e>
                        <m:sup>
                          <m:r>
                            <a:rPr lang="zh-CN" altLang="en-US" sz="1600" i="1">
                              <a:latin typeface="Cambria Math" panose="02040503050406030204" pitchFamily="18" charset="0"/>
                            </a:rPr>
                            <m:t>𝑇</m:t>
                          </m:r>
                        </m:sup>
                      </m:sSup>
                      <m:r>
                        <a:rPr lang="zh-CN" altLang="en-US" sz="1600" i="1">
                          <a:latin typeface="Cambria Math" panose="02040503050406030204" pitchFamily="18" charset="0"/>
                        </a:rPr>
                        <m:t>𝜈</m:t>
                      </m:r>
                    </m:oMath>
                  </m:oMathPara>
                </a14:m>
                <a:endParaRPr lang="zh-CN" altLang="en-US" sz="1600" dirty="0"/>
              </a:p>
            </p:txBody>
          </p:sp>
        </mc:Choice>
        <mc:Fallback>
          <p:sp>
            <p:nvSpPr>
              <p:cNvPr id="45" name="矩形 44"/>
              <p:cNvSpPr>
                <a:spLocks noRot="1" noChangeAspect="1" noMove="1" noResize="1" noEditPoints="1" noAdjustHandles="1" noChangeArrowheads="1" noChangeShapeType="1" noTextEdit="1"/>
              </p:cNvSpPr>
              <p:nvPr/>
            </p:nvSpPr>
            <p:spPr>
              <a:xfrm>
                <a:off x="5508104" y="1384951"/>
                <a:ext cx="1217128" cy="3500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矩形 45"/>
              <p:cNvSpPr/>
              <p:nvPr/>
            </p:nvSpPr>
            <p:spPr>
              <a:xfrm>
                <a:off x="3946458" y="1744991"/>
                <a:ext cx="3824573" cy="350032"/>
              </a:xfrm>
              <a:prstGeom prst="rect">
                <a:avLst/>
              </a:prstGeom>
            </p:spPr>
            <p:txBody>
              <a:bodyPr wrap="none">
                <a:spAutoFit/>
              </a:bodyPr>
              <a:lstStyle/>
              <a:p>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𝜏</m:t>
                    </m:r>
                  </m:oMath>
                </a14:m>
                <a:r>
                  <a:rPr lang="zh-CN" altLang="zh-CN" sz="1600" dirty="0">
                    <a:ea typeface="等线" panose="02010600030101010101" pitchFamily="2" charset="-122"/>
                    <a:cs typeface="Times New Roman" panose="02020603050405020304" pitchFamily="18" charset="0"/>
                  </a:rPr>
                  <a:t>为关节力矩的列向量形式，而</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𝜈</m:t>
                    </m:r>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𝐽</m:t>
                    </m:r>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acc>
                      <m:accPr>
                        <m:chr m:val="̇"/>
                        <m:ctrlPr>
                          <a:rPr lang="zh-CN" altLang="zh-CN" sz="1600" i="1">
                            <a:effectLst/>
                            <a:latin typeface="Cambria Math" panose="02040503050406030204" pitchFamily="18" charset="0"/>
                            <a:ea typeface="Cambria Math" panose="02040503050406030204" pitchFamily="18" charset="0"/>
                          </a:rPr>
                        </m:ctrlPr>
                      </m:acc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e>
                    </m:acc>
                  </m:oMath>
                </a14:m>
                <a:endParaRPr lang="zh-CN" altLang="en-US" sz="1600" dirty="0"/>
              </a:p>
            </p:txBody>
          </p:sp>
        </mc:Choice>
        <mc:Fallback xmlns="">
          <p:sp>
            <p:nvSpPr>
              <p:cNvPr id="46" name="矩形 45"/>
              <p:cNvSpPr>
                <a:spLocks noRot="1" noChangeAspect="1" noMove="1" noResize="1" noEditPoints="1" noAdjustHandles="1" noChangeArrowheads="1" noChangeShapeType="1" noTextEdit="1"/>
              </p:cNvSpPr>
              <p:nvPr/>
            </p:nvSpPr>
            <p:spPr>
              <a:xfrm>
                <a:off x="3946458" y="1744991"/>
                <a:ext cx="3824573" cy="350032"/>
              </a:xfrm>
              <a:prstGeom prst="rect">
                <a:avLst/>
              </a:prstGeom>
              <a:blipFill>
                <a:blip r:embed="rId7"/>
                <a:stretch>
                  <a:fillRect t="-1724" b="-206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矩形 46"/>
              <p:cNvSpPr/>
              <p:nvPr/>
            </p:nvSpPr>
            <p:spPr>
              <a:xfrm>
                <a:off x="5416123" y="2132912"/>
                <a:ext cx="1209497"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𝜏</m:t>
                      </m:r>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𝐽</m:t>
                          </m:r>
                        </m:e>
                        <m:sup>
                          <m:r>
                            <a:rPr lang="zh-CN" altLang="en-US" sz="1600" i="1">
                              <a:latin typeface="Cambria Math" panose="02040503050406030204" pitchFamily="18" charset="0"/>
                            </a:rPr>
                            <m:t>𝑇</m:t>
                          </m:r>
                        </m:sup>
                      </m:sSup>
                      <m:r>
                        <a:rPr lang="zh-CN" altLang="en-US" sz="1600" i="0">
                          <a:latin typeface="Cambria Math" panose="02040503050406030204" pitchFamily="18" charset="0"/>
                        </a:rPr>
                        <m:t>(</m:t>
                      </m:r>
                      <m:r>
                        <a:rPr lang="zh-CN" altLang="en-US" sz="1600" i="1">
                          <a:latin typeface="Cambria Math" panose="02040503050406030204" pitchFamily="18" charset="0"/>
                        </a:rPr>
                        <m:t>𝜃</m:t>
                      </m:r>
                      <m:r>
                        <a:rPr lang="zh-CN" altLang="en-US" sz="1600" i="0">
                          <a:latin typeface="Cambria Math" panose="02040503050406030204" pitchFamily="18" charset="0"/>
                        </a:rPr>
                        <m:t>)</m:t>
                      </m:r>
                      <m:r>
                        <a:rPr lang="zh-CN" altLang="en-US" sz="1600" i="1">
                          <a:latin typeface="Cambria Math" panose="02040503050406030204" pitchFamily="18" charset="0"/>
                        </a:rPr>
                        <m:t>𝐹</m:t>
                      </m:r>
                    </m:oMath>
                  </m:oMathPara>
                </a14:m>
                <a:endParaRPr lang="zh-CN" altLang="en-US" sz="1600" dirty="0"/>
              </a:p>
            </p:txBody>
          </p:sp>
        </mc:Choice>
        <mc:Fallback xmlns="">
          <p:sp>
            <p:nvSpPr>
              <p:cNvPr id="47" name="矩形 46"/>
              <p:cNvSpPr>
                <a:spLocks noRot="1" noChangeAspect="1" noMove="1" noResize="1" noEditPoints="1" noAdjustHandles="1" noChangeArrowheads="1" noChangeShapeType="1" noTextEdit="1"/>
              </p:cNvSpPr>
              <p:nvPr/>
            </p:nvSpPr>
            <p:spPr>
              <a:xfrm>
                <a:off x="5416123" y="2132912"/>
                <a:ext cx="1209497" cy="338554"/>
              </a:xfrm>
              <a:prstGeom prst="rect">
                <a:avLst/>
              </a:prstGeom>
              <a:blipFill>
                <a:blip r:embed="rId8"/>
                <a:stretch>
                  <a:fillRect b="-10909"/>
                </a:stretch>
              </a:blipFill>
            </p:spPr>
            <p:txBody>
              <a:bodyPr/>
              <a:lstStyle/>
              <a:p>
                <a:r>
                  <a:rPr lang="zh-CN" altLang="en-US">
                    <a:noFill/>
                  </a:rPr>
                  <a:t> </a:t>
                </a:r>
              </a:p>
            </p:txBody>
          </p:sp>
        </mc:Fallback>
      </mc:AlternateContent>
      <p:sp>
        <p:nvSpPr>
          <p:cNvPr id="48" name="矩形 47"/>
          <p:cNvSpPr/>
          <p:nvPr/>
        </p:nvSpPr>
        <p:spPr>
          <a:xfrm>
            <a:off x="3800211" y="2471466"/>
            <a:ext cx="4572000" cy="830997"/>
          </a:xfrm>
          <a:prstGeom prst="rect">
            <a:avLst/>
          </a:prstGeom>
        </p:spPr>
        <p:txBody>
          <a:bodyPr>
            <a:spAutoFit/>
          </a:bodyPr>
          <a:lstStyle/>
          <a:p>
            <a:r>
              <a:rPr lang="en-US" altLang="zh-CN" sz="1600">
                <a:latin typeface="等线" panose="02010600030101010101" pitchFamily="2" charset="-122"/>
                <a:cs typeface="Times New Roman" panose="02020603050405020304" pitchFamily="18" charset="0"/>
              </a:rPr>
              <a:t>F</a:t>
            </a:r>
            <a:r>
              <a:rPr lang="zh-CN" altLang="zh-CN" sz="1600" dirty="0">
                <a:ea typeface="等线" panose="02010600030101010101" pitchFamily="2" charset="-122"/>
                <a:cs typeface="Times New Roman" panose="02020603050405020304" pitchFamily="18" charset="0"/>
              </a:rPr>
              <a:t>为作用在末端上的力矩，以平衡各关节力矩。相反，如果给定各关节力矩，末端力矩可以用逆矩阵来求得：</a:t>
            </a:r>
            <a:endParaRPr lang="zh-CN" altLang="en-US" sz="1600" dirty="0"/>
          </a:p>
        </p:txBody>
      </p:sp>
      <mc:AlternateContent xmlns:mc="http://schemas.openxmlformats.org/markup-compatibility/2006">
        <mc:Choice xmlns:a14="http://schemas.microsoft.com/office/drawing/2010/main" Requires="a14">
          <p:sp>
            <p:nvSpPr>
              <p:cNvPr id="49" name="矩形 48"/>
              <p:cNvSpPr/>
              <p:nvPr/>
            </p:nvSpPr>
            <p:spPr>
              <a:xfrm>
                <a:off x="5277334" y="3487003"/>
                <a:ext cx="1185261" cy="338554"/>
              </a:xfrm>
              <a:prstGeom prst="rect">
                <a:avLst/>
              </a:prstGeom>
            </p:spPr>
            <p:txBody>
              <a:bodyPr wrap="none">
                <a:spAutoFit/>
              </a:bodyPr>
              <a:lstStyle/>
              <a:p>
                <a14:m>
                  <m:oMath xmlns:m="http://schemas.openxmlformats.org/officeDocument/2006/math">
                    <m:r>
                      <a:rPr lang="zh-CN" altLang="en-US" sz="1600" i="1">
                        <a:latin typeface="Cambria Math" panose="02040503050406030204" pitchFamily="18" charset="0"/>
                      </a:rPr>
                      <m:t>𝐹</m:t>
                    </m:r>
                  </m:oMath>
                </a14:m>
                <a:r>
                  <a:rPr lang="en-US" altLang="zh-CN" sz="1600" dirty="0">
                    <a:latin typeface="等线" panose="02010600030101010101" pitchFamily="2" charset="-122"/>
                    <a:cs typeface="Times New Roman" panose="02020603050405020304" pitchFamily="18" charset="0"/>
                  </a:rPr>
                  <a:t>=</a:t>
                </a:r>
                <a14:m>
                  <m:oMath xmlns:m="http://schemas.openxmlformats.org/officeDocument/2006/math">
                    <m:sSup>
                      <m:sSupPr>
                        <m:ctrlPr>
                          <a:rPr lang="zh-CN" altLang="zh-CN" sz="1600" i="1">
                            <a:effectLst/>
                            <a:latin typeface="Cambria Math" panose="02040503050406030204" pitchFamily="18" charset="0"/>
                            <a:ea typeface="Cambria Math" panose="02040503050406030204" pitchFamily="18" charset="0"/>
                          </a:rPr>
                        </m:ctrlPr>
                      </m:sSup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𝐽</m:t>
                        </m:r>
                      </m:e>
                      <m:sup>
                        <m:r>
                          <a:rPr lang="zh-CN" altLang="en-US" sz="1600" i="1">
                            <a:latin typeface="Cambria Math" panose="02040503050406030204" pitchFamily="18" charset="0"/>
                            <a:ea typeface="微软雅黑" panose="020B0503020204020204" pitchFamily="34" charset="-122"/>
                            <a:cs typeface="微软雅黑" panose="020B0503020204020204" pitchFamily="34" charset="-122"/>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𝑇</m:t>
                        </m:r>
                      </m:sup>
                    </m:sSup>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𝜃</m:t>
                    </m:r>
                    <m:r>
                      <a:rPr lang="en-US" altLang="zh-CN" sz="1600" i="1">
                        <a:latin typeface="Cambria Math" panose="02040503050406030204" pitchFamily="18" charset="0"/>
                        <a:ea typeface="等线" panose="02010600030101010101" pitchFamily="2" charset="-122"/>
                        <a:cs typeface="Times New Roman" panose="02020603050405020304" pitchFamily="18" charset="0"/>
                      </a:rPr>
                      <m:t>) </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𝜏</m:t>
                    </m:r>
                  </m:oMath>
                </a14:m>
                <a:endParaRPr lang="zh-CN" altLang="en-US" sz="1600" dirty="0"/>
              </a:p>
            </p:txBody>
          </p:sp>
        </mc:Choice>
        <mc:Fallback>
          <p:sp>
            <p:nvSpPr>
              <p:cNvPr id="49" name="矩形 48"/>
              <p:cNvSpPr>
                <a:spLocks noRot="1" noChangeAspect="1" noMove="1" noResize="1" noEditPoints="1" noAdjustHandles="1" noChangeArrowheads="1" noChangeShapeType="1" noTextEdit="1"/>
              </p:cNvSpPr>
              <p:nvPr/>
            </p:nvSpPr>
            <p:spPr>
              <a:xfrm>
                <a:off x="5277334" y="3487003"/>
                <a:ext cx="1185261" cy="338554"/>
              </a:xfrm>
              <a:prstGeom prst="rect">
                <a:avLst/>
              </a:prstGeom>
              <a:blipFill>
                <a:blip r:embed="rId9"/>
                <a:stretch>
                  <a:fillRect t="-5357" b="-2142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0" name="矩形 49"/>
              <p:cNvSpPr/>
              <p:nvPr/>
            </p:nvSpPr>
            <p:spPr>
              <a:xfrm>
                <a:off x="5652120" y="3871445"/>
                <a:ext cx="2320315" cy="3007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200" i="1" smtClean="0">
                          <a:solidFill>
                            <a:srgbClr val="FF0000"/>
                          </a:solidFill>
                          <a:latin typeface="Cambria Math" panose="02040503050406030204" pitchFamily="18" charset="0"/>
                        </a:rPr>
                        <m:t>𝑁𝑢𝑙𝑙</m:t>
                      </m:r>
                      <m:d>
                        <m:dPr>
                          <m:ctrlPr>
                            <a:rPr lang="zh-CN" altLang="en-US" sz="1200" i="1">
                              <a:solidFill>
                                <a:srgbClr val="FF0000"/>
                              </a:solidFill>
                              <a:latin typeface="Cambria Math" panose="02040503050406030204" pitchFamily="18" charset="0"/>
                            </a:rPr>
                          </m:ctrlPr>
                        </m:dPr>
                        <m:e>
                          <m:sSup>
                            <m:sSupPr>
                              <m:ctrlPr>
                                <a:rPr lang="zh-CN" altLang="en-US" sz="1200" i="1">
                                  <a:solidFill>
                                    <a:srgbClr val="FF0000"/>
                                  </a:solidFill>
                                  <a:latin typeface="Cambria Math" panose="02040503050406030204" pitchFamily="18" charset="0"/>
                                </a:rPr>
                              </m:ctrlPr>
                            </m:sSupPr>
                            <m:e>
                              <m:r>
                                <a:rPr lang="zh-CN" altLang="en-US" sz="1200" i="1">
                                  <a:solidFill>
                                    <a:srgbClr val="FF0000"/>
                                  </a:solidFill>
                                  <a:latin typeface="Cambria Math" panose="02040503050406030204" pitchFamily="18" charset="0"/>
                                </a:rPr>
                                <m:t>𝐽</m:t>
                              </m:r>
                            </m:e>
                            <m:sup>
                              <m:r>
                                <a:rPr lang="zh-CN" altLang="en-US" sz="1200" i="1">
                                  <a:solidFill>
                                    <a:srgbClr val="FF0000"/>
                                  </a:solidFill>
                                  <a:latin typeface="Cambria Math" panose="02040503050406030204" pitchFamily="18" charset="0"/>
                                </a:rPr>
                                <m:t>𝑇</m:t>
                              </m:r>
                            </m:sup>
                          </m:sSup>
                          <m:d>
                            <m:dPr>
                              <m:ctrlPr>
                                <a:rPr lang="zh-CN" altLang="en-US" sz="1200" i="1">
                                  <a:solidFill>
                                    <a:srgbClr val="FF0000"/>
                                  </a:solidFill>
                                  <a:latin typeface="Cambria Math" panose="02040503050406030204" pitchFamily="18" charset="0"/>
                                </a:rPr>
                              </m:ctrlPr>
                            </m:dPr>
                            <m:e>
                              <m:r>
                                <a:rPr lang="zh-CN" altLang="en-US" sz="1200" i="1">
                                  <a:solidFill>
                                    <a:srgbClr val="FF0000"/>
                                  </a:solidFill>
                                  <a:latin typeface="Cambria Math" panose="02040503050406030204" pitchFamily="18" charset="0"/>
                                </a:rPr>
                                <m:t>𝜃</m:t>
                              </m:r>
                            </m:e>
                          </m:d>
                        </m:e>
                      </m:d>
                      <m:r>
                        <a:rPr lang="zh-CN" altLang="en-US" sz="1200" i="0">
                          <a:solidFill>
                            <a:srgbClr val="FF0000"/>
                          </a:solidFill>
                          <a:latin typeface="Cambria Math" panose="02040503050406030204" pitchFamily="18" charset="0"/>
                        </a:rPr>
                        <m:t>=</m:t>
                      </m:r>
                      <m:d>
                        <m:dPr>
                          <m:begChr m:val="{"/>
                          <m:endChr m:val="}"/>
                          <m:ctrlPr>
                            <a:rPr lang="zh-CN" altLang="en-US" sz="1200" i="1">
                              <a:solidFill>
                                <a:srgbClr val="FF0000"/>
                              </a:solidFill>
                              <a:latin typeface="Cambria Math" panose="02040503050406030204" pitchFamily="18" charset="0"/>
                            </a:rPr>
                          </m:ctrlPr>
                        </m:dPr>
                        <m:e>
                          <m:r>
                            <a:rPr lang="zh-CN" altLang="en-US" sz="1200" i="1">
                              <a:latin typeface="Cambria Math" panose="02040503050406030204" pitchFamily="18" charset="0"/>
                            </a:rPr>
                            <m:t>𝐹</m:t>
                          </m:r>
                        </m:e>
                        <m:e>
                          <m:sSup>
                            <m:sSupPr>
                              <m:ctrlPr>
                                <a:rPr lang="zh-CN" altLang="en-US" sz="1200" i="1">
                                  <a:solidFill>
                                    <a:srgbClr val="FF0000"/>
                                  </a:solidFill>
                                  <a:latin typeface="Cambria Math" panose="02040503050406030204" pitchFamily="18" charset="0"/>
                                </a:rPr>
                              </m:ctrlPr>
                            </m:sSupPr>
                            <m:e>
                              <m:r>
                                <a:rPr lang="zh-CN" altLang="en-US" sz="1200" i="1">
                                  <a:solidFill>
                                    <a:srgbClr val="FF0000"/>
                                  </a:solidFill>
                                  <a:latin typeface="Cambria Math" panose="02040503050406030204" pitchFamily="18" charset="0"/>
                                </a:rPr>
                                <m:t>𝐽</m:t>
                              </m:r>
                            </m:e>
                            <m:sup>
                              <m:r>
                                <a:rPr lang="zh-CN" altLang="en-US" sz="1200" i="1">
                                  <a:solidFill>
                                    <a:srgbClr val="FF0000"/>
                                  </a:solidFill>
                                  <a:latin typeface="Cambria Math" panose="02040503050406030204" pitchFamily="18" charset="0"/>
                                </a:rPr>
                                <m:t>𝑇</m:t>
                              </m:r>
                            </m:sup>
                          </m:sSup>
                          <m:d>
                            <m:dPr>
                              <m:ctrlPr>
                                <a:rPr lang="zh-CN" altLang="en-US" sz="1200" i="1">
                                  <a:solidFill>
                                    <a:srgbClr val="FF0000"/>
                                  </a:solidFill>
                                  <a:latin typeface="Cambria Math" panose="02040503050406030204" pitchFamily="18" charset="0"/>
                                </a:rPr>
                              </m:ctrlPr>
                            </m:dPr>
                            <m:e>
                              <m:r>
                                <a:rPr lang="zh-CN" altLang="en-US" sz="1200" i="1">
                                  <a:solidFill>
                                    <a:srgbClr val="FF0000"/>
                                  </a:solidFill>
                                  <a:latin typeface="Cambria Math" panose="02040503050406030204" pitchFamily="18" charset="0"/>
                                </a:rPr>
                                <m:t>𝜃</m:t>
                              </m:r>
                            </m:e>
                          </m:d>
                          <m:r>
                            <a:rPr lang="zh-CN" altLang="en-US" sz="1200" i="1">
                              <a:latin typeface="Cambria Math" panose="02040503050406030204" pitchFamily="18" charset="0"/>
                            </a:rPr>
                            <m:t>𝐹</m:t>
                          </m:r>
                          <m:r>
                            <a:rPr lang="zh-CN" altLang="en-US" sz="1200" i="0">
                              <a:solidFill>
                                <a:srgbClr val="FF0000"/>
                              </a:solidFill>
                              <a:latin typeface="Cambria Math" panose="02040503050406030204" pitchFamily="18" charset="0"/>
                            </a:rPr>
                            <m:t>=0</m:t>
                          </m:r>
                        </m:e>
                      </m:d>
                    </m:oMath>
                  </m:oMathPara>
                </a14:m>
                <a:endParaRPr lang="zh-CN" altLang="en-US" sz="1200" dirty="0">
                  <a:solidFill>
                    <a:srgbClr val="FF0000"/>
                  </a:solidFill>
                </a:endParaRPr>
              </a:p>
            </p:txBody>
          </p:sp>
        </mc:Choice>
        <mc:Fallback>
          <p:sp>
            <p:nvSpPr>
              <p:cNvPr id="50" name="矩形 49"/>
              <p:cNvSpPr>
                <a:spLocks noRot="1" noChangeAspect="1" noMove="1" noResize="1" noEditPoints="1" noAdjustHandles="1" noChangeArrowheads="1" noChangeShapeType="1" noTextEdit="1"/>
              </p:cNvSpPr>
              <p:nvPr/>
            </p:nvSpPr>
            <p:spPr>
              <a:xfrm>
                <a:off x="5652120" y="3871445"/>
                <a:ext cx="2320315" cy="300788"/>
              </a:xfrm>
              <a:prstGeom prst="rect">
                <a:avLst/>
              </a:prstGeom>
              <a:blipFill>
                <a:blip r:embed="rId10"/>
                <a:stretch>
                  <a:fillRect/>
                </a:stretch>
              </a:blipFill>
            </p:spPr>
            <p:txBody>
              <a:bodyPr/>
              <a:lstStyle/>
              <a:p>
                <a:r>
                  <a:rPr lang="zh-CN" altLang="en-US">
                    <a:noFill/>
                  </a:rPr>
                  <a:t> </a:t>
                </a:r>
              </a:p>
            </p:txBody>
          </p:sp>
        </mc:Fallback>
      </mc:AlternateContent>
      <p:sp>
        <p:nvSpPr>
          <p:cNvPr id="51" name="矩形 50"/>
          <p:cNvSpPr/>
          <p:nvPr/>
        </p:nvSpPr>
        <p:spPr>
          <a:xfrm>
            <a:off x="1167394" y="864068"/>
            <a:ext cx="2170659" cy="338554"/>
          </a:xfrm>
          <a:prstGeom prst="rect">
            <a:avLst/>
          </a:prstGeom>
        </p:spPr>
        <p:txBody>
          <a:bodyPr wrap="none">
            <a:spAutoFit/>
          </a:bodyPr>
          <a:lstStyle/>
          <a:p>
            <a:r>
              <a:rPr lang="en-US" altLang="zh-CN" sz="1600" b="1" dirty="0">
                <a:solidFill>
                  <a:srgbClr val="002060"/>
                </a:solidFill>
                <a:latin typeface="Arial" panose="020B0604020202020204" pitchFamily="34" charset="0"/>
                <a:ea typeface="微软雅黑" panose="020B0503020204020204" charset="-122"/>
                <a:sym typeface="+mn-ea"/>
              </a:rPr>
              <a:t>Velocity Kinematics </a:t>
            </a:r>
            <a:endParaRPr lang="zh-CN" altLang="en-US" sz="1600" b="1" dirty="0">
              <a:solidFill>
                <a:srgbClr val="002060"/>
              </a:solidFill>
            </a:endParaRPr>
          </a:p>
        </p:txBody>
      </p:sp>
      <p:sp>
        <p:nvSpPr>
          <p:cNvPr id="52" name="矩形 51"/>
          <p:cNvSpPr/>
          <p:nvPr/>
        </p:nvSpPr>
        <p:spPr>
          <a:xfrm>
            <a:off x="5337546" y="771550"/>
            <a:ext cx="857927" cy="461665"/>
          </a:xfrm>
          <a:prstGeom prst="rect">
            <a:avLst/>
          </a:prstGeom>
        </p:spPr>
        <p:txBody>
          <a:bodyPr wrap="none">
            <a:spAutoFit/>
          </a:bodyPr>
          <a:lstStyle/>
          <a:p>
            <a:pPr>
              <a:lnSpc>
                <a:spcPct val="150000"/>
              </a:lnSpc>
            </a:pPr>
            <a:r>
              <a:rPr lang="en-US" altLang="zh-CN" sz="1600" b="1" dirty="0">
                <a:solidFill>
                  <a:srgbClr val="002060"/>
                </a:solidFill>
                <a:latin typeface="Arial" panose="020B0604020202020204" pitchFamily="34" charset="0"/>
                <a:ea typeface="微软雅黑" panose="020B0503020204020204" charset="-122"/>
                <a:sym typeface="+mn-ea"/>
              </a:rPr>
              <a:t>Statics</a:t>
            </a:r>
            <a:endParaRPr lang="zh-CN" altLang="en-US" sz="1600" b="1" dirty="0">
              <a:solidFill>
                <a:srgbClr val="002060"/>
              </a:solidFill>
              <a:latin typeface="Arial" panose="020B0604020202020204" pitchFamily="34" charset="0"/>
              <a:ea typeface="微软雅黑" panose="020B0503020204020204" charset="-122"/>
              <a:sym typeface="+mn-ea"/>
            </a:endParaRPr>
          </a:p>
        </p:txBody>
      </p:sp>
      <p:sp>
        <p:nvSpPr>
          <p:cNvPr id="53" name="矩形 52"/>
          <p:cNvSpPr/>
          <p:nvPr/>
        </p:nvSpPr>
        <p:spPr>
          <a:xfrm>
            <a:off x="971600" y="1374943"/>
            <a:ext cx="2448272" cy="27972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3800211" y="1374943"/>
            <a:ext cx="4572000" cy="27972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2191874" y="4227934"/>
            <a:ext cx="4248279" cy="830997"/>
          </a:xfrm>
          <a:prstGeom prst="rect">
            <a:avLst/>
          </a:prstGeom>
          <a:noFill/>
        </p:spPr>
        <p:txBody>
          <a:bodyPr wrap="none" rtlCol="0">
            <a:spAutoFit/>
          </a:bodyPr>
          <a:lstStyle/>
          <a:p>
            <a:r>
              <a:rPr lang="zh-CN" altLang="en-US" sz="1600" b="1" dirty="0" smtClean="0">
                <a:solidFill>
                  <a:srgbClr val="002060"/>
                </a:solidFill>
              </a:rPr>
              <a:t>练习：</a:t>
            </a:r>
            <a:endParaRPr lang="en-US" altLang="zh-CN" sz="1600" b="1" dirty="0" smtClean="0">
              <a:solidFill>
                <a:srgbClr val="002060"/>
              </a:solidFill>
            </a:endParaRPr>
          </a:p>
          <a:p>
            <a:pPr marL="285750" indent="-285750">
              <a:buFont typeface="Wingdings" panose="05000000000000000000" pitchFamily="2" charset="2"/>
              <a:buChar char="Ø"/>
            </a:pPr>
            <a:r>
              <a:rPr lang="zh-CN" altLang="en-US" sz="1600" b="1" dirty="0" smtClean="0">
                <a:solidFill>
                  <a:srgbClr val="002060"/>
                </a:solidFill>
              </a:rPr>
              <a:t>给定</a:t>
            </a:r>
            <a:r>
              <a:rPr lang="en-US" altLang="zh-CN" sz="1600" b="1" dirty="0" smtClean="0">
                <a:solidFill>
                  <a:srgbClr val="002060"/>
                </a:solidFill>
              </a:rPr>
              <a:t>Aubo-i5</a:t>
            </a:r>
            <a:r>
              <a:rPr lang="zh-CN" altLang="en-US" sz="1600" b="1" dirty="0" smtClean="0">
                <a:solidFill>
                  <a:srgbClr val="002060"/>
                </a:solidFill>
              </a:rPr>
              <a:t>的各关节速度，求</a:t>
            </a:r>
            <a:r>
              <a:rPr lang="en-US" altLang="zh-CN" sz="1600" b="1" dirty="0" smtClean="0">
                <a:solidFill>
                  <a:srgbClr val="002060"/>
                </a:solidFill>
              </a:rPr>
              <a:t>TCP</a:t>
            </a:r>
            <a:r>
              <a:rPr lang="zh-CN" altLang="en-US" sz="1600" b="1" dirty="0" smtClean="0">
                <a:solidFill>
                  <a:srgbClr val="002060"/>
                </a:solidFill>
              </a:rPr>
              <a:t>速度；</a:t>
            </a:r>
            <a:endParaRPr lang="en-US" altLang="zh-CN" sz="1600" b="1" dirty="0" smtClean="0">
              <a:solidFill>
                <a:srgbClr val="002060"/>
              </a:solidFill>
            </a:endParaRPr>
          </a:p>
          <a:p>
            <a:pPr marL="285750" indent="-285750">
              <a:buFont typeface="Wingdings" panose="05000000000000000000" pitchFamily="2" charset="2"/>
              <a:buChar char="Ø"/>
            </a:pPr>
            <a:r>
              <a:rPr lang="zh-CN" altLang="en-US" sz="1600" b="1" dirty="0" smtClean="0">
                <a:solidFill>
                  <a:srgbClr val="002060"/>
                </a:solidFill>
              </a:rPr>
              <a:t>给定</a:t>
            </a:r>
            <a:r>
              <a:rPr lang="en-US" altLang="zh-CN" sz="1600" b="1" dirty="0">
                <a:solidFill>
                  <a:srgbClr val="002060"/>
                </a:solidFill>
              </a:rPr>
              <a:t>Aubo-i5</a:t>
            </a:r>
            <a:r>
              <a:rPr lang="zh-CN" altLang="en-US" sz="1600" b="1" dirty="0" smtClean="0">
                <a:solidFill>
                  <a:srgbClr val="002060"/>
                </a:solidFill>
              </a:rPr>
              <a:t>的末端负载，求各关节力矩。</a:t>
            </a:r>
            <a:endParaRPr lang="zh-CN" altLang="en-US" sz="1600" b="1" dirty="0">
              <a:solidFill>
                <a:srgbClr val="002060"/>
              </a:solidFill>
            </a:endParaRPr>
          </a:p>
        </p:txBody>
      </p:sp>
    </p:spTree>
    <p:extLst>
      <p:ext uri="{BB962C8B-B14F-4D97-AF65-F5344CB8AC3E}">
        <p14:creationId xmlns:p14="http://schemas.microsoft.com/office/powerpoint/2010/main" val="334150665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6" name="矩形 5"/>
              <p:cNvSpPr/>
              <p:nvPr/>
            </p:nvSpPr>
            <p:spPr>
              <a:xfrm>
                <a:off x="4319270" y="2473325"/>
                <a:ext cx="3849370" cy="1513043"/>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对于任何机器人来说，冗余与否均有可能发现一些奇异位形</a:t>
                </a:r>
                <a:r>
                  <a:rPr lang="en-US" altLang="zh-CN" sz="1200" dirty="0">
                    <a:latin typeface="Arial" panose="020B0604020202020204" pitchFamily="34" charset="0"/>
                    <a:ea typeface="微软雅黑" panose="020B0503020204020204" charset="-122"/>
                    <a:sym typeface="+mn-ea"/>
                  </a:rPr>
                  <a:t>(</a:t>
                </a:r>
                <a:r>
                  <a:rPr lang="zh-CN" altLang="en-US" sz="1200" dirty="0">
                    <a:latin typeface="Arial" panose="020B0604020202020204" pitchFamily="34" charset="0"/>
                    <a:ea typeface="微软雅黑" panose="020B0503020204020204" charset="-122"/>
                    <a:sym typeface="+mn-ea"/>
                  </a:rPr>
                  <a:t>或称奇异位姿</a:t>
                </a:r>
                <a:r>
                  <a:rPr lang="en-US" altLang="zh-CN" sz="1200" dirty="0">
                    <a:latin typeface="Arial" panose="020B0604020202020204" pitchFamily="34" charset="0"/>
                    <a:ea typeface="微软雅黑" panose="020B0503020204020204" charset="-122"/>
                    <a:sym typeface="+mn-ea"/>
                  </a:rPr>
                  <a:t>)</a:t>
                </a:r>
                <a:r>
                  <a:rPr lang="zh-CN" altLang="en-US" sz="1200" dirty="0">
                    <a:latin typeface="Arial" panose="020B0604020202020204" pitchFamily="34" charset="0"/>
                    <a:ea typeface="微软雅黑" panose="020B0503020204020204" charset="-122"/>
                    <a:sym typeface="+mn-ea"/>
                  </a:rPr>
                  <a:t>。</a:t>
                </a:r>
              </a:p>
              <a:p>
                <a:pPr>
                  <a:lnSpc>
                    <a:spcPct val="150000"/>
                  </a:lnSpc>
                </a:pPr>
                <a:r>
                  <a:rPr lang="zh-CN" altLang="en-US" sz="1200" dirty="0">
                    <a:latin typeface="Arial" panose="020B0604020202020204" pitchFamily="34" charset="0"/>
                    <a:ea typeface="微软雅黑" panose="020B0503020204020204" charset="-122"/>
                    <a:sym typeface="+mn-ea"/>
                  </a:rPr>
                  <a:t>在数学上，可以通过判别雅可比矩阵的行列式</a:t>
                </a:r>
                <a14:m>
                  <m:oMath xmlns:m="http://schemas.openxmlformats.org/officeDocument/2006/math">
                    <m:func>
                      <m:funcPr>
                        <m:ctrlPr>
                          <a:rPr lang="zh-CN" altLang="zh-CN" sz="1200" i="1">
                            <a:latin typeface="Cambria Math" panose="02040503050406030204" pitchFamily="18" charset="0"/>
                          </a:rPr>
                        </m:ctrlPr>
                      </m:funcPr>
                      <m:fName>
                        <m:r>
                          <m:rPr>
                            <m:sty m:val="p"/>
                          </m:rPr>
                          <a:rPr lang="en-US" altLang="zh-CN" sz="1200">
                            <a:latin typeface="Cambria Math" panose="02040503050406030204" pitchFamily="18" charset="0"/>
                          </a:rPr>
                          <m:t>det</m:t>
                        </m:r>
                      </m:fName>
                      <m:e>
                        <m:r>
                          <a:rPr lang="en-US" altLang="zh-CN" sz="1200" i="1">
                            <a:latin typeface="Cambria Math" panose="02040503050406030204" pitchFamily="18" charset="0"/>
                          </a:rPr>
                          <m:t>𝐽</m:t>
                        </m:r>
                        <m:r>
                          <a:rPr lang="en-US" altLang="zh-CN" sz="1200" i="1">
                            <a:latin typeface="Cambria Math" panose="02040503050406030204" pitchFamily="18" charset="0"/>
                          </a:rPr>
                          <m:t>=0</m:t>
                        </m:r>
                      </m:e>
                    </m:func>
                  </m:oMath>
                </a14:m>
                <a:r>
                  <a:rPr lang="zh-CN" altLang="en-US" sz="1200" dirty="0">
                    <a:latin typeface="Arial" panose="020B0604020202020204" pitchFamily="34" charset="0"/>
                    <a:ea typeface="微软雅黑" panose="020B0503020204020204" charset="-122"/>
                    <a:sym typeface="+mn-ea"/>
                  </a:rPr>
                  <a:t>（或记作</a:t>
                </a:r>
                <a14:m>
                  <m:oMath xmlns:m="http://schemas.openxmlformats.org/officeDocument/2006/math">
                    <m:d>
                      <m:dPr>
                        <m:begChr m:val="|"/>
                        <m:endChr m:val="|"/>
                        <m:ctrlPr>
                          <a:rPr lang="zh-CN" altLang="zh-CN" sz="1200" i="1">
                            <a:latin typeface="Cambria Math" panose="02040503050406030204" pitchFamily="18" charset="0"/>
                          </a:rPr>
                        </m:ctrlPr>
                      </m:dPr>
                      <m:e>
                        <m:r>
                          <a:rPr lang="en-US" altLang="zh-CN" sz="1200" i="1">
                            <a:latin typeface="Cambria Math" panose="02040503050406030204" pitchFamily="18" charset="0"/>
                          </a:rPr>
                          <m:t>𝐽</m:t>
                        </m:r>
                      </m:e>
                    </m:d>
                    <m:r>
                      <a:rPr lang="en-US" altLang="zh-CN" sz="1200" i="1">
                        <a:latin typeface="Cambria Math" panose="02040503050406030204" pitchFamily="18" charset="0"/>
                      </a:rPr>
                      <m:t>=0</m:t>
                    </m:r>
                  </m:oMath>
                </a14:m>
                <a:r>
                  <a:rPr lang="zh-CN" altLang="en-US" sz="1200" dirty="0">
                    <a:latin typeface="Arial" panose="020B0604020202020204" pitchFamily="34" charset="0"/>
                    <a:ea typeface="微软雅黑" panose="020B0503020204020204" charset="-122"/>
                    <a:sym typeface="+mn-ea"/>
                  </a:rPr>
                  <a:t>）或</a:t>
                </a:r>
                <a14:m>
                  <m:oMath xmlns:m="http://schemas.openxmlformats.org/officeDocument/2006/math">
                    <m:d>
                      <m:dPr>
                        <m:begChr m:val="|"/>
                        <m:endChr m:val="|"/>
                        <m:ctrlPr>
                          <a:rPr lang="zh-CN" altLang="zh-CN" sz="1200" i="1">
                            <a:latin typeface="Cambria Math" panose="02040503050406030204" pitchFamily="18" charset="0"/>
                          </a:rPr>
                        </m:ctrlPr>
                      </m:dPr>
                      <m:e>
                        <m:r>
                          <a:rPr lang="en-US" altLang="zh-CN" sz="1200" i="1">
                            <a:latin typeface="Cambria Math" panose="02040503050406030204" pitchFamily="18" charset="0"/>
                          </a:rPr>
                          <m:t>𝐽</m:t>
                        </m:r>
                        <m:sSup>
                          <m:sSupPr>
                            <m:ctrlPr>
                              <a:rPr lang="zh-CN" altLang="zh-CN" sz="1200" i="1">
                                <a:latin typeface="Cambria Math" panose="02040503050406030204" pitchFamily="18" charset="0"/>
                              </a:rPr>
                            </m:ctrlPr>
                          </m:sSupPr>
                          <m:e>
                            <m:r>
                              <a:rPr lang="en-US" altLang="zh-CN" sz="1200" i="1">
                                <a:latin typeface="Cambria Math" panose="02040503050406030204" pitchFamily="18" charset="0"/>
                              </a:rPr>
                              <m:t>𝐽</m:t>
                            </m:r>
                          </m:e>
                          <m:sup>
                            <m:r>
                              <a:rPr lang="en-US" altLang="zh-CN" sz="1200" i="1">
                                <a:latin typeface="Cambria Math" panose="02040503050406030204" pitchFamily="18" charset="0"/>
                              </a:rPr>
                              <m:t>𝑇</m:t>
                            </m:r>
                          </m:sup>
                        </m:sSup>
                      </m:e>
                    </m:d>
                    <m:r>
                      <a:rPr lang="en-US" altLang="zh-CN" sz="1200" i="1">
                        <a:latin typeface="Cambria Math" panose="02040503050406030204" pitchFamily="18" charset="0"/>
                      </a:rPr>
                      <m:t>=0</m:t>
                    </m:r>
                  </m:oMath>
                </a14:m>
                <a:r>
                  <a:rPr lang="zh-CN" altLang="en-US" sz="1200" dirty="0">
                    <a:latin typeface="Arial" panose="020B0604020202020204" pitchFamily="34" charset="0"/>
                    <a:ea typeface="微软雅黑" panose="020B0503020204020204" charset="-122"/>
                    <a:sym typeface="+mn-ea"/>
                  </a:rPr>
                  <a:t>时，确定机器人处于</a:t>
                </a:r>
                <a:r>
                  <a:rPr lang="zh-CN" altLang="en-US" sz="1200" dirty="0" smtClean="0">
                    <a:latin typeface="Arial" panose="020B0604020202020204" pitchFamily="34" charset="0"/>
                    <a:ea typeface="微软雅黑" panose="020B0503020204020204" charset="-122"/>
                    <a:sym typeface="+mn-ea"/>
                  </a:rPr>
                  <a:t>奇异性位型</a:t>
                </a:r>
                <a:r>
                  <a:rPr lang="zh-CN" altLang="en-US" sz="1200" dirty="0">
                    <a:latin typeface="Arial" panose="020B0604020202020204" pitchFamily="34" charset="0"/>
                    <a:ea typeface="微软雅黑" panose="020B0503020204020204" charset="-122"/>
                    <a:sym typeface="+mn-ea"/>
                  </a:rPr>
                  <a:t>。</a:t>
                </a:r>
                <a:endParaRPr lang="zh-CN" altLang="en-US" sz="1200" dirty="0">
                  <a:solidFill>
                    <a:schemeClr val="tx1"/>
                  </a:solidFill>
                  <a:latin typeface="Arial" panose="020B0604020202020204" pitchFamily="34" charset="0"/>
                  <a:ea typeface="微软雅黑" panose="020B0503020204020204" charset="-122"/>
                  <a:sym typeface="+mn-ea"/>
                </a:endParaRPr>
              </a:p>
            </p:txBody>
          </p:sp>
        </mc:Choice>
        <mc:Fallback xmlns="">
          <p:sp>
            <p:nvSpPr>
              <p:cNvPr id="6" name="矩形 5"/>
              <p:cNvSpPr>
                <a:spLocks noRot="1" noChangeAspect="1" noMove="1" noResize="1" noEditPoints="1" noAdjustHandles="1" noChangeArrowheads="1" noChangeShapeType="1" noTextEdit="1"/>
              </p:cNvSpPr>
              <p:nvPr/>
            </p:nvSpPr>
            <p:spPr>
              <a:xfrm>
                <a:off x="4319270" y="2473325"/>
                <a:ext cx="3849370" cy="1513043"/>
              </a:xfrm>
              <a:prstGeom prst="rect">
                <a:avLst/>
              </a:prstGeom>
              <a:blipFill>
                <a:blip r:embed="rId3"/>
                <a:stretch>
                  <a:fillRect l="-158" b="-403"/>
                </a:stretch>
              </a:blipFill>
            </p:spPr>
            <p:txBody>
              <a:bodyPr/>
              <a:lstStyle/>
              <a:p>
                <a:r>
                  <a:rPr lang="zh-CN" altLang="en-US">
                    <a:noFill/>
                  </a:rPr>
                  <a:t> </a:t>
                </a:r>
              </a:p>
            </p:txBody>
          </p:sp>
        </mc:Fallback>
      </mc:AlternateContent>
      <p:sp>
        <p:nvSpPr>
          <p:cNvPr id="7" name="文本框 6"/>
          <p:cNvSpPr txBox="1"/>
          <p:nvPr/>
        </p:nvSpPr>
        <p:spPr>
          <a:xfrm>
            <a:off x="4319270" y="1951355"/>
            <a:ext cx="3335655" cy="521970"/>
          </a:xfrm>
          <a:prstGeom prst="rect">
            <a:avLst/>
          </a:prstGeom>
          <a:noFill/>
        </p:spPr>
        <p:txBody>
          <a:bodyPr wrap="square" rtlCol="0" anchor="t">
            <a:spAutoFit/>
          </a:bodyPr>
          <a:lstStyle/>
          <a:p>
            <a:r>
              <a:rPr lang="zh-CN" altLang="en-US" sz="2800" b="1" dirty="0">
                <a:latin typeface="Arial" panose="020B0604020202020204" pitchFamily="34" charset="0"/>
                <a:ea typeface="微软雅黑" panose="020B0503020204020204" charset="-122"/>
                <a:sym typeface="+mn-ea"/>
              </a:rPr>
              <a:t>奇异性分析</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09</a:t>
            </a:r>
            <a:endParaRPr lang="en-US" altLang="zh-CN" sz="6600" b="1" dirty="0">
              <a:solidFill>
                <a:schemeClr val="bg1"/>
              </a:solidFill>
              <a:latin typeface="微软雅黑" panose="020B0503020204020204" charset="-122"/>
              <a:ea typeface="微软雅黑" panose="020B0503020204020204" charset="-122"/>
              <a:sym typeface="+mn-ea"/>
            </a:endParaRPr>
          </a:p>
        </p:txBody>
      </p:sp>
    </p:spTree>
    <p:extLst>
      <p:ext uri="{BB962C8B-B14F-4D97-AF65-F5344CB8AC3E}">
        <p14:creationId xmlns:p14="http://schemas.microsoft.com/office/powerpoint/2010/main" val="112675480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a:off x="-236220" y="219075"/>
            <a:ext cx="5153660" cy="598805"/>
            <a:chOff x="-372" y="345"/>
            <a:chExt cx="8116" cy="943"/>
          </a:xfrm>
        </p:grpSpPr>
        <p:sp>
          <p:nvSpPr>
            <p:cNvPr id="40" name="矩形 39"/>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Singularity Analysis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41" name="文本框 40"/>
            <p:cNvSpPr txBox="1"/>
            <p:nvPr/>
          </p:nvSpPr>
          <p:spPr>
            <a:xfrm>
              <a:off x="443" y="363"/>
              <a:ext cx="7301"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奇异性分析</a:t>
              </a:r>
              <a:endParaRPr lang="en-US" altLang="zh-CN" sz="2000" b="1" dirty="0" smtClean="0">
                <a:latin typeface="Arial" panose="020B0604020202020204" pitchFamily="34" charset="0"/>
                <a:ea typeface="微软雅黑" panose="020B0503020204020204" charset="-122"/>
                <a:sym typeface="+mn-ea"/>
              </a:endParaRPr>
            </a:p>
          </p:txBody>
        </p:sp>
        <p:sp>
          <p:nvSpPr>
            <p:cNvPr id="42" name="椭圆 41"/>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矩形 2"/>
          <p:cNvSpPr/>
          <p:nvPr/>
        </p:nvSpPr>
        <p:spPr>
          <a:xfrm>
            <a:off x="2411760" y="771550"/>
            <a:ext cx="4572000" cy="830997"/>
          </a:xfrm>
          <a:prstGeom prst="rect">
            <a:avLst/>
          </a:prstGeom>
        </p:spPr>
        <p:txBody>
          <a:bodyPr>
            <a:spAutoFit/>
          </a:bodyPr>
          <a:lstStyle/>
          <a:p>
            <a:r>
              <a:rPr lang="zh-CN" altLang="en-US" sz="1600" b="1" dirty="0">
                <a:solidFill>
                  <a:srgbClr val="002060"/>
                </a:solidFill>
              </a:rPr>
              <a:t>当下列情况发生时会导致奇异位形：</a:t>
            </a:r>
          </a:p>
          <a:p>
            <a:pPr marL="285750" indent="-285750">
              <a:buFont typeface="Wingdings" panose="05000000000000000000" pitchFamily="2" charset="2"/>
              <a:buChar char="Ø"/>
            </a:pPr>
            <a:r>
              <a:rPr lang="zh-CN" altLang="en-US" sz="1600" dirty="0" smtClean="0">
                <a:solidFill>
                  <a:srgbClr val="002060"/>
                </a:solidFill>
              </a:rPr>
              <a:t>两</a:t>
            </a:r>
            <a:r>
              <a:rPr lang="zh-CN" altLang="en-US" sz="1600" dirty="0">
                <a:solidFill>
                  <a:srgbClr val="002060"/>
                </a:solidFill>
              </a:rPr>
              <a:t>个平移关节轴平行；</a:t>
            </a:r>
          </a:p>
          <a:p>
            <a:pPr marL="285750" indent="-285750">
              <a:buFont typeface="Wingdings" panose="05000000000000000000" pitchFamily="2" charset="2"/>
              <a:buChar char="Ø"/>
            </a:pPr>
            <a:r>
              <a:rPr lang="zh-CN" altLang="en-US" sz="1600" dirty="0" smtClean="0">
                <a:solidFill>
                  <a:srgbClr val="002060"/>
                </a:solidFill>
              </a:rPr>
              <a:t>两</a:t>
            </a:r>
            <a:r>
              <a:rPr lang="zh-CN" altLang="en-US" sz="1600" dirty="0">
                <a:solidFill>
                  <a:srgbClr val="002060"/>
                </a:solidFill>
              </a:rPr>
              <a:t>个旋转关节同轴。</a:t>
            </a:r>
          </a:p>
        </p:txBody>
      </p:sp>
      <p:sp>
        <p:nvSpPr>
          <p:cNvPr id="4" name="矩形 3"/>
          <p:cNvSpPr/>
          <p:nvPr/>
        </p:nvSpPr>
        <p:spPr>
          <a:xfrm>
            <a:off x="1331640" y="1602547"/>
            <a:ext cx="6552728" cy="1323439"/>
          </a:xfrm>
          <a:prstGeom prst="rect">
            <a:avLst/>
          </a:prstGeom>
        </p:spPr>
        <p:txBody>
          <a:bodyPr wrap="square">
            <a:spAutoFit/>
          </a:bodyPr>
          <a:lstStyle/>
          <a:p>
            <a:r>
              <a:rPr lang="zh-CN" altLang="zh-CN" sz="1600" b="1" dirty="0">
                <a:solidFill>
                  <a:srgbClr val="002060"/>
                </a:solidFill>
              </a:rPr>
              <a:t>雅可比矩阵不再满秩的位形相当于机器人具有奇异性，通常有两种类型</a:t>
            </a:r>
            <a:r>
              <a:rPr lang="zh-CN" altLang="zh-CN" sz="1600" dirty="0">
                <a:solidFill>
                  <a:srgbClr val="002060"/>
                </a:solidFill>
              </a:rPr>
              <a:t>：</a:t>
            </a:r>
          </a:p>
          <a:p>
            <a:pPr marL="285750" indent="-285750">
              <a:buFont typeface="Wingdings" panose="05000000000000000000" pitchFamily="2" charset="2"/>
              <a:buChar char="Ø"/>
            </a:pPr>
            <a:r>
              <a:rPr lang="zh-CN" altLang="zh-CN" sz="1600" dirty="0" smtClean="0">
                <a:solidFill>
                  <a:srgbClr val="002060"/>
                </a:solidFill>
              </a:rPr>
              <a:t>工作空间</a:t>
            </a:r>
            <a:r>
              <a:rPr lang="zh-CN" altLang="zh-CN" sz="1600" dirty="0">
                <a:solidFill>
                  <a:srgbClr val="002060"/>
                </a:solidFill>
              </a:rPr>
              <a:t>边界奇异性。当机械臂全部伸展或自身完全折回时，便会出现工作空间边界奇异性。</a:t>
            </a:r>
          </a:p>
          <a:p>
            <a:pPr marL="285750" indent="-285750">
              <a:buFont typeface="Wingdings" panose="05000000000000000000" pitchFamily="2" charset="2"/>
              <a:buChar char="Ø"/>
            </a:pPr>
            <a:r>
              <a:rPr lang="zh-CN" altLang="zh-CN" sz="1600" dirty="0" smtClean="0">
                <a:solidFill>
                  <a:srgbClr val="002060"/>
                </a:solidFill>
              </a:rPr>
              <a:t>工作空间</a:t>
            </a:r>
            <a:r>
              <a:rPr lang="zh-CN" altLang="zh-CN" sz="1600" dirty="0">
                <a:solidFill>
                  <a:srgbClr val="002060"/>
                </a:solidFill>
              </a:rPr>
              <a:t>内部奇异性。这种情况下通常是由于两个或多个旋转轴重合，或两个或多个平移轴平行导致。</a:t>
            </a:r>
            <a:endParaRPr lang="en-US" altLang="zh-CN" sz="1600" dirty="0">
              <a:solidFill>
                <a:srgbClr val="002060"/>
              </a:solidFill>
            </a:endParaRPr>
          </a:p>
        </p:txBody>
      </p:sp>
      <mc:AlternateContent xmlns:mc="http://schemas.openxmlformats.org/markup-compatibility/2006" xmlns:a14="http://schemas.microsoft.com/office/drawing/2010/main">
        <mc:Choice Requires="a14">
          <p:sp>
            <p:nvSpPr>
              <p:cNvPr id="5" name="矩形 4"/>
              <p:cNvSpPr/>
              <p:nvPr/>
            </p:nvSpPr>
            <p:spPr>
              <a:xfrm>
                <a:off x="1331640" y="2925986"/>
                <a:ext cx="6552728" cy="584775"/>
              </a:xfrm>
              <a:prstGeom prst="rect">
                <a:avLst/>
              </a:prstGeom>
            </p:spPr>
            <p:txBody>
              <a:bodyPr wrap="square">
                <a:spAutoFit/>
              </a:bodyPr>
              <a:lstStyle/>
              <a:p>
                <a:r>
                  <a:rPr lang="zh-CN" altLang="zh-CN" sz="1600" dirty="0" smtClean="0">
                    <a:solidFill>
                      <a:srgbClr val="FF0000"/>
                    </a:solidFill>
                    <a:ea typeface="等线" panose="02010600030101010101" pitchFamily="2" charset="-122"/>
                    <a:cs typeface="Times New Roman" panose="02020603050405020304" pitchFamily="18" charset="0"/>
                  </a:rPr>
                  <a:t>在数学上，可以通过判别雅可比矩阵的行列式</a:t>
                </a:r>
                <a14:m>
                  <m:oMath xmlns:m="http://schemas.openxmlformats.org/officeDocument/2006/math">
                    <m:func>
                      <m:funcPr>
                        <m:ctrlPr>
                          <a:rPr lang="zh-CN" altLang="zh-CN" sz="1600" i="1">
                            <a:solidFill>
                              <a:srgbClr val="FF0000"/>
                            </a:solidFill>
                            <a:effectLst/>
                            <a:latin typeface="Cambria Math" panose="02040503050406030204" pitchFamily="18" charset="0"/>
                            <a:ea typeface="Cambria Math" panose="02040503050406030204" pitchFamily="18" charset="0"/>
                          </a:rPr>
                        </m:ctrlPr>
                      </m:funcPr>
                      <m:fName>
                        <m:r>
                          <m:rPr>
                            <m:sty m:val="p"/>
                          </m:rPr>
                          <a:rPr lang="en-US" altLang="zh-CN" sz="1600">
                            <a:solidFill>
                              <a:srgbClr val="FF0000"/>
                            </a:solidFill>
                            <a:latin typeface="Cambria Math" panose="02040503050406030204" pitchFamily="18" charset="0"/>
                            <a:ea typeface="等线" panose="02010600030101010101" pitchFamily="2" charset="-122"/>
                            <a:cs typeface="Times New Roman" panose="02020603050405020304" pitchFamily="18" charset="0"/>
                          </a:rPr>
                          <m:t>det</m:t>
                        </m:r>
                      </m:fName>
                      <m:e>
                        <m:r>
                          <a:rPr lang="en-US" altLang="zh-CN" sz="1600" i="1">
                            <a:solidFill>
                              <a:srgbClr val="FF0000"/>
                            </a:solidFill>
                            <a:latin typeface="Cambria Math" panose="02040503050406030204" pitchFamily="18" charset="0"/>
                            <a:ea typeface="等线" panose="02010600030101010101" pitchFamily="2" charset="-122"/>
                            <a:cs typeface="Times New Roman" panose="02020603050405020304" pitchFamily="18" charset="0"/>
                          </a:rPr>
                          <m:t>𝐽</m:t>
                        </m:r>
                        <m:r>
                          <a:rPr lang="en-US" altLang="zh-CN" sz="1600" i="1">
                            <a:solidFill>
                              <a:srgbClr val="FF0000"/>
                            </a:solidFill>
                            <a:latin typeface="Cambria Math" panose="02040503050406030204" pitchFamily="18" charset="0"/>
                            <a:ea typeface="等线" panose="02010600030101010101" pitchFamily="2" charset="-122"/>
                            <a:cs typeface="Times New Roman" panose="02020603050405020304" pitchFamily="18" charset="0"/>
                          </a:rPr>
                          <m:t>=0</m:t>
                        </m:r>
                      </m:e>
                    </m:func>
                  </m:oMath>
                </a14:m>
                <a:r>
                  <a:rPr lang="zh-CN" altLang="zh-CN" sz="1600" dirty="0">
                    <a:solidFill>
                      <a:srgbClr val="FF0000"/>
                    </a:solidFill>
                    <a:ea typeface="等线" panose="02010600030101010101" pitchFamily="2" charset="-122"/>
                    <a:cs typeface="Times New Roman" panose="02020603050405020304" pitchFamily="18" charset="0"/>
                  </a:rPr>
                  <a:t>（或记作</a:t>
                </a:r>
                <a14:m>
                  <m:oMath xmlns:m="http://schemas.openxmlformats.org/officeDocument/2006/math">
                    <m:d>
                      <m:dPr>
                        <m:begChr m:val="|"/>
                        <m:endChr m:val="|"/>
                        <m:ctrlPr>
                          <a:rPr lang="zh-CN" altLang="zh-CN" sz="1600" i="1">
                            <a:solidFill>
                              <a:srgbClr val="FF0000"/>
                            </a:solidFill>
                            <a:effectLst/>
                            <a:latin typeface="Cambria Math" panose="02040503050406030204" pitchFamily="18" charset="0"/>
                            <a:ea typeface="Cambria Math" panose="02040503050406030204" pitchFamily="18" charset="0"/>
                          </a:rPr>
                        </m:ctrlPr>
                      </m:dPr>
                      <m:e>
                        <m:r>
                          <a:rPr lang="en-US" altLang="zh-CN" sz="1600" i="1">
                            <a:solidFill>
                              <a:srgbClr val="FF0000"/>
                            </a:solidFill>
                            <a:latin typeface="Cambria Math" panose="02040503050406030204" pitchFamily="18" charset="0"/>
                            <a:ea typeface="等线" panose="02010600030101010101" pitchFamily="2" charset="-122"/>
                            <a:cs typeface="Times New Roman" panose="02020603050405020304" pitchFamily="18" charset="0"/>
                          </a:rPr>
                          <m:t>𝐽</m:t>
                        </m:r>
                      </m:e>
                    </m:d>
                    <m:r>
                      <a:rPr lang="en-US" altLang="zh-CN" sz="1600" i="1">
                        <a:solidFill>
                          <a:srgbClr val="FF0000"/>
                        </a:solidFill>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sz="1600" dirty="0">
                    <a:solidFill>
                      <a:srgbClr val="FF0000"/>
                    </a:solidFill>
                    <a:ea typeface="等线" panose="02010600030101010101" pitchFamily="2" charset="-122"/>
                    <a:cs typeface="Times New Roman" panose="02020603050405020304" pitchFamily="18" charset="0"/>
                  </a:rPr>
                  <a:t>）或</a:t>
                </a:r>
                <a14:m>
                  <m:oMath xmlns:m="http://schemas.openxmlformats.org/officeDocument/2006/math">
                    <m:d>
                      <m:dPr>
                        <m:begChr m:val="|"/>
                        <m:endChr m:val="|"/>
                        <m:ctrlPr>
                          <a:rPr lang="zh-CN" altLang="zh-CN" sz="1600" i="1">
                            <a:solidFill>
                              <a:srgbClr val="FF0000"/>
                            </a:solidFill>
                            <a:effectLst/>
                            <a:latin typeface="Cambria Math" panose="02040503050406030204" pitchFamily="18" charset="0"/>
                            <a:ea typeface="Cambria Math" panose="02040503050406030204" pitchFamily="18" charset="0"/>
                          </a:rPr>
                        </m:ctrlPr>
                      </m:dPr>
                      <m:e>
                        <m:r>
                          <a:rPr lang="en-US" altLang="zh-CN" sz="1600" i="1">
                            <a:solidFill>
                              <a:srgbClr val="FF0000"/>
                            </a:solidFill>
                            <a:latin typeface="Cambria Math" panose="02040503050406030204" pitchFamily="18" charset="0"/>
                            <a:ea typeface="等线" panose="02010600030101010101" pitchFamily="2" charset="-122"/>
                            <a:cs typeface="Times New Roman" panose="02020603050405020304" pitchFamily="18" charset="0"/>
                          </a:rPr>
                          <m:t>𝐽</m:t>
                        </m:r>
                        <m:sSup>
                          <m:sSupPr>
                            <m:ctrlPr>
                              <a:rPr lang="zh-CN" altLang="zh-CN" sz="1600" i="1">
                                <a:solidFill>
                                  <a:srgbClr val="FF0000"/>
                                </a:solidFill>
                                <a:effectLst/>
                                <a:latin typeface="Cambria Math" panose="02040503050406030204" pitchFamily="18" charset="0"/>
                                <a:ea typeface="Cambria Math" panose="02040503050406030204" pitchFamily="18" charset="0"/>
                              </a:rPr>
                            </m:ctrlPr>
                          </m:sSupPr>
                          <m:e>
                            <m:r>
                              <a:rPr lang="en-US" altLang="zh-CN" sz="1600" i="1">
                                <a:solidFill>
                                  <a:srgbClr val="FF0000"/>
                                </a:solidFill>
                                <a:latin typeface="Cambria Math" panose="02040503050406030204" pitchFamily="18" charset="0"/>
                                <a:ea typeface="等线" panose="02010600030101010101" pitchFamily="2" charset="-122"/>
                                <a:cs typeface="Times New Roman" panose="02020603050405020304" pitchFamily="18" charset="0"/>
                              </a:rPr>
                              <m:t>𝐽</m:t>
                            </m:r>
                          </m:e>
                          <m:sup>
                            <m:r>
                              <a:rPr lang="en-US" altLang="zh-CN" sz="1600" i="1">
                                <a:solidFill>
                                  <a:srgbClr val="FF0000"/>
                                </a:solidFill>
                                <a:latin typeface="Cambria Math" panose="02040503050406030204" pitchFamily="18" charset="0"/>
                                <a:ea typeface="等线" panose="02010600030101010101" pitchFamily="2" charset="-122"/>
                                <a:cs typeface="Times New Roman" panose="02020603050405020304" pitchFamily="18" charset="0"/>
                              </a:rPr>
                              <m:t>𝑇</m:t>
                            </m:r>
                          </m:sup>
                        </m:sSup>
                      </m:e>
                    </m:d>
                    <m:r>
                      <a:rPr lang="en-US" altLang="zh-CN" sz="1600" i="1">
                        <a:solidFill>
                          <a:srgbClr val="FF0000"/>
                        </a:solidFill>
                        <a:latin typeface="Cambria Math" panose="02040503050406030204" pitchFamily="18" charset="0"/>
                        <a:ea typeface="等线" panose="02010600030101010101" pitchFamily="2" charset="-122"/>
                        <a:cs typeface="Times New Roman" panose="02020603050405020304" pitchFamily="18" charset="0"/>
                      </a:rPr>
                      <m:t>=0</m:t>
                    </m:r>
                  </m:oMath>
                </a14:m>
                <a:r>
                  <a:rPr lang="zh-CN" altLang="zh-CN" sz="1600" dirty="0">
                    <a:solidFill>
                      <a:srgbClr val="FF0000"/>
                    </a:solidFill>
                    <a:ea typeface="等线" panose="02010600030101010101" pitchFamily="2" charset="-122"/>
                    <a:cs typeface="Times New Roman" panose="02020603050405020304" pitchFamily="18" charset="0"/>
                  </a:rPr>
                  <a:t>时，确定机器人处于奇异性位型。</a:t>
                </a:r>
                <a:endParaRPr lang="zh-CN" altLang="en-US" sz="1600" dirty="0">
                  <a:solidFill>
                    <a:srgbClr val="FF0000"/>
                  </a:solidFill>
                </a:endParaRPr>
              </a:p>
            </p:txBody>
          </p:sp>
        </mc:Choice>
        <mc:Fallback xmlns="">
          <p:sp>
            <p:nvSpPr>
              <p:cNvPr id="5" name="矩形 4"/>
              <p:cNvSpPr>
                <a:spLocks noRot="1" noChangeAspect="1" noMove="1" noResize="1" noEditPoints="1" noAdjustHandles="1" noChangeArrowheads="1" noChangeShapeType="1" noTextEdit="1"/>
              </p:cNvSpPr>
              <p:nvPr/>
            </p:nvSpPr>
            <p:spPr>
              <a:xfrm>
                <a:off x="1331640" y="2925986"/>
                <a:ext cx="6552728" cy="584775"/>
              </a:xfrm>
              <a:prstGeom prst="rect">
                <a:avLst/>
              </a:prstGeom>
              <a:blipFill>
                <a:blip r:embed="rId3"/>
                <a:stretch>
                  <a:fillRect l="-465" t="-3125" r="-3628" b="-12500"/>
                </a:stretch>
              </a:blipFill>
            </p:spPr>
            <p:txBody>
              <a:bodyPr/>
              <a:lstStyle/>
              <a:p>
                <a:r>
                  <a:rPr lang="zh-CN" altLang="en-US">
                    <a:noFill/>
                  </a:rPr>
                  <a:t> </a:t>
                </a:r>
              </a:p>
            </p:txBody>
          </p:sp>
        </mc:Fallback>
      </mc:AlternateContent>
      <p:sp>
        <p:nvSpPr>
          <p:cNvPr id="6" name="矩形 5"/>
          <p:cNvSpPr/>
          <p:nvPr/>
        </p:nvSpPr>
        <p:spPr>
          <a:xfrm>
            <a:off x="971600" y="3510761"/>
            <a:ext cx="7272808" cy="1508105"/>
          </a:xfrm>
          <a:prstGeom prst="rect">
            <a:avLst/>
          </a:prstGeom>
        </p:spPr>
        <p:txBody>
          <a:bodyPr wrap="square">
            <a:spAutoFit/>
          </a:bodyPr>
          <a:lstStyle/>
          <a:p>
            <a:r>
              <a:rPr lang="zh-CN" altLang="en-US" sz="1600" b="1" dirty="0">
                <a:solidFill>
                  <a:srgbClr val="002060"/>
                </a:solidFill>
              </a:rPr>
              <a:t>在机器人学中，通过检查雅可比矩阵辨别和避开奇异性构型非常重要，主要原因有：</a:t>
            </a:r>
          </a:p>
          <a:p>
            <a:pPr marL="171450" indent="-171450">
              <a:buFont typeface="Wingdings" panose="05000000000000000000" pitchFamily="2" charset="2"/>
              <a:buChar char="Ø"/>
            </a:pPr>
            <a:r>
              <a:rPr lang="zh-CN" altLang="en-US" sz="1200" dirty="0" smtClean="0"/>
              <a:t>在此</a:t>
            </a:r>
            <a:r>
              <a:rPr lang="zh-CN" altLang="en-US" sz="1200" dirty="0"/>
              <a:t>奇异位形下，某些方向的运动可能无法到达；</a:t>
            </a:r>
          </a:p>
          <a:p>
            <a:pPr marL="171450" indent="-171450">
              <a:buFont typeface="Wingdings" panose="05000000000000000000" pitchFamily="2" charset="2"/>
              <a:buChar char="Ø"/>
            </a:pPr>
            <a:r>
              <a:rPr lang="zh-CN" altLang="en-US" sz="1200" dirty="0" smtClean="0"/>
              <a:t> </a:t>
            </a:r>
            <a:r>
              <a:rPr lang="zh-CN" altLang="en-US" sz="1200" dirty="0"/>
              <a:t>在此奇异位形处，有界的末端执行器速度对应的某些关节速度是无限的；</a:t>
            </a:r>
          </a:p>
          <a:p>
            <a:pPr marL="171450" indent="-171450">
              <a:buFont typeface="Wingdings" panose="05000000000000000000" pitchFamily="2" charset="2"/>
              <a:buChar char="Ø"/>
            </a:pPr>
            <a:r>
              <a:rPr lang="zh-CN" altLang="en-US" sz="1200" dirty="0" smtClean="0"/>
              <a:t>在此</a:t>
            </a:r>
            <a:r>
              <a:rPr lang="zh-CN" altLang="en-US" sz="1200" dirty="0"/>
              <a:t>奇异位形处，有界的关节力和力矩可能对应末端执行器无限的力和力矩；</a:t>
            </a:r>
          </a:p>
          <a:p>
            <a:pPr marL="171450" indent="-171450">
              <a:buFont typeface="Wingdings" panose="05000000000000000000" pitchFamily="2" charset="2"/>
              <a:buChar char="Ø"/>
            </a:pPr>
            <a:r>
              <a:rPr lang="zh-CN" altLang="en-US" sz="1200" dirty="0" smtClean="0"/>
              <a:t>在此</a:t>
            </a:r>
            <a:r>
              <a:rPr lang="zh-CN" altLang="en-US" sz="1200" dirty="0"/>
              <a:t>奇异位形处，逆运动学有无穷多解。例如带有球形手腕的6R机械臂，当手腕中心位于基座旋转轴上时，将会有无穷多个奇异位形。</a:t>
            </a:r>
          </a:p>
        </p:txBody>
      </p:sp>
    </p:spTree>
    <p:extLst>
      <p:ext uri="{BB962C8B-B14F-4D97-AF65-F5344CB8AC3E}">
        <p14:creationId xmlns:p14="http://schemas.microsoft.com/office/powerpoint/2010/main" val="414500271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a:off x="-236220" y="219075"/>
            <a:ext cx="5153660" cy="598805"/>
            <a:chOff x="-372" y="345"/>
            <a:chExt cx="8116" cy="943"/>
          </a:xfrm>
        </p:grpSpPr>
        <p:sp>
          <p:nvSpPr>
            <p:cNvPr id="40" name="矩形 39"/>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Singularity Analysis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41" name="文本框 40"/>
            <p:cNvSpPr txBox="1"/>
            <p:nvPr/>
          </p:nvSpPr>
          <p:spPr>
            <a:xfrm>
              <a:off x="443" y="363"/>
              <a:ext cx="7301"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奇异性分析</a:t>
              </a:r>
              <a:endParaRPr lang="en-US" altLang="zh-CN" sz="2000" b="1" dirty="0" smtClean="0">
                <a:latin typeface="Arial" panose="020B0604020202020204" pitchFamily="34" charset="0"/>
                <a:ea typeface="微软雅黑" panose="020B0503020204020204" charset="-122"/>
                <a:sym typeface="+mn-ea"/>
              </a:endParaRPr>
            </a:p>
          </p:txBody>
        </p:sp>
        <p:sp>
          <p:nvSpPr>
            <p:cNvPr id="42" name="椭圆 41"/>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3263977" y="871914"/>
            <a:ext cx="2052165" cy="338554"/>
          </a:xfrm>
          <a:prstGeom prst="rect">
            <a:avLst/>
          </a:prstGeom>
        </p:spPr>
        <p:txBody>
          <a:bodyPr wrap="none">
            <a:spAutoFit/>
          </a:bodyPr>
          <a:lstStyle/>
          <a:p>
            <a:r>
              <a:rPr lang="zh-CN" altLang="en-US" sz="1600" b="1" dirty="0" smtClean="0">
                <a:solidFill>
                  <a:srgbClr val="002060"/>
                </a:solidFill>
                <a:latin typeface="等线" panose="02010600030101010101" pitchFamily="2" charset="-122"/>
                <a:cs typeface="Times New Roman" panose="02020603050405020304" pitchFamily="18" charset="0"/>
              </a:rPr>
              <a:t>以</a:t>
            </a:r>
            <a:r>
              <a:rPr lang="en-US" altLang="zh-CN" sz="1600" b="1" dirty="0" smtClean="0">
                <a:solidFill>
                  <a:srgbClr val="002060"/>
                </a:solidFill>
                <a:latin typeface="等线" panose="02010600030101010101" pitchFamily="2" charset="-122"/>
                <a:cs typeface="Times New Roman" panose="02020603050405020304" pitchFamily="18" charset="0"/>
              </a:rPr>
              <a:t>6R</a:t>
            </a:r>
            <a:r>
              <a:rPr lang="zh-CN" altLang="zh-CN" sz="1600" b="1" dirty="0">
                <a:solidFill>
                  <a:srgbClr val="002060"/>
                </a:solidFill>
                <a:ea typeface="等线" panose="02010600030101010101" pitchFamily="2" charset="-122"/>
                <a:cs typeface="Times New Roman" panose="02020603050405020304" pitchFamily="18" charset="0"/>
              </a:rPr>
              <a:t>串联机械</a:t>
            </a:r>
            <a:r>
              <a:rPr lang="zh-CN" altLang="zh-CN" sz="1600" b="1" dirty="0" smtClean="0">
                <a:solidFill>
                  <a:srgbClr val="002060"/>
                </a:solidFill>
                <a:ea typeface="等线" panose="02010600030101010101" pitchFamily="2" charset="-122"/>
                <a:cs typeface="Times New Roman" panose="02020603050405020304" pitchFamily="18" charset="0"/>
              </a:rPr>
              <a:t>臂</a:t>
            </a:r>
            <a:r>
              <a:rPr lang="zh-CN" altLang="en-US" sz="1600" b="1" dirty="0" smtClean="0">
                <a:solidFill>
                  <a:srgbClr val="002060"/>
                </a:solidFill>
                <a:ea typeface="等线" panose="02010600030101010101" pitchFamily="2" charset="-122"/>
                <a:cs typeface="Times New Roman" panose="02020603050405020304" pitchFamily="18" charset="0"/>
              </a:rPr>
              <a:t>为例</a:t>
            </a:r>
            <a:endParaRPr lang="zh-CN" altLang="en-US" sz="1600" b="1" dirty="0">
              <a:solidFill>
                <a:srgbClr val="002060"/>
              </a:solidFill>
            </a:endParaRPr>
          </a:p>
        </p:txBody>
      </p:sp>
      <mc:AlternateContent xmlns:mc="http://schemas.openxmlformats.org/markup-compatibility/2006" xmlns:a14="http://schemas.microsoft.com/office/drawing/2010/main">
        <mc:Choice Requires="a14">
          <p:sp>
            <p:nvSpPr>
              <p:cNvPr id="7" name="矩形 6"/>
              <p:cNvSpPr/>
              <p:nvPr/>
            </p:nvSpPr>
            <p:spPr>
              <a:xfrm>
                <a:off x="2964088" y="1264503"/>
                <a:ext cx="2377381" cy="6455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𝐽</m:t>
                      </m:r>
                      <m:r>
                        <a:rPr lang="zh-CN" altLang="en-US" sz="1600" i="0">
                          <a:latin typeface="Cambria Math" panose="02040503050406030204" pitchFamily="18" charset="0"/>
                        </a:rPr>
                        <m:t>=</m:t>
                      </m:r>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1">
                                  <a:latin typeface="Cambria Math" panose="02040503050406030204" pitchFamily="18" charset="0"/>
                                </a:rPr>
                                <m:t>𝑃</m:t>
                              </m:r>
                            </m:sub>
                          </m:sSub>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1">
                                  <a:latin typeface="Cambria Math" panose="02040503050406030204" pitchFamily="18" charset="0"/>
                                </a:rPr>
                                <m:t>𝑂</m:t>
                              </m:r>
                            </m:sub>
                          </m:sSub>
                        </m:e>
                      </m:d>
                      <m:r>
                        <a:rPr lang="zh-CN" altLang="en-US" sz="1600" i="0">
                          <a:latin typeface="Cambria Math" panose="02040503050406030204" pitchFamily="18" charset="0"/>
                        </a:rPr>
                        <m:t>=</m:t>
                      </m:r>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0">
                                      <a:latin typeface="Cambria Math" panose="02040503050406030204" pitchFamily="18" charset="0"/>
                                    </a:rPr>
                                    <m:t>11</m:t>
                                  </m:r>
                                </m:sub>
                              </m:sSub>
                            </m:num>
                            <m:den>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0">
                                      <a:latin typeface="Cambria Math" panose="02040503050406030204" pitchFamily="18" charset="0"/>
                                    </a:rPr>
                                    <m:t>21</m:t>
                                  </m:r>
                                </m:sub>
                              </m:sSub>
                            </m:den>
                          </m:f>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0">
                                      <a:latin typeface="Cambria Math" panose="02040503050406030204" pitchFamily="18" charset="0"/>
                                    </a:rPr>
                                    <m:t>12</m:t>
                                  </m:r>
                                </m:sub>
                              </m:sSub>
                            </m:num>
                            <m:den>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0">
                                      <a:latin typeface="Cambria Math" panose="02040503050406030204" pitchFamily="18" charset="0"/>
                                    </a:rPr>
                                    <m:t>22</m:t>
                                  </m:r>
                                </m:sub>
                              </m:sSub>
                            </m:den>
                          </m:f>
                        </m:e>
                      </m:d>
                    </m:oMath>
                  </m:oMathPara>
                </a14:m>
                <a:endParaRPr lang="zh-CN" altLang="en-US" sz="1600" dirty="0"/>
              </a:p>
            </p:txBody>
          </p:sp>
        </mc:Choice>
        <mc:Fallback xmlns="">
          <p:sp>
            <p:nvSpPr>
              <p:cNvPr id="7" name="矩形 6"/>
              <p:cNvSpPr>
                <a:spLocks noRot="1" noChangeAspect="1" noMove="1" noResize="1" noEditPoints="1" noAdjustHandles="1" noChangeArrowheads="1" noChangeShapeType="1" noTextEdit="1"/>
              </p:cNvSpPr>
              <p:nvPr/>
            </p:nvSpPr>
            <p:spPr>
              <a:xfrm>
                <a:off x="2964088" y="1264503"/>
                <a:ext cx="2377381" cy="645561"/>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2736027" y="1970444"/>
                <a:ext cx="5160229" cy="56002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1">
                              <a:latin typeface="Cambria Math" panose="02040503050406030204" pitchFamily="18" charset="0"/>
                            </a:rPr>
                            <m:t>𝑂</m:t>
                          </m:r>
                        </m:sub>
                      </m:sSub>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m>
                            <m:mPr>
                              <m:mcs>
                                <m:mc>
                                  <m:mcPr>
                                    <m:count m:val="3"/>
                                    <m:mcJc m:val="center"/>
                                  </m:mcPr>
                                </m:mc>
                              </m:mcs>
                              <m:ctrlPr>
                                <a:rPr lang="zh-CN" altLang="en-US" sz="1600" i="1">
                                  <a:latin typeface="Cambria Math" panose="02040503050406030204" pitchFamily="18" charset="0"/>
                                </a:rPr>
                              </m:ctrlPr>
                            </m:mPr>
                            <m:mr>
                              <m:e>
                                <m:d>
                                  <m:dPr>
                                    <m:begChr m:val=""/>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𝑧</m:t>
                                        </m:r>
                                      </m:e>
                                      <m:sub>
                                        <m:r>
                                          <a:rPr lang="zh-CN" altLang="en-US" sz="1600" i="0">
                                            <a:latin typeface="Cambria Math" panose="02040503050406030204" pitchFamily="18" charset="0"/>
                                          </a:rPr>
                                          <m:t>3</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𝑂</m:t>
                                        </m:r>
                                      </m:e>
                                      <m:sub>
                                        <m:r>
                                          <a:rPr lang="zh-CN" altLang="en-US" sz="1600" i="0">
                                            <a:latin typeface="Cambria Math" panose="02040503050406030204" pitchFamily="18" charset="0"/>
                                          </a:rPr>
                                          <m:t>6</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𝑂</m:t>
                                        </m:r>
                                      </m:e>
                                      <m:sub>
                                        <m:r>
                                          <a:rPr lang="zh-CN" altLang="en-US" sz="1600" i="0">
                                            <a:latin typeface="Cambria Math" panose="02040503050406030204" pitchFamily="18" charset="0"/>
                                          </a:rPr>
                                          <m:t>3</m:t>
                                        </m:r>
                                      </m:sub>
                                    </m:sSub>
                                  </m:e>
                                </m:d>
                              </m:e>
                              <m:e>
                                <m:d>
                                  <m:dPr>
                                    <m:begChr m:val=""/>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𝑧</m:t>
                                        </m:r>
                                      </m:e>
                                      <m:sub>
                                        <m:r>
                                          <a:rPr lang="zh-CN" altLang="en-US" sz="1600" i="0">
                                            <a:latin typeface="Cambria Math" panose="02040503050406030204" pitchFamily="18" charset="0"/>
                                          </a:rPr>
                                          <m:t>4</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𝑂</m:t>
                                        </m:r>
                                      </m:e>
                                      <m:sub>
                                        <m:r>
                                          <a:rPr lang="zh-CN" altLang="en-US" sz="1600" i="0">
                                            <a:latin typeface="Cambria Math" panose="02040503050406030204" pitchFamily="18" charset="0"/>
                                          </a:rPr>
                                          <m:t>6</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𝑂</m:t>
                                        </m:r>
                                      </m:e>
                                      <m:sub>
                                        <m:r>
                                          <a:rPr lang="zh-CN" altLang="en-US" sz="1600" i="0">
                                            <a:latin typeface="Cambria Math" panose="02040503050406030204" pitchFamily="18" charset="0"/>
                                          </a:rPr>
                                          <m:t>4</m:t>
                                        </m:r>
                                      </m:sub>
                                    </m:sSub>
                                  </m:e>
                                </m:d>
                              </m:e>
                              <m:e>
                                <m:d>
                                  <m:dPr>
                                    <m:begChr m:val=""/>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𝑧</m:t>
                                        </m:r>
                                      </m:e>
                                      <m:sub>
                                        <m:r>
                                          <a:rPr lang="zh-CN" altLang="en-US" sz="1600" i="0">
                                            <a:latin typeface="Cambria Math" panose="02040503050406030204" pitchFamily="18" charset="0"/>
                                          </a:rPr>
                                          <m:t>5</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𝑂</m:t>
                                        </m:r>
                                      </m:e>
                                      <m:sub>
                                        <m:r>
                                          <a:rPr lang="zh-CN" altLang="en-US" sz="1600" i="0">
                                            <a:latin typeface="Cambria Math" panose="02040503050406030204" pitchFamily="18" charset="0"/>
                                          </a:rPr>
                                          <m:t>6</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𝑂</m:t>
                                        </m:r>
                                      </m:e>
                                      <m:sub>
                                        <m:r>
                                          <a:rPr lang="zh-CN" altLang="en-US" sz="1600" i="0">
                                            <a:latin typeface="Cambria Math" panose="02040503050406030204" pitchFamily="18" charset="0"/>
                                          </a:rPr>
                                          <m:t>5</m:t>
                                        </m:r>
                                      </m:sub>
                                    </m:sSub>
                                  </m:e>
                                </m:d>
                              </m:e>
                            </m:m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𝑧</m:t>
                                    </m:r>
                                  </m:e>
                                  <m:sub>
                                    <m:r>
                                      <a:rPr lang="zh-CN" altLang="en-US" sz="1600" i="0">
                                        <a:latin typeface="Cambria Math" panose="02040503050406030204" pitchFamily="18" charset="0"/>
                                      </a:rPr>
                                      <m:t>3</m:t>
                                    </m:r>
                                  </m:sub>
                                </m:sSub>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𝑧</m:t>
                                    </m:r>
                                  </m:e>
                                  <m:sub>
                                    <m:r>
                                      <a:rPr lang="zh-CN" altLang="en-US" sz="1600" i="0">
                                        <a:latin typeface="Cambria Math" panose="02040503050406030204" pitchFamily="18" charset="0"/>
                                      </a:rPr>
                                      <m:t>4</m:t>
                                    </m:r>
                                  </m:sub>
                                </m:sSub>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𝑧</m:t>
                                    </m:r>
                                  </m:e>
                                  <m:sub>
                                    <m:r>
                                      <a:rPr lang="zh-CN" altLang="en-US" sz="1600" i="0">
                                        <a:latin typeface="Cambria Math" panose="02040503050406030204" pitchFamily="18" charset="0"/>
                                      </a:rPr>
                                      <m:t>5</m:t>
                                    </m:r>
                                  </m:sub>
                                </m:sSub>
                              </m:e>
                            </m:mr>
                          </m:m>
                        </m:e>
                      </m:d>
                    </m:oMath>
                  </m:oMathPara>
                </a14:m>
                <a:endParaRPr lang="zh-CN" altLang="en-US" sz="1600" dirty="0"/>
              </a:p>
            </p:txBody>
          </p:sp>
        </mc:Choice>
        <mc:Fallback xmlns="">
          <p:sp>
            <p:nvSpPr>
              <p:cNvPr id="8" name="矩形 7"/>
              <p:cNvSpPr>
                <a:spLocks noRot="1" noChangeAspect="1" noMove="1" noResize="1" noEditPoints="1" noAdjustHandles="1" noChangeArrowheads="1" noChangeShapeType="1" noTextEdit="1"/>
              </p:cNvSpPr>
              <p:nvPr/>
            </p:nvSpPr>
            <p:spPr>
              <a:xfrm>
                <a:off x="2736027" y="1970444"/>
                <a:ext cx="5160229" cy="560025"/>
              </a:xfrm>
              <a:prstGeom prst="rect">
                <a:avLst/>
              </a:prstGeom>
              <a:blipFill>
                <a:blip r:embed="rId4"/>
                <a:stretch>
                  <a:fillRect t="-67391" r="-6147" b="-61957"/>
                </a:stretch>
              </a:blipFill>
            </p:spPr>
            <p:txBody>
              <a:bodyPr/>
              <a:lstStyle/>
              <a:p>
                <a:r>
                  <a:rPr lang="zh-CN" altLang="en-US">
                    <a:noFill/>
                  </a:rPr>
                  <a:t> </a:t>
                </a:r>
              </a:p>
            </p:txBody>
          </p:sp>
        </mc:Fallback>
      </mc:AlternateContent>
      <p:sp>
        <p:nvSpPr>
          <p:cNvPr id="9" name="矩形 8"/>
          <p:cNvSpPr/>
          <p:nvPr/>
        </p:nvSpPr>
        <p:spPr>
          <a:xfrm>
            <a:off x="489112" y="2081179"/>
            <a:ext cx="2441694" cy="338554"/>
          </a:xfrm>
          <a:prstGeom prst="rect">
            <a:avLst/>
          </a:prstGeom>
        </p:spPr>
        <p:txBody>
          <a:bodyPr wrap="none">
            <a:spAutoFit/>
          </a:bodyPr>
          <a:lstStyle/>
          <a:p>
            <a:r>
              <a:rPr lang="zh-CN" altLang="zh-CN" sz="1600" dirty="0">
                <a:solidFill>
                  <a:srgbClr val="002060"/>
                </a:solidFill>
                <a:ea typeface="等线" panose="02010600030101010101" pitchFamily="2" charset="-122"/>
                <a:cs typeface="Times New Roman" panose="02020603050405020304" pitchFamily="18" charset="0"/>
              </a:rPr>
              <a:t>最后三个关节为旋转关节</a:t>
            </a:r>
            <a:endParaRPr lang="zh-CN" altLang="en-US" sz="1600" dirty="0">
              <a:solidFill>
                <a:srgbClr val="002060"/>
              </a:solidFill>
            </a:endParaRPr>
          </a:p>
        </p:txBody>
      </p:sp>
      <mc:AlternateContent xmlns:mc="http://schemas.openxmlformats.org/markup-compatibility/2006" xmlns:a14="http://schemas.microsoft.com/office/drawing/2010/main">
        <mc:Choice Requires="a14">
          <p:sp>
            <p:nvSpPr>
              <p:cNvPr id="10" name="矩形 9"/>
              <p:cNvSpPr/>
              <p:nvPr/>
            </p:nvSpPr>
            <p:spPr>
              <a:xfrm>
                <a:off x="1162472" y="2639488"/>
                <a:ext cx="6708632" cy="338554"/>
              </a:xfrm>
              <a:prstGeom prst="rect">
                <a:avLst/>
              </a:prstGeom>
            </p:spPr>
            <p:txBody>
              <a:bodyPr wrap="square">
                <a:spAutoFit/>
              </a:bodyPr>
              <a:lstStyle/>
              <a:p>
                <a:r>
                  <a:rPr lang="zh-CN" altLang="zh-CN" sz="1600" dirty="0" smtClean="0">
                    <a:solidFill>
                      <a:srgbClr val="FF0000"/>
                    </a:solidFill>
                    <a:ea typeface="等线" panose="02010600030101010101" pitchFamily="2" charset="-122"/>
                    <a:cs typeface="Times New Roman" panose="02020603050405020304" pitchFamily="18" charset="0"/>
                  </a:rPr>
                  <a:t>手腕轴线交于一点</a:t>
                </a:r>
                <a14:m>
                  <m:oMath xmlns:m="http://schemas.openxmlformats.org/officeDocument/2006/math">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𝑂</m:t>
                    </m:r>
                  </m:oMath>
                </a14:m>
                <a:r>
                  <a:rPr lang="zh-CN" altLang="zh-CN" sz="1600" dirty="0">
                    <a:solidFill>
                      <a:srgbClr val="002060"/>
                    </a:solidFill>
                    <a:ea typeface="等线" panose="02010600030101010101" pitchFamily="2" charset="-122"/>
                    <a:cs typeface="Times New Roman" panose="02020603050405020304" pitchFamily="18" charset="0"/>
                  </a:rPr>
                  <a:t>，如果我们选择坐标系使得</a:t>
                </a:r>
                <a14:m>
                  <m:oMath xmlns:m="http://schemas.openxmlformats.org/officeDocument/2006/math">
                    <m:sSub>
                      <m:sSubPr>
                        <m:ctrlPr>
                          <a:rPr lang="zh-CN" altLang="zh-CN" sz="1600" i="1">
                            <a:solidFill>
                              <a:srgbClr val="002060"/>
                            </a:solidFill>
                            <a:effectLst/>
                            <a:latin typeface="Cambria Math" panose="02040503050406030204" pitchFamily="18" charset="0"/>
                            <a:ea typeface="Cambria Math" panose="02040503050406030204" pitchFamily="18" charset="0"/>
                          </a:rPr>
                        </m:ctrlPr>
                      </m:sSubPr>
                      <m:e>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𝑂</m:t>
                        </m:r>
                      </m:e>
                      <m:sub>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3</m:t>
                        </m:r>
                      </m:sub>
                    </m:sSub>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solidFill>
                              <a:srgbClr val="002060"/>
                            </a:solidFill>
                            <a:effectLst/>
                            <a:latin typeface="Cambria Math" panose="02040503050406030204" pitchFamily="18" charset="0"/>
                            <a:ea typeface="Cambria Math" panose="02040503050406030204" pitchFamily="18" charset="0"/>
                          </a:rPr>
                        </m:ctrlPr>
                      </m:sSubPr>
                      <m:e>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𝑂</m:t>
                        </m:r>
                      </m:e>
                      <m:sub>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4</m:t>
                        </m:r>
                      </m:sub>
                    </m:sSub>
                    <m:sSub>
                      <m:sSubPr>
                        <m:ctrlPr>
                          <a:rPr lang="zh-CN" altLang="zh-CN" sz="1600" i="1">
                            <a:solidFill>
                              <a:srgbClr val="002060"/>
                            </a:solidFill>
                            <a:effectLst/>
                            <a:latin typeface="Cambria Math" panose="02040503050406030204" pitchFamily="18" charset="0"/>
                            <a:ea typeface="Cambria Math" panose="02040503050406030204" pitchFamily="18" charset="0"/>
                          </a:rPr>
                        </m:ctrlPr>
                      </m:sSubPr>
                      <m:e>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𝑂</m:t>
                        </m:r>
                      </m:e>
                      <m:sub>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5</m:t>
                        </m:r>
                      </m:sub>
                    </m:sSub>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a:solidFill>
                              <a:srgbClr val="002060"/>
                            </a:solidFill>
                            <a:effectLst/>
                            <a:latin typeface="Cambria Math" panose="02040503050406030204" pitchFamily="18" charset="0"/>
                            <a:ea typeface="Cambria Math" panose="02040503050406030204" pitchFamily="18" charset="0"/>
                          </a:rPr>
                        </m:ctrlPr>
                      </m:sSubPr>
                      <m:e>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𝑂</m:t>
                        </m:r>
                      </m:e>
                      <m:sub>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6</m:t>
                        </m:r>
                      </m:sub>
                    </m:sSub>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a:solidFill>
                          <a:srgbClr val="002060"/>
                        </a:solidFill>
                        <a:latin typeface="Cambria Math" panose="02040503050406030204" pitchFamily="18" charset="0"/>
                        <a:ea typeface="等线" panose="02010600030101010101" pitchFamily="2" charset="-122"/>
                        <a:cs typeface="Times New Roman" panose="02020603050405020304" pitchFamily="18" charset="0"/>
                      </a:rPr>
                      <m:t>𝑂</m:t>
                    </m:r>
                  </m:oMath>
                </a14:m>
                <a:endParaRPr lang="zh-CN" altLang="en-US" sz="1600" dirty="0">
                  <a:solidFill>
                    <a:srgbClr val="002060"/>
                  </a:solidFill>
                </a:endParaRPr>
              </a:p>
            </p:txBody>
          </p:sp>
        </mc:Choice>
        <mc:Fallback xmlns="">
          <p:sp>
            <p:nvSpPr>
              <p:cNvPr id="10" name="矩形 9"/>
              <p:cNvSpPr>
                <a:spLocks noRot="1" noChangeAspect="1" noMove="1" noResize="1" noEditPoints="1" noAdjustHandles="1" noChangeArrowheads="1" noChangeShapeType="1" noTextEdit="1"/>
              </p:cNvSpPr>
              <p:nvPr/>
            </p:nvSpPr>
            <p:spPr>
              <a:xfrm>
                <a:off x="1162472" y="2639488"/>
                <a:ext cx="6708632" cy="338554"/>
              </a:xfrm>
              <a:prstGeom prst="rect">
                <a:avLst/>
              </a:prstGeom>
              <a:blipFill>
                <a:blip r:embed="rId5"/>
                <a:stretch>
                  <a:fillRect l="-545" t="-5357" b="-2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2918382" y="2978042"/>
                <a:ext cx="1816331" cy="5447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1">
                              <a:latin typeface="Cambria Math" panose="02040503050406030204" pitchFamily="18" charset="0"/>
                            </a:rPr>
                            <m:t>𝑂</m:t>
                          </m:r>
                        </m:sub>
                      </m:sSub>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m>
                            <m:mPr>
                              <m:mcs>
                                <m:mc>
                                  <m:mcPr>
                                    <m:count m:val="3"/>
                                    <m:mcJc m:val="center"/>
                                  </m:mcPr>
                                </m:mc>
                              </m:mcs>
                              <m:ctrlPr>
                                <a:rPr lang="zh-CN" altLang="en-US" sz="1600" i="1">
                                  <a:latin typeface="Cambria Math" panose="02040503050406030204" pitchFamily="18" charset="0"/>
                                </a:rPr>
                              </m:ctrlPr>
                            </m:mPr>
                            <m:mr>
                              <m:e>
                                <m:r>
                                  <a:rPr lang="zh-CN" altLang="en-US" sz="1600" i="0">
                                    <a:latin typeface="Cambria Math" panose="02040503050406030204" pitchFamily="18" charset="0"/>
                                  </a:rPr>
                                  <m:t>0</m:t>
                                </m:r>
                              </m:e>
                              <m:e>
                                <m:r>
                                  <a:rPr lang="zh-CN" altLang="en-US" sz="1600" i="0">
                                    <a:latin typeface="Cambria Math" panose="02040503050406030204" pitchFamily="18" charset="0"/>
                                  </a:rPr>
                                  <m:t>0</m:t>
                                </m:r>
                              </m:e>
                              <m:e>
                                <m:r>
                                  <a:rPr lang="zh-CN" altLang="en-US" sz="1600" i="0">
                                    <a:latin typeface="Cambria Math" panose="02040503050406030204" pitchFamily="18" charset="0"/>
                                  </a:rPr>
                                  <m:t>0</m:t>
                                </m:r>
                              </m:e>
                            </m:m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𝑧</m:t>
                                    </m:r>
                                  </m:e>
                                  <m:sub>
                                    <m:r>
                                      <a:rPr lang="zh-CN" altLang="en-US" sz="1600" i="0">
                                        <a:latin typeface="Cambria Math" panose="02040503050406030204" pitchFamily="18" charset="0"/>
                                      </a:rPr>
                                      <m:t>3</m:t>
                                    </m:r>
                                  </m:sub>
                                </m:sSub>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𝑧</m:t>
                                    </m:r>
                                  </m:e>
                                  <m:sub>
                                    <m:r>
                                      <a:rPr lang="zh-CN" altLang="en-US" sz="1600" i="0">
                                        <a:latin typeface="Cambria Math" panose="02040503050406030204" pitchFamily="18" charset="0"/>
                                      </a:rPr>
                                      <m:t>4</m:t>
                                    </m:r>
                                  </m:sub>
                                </m:sSub>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𝑧</m:t>
                                    </m:r>
                                  </m:e>
                                  <m:sub>
                                    <m:r>
                                      <a:rPr lang="zh-CN" altLang="en-US" sz="1600" i="0">
                                        <a:latin typeface="Cambria Math" panose="02040503050406030204" pitchFamily="18" charset="0"/>
                                      </a:rPr>
                                      <m:t>5</m:t>
                                    </m:r>
                                  </m:sub>
                                </m:sSub>
                              </m:e>
                            </m:mr>
                          </m:m>
                        </m:e>
                      </m:d>
                    </m:oMath>
                  </m:oMathPara>
                </a14:m>
                <a:endParaRPr lang="zh-CN" altLang="en-US" sz="1600" dirty="0"/>
              </a:p>
            </p:txBody>
          </p:sp>
        </mc:Choice>
        <mc:Fallback xmlns="">
          <p:sp>
            <p:nvSpPr>
              <p:cNvPr id="11" name="矩形 10"/>
              <p:cNvSpPr>
                <a:spLocks noRot="1" noChangeAspect="1" noMove="1" noResize="1" noEditPoints="1" noAdjustHandles="1" noChangeArrowheads="1" noChangeShapeType="1" noTextEdit="1"/>
              </p:cNvSpPr>
              <p:nvPr/>
            </p:nvSpPr>
            <p:spPr>
              <a:xfrm>
                <a:off x="2918382" y="2978042"/>
                <a:ext cx="1816331" cy="544765"/>
              </a:xfrm>
              <a:prstGeom prst="rect">
                <a:avLst/>
              </a:prstGeom>
              <a:blipFill>
                <a:blip r:embed="rId6"/>
                <a:stretch>
                  <a:fillRect b="-11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1800948" y="3559611"/>
                <a:ext cx="1438792" cy="54675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𝐽</m:t>
                      </m:r>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m>
                            <m:mPr>
                              <m:mcs>
                                <m:mc>
                                  <m:mcPr>
                                    <m:count m:val="2"/>
                                    <m:mcJc m:val="center"/>
                                  </m:mcPr>
                                </m:mc>
                              </m:mcs>
                              <m:ctrlPr>
                                <a:rPr lang="zh-CN" altLang="en-US" sz="1600" i="1">
                                  <a:latin typeface="Cambria Math" panose="02040503050406030204" pitchFamily="18" charset="0"/>
                                </a:rPr>
                              </m:ctrlPr>
                            </m:mP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0">
                                        <a:latin typeface="Cambria Math" panose="02040503050406030204" pitchFamily="18" charset="0"/>
                                      </a:rPr>
                                      <m:t>11</m:t>
                                    </m:r>
                                  </m:sub>
                                </m:sSub>
                              </m:e>
                              <m:e>
                                <m:r>
                                  <a:rPr lang="zh-CN" altLang="en-US" sz="1600" i="0">
                                    <a:latin typeface="Cambria Math" panose="02040503050406030204" pitchFamily="18" charset="0"/>
                                  </a:rPr>
                                  <m:t>0</m:t>
                                </m:r>
                              </m:e>
                            </m:mr>
                            <m:m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0">
                                        <a:latin typeface="Cambria Math" panose="02040503050406030204" pitchFamily="18" charset="0"/>
                                      </a:rPr>
                                      <m:t>21</m:t>
                                    </m:r>
                                  </m:sub>
                                </m:sSub>
                              </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0">
                                        <a:latin typeface="Cambria Math" panose="02040503050406030204" pitchFamily="18" charset="0"/>
                                      </a:rPr>
                                      <m:t>22</m:t>
                                    </m:r>
                                  </m:sub>
                                </m:sSub>
                              </m:e>
                            </m:mr>
                          </m:m>
                        </m:e>
                      </m:d>
                    </m:oMath>
                  </m:oMathPara>
                </a14:m>
                <a:endParaRPr lang="zh-CN" altLang="en-US" sz="1600" dirty="0"/>
              </a:p>
            </p:txBody>
          </p:sp>
        </mc:Choice>
        <mc:Fallback xmlns="">
          <p:sp>
            <p:nvSpPr>
              <p:cNvPr id="12" name="矩形 11"/>
              <p:cNvSpPr>
                <a:spLocks noRot="1" noChangeAspect="1" noMove="1" noResize="1" noEditPoints="1" noAdjustHandles="1" noChangeArrowheads="1" noChangeShapeType="1" noTextEdit="1"/>
              </p:cNvSpPr>
              <p:nvPr/>
            </p:nvSpPr>
            <p:spPr>
              <a:xfrm>
                <a:off x="1800948" y="3559611"/>
                <a:ext cx="1438792" cy="546753"/>
              </a:xfrm>
              <a:prstGeom prst="rect">
                <a:avLst/>
              </a:prstGeom>
              <a:blipFill>
                <a:blip r:embed="rId7"/>
                <a:stretch>
                  <a:fillRect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3995936" y="3667453"/>
                <a:ext cx="2056397"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zh-CN" altLang="en-US" sz="1600" i="1" smtClean="0">
                              <a:solidFill>
                                <a:srgbClr val="002060"/>
                              </a:solidFill>
                              <a:latin typeface="Cambria Math" panose="02040503050406030204" pitchFamily="18" charset="0"/>
                            </a:rPr>
                          </m:ctrlPr>
                        </m:funcPr>
                        <m:fName>
                          <m:r>
                            <m:rPr>
                              <m:sty m:val="p"/>
                            </m:rPr>
                            <a:rPr lang="zh-CN" altLang="en-US" sz="1600">
                              <a:solidFill>
                                <a:srgbClr val="002060"/>
                              </a:solidFill>
                              <a:latin typeface="Cambria Math" panose="02040503050406030204" pitchFamily="18" charset="0"/>
                            </a:rPr>
                            <m:t>det</m:t>
                          </m:r>
                        </m:fName>
                        <m:e>
                          <m:r>
                            <a:rPr lang="zh-CN" altLang="en-US" sz="1600" i="1">
                              <a:solidFill>
                                <a:srgbClr val="002060"/>
                              </a:solidFill>
                              <a:latin typeface="Cambria Math" panose="02040503050406030204" pitchFamily="18" charset="0"/>
                            </a:rPr>
                            <m:t>𝐽</m:t>
                          </m:r>
                        </m:e>
                      </m:func>
                      <m:r>
                        <a:rPr lang="zh-CN" altLang="en-US" sz="1600" i="0">
                          <a:solidFill>
                            <a:srgbClr val="002060"/>
                          </a:solidFill>
                          <a:latin typeface="Cambria Math" panose="02040503050406030204" pitchFamily="18" charset="0"/>
                        </a:rPr>
                        <m:t>=</m:t>
                      </m:r>
                      <m:func>
                        <m:funcPr>
                          <m:ctrlPr>
                            <a:rPr lang="zh-CN" altLang="en-US" sz="1600" i="1">
                              <a:solidFill>
                                <a:srgbClr val="002060"/>
                              </a:solidFill>
                              <a:latin typeface="Cambria Math" panose="02040503050406030204" pitchFamily="18" charset="0"/>
                            </a:rPr>
                          </m:ctrlPr>
                        </m:funcPr>
                        <m:fName>
                          <m:r>
                            <m:rPr>
                              <m:sty m:val="p"/>
                            </m:rPr>
                            <a:rPr lang="zh-CN" altLang="en-US" sz="1600" i="0">
                              <a:solidFill>
                                <a:srgbClr val="002060"/>
                              </a:solidFill>
                              <a:latin typeface="Cambria Math" panose="02040503050406030204" pitchFamily="18" charset="0"/>
                            </a:rPr>
                            <m:t>det</m:t>
                          </m:r>
                        </m:fName>
                        <m:e>
                          <m:sSub>
                            <m:sSubPr>
                              <m:ctrlPr>
                                <a:rPr lang="zh-CN" altLang="en-US" sz="1600" i="1">
                                  <a:solidFill>
                                    <a:srgbClr val="002060"/>
                                  </a:solidFill>
                                  <a:latin typeface="Cambria Math" panose="02040503050406030204" pitchFamily="18" charset="0"/>
                                </a:rPr>
                              </m:ctrlPr>
                            </m:sSubPr>
                            <m:e>
                              <m:r>
                                <a:rPr lang="zh-CN" altLang="en-US" sz="1600" i="1">
                                  <a:solidFill>
                                    <a:srgbClr val="002060"/>
                                  </a:solidFill>
                                  <a:latin typeface="Cambria Math" panose="02040503050406030204" pitchFamily="18" charset="0"/>
                                </a:rPr>
                                <m:t>𝐽</m:t>
                              </m:r>
                            </m:e>
                            <m:sub>
                              <m:r>
                                <a:rPr lang="zh-CN" altLang="en-US" sz="1600" i="0">
                                  <a:solidFill>
                                    <a:srgbClr val="002060"/>
                                  </a:solidFill>
                                  <a:latin typeface="Cambria Math" panose="02040503050406030204" pitchFamily="18" charset="0"/>
                                </a:rPr>
                                <m:t>11</m:t>
                              </m:r>
                            </m:sub>
                          </m:sSub>
                        </m:e>
                      </m:func>
                      <m:func>
                        <m:funcPr>
                          <m:ctrlPr>
                            <a:rPr lang="zh-CN" altLang="en-US" sz="1600" i="1">
                              <a:solidFill>
                                <a:srgbClr val="002060"/>
                              </a:solidFill>
                              <a:latin typeface="Cambria Math" panose="02040503050406030204" pitchFamily="18" charset="0"/>
                            </a:rPr>
                          </m:ctrlPr>
                        </m:funcPr>
                        <m:fName>
                          <m:r>
                            <m:rPr>
                              <m:sty m:val="p"/>
                            </m:rPr>
                            <a:rPr lang="zh-CN" altLang="en-US" sz="1600" i="0">
                              <a:solidFill>
                                <a:srgbClr val="002060"/>
                              </a:solidFill>
                              <a:latin typeface="Cambria Math" panose="02040503050406030204" pitchFamily="18" charset="0"/>
                            </a:rPr>
                            <m:t>det</m:t>
                          </m:r>
                        </m:fName>
                        <m:e>
                          <m:sSub>
                            <m:sSubPr>
                              <m:ctrlPr>
                                <a:rPr lang="zh-CN" altLang="en-US" sz="1600" i="1">
                                  <a:solidFill>
                                    <a:srgbClr val="002060"/>
                                  </a:solidFill>
                                  <a:latin typeface="Cambria Math" panose="02040503050406030204" pitchFamily="18" charset="0"/>
                                </a:rPr>
                              </m:ctrlPr>
                            </m:sSubPr>
                            <m:e>
                              <m:r>
                                <a:rPr lang="zh-CN" altLang="en-US" sz="1600" i="1">
                                  <a:solidFill>
                                    <a:srgbClr val="002060"/>
                                  </a:solidFill>
                                  <a:latin typeface="Cambria Math" panose="02040503050406030204" pitchFamily="18" charset="0"/>
                                </a:rPr>
                                <m:t>𝐽</m:t>
                              </m:r>
                            </m:e>
                            <m:sub>
                              <m:r>
                                <a:rPr lang="zh-CN" altLang="en-US" sz="1600" i="0">
                                  <a:solidFill>
                                    <a:srgbClr val="002060"/>
                                  </a:solidFill>
                                  <a:latin typeface="Cambria Math" panose="02040503050406030204" pitchFamily="18" charset="0"/>
                                </a:rPr>
                                <m:t>22</m:t>
                              </m:r>
                            </m:sub>
                          </m:sSub>
                        </m:e>
                      </m:func>
                    </m:oMath>
                  </m:oMathPara>
                </a14:m>
                <a:endParaRPr lang="zh-CN" altLang="en-US" sz="1600" dirty="0">
                  <a:solidFill>
                    <a:srgbClr val="002060"/>
                  </a:solidFill>
                </a:endParaRPr>
              </a:p>
            </p:txBody>
          </p:sp>
        </mc:Choice>
        <mc:Fallback xmlns="">
          <p:sp>
            <p:nvSpPr>
              <p:cNvPr id="13" name="矩形 12"/>
              <p:cNvSpPr>
                <a:spLocks noRot="1" noChangeAspect="1" noMove="1" noResize="1" noEditPoints="1" noAdjustHandles="1" noChangeArrowheads="1" noChangeShapeType="1" noTextEdit="1"/>
              </p:cNvSpPr>
              <p:nvPr/>
            </p:nvSpPr>
            <p:spPr>
              <a:xfrm>
                <a:off x="3995936" y="3667453"/>
                <a:ext cx="2056397" cy="338554"/>
              </a:xfrm>
              <a:prstGeom prst="rect">
                <a:avLst/>
              </a:prstGeom>
              <a:blipFill>
                <a:blip r:embed="rId8"/>
                <a:stretch>
                  <a:fillRect b="-9091"/>
                </a:stretch>
              </a:blipFill>
            </p:spPr>
            <p:txBody>
              <a:bodyPr/>
              <a:lstStyle/>
              <a:p>
                <a:r>
                  <a:rPr lang="zh-CN" altLang="en-US">
                    <a:noFill/>
                  </a:rPr>
                  <a:t> </a:t>
                </a:r>
              </a:p>
            </p:txBody>
          </p:sp>
        </mc:Fallback>
      </mc:AlternateContent>
      <p:sp>
        <p:nvSpPr>
          <p:cNvPr id="14" name="右箭头 13"/>
          <p:cNvSpPr/>
          <p:nvPr/>
        </p:nvSpPr>
        <p:spPr>
          <a:xfrm>
            <a:off x="3317926" y="3724672"/>
            <a:ext cx="299911" cy="2733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5" name="矩形 14"/>
              <p:cNvSpPr/>
              <p:nvPr/>
            </p:nvSpPr>
            <p:spPr>
              <a:xfrm>
                <a:off x="4374597" y="4304055"/>
                <a:ext cx="1172629"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zh-CN" altLang="en-US" sz="1600" i="1">
                              <a:latin typeface="Cambria Math" panose="02040503050406030204" pitchFamily="18" charset="0"/>
                            </a:rPr>
                          </m:ctrlPr>
                        </m:funcPr>
                        <m:fName>
                          <m:r>
                            <m:rPr>
                              <m:sty m:val="p"/>
                            </m:rPr>
                            <a:rPr lang="zh-CN" altLang="en-US" sz="1600">
                              <a:latin typeface="Cambria Math" panose="02040503050406030204" pitchFamily="18" charset="0"/>
                            </a:rPr>
                            <m:t>det</m:t>
                          </m:r>
                        </m:fNa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0">
                                  <a:latin typeface="Cambria Math" panose="02040503050406030204" pitchFamily="18" charset="0"/>
                                </a:rPr>
                                <m:t>11</m:t>
                              </m:r>
                            </m:sub>
                          </m:sSub>
                        </m:e>
                      </m:func>
                      <m:r>
                        <a:rPr lang="zh-CN" altLang="en-US" sz="1600" i="0">
                          <a:latin typeface="Cambria Math" panose="02040503050406030204" pitchFamily="18" charset="0"/>
                        </a:rPr>
                        <m:t>=</m:t>
                      </m:r>
                      <m:r>
                        <a:rPr lang="zh-CN" altLang="en-US" sz="1600" i="0">
                          <a:latin typeface="Cambria Math" panose="02040503050406030204" pitchFamily="18" charset="0"/>
                        </a:rPr>
                        <m:t>0</m:t>
                      </m:r>
                    </m:oMath>
                  </m:oMathPara>
                </a14:m>
                <a:endParaRPr lang="zh-CN" altLang="en-US" sz="1600" dirty="0"/>
              </a:p>
            </p:txBody>
          </p:sp>
        </mc:Choice>
        <mc:Fallback xmlns="">
          <p:sp>
            <p:nvSpPr>
              <p:cNvPr id="15" name="矩形 14"/>
              <p:cNvSpPr>
                <a:spLocks noRot="1" noChangeAspect="1" noMove="1" noResize="1" noEditPoints="1" noAdjustHandles="1" noChangeArrowheads="1" noChangeShapeType="1" noTextEdit="1"/>
              </p:cNvSpPr>
              <p:nvPr/>
            </p:nvSpPr>
            <p:spPr>
              <a:xfrm>
                <a:off x="4374597" y="4304055"/>
                <a:ext cx="1172629" cy="338554"/>
              </a:xfrm>
              <a:prstGeom prst="rect">
                <a:avLst/>
              </a:prstGeom>
              <a:blipFill>
                <a:blip r:embed="rId9"/>
                <a:stretch>
                  <a:fillRect b="-8929"/>
                </a:stretch>
              </a:blipFill>
            </p:spPr>
            <p:txBody>
              <a:bodyPr/>
              <a:lstStyle/>
              <a:p>
                <a:r>
                  <a:rPr lang="zh-CN" altLang="en-US">
                    <a:noFill/>
                  </a:rPr>
                  <a:t> </a:t>
                </a:r>
              </a:p>
            </p:txBody>
          </p:sp>
        </mc:Fallback>
      </mc:AlternateContent>
      <p:sp>
        <p:nvSpPr>
          <p:cNvPr id="16" name="矩形 15"/>
          <p:cNvSpPr/>
          <p:nvPr/>
        </p:nvSpPr>
        <p:spPr>
          <a:xfrm>
            <a:off x="2520344" y="4318601"/>
            <a:ext cx="1826141" cy="338554"/>
          </a:xfrm>
          <a:prstGeom prst="rect">
            <a:avLst/>
          </a:prstGeom>
        </p:spPr>
        <p:txBody>
          <a:bodyPr wrap="none">
            <a:spAutoFit/>
          </a:bodyPr>
          <a:lstStyle/>
          <a:p>
            <a:r>
              <a:rPr lang="zh-CN" altLang="zh-CN" sz="1600" dirty="0">
                <a:solidFill>
                  <a:srgbClr val="002060"/>
                </a:solidFill>
                <a:ea typeface="等线" panose="02010600030101010101" pitchFamily="2" charset="-122"/>
                <a:cs typeface="Times New Roman" panose="02020603050405020304" pitchFamily="18" charset="0"/>
              </a:rPr>
              <a:t>手臂奇异位形集合</a:t>
            </a:r>
            <a:endParaRPr lang="zh-CN" altLang="en-US" sz="1600" dirty="0">
              <a:solidFill>
                <a:srgbClr val="002060"/>
              </a:solidFill>
            </a:endParaRPr>
          </a:p>
        </p:txBody>
      </p:sp>
      <p:sp>
        <p:nvSpPr>
          <p:cNvPr id="17" name="矩形 16"/>
          <p:cNvSpPr/>
          <p:nvPr/>
        </p:nvSpPr>
        <p:spPr>
          <a:xfrm>
            <a:off x="2519757" y="4657155"/>
            <a:ext cx="1826141" cy="338554"/>
          </a:xfrm>
          <a:prstGeom prst="rect">
            <a:avLst/>
          </a:prstGeom>
        </p:spPr>
        <p:txBody>
          <a:bodyPr wrap="none">
            <a:spAutoFit/>
          </a:bodyPr>
          <a:lstStyle/>
          <a:p>
            <a:r>
              <a:rPr lang="zh-CN" altLang="zh-CN" sz="1600" dirty="0">
                <a:solidFill>
                  <a:srgbClr val="002060"/>
                </a:solidFill>
                <a:ea typeface="等线" panose="02010600030101010101" pitchFamily="2" charset="-122"/>
                <a:cs typeface="Times New Roman" panose="02020603050405020304" pitchFamily="18" charset="0"/>
              </a:rPr>
              <a:t>手腕奇异位形集合</a:t>
            </a:r>
            <a:endParaRPr lang="zh-CN" altLang="en-US" sz="1600" dirty="0">
              <a:solidFill>
                <a:srgbClr val="002060"/>
              </a:solidFill>
            </a:endParaRPr>
          </a:p>
        </p:txBody>
      </p:sp>
      <mc:AlternateContent xmlns:mc="http://schemas.openxmlformats.org/markup-compatibility/2006" xmlns:a14="http://schemas.microsoft.com/office/drawing/2010/main">
        <mc:Choice Requires="a14">
          <p:sp>
            <p:nvSpPr>
              <p:cNvPr id="18" name="矩形 17"/>
              <p:cNvSpPr/>
              <p:nvPr/>
            </p:nvSpPr>
            <p:spPr>
              <a:xfrm>
                <a:off x="4371936" y="4634857"/>
                <a:ext cx="117737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zh-CN" altLang="en-US" sz="1600" i="1">
                              <a:latin typeface="Cambria Math" panose="02040503050406030204" pitchFamily="18" charset="0"/>
                            </a:rPr>
                          </m:ctrlPr>
                        </m:funcPr>
                        <m:fName>
                          <m:r>
                            <m:rPr>
                              <m:sty m:val="p"/>
                            </m:rPr>
                            <a:rPr lang="zh-CN" altLang="en-US" sz="1600">
                              <a:latin typeface="Cambria Math" panose="02040503050406030204" pitchFamily="18" charset="0"/>
                            </a:rPr>
                            <m:t>det</m:t>
                          </m:r>
                        </m:fName>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𝐽</m:t>
                              </m:r>
                            </m:e>
                            <m:sub>
                              <m:r>
                                <a:rPr lang="zh-CN" altLang="en-US" sz="1600" i="0">
                                  <a:latin typeface="Cambria Math" panose="02040503050406030204" pitchFamily="18" charset="0"/>
                                </a:rPr>
                                <m:t>22</m:t>
                              </m:r>
                            </m:sub>
                          </m:sSub>
                        </m:e>
                      </m:func>
                      <m:r>
                        <a:rPr lang="zh-CN" altLang="en-US" sz="1600" i="0">
                          <a:latin typeface="Cambria Math" panose="02040503050406030204" pitchFamily="18" charset="0"/>
                        </a:rPr>
                        <m:t>=</m:t>
                      </m:r>
                      <m:r>
                        <a:rPr lang="zh-CN" altLang="en-US" sz="1600" i="0">
                          <a:latin typeface="Cambria Math" panose="02040503050406030204" pitchFamily="18" charset="0"/>
                        </a:rPr>
                        <m:t>0</m:t>
                      </m:r>
                    </m:oMath>
                  </m:oMathPara>
                </a14:m>
                <a:endParaRPr lang="zh-CN" altLang="en-US" sz="1600" dirty="0"/>
              </a:p>
            </p:txBody>
          </p:sp>
        </mc:Choice>
        <mc:Fallback xmlns="">
          <p:sp>
            <p:nvSpPr>
              <p:cNvPr id="18" name="矩形 17"/>
              <p:cNvSpPr>
                <a:spLocks noRot="1" noChangeAspect="1" noMove="1" noResize="1" noEditPoints="1" noAdjustHandles="1" noChangeArrowheads="1" noChangeShapeType="1" noTextEdit="1"/>
              </p:cNvSpPr>
              <p:nvPr/>
            </p:nvSpPr>
            <p:spPr>
              <a:xfrm>
                <a:off x="4371936" y="4634857"/>
                <a:ext cx="1177374" cy="338554"/>
              </a:xfrm>
              <a:prstGeom prst="rect">
                <a:avLst/>
              </a:prstGeom>
              <a:blipFill>
                <a:blip r:embed="rId10"/>
                <a:stretch>
                  <a:fillRect b="-89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p:cNvSpPr txBox="1"/>
              <p:nvPr/>
            </p:nvSpPr>
            <p:spPr>
              <a:xfrm>
                <a:off x="4214297" y="4552340"/>
                <a:ext cx="20999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solidFill>
                            <a:srgbClr val="FF0000"/>
                          </a:solidFill>
                          <a:latin typeface="Cambria Math" panose="02040503050406030204" pitchFamily="18" charset="0"/>
                        </a:rPr>
                        <m:t>∪</m:t>
                      </m:r>
                    </m:oMath>
                  </m:oMathPara>
                </a14:m>
                <a:endParaRPr lang="zh-CN" altLang="en-US" dirty="0">
                  <a:solidFill>
                    <a:srgbClr val="FF0000"/>
                  </a:solidFill>
                </a:endParaRPr>
              </a:p>
            </p:txBody>
          </p:sp>
        </mc:Choice>
        <mc:Fallback xmlns="">
          <p:sp>
            <p:nvSpPr>
              <p:cNvPr id="19" name="文本框 18"/>
              <p:cNvSpPr txBox="1">
                <a:spLocks noRot="1" noChangeAspect="1" noMove="1" noResize="1" noEditPoints="1" noAdjustHandles="1" noChangeArrowheads="1" noChangeShapeType="1" noTextEdit="1"/>
              </p:cNvSpPr>
              <p:nvPr/>
            </p:nvSpPr>
            <p:spPr>
              <a:xfrm>
                <a:off x="4214297" y="4552340"/>
                <a:ext cx="209993" cy="276999"/>
              </a:xfrm>
              <a:prstGeom prst="rect">
                <a:avLst/>
              </a:prstGeom>
              <a:blipFill>
                <a:blip r:embed="rId11"/>
                <a:stretch>
                  <a:fillRect l="-20000" r="-20000" b="-2222"/>
                </a:stretch>
              </a:blipFill>
            </p:spPr>
            <p:txBody>
              <a:bodyPr/>
              <a:lstStyle/>
              <a:p>
                <a:r>
                  <a:rPr lang="zh-CN" altLang="en-US">
                    <a:noFill/>
                  </a:rPr>
                  <a:t> </a:t>
                </a:r>
              </a:p>
            </p:txBody>
          </p:sp>
        </mc:Fallback>
      </mc:AlternateContent>
      <p:sp>
        <p:nvSpPr>
          <p:cNvPr id="20" name="文本框 19"/>
          <p:cNvSpPr txBox="1"/>
          <p:nvPr/>
        </p:nvSpPr>
        <p:spPr>
          <a:xfrm>
            <a:off x="6136463" y="4304055"/>
            <a:ext cx="2276585" cy="584775"/>
          </a:xfrm>
          <a:prstGeom prst="rect">
            <a:avLst/>
          </a:prstGeom>
          <a:noFill/>
        </p:spPr>
        <p:txBody>
          <a:bodyPr wrap="none" rtlCol="0">
            <a:spAutoFit/>
          </a:bodyPr>
          <a:lstStyle/>
          <a:p>
            <a:r>
              <a:rPr lang="zh-CN" altLang="en-US" sz="1600" dirty="0" smtClean="0">
                <a:solidFill>
                  <a:srgbClr val="002060"/>
                </a:solidFill>
              </a:rPr>
              <a:t>练习：</a:t>
            </a:r>
            <a:endParaRPr lang="en-US" altLang="zh-CN" sz="1600" dirty="0" smtClean="0">
              <a:solidFill>
                <a:srgbClr val="002060"/>
              </a:solidFill>
            </a:endParaRPr>
          </a:p>
          <a:p>
            <a:r>
              <a:rPr lang="zh-CN" altLang="en-US" sz="1600" dirty="0" smtClean="0">
                <a:solidFill>
                  <a:srgbClr val="002060"/>
                </a:solidFill>
              </a:rPr>
              <a:t>分析</a:t>
            </a:r>
            <a:r>
              <a:rPr lang="en-US" altLang="zh-CN" sz="1600" dirty="0" smtClean="0">
                <a:solidFill>
                  <a:srgbClr val="002060"/>
                </a:solidFill>
              </a:rPr>
              <a:t>Aubo-i5</a:t>
            </a:r>
            <a:r>
              <a:rPr lang="zh-CN" altLang="en-US" sz="1600" dirty="0" smtClean="0">
                <a:solidFill>
                  <a:srgbClr val="002060"/>
                </a:solidFill>
              </a:rPr>
              <a:t>的奇异位形</a:t>
            </a:r>
            <a:endParaRPr lang="zh-CN" altLang="en-US" sz="1600" dirty="0">
              <a:solidFill>
                <a:srgbClr val="002060"/>
              </a:solidFill>
            </a:endParaRPr>
          </a:p>
        </p:txBody>
      </p:sp>
      <p:sp>
        <p:nvSpPr>
          <p:cNvPr id="21" name="圆角矩形 20"/>
          <p:cNvSpPr/>
          <p:nvPr/>
        </p:nvSpPr>
        <p:spPr>
          <a:xfrm>
            <a:off x="2411759" y="4318601"/>
            <a:ext cx="3135467" cy="67710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圆角矩形标注 21"/>
          <p:cNvSpPr/>
          <p:nvPr/>
        </p:nvSpPr>
        <p:spPr>
          <a:xfrm>
            <a:off x="395536" y="3197798"/>
            <a:ext cx="1944216" cy="469656"/>
          </a:xfrm>
          <a:prstGeom prst="wedgeRoundRectCallout">
            <a:avLst>
              <a:gd name="adj1" fmla="val 80941"/>
              <a:gd name="adj2" fmla="val -116301"/>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FF0000"/>
                </a:solidFill>
              </a:rPr>
              <a:t>讨论一下另一种常见情况：相连三轴平行</a:t>
            </a:r>
            <a:r>
              <a:rPr lang="zh-CN" altLang="en-US" sz="1200" dirty="0" smtClean="0">
                <a:solidFill>
                  <a:srgbClr val="FF0000"/>
                </a:solidFill>
              </a:rPr>
              <a:t>？</a:t>
            </a:r>
            <a:endParaRPr lang="zh-CN" altLang="en-US" sz="1200" dirty="0">
              <a:solidFill>
                <a:srgbClr val="FF0000"/>
              </a:solidFill>
            </a:endParaRPr>
          </a:p>
        </p:txBody>
      </p:sp>
    </p:spTree>
    <p:extLst>
      <p:ext uri="{BB962C8B-B14F-4D97-AF65-F5344CB8AC3E}">
        <p14:creationId xmlns:p14="http://schemas.microsoft.com/office/powerpoint/2010/main" val="252674402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1869584"/>
            <a:ext cx="3849370" cy="2829364"/>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随着机器人的发展，工业机器人也逐步出现了通用性、适应性的发展趋势，目前主要体现在</a:t>
            </a:r>
            <a:r>
              <a:rPr lang="en-US" altLang="zh-CN" sz="1200" dirty="0">
                <a:latin typeface="Arial" panose="020B0604020202020204" pitchFamily="34" charset="0"/>
                <a:ea typeface="微软雅黑" panose="020B0503020204020204" charset="-122"/>
                <a:sym typeface="+mn-ea"/>
              </a:rPr>
              <a:t>6R</a:t>
            </a:r>
            <a:r>
              <a:rPr lang="zh-CN" altLang="en-US" sz="1200" dirty="0">
                <a:latin typeface="Arial" panose="020B0604020202020204" pitchFamily="34" charset="0"/>
                <a:ea typeface="微软雅黑" panose="020B0503020204020204" charset="-122"/>
                <a:sym typeface="+mn-ea"/>
              </a:rPr>
              <a:t>型的通用机械臂上，这样的串联机械臂，既可以用于码垛，也可以用于焊接、喷涂等作业。这就要求设计出来的机器人，除了负载、速度、重复定位精度与精度等方面满足要求之外，其工作空间要能涵盖各种作业要求的区域，需要对工作空间的形状以及工作空间的奇异性等问题进行分析、优化，并且避免操作臂自身在工作空间中发生干涉</a:t>
            </a:r>
            <a:r>
              <a:rPr lang="zh-CN" altLang="en-US" sz="1200" dirty="0" smtClean="0">
                <a:latin typeface="Arial" panose="020B0604020202020204" pitchFamily="34" charset="0"/>
                <a:ea typeface="微软雅黑" panose="020B0503020204020204" charset="-122"/>
                <a:sym typeface="+mn-ea"/>
              </a:rPr>
              <a:t>。</a:t>
            </a:r>
            <a:endParaRPr lang="en-US" altLang="zh-CN" sz="1200" dirty="0" smtClean="0">
              <a:latin typeface="Arial" panose="020B0604020202020204" pitchFamily="34" charset="0"/>
              <a:ea typeface="微软雅黑" panose="020B0503020204020204" charset="-122"/>
              <a:sym typeface="+mn-ea"/>
            </a:endParaRPr>
          </a:p>
          <a:p>
            <a:pPr>
              <a:lnSpc>
                <a:spcPct val="150000"/>
              </a:lnSpc>
            </a:pPr>
            <a:r>
              <a:rPr lang="zh-CN" altLang="en-US" sz="1200" dirty="0" smtClean="0">
                <a:latin typeface="Arial" panose="020B0604020202020204" pitchFamily="34" charset="0"/>
                <a:ea typeface="微软雅黑" panose="020B0503020204020204" charset="-122"/>
                <a:sym typeface="+mn-ea"/>
              </a:rPr>
              <a:t>机械</a:t>
            </a:r>
            <a:r>
              <a:rPr lang="zh-CN" altLang="en-US" sz="1200" dirty="0">
                <a:latin typeface="Arial" panose="020B0604020202020204" pitchFamily="34" charset="0"/>
                <a:ea typeface="微软雅黑" panose="020B0503020204020204" charset="-122"/>
                <a:sym typeface="+mn-ea"/>
              </a:rPr>
              <a:t>臂工作空间获取方法有</a:t>
            </a:r>
            <a:r>
              <a:rPr lang="zh-CN" altLang="en-US" sz="1200" b="1" dirty="0">
                <a:solidFill>
                  <a:srgbClr val="002060"/>
                </a:solidFill>
                <a:latin typeface="Arial" panose="020B0604020202020204" pitchFamily="34" charset="0"/>
                <a:ea typeface="微软雅黑" panose="020B0503020204020204" charset="-122"/>
                <a:sym typeface="+mn-ea"/>
              </a:rPr>
              <a:t>几何图解法</a:t>
            </a:r>
            <a:r>
              <a:rPr lang="zh-CN" altLang="en-US" sz="1200" dirty="0">
                <a:latin typeface="Arial" panose="020B0604020202020204" pitchFamily="34" charset="0"/>
                <a:ea typeface="微软雅黑" panose="020B0503020204020204" charset="-122"/>
                <a:sym typeface="+mn-ea"/>
              </a:rPr>
              <a:t>、</a:t>
            </a:r>
            <a:r>
              <a:rPr lang="zh-CN" altLang="en-US" sz="1200" b="1" dirty="0">
                <a:solidFill>
                  <a:srgbClr val="002060"/>
                </a:solidFill>
                <a:latin typeface="Arial" panose="020B0604020202020204" pitchFamily="34" charset="0"/>
                <a:ea typeface="微软雅黑" panose="020B0503020204020204" charset="-122"/>
                <a:sym typeface="+mn-ea"/>
              </a:rPr>
              <a:t>解析法</a:t>
            </a:r>
            <a:r>
              <a:rPr lang="zh-CN" altLang="en-US" sz="1200" dirty="0">
                <a:latin typeface="Arial" panose="020B0604020202020204" pitchFamily="34" charset="0"/>
                <a:ea typeface="微软雅黑" panose="020B0503020204020204" charset="-122"/>
                <a:sym typeface="+mn-ea"/>
              </a:rPr>
              <a:t>、</a:t>
            </a:r>
            <a:r>
              <a:rPr lang="zh-CN" altLang="en-US" sz="1200" b="1" dirty="0">
                <a:solidFill>
                  <a:srgbClr val="002060"/>
                </a:solidFill>
                <a:latin typeface="Arial" panose="020B0604020202020204" pitchFamily="34" charset="0"/>
                <a:ea typeface="微软雅黑" panose="020B0503020204020204" charset="-122"/>
                <a:sym typeface="+mn-ea"/>
              </a:rPr>
              <a:t>数值法</a:t>
            </a:r>
            <a:r>
              <a:rPr lang="zh-CN" altLang="en-US" sz="1200" dirty="0">
                <a:latin typeface="Arial" panose="020B0604020202020204" pitchFamily="34" charset="0"/>
                <a:ea typeface="微软雅黑" panose="020B0503020204020204" charset="-122"/>
                <a:sym typeface="+mn-ea"/>
              </a:rPr>
              <a:t>等。</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7" name="文本框 6"/>
          <p:cNvSpPr txBox="1"/>
          <p:nvPr/>
        </p:nvSpPr>
        <p:spPr>
          <a:xfrm>
            <a:off x="4319270" y="1347614"/>
            <a:ext cx="3335655" cy="521970"/>
          </a:xfrm>
          <a:prstGeom prst="rect">
            <a:avLst/>
          </a:prstGeom>
          <a:noFill/>
        </p:spPr>
        <p:txBody>
          <a:bodyPr wrap="square" rtlCol="0" anchor="t">
            <a:spAutoFit/>
          </a:bodyPr>
          <a:lstStyle/>
          <a:p>
            <a:r>
              <a:rPr lang="zh-CN" altLang="en-US" sz="2800" b="1" dirty="0">
                <a:latin typeface="Arial" panose="020B0604020202020204" pitchFamily="34" charset="0"/>
                <a:ea typeface="微软雅黑" panose="020B0503020204020204" charset="-122"/>
                <a:sym typeface="+mn-ea"/>
              </a:rPr>
              <a:t>工作空间</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10</a:t>
            </a:r>
            <a:endParaRPr lang="en-US" altLang="zh-CN" sz="6600" b="1" dirty="0">
              <a:solidFill>
                <a:schemeClr val="bg1"/>
              </a:solidFill>
              <a:latin typeface="微软雅黑" panose="020B0503020204020204" charset="-122"/>
              <a:ea typeface="微软雅黑" panose="020B0503020204020204" charset="-122"/>
              <a:sym typeface="+mn-ea"/>
            </a:endParaRPr>
          </a:p>
        </p:txBody>
      </p:sp>
    </p:spTree>
    <p:extLst>
      <p:ext uri="{BB962C8B-B14F-4D97-AF65-F5344CB8AC3E}">
        <p14:creationId xmlns:p14="http://schemas.microsoft.com/office/powerpoint/2010/main" val="19059437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a:off x="-236220" y="219075"/>
            <a:ext cx="5153660" cy="598805"/>
            <a:chOff x="-372" y="345"/>
            <a:chExt cx="8116" cy="943"/>
          </a:xfrm>
        </p:grpSpPr>
        <p:sp>
          <p:nvSpPr>
            <p:cNvPr id="40" name="矩形 39"/>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Workspace</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41" name="文本框 40"/>
            <p:cNvSpPr txBox="1"/>
            <p:nvPr/>
          </p:nvSpPr>
          <p:spPr>
            <a:xfrm>
              <a:off x="443" y="363"/>
              <a:ext cx="7301" cy="630"/>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工作空间</a:t>
              </a:r>
              <a:endParaRPr lang="en-US" altLang="zh-CN" sz="2000" b="1" dirty="0" smtClean="0">
                <a:latin typeface="Arial" panose="020B0604020202020204" pitchFamily="34" charset="0"/>
                <a:ea typeface="微软雅黑" panose="020B0503020204020204" charset="-122"/>
                <a:sym typeface="+mn-ea"/>
              </a:endParaRPr>
            </a:p>
          </p:txBody>
        </p:sp>
        <p:sp>
          <p:nvSpPr>
            <p:cNvPr id="42" name="椭圆 41"/>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7892" name="Picture 4" descr="https://gimg2.baidu.com/image_search/src=http%3A%2F%2Fimg.qdaily.com%2Farticle%2Farticle_show%2F20170922125406oJl7XP9GwL8ueCKr.gif%3FimageMogr2%2Fauto-orient%2Fthumbnail%2F%21755x450r%2Fgravity%2FCenter%2Fcrop%2F755x450%2Fquality%2F85%2Fignore-error%2F1&amp;refer=http%3A%2F%2Fimg.qdaily.com&amp;app=2002&amp;size=f9999,10000&amp;q=a80&amp;n=0&amp;g=0n&amp;fmt=jpeg?sec=1618381689&amp;t=95f907e55b12bdf54119ffdf274a76fd"/>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69296" y="2985393"/>
            <a:ext cx="2919989" cy="1740391"/>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p:cNvPicPr>
            <a:picLocks noChangeAspect="1"/>
          </p:cNvPicPr>
          <p:nvPr/>
        </p:nvPicPr>
        <p:blipFill>
          <a:blip r:embed="rId4"/>
          <a:stretch>
            <a:fillRect/>
          </a:stretch>
        </p:blipFill>
        <p:spPr>
          <a:xfrm>
            <a:off x="1349578" y="2985393"/>
            <a:ext cx="1872207" cy="1761485"/>
          </a:xfrm>
          <a:prstGeom prst="rect">
            <a:avLst/>
          </a:prstGeom>
        </p:spPr>
      </p:pic>
      <p:sp>
        <p:nvSpPr>
          <p:cNvPr id="4" name="矩形 3"/>
          <p:cNvSpPr/>
          <p:nvPr/>
        </p:nvSpPr>
        <p:spPr>
          <a:xfrm>
            <a:off x="1043608" y="1229574"/>
            <a:ext cx="6768752" cy="1569660"/>
          </a:xfrm>
          <a:prstGeom prst="rect">
            <a:avLst/>
          </a:prstGeom>
        </p:spPr>
        <p:txBody>
          <a:bodyPr wrap="square">
            <a:spAutoFit/>
          </a:bodyPr>
          <a:lstStyle/>
          <a:p>
            <a:r>
              <a:rPr lang="zh-CN" altLang="en-US" sz="1600" b="1" dirty="0">
                <a:solidFill>
                  <a:srgbClr val="002060"/>
                </a:solidFill>
              </a:rPr>
              <a:t>机器人的工作空间有三种类型</a:t>
            </a:r>
            <a:r>
              <a:rPr lang="zh-CN" altLang="en-US" sz="1600" dirty="0">
                <a:solidFill>
                  <a:srgbClr val="002060"/>
                </a:solidFill>
              </a:rPr>
              <a:t>：</a:t>
            </a:r>
          </a:p>
          <a:p>
            <a:pPr marL="285750" indent="-285750">
              <a:buFont typeface="Wingdings" panose="05000000000000000000" pitchFamily="2" charset="2"/>
              <a:buChar char="Ø"/>
            </a:pPr>
            <a:r>
              <a:rPr lang="zh-CN" altLang="en-US" sz="1600" b="1" dirty="0">
                <a:solidFill>
                  <a:srgbClr val="002060"/>
                </a:solidFill>
              </a:rPr>
              <a:t>可达工作空间</a:t>
            </a:r>
            <a:r>
              <a:rPr lang="zh-CN" altLang="en-US" sz="1600" dirty="0">
                <a:solidFill>
                  <a:srgbClr val="002060"/>
                </a:solidFill>
              </a:rPr>
              <a:t>(reachable workspace)，即机器人末端可达位置点的集合；</a:t>
            </a:r>
          </a:p>
          <a:p>
            <a:pPr marL="285750" indent="-285750">
              <a:buFont typeface="Wingdings" panose="05000000000000000000" pitchFamily="2" charset="2"/>
              <a:buChar char="Ø"/>
            </a:pPr>
            <a:r>
              <a:rPr lang="zh-CN" altLang="en-US" sz="1600" b="1" dirty="0">
                <a:solidFill>
                  <a:srgbClr val="002060"/>
                </a:solidFill>
              </a:rPr>
              <a:t>灵巧工作空间</a:t>
            </a:r>
            <a:r>
              <a:rPr lang="zh-CN" altLang="en-US" sz="1600" dirty="0">
                <a:solidFill>
                  <a:srgbClr val="002060"/>
                </a:solidFill>
              </a:rPr>
              <a:t>(dexterous workspace)，即在满足给定位姿（除坐标可达外，姿态必须满足工艺要求）范围时机器人末端可达点的集合；</a:t>
            </a:r>
          </a:p>
          <a:p>
            <a:pPr marL="285750" indent="-285750">
              <a:buFont typeface="Wingdings" panose="05000000000000000000" pitchFamily="2" charset="2"/>
              <a:buChar char="Ø"/>
            </a:pPr>
            <a:r>
              <a:rPr lang="zh-CN" altLang="en-US" sz="1600" b="1" dirty="0">
                <a:solidFill>
                  <a:srgbClr val="002060"/>
                </a:solidFill>
              </a:rPr>
              <a:t>全工作空间</a:t>
            </a:r>
            <a:r>
              <a:rPr lang="zh-CN" altLang="en-US" sz="1600" dirty="0">
                <a:solidFill>
                  <a:srgbClr val="002060"/>
                </a:solidFill>
              </a:rPr>
              <a:t>(global workspace)，即给定所有位姿时机器人末端可达点的集合。</a:t>
            </a:r>
          </a:p>
        </p:txBody>
      </p:sp>
    </p:spTree>
    <p:extLst>
      <p:ext uri="{BB962C8B-B14F-4D97-AF65-F5344CB8AC3E}">
        <p14:creationId xmlns:p14="http://schemas.microsoft.com/office/powerpoint/2010/main" val="380257090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a:off x="-236220" y="219075"/>
            <a:ext cx="5153660" cy="598805"/>
            <a:chOff x="-372" y="345"/>
            <a:chExt cx="8116" cy="943"/>
          </a:xfrm>
        </p:grpSpPr>
        <p:sp>
          <p:nvSpPr>
            <p:cNvPr id="40" name="矩形 39"/>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Workspace</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41" name="文本框 40"/>
            <p:cNvSpPr txBox="1"/>
            <p:nvPr/>
          </p:nvSpPr>
          <p:spPr>
            <a:xfrm>
              <a:off x="443" y="363"/>
              <a:ext cx="7301" cy="630"/>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工作空间</a:t>
              </a:r>
              <a:endParaRPr lang="en-US" altLang="zh-CN" sz="2000" b="1" dirty="0" smtClean="0">
                <a:latin typeface="Arial" panose="020B0604020202020204" pitchFamily="34" charset="0"/>
                <a:ea typeface="微软雅黑" panose="020B0503020204020204" charset="-122"/>
                <a:sym typeface="+mn-ea"/>
              </a:endParaRPr>
            </a:p>
          </p:txBody>
        </p:sp>
        <p:sp>
          <p:nvSpPr>
            <p:cNvPr id="42" name="椭圆 41"/>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3995936" y="1064494"/>
            <a:ext cx="1210588" cy="338554"/>
          </a:xfrm>
          <a:prstGeom prst="rect">
            <a:avLst/>
          </a:prstGeom>
        </p:spPr>
        <p:txBody>
          <a:bodyPr wrap="none">
            <a:spAutoFit/>
          </a:bodyPr>
          <a:lstStyle/>
          <a:p>
            <a:r>
              <a:rPr lang="zh-CN" altLang="zh-CN" sz="1600" b="1" dirty="0">
                <a:solidFill>
                  <a:srgbClr val="002060"/>
                </a:solidFill>
                <a:ea typeface="等线" panose="02010600030101010101" pitchFamily="2" charset="-122"/>
                <a:cs typeface="Times New Roman" panose="02020603050405020304" pitchFamily="18" charset="0"/>
              </a:rPr>
              <a:t>几何图解法</a:t>
            </a:r>
            <a:endParaRPr lang="zh-CN" altLang="en-US" sz="1600" b="1" dirty="0">
              <a:solidFill>
                <a:srgbClr val="002060"/>
              </a:solidFill>
            </a:endParaRPr>
          </a:p>
        </p:txBody>
      </p:sp>
      <p:pic>
        <p:nvPicPr>
          <p:cNvPr id="5" name="图片 4"/>
          <p:cNvPicPr>
            <a:picLocks noChangeAspect="1"/>
          </p:cNvPicPr>
          <p:nvPr/>
        </p:nvPicPr>
        <p:blipFill>
          <a:blip r:embed="rId4"/>
          <a:stretch>
            <a:fillRect/>
          </a:stretch>
        </p:blipFill>
        <p:spPr>
          <a:xfrm>
            <a:off x="672911" y="2022661"/>
            <a:ext cx="3225542" cy="1845233"/>
          </a:xfrm>
          <a:prstGeom prst="rect">
            <a:avLst/>
          </a:prstGeom>
        </p:spPr>
      </p:pic>
      <mc:AlternateContent xmlns:mc="http://schemas.openxmlformats.org/markup-compatibility/2006" xmlns:a14="http://schemas.microsoft.com/office/drawing/2010/main">
        <mc:Choice Requires="a14">
          <p:sp>
            <p:nvSpPr>
              <p:cNvPr id="6" name="矩形 5"/>
              <p:cNvSpPr/>
              <p:nvPr/>
            </p:nvSpPr>
            <p:spPr>
              <a:xfrm>
                <a:off x="281305" y="4050386"/>
                <a:ext cx="3982879" cy="24622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000" i="1" smtClean="0">
                          <a:solidFill>
                            <a:srgbClr val="002060"/>
                          </a:solidFill>
                          <a:latin typeface="Cambria Math" panose="02040503050406030204" pitchFamily="18" charset="0"/>
                        </a:rPr>
                        <m:t>𝐸</m:t>
                      </m:r>
                      <m:r>
                        <a:rPr lang="zh-CN" altLang="en-US" sz="1000" i="0">
                          <a:solidFill>
                            <a:srgbClr val="002060"/>
                          </a:solidFill>
                          <a:latin typeface="Cambria Math" panose="02040503050406030204" pitchFamily="18" charset="0"/>
                        </a:rPr>
                        <m:t>=</m:t>
                      </m:r>
                      <m:d>
                        <m:dPr>
                          <m:begChr m:val="{"/>
                          <m:endChr m:val="}"/>
                          <m:ctrlPr>
                            <a:rPr lang="zh-CN" altLang="en-US" sz="1000" i="1">
                              <a:solidFill>
                                <a:srgbClr val="002060"/>
                              </a:solidFill>
                              <a:latin typeface="Cambria Math" panose="02040503050406030204" pitchFamily="18" charset="0"/>
                            </a:rPr>
                          </m:ctrlPr>
                        </m:dPr>
                        <m:e>
                          <m:r>
                            <a:rPr lang="zh-CN" altLang="en-US" sz="1000" i="1">
                              <a:solidFill>
                                <a:srgbClr val="002060"/>
                              </a:solidFill>
                              <a:latin typeface="Cambria Math" panose="02040503050406030204" pitchFamily="18" charset="0"/>
                            </a:rPr>
                            <m:t>𝑥</m:t>
                          </m:r>
                          <m:r>
                            <a:rPr lang="zh-CN" altLang="en-US" sz="1000" i="0">
                              <a:solidFill>
                                <a:srgbClr val="002060"/>
                              </a:solidFill>
                              <a:latin typeface="Cambria Math" panose="02040503050406030204" pitchFamily="18" charset="0"/>
                            </a:rPr>
                            <m:t>,</m:t>
                          </m:r>
                          <m:r>
                            <a:rPr lang="zh-CN" altLang="en-US" sz="1000" i="1">
                              <a:solidFill>
                                <a:srgbClr val="002060"/>
                              </a:solidFill>
                              <a:latin typeface="Cambria Math" panose="02040503050406030204" pitchFamily="18" charset="0"/>
                            </a:rPr>
                            <m:t>𝑦</m:t>
                          </m:r>
                          <m:r>
                            <a:rPr lang="zh-CN" altLang="en-US" sz="1000" i="0">
                              <a:solidFill>
                                <a:srgbClr val="002060"/>
                              </a:solidFill>
                              <a:latin typeface="Cambria Math" panose="02040503050406030204" pitchFamily="18" charset="0"/>
                            </a:rPr>
                            <m:t>,</m:t>
                          </m:r>
                          <m:r>
                            <a:rPr lang="zh-CN" altLang="en-US" sz="1000" i="1">
                              <a:solidFill>
                                <a:srgbClr val="002060"/>
                              </a:solidFill>
                              <a:latin typeface="Cambria Math" panose="02040503050406030204" pitchFamily="18" charset="0"/>
                            </a:rPr>
                            <m:t>𝑧</m:t>
                          </m:r>
                        </m:e>
                        <m:e>
                          <m:sSub>
                            <m:sSubPr>
                              <m:ctrlPr>
                                <a:rPr lang="zh-CN" altLang="en-US" sz="1000" i="1">
                                  <a:solidFill>
                                    <a:srgbClr val="002060"/>
                                  </a:solidFill>
                                  <a:latin typeface="Cambria Math" panose="02040503050406030204" pitchFamily="18" charset="0"/>
                                </a:rPr>
                              </m:ctrlPr>
                            </m:sSubPr>
                            <m:e>
                              <m:r>
                                <a:rPr lang="zh-CN" altLang="en-US" sz="1000" i="1">
                                  <a:solidFill>
                                    <a:srgbClr val="002060"/>
                                  </a:solidFill>
                                  <a:latin typeface="Cambria Math" panose="02040503050406030204" pitchFamily="18" charset="0"/>
                                </a:rPr>
                                <m:t>𝐿</m:t>
                              </m:r>
                            </m:e>
                            <m:sub>
                              <m:r>
                                <a:rPr lang="zh-CN" altLang="en-US" sz="1000" i="0">
                                  <a:solidFill>
                                    <a:srgbClr val="002060"/>
                                  </a:solidFill>
                                  <a:latin typeface="Cambria Math" panose="02040503050406030204" pitchFamily="18" charset="0"/>
                                </a:rPr>
                                <m:t>1</m:t>
                              </m:r>
                            </m:sub>
                          </m:sSub>
                          <m:r>
                            <a:rPr lang="zh-CN" altLang="en-US" sz="1000" i="0">
                              <a:solidFill>
                                <a:srgbClr val="002060"/>
                              </a:solidFill>
                              <a:latin typeface="Cambria Math" panose="02040503050406030204" pitchFamily="18" charset="0"/>
                            </a:rPr>
                            <m:t>−</m:t>
                          </m:r>
                          <m:sSub>
                            <m:sSubPr>
                              <m:ctrlPr>
                                <a:rPr lang="zh-CN" altLang="en-US" sz="1000" i="1">
                                  <a:solidFill>
                                    <a:srgbClr val="002060"/>
                                  </a:solidFill>
                                  <a:latin typeface="Cambria Math" panose="02040503050406030204" pitchFamily="18" charset="0"/>
                                </a:rPr>
                              </m:ctrlPr>
                            </m:sSubPr>
                            <m:e>
                              <m:r>
                                <a:rPr lang="zh-CN" altLang="en-US" sz="1000" i="1">
                                  <a:solidFill>
                                    <a:srgbClr val="002060"/>
                                  </a:solidFill>
                                  <a:latin typeface="Cambria Math" panose="02040503050406030204" pitchFamily="18" charset="0"/>
                                </a:rPr>
                                <m:t>𝑙</m:t>
                              </m:r>
                            </m:e>
                            <m:sub>
                              <m:r>
                                <a:rPr lang="zh-CN" altLang="en-US" sz="1000" i="0">
                                  <a:solidFill>
                                    <a:srgbClr val="002060"/>
                                  </a:solidFill>
                                  <a:latin typeface="Cambria Math" panose="02040503050406030204" pitchFamily="18" charset="0"/>
                                </a:rPr>
                                <m:t>1</m:t>
                              </m:r>
                            </m:sub>
                          </m:sSub>
                          <m:r>
                            <a:rPr lang="zh-CN" altLang="en-US" sz="1000" i="0">
                              <a:solidFill>
                                <a:srgbClr val="002060"/>
                              </a:solidFill>
                              <a:latin typeface="Cambria Math" panose="02040503050406030204" pitchFamily="18" charset="0"/>
                            </a:rPr>
                            <m:t>≤</m:t>
                          </m:r>
                          <m:r>
                            <a:rPr lang="zh-CN" altLang="en-US" sz="1000" i="1">
                              <a:solidFill>
                                <a:srgbClr val="002060"/>
                              </a:solidFill>
                              <a:latin typeface="Cambria Math" panose="02040503050406030204" pitchFamily="18" charset="0"/>
                            </a:rPr>
                            <m:t>𝑥</m:t>
                          </m:r>
                          <m:r>
                            <a:rPr lang="zh-CN" altLang="en-US" sz="1000" i="0">
                              <a:solidFill>
                                <a:srgbClr val="002060"/>
                              </a:solidFill>
                              <a:latin typeface="Cambria Math" panose="02040503050406030204" pitchFamily="18" charset="0"/>
                            </a:rPr>
                            <m:t>≤</m:t>
                          </m:r>
                          <m:sSub>
                            <m:sSubPr>
                              <m:ctrlPr>
                                <a:rPr lang="zh-CN" altLang="en-US" sz="1000" i="1">
                                  <a:solidFill>
                                    <a:srgbClr val="002060"/>
                                  </a:solidFill>
                                  <a:latin typeface="Cambria Math" panose="02040503050406030204" pitchFamily="18" charset="0"/>
                                </a:rPr>
                              </m:ctrlPr>
                            </m:sSubPr>
                            <m:e>
                              <m:r>
                                <a:rPr lang="zh-CN" altLang="en-US" sz="1000" i="1">
                                  <a:solidFill>
                                    <a:srgbClr val="002060"/>
                                  </a:solidFill>
                                  <a:latin typeface="Cambria Math" panose="02040503050406030204" pitchFamily="18" charset="0"/>
                                </a:rPr>
                                <m:t>𝐿</m:t>
                              </m:r>
                            </m:e>
                            <m:sub>
                              <m:r>
                                <a:rPr lang="zh-CN" altLang="en-US" sz="1000" i="0">
                                  <a:solidFill>
                                    <a:srgbClr val="002060"/>
                                  </a:solidFill>
                                  <a:latin typeface="Cambria Math" panose="02040503050406030204" pitchFamily="18" charset="0"/>
                                </a:rPr>
                                <m:t>1</m:t>
                              </m:r>
                            </m:sub>
                          </m:sSub>
                          <m:r>
                            <a:rPr lang="zh-CN" altLang="en-US" sz="1000" i="0">
                              <a:solidFill>
                                <a:srgbClr val="002060"/>
                              </a:solidFill>
                              <a:latin typeface="Cambria Math" panose="02040503050406030204" pitchFamily="18" charset="0"/>
                            </a:rPr>
                            <m:t>, </m:t>
                          </m:r>
                          <m:sSub>
                            <m:sSubPr>
                              <m:ctrlPr>
                                <a:rPr lang="zh-CN" altLang="en-US" sz="1000" i="1">
                                  <a:solidFill>
                                    <a:srgbClr val="002060"/>
                                  </a:solidFill>
                                  <a:latin typeface="Cambria Math" panose="02040503050406030204" pitchFamily="18" charset="0"/>
                                </a:rPr>
                              </m:ctrlPr>
                            </m:sSubPr>
                            <m:e>
                              <m:r>
                                <a:rPr lang="zh-CN" altLang="en-US" sz="1000" i="1">
                                  <a:solidFill>
                                    <a:srgbClr val="002060"/>
                                  </a:solidFill>
                                  <a:latin typeface="Cambria Math" panose="02040503050406030204" pitchFamily="18" charset="0"/>
                                </a:rPr>
                                <m:t>𝐿</m:t>
                              </m:r>
                            </m:e>
                            <m:sub>
                              <m:r>
                                <a:rPr lang="zh-CN" altLang="en-US" sz="1000" i="0">
                                  <a:solidFill>
                                    <a:srgbClr val="002060"/>
                                  </a:solidFill>
                                  <a:latin typeface="Cambria Math" panose="02040503050406030204" pitchFamily="18" charset="0"/>
                                </a:rPr>
                                <m:t>2</m:t>
                              </m:r>
                            </m:sub>
                          </m:sSub>
                          <m:r>
                            <a:rPr lang="zh-CN" altLang="en-US" sz="1000" i="0">
                              <a:solidFill>
                                <a:srgbClr val="002060"/>
                              </a:solidFill>
                              <a:latin typeface="Cambria Math" panose="02040503050406030204" pitchFamily="18" charset="0"/>
                            </a:rPr>
                            <m:t>−</m:t>
                          </m:r>
                          <m:sSub>
                            <m:sSubPr>
                              <m:ctrlPr>
                                <a:rPr lang="zh-CN" altLang="en-US" sz="1000" i="1">
                                  <a:solidFill>
                                    <a:srgbClr val="002060"/>
                                  </a:solidFill>
                                  <a:latin typeface="Cambria Math" panose="02040503050406030204" pitchFamily="18" charset="0"/>
                                </a:rPr>
                              </m:ctrlPr>
                            </m:sSubPr>
                            <m:e>
                              <m:r>
                                <a:rPr lang="zh-CN" altLang="en-US" sz="1000" i="1">
                                  <a:solidFill>
                                    <a:srgbClr val="002060"/>
                                  </a:solidFill>
                                  <a:latin typeface="Cambria Math" panose="02040503050406030204" pitchFamily="18" charset="0"/>
                                </a:rPr>
                                <m:t>𝑙</m:t>
                              </m:r>
                            </m:e>
                            <m:sub>
                              <m:r>
                                <a:rPr lang="zh-CN" altLang="en-US" sz="1000" i="0">
                                  <a:solidFill>
                                    <a:srgbClr val="002060"/>
                                  </a:solidFill>
                                  <a:latin typeface="Cambria Math" panose="02040503050406030204" pitchFamily="18" charset="0"/>
                                </a:rPr>
                                <m:t>2</m:t>
                              </m:r>
                            </m:sub>
                          </m:sSub>
                          <m:r>
                            <a:rPr lang="zh-CN" altLang="en-US" sz="1000" i="0">
                              <a:solidFill>
                                <a:srgbClr val="002060"/>
                              </a:solidFill>
                              <a:latin typeface="Cambria Math" panose="02040503050406030204" pitchFamily="18" charset="0"/>
                            </a:rPr>
                            <m:t>≤</m:t>
                          </m:r>
                          <m:r>
                            <a:rPr lang="zh-CN" altLang="en-US" sz="1000" i="1">
                              <a:solidFill>
                                <a:srgbClr val="002060"/>
                              </a:solidFill>
                              <a:latin typeface="Cambria Math" panose="02040503050406030204" pitchFamily="18" charset="0"/>
                            </a:rPr>
                            <m:t>𝑦</m:t>
                          </m:r>
                          <m:r>
                            <a:rPr lang="zh-CN" altLang="en-US" sz="1000" i="0">
                              <a:solidFill>
                                <a:srgbClr val="002060"/>
                              </a:solidFill>
                              <a:latin typeface="Cambria Math" panose="02040503050406030204" pitchFamily="18" charset="0"/>
                            </a:rPr>
                            <m:t>≤</m:t>
                          </m:r>
                          <m:sSub>
                            <m:sSubPr>
                              <m:ctrlPr>
                                <a:rPr lang="zh-CN" altLang="en-US" sz="1000" i="1">
                                  <a:solidFill>
                                    <a:srgbClr val="002060"/>
                                  </a:solidFill>
                                  <a:latin typeface="Cambria Math" panose="02040503050406030204" pitchFamily="18" charset="0"/>
                                </a:rPr>
                              </m:ctrlPr>
                            </m:sSubPr>
                            <m:e>
                              <m:r>
                                <a:rPr lang="zh-CN" altLang="en-US" sz="1000" i="1">
                                  <a:solidFill>
                                    <a:srgbClr val="002060"/>
                                  </a:solidFill>
                                  <a:latin typeface="Cambria Math" panose="02040503050406030204" pitchFamily="18" charset="0"/>
                                </a:rPr>
                                <m:t>𝐿</m:t>
                              </m:r>
                            </m:e>
                            <m:sub>
                              <m:r>
                                <a:rPr lang="zh-CN" altLang="en-US" sz="1000" i="0">
                                  <a:solidFill>
                                    <a:srgbClr val="002060"/>
                                  </a:solidFill>
                                  <a:latin typeface="Cambria Math" panose="02040503050406030204" pitchFamily="18" charset="0"/>
                                </a:rPr>
                                <m:t>2</m:t>
                              </m:r>
                            </m:sub>
                          </m:sSub>
                          <m:r>
                            <a:rPr lang="zh-CN" altLang="en-US" sz="1000" i="0">
                              <a:solidFill>
                                <a:srgbClr val="002060"/>
                              </a:solidFill>
                              <a:latin typeface="Cambria Math" panose="02040503050406030204" pitchFamily="18" charset="0"/>
                            </a:rPr>
                            <m:t>, </m:t>
                          </m:r>
                          <m:sSub>
                            <m:sSubPr>
                              <m:ctrlPr>
                                <a:rPr lang="zh-CN" altLang="en-US" sz="1000" i="1">
                                  <a:solidFill>
                                    <a:srgbClr val="002060"/>
                                  </a:solidFill>
                                  <a:latin typeface="Cambria Math" panose="02040503050406030204" pitchFamily="18" charset="0"/>
                                </a:rPr>
                              </m:ctrlPr>
                            </m:sSubPr>
                            <m:e>
                              <m:r>
                                <a:rPr lang="zh-CN" altLang="en-US" sz="1000" i="1">
                                  <a:solidFill>
                                    <a:srgbClr val="002060"/>
                                  </a:solidFill>
                                  <a:latin typeface="Cambria Math" panose="02040503050406030204" pitchFamily="18" charset="0"/>
                                </a:rPr>
                                <m:t>𝐿</m:t>
                              </m:r>
                            </m:e>
                            <m:sub>
                              <m:r>
                                <a:rPr lang="zh-CN" altLang="en-US" sz="1000" i="0">
                                  <a:solidFill>
                                    <a:srgbClr val="002060"/>
                                  </a:solidFill>
                                  <a:latin typeface="Cambria Math" panose="02040503050406030204" pitchFamily="18" charset="0"/>
                                </a:rPr>
                                <m:t>3</m:t>
                              </m:r>
                            </m:sub>
                          </m:sSub>
                          <m:r>
                            <a:rPr lang="zh-CN" altLang="en-US" sz="1000" i="0">
                              <a:solidFill>
                                <a:srgbClr val="002060"/>
                              </a:solidFill>
                              <a:latin typeface="Cambria Math" panose="02040503050406030204" pitchFamily="18" charset="0"/>
                            </a:rPr>
                            <m:t>−</m:t>
                          </m:r>
                          <m:sSub>
                            <m:sSubPr>
                              <m:ctrlPr>
                                <a:rPr lang="zh-CN" altLang="en-US" sz="1000" i="1">
                                  <a:solidFill>
                                    <a:srgbClr val="002060"/>
                                  </a:solidFill>
                                  <a:latin typeface="Cambria Math" panose="02040503050406030204" pitchFamily="18" charset="0"/>
                                </a:rPr>
                              </m:ctrlPr>
                            </m:sSubPr>
                            <m:e>
                              <m:r>
                                <a:rPr lang="zh-CN" altLang="en-US" sz="1000" i="1">
                                  <a:solidFill>
                                    <a:srgbClr val="002060"/>
                                  </a:solidFill>
                                  <a:latin typeface="Cambria Math" panose="02040503050406030204" pitchFamily="18" charset="0"/>
                                </a:rPr>
                                <m:t>𝑙</m:t>
                              </m:r>
                            </m:e>
                            <m:sub>
                              <m:r>
                                <a:rPr lang="zh-CN" altLang="en-US" sz="1000" i="0">
                                  <a:solidFill>
                                    <a:srgbClr val="002060"/>
                                  </a:solidFill>
                                  <a:latin typeface="Cambria Math" panose="02040503050406030204" pitchFamily="18" charset="0"/>
                                </a:rPr>
                                <m:t>3</m:t>
                              </m:r>
                            </m:sub>
                          </m:sSub>
                          <m:r>
                            <a:rPr lang="zh-CN" altLang="en-US" sz="1000" i="0">
                              <a:solidFill>
                                <a:srgbClr val="002060"/>
                              </a:solidFill>
                              <a:latin typeface="Cambria Math" panose="02040503050406030204" pitchFamily="18" charset="0"/>
                            </a:rPr>
                            <m:t>≤</m:t>
                          </m:r>
                          <m:r>
                            <a:rPr lang="zh-CN" altLang="en-US" sz="1000" i="1">
                              <a:solidFill>
                                <a:srgbClr val="002060"/>
                              </a:solidFill>
                              <a:latin typeface="Cambria Math" panose="02040503050406030204" pitchFamily="18" charset="0"/>
                            </a:rPr>
                            <m:t>𝑧</m:t>
                          </m:r>
                          <m:r>
                            <a:rPr lang="zh-CN" altLang="en-US" sz="1000" i="0">
                              <a:solidFill>
                                <a:srgbClr val="002060"/>
                              </a:solidFill>
                              <a:latin typeface="Cambria Math" panose="02040503050406030204" pitchFamily="18" charset="0"/>
                            </a:rPr>
                            <m:t>≤</m:t>
                          </m:r>
                          <m:sSub>
                            <m:sSubPr>
                              <m:ctrlPr>
                                <a:rPr lang="zh-CN" altLang="en-US" sz="1000" i="1">
                                  <a:solidFill>
                                    <a:srgbClr val="002060"/>
                                  </a:solidFill>
                                  <a:latin typeface="Cambria Math" panose="02040503050406030204" pitchFamily="18" charset="0"/>
                                </a:rPr>
                              </m:ctrlPr>
                            </m:sSubPr>
                            <m:e>
                              <m:r>
                                <a:rPr lang="zh-CN" altLang="en-US" sz="1000" i="1">
                                  <a:solidFill>
                                    <a:srgbClr val="002060"/>
                                  </a:solidFill>
                                  <a:latin typeface="Cambria Math" panose="02040503050406030204" pitchFamily="18" charset="0"/>
                                </a:rPr>
                                <m:t>𝐿</m:t>
                              </m:r>
                            </m:e>
                            <m:sub>
                              <m:r>
                                <a:rPr lang="zh-CN" altLang="en-US" sz="1000" i="0">
                                  <a:solidFill>
                                    <a:srgbClr val="002060"/>
                                  </a:solidFill>
                                  <a:latin typeface="Cambria Math" panose="02040503050406030204" pitchFamily="18" charset="0"/>
                                </a:rPr>
                                <m:t>3</m:t>
                              </m:r>
                            </m:sub>
                          </m:sSub>
                        </m:e>
                      </m:d>
                    </m:oMath>
                  </m:oMathPara>
                </a14:m>
                <a:endParaRPr lang="zh-CN" altLang="en-US" sz="1000" dirty="0">
                  <a:solidFill>
                    <a:srgbClr val="002060"/>
                  </a:solidFill>
                </a:endParaRPr>
              </a:p>
            </p:txBody>
          </p:sp>
        </mc:Choice>
        <mc:Fallback xmlns="">
          <p:sp>
            <p:nvSpPr>
              <p:cNvPr id="6" name="矩形 5"/>
              <p:cNvSpPr>
                <a:spLocks noRot="1" noChangeAspect="1" noMove="1" noResize="1" noEditPoints="1" noAdjustHandles="1" noChangeArrowheads="1" noChangeShapeType="1" noTextEdit="1"/>
              </p:cNvSpPr>
              <p:nvPr/>
            </p:nvSpPr>
            <p:spPr>
              <a:xfrm>
                <a:off x="281305" y="4050386"/>
                <a:ext cx="3982879" cy="246221"/>
              </a:xfrm>
              <a:prstGeom prst="rect">
                <a:avLst/>
              </a:prstGeom>
              <a:blipFill>
                <a:blip r:embed="rId5"/>
                <a:stretch>
                  <a:fillRect/>
                </a:stretch>
              </a:blipFill>
            </p:spPr>
            <p:txBody>
              <a:bodyPr/>
              <a:lstStyle/>
              <a:p>
                <a:r>
                  <a:rPr lang="zh-CN" altLang="en-US">
                    <a:noFill/>
                  </a:rPr>
                  <a:t> </a:t>
                </a:r>
              </a:p>
            </p:txBody>
          </p:sp>
        </mc:Fallback>
      </mc:AlternateContent>
      <p:graphicFrame>
        <p:nvGraphicFramePr>
          <p:cNvPr id="8" name="对象 7"/>
          <p:cNvGraphicFramePr>
            <a:graphicFrameLocks noChangeAspect="1"/>
          </p:cNvGraphicFramePr>
          <p:nvPr>
            <p:extLst>
              <p:ext uri="{D42A27DB-BD31-4B8C-83A1-F6EECF244321}">
                <p14:modId xmlns:p14="http://schemas.microsoft.com/office/powerpoint/2010/main" val="166590659"/>
              </p:ext>
            </p:extLst>
          </p:nvPr>
        </p:nvGraphicFramePr>
        <p:xfrm>
          <a:off x="4716016" y="2022661"/>
          <a:ext cx="3031928" cy="1845233"/>
        </p:xfrm>
        <a:graphic>
          <a:graphicData uri="http://schemas.openxmlformats.org/presentationml/2006/ole">
            <mc:AlternateContent xmlns:mc="http://schemas.openxmlformats.org/markup-compatibility/2006">
              <mc:Choice xmlns:v="urn:schemas-microsoft-com:vml" Requires="v">
                <p:oleObj spid="_x0000_s42030" name="Visio" r:id="rId6" imgW="5118660" imgH="3834981" progId="Visio.Drawing.11">
                  <p:embed/>
                </p:oleObj>
              </mc:Choice>
              <mc:Fallback>
                <p:oleObj name="Visio" r:id="rId6" imgW="5118660" imgH="3834981" progId="Visio.Drawing.11">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16016" y="2022661"/>
                        <a:ext cx="3031928" cy="1845233"/>
                      </a:xfrm>
                      <a:prstGeom prst="rect">
                        <a:avLst/>
                      </a:prstGeom>
                      <a:noFill/>
                    </p:spPr>
                  </p:pic>
                </p:oleObj>
              </mc:Fallback>
            </mc:AlternateContent>
          </a:graphicData>
        </a:graphic>
      </p:graphicFrame>
      <p:sp>
        <p:nvSpPr>
          <p:cNvPr id="9" name="矩形 8"/>
          <p:cNvSpPr/>
          <p:nvPr/>
        </p:nvSpPr>
        <p:spPr>
          <a:xfrm>
            <a:off x="4795529" y="4004219"/>
            <a:ext cx="2872902" cy="338554"/>
          </a:xfrm>
          <a:prstGeom prst="rect">
            <a:avLst/>
          </a:prstGeom>
        </p:spPr>
        <p:txBody>
          <a:bodyPr wrap="none">
            <a:spAutoFit/>
          </a:bodyPr>
          <a:lstStyle/>
          <a:p>
            <a:r>
              <a:rPr lang="en-US" altLang="zh-CN" sz="1600" dirty="0">
                <a:solidFill>
                  <a:srgbClr val="002060"/>
                </a:solidFill>
                <a:latin typeface="等线" panose="02010600030101010101" pitchFamily="2" charset="-122"/>
                <a:cs typeface="Times New Roman" panose="02020603050405020304" pitchFamily="18" charset="0"/>
              </a:rPr>
              <a:t>3R</a:t>
            </a:r>
            <a:r>
              <a:rPr lang="zh-CN" altLang="zh-CN" sz="1600" dirty="0">
                <a:solidFill>
                  <a:srgbClr val="002060"/>
                </a:solidFill>
                <a:ea typeface="等线" panose="02010600030101010101" pitchFamily="2" charset="-122"/>
                <a:cs typeface="Times New Roman" panose="02020603050405020304" pitchFamily="18" charset="0"/>
              </a:rPr>
              <a:t>链式坐标操作臂的工作空间</a:t>
            </a:r>
            <a:endParaRPr lang="zh-CN" altLang="en-US" sz="1600" dirty="0">
              <a:solidFill>
                <a:srgbClr val="002060"/>
              </a:solidFill>
            </a:endParaRPr>
          </a:p>
        </p:txBody>
      </p:sp>
    </p:spTree>
    <p:extLst>
      <p:ext uri="{BB962C8B-B14F-4D97-AF65-F5344CB8AC3E}">
        <p14:creationId xmlns:p14="http://schemas.microsoft.com/office/powerpoint/2010/main" val="222372072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a:off x="-236220" y="219075"/>
            <a:ext cx="5153660" cy="598805"/>
            <a:chOff x="-372" y="345"/>
            <a:chExt cx="8116" cy="943"/>
          </a:xfrm>
        </p:grpSpPr>
        <p:sp>
          <p:nvSpPr>
            <p:cNvPr id="40" name="矩形 39"/>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Workspace</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41" name="文本框 40"/>
            <p:cNvSpPr txBox="1"/>
            <p:nvPr/>
          </p:nvSpPr>
          <p:spPr>
            <a:xfrm>
              <a:off x="443" y="363"/>
              <a:ext cx="7301" cy="630"/>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工作空间</a:t>
              </a:r>
              <a:endParaRPr lang="en-US" altLang="zh-CN" sz="2000" b="1" dirty="0" smtClean="0">
                <a:latin typeface="Arial" panose="020B0604020202020204" pitchFamily="34" charset="0"/>
                <a:ea typeface="微软雅黑" panose="020B0503020204020204" charset="-122"/>
                <a:sym typeface="+mn-ea"/>
              </a:endParaRPr>
            </a:p>
          </p:txBody>
        </p:sp>
        <p:sp>
          <p:nvSpPr>
            <p:cNvPr id="42" name="椭圆 41"/>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3995936" y="1064494"/>
            <a:ext cx="800219" cy="338554"/>
          </a:xfrm>
          <a:prstGeom prst="rect">
            <a:avLst/>
          </a:prstGeom>
        </p:spPr>
        <p:txBody>
          <a:bodyPr wrap="none">
            <a:spAutoFit/>
          </a:bodyPr>
          <a:lstStyle/>
          <a:p>
            <a:r>
              <a:rPr lang="zh-CN" altLang="zh-CN" sz="1600" b="1" dirty="0">
                <a:solidFill>
                  <a:srgbClr val="002060"/>
                </a:solidFill>
              </a:rPr>
              <a:t>解析法</a:t>
            </a:r>
            <a:endParaRPr lang="zh-CN" altLang="en-US" sz="1600" b="1" dirty="0">
              <a:solidFill>
                <a:srgbClr val="002060"/>
              </a:solidFill>
            </a:endParaRPr>
          </a:p>
        </p:txBody>
      </p:sp>
      <p:sp>
        <p:nvSpPr>
          <p:cNvPr id="3" name="矩形 2"/>
          <p:cNvSpPr/>
          <p:nvPr/>
        </p:nvSpPr>
        <p:spPr>
          <a:xfrm>
            <a:off x="1443717" y="1425918"/>
            <a:ext cx="5904656" cy="1600438"/>
          </a:xfrm>
          <a:prstGeom prst="rect">
            <a:avLst/>
          </a:prstGeom>
        </p:spPr>
        <p:txBody>
          <a:bodyPr wrap="square">
            <a:spAutoFit/>
          </a:bodyPr>
          <a:lstStyle/>
          <a:p>
            <a:r>
              <a:rPr lang="zh-CN" altLang="zh-CN" sz="1600" b="1" dirty="0">
                <a:solidFill>
                  <a:srgbClr val="002060"/>
                </a:solidFill>
                <a:ea typeface="等线" panose="02010600030101010101" pitchFamily="2" charset="-122"/>
                <a:cs typeface="Times New Roman" panose="02020603050405020304" pitchFamily="18" charset="0"/>
              </a:rPr>
              <a:t>根据</a:t>
            </a:r>
            <a:r>
              <a:rPr lang="en-US" altLang="zh-CN" sz="1600" b="1" dirty="0">
                <a:solidFill>
                  <a:srgbClr val="002060"/>
                </a:solidFill>
                <a:ea typeface="等线" panose="02010600030101010101" pitchFamily="2" charset="-122"/>
                <a:cs typeface="Times New Roman" panose="02020603050405020304" pitchFamily="18" charset="0"/>
              </a:rPr>
              <a:t>Karim Abdel-</a:t>
            </a:r>
            <a:r>
              <a:rPr lang="en-US" altLang="zh-CN" sz="1600" b="1" dirty="0" err="1">
                <a:solidFill>
                  <a:srgbClr val="002060"/>
                </a:solidFill>
                <a:ea typeface="等线" panose="02010600030101010101" pitchFamily="2" charset="-122"/>
                <a:cs typeface="Times New Roman" panose="02020603050405020304" pitchFamily="18" charset="0"/>
              </a:rPr>
              <a:t>Malek</a:t>
            </a:r>
            <a:r>
              <a:rPr lang="zh-CN" altLang="zh-CN" sz="1600" b="1" dirty="0">
                <a:solidFill>
                  <a:srgbClr val="002060"/>
                </a:solidFill>
                <a:ea typeface="等线" panose="02010600030101010101" pitchFamily="2" charset="-122"/>
                <a:cs typeface="Times New Roman" panose="02020603050405020304" pitchFamily="18" charset="0"/>
              </a:rPr>
              <a:t>等人的研究，采用解析法进行工作空间求解分成三个步骤</a:t>
            </a:r>
            <a:r>
              <a:rPr lang="zh-CN" altLang="zh-CN" dirty="0" smtClean="0">
                <a:ea typeface="等线" panose="02010600030101010101" pitchFamily="2" charset="-122"/>
                <a:cs typeface="Times New Roman" panose="02020603050405020304" pitchFamily="18" charset="0"/>
              </a:rPr>
              <a:t>：</a:t>
            </a:r>
            <a:endParaRPr lang="en-US" altLang="zh-CN" dirty="0" smtClean="0">
              <a:ea typeface="等线" panose="02010600030101010101" pitchFamily="2" charset="-122"/>
              <a:cs typeface="Times New Roman" panose="02020603050405020304" pitchFamily="18" charset="0"/>
            </a:endParaRPr>
          </a:p>
          <a:p>
            <a:r>
              <a:rPr lang="zh-CN" altLang="zh-CN" sz="1600" dirty="0" smtClean="0">
                <a:ea typeface="等线" panose="02010600030101010101" pitchFamily="2" charset="-122"/>
                <a:cs typeface="Times New Roman" panose="02020603050405020304" pitchFamily="18" charset="0"/>
              </a:rPr>
              <a:t>（</a:t>
            </a:r>
            <a:r>
              <a:rPr lang="en-US" altLang="zh-CN" sz="1600" dirty="0">
                <a:ea typeface="等线" panose="02010600030101010101" pitchFamily="2" charset="-122"/>
                <a:cs typeface="Times New Roman" panose="02020603050405020304" pitchFamily="18" charset="0"/>
              </a:rPr>
              <a:t>1</a:t>
            </a:r>
            <a:r>
              <a:rPr lang="zh-CN" altLang="zh-CN" sz="1600" dirty="0">
                <a:ea typeface="等线" panose="02010600030101010101" pitchFamily="2" charset="-122"/>
                <a:cs typeface="Times New Roman" panose="02020603050405020304" pitchFamily="18" charset="0"/>
              </a:rPr>
              <a:t>）定义单边（</a:t>
            </a:r>
            <a:r>
              <a:rPr lang="en-US" altLang="zh-CN" sz="1600" dirty="0">
                <a:ea typeface="等线" panose="02010600030101010101" pitchFamily="2" charset="-122"/>
                <a:cs typeface="Times New Roman" panose="02020603050405020304" pitchFamily="18" charset="0"/>
              </a:rPr>
              <a:t>Unilateral</a:t>
            </a:r>
            <a:r>
              <a:rPr lang="zh-CN" altLang="zh-CN" sz="1600" dirty="0">
                <a:ea typeface="等线" panose="02010600030101010101" pitchFamily="2" charset="-122"/>
                <a:cs typeface="Times New Roman" panose="02020603050405020304" pitchFamily="18" charset="0"/>
              </a:rPr>
              <a:t>）和非单边约束</a:t>
            </a:r>
            <a:r>
              <a:rPr lang="zh-CN" altLang="zh-CN" sz="1600" dirty="0" smtClean="0">
                <a:ea typeface="等线" panose="02010600030101010101" pitchFamily="2" charset="-122"/>
                <a:cs typeface="Times New Roman" panose="02020603050405020304" pitchFamily="18" charset="0"/>
              </a:rPr>
              <a:t>；</a:t>
            </a:r>
            <a:endParaRPr lang="en-US" altLang="zh-CN" sz="1600" dirty="0" smtClean="0">
              <a:ea typeface="等线" panose="02010600030101010101" pitchFamily="2" charset="-122"/>
              <a:cs typeface="Times New Roman" panose="02020603050405020304" pitchFamily="18" charset="0"/>
            </a:endParaRPr>
          </a:p>
          <a:p>
            <a:r>
              <a:rPr lang="zh-CN" altLang="zh-CN" sz="1600" dirty="0" smtClean="0">
                <a:ea typeface="等线" panose="02010600030101010101" pitchFamily="2" charset="-122"/>
                <a:cs typeface="Times New Roman" panose="02020603050405020304" pitchFamily="18" charset="0"/>
              </a:rPr>
              <a:t>（</a:t>
            </a:r>
            <a:r>
              <a:rPr lang="en-US" altLang="zh-CN" sz="1600" dirty="0">
                <a:ea typeface="等线" panose="02010600030101010101" pitchFamily="2" charset="-122"/>
                <a:cs typeface="Times New Roman" panose="02020603050405020304" pitchFamily="18" charset="0"/>
              </a:rPr>
              <a:t>2</a:t>
            </a:r>
            <a:r>
              <a:rPr lang="zh-CN" altLang="zh-CN" sz="1600" dirty="0">
                <a:ea typeface="等线" panose="02010600030101010101" pitchFamily="2" charset="-122"/>
                <a:cs typeface="Times New Roman" panose="02020603050405020304" pitchFamily="18" charset="0"/>
              </a:rPr>
              <a:t>）确定奇异曲面</a:t>
            </a:r>
            <a:r>
              <a:rPr lang="zh-CN" altLang="zh-CN" sz="1600" dirty="0" smtClean="0">
                <a:ea typeface="等线" panose="02010600030101010101" pitchFamily="2" charset="-122"/>
                <a:cs typeface="Times New Roman" panose="02020603050405020304" pitchFamily="18" charset="0"/>
              </a:rPr>
              <a:t>；</a:t>
            </a:r>
            <a:endParaRPr lang="en-US" altLang="zh-CN" sz="1600" dirty="0" smtClean="0">
              <a:ea typeface="等线" panose="02010600030101010101" pitchFamily="2" charset="-122"/>
              <a:cs typeface="Times New Roman" panose="02020603050405020304" pitchFamily="18" charset="0"/>
            </a:endParaRPr>
          </a:p>
          <a:p>
            <a:r>
              <a:rPr lang="zh-CN" altLang="zh-CN" sz="1600" dirty="0" smtClean="0">
                <a:ea typeface="等线" panose="02010600030101010101" pitchFamily="2" charset="-122"/>
                <a:cs typeface="Times New Roman" panose="02020603050405020304" pitchFamily="18" charset="0"/>
              </a:rPr>
              <a:t>（</a:t>
            </a:r>
            <a:r>
              <a:rPr lang="en-US" altLang="zh-CN" sz="1600" dirty="0">
                <a:ea typeface="等线" panose="02010600030101010101" pitchFamily="2" charset="-122"/>
                <a:cs typeface="Times New Roman" panose="02020603050405020304" pitchFamily="18" charset="0"/>
              </a:rPr>
              <a:t>3</a:t>
            </a:r>
            <a:r>
              <a:rPr lang="zh-CN" altLang="zh-CN" sz="1600" dirty="0">
                <a:ea typeface="等线" panose="02010600030101010101" pitchFamily="2" charset="-122"/>
                <a:cs typeface="Times New Roman" panose="02020603050405020304" pitchFamily="18" charset="0"/>
              </a:rPr>
              <a:t>）确定奇异曲线，将奇异曲面分区成子曲面，并识别子曲面的边界。</a:t>
            </a:r>
            <a:endParaRPr lang="zh-CN" altLang="en-US" sz="1600" dirty="0"/>
          </a:p>
        </p:txBody>
      </p:sp>
      <p:pic>
        <p:nvPicPr>
          <p:cNvPr id="4" name="图片 3"/>
          <p:cNvPicPr>
            <a:picLocks noChangeAspect="1"/>
          </p:cNvPicPr>
          <p:nvPr/>
        </p:nvPicPr>
        <p:blipFill>
          <a:blip r:embed="rId3"/>
          <a:stretch>
            <a:fillRect/>
          </a:stretch>
        </p:blipFill>
        <p:spPr>
          <a:xfrm>
            <a:off x="507613" y="3147814"/>
            <a:ext cx="3888432" cy="1719613"/>
          </a:xfrm>
          <a:prstGeom prst="rect">
            <a:avLst/>
          </a:prstGeom>
        </p:spPr>
      </p:pic>
      <mc:AlternateContent xmlns:mc="http://schemas.openxmlformats.org/markup-compatibility/2006" xmlns:a14="http://schemas.microsoft.com/office/drawing/2010/main">
        <mc:Choice Requires="a14">
          <p:sp>
            <p:nvSpPr>
              <p:cNvPr id="7" name="矩形 6"/>
              <p:cNvSpPr/>
              <p:nvPr/>
            </p:nvSpPr>
            <p:spPr>
              <a:xfrm>
                <a:off x="4290060" y="3147814"/>
                <a:ext cx="4572000" cy="374398"/>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600" i="1">
                              <a:latin typeface="Cambria Math" panose="02040503050406030204" pitchFamily="18" charset="0"/>
                            </a:rPr>
                          </m:ctrlPr>
                        </m:dPr>
                        <m:e>
                          <m:r>
                            <a:rPr lang="zh-CN" altLang="en-US" sz="1600" i="1">
                              <a:latin typeface="Cambria Math" panose="02040503050406030204" pitchFamily="18" charset="0"/>
                            </a:rPr>
                            <m:t>𝑆</m:t>
                          </m:r>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𝑆</m:t>
                              </m:r>
                            </m:e>
                            <m:sup>
                              <m:d>
                                <m:dPr>
                                  <m:ctrlPr>
                                    <a:rPr lang="zh-CN" altLang="en-US" sz="1600" i="1">
                                      <a:latin typeface="Cambria Math" panose="02040503050406030204" pitchFamily="18" charset="0"/>
                                    </a:rPr>
                                  </m:ctrlPr>
                                </m:dPr>
                                <m:e>
                                  <m:r>
                                    <a:rPr lang="zh-CN" altLang="en-US" sz="1600" i="1">
                                      <a:latin typeface="Cambria Math" panose="02040503050406030204" pitchFamily="18" charset="0"/>
                                    </a:rPr>
                                    <m:t>𝐼</m:t>
                                  </m:r>
                                </m:e>
                              </m:d>
                            </m:sup>
                          </m:sSup>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𝑆</m:t>
                              </m:r>
                            </m:e>
                            <m:sup>
                              <m:d>
                                <m:dPr>
                                  <m:ctrlPr>
                                    <a:rPr lang="zh-CN" altLang="en-US" sz="1600" i="1">
                                      <a:latin typeface="Cambria Math" panose="02040503050406030204" pitchFamily="18" charset="0"/>
                                    </a:rPr>
                                  </m:ctrlPr>
                                </m:dPr>
                                <m:e>
                                  <m:r>
                                    <a:rPr lang="zh-CN" altLang="en-US" sz="1600" i="1">
                                      <a:latin typeface="Cambria Math" panose="02040503050406030204" pitchFamily="18" charset="0"/>
                                    </a:rPr>
                                    <m:t>𝐼𝐼</m:t>
                                  </m:r>
                                </m:e>
                              </m:d>
                            </m:sup>
                          </m:sSup>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𝑆</m:t>
                              </m:r>
                            </m:e>
                            <m:sup>
                              <m:d>
                                <m:dPr>
                                  <m:ctrlPr>
                                    <a:rPr lang="zh-CN" altLang="en-US" sz="1600" i="1">
                                      <a:latin typeface="Cambria Math" panose="02040503050406030204" pitchFamily="18" charset="0"/>
                                    </a:rPr>
                                  </m:ctrlPr>
                                </m:dPr>
                                <m:e>
                                  <m:r>
                                    <a:rPr lang="zh-CN" altLang="en-US" sz="1600" i="1">
                                      <a:latin typeface="Cambria Math" panose="02040503050406030204" pitchFamily="18" charset="0"/>
                                    </a:rPr>
                                    <m:t>𝐼𝐼𝐼</m:t>
                                  </m:r>
                                </m:e>
                              </m:d>
                            </m:sup>
                          </m:sSup>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𝑆</m:t>
                              </m:r>
                            </m:e>
                            <m:sup>
                              <m:d>
                                <m:dPr>
                                  <m:ctrlPr>
                                    <a:rPr lang="zh-CN" altLang="en-US" sz="1600" i="1">
                                      <a:latin typeface="Cambria Math" panose="02040503050406030204" pitchFamily="18" charset="0"/>
                                    </a:rPr>
                                  </m:ctrlPr>
                                </m:dPr>
                                <m:e>
                                  <m:r>
                                    <a:rPr lang="zh-CN" altLang="en-US" sz="1600" i="1">
                                      <a:latin typeface="Cambria Math" panose="02040503050406030204" pitchFamily="18" charset="0"/>
                                    </a:rPr>
                                    <m:t>𝐼𝑉</m:t>
                                  </m:r>
                                </m:e>
                              </m:d>
                            </m:sup>
                          </m:sSup>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𝑝</m:t>
                              </m:r>
                            </m:e>
                            <m:sup>
                              <m:r>
                                <a:rPr lang="zh-CN" altLang="en-US" sz="1600" i="0">
                                  <a:latin typeface="Cambria Math" panose="02040503050406030204" pitchFamily="18" charset="0"/>
                                </a:rPr>
                                <m:t>1</m:t>
                              </m:r>
                            </m:sup>
                          </m:sSup>
                          <m:r>
                            <a:rPr lang="zh-CN" altLang="en-US" sz="1600" i="0">
                              <a:latin typeface="Cambria Math" panose="02040503050406030204" pitchFamily="18" charset="0"/>
                            </a:rPr>
                            <m:t>, </m:t>
                          </m:r>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𝑝</m:t>
                              </m:r>
                            </m:e>
                            <m:sup>
                              <m:r>
                                <a:rPr lang="zh-CN" altLang="en-US" sz="1600" i="0">
                                  <a:latin typeface="Cambria Math" panose="02040503050406030204" pitchFamily="18" charset="0"/>
                                </a:rPr>
                                <m:t>2</m:t>
                              </m:r>
                            </m:sup>
                          </m:sSup>
                          <m:r>
                            <a:rPr lang="zh-CN" altLang="en-US" sz="1600" i="0">
                              <a:latin typeface="Cambria Math" panose="02040503050406030204" pitchFamily="18" charset="0"/>
                            </a:rPr>
                            <m:t>, ⋯, </m:t>
                          </m:r>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𝑝</m:t>
                              </m:r>
                            </m:e>
                            <m:sup>
                              <m:r>
                                <a:rPr lang="zh-CN" altLang="en-US" sz="1600" i="1">
                                  <a:latin typeface="Cambria Math" panose="02040503050406030204" pitchFamily="18" charset="0"/>
                                </a:rPr>
                                <m:t>𝑛𝑠</m:t>
                              </m:r>
                            </m:sup>
                          </m:sSup>
                        </m:e>
                      </m:d>
                    </m:oMath>
                  </m:oMathPara>
                </a14:m>
                <a:endParaRPr lang="zh-CN" altLang="en-US" sz="1600" dirty="0"/>
              </a:p>
            </p:txBody>
          </p:sp>
        </mc:Choice>
        <mc:Fallback xmlns="">
          <p:sp>
            <p:nvSpPr>
              <p:cNvPr id="7" name="矩形 6"/>
              <p:cNvSpPr>
                <a:spLocks noRot="1" noChangeAspect="1" noMove="1" noResize="1" noEditPoints="1" noAdjustHandles="1" noChangeArrowheads="1" noChangeShapeType="1" noTextEdit="1"/>
              </p:cNvSpPr>
              <p:nvPr/>
            </p:nvSpPr>
            <p:spPr>
              <a:xfrm>
                <a:off x="4290060" y="3147814"/>
                <a:ext cx="4572000" cy="374398"/>
              </a:xfrm>
              <a:prstGeom prst="rect">
                <a:avLst/>
              </a:prstGeom>
              <a:blipFill>
                <a:blip r:embed="rId4"/>
                <a:stretch>
                  <a:fillRect t="-133871" r="-10000" b="-2080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4024853" y="3607510"/>
                <a:ext cx="4572000" cy="738664"/>
              </a:xfrm>
              <a:prstGeom prst="rect">
                <a:avLst/>
              </a:prstGeom>
            </p:spPr>
            <p:txBody>
              <a:bodyPr>
                <a:spAutoFit/>
              </a:bodyPr>
              <a:lstStyle/>
              <a:p>
                <a:pPr indent="266700">
                  <a:spcBef>
                    <a:spcPts val="600"/>
                  </a:spcBef>
                  <a:spcAft>
                    <a:spcPts val="600"/>
                  </a:spcAft>
                </a:pPr>
                <a14:m>
                  <m:oMathPara xmlns:m="http://schemas.openxmlformats.org/officeDocument/2006/math">
                    <m:oMathParaPr>
                      <m:jc m:val="centerGroup"/>
                    </m:oMathParaPr>
                    <m:oMath xmlns:m="http://schemas.openxmlformats.org/officeDocument/2006/math">
                      <m:sSup>
                        <m:sSup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600" i="1">
                              <a:latin typeface="Cambria Math" panose="02040503050406030204" pitchFamily="18" charset="0"/>
                              <a:cs typeface="宋体" panose="02010600030101010101" pitchFamily="2" charset="-122"/>
                            </a:rPr>
                            <m:t>𝑥</m:t>
                          </m:r>
                        </m:e>
                        <m:sup>
                          <m:r>
                            <a:rPr lang="en-US" altLang="zh-CN" sz="1600" i="1">
                              <a:latin typeface="Cambria Math" panose="02040503050406030204" pitchFamily="18" charset="0"/>
                              <a:cs typeface="宋体" panose="02010600030101010101" pitchFamily="2" charset="-122"/>
                            </a:rPr>
                            <m:t>1</m:t>
                          </m:r>
                        </m:sup>
                      </m:sSup>
                      <m:d>
                        <m:d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dPr>
                        <m:e>
                          <m:r>
                            <a:rPr lang="en-US" altLang="zh-CN" sz="1600" i="1">
                              <a:latin typeface="Cambria Math" panose="02040503050406030204" pitchFamily="18" charset="0"/>
                              <a:cs typeface="宋体" panose="02010600030101010101" pitchFamily="2" charset="-122"/>
                            </a:rPr>
                            <m:t>𝑢</m:t>
                          </m:r>
                          <m:r>
                            <a:rPr lang="en-US" altLang="zh-CN" sz="1600" i="1">
                              <a:latin typeface="Cambria Math" panose="02040503050406030204" pitchFamily="18" charset="0"/>
                              <a:cs typeface="宋体" panose="02010600030101010101" pitchFamily="2" charset="-122"/>
                            </a:rPr>
                            <m:t>,</m:t>
                          </m:r>
                          <m:r>
                            <a:rPr lang="en-US" altLang="zh-CN" sz="1600" i="1">
                              <a:latin typeface="Cambria Math" panose="02040503050406030204" pitchFamily="18" charset="0"/>
                              <a:cs typeface="宋体" panose="02010600030101010101" pitchFamily="2" charset="-122"/>
                            </a:rPr>
                            <m:t>𝑣</m:t>
                          </m:r>
                        </m:e>
                      </m:d>
                      <m:r>
                        <a:rPr lang="en-US" altLang="zh-CN" sz="1600" i="1">
                          <a:latin typeface="Cambria Math" panose="02040503050406030204" pitchFamily="18" charset="0"/>
                          <a:cs typeface="宋体" panose="02010600030101010101" pitchFamily="2" charset="-122"/>
                        </a:rPr>
                        <m:t>, </m:t>
                      </m:r>
                      <m:sSub>
                        <m:sSub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600" i="1">
                              <a:latin typeface="Cambria Math" panose="02040503050406030204" pitchFamily="18" charset="0"/>
                              <a:cs typeface="宋体" panose="02010600030101010101" pitchFamily="2" charset="-122"/>
                            </a:rPr>
                            <m:t>𝑢</m:t>
                          </m:r>
                        </m:e>
                        <m:sub>
                          <m:r>
                            <a:rPr lang="en-US" altLang="zh-CN" sz="1600" i="1">
                              <a:latin typeface="Cambria Math" panose="02040503050406030204" pitchFamily="18" charset="0"/>
                              <a:cs typeface="宋体" panose="02010600030101010101" pitchFamily="2" charset="-122"/>
                            </a:rPr>
                            <m:t>1</m:t>
                          </m:r>
                        </m:sub>
                      </m:sSub>
                      <m:r>
                        <a:rPr lang="en-US" altLang="zh-CN" sz="1600" i="1">
                          <a:latin typeface="Cambria Math" panose="02040503050406030204" pitchFamily="18" charset="0"/>
                          <a:cs typeface="宋体" panose="02010600030101010101" pitchFamily="2" charset="-122"/>
                        </a:rPr>
                        <m:t>≤</m:t>
                      </m:r>
                      <m:r>
                        <a:rPr lang="en-US" altLang="zh-CN" sz="1600" i="1">
                          <a:latin typeface="Cambria Math" panose="02040503050406030204" pitchFamily="18" charset="0"/>
                          <a:cs typeface="宋体" panose="02010600030101010101" pitchFamily="2" charset="-122"/>
                        </a:rPr>
                        <m:t>𝑢</m:t>
                      </m:r>
                      <m:r>
                        <a:rPr lang="en-US" altLang="zh-CN" sz="1600" i="1">
                          <a:latin typeface="Cambria Math" panose="02040503050406030204" pitchFamily="18" charset="0"/>
                          <a:cs typeface="宋体" panose="02010600030101010101" pitchFamily="2" charset="-122"/>
                        </a:rPr>
                        <m:t>≤</m:t>
                      </m:r>
                      <m:sSub>
                        <m:sSub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600" i="1">
                              <a:latin typeface="Cambria Math" panose="02040503050406030204" pitchFamily="18" charset="0"/>
                              <a:cs typeface="宋体" panose="02010600030101010101" pitchFamily="2" charset="-122"/>
                            </a:rPr>
                            <m:t>𝑢</m:t>
                          </m:r>
                        </m:e>
                        <m:sub>
                          <m:r>
                            <a:rPr lang="en-US" altLang="zh-CN" sz="1600" i="1">
                              <a:latin typeface="Cambria Math" panose="02040503050406030204" pitchFamily="18" charset="0"/>
                              <a:cs typeface="宋体" panose="02010600030101010101" pitchFamily="2" charset="-122"/>
                            </a:rPr>
                            <m:t>2</m:t>
                          </m:r>
                        </m:sub>
                      </m:sSub>
                      <m:r>
                        <a:rPr lang="en-US" altLang="zh-CN" sz="1600" i="1">
                          <a:latin typeface="Cambria Math" panose="02040503050406030204" pitchFamily="18" charset="0"/>
                          <a:cs typeface="宋体" panose="02010600030101010101" pitchFamily="2" charset="-122"/>
                        </a:rPr>
                        <m:t>, </m:t>
                      </m:r>
                      <m:sSub>
                        <m:sSub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600" i="1">
                              <a:latin typeface="Cambria Math" panose="02040503050406030204" pitchFamily="18" charset="0"/>
                              <a:cs typeface="宋体" panose="02010600030101010101" pitchFamily="2" charset="-122"/>
                            </a:rPr>
                            <m:t>𝑣</m:t>
                          </m:r>
                        </m:e>
                        <m:sub>
                          <m:r>
                            <a:rPr lang="en-US" altLang="zh-CN" sz="1600" i="1">
                              <a:latin typeface="Cambria Math" panose="02040503050406030204" pitchFamily="18" charset="0"/>
                              <a:cs typeface="宋体" panose="02010600030101010101" pitchFamily="2" charset="-122"/>
                            </a:rPr>
                            <m:t>1</m:t>
                          </m:r>
                        </m:sub>
                      </m:sSub>
                      <m:r>
                        <a:rPr lang="en-US" altLang="zh-CN" sz="1600" i="1">
                          <a:latin typeface="Cambria Math" panose="02040503050406030204" pitchFamily="18" charset="0"/>
                          <a:cs typeface="宋体" panose="02010600030101010101" pitchFamily="2" charset="-122"/>
                        </a:rPr>
                        <m:t>≤</m:t>
                      </m:r>
                      <m:r>
                        <a:rPr lang="en-US" altLang="zh-CN" sz="1600" i="1">
                          <a:latin typeface="Cambria Math" panose="02040503050406030204" pitchFamily="18" charset="0"/>
                          <a:cs typeface="宋体" panose="02010600030101010101" pitchFamily="2" charset="-122"/>
                        </a:rPr>
                        <m:t>𝑣</m:t>
                      </m:r>
                      <m:r>
                        <a:rPr lang="en-US" altLang="zh-CN" sz="1600" i="1">
                          <a:latin typeface="Cambria Math" panose="02040503050406030204" pitchFamily="18" charset="0"/>
                          <a:cs typeface="宋体" panose="02010600030101010101" pitchFamily="2" charset="-122"/>
                        </a:rPr>
                        <m:t>≤</m:t>
                      </m:r>
                      <m:sSub>
                        <m:sSub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600" i="1">
                              <a:latin typeface="Cambria Math" panose="02040503050406030204" pitchFamily="18" charset="0"/>
                              <a:cs typeface="宋体" panose="02010600030101010101" pitchFamily="2" charset="-122"/>
                            </a:rPr>
                            <m:t>𝑣</m:t>
                          </m:r>
                        </m:e>
                        <m:sub>
                          <m:r>
                            <a:rPr lang="en-US" altLang="zh-CN" sz="1600" i="1">
                              <a:latin typeface="Cambria Math" panose="02040503050406030204" pitchFamily="18" charset="0"/>
                              <a:cs typeface="宋体" panose="02010600030101010101" pitchFamily="2" charset="-122"/>
                            </a:rPr>
                            <m:t>2</m:t>
                          </m:r>
                        </m:sub>
                      </m:sSub>
                    </m:oMath>
                  </m:oMathPara>
                </a14:m>
                <a:endParaRPr lang="zh-CN" altLang="zh-CN" sz="1600" dirty="0">
                  <a:latin typeface="宋体" panose="02010600030101010101" pitchFamily="2" charset="-122"/>
                  <a:cs typeface="宋体" panose="02010600030101010101" pitchFamily="2" charset="-122"/>
                </a:endParaRPr>
              </a:p>
              <a:p>
                <a:pPr indent="266700">
                  <a:spcBef>
                    <a:spcPts val="600"/>
                  </a:spcBef>
                  <a:spcAft>
                    <a:spcPts val="600"/>
                  </a:spcAft>
                </a:pPr>
                <a14:m>
                  <m:oMathPara xmlns:m="http://schemas.openxmlformats.org/officeDocument/2006/math">
                    <m:oMathParaPr>
                      <m:jc m:val="centerGroup"/>
                    </m:oMathParaPr>
                    <m:oMath xmlns:m="http://schemas.openxmlformats.org/officeDocument/2006/math">
                      <m:sSup>
                        <m:sSup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600" i="1">
                              <a:latin typeface="Cambria Math" panose="02040503050406030204" pitchFamily="18" charset="0"/>
                              <a:cs typeface="宋体" panose="02010600030101010101" pitchFamily="2" charset="-122"/>
                            </a:rPr>
                            <m:t>𝑥</m:t>
                          </m:r>
                        </m:e>
                        <m:sup>
                          <m:r>
                            <a:rPr lang="en-US" altLang="zh-CN" sz="1600" i="1">
                              <a:latin typeface="Cambria Math" panose="02040503050406030204" pitchFamily="18" charset="0"/>
                              <a:cs typeface="宋体" panose="02010600030101010101" pitchFamily="2" charset="-122"/>
                            </a:rPr>
                            <m:t>2</m:t>
                          </m:r>
                        </m:sup>
                      </m:sSup>
                      <m:d>
                        <m:d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dPr>
                        <m:e>
                          <m:r>
                            <a:rPr lang="en-US" altLang="zh-CN" sz="1600" i="1">
                              <a:latin typeface="Cambria Math" panose="02040503050406030204" pitchFamily="18" charset="0"/>
                              <a:cs typeface="宋体" panose="02010600030101010101" pitchFamily="2" charset="-122"/>
                            </a:rPr>
                            <m:t>𝑠</m:t>
                          </m:r>
                          <m:r>
                            <a:rPr lang="en-US" altLang="zh-CN" sz="1600" i="1">
                              <a:latin typeface="Cambria Math" panose="02040503050406030204" pitchFamily="18" charset="0"/>
                              <a:cs typeface="宋体" panose="02010600030101010101" pitchFamily="2" charset="-122"/>
                            </a:rPr>
                            <m:t>,</m:t>
                          </m:r>
                          <m:r>
                            <a:rPr lang="en-US" altLang="zh-CN" sz="1600" i="1">
                              <a:latin typeface="Cambria Math" panose="02040503050406030204" pitchFamily="18" charset="0"/>
                              <a:cs typeface="宋体" panose="02010600030101010101" pitchFamily="2" charset="-122"/>
                            </a:rPr>
                            <m:t>𝑤</m:t>
                          </m:r>
                        </m:e>
                      </m:d>
                      <m:r>
                        <a:rPr lang="en-US" altLang="zh-CN" sz="1600" i="1">
                          <a:latin typeface="Cambria Math" panose="02040503050406030204" pitchFamily="18" charset="0"/>
                          <a:cs typeface="宋体" panose="02010600030101010101" pitchFamily="2" charset="-122"/>
                        </a:rPr>
                        <m:t>, </m:t>
                      </m:r>
                      <m:sSub>
                        <m:sSub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600" i="1">
                              <a:latin typeface="Cambria Math" panose="02040503050406030204" pitchFamily="18" charset="0"/>
                              <a:cs typeface="宋体" panose="02010600030101010101" pitchFamily="2" charset="-122"/>
                            </a:rPr>
                            <m:t>𝑠</m:t>
                          </m:r>
                        </m:e>
                        <m:sub>
                          <m:r>
                            <a:rPr lang="en-US" altLang="zh-CN" sz="1600" i="1">
                              <a:latin typeface="Cambria Math" panose="02040503050406030204" pitchFamily="18" charset="0"/>
                              <a:cs typeface="宋体" panose="02010600030101010101" pitchFamily="2" charset="-122"/>
                            </a:rPr>
                            <m:t>1</m:t>
                          </m:r>
                        </m:sub>
                      </m:sSub>
                      <m:r>
                        <a:rPr lang="en-US" altLang="zh-CN" sz="1600" i="1">
                          <a:latin typeface="Cambria Math" panose="02040503050406030204" pitchFamily="18" charset="0"/>
                          <a:cs typeface="宋体" panose="02010600030101010101" pitchFamily="2" charset="-122"/>
                        </a:rPr>
                        <m:t>≤</m:t>
                      </m:r>
                      <m:r>
                        <a:rPr lang="en-US" altLang="zh-CN" sz="1600" i="1">
                          <a:latin typeface="Cambria Math" panose="02040503050406030204" pitchFamily="18" charset="0"/>
                          <a:cs typeface="宋体" panose="02010600030101010101" pitchFamily="2" charset="-122"/>
                        </a:rPr>
                        <m:t>𝑠</m:t>
                      </m:r>
                      <m:r>
                        <a:rPr lang="en-US" altLang="zh-CN" sz="1600" i="1">
                          <a:latin typeface="Cambria Math" panose="02040503050406030204" pitchFamily="18" charset="0"/>
                          <a:cs typeface="宋体" panose="02010600030101010101" pitchFamily="2" charset="-122"/>
                        </a:rPr>
                        <m:t>≤</m:t>
                      </m:r>
                      <m:sSub>
                        <m:sSub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600" i="1">
                              <a:latin typeface="Cambria Math" panose="02040503050406030204" pitchFamily="18" charset="0"/>
                              <a:cs typeface="宋体" panose="02010600030101010101" pitchFamily="2" charset="-122"/>
                            </a:rPr>
                            <m:t>𝑠</m:t>
                          </m:r>
                        </m:e>
                        <m:sub>
                          <m:r>
                            <a:rPr lang="en-US" altLang="zh-CN" sz="1600" i="1">
                              <a:latin typeface="Cambria Math" panose="02040503050406030204" pitchFamily="18" charset="0"/>
                              <a:cs typeface="宋体" panose="02010600030101010101" pitchFamily="2" charset="-122"/>
                            </a:rPr>
                            <m:t>2</m:t>
                          </m:r>
                        </m:sub>
                      </m:sSub>
                      <m:r>
                        <a:rPr lang="en-US" altLang="zh-CN" sz="1600" i="1">
                          <a:latin typeface="Cambria Math" panose="02040503050406030204" pitchFamily="18" charset="0"/>
                          <a:cs typeface="宋体" panose="02010600030101010101" pitchFamily="2" charset="-122"/>
                        </a:rPr>
                        <m:t>, </m:t>
                      </m:r>
                      <m:sSub>
                        <m:sSub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600" i="1">
                              <a:latin typeface="Cambria Math" panose="02040503050406030204" pitchFamily="18" charset="0"/>
                              <a:cs typeface="宋体" panose="02010600030101010101" pitchFamily="2" charset="-122"/>
                            </a:rPr>
                            <m:t>𝑤</m:t>
                          </m:r>
                        </m:e>
                        <m:sub>
                          <m:r>
                            <a:rPr lang="en-US" altLang="zh-CN" sz="1600" i="1">
                              <a:latin typeface="Cambria Math" panose="02040503050406030204" pitchFamily="18" charset="0"/>
                              <a:cs typeface="宋体" panose="02010600030101010101" pitchFamily="2" charset="-122"/>
                            </a:rPr>
                            <m:t>1</m:t>
                          </m:r>
                        </m:sub>
                      </m:sSub>
                      <m:r>
                        <a:rPr lang="en-US" altLang="zh-CN" sz="1600" i="1">
                          <a:latin typeface="Cambria Math" panose="02040503050406030204" pitchFamily="18" charset="0"/>
                          <a:cs typeface="宋体" panose="02010600030101010101" pitchFamily="2" charset="-122"/>
                        </a:rPr>
                        <m:t>≤</m:t>
                      </m:r>
                      <m:r>
                        <a:rPr lang="en-US" altLang="zh-CN" sz="1600" i="1">
                          <a:latin typeface="Cambria Math" panose="02040503050406030204" pitchFamily="18" charset="0"/>
                          <a:cs typeface="宋体" panose="02010600030101010101" pitchFamily="2" charset="-122"/>
                        </a:rPr>
                        <m:t>𝑤</m:t>
                      </m:r>
                      <m:r>
                        <a:rPr lang="en-US" altLang="zh-CN" sz="1600" i="1">
                          <a:latin typeface="Cambria Math" panose="02040503050406030204" pitchFamily="18" charset="0"/>
                          <a:cs typeface="宋体" panose="02010600030101010101" pitchFamily="2" charset="-122"/>
                        </a:rPr>
                        <m:t>≤</m:t>
                      </m:r>
                      <m:sSub>
                        <m:sSubPr>
                          <m:ctrlPr>
                            <a:rPr lang="zh-CN" altLang="zh-CN" sz="16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600" i="1">
                              <a:latin typeface="Cambria Math" panose="02040503050406030204" pitchFamily="18" charset="0"/>
                              <a:cs typeface="宋体" panose="02010600030101010101" pitchFamily="2" charset="-122"/>
                            </a:rPr>
                            <m:t>𝑤</m:t>
                          </m:r>
                        </m:e>
                        <m:sub>
                          <m:r>
                            <a:rPr lang="en-US" altLang="zh-CN" sz="1600" i="1">
                              <a:latin typeface="Cambria Math" panose="02040503050406030204" pitchFamily="18" charset="0"/>
                              <a:cs typeface="宋体" panose="02010600030101010101" pitchFamily="2" charset="-122"/>
                            </a:rPr>
                            <m:t>2</m:t>
                          </m:r>
                        </m:sub>
                      </m:sSub>
                    </m:oMath>
                  </m:oMathPara>
                </a14:m>
                <a:endParaRPr lang="zh-CN" altLang="zh-CN" sz="1600" dirty="0">
                  <a:latin typeface="宋体" panose="02010600030101010101" pitchFamily="2" charset="-122"/>
                  <a:cs typeface="宋体" panose="02010600030101010101" pitchFamily="2" charset="-122"/>
                </a:endParaRPr>
              </a:p>
            </p:txBody>
          </p:sp>
        </mc:Choice>
        <mc:Fallback xmlns="">
          <p:sp>
            <p:nvSpPr>
              <p:cNvPr id="10" name="矩形 9"/>
              <p:cNvSpPr>
                <a:spLocks noRot="1" noChangeAspect="1" noMove="1" noResize="1" noEditPoints="1" noAdjustHandles="1" noChangeArrowheads="1" noChangeShapeType="1" noTextEdit="1"/>
              </p:cNvSpPr>
              <p:nvPr/>
            </p:nvSpPr>
            <p:spPr>
              <a:xfrm>
                <a:off x="4024853" y="3607510"/>
                <a:ext cx="4572000" cy="73866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4926202" y="4431472"/>
                <a:ext cx="2314672" cy="34413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sz="1600" b="1" i="1" smtClean="0">
                              <a:solidFill>
                                <a:srgbClr val="002060"/>
                              </a:solidFill>
                              <a:latin typeface="Cambria Math" panose="02040503050406030204" pitchFamily="18" charset="0"/>
                            </a:rPr>
                          </m:ctrlPr>
                        </m:sSupPr>
                        <m:e>
                          <m:r>
                            <a:rPr lang="zh-CN" altLang="en-US" sz="1600" b="1" i="1">
                              <a:solidFill>
                                <a:srgbClr val="002060"/>
                              </a:solidFill>
                              <a:latin typeface="Cambria Math" panose="02040503050406030204" pitchFamily="18" charset="0"/>
                            </a:rPr>
                            <m:t>𝒙</m:t>
                          </m:r>
                        </m:e>
                        <m:sup>
                          <m:r>
                            <a:rPr lang="zh-CN" altLang="en-US" sz="1600" b="1" i="0">
                              <a:solidFill>
                                <a:srgbClr val="002060"/>
                              </a:solidFill>
                              <a:latin typeface="Cambria Math" panose="02040503050406030204" pitchFamily="18" charset="0"/>
                            </a:rPr>
                            <m:t>𝟏</m:t>
                          </m:r>
                        </m:sup>
                      </m:sSup>
                      <m:d>
                        <m:dPr>
                          <m:ctrlPr>
                            <a:rPr lang="zh-CN" altLang="en-US" sz="1600" b="1" i="1">
                              <a:solidFill>
                                <a:srgbClr val="002060"/>
                              </a:solidFill>
                              <a:latin typeface="Cambria Math" panose="02040503050406030204" pitchFamily="18" charset="0"/>
                            </a:rPr>
                          </m:ctrlPr>
                        </m:dPr>
                        <m:e>
                          <m:r>
                            <a:rPr lang="zh-CN" altLang="en-US" sz="1600" b="1" i="1">
                              <a:solidFill>
                                <a:srgbClr val="002060"/>
                              </a:solidFill>
                              <a:latin typeface="Cambria Math" panose="02040503050406030204" pitchFamily="18" charset="0"/>
                            </a:rPr>
                            <m:t>𝒖</m:t>
                          </m:r>
                          <m:r>
                            <a:rPr lang="zh-CN" altLang="en-US" sz="1600" b="1" i="0">
                              <a:solidFill>
                                <a:srgbClr val="002060"/>
                              </a:solidFill>
                              <a:latin typeface="Cambria Math" panose="02040503050406030204" pitchFamily="18" charset="0"/>
                            </a:rPr>
                            <m:t>,</m:t>
                          </m:r>
                          <m:r>
                            <a:rPr lang="zh-CN" altLang="en-US" sz="1600" b="1" i="1">
                              <a:solidFill>
                                <a:srgbClr val="002060"/>
                              </a:solidFill>
                              <a:latin typeface="Cambria Math" panose="02040503050406030204" pitchFamily="18" charset="0"/>
                            </a:rPr>
                            <m:t>𝒗</m:t>
                          </m:r>
                        </m:e>
                      </m:d>
                      <m:r>
                        <a:rPr lang="zh-CN" altLang="en-US" sz="1600" b="1" i="0">
                          <a:solidFill>
                            <a:srgbClr val="002060"/>
                          </a:solidFill>
                          <a:latin typeface="Cambria Math" panose="02040503050406030204" pitchFamily="18" charset="0"/>
                        </a:rPr>
                        <m:t>−</m:t>
                      </m:r>
                      <m:sSup>
                        <m:sSupPr>
                          <m:ctrlPr>
                            <a:rPr lang="zh-CN" altLang="en-US" sz="1600" b="1" i="1">
                              <a:solidFill>
                                <a:srgbClr val="002060"/>
                              </a:solidFill>
                              <a:latin typeface="Cambria Math" panose="02040503050406030204" pitchFamily="18" charset="0"/>
                            </a:rPr>
                          </m:ctrlPr>
                        </m:sSupPr>
                        <m:e>
                          <m:r>
                            <a:rPr lang="zh-CN" altLang="en-US" sz="1600" b="1" i="1">
                              <a:solidFill>
                                <a:srgbClr val="002060"/>
                              </a:solidFill>
                              <a:latin typeface="Cambria Math" panose="02040503050406030204" pitchFamily="18" charset="0"/>
                            </a:rPr>
                            <m:t>𝒙</m:t>
                          </m:r>
                        </m:e>
                        <m:sup>
                          <m:r>
                            <a:rPr lang="zh-CN" altLang="en-US" sz="1600" b="1" i="0">
                              <a:solidFill>
                                <a:srgbClr val="002060"/>
                              </a:solidFill>
                              <a:latin typeface="Cambria Math" panose="02040503050406030204" pitchFamily="18" charset="0"/>
                            </a:rPr>
                            <m:t>𝟐</m:t>
                          </m:r>
                        </m:sup>
                      </m:sSup>
                      <m:d>
                        <m:dPr>
                          <m:ctrlPr>
                            <a:rPr lang="zh-CN" altLang="en-US" sz="1600" b="1" i="1">
                              <a:solidFill>
                                <a:srgbClr val="002060"/>
                              </a:solidFill>
                              <a:latin typeface="Cambria Math" panose="02040503050406030204" pitchFamily="18" charset="0"/>
                            </a:rPr>
                          </m:ctrlPr>
                        </m:dPr>
                        <m:e>
                          <m:r>
                            <a:rPr lang="zh-CN" altLang="en-US" sz="1600" b="1" i="1">
                              <a:solidFill>
                                <a:srgbClr val="002060"/>
                              </a:solidFill>
                              <a:latin typeface="Cambria Math" panose="02040503050406030204" pitchFamily="18" charset="0"/>
                            </a:rPr>
                            <m:t>𝒔</m:t>
                          </m:r>
                          <m:r>
                            <a:rPr lang="zh-CN" altLang="en-US" sz="1600" b="1" i="0">
                              <a:solidFill>
                                <a:srgbClr val="002060"/>
                              </a:solidFill>
                              <a:latin typeface="Cambria Math" panose="02040503050406030204" pitchFamily="18" charset="0"/>
                            </a:rPr>
                            <m:t>,</m:t>
                          </m:r>
                          <m:r>
                            <a:rPr lang="zh-CN" altLang="en-US" sz="1600" b="1" i="1">
                              <a:solidFill>
                                <a:srgbClr val="002060"/>
                              </a:solidFill>
                              <a:latin typeface="Cambria Math" panose="02040503050406030204" pitchFamily="18" charset="0"/>
                            </a:rPr>
                            <m:t>𝒘</m:t>
                          </m:r>
                        </m:e>
                      </m:d>
                      <m:r>
                        <a:rPr lang="zh-CN" altLang="en-US" sz="1600" b="1" i="0">
                          <a:solidFill>
                            <a:srgbClr val="002060"/>
                          </a:solidFill>
                          <a:latin typeface="Cambria Math" panose="02040503050406030204" pitchFamily="18" charset="0"/>
                        </a:rPr>
                        <m:t>=</m:t>
                      </m:r>
                      <m:r>
                        <a:rPr lang="zh-CN" altLang="en-US" sz="1600" b="1" i="0">
                          <a:solidFill>
                            <a:srgbClr val="002060"/>
                          </a:solidFill>
                          <a:latin typeface="Cambria Math" panose="02040503050406030204" pitchFamily="18" charset="0"/>
                        </a:rPr>
                        <m:t>𝟎</m:t>
                      </m:r>
                    </m:oMath>
                  </m:oMathPara>
                </a14:m>
                <a:endParaRPr lang="zh-CN" altLang="en-US" sz="1600" b="1" dirty="0">
                  <a:solidFill>
                    <a:srgbClr val="002060"/>
                  </a:solidFill>
                </a:endParaRPr>
              </a:p>
            </p:txBody>
          </p:sp>
        </mc:Choice>
        <mc:Fallback xmlns="">
          <p:sp>
            <p:nvSpPr>
              <p:cNvPr id="11" name="矩形 10"/>
              <p:cNvSpPr>
                <a:spLocks noRot="1" noChangeAspect="1" noMove="1" noResize="1" noEditPoints="1" noAdjustHandles="1" noChangeArrowheads="1" noChangeShapeType="1" noTextEdit="1"/>
              </p:cNvSpPr>
              <p:nvPr/>
            </p:nvSpPr>
            <p:spPr>
              <a:xfrm>
                <a:off x="4926202" y="4431472"/>
                <a:ext cx="2314672" cy="344133"/>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0539643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3"/>
          <a:stretch>
            <a:fillRect/>
          </a:stretch>
        </p:blipFill>
        <p:spPr>
          <a:xfrm>
            <a:off x="107504" y="1319938"/>
            <a:ext cx="2851829" cy="3434820"/>
          </a:xfrm>
          <a:prstGeom prst="rect">
            <a:avLst/>
          </a:prstGeom>
        </p:spPr>
      </p:pic>
      <p:grpSp>
        <p:nvGrpSpPr>
          <p:cNvPr id="39" name="组合 38"/>
          <p:cNvGrpSpPr/>
          <p:nvPr/>
        </p:nvGrpSpPr>
        <p:grpSpPr>
          <a:xfrm>
            <a:off x="-236220" y="219075"/>
            <a:ext cx="5153660" cy="598805"/>
            <a:chOff x="-372" y="345"/>
            <a:chExt cx="8116" cy="943"/>
          </a:xfrm>
        </p:grpSpPr>
        <p:sp>
          <p:nvSpPr>
            <p:cNvPr id="40" name="矩形 39"/>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Workspace</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41" name="文本框 40"/>
            <p:cNvSpPr txBox="1"/>
            <p:nvPr/>
          </p:nvSpPr>
          <p:spPr>
            <a:xfrm>
              <a:off x="443" y="363"/>
              <a:ext cx="7301" cy="630"/>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工作空间</a:t>
              </a:r>
              <a:endParaRPr lang="en-US" altLang="zh-CN" sz="2000" b="1" dirty="0" smtClean="0">
                <a:latin typeface="Arial" panose="020B0604020202020204" pitchFamily="34" charset="0"/>
                <a:ea typeface="微软雅黑" panose="020B0503020204020204" charset="-122"/>
                <a:sym typeface="+mn-ea"/>
              </a:endParaRPr>
            </a:p>
          </p:txBody>
        </p:sp>
        <p:sp>
          <p:nvSpPr>
            <p:cNvPr id="42" name="椭圆 41"/>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4171890" y="411510"/>
            <a:ext cx="800219" cy="338554"/>
          </a:xfrm>
          <a:prstGeom prst="rect">
            <a:avLst/>
          </a:prstGeom>
        </p:spPr>
        <p:txBody>
          <a:bodyPr wrap="none">
            <a:spAutoFit/>
          </a:bodyPr>
          <a:lstStyle/>
          <a:p>
            <a:r>
              <a:rPr lang="zh-CN" altLang="en-US" sz="1600" b="1" dirty="0">
                <a:solidFill>
                  <a:srgbClr val="002060"/>
                </a:solidFill>
                <a:ea typeface="等线" panose="02010600030101010101" pitchFamily="2" charset="-122"/>
                <a:cs typeface="Times New Roman" panose="02020603050405020304" pitchFamily="18" charset="0"/>
              </a:rPr>
              <a:t>数值</a:t>
            </a:r>
            <a:r>
              <a:rPr lang="zh-CN" altLang="zh-CN" sz="1600" b="1" dirty="0" smtClean="0">
                <a:solidFill>
                  <a:srgbClr val="002060"/>
                </a:solidFill>
                <a:ea typeface="等线" panose="02010600030101010101" pitchFamily="2" charset="-122"/>
                <a:cs typeface="Times New Roman" panose="02020603050405020304" pitchFamily="18" charset="0"/>
              </a:rPr>
              <a:t>法</a:t>
            </a:r>
            <a:endParaRPr lang="zh-CN" altLang="en-US" sz="1600" b="1" dirty="0">
              <a:solidFill>
                <a:srgbClr val="002060"/>
              </a:solidFill>
            </a:endParaRPr>
          </a:p>
        </p:txBody>
      </p:sp>
      <p:sp>
        <p:nvSpPr>
          <p:cNvPr id="3" name="矩形 2"/>
          <p:cNvSpPr/>
          <p:nvPr/>
        </p:nvSpPr>
        <p:spPr>
          <a:xfrm>
            <a:off x="395535" y="771550"/>
            <a:ext cx="8352928" cy="338554"/>
          </a:xfrm>
          <a:prstGeom prst="rect">
            <a:avLst/>
          </a:prstGeom>
        </p:spPr>
        <p:txBody>
          <a:bodyPr wrap="square">
            <a:spAutoFit/>
          </a:bodyPr>
          <a:lstStyle/>
          <a:p>
            <a:r>
              <a:rPr lang="zh-CN" altLang="zh-CN" sz="1600" dirty="0">
                <a:solidFill>
                  <a:srgbClr val="002060"/>
                </a:solidFill>
                <a:ea typeface="等线" panose="02010600030101010101" pitchFamily="2" charset="-122"/>
                <a:cs typeface="Times New Roman" panose="02020603050405020304" pitchFamily="18" charset="0"/>
              </a:rPr>
              <a:t>以概率统计理论为基础的蒙特卡罗方法</a:t>
            </a:r>
            <a:r>
              <a:rPr lang="en-US" altLang="zh-CN" sz="1600" dirty="0">
                <a:solidFill>
                  <a:srgbClr val="002060"/>
                </a:solidFill>
                <a:ea typeface="等线" panose="02010600030101010101" pitchFamily="2" charset="-122"/>
                <a:cs typeface="Times New Roman" panose="02020603050405020304" pitchFamily="18" charset="0"/>
              </a:rPr>
              <a:t>(</a:t>
            </a:r>
            <a:r>
              <a:rPr lang="zh-CN" altLang="zh-CN" sz="1600" dirty="0">
                <a:solidFill>
                  <a:srgbClr val="002060"/>
                </a:solidFill>
                <a:ea typeface="等线" panose="02010600030101010101" pitchFamily="2" charset="-122"/>
                <a:cs typeface="Times New Roman" panose="02020603050405020304" pitchFamily="18" charset="0"/>
              </a:rPr>
              <a:t>又称随机模拟方法</a:t>
            </a:r>
            <a:r>
              <a:rPr lang="en-US" altLang="zh-CN" sz="1600" dirty="0">
                <a:solidFill>
                  <a:srgbClr val="002060"/>
                </a:solidFill>
                <a:ea typeface="等线" panose="02010600030101010101" pitchFamily="2" charset="-122"/>
                <a:cs typeface="Times New Roman" panose="02020603050405020304" pitchFamily="18" charset="0"/>
              </a:rPr>
              <a:t>)</a:t>
            </a:r>
            <a:r>
              <a:rPr lang="zh-CN" altLang="zh-CN" sz="1600" dirty="0">
                <a:solidFill>
                  <a:srgbClr val="002060"/>
                </a:solidFill>
                <a:ea typeface="等线" panose="02010600030101010101" pitchFamily="2" charset="-122"/>
                <a:cs typeface="Times New Roman" panose="02020603050405020304" pitchFamily="18" charset="0"/>
              </a:rPr>
              <a:t>，计算得到近似的工作空间。</a:t>
            </a:r>
            <a:endParaRPr lang="zh-CN" altLang="en-US" sz="1600" dirty="0">
              <a:solidFill>
                <a:srgbClr val="002060"/>
              </a:solidFill>
            </a:endParaRPr>
          </a:p>
        </p:txBody>
      </p:sp>
      <mc:AlternateContent xmlns:mc="http://schemas.openxmlformats.org/markup-compatibility/2006" xmlns:a14="http://schemas.microsoft.com/office/drawing/2010/main">
        <mc:Choice Requires="a14">
          <p:sp>
            <p:nvSpPr>
              <p:cNvPr id="4" name="矩形 3"/>
              <p:cNvSpPr/>
              <p:nvPr/>
            </p:nvSpPr>
            <p:spPr>
              <a:xfrm>
                <a:off x="2959333" y="1337556"/>
                <a:ext cx="3809254" cy="3280065"/>
              </a:xfrm>
              <a:prstGeom prst="rect">
                <a:avLst/>
              </a:prstGeom>
            </p:spPr>
            <p:txBody>
              <a:bodyPr wrap="square">
                <a:spAutoFit/>
              </a:bodyPr>
              <a:lstStyle/>
              <a:p>
                <a:pPr marL="342900" lvl="0" indent="-342900">
                  <a:spcBef>
                    <a:spcPts val="600"/>
                  </a:spcBef>
                  <a:spcAft>
                    <a:spcPts val="600"/>
                  </a:spcAft>
                  <a:buFont typeface="+mj-lt"/>
                  <a:buAutoNum type="arabicParenR"/>
                </a:pPr>
                <a:r>
                  <a:rPr lang="zh-CN" altLang="zh-CN" sz="1200" dirty="0" smtClean="0">
                    <a:latin typeface="宋体" panose="02010600030101010101" pitchFamily="2" charset="-122"/>
                    <a:cs typeface="宋体" panose="02010600030101010101" pitchFamily="2" charset="-122"/>
                  </a:rPr>
                  <a:t>利用</a:t>
                </a:r>
                <a:r>
                  <a:rPr lang="zh-CN" altLang="zh-CN" sz="1200" dirty="0">
                    <a:latin typeface="宋体" panose="02010600030101010101" pitchFamily="2" charset="-122"/>
                    <a:cs typeface="宋体" panose="02010600030101010101" pitchFamily="2" charset="-122"/>
                  </a:rPr>
                  <a:t>随机数得到一组关节变量，</a:t>
                </a:r>
                <a14:m>
                  <m:oMath xmlns:m="http://schemas.openxmlformats.org/officeDocument/2006/math">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𝑞</m:t>
                        </m:r>
                      </m:e>
                      <m:sub>
                        <m:r>
                          <a:rPr lang="en-US" altLang="zh-CN" sz="1200" i="1">
                            <a:latin typeface="Cambria Math" panose="02040503050406030204" pitchFamily="18" charset="0"/>
                            <a:cs typeface="宋体" panose="02010600030101010101" pitchFamily="2" charset="-122"/>
                          </a:rPr>
                          <m:t>𝑖</m:t>
                        </m:r>
                      </m:sub>
                    </m:sSub>
                    <m:r>
                      <a:rPr lang="en-US" altLang="zh-CN" sz="1200" i="1">
                        <a:latin typeface="Cambria Math" panose="02040503050406030204" pitchFamily="18" charset="0"/>
                        <a:cs typeface="宋体" panose="02010600030101010101" pitchFamily="2" charset="-122"/>
                      </a:rPr>
                      <m:t>=</m:t>
                    </m:r>
                    <m:sSubSup>
                      <m:sSubSup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SupPr>
                      <m:e>
                        <m:r>
                          <a:rPr lang="en-US" altLang="zh-CN" sz="1200" i="1">
                            <a:latin typeface="Cambria Math" panose="02040503050406030204" pitchFamily="18" charset="0"/>
                            <a:cs typeface="宋体" panose="02010600030101010101" pitchFamily="2" charset="-122"/>
                          </a:rPr>
                          <m:t>𝑞</m:t>
                        </m:r>
                      </m:e>
                      <m:sub>
                        <m:r>
                          <a:rPr lang="en-US" altLang="zh-CN" sz="1200" i="1">
                            <a:latin typeface="Cambria Math" panose="02040503050406030204" pitchFamily="18" charset="0"/>
                            <a:cs typeface="宋体" panose="02010600030101010101" pitchFamily="2" charset="-122"/>
                          </a:rPr>
                          <m:t>𝑖</m:t>
                        </m:r>
                      </m:sub>
                      <m:sup>
                        <m:r>
                          <a:rPr lang="en-US" altLang="zh-CN" sz="1200" i="1">
                            <a:latin typeface="Cambria Math" panose="02040503050406030204" pitchFamily="18" charset="0"/>
                            <a:cs typeface="宋体" panose="02010600030101010101" pitchFamily="2" charset="-122"/>
                          </a:rPr>
                          <m:t>𝑚𝑖𝑛</m:t>
                        </m:r>
                      </m:sup>
                    </m:sSubSup>
                    <m:r>
                      <a:rPr lang="en-US" altLang="zh-CN" sz="1200" i="1">
                        <a:latin typeface="Cambria Math" panose="02040503050406030204" pitchFamily="18" charset="0"/>
                        <a:cs typeface="宋体" panose="02010600030101010101" pitchFamily="2" charset="-122"/>
                      </a:rPr>
                      <m:t>+</m:t>
                    </m:r>
                    <m:d>
                      <m:d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dPr>
                      <m:e>
                        <m:sSubSup>
                          <m:sSubSup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SupPr>
                          <m:e>
                            <m:r>
                              <a:rPr lang="en-US" altLang="zh-CN" sz="1200" i="1">
                                <a:latin typeface="Cambria Math" panose="02040503050406030204" pitchFamily="18" charset="0"/>
                                <a:cs typeface="宋体" panose="02010600030101010101" pitchFamily="2" charset="-122"/>
                              </a:rPr>
                              <m:t>𝑞</m:t>
                            </m:r>
                          </m:e>
                          <m:sub>
                            <m:r>
                              <a:rPr lang="en-US" altLang="zh-CN" sz="1200" i="1">
                                <a:latin typeface="Cambria Math" panose="02040503050406030204" pitchFamily="18" charset="0"/>
                                <a:cs typeface="宋体" panose="02010600030101010101" pitchFamily="2" charset="-122"/>
                              </a:rPr>
                              <m:t>𝑖</m:t>
                            </m:r>
                          </m:sub>
                          <m:sup>
                            <m:r>
                              <a:rPr lang="en-US" altLang="zh-CN" sz="1200" i="1">
                                <a:latin typeface="Cambria Math" panose="02040503050406030204" pitchFamily="18" charset="0"/>
                                <a:cs typeface="宋体" panose="02010600030101010101" pitchFamily="2" charset="-122"/>
                              </a:rPr>
                              <m:t>𝑚𝑎𝑥</m:t>
                            </m:r>
                          </m:sup>
                        </m:sSubSup>
                        <m:r>
                          <a:rPr lang="en-US" altLang="zh-CN" sz="1200" i="1">
                            <a:latin typeface="Cambria Math" panose="02040503050406030204" pitchFamily="18" charset="0"/>
                            <a:cs typeface="宋体" panose="02010600030101010101" pitchFamily="2" charset="-122"/>
                          </a:rPr>
                          <m:t>−</m:t>
                        </m:r>
                        <m:sSubSup>
                          <m:sSubSup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SupPr>
                          <m:e>
                            <m:r>
                              <a:rPr lang="en-US" altLang="zh-CN" sz="1200" i="1">
                                <a:latin typeface="Cambria Math" panose="02040503050406030204" pitchFamily="18" charset="0"/>
                                <a:cs typeface="宋体" panose="02010600030101010101" pitchFamily="2" charset="-122"/>
                              </a:rPr>
                              <m:t>𝑞</m:t>
                            </m:r>
                          </m:e>
                          <m:sub>
                            <m:r>
                              <a:rPr lang="en-US" altLang="zh-CN" sz="1200" i="1">
                                <a:latin typeface="Cambria Math" panose="02040503050406030204" pitchFamily="18" charset="0"/>
                                <a:cs typeface="宋体" panose="02010600030101010101" pitchFamily="2" charset="-122"/>
                              </a:rPr>
                              <m:t>𝑖</m:t>
                            </m:r>
                          </m:sub>
                          <m:sup>
                            <m:r>
                              <a:rPr lang="en-US" altLang="zh-CN" sz="1200" i="1">
                                <a:latin typeface="Cambria Math" panose="02040503050406030204" pitchFamily="18" charset="0"/>
                                <a:cs typeface="宋体" panose="02010600030101010101" pitchFamily="2" charset="-122"/>
                              </a:rPr>
                              <m:t>𝑚𝑖𝑛</m:t>
                            </m:r>
                          </m:sup>
                        </m:sSubSup>
                      </m:e>
                    </m:d>
                    <m:r>
                      <a:rPr lang="en-US" altLang="zh-CN" sz="1200" i="1">
                        <a:latin typeface="Cambria Math" panose="02040503050406030204" pitchFamily="18" charset="0"/>
                        <a:cs typeface="宋体" panose="02010600030101010101" pitchFamily="2" charset="-122"/>
                      </a:rPr>
                      <m:t>𝑟𝑎𝑛𝑑</m:t>
                    </m:r>
                    <m:r>
                      <a:rPr lang="en-US" altLang="zh-CN" sz="1200" i="1">
                        <a:latin typeface="Cambria Math" panose="02040503050406030204" pitchFamily="18" charset="0"/>
                        <a:cs typeface="宋体" panose="02010600030101010101" pitchFamily="2" charset="-122"/>
                      </a:rPr>
                      <m:t>(</m:t>
                    </m:r>
                    <m:r>
                      <a:rPr lang="en-US" altLang="zh-CN" sz="1200" i="1">
                        <a:latin typeface="Cambria Math" panose="02040503050406030204" pitchFamily="18" charset="0"/>
                        <a:cs typeface="宋体" panose="02010600030101010101" pitchFamily="2" charset="-122"/>
                      </a:rPr>
                      <m:t>𝑠𝑒𝑒𝑑</m:t>
                    </m:r>
                    <m:r>
                      <a:rPr lang="en-US" altLang="zh-CN" sz="1200" i="1">
                        <a:latin typeface="Cambria Math" panose="02040503050406030204" pitchFamily="18" charset="0"/>
                        <a:cs typeface="宋体" panose="02010600030101010101" pitchFamily="2" charset="-122"/>
                      </a:rPr>
                      <m:t>)</m:t>
                    </m:r>
                  </m:oMath>
                </a14:m>
                <a:r>
                  <a:rPr lang="zh-CN" altLang="zh-CN" sz="1200" dirty="0">
                    <a:latin typeface="宋体" panose="02010600030101010101" pitchFamily="2" charset="-122"/>
                    <a:cs typeface="宋体" panose="02010600030101010101" pitchFamily="2" charset="-122"/>
                  </a:rPr>
                  <a:t>；</a:t>
                </a:r>
              </a:p>
              <a:p>
                <a:pPr marL="342900" lvl="0" indent="-342900">
                  <a:spcBef>
                    <a:spcPts val="600"/>
                  </a:spcBef>
                  <a:spcAft>
                    <a:spcPts val="600"/>
                  </a:spcAft>
                  <a:buFont typeface="+mj-lt"/>
                  <a:buAutoNum type="arabicParenR"/>
                </a:pPr>
                <a:r>
                  <a:rPr lang="zh-CN" altLang="zh-CN" sz="1200" dirty="0">
                    <a:latin typeface="宋体" panose="02010600030101010101" pitchFamily="2" charset="-122"/>
                    <a:cs typeface="宋体" panose="02010600030101010101" pitchFamily="2" charset="-122"/>
                  </a:rPr>
                  <a:t>利用运动学正解求末端执行器位姿</a:t>
                </a:r>
                <a14:m>
                  <m:oMath xmlns:m="http://schemas.openxmlformats.org/officeDocument/2006/math">
                    <m:d>
                      <m:dPr>
                        <m:begChr m:val="["/>
                        <m:endChr m:val="]"/>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dPr>
                      <m:e>
                        <m:m>
                          <m:mPr>
                            <m:mcs>
                              <m:mc>
                                <m:mcPr>
                                  <m:count m:val="2"/>
                                  <m:mcJc m:val="center"/>
                                </m:mcPr>
                              </m:mc>
                            </m:mcs>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mPr>
                          <m:mr>
                            <m:e>
                              <m:m>
                                <m:mPr>
                                  <m:mcs>
                                    <m:mc>
                                      <m:mcPr>
                                        <m:count m:val="2"/>
                                        <m:mcJc m:val="center"/>
                                      </m:mcPr>
                                    </m:mc>
                                  </m:mcs>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mPr>
                                <m:mr>
                                  <m:e>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𝑛</m:t>
                                        </m:r>
                                      </m:e>
                                      <m:sub>
                                        <m:r>
                                          <a:rPr lang="en-US" altLang="zh-CN" sz="1200" i="1">
                                            <a:latin typeface="Cambria Math" panose="02040503050406030204" pitchFamily="18" charset="0"/>
                                            <a:cs typeface="宋体" panose="02010600030101010101" pitchFamily="2" charset="-122"/>
                                          </a:rPr>
                                          <m:t>𝑖𝑥</m:t>
                                        </m:r>
                                      </m:sub>
                                    </m:sSub>
                                  </m:e>
                                  <m:e>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𝑜</m:t>
                                        </m:r>
                                      </m:e>
                                      <m:sub>
                                        <m:r>
                                          <a:rPr lang="en-US" altLang="zh-CN" sz="1200" i="1">
                                            <a:latin typeface="Cambria Math" panose="02040503050406030204" pitchFamily="18" charset="0"/>
                                            <a:cs typeface="宋体" panose="02010600030101010101" pitchFamily="2" charset="-122"/>
                                          </a:rPr>
                                          <m:t>𝑖𝑥</m:t>
                                        </m:r>
                                      </m:sub>
                                    </m:sSub>
                                  </m:e>
                                </m:mr>
                                <m:mr>
                                  <m:e>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𝑛</m:t>
                                        </m:r>
                                      </m:e>
                                      <m:sub>
                                        <m:r>
                                          <a:rPr lang="en-US" altLang="zh-CN" sz="1200" i="1">
                                            <a:latin typeface="Cambria Math" panose="02040503050406030204" pitchFamily="18" charset="0"/>
                                            <a:cs typeface="宋体" panose="02010600030101010101" pitchFamily="2" charset="-122"/>
                                          </a:rPr>
                                          <m:t>𝑖𝑦</m:t>
                                        </m:r>
                                      </m:sub>
                                    </m:sSub>
                                  </m:e>
                                  <m:e>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𝑜</m:t>
                                        </m:r>
                                      </m:e>
                                      <m:sub>
                                        <m:r>
                                          <a:rPr lang="en-US" altLang="zh-CN" sz="1200" i="1">
                                            <a:latin typeface="Cambria Math" panose="02040503050406030204" pitchFamily="18" charset="0"/>
                                            <a:cs typeface="宋体" panose="02010600030101010101" pitchFamily="2" charset="-122"/>
                                          </a:rPr>
                                          <m:t>𝑖𝑦</m:t>
                                        </m:r>
                                      </m:sub>
                                    </m:sSub>
                                  </m:e>
                                </m:mr>
                              </m:m>
                            </m:e>
                            <m:e>
                              <m:m>
                                <m:mPr>
                                  <m:mcs>
                                    <m:mc>
                                      <m:mcPr>
                                        <m:count m:val="2"/>
                                        <m:mcJc m:val="center"/>
                                      </m:mcPr>
                                    </m:mc>
                                  </m:mcs>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mPr>
                                <m:mr>
                                  <m:e>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𝑎</m:t>
                                        </m:r>
                                      </m:e>
                                      <m:sub>
                                        <m:r>
                                          <a:rPr lang="en-US" altLang="zh-CN" sz="1200" i="1">
                                            <a:latin typeface="Cambria Math" panose="02040503050406030204" pitchFamily="18" charset="0"/>
                                            <a:cs typeface="宋体" panose="02010600030101010101" pitchFamily="2" charset="-122"/>
                                          </a:rPr>
                                          <m:t>𝑖𝑥</m:t>
                                        </m:r>
                                      </m:sub>
                                    </m:sSub>
                                  </m:e>
                                  <m:e>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𝑝</m:t>
                                        </m:r>
                                      </m:e>
                                      <m:sub>
                                        <m:r>
                                          <a:rPr lang="en-US" altLang="zh-CN" sz="1200" i="1">
                                            <a:latin typeface="Cambria Math" panose="02040503050406030204" pitchFamily="18" charset="0"/>
                                            <a:cs typeface="宋体" panose="02010600030101010101" pitchFamily="2" charset="-122"/>
                                          </a:rPr>
                                          <m:t>𝑖𝑥</m:t>
                                        </m:r>
                                      </m:sub>
                                    </m:sSub>
                                  </m:e>
                                </m:mr>
                                <m:mr>
                                  <m:e>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𝑎</m:t>
                                        </m:r>
                                      </m:e>
                                      <m:sub>
                                        <m:r>
                                          <a:rPr lang="en-US" altLang="zh-CN" sz="1200" i="1">
                                            <a:latin typeface="Cambria Math" panose="02040503050406030204" pitchFamily="18" charset="0"/>
                                            <a:cs typeface="宋体" panose="02010600030101010101" pitchFamily="2" charset="-122"/>
                                          </a:rPr>
                                          <m:t>𝑖𝑦</m:t>
                                        </m:r>
                                      </m:sub>
                                    </m:sSub>
                                  </m:e>
                                  <m:e>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𝑝</m:t>
                                        </m:r>
                                      </m:e>
                                      <m:sub>
                                        <m:r>
                                          <a:rPr lang="en-US" altLang="zh-CN" sz="1200" i="1">
                                            <a:latin typeface="Cambria Math" panose="02040503050406030204" pitchFamily="18" charset="0"/>
                                            <a:cs typeface="宋体" panose="02010600030101010101" pitchFamily="2" charset="-122"/>
                                          </a:rPr>
                                          <m:t>𝑖𝑦</m:t>
                                        </m:r>
                                      </m:sub>
                                    </m:sSub>
                                  </m:e>
                                </m:mr>
                              </m:m>
                            </m:e>
                          </m:mr>
                          <m:mr>
                            <m:e>
                              <m:m>
                                <m:mPr>
                                  <m:mcs>
                                    <m:mc>
                                      <m:mcPr>
                                        <m:count m:val="2"/>
                                        <m:mcJc m:val="center"/>
                                      </m:mcPr>
                                    </m:mc>
                                  </m:mcs>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mPr>
                                <m:mr>
                                  <m:e>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𝑛</m:t>
                                        </m:r>
                                      </m:e>
                                      <m:sub>
                                        <m:r>
                                          <a:rPr lang="en-US" altLang="zh-CN" sz="1200" i="1">
                                            <a:latin typeface="Cambria Math" panose="02040503050406030204" pitchFamily="18" charset="0"/>
                                            <a:cs typeface="宋体" panose="02010600030101010101" pitchFamily="2" charset="-122"/>
                                          </a:rPr>
                                          <m:t>𝑖𝑧</m:t>
                                        </m:r>
                                      </m:sub>
                                    </m:sSub>
                                  </m:e>
                                  <m:e>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𝑜</m:t>
                                        </m:r>
                                      </m:e>
                                      <m:sub>
                                        <m:r>
                                          <a:rPr lang="en-US" altLang="zh-CN" sz="1200" i="1">
                                            <a:latin typeface="Cambria Math" panose="02040503050406030204" pitchFamily="18" charset="0"/>
                                            <a:cs typeface="宋体" panose="02010600030101010101" pitchFamily="2" charset="-122"/>
                                          </a:rPr>
                                          <m:t>𝑖𝑧</m:t>
                                        </m:r>
                                      </m:sub>
                                    </m:sSub>
                                  </m:e>
                                </m:mr>
                                <m:mr>
                                  <m:e>
                                    <m:r>
                                      <a:rPr lang="en-US" altLang="zh-CN" sz="1200" i="1">
                                        <a:latin typeface="Cambria Math" panose="02040503050406030204" pitchFamily="18" charset="0"/>
                                        <a:cs typeface="宋体" panose="02010600030101010101" pitchFamily="2" charset="-122"/>
                                      </a:rPr>
                                      <m:t>0</m:t>
                                    </m:r>
                                  </m:e>
                                  <m:e>
                                    <m:r>
                                      <a:rPr lang="en-US" altLang="zh-CN" sz="1200" i="1">
                                        <a:latin typeface="Cambria Math" panose="02040503050406030204" pitchFamily="18" charset="0"/>
                                        <a:cs typeface="宋体" panose="02010600030101010101" pitchFamily="2" charset="-122"/>
                                      </a:rPr>
                                      <m:t>0</m:t>
                                    </m:r>
                                  </m:e>
                                </m:mr>
                              </m:m>
                            </m:e>
                            <m:e>
                              <m:m>
                                <m:mPr>
                                  <m:mcs>
                                    <m:mc>
                                      <m:mcPr>
                                        <m:count m:val="2"/>
                                        <m:mcJc m:val="center"/>
                                      </m:mcPr>
                                    </m:mc>
                                  </m:mcs>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mPr>
                                <m:mr>
                                  <m:e>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𝑎</m:t>
                                        </m:r>
                                      </m:e>
                                      <m:sub>
                                        <m:r>
                                          <a:rPr lang="en-US" altLang="zh-CN" sz="1200" i="1">
                                            <a:latin typeface="Cambria Math" panose="02040503050406030204" pitchFamily="18" charset="0"/>
                                            <a:cs typeface="宋体" panose="02010600030101010101" pitchFamily="2" charset="-122"/>
                                          </a:rPr>
                                          <m:t>𝑖𝑧</m:t>
                                        </m:r>
                                      </m:sub>
                                    </m:sSub>
                                  </m:e>
                                  <m:e>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𝑝</m:t>
                                        </m:r>
                                      </m:e>
                                      <m:sub>
                                        <m:r>
                                          <a:rPr lang="en-US" altLang="zh-CN" sz="1200" i="1">
                                            <a:latin typeface="Cambria Math" panose="02040503050406030204" pitchFamily="18" charset="0"/>
                                            <a:cs typeface="宋体" panose="02010600030101010101" pitchFamily="2" charset="-122"/>
                                          </a:rPr>
                                          <m:t>𝑖𝑧</m:t>
                                        </m:r>
                                      </m:sub>
                                    </m:sSub>
                                  </m:e>
                                </m:mr>
                                <m:mr>
                                  <m:e>
                                    <m:r>
                                      <a:rPr lang="en-US" altLang="zh-CN" sz="1200" i="1">
                                        <a:latin typeface="Cambria Math" panose="02040503050406030204" pitchFamily="18" charset="0"/>
                                        <a:cs typeface="宋体" panose="02010600030101010101" pitchFamily="2" charset="-122"/>
                                      </a:rPr>
                                      <m:t>0</m:t>
                                    </m:r>
                                  </m:e>
                                  <m:e>
                                    <m:r>
                                      <a:rPr lang="en-US" altLang="zh-CN" sz="1200" i="1">
                                        <a:latin typeface="Cambria Math" panose="02040503050406030204" pitchFamily="18" charset="0"/>
                                        <a:cs typeface="宋体" panose="02010600030101010101" pitchFamily="2" charset="-122"/>
                                      </a:rPr>
                                      <m:t>1</m:t>
                                    </m:r>
                                  </m:e>
                                </m:mr>
                              </m:m>
                            </m:e>
                          </m:mr>
                        </m:m>
                      </m:e>
                    </m:d>
                  </m:oMath>
                </a14:m>
                <a:r>
                  <a:rPr lang="zh-CN" altLang="zh-CN" sz="1200" dirty="0">
                    <a:latin typeface="宋体" panose="02010600030101010101" pitchFamily="2" charset="-122"/>
                    <a:cs typeface="宋体" panose="02010600030101010101" pitchFamily="2" charset="-122"/>
                  </a:rPr>
                  <a:t>；</a:t>
                </a:r>
              </a:p>
              <a:p>
                <a:pPr marL="342900" lvl="0" indent="-342900">
                  <a:spcBef>
                    <a:spcPts val="600"/>
                  </a:spcBef>
                  <a:spcAft>
                    <a:spcPts val="600"/>
                  </a:spcAft>
                  <a:buFont typeface="+mj-lt"/>
                  <a:buAutoNum type="arabicParenR"/>
                </a:pPr>
                <a:r>
                  <a:rPr lang="zh-CN" altLang="zh-CN" sz="1200" dirty="0">
                    <a:latin typeface="宋体" panose="02010600030101010101" pitchFamily="2" charset="-122"/>
                    <a:cs typeface="宋体" panose="02010600030101010101" pitchFamily="2" charset="-122"/>
                  </a:rPr>
                  <a:t>采用矢量积求法、微分变换求法或者指数积求法计算该点的雅可比矩阵，并判断其是否为奇异矩阵（也可将其解耦成手臂奇异和手腕奇异，解耦方法见前面章节介绍）；</a:t>
                </a:r>
              </a:p>
              <a:p>
                <a:pPr marL="342900" indent="-342900">
                  <a:spcBef>
                    <a:spcPts val="600"/>
                  </a:spcBef>
                  <a:spcAft>
                    <a:spcPts val="600"/>
                  </a:spcAft>
                  <a:buFont typeface="+mj-lt"/>
                  <a:buAutoNum type="arabicParenR"/>
                </a:pPr>
                <a:r>
                  <a:rPr lang="zh-CN" altLang="zh-CN" sz="1200" dirty="0" smtClean="0">
                    <a:latin typeface="宋体" panose="02010600030101010101" pitchFamily="2" charset="-122"/>
                    <a:cs typeface="宋体" panose="02010600030101010101" pitchFamily="2" charset="-122"/>
                  </a:rPr>
                  <a:t>存储</a:t>
                </a:r>
                <a:r>
                  <a:rPr lang="zh-CN" altLang="zh-CN" sz="1200" dirty="0">
                    <a:latin typeface="宋体" panose="02010600030101010101" pitchFamily="2" charset="-122"/>
                    <a:cs typeface="宋体" panose="02010600030101010101" pitchFamily="2" charset="-122"/>
                  </a:rPr>
                  <a:t>和绘制该点，针对奇异点、边界点、灵巧点，可以采用不同的颜色进行绘图；</a:t>
                </a:r>
              </a:p>
              <a:p>
                <a:pPr marL="342900" indent="-342900">
                  <a:spcBef>
                    <a:spcPts val="600"/>
                  </a:spcBef>
                  <a:spcAft>
                    <a:spcPts val="600"/>
                  </a:spcAft>
                  <a:buFont typeface="+mj-lt"/>
                  <a:buAutoNum type="arabicParenR"/>
                </a:pPr>
                <a:r>
                  <a:rPr lang="zh-CN" altLang="zh-CN" sz="1200" dirty="0">
                    <a:latin typeface="宋体" panose="02010600030101010101" pitchFamily="2" charset="-122"/>
                    <a:cs typeface="宋体" panose="02010600030101010101" pitchFamily="2" charset="-122"/>
                  </a:rPr>
                  <a:t>重复以上过程，直至循环次数达到设定要求。</a:t>
                </a:r>
                <a:endParaRPr lang="zh-CN" altLang="en-US" sz="1200" dirty="0">
                  <a:latin typeface="宋体" panose="02010600030101010101" pitchFamily="2" charset="-122"/>
                  <a:cs typeface="宋体" panose="02010600030101010101" pitchFamily="2" charset="-122"/>
                </a:endParaRPr>
              </a:p>
            </p:txBody>
          </p:sp>
        </mc:Choice>
        <mc:Fallback xmlns="">
          <p:sp>
            <p:nvSpPr>
              <p:cNvPr id="4" name="矩形 3"/>
              <p:cNvSpPr>
                <a:spLocks noRot="1" noChangeAspect="1" noMove="1" noResize="1" noEditPoints="1" noAdjustHandles="1" noChangeArrowheads="1" noChangeShapeType="1" noTextEdit="1"/>
              </p:cNvSpPr>
              <p:nvPr/>
            </p:nvSpPr>
            <p:spPr>
              <a:xfrm>
                <a:off x="2959333" y="1337556"/>
                <a:ext cx="3809254" cy="3280065"/>
              </a:xfrm>
              <a:prstGeom prst="rect">
                <a:avLst/>
              </a:prstGeom>
              <a:blipFill>
                <a:blip r:embed="rId4"/>
                <a:stretch>
                  <a:fillRect r="-1920" b="-743"/>
                </a:stretch>
              </a:blipFill>
            </p:spPr>
            <p:txBody>
              <a:bodyPr/>
              <a:lstStyle/>
              <a:p>
                <a:r>
                  <a:rPr lang="zh-CN" altLang="en-US">
                    <a:noFill/>
                  </a:rPr>
                  <a:t> </a:t>
                </a:r>
              </a:p>
            </p:txBody>
          </p:sp>
        </mc:Fallback>
      </mc:AlternateContent>
      <p:pic>
        <p:nvPicPr>
          <p:cNvPr id="7" name="图片 6"/>
          <p:cNvPicPr>
            <a:picLocks noChangeAspect="1"/>
          </p:cNvPicPr>
          <p:nvPr/>
        </p:nvPicPr>
        <p:blipFill>
          <a:blip r:embed="rId5"/>
          <a:stretch>
            <a:fillRect/>
          </a:stretch>
        </p:blipFill>
        <p:spPr>
          <a:xfrm>
            <a:off x="6768587" y="1970455"/>
            <a:ext cx="2267909" cy="2133785"/>
          </a:xfrm>
          <a:prstGeom prst="rect">
            <a:avLst/>
          </a:prstGeom>
        </p:spPr>
      </p:pic>
      <p:sp>
        <p:nvSpPr>
          <p:cNvPr id="12" name="矩形 11"/>
          <p:cNvSpPr/>
          <p:nvPr/>
        </p:nvSpPr>
        <p:spPr>
          <a:xfrm>
            <a:off x="2968202" y="1111845"/>
            <a:ext cx="4572000" cy="307777"/>
          </a:xfrm>
          <a:prstGeom prst="rect">
            <a:avLst/>
          </a:prstGeom>
        </p:spPr>
        <p:txBody>
          <a:bodyPr>
            <a:spAutoFit/>
          </a:bodyPr>
          <a:lstStyle/>
          <a:p>
            <a:r>
              <a:rPr lang="zh-CN" altLang="en-US" sz="1400" b="1" dirty="0">
                <a:solidFill>
                  <a:srgbClr val="002060"/>
                </a:solidFill>
              </a:rPr>
              <a:t>利用蒙特卡罗方法求解机器人工作空间的基本步骤如下：</a:t>
            </a:r>
          </a:p>
        </p:txBody>
      </p:sp>
    </p:spTree>
    <p:extLst>
      <p:ext uri="{BB962C8B-B14F-4D97-AF65-F5344CB8AC3E}">
        <p14:creationId xmlns:p14="http://schemas.microsoft.com/office/powerpoint/2010/main" val="35346266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267200" y="1725568"/>
            <a:ext cx="4121224" cy="2862322"/>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串联机器人往往存在运动惯量大、刚度低、误差累积等缺点。而并联机器人一般具有动平台与静平台，驱动电机多安装于定平台，具有惯性小、速度快的优点，并联机器人的出现刚好弥补了串联机器人在这些方面的不足</a:t>
            </a:r>
            <a:r>
              <a:rPr lang="zh-CN" altLang="en-US" sz="1200" dirty="0" smtClean="0">
                <a:latin typeface="Arial" panose="020B0604020202020204" pitchFamily="34" charset="0"/>
                <a:ea typeface="微软雅黑" panose="020B0503020204020204" charset="-122"/>
                <a:sym typeface="+mn-ea"/>
              </a:rPr>
              <a:t>。</a:t>
            </a:r>
            <a:endParaRPr lang="en-US" altLang="zh-CN" sz="1200" dirty="0" smtClean="0">
              <a:latin typeface="Arial" panose="020B0604020202020204" pitchFamily="34" charset="0"/>
              <a:ea typeface="微软雅黑" panose="020B0503020204020204" charset="-122"/>
              <a:sym typeface="+mn-ea"/>
            </a:endParaRPr>
          </a:p>
          <a:p>
            <a:pPr>
              <a:lnSpc>
                <a:spcPct val="150000"/>
              </a:lnSpc>
            </a:pPr>
            <a:r>
              <a:rPr lang="zh-CN" altLang="en-US" sz="1200" dirty="0">
                <a:latin typeface="Arial" panose="020B0604020202020204" pitchFamily="34" charset="0"/>
                <a:ea typeface="微软雅黑" panose="020B0503020204020204" charset="-122"/>
                <a:sym typeface="+mn-ea"/>
              </a:rPr>
              <a:t>组成并联机器人的运动副有简单运动副和复合运动副两大类，一般形式有移动副</a:t>
            </a:r>
            <a:r>
              <a:rPr lang="en-US" altLang="zh-CN" sz="1200" dirty="0">
                <a:latin typeface="Arial" panose="020B0604020202020204" pitchFamily="34" charset="0"/>
                <a:ea typeface="微软雅黑" panose="020B0503020204020204" charset="-122"/>
                <a:sym typeface="+mn-ea"/>
              </a:rPr>
              <a:t>P</a:t>
            </a:r>
            <a:r>
              <a:rPr lang="zh-CN" altLang="en-US" sz="1200" dirty="0">
                <a:latin typeface="Arial" panose="020B0604020202020204" pitchFamily="34" charset="0"/>
                <a:ea typeface="微软雅黑" panose="020B0503020204020204" charset="-122"/>
                <a:sym typeface="+mn-ea"/>
              </a:rPr>
              <a:t>（</a:t>
            </a:r>
            <a:r>
              <a:rPr lang="en-US" altLang="zh-CN" sz="1200" dirty="0">
                <a:latin typeface="Arial" panose="020B0604020202020204" pitchFamily="34" charset="0"/>
                <a:ea typeface="微软雅黑" panose="020B0503020204020204" charset="-122"/>
                <a:sym typeface="+mn-ea"/>
              </a:rPr>
              <a:t>prismatic pair</a:t>
            </a:r>
            <a:r>
              <a:rPr lang="zh-CN" altLang="en-US" sz="1200" dirty="0">
                <a:latin typeface="Arial" panose="020B0604020202020204" pitchFamily="34" charset="0"/>
                <a:ea typeface="微软雅黑" panose="020B0503020204020204" charset="-122"/>
                <a:sym typeface="+mn-ea"/>
              </a:rPr>
              <a:t>）、转动副</a:t>
            </a:r>
            <a:r>
              <a:rPr lang="en-US" altLang="zh-CN" sz="1200" dirty="0">
                <a:latin typeface="Arial" panose="020B0604020202020204" pitchFamily="34" charset="0"/>
                <a:ea typeface="微软雅黑" panose="020B0503020204020204" charset="-122"/>
                <a:sym typeface="+mn-ea"/>
              </a:rPr>
              <a:t>R </a:t>
            </a:r>
            <a:r>
              <a:rPr lang="zh-CN" altLang="en-US" sz="1200" dirty="0">
                <a:latin typeface="Arial" panose="020B0604020202020204" pitchFamily="34" charset="0"/>
                <a:ea typeface="微软雅黑" panose="020B0503020204020204" charset="-122"/>
                <a:sym typeface="+mn-ea"/>
              </a:rPr>
              <a:t>（</a:t>
            </a:r>
            <a:r>
              <a:rPr lang="en-US" altLang="zh-CN" sz="1200" dirty="0">
                <a:latin typeface="Arial" panose="020B0604020202020204" pitchFamily="34" charset="0"/>
                <a:ea typeface="微软雅黑" panose="020B0503020204020204" charset="-122"/>
                <a:sym typeface="+mn-ea"/>
              </a:rPr>
              <a:t>rotating pair</a:t>
            </a:r>
            <a:r>
              <a:rPr lang="zh-CN" altLang="en-US" sz="1200" dirty="0">
                <a:latin typeface="Arial" panose="020B0604020202020204" pitchFamily="34" charset="0"/>
                <a:ea typeface="微软雅黑" panose="020B0503020204020204" charset="-122"/>
                <a:sym typeface="+mn-ea"/>
              </a:rPr>
              <a:t>）、球铰</a:t>
            </a:r>
            <a:r>
              <a:rPr lang="en-US" altLang="zh-CN" sz="1200" dirty="0">
                <a:latin typeface="Arial" panose="020B0604020202020204" pitchFamily="34" charset="0"/>
                <a:ea typeface="微软雅黑" panose="020B0503020204020204" charset="-122"/>
                <a:sym typeface="+mn-ea"/>
              </a:rPr>
              <a:t>S</a:t>
            </a:r>
            <a:r>
              <a:rPr lang="zh-CN" altLang="en-US" sz="1200" dirty="0">
                <a:latin typeface="Arial" panose="020B0604020202020204" pitchFamily="34" charset="0"/>
                <a:ea typeface="微软雅黑" panose="020B0503020204020204" charset="-122"/>
                <a:sym typeface="+mn-ea"/>
              </a:rPr>
              <a:t>（</a:t>
            </a:r>
            <a:r>
              <a:rPr lang="en-US" altLang="zh-CN" sz="1200" dirty="0">
                <a:latin typeface="Arial" panose="020B0604020202020204" pitchFamily="34" charset="0"/>
                <a:ea typeface="微软雅黑" panose="020B0503020204020204" charset="-122"/>
                <a:sym typeface="+mn-ea"/>
              </a:rPr>
              <a:t>spherical hinge</a:t>
            </a:r>
            <a:r>
              <a:rPr lang="zh-CN" altLang="en-US" sz="1200" dirty="0">
                <a:latin typeface="Arial" panose="020B0604020202020204" pitchFamily="34" charset="0"/>
                <a:ea typeface="微软雅黑" panose="020B0503020204020204" charset="-122"/>
                <a:sym typeface="+mn-ea"/>
              </a:rPr>
              <a:t>）、虎克铰</a:t>
            </a:r>
            <a:r>
              <a:rPr lang="en-US" altLang="zh-CN" sz="1200" dirty="0">
                <a:latin typeface="Arial" panose="020B0604020202020204" pitchFamily="34" charset="0"/>
                <a:ea typeface="微软雅黑" panose="020B0503020204020204" charset="-122"/>
                <a:sym typeface="+mn-ea"/>
              </a:rPr>
              <a:t>(</a:t>
            </a:r>
            <a:r>
              <a:rPr lang="zh-CN" altLang="en-US" sz="1200" dirty="0">
                <a:latin typeface="Arial" panose="020B0604020202020204" pitchFamily="34" charset="0"/>
                <a:ea typeface="微软雅黑" panose="020B0503020204020204" charset="-122"/>
                <a:sym typeface="+mn-ea"/>
              </a:rPr>
              <a:t>也称万向节</a:t>
            </a:r>
            <a:r>
              <a:rPr lang="en-US" altLang="zh-CN" sz="1200" dirty="0">
                <a:latin typeface="Arial" panose="020B0604020202020204" pitchFamily="34" charset="0"/>
                <a:ea typeface="微软雅黑" panose="020B0503020204020204" charset="-122"/>
                <a:sym typeface="+mn-ea"/>
              </a:rPr>
              <a:t>)U(Universal pair)</a:t>
            </a:r>
            <a:r>
              <a:rPr lang="zh-CN" altLang="en-US" sz="1200" dirty="0">
                <a:latin typeface="Arial" panose="020B0604020202020204" pitchFamily="34" charset="0"/>
                <a:ea typeface="微软雅黑" panose="020B0503020204020204" charset="-122"/>
                <a:sym typeface="+mn-ea"/>
              </a:rPr>
              <a:t>等。我们把采用</a:t>
            </a:r>
            <a:r>
              <a:rPr lang="zh-CN" altLang="en-US" sz="1200" b="1" dirty="0">
                <a:solidFill>
                  <a:srgbClr val="002060"/>
                </a:solidFill>
                <a:latin typeface="Arial" panose="020B0604020202020204" pitchFamily="34" charset="0"/>
                <a:ea typeface="微软雅黑" panose="020B0503020204020204" charset="-122"/>
                <a:sym typeface="+mn-ea"/>
              </a:rPr>
              <a:t>并联机构</a:t>
            </a:r>
            <a:r>
              <a:rPr lang="zh-CN" altLang="en-US" sz="1200" dirty="0">
                <a:latin typeface="Arial" panose="020B0604020202020204" pitchFamily="34" charset="0"/>
                <a:ea typeface="微软雅黑" panose="020B0503020204020204" charset="-122"/>
                <a:sym typeface="+mn-ea"/>
              </a:rPr>
              <a:t>的机器人称为并联机器人，其</a:t>
            </a:r>
            <a:r>
              <a:rPr lang="zh-CN" altLang="en-US" sz="1200" b="1" dirty="0">
                <a:solidFill>
                  <a:srgbClr val="002060"/>
                </a:solidFill>
                <a:latin typeface="Arial" panose="020B0604020202020204" pitchFamily="34" charset="0"/>
                <a:ea typeface="微软雅黑" panose="020B0503020204020204" charset="-122"/>
                <a:sym typeface="+mn-ea"/>
              </a:rPr>
              <a:t>运动链</a:t>
            </a:r>
            <a:r>
              <a:rPr lang="zh-CN" altLang="en-US" sz="1200" dirty="0">
                <a:latin typeface="Arial" panose="020B0604020202020204" pitchFamily="34" charset="0"/>
                <a:ea typeface="微软雅黑" panose="020B0503020204020204" charset="-122"/>
                <a:sym typeface="+mn-ea"/>
              </a:rPr>
              <a:t>中包含一个或多个</a:t>
            </a:r>
            <a:r>
              <a:rPr lang="zh-CN" altLang="en-US" sz="1200" b="1" dirty="0">
                <a:solidFill>
                  <a:srgbClr val="002060"/>
                </a:solidFill>
                <a:latin typeface="Arial" panose="020B0604020202020204" pitchFamily="34" charset="0"/>
                <a:ea typeface="微软雅黑" panose="020B0503020204020204" charset="-122"/>
                <a:sym typeface="+mn-ea"/>
              </a:rPr>
              <a:t>闭链</a:t>
            </a:r>
            <a:r>
              <a:rPr lang="en-US" altLang="zh-CN" sz="1200" dirty="0">
                <a:latin typeface="Arial" panose="020B0604020202020204" pitchFamily="34" charset="0"/>
                <a:ea typeface="微软雅黑" panose="020B0503020204020204" charset="-122"/>
                <a:sym typeface="+mn-ea"/>
              </a:rPr>
              <a:t>(closed chain)</a:t>
            </a:r>
            <a:r>
              <a:rPr lang="zh-CN" altLang="en-US" sz="1200" dirty="0" smtClean="0">
                <a:latin typeface="Arial" panose="020B0604020202020204" pitchFamily="34" charset="0"/>
                <a:ea typeface="微软雅黑" panose="020B0503020204020204" charset="-122"/>
                <a:sym typeface="+mn-ea"/>
              </a:rPr>
              <a:t>，</a:t>
            </a:r>
            <a:r>
              <a:rPr lang="zh-CN" altLang="en-US" sz="1200" dirty="0">
                <a:latin typeface="Arial" panose="020B0604020202020204" pitchFamily="34" charset="0"/>
                <a:ea typeface="微软雅黑" panose="020B0503020204020204" charset="-122"/>
                <a:sym typeface="+mn-ea"/>
              </a:rPr>
              <a:t>基于</a:t>
            </a:r>
            <a:r>
              <a:rPr lang="zh-CN" altLang="en-US" sz="1200" dirty="0" smtClean="0">
                <a:latin typeface="Arial" panose="020B0604020202020204" pitchFamily="34" charset="0"/>
                <a:ea typeface="微软雅黑" panose="020B0503020204020204" charset="-122"/>
                <a:sym typeface="+mn-ea"/>
              </a:rPr>
              <a:t>此本节分析</a:t>
            </a:r>
            <a:r>
              <a:rPr lang="zh-CN" altLang="en-US" sz="1200" dirty="0">
                <a:latin typeface="Arial" panose="020B0604020202020204" pitchFamily="34" charset="0"/>
                <a:ea typeface="微软雅黑" panose="020B0503020204020204" charset="-122"/>
                <a:sym typeface="+mn-ea"/>
              </a:rPr>
              <a:t>并联机器人运动学。</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7" name="文本框 6"/>
          <p:cNvSpPr txBox="1"/>
          <p:nvPr/>
        </p:nvSpPr>
        <p:spPr>
          <a:xfrm>
            <a:off x="4319270" y="1203598"/>
            <a:ext cx="3335655" cy="521970"/>
          </a:xfrm>
          <a:prstGeom prst="rect">
            <a:avLst/>
          </a:prstGeom>
          <a:noFill/>
        </p:spPr>
        <p:txBody>
          <a:bodyPr wrap="square" rtlCol="0" anchor="t">
            <a:spAutoFit/>
          </a:bodyPr>
          <a:lstStyle/>
          <a:p>
            <a:r>
              <a:rPr lang="zh-CN" altLang="en-US" sz="2800" b="1" dirty="0">
                <a:latin typeface="Arial" panose="020B0604020202020204" pitchFamily="34" charset="0"/>
                <a:ea typeface="微软雅黑" panose="020B0503020204020204" charset="-122"/>
                <a:sym typeface="+mn-ea"/>
              </a:rPr>
              <a:t>并联机器人运动学</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11</a:t>
            </a:r>
            <a:endParaRPr lang="en-US" altLang="zh-CN" sz="6600" b="1" dirty="0">
              <a:solidFill>
                <a:schemeClr val="bg1"/>
              </a:solidFill>
              <a:latin typeface="微软雅黑" panose="020B0503020204020204" charset="-122"/>
              <a:ea typeface="微软雅黑" panose="020B0503020204020204" charset="-122"/>
              <a:sym typeface="+mn-ea"/>
            </a:endParaRPr>
          </a:p>
        </p:txBody>
      </p:sp>
    </p:spTree>
    <p:extLst>
      <p:ext uri="{BB962C8B-B14F-4D97-AF65-F5344CB8AC3E}">
        <p14:creationId xmlns:p14="http://schemas.microsoft.com/office/powerpoint/2010/main" val="259851380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a:off x="-236220" y="219075"/>
            <a:ext cx="5153660" cy="598805"/>
            <a:chOff x="-372" y="345"/>
            <a:chExt cx="8116" cy="943"/>
          </a:xfrm>
        </p:grpSpPr>
        <p:sp>
          <p:nvSpPr>
            <p:cNvPr id="40" name="矩形 39"/>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Kinematics of Parallel Robots</a:t>
              </a:r>
            </a:p>
          </p:txBody>
        </p:sp>
        <p:sp>
          <p:nvSpPr>
            <p:cNvPr id="41" name="文本框 40"/>
            <p:cNvSpPr txBox="1"/>
            <p:nvPr/>
          </p:nvSpPr>
          <p:spPr>
            <a:xfrm>
              <a:off x="443" y="363"/>
              <a:ext cx="7301"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并联机器人运动学</a:t>
              </a:r>
              <a:endParaRPr lang="en-US" altLang="zh-CN" sz="2000" b="1" dirty="0" smtClean="0">
                <a:latin typeface="Arial" panose="020B0604020202020204" pitchFamily="34" charset="0"/>
                <a:ea typeface="微软雅黑" panose="020B0503020204020204" charset="-122"/>
                <a:sym typeface="+mn-ea"/>
              </a:endParaRPr>
            </a:p>
          </p:txBody>
        </p:sp>
        <p:sp>
          <p:nvSpPr>
            <p:cNvPr id="42" name="椭圆 41"/>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3" name="图片 12"/>
          <p:cNvPicPr/>
          <p:nvPr/>
        </p:nvPicPr>
        <p:blipFill>
          <a:blip r:embed="rId3"/>
          <a:stretch>
            <a:fillRect/>
          </a:stretch>
        </p:blipFill>
        <p:spPr>
          <a:xfrm>
            <a:off x="251520" y="1110615"/>
            <a:ext cx="4972050" cy="3029323"/>
          </a:xfrm>
          <a:prstGeom prst="rect">
            <a:avLst/>
          </a:prstGeom>
        </p:spPr>
      </p:pic>
      <p:sp>
        <p:nvSpPr>
          <p:cNvPr id="5" name="矩形 4"/>
          <p:cNvSpPr/>
          <p:nvPr/>
        </p:nvSpPr>
        <p:spPr>
          <a:xfrm>
            <a:off x="851851" y="4155926"/>
            <a:ext cx="1547218" cy="338554"/>
          </a:xfrm>
          <a:prstGeom prst="rect">
            <a:avLst/>
          </a:prstGeom>
        </p:spPr>
        <p:txBody>
          <a:bodyPr wrap="none">
            <a:spAutoFit/>
          </a:bodyPr>
          <a:lstStyle/>
          <a:p>
            <a:r>
              <a:rPr lang="en-US" altLang="zh-CN" sz="1600">
                <a:latin typeface="等线" panose="02010600030101010101" pitchFamily="2" charset="-122"/>
                <a:cs typeface="Times New Roman" panose="02020603050405020304" pitchFamily="18" charset="0"/>
              </a:rPr>
              <a:t>Stewart-Gough</a:t>
            </a:r>
            <a:endParaRPr lang="zh-CN" altLang="en-US" sz="1600" dirty="0"/>
          </a:p>
        </p:txBody>
      </p:sp>
      <p:sp>
        <p:nvSpPr>
          <p:cNvPr id="6" name="矩形 5"/>
          <p:cNvSpPr/>
          <p:nvPr/>
        </p:nvSpPr>
        <p:spPr>
          <a:xfrm>
            <a:off x="3851920" y="4180429"/>
            <a:ext cx="646331" cy="338554"/>
          </a:xfrm>
          <a:prstGeom prst="rect">
            <a:avLst/>
          </a:prstGeom>
        </p:spPr>
        <p:txBody>
          <a:bodyPr wrap="none">
            <a:spAutoFit/>
          </a:bodyPr>
          <a:lstStyle/>
          <a:p>
            <a:r>
              <a:rPr lang="en-US" altLang="zh-CN" sz="1600" dirty="0">
                <a:latin typeface="等线" panose="02010600030101010101" pitchFamily="2" charset="-122"/>
                <a:cs typeface="Times New Roman" panose="02020603050405020304" pitchFamily="18" charset="0"/>
              </a:rPr>
              <a:t>Delta</a:t>
            </a:r>
            <a:endParaRPr lang="zh-CN" altLang="en-US" sz="1600" dirty="0"/>
          </a:p>
        </p:txBody>
      </p:sp>
      <p:sp>
        <p:nvSpPr>
          <p:cNvPr id="8" name="矩形 7"/>
          <p:cNvSpPr/>
          <p:nvPr/>
        </p:nvSpPr>
        <p:spPr>
          <a:xfrm>
            <a:off x="5148064" y="1108938"/>
            <a:ext cx="3816424" cy="3046988"/>
          </a:xfrm>
          <a:prstGeom prst="rect">
            <a:avLst/>
          </a:prstGeom>
        </p:spPr>
        <p:txBody>
          <a:bodyPr wrap="square">
            <a:spAutoFit/>
          </a:bodyPr>
          <a:lstStyle/>
          <a:p>
            <a:r>
              <a:rPr lang="zh-CN" altLang="en-US" sz="1600" dirty="0"/>
              <a:t>相对于串联机器人，并联机器人具有如下优点：</a:t>
            </a:r>
          </a:p>
          <a:p>
            <a:r>
              <a:rPr lang="zh-CN" altLang="en-US" sz="1600" dirty="0"/>
              <a:t>（1）刚度质量比大。</a:t>
            </a:r>
          </a:p>
          <a:p>
            <a:r>
              <a:rPr lang="zh-CN" altLang="en-US" sz="1600" dirty="0"/>
              <a:t>（2）动态性能优越。</a:t>
            </a:r>
          </a:p>
          <a:p>
            <a:r>
              <a:rPr lang="zh-CN" altLang="en-US" sz="1600" dirty="0"/>
              <a:t>（3）运动精度高。</a:t>
            </a:r>
          </a:p>
          <a:p>
            <a:r>
              <a:rPr lang="zh-CN" altLang="en-US" sz="1600" dirty="0"/>
              <a:t>（4）结构紧凑灵活性强。</a:t>
            </a:r>
          </a:p>
          <a:p>
            <a:r>
              <a:rPr lang="zh-CN" altLang="en-US" sz="1600" dirty="0"/>
              <a:t>（5）使用寿命长。</a:t>
            </a:r>
          </a:p>
          <a:p>
            <a:r>
              <a:rPr lang="zh-CN" altLang="en-US" sz="1600" dirty="0"/>
              <a:t>并联机器人具有以上优点的同时，在应用推广的过程中也具有明显的缺点：</a:t>
            </a:r>
          </a:p>
          <a:p>
            <a:r>
              <a:rPr lang="zh-CN" altLang="en-US" sz="1600" dirty="0"/>
              <a:t>（1）工作空间较小；</a:t>
            </a:r>
          </a:p>
          <a:p>
            <a:r>
              <a:rPr lang="zh-CN" altLang="en-US" sz="1600" dirty="0"/>
              <a:t>（2）开发难度大（结构复杂，运动耦合复杂，奇异位形多)。</a:t>
            </a:r>
          </a:p>
        </p:txBody>
      </p:sp>
      <p:sp>
        <p:nvSpPr>
          <p:cNvPr id="9" name="矩形 8"/>
          <p:cNvSpPr/>
          <p:nvPr/>
        </p:nvSpPr>
        <p:spPr>
          <a:xfrm>
            <a:off x="5223570" y="1108938"/>
            <a:ext cx="3596902" cy="304698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0668742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a:off x="-236220" y="219075"/>
            <a:ext cx="5153660" cy="598805"/>
            <a:chOff x="-372" y="345"/>
            <a:chExt cx="8116" cy="943"/>
          </a:xfrm>
        </p:grpSpPr>
        <p:sp>
          <p:nvSpPr>
            <p:cNvPr id="40" name="矩形 39"/>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Kinematics of Parallel Robots</a:t>
              </a:r>
            </a:p>
          </p:txBody>
        </p:sp>
        <p:sp>
          <p:nvSpPr>
            <p:cNvPr id="41" name="文本框 40"/>
            <p:cNvSpPr txBox="1"/>
            <p:nvPr/>
          </p:nvSpPr>
          <p:spPr>
            <a:xfrm>
              <a:off x="443" y="363"/>
              <a:ext cx="7301"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并联机器人运动学</a:t>
              </a:r>
              <a:endParaRPr lang="en-US" altLang="zh-CN" sz="2000" b="1" dirty="0" smtClean="0">
                <a:latin typeface="Arial" panose="020B0604020202020204" pitchFamily="34" charset="0"/>
                <a:ea typeface="微软雅黑" panose="020B0503020204020204" charset="-122"/>
                <a:sym typeface="+mn-ea"/>
              </a:endParaRPr>
            </a:p>
          </p:txBody>
        </p:sp>
        <p:sp>
          <p:nvSpPr>
            <p:cNvPr id="42" name="椭圆 41"/>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3458437" y="754013"/>
            <a:ext cx="2290627" cy="338554"/>
          </a:xfrm>
          <a:prstGeom prst="rect">
            <a:avLst/>
          </a:prstGeom>
        </p:spPr>
        <p:txBody>
          <a:bodyPr wrap="none">
            <a:spAutoFit/>
          </a:bodyPr>
          <a:lstStyle/>
          <a:p>
            <a:r>
              <a:rPr lang="zh-CN" altLang="en-US" sz="1600" b="1" dirty="0">
                <a:solidFill>
                  <a:srgbClr val="002060"/>
                </a:solidFill>
              </a:rPr>
              <a:t>Delta机器人运动学分析</a:t>
            </a:r>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extLst>
                  <p:ext uri="{D42A27DB-BD31-4B8C-83A1-F6EECF244321}">
                    <p14:modId xmlns:p14="http://schemas.microsoft.com/office/powerpoint/2010/main" val="2997331770"/>
                  </p:ext>
                </p:extLst>
              </p:nvPr>
            </p:nvGraphicFramePr>
            <p:xfrm>
              <a:off x="301521" y="1559508"/>
              <a:ext cx="4410710" cy="2621280"/>
            </p:xfrm>
            <a:graphic>
              <a:graphicData uri="http://schemas.openxmlformats.org/drawingml/2006/table">
                <a:tbl>
                  <a:tblPr firstRow="1" firstCol="1" bandRow="1">
                    <a:tableStyleId>{5C22544A-7EE6-4342-B048-85BDC9FD1C3A}</a:tableStyleId>
                  </a:tblPr>
                  <a:tblGrid>
                    <a:gridCol w="900430">
                      <a:extLst>
                        <a:ext uri="{9D8B030D-6E8A-4147-A177-3AD203B41FA5}">
                          <a16:colId xmlns:a16="http://schemas.microsoft.com/office/drawing/2014/main" val="1401207072"/>
                        </a:ext>
                      </a:extLst>
                    </a:gridCol>
                    <a:gridCol w="2164080">
                      <a:extLst>
                        <a:ext uri="{9D8B030D-6E8A-4147-A177-3AD203B41FA5}">
                          <a16:colId xmlns:a16="http://schemas.microsoft.com/office/drawing/2014/main" val="610117252"/>
                        </a:ext>
                      </a:extLst>
                    </a:gridCol>
                    <a:gridCol w="1346200">
                      <a:extLst>
                        <a:ext uri="{9D8B030D-6E8A-4147-A177-3AD203B41FA5}">
                          <a16:colId xmlns:a16="http://schemas.microsoft.com/office/drawing/2014/main" val="3965681920"/>
                        </a:ext>
                      </a:extLst>
                    </a:gridCol>
                  </a:tblGrid>
                  <a:tr h="0">
                    <a:tc>
                      <a:txBody>
                        <a:bodyPr/>
                        <a:lstStyle/>
                        <a:p>
                          <a:pPr>
                            <a:spcBef>
                              <a:spcPts val="600"/>
                            </a:spcBef>
                            <a:spcAft>
                              <a:spcPts val="600"/>
                            </a:spcAft>
                          </a:pPr>
                          <a:r>
                            <a:rPr lang="zh-CN" sz="1050" kern="100">
                              <a:effectLst/>
                            </a:rPr>
                            <a:t>参数名</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zh-CN" sz="1050" kern="100">
                              <a:effectLst/>
                            </a:rPr>
                            <a:t>参数说明</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zh-CN" sz="1050" kern="100">
                              <a:effectLst/>
                            </a:rPr>
                            <a:t>数值</a:t>
                          </a:r>
                          <a:r>
                            <a:rPr lang="en-US" sz="1050" kern="100">
                              <a:effectLst/>
                            </a:rPr>
                            <a:t>(mm)</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4129005623"/>
                      </a:ext>
                    </a:extLst>
                  </a:tr>
                  <a:tr h="0">
                    <a:tc>
                      <a:txBody>
                        <a:bodyPr/>
                        <a:lstStyle/>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𝑆</m:t>
                                    </m:r>
                                  </m:e>
                                  <m:sub>
                                    <m:r>
                                      <a:rPr lang="en-US" sz="1050" kern="100">
                                        <a:effectLst/>
                                        <a:latin typeface="Cambria Math" panose="02040503050406030204" pitchFamily="18" charset="0"/>
                                      </a:rPr>
                                      <m:t>𝐵</m:t>
                                    </m:r>
                                  </m:sub>
                                </m:sSub>
                              </m:oMath>
                            </m:oMathPara>
                          </a14:m>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zh-CN" sz="1050" kern="100">
                              <a:effectLst/>
                            </a:rPr>
                            <a:t>静平台等边三角形的边长</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050" kern="100">
                              <a:effectLst/>
                            </a:rPr>
                            <a:t> </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1382230360"/>
                      </a:ext>
                    </a:extLst>
                  </a:tr>
                  <a:tr h="0">
                    <a:tc>
                      <a:txBody>
                        <a:bodyPr/>
                        <a:lstStyle/>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𝑆</m:t>
                                    </m:r>
                                  </m:e>
                                  <m:sub>
                                    <m:r>
                                      <a:rPr lang="en-US" sz="1050" kern="100">
                                        <a:effectLst/>
                                        <a:latin typeface="Cambria Math" panose="02040503050406030204" pitchFamily="18" charset="0"/>
                                      </a:rPr>
                                      <m:t>𝑃</m:t>
                                    </m:r>
                                  </m:sub>
                                </m:sSub>
                              </m:oMath>
                            </m:oMathPara>
                          </a14:m>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zh-CN" sz="1050" kern="100">
                              <a:effectLst/>
                            </a:rPr>
                            <a:t>动平台等边三角形的边长</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050" kern="100">
                              <a:effectLst/>
                            </a:rPr>
                            <a:t> </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2051712651"/>
                      </a:ext>
                    </a:extLst>
                  </a:tr>
                  <a:tr h="0">
                    <a:tc>
                      <a:txBody>
                        <a:bodyPr/>
                        <a:lstStyle/>
                        <a:p>
                          <a:pPr>
                            <a:spcBef>
                              <a:spcPts val="600"/>
                            </a:spcBef>
                            <a:spcAft>
                              <a:spcPts val="600"/>
                            </a:spcAft>
                          </a:pPr>
                          <a14:m>
                            <m:oMathPara xmlns:m="http://schemas.openxmlformats.org/officeDocument/2006/math">
                              <m:oMathParaPr>
                                <m:jc m:val="centerGroup"/>
                              </m:oMathParaPr>
                              <m:oMath xmlns:m="http://schemas.openxmlformats.org/officeDocument/2006/math">
                                <m:r>
                                  <a:rPr lang="en-US" sz="1050" kern="100">
                                    <a:effectLst/>
                                    <a:latin typeface="Cambria Math" panose="02040503050406030204" pitchFamily="18" charset="0"/>
                                  </a:rPr>
                                  <m:t>𝐿</m:t>
                                </m:r>
                              </m:oMath>
                            </m:oMathPara>
                          </a14:m>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zh-CN" sz="1050" kern="100">
                              <a:effectLst/>
                            </a:rPr>
                            <a:t>驱动臂等效臂长</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050" kern="100">
                              <a:effectLst/>
                            </a:rPr>
                            <a:t> </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154391790"/>
                      </a:ext>
                    </a:extLst>
                  </a:tr>
                  <a:tr h="0">
                    <a:tc>
                      <a:txBody>
                        <a:bodyPr/>
                        <a:lstStyle/>
                        <a:p>
                          <a:pPr>
                            <a:spcBef>
                              <a:spcPts val="600"/>
                            </a:spcBef>
                            <a:spcAft>
                              <a:spcPts val="600"/>
                            </a:spcAft>
                          </a:pPr>
                          <a14:m>
                            <m:oMathPara xmlns:m="http://schemas.openxmlformats.org/officeDocument/2006/math">
                              <m:oMathParaPr>
                                <m:jc m:val="centerGroup"/>
                              </m:oMathParaPr>
                              <m:oMath xmlns:m="http://schemas.openxmlformats.org/officeDocument/2006/math">
                                <m:r>
                                  <a:rPr lang="en-US" sz="1050" kern="100">
                                    <a:effectLst/>
                                    <a:latin typeface="Cambria Math" panose="02040503050406030204" pitchFamily="18" charset="0"/>
                                  </a:rPr>
                                  <m:t>𝑙</m:t>
                                </m:r>
                              </m:oMath>
                            </m:oMathPara>
                          </a14:m>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zh-CN" sz="1050" kern="100">
                              <a:effectLst/>
                            </a:rPr>
                            <a:t>从动臂等效臂长（平行四边形长度）</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050" kern="100">
                              <a:effectLst/>
                            </a:rPr>
                            <a:t> </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3479938546"/>
                      </a:ext>
                    </a:extLst>
                  </a:tr>
                  <a:tr h="0">
                    <a:tc>
                      <a:txBody>
                        <a:bodyPr/>
                        <a:lstStyle/>
                        <a:p>
                          <a:pPr>
                            <a:spcBef>
                              <a:spcPts val="600"/>
                            </a:spcBef>
                            <a:spcAft>
                              <a:spcPts val="600"/>
                            </a:spcAft>
                          </a:pPr>
                          <a14:m>
                            <m:oMathPara xmlns:m="http://schemas.openxmlformats.org/officeDocument/2006/math">
                              <m:oMathParaPr>
                                <m:jc m:val="centerGroup"/>
                              </m:oMathParaPr>
                              <m:oMath xmlns:m="http://schemas.openxmlformats.org/officeDocument/2006/math">
                                <m:r>
                                  <a:rPr lang="en-US" sz="1050" kern="100">
                                    <a:effectLst/>
                                    <a:latin typeface="Cambria Math" panose="02040503050406030204" pitchFamily="18" charset="0"/>
                                  </a:rPr>
                                  <m:t>h</m:t>
                                </m:r>
                              </m:oMath>
                            </m:oMathPara>
                          </a14:m>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zh-CN" sz="1050" kern="100">
                              <a:effectLst/>
                            </a:rPr>
                            <a:t>从动臂平行四边形宽度</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050" kern="100">
                              <a:effectLst/>
                            </a:rPr>
                            <a:t> </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1826524113"/>
                      </a:ext>
                    </a:extLst>
                  </a:tr>
                  <a:tr h="0">
                    <a:tc>
                      <a:txBody>
                        <a:bodyPr/>
                        <a:lstStyle/>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𝑤</m:t>
                                    </m:r>
                                  </m:e>
                                  <m:sub>
                                    <m:r>
                                      <a:rPr lang="en-US" sz="1050" kern="100">
                                        <a:effectLst/>
                                        <a:latin typeface="Cambria Math" panose="02040503050406030204" pitchFamily="18" charset="0"/>
                                      </a:rPr>
                                      <m:t>𝐵</m:t>
                                    </m:r>
                                  </m:sub>
                                </m:sSub>
                              </m:oMath>
                            </m:oMathPara>
                          </a14:m>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zh-CN" sz="1050" kern="100">
                              <a:effectLst/>
                            </a:rPr>
                            <a:t>静坐标系</a:t>
                          </a:r>
                          <a14:m>
                            <m:oMath xmlns:m="http://schemas.openxmlformats.org/officeDocument/2006/math">
                              <m:r>
                                <a:rPr lang="en-US" sz="1050" kern="100">
                                  <a:effectLst/>
                                  <a:latin typeface="Cambria Math" panose="02040503050406030204" pitchFamily="18" charset="0"/>
                                </a:rPr>
                                <m:t>{</m:t>
                              </m:r>
                              <m:r>
                                <a:rPr lang="en-US" sz="1050" kern="100">
                                  <a:effectLst/>
                                  <a:latin typeface="Cambria Math" panose="02040503050406030204" pitchFamily="18" charset="0"/>
                                </a:rPr>
                                <m:t>𝐵</m:t>
                              </m:r>
                              <m:r>
                                <a:rPr lang="en-US" sz="1050" kern="100">
                                  <a:effectLst/>
                                  <a:latin typeface="Cambria Math" panose="02040503050406030204" pitchFamily="18" charset="0"/>
                                </a:rPr>
                                <m:t>}</m:t>
                              </m:r>
                            </m:oMath>
                          </a14:m>
                          <a:r>
                            <a:rPr lang="zh-CN" sz="1050" kern="100">
                              <a:effectLst/>
                            </a:rPr>
                            <a:t>的原点到等腰三角形边的垂直直线距离</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050" kern="100">
                              <a:effectLst/>
                            </a:rPr>
                            <a:t> </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2415654822"/>
                      </a:ext>
                    </a:extLst>
                  </a:tr>
                  <a:tr h="0">
                    <a:tc>
                      <a:txBody>
                        <a:bodyPr/>
                        <a:lstStyle/>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𝑢</m:t>
                                    </m:r>
                                  </m:e>
                                  <m:sub>
                                    <m:r>
                                      <a:rPr lang="en-US" sz="1050" kern="100">
                                        <a:effectLst/>
                                        <a:latin typeface="Cambria Math" panose="02040503050406030204" pitchFamily="18" charset="0"/>
                                      </a:rPr>
                                      <m:t>𝐵</m:t>
                                    </m:r>
                                  </m:sub>
                                </m:sSub>
                              </m:oMath>
                            </m:oMathPara>
                          </a14:m>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zh-CN" sz="1050" kern="100">
                              <a:effectLst/>
                            </a:rPr>
                            <a:t>静坐标系</a:t>
                          </a:r>
                          <a14:m>
                            <m:oMath xmlns:m="http://schemas.openxmlformats.org/officeDocument/2006/math">
                              <m:r>
                                <a:rPr lang="en-US" sz="1050" kern="100">
                                  <a:effectLst/>
                                  <a:latin typeface="Cambria Math" panose="02040503050406030204" pitchFamily="18" charset="0"/>
                                </a:rPr>
                                <m:t>{</m:t>
                              </m:r>
                              <m:r>
                                <a:rPr lang="en-US" sz="1050" kern="100">
                                  <a:effectLst/>
                                  <a:latin typeface="Cambria Math" panose="02040503050406030204" pitchFamily="18" charset="0"/>
                                </a:rPr>
                                <m:t>𝐵</m:t>
                              </m:r>
                              <m:r>
                                <a:rPr lang="en-US" sz="1050" kern="100">
                                  <a:effectLst/>
                                  <a:latin typeface="Cambria Math" panose="02040503050406030204" pitchFamily="18" charset="0"/>
                                </a:rPr>
                                <m:t>}</m:t>
                              </m:r>
                            </m:oMath>
                          </a14:m>
                          <a:r>
                            <a:rPr lang="zh-CN" sz="1050" kern="100">
                              <a:effectLst/>
                            </a:rPr>
                            <a:t>的原点到等腰三角形顶点的直线距离</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050" kern="100">
                              <a:effectLst/>
                            </a:rPr>
                            <a:t> </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2178241009"/>
                      </a:ext>
                    </a:extLst>
                  </a:tr>
                  <a:tr h="0">
                    <a:tc>
                      <a:txBody>
                        <a:bodyPr/>
                        <a:lstStyle/>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𝑤</m:t>
                                    </m:r>
                                  </m:e>
                                  <m:sub>
                                    <m:r>
                                      <a:rPr lang="en-US" sz="1050" kern="100">
                                        <a:effectLst/>
                                        <a:latin typeface="Cambria Math" panose="02040503050406030204" pitchFamily="18" charset="0"/>
                                      </a:rPr>
                                      <m:t>𝑃</m:t>
                                    </m:r>
                                  </m:sub>
                                </m:sSub>
                              </m:oMath>
                            </m:oMathPara>
                          </a14:m>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zh-CN" sz="1050" kern="100">
                              <a:effectLst/>
                            </a:rPr>
                            <a:t>动坐标系</a:t>
                          </a:r>
                          <a14:m>
                            <m:oMath xmlns:m="http://schemas.openxmlformats.org/officeDocument/2006/math">
                              <m:r>
                                <a:rPr lang="en-US" sz="1050" kern="100">
                                  <a:effectLst/>
                                  <a:latin typeface="Cambria Math" panose="02040503050406030204" pitchFamily="18" charset="0"/>
                                </a:rPr>
                                <m:t>{</m:t>
                              </m:r>
                              <m:r>
                                <a:rPr lang="en-US" sz="1050" kern="100">
                                  <a:effectLst/>
                                  <a:latin typeface="Cambria Math" panose="02040503050406030204" pitchFamily="18" charset="0"/>
                                </a:rPr>
                                <m:t>𝑃</m:t>
                              </m:r>
                              <m:r>
                                <a:rPr lang="en-US" sz="1050" kern="100">
                                  <a:effectLst/>
                                  <a:latin typeface="Cambria Math" panose="02040503050406030204" pitchFamily="18" charset="0"/>
                                </a:rPr>
                                <m:t>}</m:t>
                              </m:r>
                            </m:oMath>
                          </a14:m>
                          <a:r>
                            <a:rPr lang="zh-CN" sz="1050" kern="100">
                              <a:effectLst/>
                            </a:rPr>
                            <a:t>的原点到等腰三角形边的垂直直线距离</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050" kern="100">
                              <a:effectLst/>
                            </a:rPr>
                            <a:t> </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3276387548"/>
                      </a:ext>
                    </a:extLst>
                  </a:tr>
                  <a:tr h="0">
                    <a:tc>
                      <a:txBody>
                        <a:bodyPr/>
                        <a:lstStyle/>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sz="1050" i="1" kern="100">
                                        <a:effectLst/>
                                        <a:latin typeface="Cambria Math" panose="02040503050406030204" pitchFamily="18" charset="0"/>
                                      </a:rPr>
                                    </m:ctrlPr>
                                  </m:sSubPr>
                                  <m:e>
                                    <m:r>
                                      <a:rPr lang="en-US" sz="1050" kern="100">
                                        <a:effectLst/>
                                        <a:latin typeface="Cambria Math" panose="02040503050406030204" pitchFamily="18" charset="0"/>
                                      </a:rPr>
                                      <m:t>𝑢</m:t>
                                    </m:r>
                                  </m:e>
                                  <m:sub>
                                    <m:r>
                                      <a:rPr lang="en-US" sz="1050" kern="100">
                                        <a:effectLst/>
                                        <a:latin typeface="Cambria Math" panose="02040503050406030204" pitchFamily="18" charset="0"/>
                                      </a:rPr>
                                      <m:t>𝑃</m:t>
                                    </m:r>
                                  </m:sub>
                                </m:sSub>
                              </m:oMath>
                            </m:oMathPara>
                          </a14:m>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zh-CN" sz="1050" kern="100">
                              <a:effectLst/>
                            </a:rPr>
                            <a:t>动坐标系</a:t>
                          </a:r>
                          <a14:m>
                            <m:oMath xmlns:m="http://schemas.openxmlformats.org/officeDocument/2006/math">
                              <m:r>
                                <a:rPr lang="en-US" sz="1050" kern="100">
                                  <a:effectLst/>
                                  <a:latin typeface="Cambria Math" panose="02040503050406030204" pitchFamily="18" charset="0"/>
                                </a:rPr>
                                <m:t>{</m:t>
                              </m:r>
                              <m:r>
                                <a:rPr lang="en-US" sz="1050" kern="100">
                                  <a:effectLst/>
                                  <a:latin typeface="Cambria Math" panose="02040503050406030204" pitchFamily="18" charset="0"/>
                                </a:rPr>
                                <m:t>𝑃</m:t>
                              </m:r>
                              <m:r>
                                <a:rPr lang="en-US" sz="1050" kern="100">
                                  <a:effectLst/>
                                  <a:latin typeface="Cambria Math" panose="02040503050406030204" pitchFamily="18" charset="0"/>
                                </a:rPr>
                                <m:t>}</m:t>
                              </m:r>
                            </m:oMath>
                          </a14:m>
                          <a:r>
                            <a:rPr lang="zh-CN" sz="1050" kern="100">
                              <a:effectLst/>
                            </a:rPr>
                            <a:t>的原点到等腰三角形顶点的直线距离</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050" kern="100" dirty="0">
                              <a:effectLst/>
                            </a:rPr>
                            <a:t> </a:t>
                          </a:r>
                          <a:endParaRPr lang="zh-CN" sz="1050" kern="100" dirty="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3313464934"/>
                      </a:ext>
                    </a:extLst>
                  </a:tr>
                </a:tbl>
              </a:graphicData>
            </a:graphic>
          </p:graphicFrame>
        </mc:Choice>
        <mc:Fallback xmlns="">
          <p:graphicFrame>
            <p:nvGraphicFramePr>
              <p:cNvPr id="3" name="表格 2"/>
              <p:cNvGraphicFramePr>
                <a:graphicFrameLocks noGrp="1"/>
              </p:cNvGraphicFramePr>
              <p:nvPr>
                <p:extLst>
                  <p:ext uri="{D42A27DB-BD31-4B8C-83A1-F6EECF244321}">
                    <p14:modId xmlns:p14="http://schemas.microsoft.com/office/powerpoint/2010/main" val="2997331770"/>
                  </p:ext>
                </p:extLst>
              </p:nvPr>
            </p:nvGraphicFramePr>
            <p:xfrm>
              <a:off x="301521" y="1559508"/>
              <a:ext cx="4410710" cy="2621280"/>
            </p:xfrm>
            <a:graphic>
              <a:graphicData uri="http://schemas.openxmlformats.org/drawingml/2006/table">
                <a:tbl>
                  <a:tblPr firstRow="1" firstCol="1" bandRow="1">
                    <a:tableStyleId>{5C22544A-7EE6-4342-B048-85BDC9FD1C3A}</a:tableStyleId>
                  </a:tblPr>
                  <a:tblGrid>
                    <a:gridCol w="900430">
                      <a:extLst>
                        <a:ext uri="{9D8B030D-6E8A-4147-A177-3AD203B41FA5}">
                          <a16:colId xmlns:a16="http://schemas.microsoft.com/office/drawing/2014/main" val="1401207072"/>
                        </a:ext>
                      </a:extLst>
                    </a:gridCol>
                    <a:gridCol w="2164080">
                      <a:extLst>
                        <a:ext uri="{9D8B030D-6E8A-4147-A177-3AD203B41FA5}">
                          <a16:colId xmlns:a16="http://schemas.microsoft.com/office/drawing/2014/main" val="610117252"/>
                        </a:ext>
                      </a:extLst>
                    </a:gridCol>
                    <a:gridCol w="1346200">
                      <a:extLst>
                        <a:ext uri="{9D8B030D-6E8A-4147-A177-3AD203B41FA5}">
                          <a16:colId xmlns:a16="http://schemas.microsoft.com/office/drawing/2014/main" val="3965681920"/>
                        </a:ext>
                      </a:extLst>
                    </a:gridCol>
                  </a:tblGrid>
                  <a:tr h="160020">
                    <a:tc>
                      <a:txBody>
                        <a:bodyPr/>
                        <a:lstStyle/>
                        <a:p>
                          <a:pPr>
                            <a:spcBef>
                              <a:spcPts val="600"/>
                            </a:spcBef>
                            <a:spcAft>
                              <a:spcPts val="600"/>
                            </a:spcAft>
                          </a:pPr>
                          <a:r>
                            <a:rPr lang="zh-CN" sz="1050" kern="100">
                              <a:effectLst/>
                            </a:rPr>
                            <a:t>参数名</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zh-CN" sz="1050" kern="100">
                              <a:effectLst/>
                            </a:rPr>
                            <a:t>参数说明</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zh-CN" sz="1050" kern="100">
                              <a:effectLst/>
                            </a:rPr>
                            <a:t>数值</a:t>
                          </a:r>
                          <a:r>
                            <a:rPr lang="en-US" sz="1050" kern="100">
                              <a:effectLst/>
                            </a:rPr>
                            <a:t>(mm)</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4129005623"/>
                      </a:ext>
                    </a:extLst>
                  </a:tr>
                  <a:tr h="236220">
                    <a:tc>
                      <a:txBody>
                        <a:bodyPr/>
                        <a:lstStyle/>
                        <a:p>
                          <a:endParaRPr lang="zh-CN"/>
                        </a:p>
                      </a:txBody>
                      <a:tcPr marL="68580" marR="68580" marT="0" marB="0">
                        <a:blipFill>
                          <a:blip r:embed="rId3"/>
                          <a:stretch>
                            <a:fillRect l="-676" t="-84615" r="-392568" b="-969231"/>
                          </a:stretch>
                        </a:blipFill>
                      </a:tcPr>
                    </a:tc>
                    <a:tc>
                      <a:txBody>
                        <a:bodyPr/>
                        <a:lstStyle/>
                        <a:p>
                          <a:pPr>
                            <a:spcBef>
                              <a:spcPts val="600"/>
                            </a:spcBef>
                            <a:spcAft>
                              <a:spcPts val="600"/>
                            </a:spcAft>
                          </a:pPr>
                          <a:r>
                            <a:rPr lang="zh-CN" sz="1050" kern="100">
                              <a:effectLst/>
                            </a:rPr>
                            <a:t>静平台等边三角形的边长</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050" kern="100">
                              <a:effectLst/>
                            </a:rPr>
                            <a:t> </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1382230360"/>
                      </a:ext>
                    </a:extLst>
                  </a:tr>
                  <a:tr h="236220">
                    <a:tc>
                      <a:txBody>
                        <a:bodyPr/>
                        <a:lstStyle/>
                        <a:p>
                          <a:endParaRPr lang="zh-CN"/>
                        </a:p>
                      </a:txBody>
                      <a:tcPr marL="68580" marR="68580" marT="0" marB="0">
                        <a:blipFill>
                          <a:blip r:embed="rId3"/>
                          <a:stretch>
                            <a:fillRect l="-676" t="-184615" r="-392568" b="-869231"/>
                          </a:stretch>
                        </a:blipFill>
                      </a:tcPr>
                    </a:tc>
                    <a:tc>
                      <a:txBody>
                        <a:bodyPr/>
                        <a:lstStyle/>
                        <a:p>
                          <a:pPr>
                            <a:spcBef>
                              <a:spcPts val="600"/>
                            </a:spcBef>
                            <a:spcAft>
                              <a:spcPts val="600"/>
                            </a:spcAft>
                          </a:pPr>
                          <a:r>
                            <a:rPr lang="zh-CN" sz="1050" kern="100">
                              <a:effectLst/>
                            </a:rPr>
                            <a:t>动平台等边三角形的边长</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050" kern="100">
                              <a:effectLst/>
                            </a:rPr>
                            <a:t> </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2051712651"/>
                      </a:ext>
                    </a:extLst>
                  </a:tr>
                  <a:tr h="236220">
                    <a:tc>
                      <a:txBody>
                        <a:bodyPr/>
                        <a:lstStyle/>
                        <a:p>
                          <a:endParaRPr lang="zh-CN"/>
                        </a:p>
                      </a:txBody>
                      <a:tcPr marL="68580" marR="68580" marT="0" marB="0">
                        <a:blipFill>
                          <a:blip r:embed="rId3"/>
                          <a:stretch>
                            <a:fillRect l="-676" t="-284615" r="-392568" b="-769231"/>
                          </a:stretch>
                        </a:blipFill>
                      </a:tcPr>
                    </a:tc>
                    <a:tc>
                      <a:txBody>
                        <a:bodyPr/>
                        <a:lstStyle/>
                        <a:p>
                          <a:pPr>
                            <a:spcBef>
                              <a:spcPts val="600"/>
                            </a:spcBef>
                            <a:spcAft>
                              <a:spcPts val="600"/>
                            </a:spcAft>
                          </a:pPr>
                          <a:r>
                            <a:rPr lang="zh-CN" sz="1050" kern="100">
                              <a:effectLst/>
                            </a:rPr>
                            <a:t>驱动臂等效臂长</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050" kern="100">
                              <a:effectLst/>
                            </a:rPr>
                            <a:t> </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154391790"/>
                      </a:ext>
                    </a:extLst>
                  </a:tr>
                  <a:tr h="236220">
                    <a:tc>
                      <a:txBody>
                        <a:bodyPr/>
                        <a:lstStyle/>
                        <a:p>
                          <a:endParaRPr lang="zh-CN"/>
                        </a:p>
                      </a:txBody>
                      <a:tcPr marL="68580" marR="68580" marT="0" marB="0">
                        <a:blipFill>
                          <a:blip r:embed="rId3"/>
                          <a:stretch>
                            <a:fillRect l="-676" t="-384615" r="-392568" b="-669231"/>
                          </a:stretch>
                        </a:blipFill>
                      </a:tcPr>
                    </a:tc>
                    <a:tc>
                      <a:txBody>
                        <a:bodyPr/>
                        <a:lstStyle/>
                        <a:p>
                          <a:pPr>
                            <a:spcBef>
                              <a:spcPts val="600"/>
                            </a:spcBef>
                            <a:spcAft>
                              <a:spcPts val="600"/>
                            </a:spcAft>
                          </a:pPr>
                          <a:r>
                            <a:rPr lang="zh-CN" sz="1050" kern="100">
                              <a:effectLst/>
                            </a:rPr>
                            <a:t>从动臂等效臂长（平行四边形长度）</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050" kern="100">
                              <a:effectLst/>
                            </a:rPr>
                            <a:t> </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3479938546"/>
                      </a:ext>
                    </a:extLst>
                  </a:tr>
                  <a:tr h="236220">
                    <a:tc>
                      <a:txBody>
                        <a:bodyPr/>
                        <a:lstStyle/>
                        <a:p>
                          <a:endParaRPr lang="zh-CN"/>
                        </a:p>
                      </a:txBody>
                      <a:tcPr marL="68580" marR="68580" marT="0" marB="0">
                        <a:blipFill>
                          <a:blip r:embed="rId3"/>
                          <a:stretch>
                            <a:fillRect l="-676" t="-484615" r="-392568" b="-569231"/>
                          </a:stretch>
                        </a:blipFill>
                      </a:tcPr>
                    </a:tc>
                    <a:tc>
                      <a:txBody>
                        <a:bodyPr/>
                        <a:lstStyle/>
                        <a:p>
                          <a:pPr>
                            <a:spcBef>
                              <a:spcPts val="600"/>
                            </a:spcBef>
                            <a:spcAft>
                              <a:spcPts val="600"/>
                            </a:spcAft>
                          </a:pPr>
                          <a:r>
                            <a:rPr lang="zh-CN" sz="1050" kern="100">
                              <a:effectLst/>
                            </a:rPr>
                            <a:t>从动臂平行四边形宽度</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tc>
                      <a:txBody>
                        <a:bodyPr/>
                        <a:lstStyle/>
                        <a:p>
                          <a:pPr>
                            <a:spcBef>
                              <a:spcPts val="600"/>
                            </a:spcBef>
                            <a:spcAft>
                              <a:spcPts val="600"/>
                            </a:spcAft>
                          </a:pPr>
                          <a:r>
                            <a:rPr lang="en-US" sz="1050" kern="100">
                              <a:effectLst/>
                            </a:rPr>
                            <a:t> </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1826524113"/>
                      </a:ext>
                    </a:extLst>
                  </a:tr>
                  <a:tr h="320040">
                    <a:tc>
                      <a:txBody>
                        <a:bodyPr/>
                        <a:lstStyle/>
                        <a:p>
                          <a:endParaRPr lang="zh-CN"/>
                        </a:p>
                      </a:txBody>
                      <a:tcPr marL="68580" marR="68580" marT="0" marB="0">
                        <a:blipFill>
                          <a:blip r:embed="rId3"/>
                          <a:stretch>
                            <a:fillRect l="-676" t="-438462" r="-392568" b="-326923"/>
                          </a:stretch>
                        </a:blipFill>
                      </a:tcPr>
                    </a:tc>
                    <a:tc>
                      <a:txBody>
                        <a:bodyPr/>
                        <a:lstStyle/>
                        <a:p>
                          <a:endParaRPr lang="zh-CN"/>
                        </a:p>
                      </a:txBody>
                      <a:tcPr marL="68580" marR="68580" marT="0" marB="0">
                        <a:blipFill>
                          <a:blip r:embed="rId3"/>
                          <a:stretch>
                            <a:fillRect l="-41854" t="-438462" r="-63202" b="-326923"/>
                          </a:stretch>
                        </a:blipFill>
                      </a:tcPr>
                    </a:tc>
                    <a:tc>
                      <a:txBody>
                        <a:bodyPr/>
                        <a:lstStyle/>
                        <a:p>
                          <a:pPr>
                            <a:spcBef>
                              <a:spcPts val="600"/>
                            </a:spcBef>
                            <a:spcAft>
                              <a:spcPts val="600"/>
                            </a:spcAft>
                          </a:pPr>
                          <a:r>
                            <a:rPr lang="en-US" sz="1050" kern="100">
                              <a:effectLst/>
                            </a:rPr>
                            <a:t> </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2415654822"/>
                      </a:ext>
                    </a:extLst>
                  </a:tr>
                  <a:tr h="320040">
                    <a:tc>
                      <a:txBody>
                        <a:bodyPr/>
                        <a:lstStyle/>
                        <a:p>
                          <a:endParaRPr lang="zh-CN"/>
                        </a:p>
                      </a:txBody>
                      <a:tcPr marL="68580" marR="68580" marT="0" marB="0">
                        <a:blipFill>
                          <a:blip r:embed="rId3"/>
                          <a:stretch>
                            <a:fillRect l="-676" t="-528302" r="-392568" b="-220755"/>
                          </a:stretch>
                        </a:blipFill>
                      </a:tcPr>
                    </a:tc>
                    <a:tc>
                      <a:txBody>
                        <a:bodyPr/>
                        <a:lstStyle/>
                        <a:p>
                          <a:endParaRPr lang="zh-CN"/>
                        </a:p>
                      </a:txBody>
                      <a:tcPr marL="68580" marR="68580" marT="0" marB="0">
                        <a:blipFill>
                          <a:blip r:embed="rId3"/>
                          <a:stretch>
                            <a:fillRect l="-41854" t="-528302" r="-63202" b="-220755"/>
                          </a:stretch>
                        </a:blipFill>
                      </a:tcPr>
                    </a:tc>
                    <a:tc>
                      <a:txBody>
                        <a:bodyPr/>
                        <a:lstStyle/>
                        <a:p>
                          <a:pPr>
                            <a:spcBef>
                              <a:spcPts val="600"/>
                            </a:spcBef>
                            <a:spcAft>
                              <a:spcPts val="600"/>
                            </a:spcAft>
                          </a:pPr>
                          <a:r>
                            <a:rPr lang="en-US" sz="1050" kern="100">
                              <a:effectLst/>
                            </a:rPr>
                            <a:t> </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2178241009"/>
                      </a:ext>
                    </a:extLst>
                  </a:tr>
                  <a:tr h="320040">
                    <a:tc>
                      <a:txBody>
                        <a:bodyPr/>
                        <a:lstStyle/>
                        <a:p>
                          <a:endParaRPr lang="zh-CN"/>
                        </a:p>
                      </a:txBody>
                      <a:tcPr marL="68580" marR="68580" marT="0" marB="0">
                        <a:blipFill>
                          <a:blip r:embed="rId3"/>
                          <a:stretch>
                            <a:fillRect l="-676" t="-640385" r="-392568" b="-125000"/>
                          </a:stretch>
                        </a:blipFill>
                      </a:tcPr>
                    </a:tc>
                    <a:tc>
                      <a:txBody>
                        <a:bodyPr/>
                        <a:lstStyle/>
                        <a:p>
                          <a:endParaRPr lang="zh-CN"/>
                        </a:p>
                      </a:txBody>
                      <a:tcPr marL="68580" marR="68580" marT="0" marB="0">
                        <a:blipFill>
                          <a:blip r:embed="rId3"/>
                          <a:stretch>
                            <a:fillRect l="-41854" t="-640385" r="-63202" b="-125000"/>
                          </a:stretch>
                        </a:blipFill>
                      </a:tcPr>
                    </a:tc>
                    <a:tc>
                      <a:txBody>
                        <a:bodyPr/>
                        <a:lstStyle/>
                        <a:p>
                          <a:pPr>
                            <a:spcBef>
                              <a:spcPts val="600"/>
                            </a:spcBef>
                            <a:spcAft>
                              <a:spcPts val="600"/>
                            </a:spcAft>
                          </a:pPr>
                          <a:r>
                            <a:rPr lang="en-US" sz="1050" kern="100">
                              <a:effectLst/>
                            </a:rPr>
                            <a:t> </a:t>
                          </a:r>
                          <a:endParaRPr lang="zh-CN" sz="1050" kern="10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3276387548"/>
                      </a:ext>
                    </a:extLst>
                  </a:tr>
                  <a:tr h="320040">
                    <a:tc>
                      <a:txBody>
                        <a:bodyPr/>
                        <a:lstStyle/>
                        <a:p>
                          <a:endParaRPr lang="zh-CN"/>
                        </a:p>
                      </a:txBody>
                      <a:tcPr marL="68580" marR="68580" marT="0" marB="0">
                        <a:blipFill>
                          <a:blip r:embed="rId3"/>
                          <a:stretch>
                            <a:fillRect l="-676" t="-726415" r="-392568" b="-22642"/>
                          </a:stretch>
                        </a:blipFill>
                      </a:tcPr>
                    </a:tc>
                    <a:tc>
                      <a:txBody>
                        <a:bodyPr/>
                        <a:lstStyle/>
                        <a:p>
                          <a:endParaRPr lang="zh-CN"/>
                        </a:p>
                      </a:txBody>
                      <a:tcPr marL="68580" marR="68580" marT="0" marB="0">
                        <a:blipFill>
                          <a:blip r:embed="rId3"/>
                          <a:stretch>
                            <a:fillRect l="-41854" t="-726415" r="-63202" b="-22642"/>
                          </a:stretch>
                        </a:blipFill>
                      </a:tcPr>
                    </a:tc>
                    <a:tc>
                      <a:txBody>
                        <a:bodyPr/>
                        <a:lstStyle/>
                        <a:p>
                          <a:pPr>
                            <a:spcBef>
                              <a:spcPts val="600"/>
                            </a:spcBef>
                            <a:spcAft>
                              <a:spcPts val="600"/>
                            </a:spcAft>
                          </a:pPr>
                          <a:r>
                            <a:rPr lang="en-US" sz="1050" kern="100" dirty="0">
                              <a:effectLst/>
                            </a:rPr>
                            <a:t> </a:t>
                          </a:r>
                          <a:endParaRPr lang="zh-CN" sz="1050" kern="100" dirty="0">
                            <a:effectLst/>
                            <a:latin typeface="等线" panose="02010600030101010101" pitchFamily="2" charset="-122"/>
                            <a:ea typeface="等线" panose="02010600030101010101" pitchFamily="2" charset="-122"/>
                            <a:cs typeface="宋体" panose="02010600030101010101" pitchFamily="2" charset="-122"/>
                          </a:endParaRPr>
                        </a:p>
                      </a:txBody>
                      <a:tcPr marL="68580" marR="68580" marT="0" marB="0"/>
                    </a:tc>
                    <a:extLst>
                      <a:ext uri="{0D108BD9-81ED-4DB2-BD59-A6C34878D82A}">
                        <a16:rowId xmlns:a16="http://schemas.microsoft.com/office/drawing/2014/main" val="3313464934"/>
                      </a:ext>
                    </a:extLst>
                  </a:tr>
                </a:tbl>
              </a:graphicData>
            </a:graphic>
          </p:graphicFrame>
        </mc:Fallback>
      </mc:AlternateContent>
      <p:pic>
        <p:nvPicPr>
          <p:cNvPr id="14" name="图片 13"/>
          <p:cNvPicPr/>
          <p:nvPr/>
        </p:nvPicPr>
        <p:blipFill>
          <a:blip r:embed="rId4">
            <a:extLst>
              <a:ext uri="{28A0092B-C50C-407E-A947-70E740481C1C}">
                <a14:useLocalDpi xmlns:a14="http://schemas.microsoft.com/office/drawing/2010/main" val="0"/>
              </a:ext>
            </a:extLst>
          </a:blip>
          <a:srcRect/>
          <a:stretch>
            <a:fillRect/>
          </a:stretch>
        </p:blipFill>
        <p:spPr bwMode="auto">
          <a:xfrm>
            <a:off x="5076056" y="1146220"/>
            <a:ext cx="3305175" cy="3695700"/>
          </a:xfrm>
          <a:prstGeom prst="rect">
            <a:avLst/>
          </a:prstGeom>
          <a:noFill/>
          <a:ln>
            <a:noFill/>
          </a:ln>
        </p:spPr>
      </p:pic>
    </p:spTree>
    <p:extLst>
      <p:ext uri="{BB962C8B-B14F-4D97-AF65-F5344CB8AC3E}">
        <p14:creationId xmlns:p14="http://schemas.microsoft.com/office/powerpoint/2010/main" val="37263569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a:off x="-236220" y="219075"/>
            <a:ext cx="5153660" cy="598805"/>
            <a:chOff x="-372" y="345"/>
            <a:chExt cx="8116" cy="943"/>
          </a:xfrm>
        </p:grpSpPr>
        <p:sp>
          <p:nvSpPr>
            <p:cNvPr id="40" name="矩形 39"/>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Kinematics of Parallel Robots</a:t>
              </a:r>
            </a:p>
          </p:txBody>
        </p:sp>
        <p:sp>
          <p:nvSpPr>
            <p:cNvPr id="41" name="文本框 40"/>
            <p:cNvSpPr txBox="1"/>
            <p:nvPr/>
          </p:nvSpPr>
          <p:spPr>
            <a:xfrm>
              <a:off x="443" y="363"/>
              <a:ext cx="7301"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并联机器人运动学</a:t>
              </a:r>
              <a:endParaRPr lang="en-US" altLang="zh-CN" sz="2000" b="1" dirty="0" smtClean="0">
                <a:latin typeface="Arial" panose="020B0604020202020204" pitchFamily="34" charset="0"/>
                <a:ea typeface="微软雅黑" panose="020B0503020204020204" charset="-122"/>
                <a:sym typeface="+mn-ea"/>
              </a:endParaRPr>
            </a:p>
          </p:txBody>
        </p:sp>
        <p:sp>
          <p:nvSpPr>
            <p:cNvPr id="42" name="椭圆 41"/>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3458437" y="754013"/>
            <a:ext cx="2290627" cy="338554"/>
          </a:xfrm>
          <a:prstGeom prst="rect">
            <a:avLst/>
          </a:prstGeom>
        </p:spPr>
        <p:txBody>
          <a:bodyPr wrap="none">
            <a:spAutoFit/>
          </a:bodyPr>
          <a:lstStyle/>
          <a:p>
            <a:r>
              <a:rPr lang="zh-CN" altLang="en-US" sz="1600" b="1" dirty="0">
                <a:solidFill>
                  <a:srgbClr val="002060"/>
                </a:solidFill>
              </a:rPr>
              <a:t>Delta机器人运动学分析</a:t>
            </a:r>
          </a:p>
        </p:txBody>
      </p:sp>
      <p:pic>
        <p:nvPicPr>
          <p:cNvPr id="9" name="图片 8"/>
          <p:cNvPicPr/>
          <p:nvPr/>
        </p:nvPicPr>
        <p:blipFill>
          <a:blip r:embed="rId3">
            <a:extLst>
              <a:ext uri="{28A0092B-C50C-407E-A947-70E740481C1C}">
                <a14:useLocalDpi xmlns:a14="http://schemas.microsoft.com/office/drawing/2010/main" val="0"/>
              </a:ext>
            </a:extLst>
          </a:blip>
          <a:srcRect/>
          <a:stretch>
            <a:fillRect/>
          </a:stretch>
        </p:blipFill>
        <p:spPr bwMode="auto">
          <a:xfrm>
            <a:off x="395536" y="1216025"/>
            <a:ext cx="3267075" cy="2914650"/>
          </a:xfrm>
          <a:prstGeom prst="rect">
            <a:avLst/>
          </a:prstGeom>
          <a:noFill/>
          <a:ln>
            <a:noFill/>
          </a:ln>
        </p:spPr>
      </p:pic>
      <p:sp>
        <p:nvSpPr>
          <p:cNvPr id="4" name="矩形 3"/>
          <p:cNvSpPr/>
          <p:nvPr/>
        </p:nvSpPr>
        <p:spPr>
          <a:xfrm>
            <a:off x="1244243" y="4159488"/>
            <a:ext cx="1415772" cy="338554"/>
          </a:xfrm>
          <a:prstGeom prst="rect">
            <a:avLst/>
          </a:prstGeom>
        </p:spPr>
        <p:txBody>
          <a:bodyPr wrap="none">
            <a:spAutoFit/>
          </a:bodyPr>
          <a:lstStyle/>
          <a:p>
            <a:r>
              <a:rPr lang="zh-CN" altLang="zh-CN" sz="1600" dirty="0">
                <a:ea typeface="等线" panose="02010600030101010101" pitchFamily="2" charset="-122"/>
                <a:cs typeface="Times New Roman" panose="02020603050405020304" pitchFamily="18" charset="0"/>
              </a:rPr>
              <a:t>静平台坐标系</a:t>
            </a:r>
            <a:endParaRPr lang="zh-CN" altLang="en-US" sz="1600" dirty="0"/>
          </a:p>
        </p:txBody>
      </p:sp>
      <p:pic>
        <p:nvPicPr>
          <p:cNvPr id="12" name="图片 11"/>
          <p:cNvPicPr/>
          <p:nvPr/>
        </p:nvPicPr>
        <p:blipFill>
          <a:blip r:embed="rId4">
            <a:extLst>
              <a:ext uri="{28A0092B-C50C-407E-A947-70E740481C1C}">
                <a14:useLocalDpi xmlns:a14="http://schemas.microsoft.com/office/drawing/2010/main" val="0"/>
              </a:ext>
            </a:extLst>
          </a:blip>
          <a:srcRect/>
          <a:stretch>
            <a:fillRect/>
          </a:stretch>
        </p:blipFill>
        <p:spPr bwMode="auto">
          <a:xfrm>
            <a:off x="6253118" y="1212801"/>
            <a:ext cx="2505075" cy="2124075"/>
          </a:xfrm>
          <a:prstGeom prst="rect">
            <a:avLst/>
          </a:prstGeom>
          <a:noFill/>
          <a:ln>
            <a:noFill/>
          </a:ln>
        </p:spPr>
      </p:pic>
      <p:sp>
        <p:nvSpPr>
          <p:cNvPr id="5" name="矩形 4"/>
          <p:cNvSpPr/>
          <p:nvPr/>
        </p:nvSpPr>
        <p:spPr>
          <a:xfrm>
            <a:off x="7020272" y="3792121"/>
            <a:ext cx="1415772" cy="338554"/>
          </a:xfrm>
          <a:prstGeom prst="rect">
            <a:avLst/>
          </a:prstGeom>
        </p:spPr>
        <p:txBody>
          <a:bodyPr wrap="none">
            <a:spAutoFit/>
          </a:bodyPr>
          <a:lstStyle/>
          <a:p>
            <a:r>
              <a:rPr lang="zh-CN" altLang="zh-CN" sz="1600" dirty="0">
                <a:ea typeface="等线" panose="02010600030101010101" pitchFamily="2" charset="-122"/>
                <a:cs typeface="Times New Roman" panose="02020603050405020304" pitchFamily="18" charset="0"/>
              </a:rPr>
              <a:t>动平台坐标系</a:t>
            </a:r>
            <a:endParaRPr lang="zh-CN" altLang="en-US" sz="1600" dirty="0"/>
          </a:p>
        </p:txBody>
      </p:sp>
      <mc:AlternateContent xmlns:mc="http://schemas.openxmlformats.org/markup-compatibility/2006" xmlns:a14="http://schemas.microsoft.com/office/drawing/2010/main">
        <mc:Choice Requires="a14">
          <p:sp>
            <p:nvSpPr>
              <p:cNvPr id="6" name="矩形 5"/>
              <p:cNvSpPr/>
              <p:nvPr/>
            </p:nvSpPr>
            <p:spPr>
              <a:xfrm>
                <a:off x="2735364" y="1212801"/>
                <a:ext cx="3492820" cy="1350178"/>
              </a:xfrm>
              <a:prstGeom prst="rect">
                <a:avLst/>
              </a:prstGeom>
            </p:spPr>
            <p:txBody>
              <a:bodyPr wrap="square">
                <a:spAutoFit/>
              </a:bodyPr>
              <a:lstStyle/>
              <a:p>
                <a:pPr indent="266700">
                  <a:spcBef>
                    <a:spcPts val="600"/>
                  </a:spcBef>
                  <a:spcAft>
                    <a:spcPts val="600"/>
                  </a:spcAft>
                </a:pPr>
                <a14:m>
                  <m:oMath xmlns:m="http://schemas.openxmlformats.org/officeDocument/2006/math">
                    <m:sPre>
                      <m:sPrePr>
                        <m:ctrlPr>
                          <a:rPr lang="zh-CN" altLang="zh-CN" sz="1000" b="1" i="1" smtClean="0">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PrePr>
                      <m:sub/>
                      <m:sup>
                        <m:r>
                          <a:rPr lang="en-US" altLang="zh-CN" sz="1000" b="1" i="1">
                            <a:solidFill>
                              <a:srgbClr val="002060"/>
                            </a:solidFill>
                            <a:latin typeface="Cambria Math" panose="02040503050406030204" pitchFamily="18" charset="0"/>
                            <a:cs typeface="宋体" panose="02010600030101010101" pitchFamily="2" charset="-122"/>
                          </a:rPr>
                          <m:t>𝑩</m:t>
                        </m:r>
                      </m:sup>
                      <m:e>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𝑩</m:t>
                            </m:r>
                          </m:e>
                          <m:sub>
                            <m:r>
                              <a:rPr lang="en-US" altLang="zh-CN" sz="1000" b="1" i="1">
                                <a:solidFill>
                                  <a:srgbClr val="002060"/>
                                </a:solidFill>
                                <a:latin typeface="Cambria Math" panose="02040503050406030204" pitchFamily="18" charset="0"/>
                                <a:cs typeface="宋体" panose="02010600030101010101" pitchFamily="2" charset="-122"/>
                              </a:rPr>
                              <m:t>𝟏</m:t>
                            </m:r>
                          </m:sub>
                        </m:sSub>
                      </m:e>
                    </m:sPre>
                    <m:r>
                      <a:rPr lang="en-US" altLang="zh-CN" sz="1000" b="1" i="1">
                        <a:solidFill>
                          <a:srgbClr val="002060"/>
                        </a:solidFill>
                        <a:latin typeface="Cambria Math" panose="02040503050406030204" pitchFamily="18" charset="0"/>
                        <a:cs typeface="宋体" panose="02010600030101010101" pitchFamily="2" charset="-122"/>
                      </a:rPr>
                      <m:t>=</m:t>
                    </m:r>
                    <m:d>
                      <m:dPr>
                        <m:begChr m:val="{"/>
                        <m:endChr m:val="}"/>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m>
                          <m:mPr>
                            <m:mcs>
                              <m:mc>
                                <m:mcPr>
                                  <m:count m:val="1"/>
                                  <m:mcJc m:val="center"/>
                                </m:mcPr>
                              </m:mc>
                            </m:mcs>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mPr>
                          <m:mr>
                            <m:e>
                              <m:r>
                                <a:rPr lang="en-US" altLang="zh-CN" sz="1000" b="1" i="1">
                                  <a:solidFill>
                                    <a:srgbClr val="002060"/>
                                  </a:solidFill>
                                  <a:latin typeface="Cambria Math" panose="02040503050406030204" pitchFamily="18" charset="0"/>
                                  <a:cs typeface="宋体" panose="02010600030101010101" pitchFamily="2" charset="-122"/>
                                </a:rPr>
                                <m:t>𝟎</m:t>
                              </m:r>
                            </m:e>
                          </m:mr>
                          <m:mr>
                            <m:e>
                              <m:r>
                                <a:rPr lang="en-US" altLang="zh-CN" sz="1000" b="1" i="1">
                                  <a:solidFill>
                                    <a:srgbClr val="002060"/>
                                  </a:solidFill>
                                  <a:latin typeface="Cambria Math" panose="02040503050406030204" pitchFamily="18" charset="0"/>
                                  <a:cs typeface="宋体" panose="02010600030101010101" pitchFamily="2" charset="-122"/>
                                </a:rPr>
                                <m:t>−</m:t>
                              </m:r>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𝒘</m:t>
                                  </m:r>
                                </m:e>
                                <m:sub>
                                  <m:r>
                                    <a:rPr lang="en-US" altLang="zh-CN" sz="1000" b="1" i="1">
                                      <a:solidFill>
                                        <a:srgbClr val="002060"/>
                                      </a:solidFill>
                                      <a:latin typeface="Cambria Math" panose="02040503050406030204" pitchFamily="18" charset="0"/>
                                      <a:cs typeface="宋体" panose="02010600030101010101" pitchFamily="2" charset="-122"/>
                                    </a:rPr>
                                    <m:t>𝑩</m:t>
                                  </m:r>
                                </m:sub>
                              </m:sSub>
                            </m:e>
                          </m:mr>
                          <m:mr>
                            <m:e>
                              <m:r>
                                <a:rPr lang="en-US" altLang="zh-CN" sz="1000" b="1" i="1">
                                  <a:solidFill>
                                    <a:srgbClr val="002060"/>
                                  </a:solidFill>
                                  <a:latin typeface="Cambria Math" panose="02040503050406030204" pitchFamily="18" charset="0"/>
                                  <a:cs typeface="宋体" panose="02010600030101010101" pitchFamily="2" charset="-122"/>
                                </a:rPr>
                                <m:t>𝟎</m:t>
                              </m:r>
                            </m:e>
                          </m:mr>
                        </m:m>
                      </m:e>
                    </m:d>
                  </m:oMath>
                </a14:m>
                <a:r>
                  <a:rPr lang="en-US" altLang="zh-CN" sz="1000" b="1" dirty="0">
                    <a:solidFill>
                      <a:srgbClr val="002060"/>
                    </a:solidFill>
                    <a:latin typeface="宋体" panose="02010600030101010101" pitchFamily="2" charset="-122"/>
                    <a:cs typeface="宋体" panose="02010600030101010101" pitchFamily="2" charset="-122"/>
                  </a:rPr>
                  <a:t>   </a:t>
                </a:r>
                <a14:m>
                  <m:oMath xmlns:m="http://schemas.openxmlformats.org/officeDocument/2006/math">
                    <m:sPre>
                      <m:sPre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PrePr>
                      <m:sub/>
                      <m:sup>
                        <m:r>
                          <a:rPr lang="en-US" altLang="zh-CN" sz="1000" b="1" i="1">
                            <a:solidFill>
                              <a:srgbClr val="002060"/>
                            </a:solidFill>
                            <a:latin typeface="Cambria Math" panose="02040503050406030204" pitchFamily="18" charset="0"/>
                            <a:cs typeface="宋体" panose="02010600030101010101" pitchFamily="2" charset="-122"/>
                          </a:rPr>
                          <m:t>𝑩</m:t>
                        </m:r>
                      </m:sup>
                      <m:e>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𝑩</m:t>
                            </m:r>
                          </m:e>
                          <m:sub>
                            <m:r>
                              <a:rPr lang="en-US" altLang="zh-CN" sz="1000" b="1" i="1">
                                <a:solidFill>
                                  <a:srgbClr val="002060"/>
                                </a:solidFill>
                                <a:latin typeface="Cambria Math" panose="02040503050406030204" pitchFamily="18" charset="0"/>
                                <a:cs typeface="宋体" panose="02010600030101010101" pitchFamily="2" charset="-122"/>
                              </a:rPr>
                              <m:t>𝟐</m:t>
                            </m:r>
                          </m:sub>
                        </m:sSub>
                      </m:e>
                    </m:sPre>
                    <m:r>
                      <a:rPr lang="en-US" altLang="zh-CN" sz="1000" b="1" i="1">
                        <a:solidFill>
                          <a:srgbClr val="002060"/>
                        </a:solidFill>
                        <a:latin typeface="Cambria Math" panose="02040503050406030204" pitchFamily="18" charset="0"/>
                        <a:cs typeface="宋体" panose="02010600030101010101" pitchFamily="2" charset="-122"/>
                      </a:rPr>
                      <m:t>=</m:t>
                    </m:r>
                    <m:d>
                      <m:dPr>
                        <m:begChr m:val="{"/>
                        <m:endChr m:val="}"/>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m>
                          <m:mPr>
                            <m:mcs>
                              <m:mc>
                                <m:mcPr>
                                  <m:count m:val="1"/>
                                  <m:mcJc m:val="center"/>
                                </m:mcPr>
                              </m:mc>
                            </m:mcs>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mPr>
                          <m:mr>
                            <m:e>
                              <m:f>
                                <m:f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fPr>
                                <m:num>
                                  <m:rad>
                                    <m:radPr>
                                      <m:degHide m:val="on"/>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radPr>
                                    <m:deg/>
                                    <m:e>
                                      <m:r>
                                        <a:rPr lang="en-US" altLang="zh-CN" sz="1000" b="1" i="1">
                                          <a:solidFill>
                                            <a:srgbClr val="002060"/>
                                          </a:solidFill>
                                          <a:latin typeface="Cambria Math" panose="02040503050406030204" pitchFamily="18" charset="0"/>
                                          <a:cs typeface="宋体" panose="02010600030101010101" pitchFamily="2" charset="-122"/>
                                        </a:rPr>
                                        <m:t>𝟑</m:t>
                                      </m:r>
                                    </m:e>
                                  </m:rad>
                                </m:num>
                                <m:den>
                                  <m:r>
                                    <a:rPr lang="en-US" altLang="zh-CN" sz="1000" b="1" i="1">
                                      <a:solidFill>
                                        <a:srgbClr val="002060"/>
                                      </a:solidFill>
                                      <a:latin typeface="Cambria Math" panose="02040503050406030204" pitchFamily="18" charset="0"/>
                                      <a:cs typeface="宋体" panose="02010600030101010101" pitchFamily="2" charset="-122"/>
                                    </a:rPr>
                                    <m:t>𝟐</m:t>
                                  </m:r>
                                </m:den>
                              </m:f>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𝒘</m:t>
                                  </m:r>
                                </m:e>
                                <m:sub>
                                  <m:r>
                                    <a:rPr lang="en-US" altLang="zh-CN" sz="1000" b="1" i="1">
                                      <a:solidFill>
                                        <a:srgbClr val="002060"/>
                                      </a:solidFill>
                                      <a:latin typeface="Cambria Math" panose="02040503050406030204" pitchFamily="18" charset="0"/>
                                      <a:cs typeface="宋体" panose="02010600030101010101" pitchFamily="2" charset="-122"/>
                                    </a:rPr>
                                    <m:t>𝑩</m:t>
                                  </m:r>
                                </m:sub>
                              </m:sSub>
                            </m:e>
                          </m:mr>
                          <m:mr>
                            <m:e>
                              <m:f>
                                <m:f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fPr>
                                <m:num>
                                  <m:r>
                                    <a:rPr lang="en-US" altLang="zh-CN" sz="1000" b="1" i="1">
                                      <a:solidFill>
                                        <a:srgbClr val="002060"/>
                                      </a:solidFill>
                                      <a:latin typeface="Cambria Math" panose="02040503050406030204" pitchFamily="18" charset="0"/>
                                      <a:cs typeface="宋体" panose="02010600030101010101" pitchFamily="2" charset="-122"/>
                                    </a:rPr>
                                    <m:t>𝟏</m:t>
                                  </m:r>
                                </m:num>
                                <m:den>
                                  <m:r>
                                    <a:rPr lang="en-US" altLang="zh-CN" sz="1000" b="1" i="1">
                                      <a:solidFill>
                                        <a:srgbClr val="002060"/>
                                      </a:solidFill>
                                      <a:latin typeface="Cambria Math" panose="02040503050406030204" pitchFamily="18" charset="0"/>
                                      <a:cs typeface="宋体" panose="02010600030101010101" pitchFamily="2" charset="-122"/>
                                    </a:rPr>
                                    <m:t>𝟐</m:t>
                                  </m:r>
                                </m:den>
                              </m:f>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𝒘</m:t>
                                  </m:r>
                                </m:e>
                                <m:sub>
                                  <m:r>
                                    <a:rPr lang="en-US" altLang="zh-CN" sz="1000" b="1" i="1">
                                      <a:solidFill>
                                        <a:srgbClr val="002060"/>
                                      </a:solidFill>
                                      <a:latin typeface="Cambria Math" panose="02040503050406030204" pitchFamily="18" charset="0"/>
                                      <a:cs typeface="宋体" panose="02010600030101010101" pitchFamily="2" charset="-122"/>
                                    </a:rPr>
                                    <m:t>𝑩</m:t>
                                  </m:r>
                                </m:sub>
                              </m:sSub>
                            </m:e>
                          </m:mr>
                          <m:mr>
                            <m:e>
                              <m:r>
                                <a:rPr lang="en-US" altLang="zh-CN" sz="1000" b="1" i="1">
                                  <a:solidFill>
                                    <a:srgbClr val="002060"/>
                                  </a:solidFill>
                                  <a:latin typeface="Cambria Math" panose="02040503050406030204" pitchFamily="18" charset="0"/>
                                  <a:cs typeface="宋体" panose="02010600030101010101" pitchFamily="2" charset="-122"/>
                                </a:rPr>
                                <m:t>𝟎</m:t>
                              </m:r>
                            </m:e>
                          </m:mr>
                        </m:m>
                      </m:e>
                    </m:d>
                  </m:oMath>
                </a14:m>
                <a:r>
                  <a:rPr lang="en-US" altLang="zh-CN" sz="1000" b="1" dirty="0">
                    <a:solidFill>
                      <a:srgbClr val="002060"/>
                    </a:solidFill>
                    <a:latin typeface="宋体" panose="02010600030101010101" pitchFamily="2" charset="-122"/>
                    <a:cs typeface="宋体" panose="02010600030101010101" pitchFamily="2" charset="-122"/>
                  </a:rPr>
                  <a:t>  </a:t>
                </a:r>
                <a14:m>
                  <m:oMath xmlns:m="http://schemas.openxmlformats.org/officeDocument/2006/math">
                    <m:sPre>
                      <m:sPre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PrePr>
                      <m:sub/>
                      <m:sup>
                        <m:r>
                          <a:rPr lang="en-US" altLang="zh-CN" sz="1000" b="1" i="1">
                            <a:solidFill>
                              <a:srgbClr val="002060"/>
                            </a:solidFill>
                            <a:latin typeface="Cambria Math" panose="02040503050406030204" pitchFamily="18" charset="0"/>
                            <a:cs typeface="宋体" panose="02010600030101010101" pitchFamily="2" charset="-122"/>
                          </a:rPr>
                          <m:t>𝑩</m:t>
                        </m:r>
                      </m:sup>
                      <m:e>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𝑩</m:t>
                            </m:r>
                          </m:e>
                          <m:sub>
                            <m:r>
                              <a:rPr lang="en-US" altLang="zh-CN" sz="1000" b="1" i="1">
                                <a:solidFill>
                                  <a:srgbClr val="002060"/>
                                </a:solidFill>
                                <a:latin typeface="Cambria Math" panose="02040503050406030204" pitchFamily="18" charset="0"/>
                                <a:cs typeface="宋体" panose="02010600030101010101" pitchFamily="2" charset="-122"/>
                              </a:rPr>
                              <m:t>𝟑</m:t>
                            </m:r>
                          </m:sub>
                        </m:sSub>
                      </m:e>
                    </m:sPre>
                    <m:r>
                      <a:rPr lang="en-US" altLang="zh-CN" sz="1000" b="1" i="1">
                        <a:solidFill>
                          <a:srgbClr val="002060"/>
                        </a:solidFill>
                        <a:latin typeface="Cambria Math" panose="02040503050406030204" pitchFamily="18" charset="0"/>
                        <a:cs typeface="宋体" panose="02010600030101010101" pitchFamily="2" charset="-122"/>
                      </a:rPr>
                      <m:t>=</m:t>
                    </m:r>
                    <m:d>
                      <m:dPr>
                        <m:begChr m:val="{"/>
                        <m:endChr m:val="}"/>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m>
                          <m:mPr>
                            <m:mcs>
                              <m:mc>
                                <m:mcPr>
                                  <m:count m:val="1"/>
                                  <m:mcJc m:val="center"/>
                                </m:mcPr>
                              </m:mc>
                            </m:mcs>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mPr>
                          <m:mr>
                            <m:e>
                              <m:r>
                                <a:rPr lang="en-US" altLang="zh-CN" sz="1000" b="1" i="1">
                                  <a:solidFill>
                                    <a:srgbClr val="002060"/>
                                  </a:solidFill>
                                  <a:latin typeface="Cambria Math" panose="02040503050406030204" pitchFamily="18" charset="0"/>
                                  <a:cs typeface="宋体" panose="02010600030101010101" pitchFamily="2" charset="-122"/>
                                </a:rPr>
                                <m:t>−</m:t>
                              </m:r>
                              <m:f>
                                <m:f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fPr>
                                <m:num>
                                  <m:rad>
                                    <m:radPr>
                                      <m:degHide m:val="on"/>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radPr>
                                    <m:deg/>
                                    <m:e>
                                      <m:r>
                                        <a:rPr lang="en-US" altLang="zh-CN" sz="1000" b="1" i="1">
                                          <a:solidFill>
                                            <a:srgbClr val="002060"/>
                                          </a:solidFill>
                                          <a:latin typeface="Cambria Math" panose="02040503050406030204" pitchFamily="18" charset="0"/>
                                          <a:cs typeface="宋体" panose="02010600030101010101" pitchFamily="2" charset="-122"/>
                                        </a:rPr>
                                        <m:t>𝟑</m:t>
                                      </m:r>
                                    </m:e>
                                  </m:rad>
                                </m:num>
                                <m:den>
                                  <m:r>
                                    <a:rPr lang="en-US" altLang="zh-CN" sz="1000" b="1" i="1">
                                      <a:solidFill>
                                        <a:srgbClr val="002060"/>
                                      </a:solidFill>
                                      <a:latin typeface="Cambria Math" panose="02040503050406030204" pitchFamily="18" charset="0"/>
                                      <a:cs typeface="宋体" panose="02010600030101010101" pitchFamily="2" charset="-122"/>
                                    </a:rPr>
                                    <m:t>𝟐</m:t>
                                  </m:r>
                                </m:den>
                              </m:f>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𝒘</m:t>
                                  </m:r>
                                </m:e>
                                <m:sub>
                                  <m:r>
                                    <a:rPr lang="en-US" altLang="zh-CN" sz="1000" b="1" i="1">
                                      <a:solidFill>
                                        <a:srgbClr val="002060"/>
                                      </a:solidFill>
                                      <a:latin typeface="Cambria Math" panose="02040503050406030204" pitchFamily="18" charset="0"/>
                                      <a:cs typeface="宋体" panose="02010600030101010101" pitchFamily="2" charset="-122"/>
                                    </a:rPr>
                                    <m:t>𝑩</m:t>
                                  </m:r>
                                </m:sub>
                              </m:sSub>
                            </m:e>
                          </m:mr>
                          <m:mr>
                            <m:e>
                              <m:f>
                                <m:f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fPr>
                                <m:num>
                                  <m:r>
                                    <a:rPr lang="en-US" altLang="zh-CN" sz="1000" b="1" i="1">
                                      <a:solidFill>
                                        <a:srgbClr val="002060"/>
                                      </a:solidFill>
                                      <a:latin typeface="Cambria Math" panose="02040503050406030204" pitchFamily="18" charset="0"/>
                                      <a:cs typeface="宋体" panose="02010600030101010101" pitchFamily="2" charset="-122"/>
                                    </a:rPr>
                                    <m:t>𝟏</m:t>
                                  </m:r>
                                </m:num>
                                <m:den>
                                  <m:r>
                                    <a:rPr lang="en-US" altLang="zh-CN" sz="1000" b="1" i="1">
                                      <a:solidFill>
                                        <a:srgbClr val="002060"/>
                                      </a:solidFill>
                                      <a:latin typeface="Cambria Math" panose="02040503050406030204" pitchFamily="18" charset="0"/>
                                      <a:cs typeface="宋体" panose="02010600030101010101" pitchFamily="2" charset="-122"/>
                                    </a:rPr>
                                    <m:t>𝟐</m:t>
                                  </m:r>
                                </m:den>
                              </m:f>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𝒘</m:t>
                                  </m:r>
                                </m:e>
                                <m:sub>
                                  <m:r>
                                    <a:rPr lang="en-US" altLang="zh-CN" sz="1000" b="1" i="1">
                                      <a:solidFill>
                                        <a:srgbClr val="002060"/>
                                      </a:solidFill>
                                      <a:latin typeface="Cambria Math" panose="02040503050406030204" pitchFamily="18" charset="0"/>
                                      <a:cs typeface="宋体" panose="02010600030101010101" pitchFamily="2" charset="-122"/>
                                    </a:rPr>
                                    <m:t>𝑩</m:t>
                                  </m:r>
                                </m:sub>
                              </m:sSub>
                            </m:e>
                          </m:mr>
                          <m:mr>
                            <m:e>
                              <m:r>
                                <a:rPr lang="en-US" altLang="zh-CN" sz="1000" b="1" i="1">
                                  <a:solidFill>
                                    <a:srgbClr val="002060"/>
                                  </a:solidFill>
                                  <a:latin typeface="Cambria Math" panose="02040503050406030204" pitchFamily="18" charset="0"/>
                                  <a:cs typeface="宋体" panose="02010600030101010101" pitchFamily="2" charset="-122"/>
                                </a:rPr>
                                <m:t>𝟎</m:t>
                              </m:r>
                            </m:e>
                          </m:mr>
                        </m:m>
                      </m:e>
                    </m:d>
                  </m:oMath>
                </a14:m>
                <a:endParaRPr lang="zh-CN" altLang="zh-CN" sz="1000" b="1" dirty="0">
                  <a:solidFill>
                    <a:srgbClr val="002060"/>
                  </a:solidFill>
                  <a:latin typeface="宋体" panose="02010600030101010101" pitchFamily="2" charset="-122"/>
                  <a:cs typeface="宋体" panose="02010600030101010101" pitchFamily="2" charset="-122"/>
                </a:endParaRPr>
              </a:p>
              <a:p>
                <a:pPr indent="266700">
                  <a:spcBef>
                    <a:spcPts val="600"/>
                  </a:spcBef>
                  <a:spcAft>
                    <a:spcPts val="600"/>
                  </a:spcAft>
                </a:pPr>
                <a14:m>
                  <m:oMath xmlns:m="http://schemas.openxmlformats.org/officeDocument/2006/math">
                    <m:sPre>
                      <m:sPre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PrePr>
                      <m:sub/>
                      <m:sup>
                        <m:r>
                          <a:rPr lang="en-US" altLang="zh-CN" sz="1000" b="1" i="1">
                            <a:solidFill>
                              <a:srgbClr val="002060"/>
                            </a:solidFill>
                            <a:latin typeface="Cambria Math" panose="02040503050406030204" pitchFamily="18" charset="0"/>
                            <a:cs typeface="宋体" panose="02010600030101010101" pitchFamily="2" charset="-122"/>
                          </a:rPr>
                          <m:t>𝑷</m:t>
                        </m:r>
                      </m:sup>
                      <m:e>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𝑷</m:t>
                            </m:r>
                          </m:e>
                          <m:sub>
                            <m:r>
                              <a:rPr lang="en-US" altLang="zh-CN" sz="1000" b="1" i="1">
                                <a:solidFill>
                                  <a:srgbClr val="002060"/>
                                </a:solidFill>
                                <a:latin typeface="Cambria Math" panose="02040503050406030204" pitchFamily="18" charset="0"/>
                                <a:cs typeface="宋体" panose="02010600030101010101" pitchFamily="2" charset="-122"/>
                              </a:rPr>
                              <m:t>𝟏</m:t>
                            </m:r>
                          </m:sub>
                        </m:sSub>
                      </m:e>
                    </m:sPre>
                    <m:r>
                      <a:rPr lang="en-US" altLang="zh-CN" sz="1000" b="1" i="1">
                        <a:solidFill>
                          <a:srgbClr val="002060"/>
                        </a:solidFill>
                        <a:latin typeface="Cambria Math" panose="02040503050406030204" pitchFamily="18" charset="0"/>
                        <a:cs typeface="宋体" panose="02010600030101010101" pitchFamily="2" charset="-122"/>
                      </a:rPr>
                      <m:t>=</m:t>
                    </m:r>
                    <m:d>
                      <m:dPr>
                        <m:begChr m:val="{"/>
                        <m:endChr m:val="}"/>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m>
                          <m:mPr>
                            <m:mcs>
                              <m:mc>
                                <m:mcPr>
                                  <m:count m:val="1"/>
                                  <m:mcJc m:val="center"/>
                                </m:mcPr>
                              </m:mc>
                            </m:mcs>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mPr>
                          <m:mr>
                            <m:e>
                              <m:r>
                                <a:rPr lang="en-US" altLang="zh-CN" sz="1000" b="1" i="1">
                                  <a:solidFill>
                                    <a:srgbClr val="002060"/>
                                  </a:solidFill>
                                  <a:latin typeface="Cambria Math" panose="02040503050406030204" pitchFamily="18" charset="0"/>
                                  <a:cs typeface="宋体" panose="02010600030101010101" pitchFamily="2" charset="-122"/>
                                </a:rPr>
                                <m:t>𝟎</m:t>
                              </m:r>
                            </m:e>
                          </m:mr>
                          <m:mr>
                            <m:e>
                              <m:r>
                                <a:rPr lang="en-US" altLang="zh-CN" sz="1000" b="1" i="1">
                                  <a:solidFill>
                                    <a:srgbClr val="002060"/>
                                  </a:solidFill>
                                  <a:latin typeface="Cambria Math" panose="02040503050406030204" pitchFamily="18" charset="0"/>
                                  <a:cs typeface="宋体" panose="02010600030101010101" pitchFamily="2" charset="-122"/>
                                </a:rPr>
                                <m:t>−</m:t>
                              </m:r>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𝒖</m:t>
                                  </m:r>
                                </m:e>
                                <m:sub>
                                  <m:r>
                                    <a:rPr lang="en-US" altLang="zh-CN" sz="1000" b="1" i="1">
                                      <a:solidFill>
                                        <a:srgbClr val="002060"/>
                                      </a:solidFill>
                                      <a:latin typeface="Cambria Math" panose="02040503050406030204" pitchFamily="18" charset="0"/>
                                      <a:cs typeface="宋体" panose="02010600030101010101" pitchFamily="2" charset="-122"/>
                                    </a:rPr>
                                    <m:t>𝑷</m:t>
                                  </m:r>
                                </m:sub>
                              </m:sSub>
                            </m:e>
                          </m:mr>
                          <m:mr>
                            <m:e>
                              <m:r>
                                <a:rPr lang="en-US" altLang="zh-CN" sz="1000" b="1" i="1">
                                  <a:solidFill>
                                    <a:srgbClr val="002060"/>
                                  </a:solidFill>
                                  <a:latin typeface="Cambria Math" panose="02040503050406030204" pitchFamily="18" charset="0"/>
                                  <a:cs typeface="宋体" panose="02010600030101010101" pitchFamily="2" charset="-122"/>
                                </a:rPr>
                                <m:t>𝟎</m:t>
                              </m:r>
                            </m:e>
                          </m:mr>
                        </m:m>
                      </m:e>
                    </m:d>
                  </m:oMath>
                </a14:m>
                <a:r>
                  <a:rPr lang="en-US" altLang="zh-CN" sz="1000" b="1" dirty="0">
                    <a:solidFill>
                      <a:srgbClr val="002060"/>
                    </a:solidFill>
                    <a:latin typeface="宋体" panose="02010600030101010101" pitchFamily="2" charset="-122"/>
                    <a:cs typeface="宋体" panose="02010600030101010101" pitchFamily="2" charset="-122"/>
                  </a:rPr>
                  <a:t>    </a:t>
                </a:r>
                <a14:m>
                  <m:oMath xmlns:m="http://schemas.openxmlformats.org/officeDocument/2006/math">
                    <m:sPre>
                      <m:sPre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PrePr>
                      <m:sub/>
                      <m:sup>
                        <m:r>
                          <a:rPr lang="en-US" altLang="zh-CN" sz="1000" b="1" i="1">
                            <a:solidFill>
                              <a:srgbClr val="002060"/>
                            </a:solidFill>
                            <a:latin typeface="Cambria Math" panose="02040503050406030204" pitchFamily="18" charset="0"/>
                            <a:cs typeface="宋体" panose="02010600030101010101" pitchFamily="2" charset="-122"/>
                          </a:rPr>
                          <m:t>𝑷</m:t>
                        </m:r>
                      </m:sup>
                      <m:e>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𝑷</m:t>
                            </m:r>
                          </m:e>
                          <m:sub>
                            <m:r>
                              <a:rPr lang="en-US" altLang="zh-CN" sz="1000" b="1" i="1">
                                <a:solidFill>
                                  <a:srgbClr val="002060"/>
                                </a:solidFill>
                                <a:latin typeface="Cambria Math" panose="02040503050406030204" pitchFamily="18" charset="0"/>
                                <a:cs typeface="宋体" panose="02010600030101010101" pitchFamily="2" charset="-122"/>
                              </a:rPr>
                              <m:t>𝟐</m:t>
                            </m:r>
                          </m:sub>
                        </m:sSub>
                      </m:e>
                    </m:sPre>
                    <m:r>
                      <a:rPr lang="en-US" altLang="zh-CN" sz="1000" b="1" i="1">
                        <a:solidFill>
                          <a:srgbClr val="002060"/>
                        </a:solidFill>
                        <a:latin typeface="Cambria Math" panose="02040503050406030204" pitchFamily="18" charset="0"/>
                        <a:cs typeface="宋体" panose="02010600030101010101" pitchFamily="2" charset="-122"/>
                      </a:rPr>
                      <m:t>=</m:t>
                    </m:r>
                    <m:d>
                      <m:dPr>
                        <m:begChr m:val="{"/>
                        <m:endChr m:val="}"/>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m>
                          <m:mPr>
                            <m:mcs>
                              <m:mc>
                                <m:mcPr>
                                  <m:count m:val="1"/>
                                  <m:mcJc m:val="center"/>
                                </m:mcPr>
                              </m:mc>
                            </m:mcs>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mPr>
                          <m:mr>
                            <m:e>
                              <m:f>
                                <m:f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fPr>
                                <m:num>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𝑺</m:t>
                                      </m:r>
                                    </m:e>
                                    <m:sub>
                                      <m:r>
                                        <a:rPr lang="en-US" altLang="zh-CN" sz="1000" b="1" i="1">
                                          <a:solidFill>
                                            <a:srgbClr val="002060"/>
                                          </a:solidFill>
                                          <a:latin typeface="Cambria Math" panose="02040503050406030204" pitchFamily="18" charset="0"/>
                                          <a:cs typeface="宋体" panose="02010600030101010101" pitchFamily="2" charset="-122"/>
                                        </a:rPr>
                                        <m:t>𝑷</m:t>
                                      </m:r>
                                    </m:sub>
                                  </m:sSub>
                                </m:num>
                                <m:den>
                                  <m:r>
                                    <a:rPr lang="en-US" altLang="zh-CN" sz="1000" b="1" i="1">
                                      <a:solidFill>
                                        <a:srgbClr val="002060"/>
                                      </a:solidFill>
                                      <a:latin typeface="Cambria Math" panose="02040503050406030204" pitchFamily="18" charset="0"/>
                                      <a:cs typeface="宋体" panose="02010600030101010101" pitchFamily="2" charset="-122"/>
                                    </a:rPr>
                                    <m:t>𝟐</m:t>
                                  </m:r>
                                </m:den>
                              </m:f>
                            </m:e>
                          </m:mr>
                          <m:mr>
                            <m:e>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𝒘</m:t>
                                  </m:r>
                                </m:e>
                                <m:sub>
                                  <m:r>
                                    <a:rPr lang="en-US" altLang="zh-CN" sz="1000" b="1" i="1">
                                      <a:solidFill>
                                        <a:srgbClr val="002060"/>
                                      </a:solidFill>
                                      <a:latin typeface="Cambria Math" panose="02040503050406030204" pitchFamily="18" charset="0"/>
                                      <a:cs typeface="宋体" panose="02010600030101010101" pitchFamily="2" charset="-122"/>
                                    </a:rPr>
                                    <m:t>𝑷</m:t>
                                  </m:r>
                                </m:sub>
                              </m:sSub>
                            </m:e>
                          </m:mr>
                          <m:mr>
                            <m:e>
                              <m:r>
                                <a:rPr lang="en-US" altLang="zh-CN" sz="1000" b="1" i="1">
                                  <a:solidFill>
                                    <a:srgbClr val="002060"/>
                                  </a:solidFill>
                                  <a:latin typeface="Cambria Math" panose="02040503050406030204" pitchFamily="18" charset="0"/>
                                  <a:cs typeface="宋体" panose="02010600030101010101" pitchFamily="2" charset="-122"/>
                                </a:rPr>
                                <m:t>𝟎</m:t>
                              </m:r>
                            </m:e>
                          </m:mr>
                        </m:m>
                      </m:e>
                    </m:d>
                  </m:oMath>
                </a14:m>
                <a:r>
                  <a:rPr lang="en-US" altLang="zh-CN" sz="1000" b="1" dirty="0">
                    <a:solidFill>
                      <a:srgbClr val="002060"/>
                    </a:solidFill>
                    <a:latin typeface="宋体" panose="02010600030101010101" pitchFamily="2" charset="-122"/>
                    <a:cs typeface="宋体" panose="02010600030101010101" pitchFamily="2" charset="-122"/>
                  </a:rPr>
                  <a:t>      </a:t>
                </a:r>
                <a14:m>
                  <m:oMath xmlns:m="http://schemas.openxmlformats.org/officeDocument/2006/math">
                    <m:sPre>
                      <m:sPre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PrePr>
                      <m:sub/>
                      <m:sup>
                        <m:r>
                          <a:rPr lang="en-US" altLang="zh-CN" sz="1000" b="1" i="1">
                            <a:solidFill>
                              <a:srgbClr val="002060"/>
                            </a:solidFill>
                            <a:latin typeface="Cambria Math" panose="02040503050406030204" pitchFamily="18" charset="0"/>
                            <a:cs typeface="宋体" panose="02010600030101010101" pitchFamily="2" charset="-122"/>
                          </a:rPr>
                          <m:t>𝑷</m:t>
                        </m:r>
                      </m:sup>
                      <m:e>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𝑷</m:t>
                            </m:r>
                          </m:e>
                          <m:sub>
                            <m:r>
                              <a:rPr lang="en-US" altLang="zh-CN" sz="1000" b="1" i="1">
                                <a:solidFill>
                                  <a:srgbClr val="002060"/>
                                </a:solidFill>
                                <a:latin typeface="Cambria Math" panose="02040503050406030204" pitchFamily="18" charset="0"/>
                                <a:cs typeface="宋体" panose="02010600030101010101" pitchFamily="2" charset="-122"/>
                              </a:rPr>
                              <m:t>𝟑</m:t>
                            </m:r>
                          </m:sub>
                        </m:sSub>
                      </m:e>
                    </m:sPre>
                    <m:r>
                      <a:rPr lang="en-US" altLang="zh-CN" sz="1000" b="1" i="1">
                        <a:solidFill>
                          <a:srgbClr val="002060"/>
                        </a:solidFill>
                        <a:latin typeface="Cambria Math" panose="02040503050406030204" pitchFamily="18" charset="0"/>
                        <a:cs typeface="宋体" panose="02010600030101010101" pitchFamily="2" charset="-122"/>
                      </a:rPr>
                      <m:t>=</m:t>
                    </m:r>
                    <m:d>
                      <m:dPr>
                        <m:begChr m:val="{"/>
                        <m:endChr m:val="}"/>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dPr>
                      <m:e>
                        <m:m>
                          <m:mPr>
                            <m:mcs>
                              <m:mc>
                                <m:mcPr>
                                  <m:count m:val="1"/>
                                  <m:mcJc m:val="center"/>
                                </m:mcPr>
                              </m:mc>
                            </m:mcs>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mPr>
                          <m:mr>
                            <m:e>
                              <m:r>
                                <a:rPr lang="en-US" altLang="zh-CN" sz="1000" b="1" i="1">
                                  <a:solidFill>
                                    <a:srgbClr val="002060"/>
                                  </a:solidFill>
                                  <a:latin typeface="Cambria Math" panose="02040503050406030204" pitchFamily="18" charset="0"/>
                                  <a:cs typeface="宋体" panose="02010600030101010101" pitchFamily="2" charset="-122"/>
                                </a:rPr>
                                <m:t>−</m:t>
                              </m:r>
                              <m:f>
                                <m:f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fPr>
                                <m:num>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𝑺</m:t>
                                      </m:r>
                                    </m:e>
                                    <m:sub>
                                      <m:r>
                                        <a:rPr lang="en-US" altLang="zh-CN" sz="1000" b="1" i="1">
                                          <a:solidFill>
                                            <a:srgbClr val="002060"/>
                                          </a:solidFill>
                                          <a:latin typeface="Cambria Math" panose="02040503050406030204" pitchFamily="18" charset="0"/>
                                          <a:cs typeface="宋体" panose="02010600030101010101" pitchFamily="2" charset="-122"/>
                                        </a:rPr>
                                        <m:t>𝑷</m:t>
                                      </m:r>
                                    </m:sub>
                                  </m:sSub>
                                </m:num>
                                <m:den>
                                  <m:r>
                                    <a:rPr lang="en-US" altLang="zh-CN" sz="1000" b="1" i="1">
                                      <a:solidFill>
                                        <a:srgbClr val="002060"/>
                                      </a:solidFill>
                                      <a:latin typeface="Cambria Math" panose="02040503050406030204" pitchFamily="18" charset="0"/>
                                      <a:cs typeface="宋体" panose="02010600030101010101" pitchFamily="2" charset="-122"/>
                                    </a:rPr>
                                    <m:t>𝟐</m:t>
                                  </m:r>
                                </m:den>
                              </m:f>
                            </m:e>
                          </m:mr>
                          <m:mr>
                            <m:e>
                              <m:sSub>
                                <m:sSubPr>
                                  <m:ctrlPr>
                                    <a:rPr lang="zh-CN" altLang="zh-CN" sz="1000" b="1" i="1">
                                      <a:solidFill>
                                        <a:srgbClr val="00206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000" b="1" i="1">
                                      <a:solidFill>
                                        <a:srgbClr val="002060"/>
                                      </a:solidFill>
                                      <a:latin typeface="Cambria Math" panose="02040503050406030204" pitchFamily="18" charset="0"/>
                                      <a:cs typeface="宋体" panose="02010600030101010101" pitchFamily="2" charset="-122"/>
                                    </a:rPr>
                                    <m:t>𝒘</m:t>
                                  </m:r>
                                </m:e>
                                <m:sub>
                                  <m:r>
                                    <a:rPr lang="en-US" altLang="zh-CN" sz="1000" b="1" i="1">
                                      <a:solidFill>
                                        <a:srgbClr val="002060"/>
                                      </a:solidFill>
                                      <a:latin typeface="Cambria Math" panose="02040503050406030204" pitchFamily="18" charset="0"/>
                                      <a:cs typeface="宋体" panose="02010600030101010101" pitchFamily="2" charset="-122"/>
                                    </a:rPr>
                                    <m:t>𝑷</m:t>
                                  </m:r>
                                </m:sub>
                              </m:sSub>
                            </m:e>
                          </m:mr>
                          <m:mr>
                            <m:e>
                              <m:r>
                                <a:rPr lang="en-US" altLang="zh-CN" sz="1000" b="1" i="1">
                                  <a:solidFill>
                                    <a:srgbClr val="002060"/>
                                  </a:solidFill>
                                  <a:latin typeface="Cambria Math" panose="02040503050406030204" pitchFamily="18" charset="0"/>
                                  <a:cs typeface="宋体" panose="02010600030101010101" pitchFamily="2" charset="-122"/>
                                </a:rPr>
                                <m:t>𝟎</m:t>
                              </m:r>
                            </m:e>
                          </m:mr>
                        </m:m>
                      </m:e>
                    </m:d>
                  </m:oMath>
                </a14:m>
                <a:endParaRPr lang="zh-CN" altLang="zh-CN" sz="1000" b="1" dirty="0">
                  <a:solidFill>
                    <a:srgbClr val="002060"/>
                  </a:solidFill>
                  <a:latin typeface="宋体" panose="02010600030101010101" pitchFamily="2" charset="-122"/>
                  <a:cs typeface="宋体" panose="02010600030101010101" pitchFamily="2" charset="-122"/>
                </a:endParaRPr>
              </a:p>
            </p:txBody>
          </p:sp>
        </mc:Choice>
        <mc:Fallback xmlns="">
          <p:sp>
            <p:nvSpPr>
              <p:cNvPr id="6" name="矩形 5"/>
              <p:cNvSpPr>
                <a:spLocks noRot="1" noChangeAspect="1" noMove="1" noResize="1" noEditPoints="1" noAdjustHandles="1" noChangeArrowheads="1" noChangeShapeType="1" noTextEdit="1"/>
              </p:cNvSpPr>
              <p:nvPr/>
            </p:nvSpPr>
            <p:spPr>
              <a:xfrm>
                <a:off x="2735364" y="1212801"/>
                <a:ext cx="3492820" cy="1350178"/>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2740375" y="2683213"/>
                <a:ext cx="4572000" cy="681918"/>
              </a:xfrm>
              <a:prstGeom prst="rect">
                <a:avLst/>
              </a:prstGeom>
            </p:spPr>
            <p:txBody>
              <a:bodyPr>
                <a:spAutoFit/>
              </a:bodyPr>
              <a:lstStyle/>
              <a:p>
                <a:pPr indent="266700">
                  <a:spcBef>
                    <a:spcPts val="600"/>
                  </a:spcBef>
                  <a:spcAft>
                    <a:spcPts val="600"/>
                  </a:spcAft>
                </a:pPr>
                <a14:m>
                  <m:oMath xmlns:m="http://schemas.openxmlformats.org/officeDocument/2006/math">
                    <m:sPre>
                      <m:sPre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PrePr>
                      <m:sub/>
                      <m:sup>
                        <m:r>
                          <a:rPr lang="en-US" altLang="zh-CN" sz="1200" i="1">
                            <a:latin typeface="Cambria Math" panose="02040503050406030204" pitchFamily="18" charset="0"/>
                            <a:cs typeface="宋体" panose="02010600030101010101" pitchFamily="2" charset="-122"/>
                          </a:rPr>
                          <m:t>𝐵</m:t>
                        </m:r>
                      </m:sup>
                      <m:e>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𝑏</m:t>
                            </m:r>
                          </m:e>
                          <m:sub>
                            <m:r>
                              <a:rPr lang="en-US" altLang="zh-CN" sz="1200" i="1">
                                <a:latin typeface="Cambria Math" panose="02040503050406030204" pitchFamily="18" charset="0"/>
                                <a:cs typeface="宋体" panose="02010600030101010101" pitchFamily="2" charset="-122"/>
                              </a:rPr>
                              <m:t>1</m:t>
                            </m:r>
                          </m:sub>
                        </m:sSub>
                      </m:e>
                    </m:sPre>
                    <m:r>
                      <a:rPr lang="en-US" altLang="zh-CN" sz="1200" i="1">
                        <a:latin typeface="Cambria Math" panose="02040503050406030204" pitchFamily="18" charset="0"/>
                        <a:cs typeface="宋体" panose="02010600030101010101" pitchFamily="2" charset="-122"/>
                      </a:rPr>
                      <m:t>=</m:t>
                    </m:r>
                    <m:d>
                      <m:dPr>
                        <m:begChr m:val="{"/>
                        <m:endChr m:val="}"/>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dPr>
                      <m:e>
                        <m:m>
                          <m:mPr>
                            <m:mcs>
                              <m:mc>
                                <m:mcPr>
                                  <m:count m:val="1"/>
                                  <m:mcJc m:val="center"/>
                                </m:mcPr>
                              </m:mc>
                            </m:mcs>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mPr>
                          <m:mr>
                            <m:e>
                              <m:f>
                                <m:f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fPr>
                                <m:num>
                                  <m:r>
                                    <a:rPr lang="en-US" altLang="zh-CN" sz="1200" i="1">
                                      <a:latin typeface="Cambria Math" panose="02040503050406030204" pitchFamily="18" charset="0"/>
                                      <a:cs typeface="宋体" panose="02010600030101010101" pitchFamily="2" charset="-122"/>
                                    </a:rPr>
                                    <m:t>1</m:t>
                                  </m:r>
                                </m:num>
                                <m:den>
                                  <m:r>
                                    <a:rPr lang="en-US" altLang="zh-CN" sz="1200" i="1">
                                      <a:latin typeface="Cambria Math" panose="02040503050406030204" pitchFamily="18" charset="0"/>
                                      <a:cs typeface="宋体" panose="02010600030101010101" pitchFamily="2" charset="-122"/>
                                    </a:rPr>
                                    <m:t>2</m:t>
                                  </m:r>
                                </m:den>
                              </m:f>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𝑆</m:t>
                                  </m:r>
                                </m:e>
                                <m:sub>
                                  <m:r>
                                    <a:rPr lang="en-US" altLang="zh-CN" sz="1200" i="1">
                                      <a:latin typeface="Cambria Math" panose="02040503050406030204" pitchFamily="18" charset="0"/>
                                      <a:cs typeface="宋体" panose="02010600030101010101" pitchFamily="2" charset="-122"/>
                                    </a:rPr>
                                    <m:t>𝐵</m:t>
                                  </m:r>
                                </m:sub>
                              </m:sSub>
                            </m:e>
                          </m:mr>
                          <m:mr>
                            <m:e>
                              <m:r>
                                <a:rPr lang="en-US" altLang="zh-CN" sz="1200" i="1">
                                  <a:latin typeface="Cambria Math" panose="02040503050406030204" pitchFamily="18" charset="0"/>
                                  <a:cs typeface="宋体" panose="02010600030101010101" pitchFamily="2" charset="-122"/>
                                </a:rPr>
                                <m:t>−</m:t>
                              </m:r>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𝑤</m:t>
                                  </m:r>
                                </m:e>
                                <m:sub>
                                  <m:r>
                                    <a:rPr lang="en-US" altLang="zh-CN" sz="1200" i="1">
                                      <a:latin typeface="Cambria Math" panose="02040503050406030204" pitchFamily="18" charset="0"/>
                                      <a:cs typeface="宋体" panose="02010600030101010101" pitchFamily="2" charset="-122"/>
                                    </a:rPr>
                                    <m:t>𝐵</m:t>
                                  </m:r>
                                </m:sub>
                              </m:sSub>
                            </m:e>
                          </m:mr>
                          <m:mr>
                            <m:e>
                              <m:r>
                                <a:rPr lang="en-US" altLang="zh-CN" sz="1200" i="1">
                                  <a:latin typeface="Cambria Math" panose="02040503050406030204" pitchFamily="18" charset="0"/>
                                  <a:cs typeface="宋体" panose="02010600030101010101" pitchFamily="2" charset="-122"/>
                                </a:rPr>
                                <m:t>0</m:t>
                              </m:r>
                            </m:e>
                          </m:mr>
                        </m:m>
                      </m:e>
                    </m:d>
                  </m:oMath>
                </a14:m>
                <a:r>
                  <a:rPr lang="en-US" altLang="zh-CN" sz="1200" dirty="0">
                    <a:latin typeface="宋体" panose="02010600030101010101" pitchFamily="2" charset="-122"/>
                    <a:cs typeface="宋体" panose="02010600030101010101" pitchFamily="2" charset="-122"/>
                  </a:rPr>
                  <a:t>   </a:t>
                </a:r>
                <a14:m>
                  <m:oMath xmlns:m="http://schemas.openxmlformats.org/officeDocument/2006/math">
                    <m:sPre>
                      <m:sPre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PrePr>
                      <m:sub/>
                      <m:sup>
                        <m:r>
                          <a:rPr lang="en-US" altLang="zh-CN" sz="1200" i="1">
                            <a:latin typeface="Cambria Math" panose="02040503050406030204" pitchFamily="18" charset="0"/>
                            <a:cs typeface="宋体" panose="02010600030101010101" pitchFamily="2" charset="-122"/>
                          </a:rPr>
                          <m:t>𝐵</m:t>
                        </m:r>
                      </m:sup>
                      <m:e>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𝑏</m:t>
                            </m:r>
                          </m:e>
                          <m:sub>
                            <m:r>
                              <a:rPr lang="en-US" altLang="zh-CN" sz="1200" i="1">
                                <a:latin typeface="Cambria Math" panose="02040503050406030204" pitchFamily="18" charset="0"/>
                                <a:cs typeface="宋体" panose="02010600030101010101" pitchFamily="2" charset="-122"/>
                              </a:rPr>
                              <m:t>2</m:t>
                            </m:r>
                          </m:sub>
                        </m:sSub>
                      </m:e>
                    </m:sPre>
                    <m:r>
                      <a:rPr lang="en-US" altLang="zh-CN" sz="1200" i="1">
                        <a:latin typeface="Cambria Math" panose="02040503050406030204" pitchFamily="18" charset="0"/>
                        <a:cs typeface="宋体" panose="02010600030101010101" pitchFamily="2" charset="-122"/>
                      </a:rPr>
                      <m:t>=</m:t>
                    </m:r>
                    <m:d>
                      <m:dPr>
                        <m:begChr m:val="{"/>
                        <m:endChr m:val="}"/>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dPr>
                      <m:e>
                        <m:m>
                          <m:mPr>
                            <m:mcs>
                              <m:mc>
                                <m:mcPr>
                                  <m:count m:val="1"/>
                                  <m:mcJc m:val="center"/>
                                </m:mcPr>
                              </m:mc>
                            </m:mcs>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mPr>
                          <m:mr>
                            <m:e>
                              <m:r>
                                <a:rPr lang="en-US" altLang="zh-CN" sz="1200" i="1">
                                  <a:latin typeface="Cambria Math" panose="02040503050406030204" pitchFamily="18" charset="0"/>
                                  <a:cs typeface="宋体" panose="02010600030101010101" pitchFamily="2" charset="-122"/>
                                </a:rPr>
                                <m:t>0</m:t>
                              </m:r>
                            </m:e>
                          </m:mr>
                          <m:mr>
                            <m:e>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𝑢</m:t>
                                  </m:r>
                                </m:e>
                                <m:sub>
                                  <m:r>
                                    <a:rPr lang="en-US" altLang="zh-CN" sz="1200" i="1">
                                      <a:latin typeface="Cambria Math" panose="02040503050406030204" pitchFamily="18" charset="0"/>
                                      <a:cs typeface="宋体" panose="02010600030101010101" pitchFamily="2" charset="-122"/>
                                    </a:rPr>
                                    <m:t>𝐵</m:t>
                                  </m:r>
                                </m:sub>
                              </m:sSub>
                            </m:e>
                          </m:mr>
                          <m:mr>
                            <m:e>
                              <m:r>
                                <a:rPr lang="en-US" altLang="zh-CN" sz="1200" i="1">
                                  <a:latin typeface="Cambria Math" panose="02040503050406030204" pitchFamily="18" charset="0"/>
                                  <a:cs typeface="宋体" panose="02010600030101010101" pitchFamily="2" charset="-122"/>
                                </a:rPr>
                                <m:t>0</m:t>
                              </m:r>
                            </m:e>
                          </m:mr>
                        </m:m>
                      </m:e>
                    </m:d>
                  </m:oMath>
                </a14:m>
                <a:r>
                  <a:rPr lang="en-US" altLang="zh-CN" sz="1200" dirty="0">
                    <a:latin typeface="宋体" panose="02010600030101010101" pitchFamily="2" charset="-122"/>
                    <a:cs typeface="宋体" panose="02010600030101010101" pitchFamily="2" charset="-122"/>
                  </a:rPr>
                  <a:t>  </a:t>
                </a:r>
                <a14:m>
                  <m:oMath xmlns:m="http://schemas.openxmlformats.org/officeDocument/2006/math">
                    <m:sPre>
                      <m:sPre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PrePr>
                      <m:sub/>
                      <m:sup>
                        <m:r>
                          <a:rPr lang="en-US" altLang="zh-CN" sz="1200" i="1">
                            <a:latin typeface="Cambria Math" panose="02040503050406030204" pitchFamily="18" charset="0"/>
                            <a:cs typeface="宋体" panose="02010600030101010101" pitchFamily="2" charset="-122"/>
                          </a:rPr>
                          <m:t>𝐵</m:t>
                        </m:r>
                      </m:sup>
                      <m:e>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𝐵</m:t>
                            </m:r>
                          </m:e>
                          <m:sub>
                            <m:r>
                              <a:rPr lang="en-US" altLang="zh-CN" sz="1200" i="1">
                                <a:latin typeface="Cambria Math" panose="02040503050406030204" pitchFamily="18" charset="0"/>
                                <a:cs typeface="宋体" panose="02010600030101010101" pitchFamily="2" charset="-122"/>
                              </a:rPr>
                              <m:t>3</m:t>
                            </m:r>
                          </m:sub>
                        </m:sSub>
                      </m:e>
                    </m:sPre>
                    <m:r>
                      <a:rPr lang="en-US" altLang="zh-CN" sz="1200" i="1">
                        <a:latin typeface="Cambria Math" panose="02040503050406030204" pitchFamily="18" charset="0"/>
                        <a:cs typeface="宋体" panose="02010600030101010101" pitchFamily="2" charset="-122"/>
                      </a:rPr>
                      <m:t>=</m:t>
                    </m:r>
                    <m:d>
                      <m:dPr>
                        <m:begChr m:val="{"/>
                        <m:endChr m:val="}"/>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dPr>
                      <m:e>
                        <m:m>
                          <m:mPr>
                            <m:mcs>
                              <m:mc>
                                <m:mcPr>
                                  <m:count m:val="1"/>
                                  <m:mcJc m:val="center"/>
                                </m:mcPr>
                              </m:mc>
                            </m:mcs>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mPr>
                          <m:mr>
                            <m:e>
                              <m:r>
                                <a:rPr lang="en-US" altLang="zh-CN" sz="1200" i="1">
                                  <a:latin typeface="Cambria Math" panose="02040503050406030204" pitchFamily="18" charset="0"/>
                                  <a:cs typeface="宋体" panose="02010600030101010101" pitchFamily="2" charset="-122"/>
                                </a:rPr>
                                <m:t>−</m:t>
                              </m:r>
                              <m:f>
                                <m:f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fPr>
                                <m:num>
                                  <m:r>
                                    <a:rPr lang="en-US" altLang="zh-CN" sz="1200" i="1">
                                      <a:latin typeface="Cambria Math" panose="02040503050406030204" pitchFamily="18" charset="0"/>
                                      <a:cs typeface="宋体" panose="02010600030101010101" pitchFamily="2" charset="-122"/>
                                    </a:rPr>
                                    <m:t>1</m:t>
                                  </m:r>
                                </m:num>
                                <m:den>
                                  <m:r>
                                    <a:rPr lang="en-US" altLang="zh-CN" sz="1200" i="1">
                                      <a:latin typeface="Cambria Math" panose="02040503050406030204" pitchFamily="18" charset="0"/>
                                      <a:cs typeface="宋体" panose="02010600030101010101" pitchFamily="2" charset="-122"/>
                                    </a:rPr>
                                    <m:t>2</m:t>
                                  </m:r>
                                </m:den>
                              </m:f>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𝑆</m:t>
                                  </m:r>
                                </m:e>
                                <m:sub>
                                  <m:r>
                                    <a:rPr lang="en-US" altLang="zh-CN" sz="1200" i="1">
                                      <a:latin typeface="Cambria Math" panose="02040503050406030204" pitchFamily="18" charset="0"/>
                                      <a:cs typeface="宋体" panose="02010600030101010101" pitchFamily="2" charset="-122"/>
                                    </a:rPr>
                                    <m:t>𝐵</m:t>
                                  </m:r>
                                </m:sub>
                              </m:sSub>
                            </m:e>
                          </m:mr>
                          <m:mr>
                            <m:e>
                              <m:r>
                                <a:rPr lang="en-US" altLang="zh-CN" sz="1200" i="1">
                                  <a:latin typeface="Cambria Math" panose="02040503050406030204" pitchFamily="18" charset="0"/>
                                  <a:cs typeface="宋体" panose="02010600030101010101" pitchFamily="2" charset="-122"/>
                                </a:rPr>
                                <m:t>−</m:t>
                              </m:r>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𝑤</m:t>
                                  </m:r>
                                </m:e>
                                <m:sub>
                                  <m:r>
                                    <a:rPr lang="en-US" altLang="zh-CN" sz="1200" i="1">
                                      <a:latin typeface="Cambria Math" panose="02040503050406030204" pitchFamily="18" charset="0"/>
                                      <a:cs typeface="宋体" panose="02010600030101010101" pitchFamily="2" charset="-122"/>
                                    </a:rPr>
                                    <m:t>𝐵</m:t>
                                  </m:r>
                                </m:sub>
                              </m:sSub>
                            </m:e>
                          </m:mr>
                          <m:mr>
                            <m:e>
                              <m:r>
                                <a:rPr lang="en-US" altLang="zh-CN" sz="1200" i="1">
                                  <a:latin typeface="Cambria Math" panose="02040503050406030204" pitchFamily="18" charset="0"/>
                                  <a:cs typeface="宋体" panose="02010600030101010101" pitchFamily="2" charset="-122"/>
                                </a:rPr>
                                <m:t>0</m:t>
                              </m:r>
                            </m:e>
                          </m:mr>
                        </m:m>
                      </m:e>
                    </m:d>
                  </m:oMath>
                </a14:m>
                <a:endParaRPr lang="zh-CN" altLang="zh-CN" sz="1200" dirty="0">
                  <a:latin typeface="宋体" panose="02010600030101010101" pitchFamily="2" charset="-122"/>
                  <a:cs typeface="宋体" panose="02010600030101010101" pitchFamily="2" charset="-122"/>
                </a:endParaRPr>
              </a:p>
            </p:txBody>
          </p:sp>
        </mc:Choice>
        <mc:Fallback xmlns="">
          <p:sp>
            <p:nvSpPr>
              <p:cNvPr id="7" name="矩形 6"/>
              <p:cNvSpPr>
                <a:spLocks noRot="1" noChangeAspect="1" noMove="1" noResize="1" noEditPoints="1" noAdjustHandles="1" noChangeArrowheads="1" noChangeShapeType="1" noTextEdit="1"/>
              </p:cNvSpPr>
              <p:nvPr/>
            </p:nvSpPr>
            <p:spPr>
              <a:xfrm>
                <a:off x="2740375" y="2683213"/>
                <a:ext cx="4572000" cy="681918"/>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3662647" y="3457110"/>
                <a:ext cx="4572000" cy="387350"/>
              </a:xfrm>
              <a:prstGeom prst="rect">
                <a:avLst/>
              </a:prstGeom>
            </p:spPr>
            <p:txBody>
              <a:bodyPr>
                <a:spAutoFit/>
              </a:bodyPr>
              <a:lstStyle/>
              <a:p>
                <a14:m>
                  <m:oMath xmlns:m="http://schemas.openxmlformats.org/officeDocument/2006/math">
                    <m:sSub>
                      <m:sSubPr>
                        <m:ctrlPr>
                          <a:rPr lang="zh-CN" altLang="zh-CN" sz="1200" i="1">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𝑤</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𝐵</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200" i="1">
                            <a:effectLst/>
                            <a:latin typeface="Cambria Math" panose="02040503050406030204" pitchFamily="18" charset="0"/>
                            <a:ea typeface="Cambria Math" panose="02040503050406030204" pitchFamily="18" charset="0"/>
                          </a:rPr>
                        </m:ctrlPr>
                      </m:fPr>
                      <m:num>
                        <m:rad>
                          <m:radPr>
                            <m:degHide m:val="on"/>
                            <m:ctrlPr>
                              <a:rPr lang="zh-CN" altLang="zh-CN" sz="1200" i="1">
                                <a:effectLst/>
                                <a:latin typeface="Cambria Math" panose="02040503050406030204" pitchFamily="18" charset="0"/>
                                <a:ea typeface="Cambria Math" panose="02040503050406030204" pitchFamily="18" charset="0"/>
                              </a:rPr>
                            </m:ctrlPr>
                          </m:radPr>
                          <m:deg/>
                          <m:e>
                            <m:r>
                              <a:rPr lang="en-US" altLang="zh-CN" sz="1200" i="1">
                                <a:latin typeface="Cambria Math" panose="02040503050406030204" pitchFamily="18" charset="0"/>
                                <a:ea typeface="等线" panose="02010600030101010101" pitchFamily="2" charset="-122"/>
                                <a:cs typeface="Times New Roman" panose="02020603050405020304" pitchFamily="18" charset="0"/>
                              </a:rPr>
                              <m:t>3</m:t>
                            </m:r>
                          </m:e>
                        </m:rad>
                      </m:num>
                      <m:den>
                        <m:r>
                          <a:rPr lang="en-US" altLang="zh-CN" sz="1200" i="1">
                            <a:latin typeface="Cambria Math" panose="02040503050406030204" pitchFamily="18" charset="0"/>
                            <a:ea typeface="等线" panose="02010600030101010101" pitchFamily="2" charset="-122"/>
                            <a:cs typeface="Times New Roman" panose="02020603050405020304" pitchFamily="18" charset="0"/>
                          </a:rPr>
                          <m:t>6</m:t>
                        </m:r>
                      </m:den>
                    </m:f>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𝑆</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𝐵</m:t>
                        </m:r>
                      </m:sub>
                    </m:sSub>
                  </m:oMath>
                </a14:m>
                <a:r>
                  <a:rPr lang="en-US" altLang="zh-CN" sz="1200" dirty="0">
                    <a:latin typeface="等线" panose="02010600030101010101" pitchFamily="2" charset="-122"/>
                    <a:cs typeface="Times New Roman" panose="02020603050405020304" pitchFamily="18" charset="0"/>
                  </a:rPr>
                  <a:t>  </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𝑢</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𝐵</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200" i="1">
                            <a:effectLst/>
                            <a:latin typeface="Cambria Math" panose="02040503050406030204" pitchFamily="18" charset="0"/>
                            <a:ea typeface="Cambria Math" panose="02040503050406030204" pitchFamily="18" charset="0"/>
                          </a:rPr>
                        </m:ctrlPr>
                      </m:fPr>
                      <m:num>
                        <m:rad>
                          <m:radPr>
                            <m:degHide m:val="on"/>
                            <m:ctrlPr>
                              <a:rPr lang="zh-CN" altLang="zh-CN" sz="1200" i="1">
                                <a:effectLst/>
                                <a:latin typeface="Cambria Math" panose="02040503050406030204" pitchFamily="18" charset="0"/>
                                <a:ea typeface="Cambria Math" panose="02040503050406030204" pitchFamily="18" charset="0"/>
                              </a:rPr>
                            </m:ctrlPr>
                          </m:radPr>
                          <m:deg/>
                          <m:e>
                            <m:r>
                              <a:rPr lang="en-US" altLang="zh-CN" sz="1200" i="1">
                                <a:latin typeface="Cambria Math" panose="02040503050406030204" pitchFamily="18" charset="0"/>
                                <a:ea typeface="等线" panose="02010600030101010101" pitchFamily="2" charset="-122"/>
                                <a:cs typeface="Times New Roman" panose="02020603050405020304" pitchFamily="18" charset="0"/>
                              </a:rPr>
                              <m:t>3</m:t>
                            </m:r>
                          </m:e>
                        </m:rad>
                      </m:num>
                      <m:den>
                        <m:r>
                          <a:rPr lang="en-US" altLang="zh-CN" sz="1200" i="1">
                            <a:latin typeface="Cambria Math" panose="02040503050406030204" pitchFamily="18" charset="0"/>
                            <a:ea typeface="等线" panose="02010600030101010101" pitchFamily="2" charset="-122"/>
                            <a:cs typeface="Times New Roman" panose="02020603050405020304" pitchFamily="18" charset="0"/>
                          </a:rPr>
                          <m:t>3</m:t>
                        </m:r>
                      </m:den>
                    </m:f>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𝑆</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𝐵</m:t>
                        </m:r>
                      </m:sub>
                    </m:sSub>
                  </m:oMath>
                </a14:m>
                <a:r>
                  <a:rPr lang="en-US" altLang="zh-CN" sz="1200" dirty="0">
                    <a:latin typeface="等线" panose="02010600030101010101" pitchFamily="2" charset="-122"/>
                    <a:cs typeface="Times New Roman" panose="02020603050405020304" pitchFamily="18" charset="0"/>
                  </a:rPr>
                  <a:t> </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𝑤</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𝑝</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200" i="1">
                            <a:effectLst/>
                            <a:latin typeface="Cambria Math" panose="02040503050406030204" pitchFamily="18" charset="0"/>
                            <a:ea typeface="Cambria Math" panose="02040503050406030204" pitchFamily="18" charset="0"/>
                          </a:rPr>
                        </m:ctrlPr>
                      </m:fPr>
                      <m:num>
                        <m:rad>
                          <m:radPr>
                            <m:degHide m:val="on"/>
                            <m:ctrlPr>
                              <a:rPr lang="zh-CN" altLang="zh-CN" sz="1200" i="1">
                                <a:effectLst/>
                                <a:latin typeface="Cambria Math" panose="02040503050406030204" pitchFamily="18" charset="0"/>
                                <a:ea typeface="Cambria Math" panose="02040503050406030204" pitchFamily="18" charset="0"/>
                              </a:rPr>
                            </m:ctrlPr>
                          </m:radPr>
                          <m:deg/>
                          <m:e>
                            <m:r>
                              <a:rPr lang="en-US" altLang="zh-CN" sz="1200" i="1">
                                <a:latin typeface="Cambria Math" panose="02040503050406030204" pitchFamily="18" charset="0"/>
                                <a:ea typeface="等线" panose="02010600030101010101" pitchFamily="2" charset="-122"/>
                                <a:cs typeface="Times New Roman" panose="02020603050405020304" pitchFamily="18" charset="0"/>
                              </a:rPr>
                              <m:t>3</m:t>
                            </m:r>
                          </m:e>
                        </m:rad>
                      </m:num>
                      <m:den>
                        <m:r>
                          <a:rPr lang="en-US" altLang="zh-CN" sz="1200" i="1">
                            <a:latin typeface="Cambria Math" panose="02040503050406030204" pitchFamily="18" charset="0"/>
                            <a:ea typeface="等线" panose="02010600030101010101" pitchFamily="2" charset="-122"/>
                            <a:cs typeface="Times New Roman" panose="02020603050405020304" pitchFamily="18" charset="0"/>
                          </a:rPr>
                          <m:t>6</m:t>
                        </m:r>
                      </m:den>
                    </m:f>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𝑆</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𝑝</m:t>
                        </m:r>
                      </m:sub>
                    </m:sSub>
                  </m:oMath>
                </a14:m>
                <a:r>
                  <a:rPr lang="en-US" altLang="zh-CN" sz="1200" dirty="0">
                    <a:latin typeface="等线" panose="02010600030101010101" pitchFamily="2" charset="-122"/>
                    <a:cs typeface="Times New Roman" panose="02020603050405020304" pitchFamily="18" charset="0"/>
                  </a:rPr>
                  <a:t> </a:t>
                </a:r>
                <a14:m>
                  <m:oMath xmlns:m="http://schemas.openxmlformats.org/officeDocument/2006/math">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𝑢</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𝑃</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200" i="1">
                            <a:effectLst/>
                            <a:latin typeface="Cambria Math" panose="02040503050406030204" pitchFamily="18" charset="0"/>
                            <a:ea typeface="Cambria Math" panose="02040503050406030204" pitchFamily="18" charset="0"/>
                          </a:rPr>
                        </m:ctrlPr>
                      </m:fPr>
                      <m:num>
                        <m:rad>
                          <m:radPr>
                            <m:degHide m:val="on"/>
                            <m:ctrlPr>
                              <a:rPr lang="zh-CN" altLang="zh-CN" sz="1200" i="1">
                                <a:effectLst/>
                                <a:latin typeface="Cambria Math" panose="02040503050406030204" pitchFamily="18" charset="0"/>
                                <a:ea typeface="Cambria Math" panose="02040503050406030204" pitchFamily="18" charset="0"/>
                              </a:rPr>
                            </m:ctrlPr>
                          </m:radPr>
                          <m:deg/>
                          <m:e>
                            <m:r>
                              <a:rPr lang="en-US" altLang="zh-CN" sz="1200" i="1">
                                <a:latin typeface="Cambria Math" panose="02040503050406030204" pitchFamily="18" charset="0"/>
                                <a:ea typeface="等线" panose="02010600030101010101" pitchFamily="2" charset="-122"/>
                                <a:cs typeface="Times New Roman" panose="02020603050405020304" pitchFamily="18" charset="0"/>
                              </a:rPr>
                              <m:t>3</m:t>
                            </m:r>
                          </m:e>
                        </m:rad>
                      </m:num>
                      <m:den>
                        <m:r>
                          <a:rPr lang="en-US" altLang="zh-CN" sz="1200" i="1">
                            <a:latin typeface="Cambria Math" panose="02040503050406030204" pitchFamily="18" charset="0"/>
                            <a:ea typeface="等线" panose="02010600030101010101" pitchFamily="2" charset="-122"/>
                            <a:cs typeface="Times New Roman" panose="02020603050405020304" pitchFamily="18" charset="0"/>
                          </a:rPr>
                          <m:t>3</m:t>
                        </m:r>
                      </m:den>
                    </m:f>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𝑆</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𝑝</m:t>
                        </m:r>
                      </m:sub>
                    </m:sSub>
                  </m:oMath>
                </a14:m>
                <a:endParaRPr lang="zh-CN" altLang="en-US" sz="1200" dirty="0"/>
              </a:p>
            </p:txBody>
          </p:sp>
        </mc:Choice>
        <mc:Fallback xmlns="">
          <p:sp>
            <p:nvSpPr>
              <p:cNvPr id="8" name="矩形 7"/>
              <p:cNvSpPr>
                <a:spLocks noRot="1" noChangeAspect="1" noMove="1" noResize="1" noEditPoints="1" noAdjustHandles="1" noChangeArrowheads="1" noChangeShapeType="1" noTextEdit="1"/>
              </p:cNvSpPr>
              <p:nvPr/>
            </p:nvSpPr>
            <p:spPr>
              <a:xfrm>
                <a:off x="3662647" y="3457110"/>
                <a:ext cx="4572000" cy="387350"/>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3783851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a:off x="-236220" y="219075"/>
            <a:ext cx="5153660" cy="598805"/>
            <a:chOff x="-372" y="345"/>
            <a:chExt cx="8116" cy="943"/>
          </a:xfrm>
        </p:grpSpPr>
        <p:sp>
          <p:nvSpPr>
            <p:cNvPr id="40" name="矩形 39"/>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Kinematics of Parallel Robots</a:t>
              </a:r>
            </a:p>
          </p:txBody>
        </p:sp>
        <p:sp>
          <p:nvSpPr>
            <p:cNvPr id="41" name="文本框 40"/>
            <p:cNvSpPr txBox="1"/>
            <p:nvPr/>
          </p:nvSpPr>
          <p:spPr>
            <a:xfrm>
              <a:off x="443" y="363"/>
              <a:ext cx="7301"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并联机器人运动学</a:t>
              </a:r>
              <a:endParaRPr lang="en-US" altLang="zh-CN" sz="2000" b="1" dirty="0" smtClean="0">
                <a:latin typeface="Arial" panose="020B0604020202020204" pitchFamily="34" charset="0"/>
                <a:ea typeface="微软雅黑" panose="020B0503020204020204" charset="-122"/>
                <a:sym typeface="+mn-ea"/>
              </a:endParaRPr>
            </a:p>
          </p:txBody>
        </p:sp>
        <p:sp>
          <p:nvSpPr>
            <p:cNvPr id="42" name="椭圆 41"/>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3458437" y="754013"/>
            <a:ext cx="2290627" cy="338554"/>
          </a:xfrm>
          <a:prstGeom prst="rect">
            <a:avLst/>
          </a:prstGeom>
        </p:spPr>
        <p:txBody>
          <a:bodyPr wrap="none">
            <a:spAutoFit/>
          </a:bodyPr>
          <a:lstStyle/>
          <a:p>
            <a:r>
              <a:rPr lang="zh-CN" altLang="en-US" sz="1600" b="1" dirty="0">
                <a:solidFill>
                  <a:srgbClr val="002060"/>
                </a:solidFill>
              </a:rPr>
              <a:t>Delta机器人运动学分析</a:t>
            </a:r>
          </a:p>
        </p:txBody>
      </p:sp>
      <p:sp>
        <p:nvSpPr>
          <p:cNvPr id="3" name="矩形 2"/>
          <p:cNvSpPr/>
          <p:nvPr/>
        </p:nvSpPr>
        <p:spPr>
          <a:xfrm>
            <a:off x="2567598" y="1083571"/>
            <a:ext cx="3724096" cy="338554"/>
          </a:xfrm>
          <a:prstGeom prst="rect">
            <a:avLst/>
          </a:prstGeom>
        </p:spPr>
        <p:txBody>
          <a:bodyPr wrap="none">
            <a:spAutoFit/>
          </a:bodyPr>
          <a:lstStyle/>
          <a:p>
            <a:r>
              <a:rPr lang="en-US" altLang="zh-CN" sz="1600" b="1" dirty="0">
                <a:solidFill>
                  <a:srgbClr val="002060"/>
                </a:solidFill>
                <a:latin typeface="等线" panose="02010600030101010101" pitchFamily="2" charset="-122"/>
                <a:cs typeface="Times New Roman" panose="02020603050405020304" pitchFamily="18" charset="0"/>
              </a:rPr>
              <a:t>Delta</a:t>
            </a:r>
            <a:r>
              <a:rPr lang="zh-CN" altLang="zh-CN" sz="1600" b="1" dirty="0">
                <a:solidFill>
                  <a:srgbClr val="002060"/>
                </a:solidFill>
                <a:ea typeface="等线" panose="02010600030101010101" pitchFamily="2" charset="-122"/>
                <a:cs typeface="Times New Roman" panose="02020603050405020304" pitchFamily="18" charset="0"/>
              </a:rPr>
              <a:t>机器人三条支链的向量环闭合方程</a:t>
            </a:r>
            <a:endParaRPr lang="zh-CN" altLang="en-US" sz="1600" b="1" dirty="0">
              <a:solidFill>
                <a:srgbClr val="002060"/>
              </a:solidFill>
            </a:endParaRPr>
          </a:p>
        </p:txBody>
      </p:sp>
      <mc:AlternateContent xmlns:mc="http://schemas.openxmlformats.org/markup-compatibility/2006" xmlns:a14="http://schemas.microsoft.com/office/drawing/2010/main">
        <mc:Choice Requires="a14">
          <p:sp>
            <p:nvSpPr>
              <p:cNvPr id="10" name="矩形 9"/>
              <p:cNvSpPr/>
              <p:nvPr/>
            </p:nvSpPr>
            <p:spPr>
              <a:xfrm>
                <a:off x="2042868" y="1472685"/>
                <a:ext cx="5094630" cy="30207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𝐵</m:t>
                              </m:r>
                            </m:sup>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𝐵</m:t>
                                  </m:r>
                                </m:e>
                                <m:sub>
                                  <m:r>
                                    <a:rPr lang="zh-CN" altLang="en-US" sz="1200" i="1">
                                      <a:latin typeface="Cambria Math" panose="02040503050406030204" pitchFamily="18" charset="0"/>
                                    </a:rPr>
                                    <m:t>𝑖</m:t>
                                  </m:r>
                                </m:sub>
                              </m:sSub>
                            </m:e>
                          </m:sPre>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𝐵</m:t>
                              </m:r>
                            </m:sup>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1">
                                      <a:latin typeface="Cambria Math" panose="02040503050406030204" pitchFamily="18" charset="0"/>
                                    </a:rPr>
                                    <m:t>𝑖</m:t>
                                  </m:r>
                                </m:sub>
                              </m:sSub>
                            </m:e>
                          </m:sPre>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𝐵</m:t>
                              </m:r>
                            </m:sup>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𝑙</m:t>
                                  </m:r>
                                </m:e>
                                <m:sub>
                                  <m:r>
                                    <a:rPr lang="zh-CN" altLang="en-US" sz="1200" i="1">
                                      <a:latin typeface="Cambria Math" panose="02040503050406030204" pitchFamily="18" charset="0"/>
                                    </a:rPr>
                                    <m:t>𝑖</m:t>
                                  </m:r>
                                </m:sub>
                              </m:sSub>
                            </m:e>
                          </m:sPre>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𝐵</m:t>
                              </m:r>
                            </m:sup>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𝑃</m:t>
                                  </m:r>
                                </m:e>
                                <m:sub>
                                  <m:r>
                                    <a:rPr lang="zh-CN" altLang="en-US" sz="1200" i="1">
                                      <a:latin typeface="Cambria Math" panose="02040503050406030204" pitchFamily="18" charset="0"/>
                                    </a:rPr>
                                    <m:t>𝑃</m:t>
                                  </m:r>
                                </m:sub>
                              </m:sSub>
                            </m:e>
                          </m:sPre>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sPre>
                            <m:sPrePr>
                              <m:ctrlPr>
                                <a:rPr lang="zh-CN" altLang="en-US" sz="1200" i="1">
                                  <a:latin typeface="Cambria Math" panose="02040503050406030204" pitchFamily="18" charset="0"/>
                                </a:rPr>
                              </m:ctrlPr>
                            </m:sPrePr>
                            <m:sub>
                              <m:r>
                                <a:rPr lang="zh-CN" altLang="en-US" sz="1200" i="1">
                                  <a:latin typeface="Cambria Math" panose="02040503050406030204" pitchFamily="18" charset="0"/>
                                </a:rPr>
                                <m:t>𝑃</m:t>
                              </m:r>
                            </m:sub>
                            <m:sup>
                              <m:r>
                                <a:rPr lang="zh-CN" altLang="en-US" sz="1200" i="1">
                                  <a:latin typeface="Cambria Math" panose="02040503050406030204" pitchFamily="18" charset="0"/>
                                </a:rPr>
                                <m:t>𝐵</m:t>
                              </m:r>
                            </m:sup>
                            <m:e>
                              <m:r>
                                <a:rPr lang="zh-CN" altLang="en-US" sz="1200" i="1">
                                  <a:latin typeface="Cambria Math" panose="02040503050406030204" pitchFamily="18" charset="0"/>
                                </a:rPr>
                                <m:t>𝑅</m:t>
                              </m:r>
                            </m:e>
                          </m:sPre>
                        </m:e>
                      </m:d>
                      <m:d>
                        <m:dPr>
                          <m:begChr m:val="{"/>
                          <m:endChr m:val="}"/>
                          <m:ctrlPr>
                            <a:rPr lang="zh-CN" altLang="en-US" sz="1200" i="1">
                              <a:latin typeface="Cambria Math" panose="02040503050406030204" pitchFamily="18" charset="0"/>
                            </a:rPr>
                          </m:ctrlPr>
                        </m:d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𝑃</m:t>
                              </m:r>
                            </m:sup>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𝑃</m:t>
                                  </m:r>
                                </m:e>
                                <m:sub>
                                  <m:r>
                                    <a:rPr lang="zh-CN" altLang="en-US" sz="1200" i="1">
                                      <a:latin typeface="Cambria Math" panose="02040503050406030204" pitchFamily="18" charset="0"/>
                                    </a:rPr>
                                    <m:t>𝑖</m:t>
                                  </m:r>
                                </m:sub>
                              </m:sSub>
                            </m:e>
                          </m:sPre>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𝐵</m:t>
                              </m:r>
                            </m:sup>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𝑃</m:t>
                                  </m:r>
                                </m:e>
                                <m:sub>
                                  <m:r>
                                    <a:rPr lang="zh-CN" altLang="en-US" sz="1200" i="1">
                                      <a:latin typeface="Cambria Math" panose="02040503050406030204" pitchFamily="18" charset="0"/>
                                    </a:rPr>
                                    <m:t>𝑃</m:t>
                                  </m:r>
                                </m:sub>
                              </m:sSub>
                            </m:e>
                          </m:sPre>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𝑃</m:t>
                              </m:r>
                            </m:sup>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𝑃</m:t>
                                  </m:r>
                                </m:e>
                                <m:sub>
                                  <m:r>
                                    <a:rPr lang="zh-CN" altLang="en-US" sz="1200" i="1">
                                      <a:latin typeface="Cambria Math" panose="02040503050406030204" pitchFamily="18" charset="0"/>
                                    </a:rPr>
                                    <m:t>𝑖</m:t>
                                  </m:r>
                                </m:sub>
                              </m:sSub>
                            </m:e>
                          </m:sPre>
                        </m:e>
                      </m:d>
                      <m:r>
                        <a:rPr lang="zh-CN" altLang="en-US" sz="1200" i="0">
                          <a:latin typeface="Cambria Math" panose="02040503050406030204" pitchFamily="18" charset="0"/>
                        </a:rPr>
                        <m:t>     </m:t>
                      </m:r>
                      <m:r>
                        <a:rPr lang="zh-CN" altLang="en-US" sz="1200" i="1">
                          <a:latin typeface="Cambria Math" panose="02040503050406030204" pitchFamily="18" charset="0"/>
                        </a:rPr>
                        <m:t>𝑖</m:t>
                      </m:r>
                      <m:r>
                        <a:rPr lang="zh-CN" altLang="en-US" sz="1200" i="0">
                          <a:latin typeface="Cambria Math" panose="02040503050406030204" pitchFamily="18" charset="0"/>
                        </a:rPr>
                        <m:t>=</m:t>
                      </m:r>
                      <m:r>
                        <a:rPr lang="zh-CN" altLang="en-US" sz="1200" i="0">
                          <a:latin typeface="Cambria Math" panose="02040503050406030204" pitchFamily="18" charset="0"/>
                        </a:rPr>
                        <m:t>1</m:t>
                      </m:r>
                      <m:r>
                        <a:rPr lang="zh-CN" altLang="en-US" sz="1200" i="0">
                          <a:latin typeface="Cambria Math" panose="02040503050406030204" pitchFamily="18" charset="0"/>
                        </a:rPr>
                        <m:t>,</m:t>
                      </m:r>
                      <m:r>
                        <a:rPr lang="zh-CN" altLang="en-US" sz="1200" i="0">
                          <a:latin typeface="Cambria Math" panose="02040503050406030204" pitchFamily="18" charset="0"/>
                        </a:rPr>
                        <m:t>2</m:t>
                      </m:r>
                      <m:r>
                        <a:rPr lang="zh-CN" altLang="en-US" sz="1200" i="0">
                          <a:latin typeface="Cambria Math" panose="02040503050406030204" pitchFamily="18" charset="0"/>
                        </a:rPr>
                        <m:t>,</m:t>
                      </m:r>
                      <m:r>
                        <a:rPr lang="zh-CN" altLang="en-US" sz="1200" i="0">
                          <a:latin typeface="Cambria Math" panose="02040503050406030204" pitchFamily="18" charset="0"/>
                        </a:rPr>
                        <m:t>3</m:t>
                      </m:r>
                    </m:oMath>
                  </m:oMathPara>
                </a14:m>
                <a:endParaRPr lang="zh-CN" altLang="en-US" sz="1200" dirty="0"/>
              </a:p>
            </p:txBody>
          </p:sp>
        </mc:Choice>
        <mc:Fallback xmlns="">
          <p:sp>
            <p:nvSpPr>
              <p:cNvPr id="10" name="矩形 9"/>
              <p:cNvSpPr>
                <a:spLocks noRot="1" noChangeAspect="1" noMove="1" noResize="1" noEditPoints="1" noAdjustHandles="1" noChangeArrowheads="1" noChangeShapeType="1" noTextEdit="1"/>
              </p:cNvSpPr>
              <p:nvPr/>
            </p:nvSpPr>
            <p:spPr>
              <a:xfrm>
                <a:off x="2042868" y="1472685"/>
                <a:ext cx="5094630" cy="30207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2510844" y="1941079"/>
                <a:ext cx="945772" cy="2798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200" i="1">
                              <a:latin typeface="Cambria Math" panose="02040503050406030204" pitchFamily="18" charset="0"/>
                            </a:rPr>
                          </m:ctrlPr>
                        </m:dPr>
                        <m:e>
                          <m:sPre>
                            <m:sPrePr>
                              <m:ctrlPr>
                                <a:rPr lang="zh-CN" altLang="en-US" sz="1200" i="1">
                                  <a:latin typeface="Cambria Math" panose="02040503050406030204" pitchFamily="18" charset="0"/>
                                </a:rPr>
                              </m:ctrlPr>
                            </m:sPrePr>
                            <m:sub>
                              <m:r>
                                <a:rPr lang="zh-CN" altLang="en-US" sz="1200" i="1">
                                  <a:latin typeface="Cambria Math" panose="02040503050406030204" pitchFamily="18" charset="0"/>
                                </a:rPr>
                                <m:t>𝑃</m:t>
                              </m:r>
                            </m:sub>
                            <m:sup>
                              <m:r>
                                <a:rPr lang="zh-CN" altLang="en-US" sz="1200" i="1">
                                  <a:latin typeface="Cambria Math" panose="02040503050406030204" pitchFamily="18" charset="0"/>
                                </a:rPr>
                                <m:t>𝐵</m:t>
                              </m:r>
                            </m:sup>
                            <m:e>
                              <m:r>
                                <a:rPr lang="zh-CN" altLang="en-US" sz="1200" i="1">
                                  <a:latin typeface="Cambria Math" panose="02040503050406030204" pitchFamily="18" charset="0"/>
                                </a:rPr>
                                <m:t>𝑅</m:t>
                              </m:r>
                            </m:e>
                          </m:sPre>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𝐼</m:t>
                              </m:r>
                            </m:e>
                            <m:sub>
                              <m:r>
                                <a:rPr lang="zh-CN" altLang="en-US" sz="1200" i="0">
                                  <a:latin typeface="Cambria Math" panose="02040503050406030204" pitchFamily="18" charset="0"/>
                                </a:rPr>
                                <m:t>3</m:t>
                              </m:r>
                            </m:sub>
                          </m:sSub>
                        </m:e>
                      </m:d>
                    </m:oMath>
                  </m:oMathPara>
                </a14:m>
                <a:endParaRPr lang="zh-CN" altLang="en-US" sz="1200" dirty="0"/>
              </a:p>
            </p:txBody>
          </p:sp>
        </mc:Choice>
        <mc:Fallback xmlns="">
          <p:sp>
            <p:nvSpPr>
              <p:cNvPr id="11" name="矩形 10"/>
              <p:cNvSpPr>
                <a:spLocks noRot="1" noChangeAspect="1" noMove="1" noResize="1" noEditPoints="1" noAdjustHandles="1" noChangeArrowheads="1" noChangeShapeType="1" noTextEdit="1"/>
              </p:cNvSpPr>
              <p:nvPr/>
            </p:nvSpPr>
            <p:spPr>
              <a:xfrm>
                <a:off x="2510844" y="1941079"/>
                <a:ext cx="945772" cy="27982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2037130" y="2193097"/>
                <a:ext cx="4572000" cy="302519"/>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𝑙</m:t>
                          </m:r>
                        </m:e>
                        <m:sub>
                          <m:r>
                            <a:rPr lang="zh-CN" altLang="en-US" sz="1200" i="1">
                              <a:latin typeface="Cambria Math" panose="02040503050406030204" pitchFamily="18" charset="0"/>
                            </a:rPr>
                            <m:t>𝑖</m:t>
                          </m:r>
                        </m:sub>
                      </m:sSub>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𝐵</m:t>
                              </m:r>
                            </m:sup>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𝑙</m:t>
                                  </m:r>
                                </m:e>
                                <m:sub>
                                  <m:r>
                                    <a:rPr lang="zh-CN" altLang="en-US" sz="1200" i="1">
                                      <a:latin typeface="Cambria Math" panose="02040503050406030204" pitchFamily="18" charset="0"/>
                                    </a:rPr>
                                    <m:t>𝑖</m:t>
                                  </m:r>
                                </m:sub>
                              </m:sSub>
                            </m:e>
                          </m:sPre>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d>
                            <m:dPr>
                              <m:begChr m:val="{"/>
                              <m:endChr m:val="}"/>
                              <m:ctrlPr>
                                <a:rPr lang="zh-CN" altLang="en-US" sz="1200" i="1">
                                  <a:latin typeface="Cambria Math" panose="02040503050406030204" pitchFamily="18" charset="0"/>
                                </a:rPr>
                              </m:ctrlPr>
                            </m:d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𝐵</m:t>
                                  </m:r>
                                </m:sup>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𝑃</m:t>
                                      </m:r>
                                    </m:e>
                                    <m:sub>
                                      <m:r>
                                        <a:rPr lang="zh-CN" altLang="en-US" sz="1200" i="1">
                                          <a:latin typeface="Cambria Math" panose="02040503050406030204" pitchFamily="18" charset="0"/>
                                        </a:rPr>
                                        <m:t>𝑃</m:t>
                                      </m:r>
                                    </m:sub>
                                  </m:sSub>
                                </m:e>
                              </m:sPre>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𝑃</m:t>
                                  </m:r>
                                </m:sup>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𝑃</m:t>
                                      </m:r>
                                    </m:e>
                                    <m:sub>
                                      <m:r>
                                        <a:rPr lang="zh-CN" altLang="en-US" sz="1200" i="1">
                                          <a:latin typeface="Cambria Math" panose="02040503050406030204" pitchFamily="18" charset="0"/>
                                        </a:rPr>
                                        <m:t>𝑖</m:t>
                                      </m:r>
                                    </m:sub>
                                  </m:sSub>
                                </m:e>
                              </m:sPre>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𝐵</m:t>
                                  </m:r>
                                </m:sup>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𝐵</m:t>
                                      </m:r>
                                    </m:e>
                                    <m:sub>
                                      <m:r>
                                        <a:rPr lang="zh-CN" altLang="en-US" sz="1200" i="1">
                                          <a:latin typeface="Cambria Math" panose="02040503050406030204" pitchFamily="18" charset="0"/>
                                        </a:rPr>
                                        <m:t>𝑖</m:t>
                                      </m:r>
                                    </m:sub>
                                  </m:sSub>
                                </m:e>
                              </m:sPre>
                            </m:e>
                          </m:d>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𝐵</m:t>
                                  </m:r>
                                </m:sup>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1">
                                          <a:latin typeface="Cambria Math" panose="02040503050406030204" pitchFamily="18" charset="0"/>
                                        </a:rPr>
                                        <m:t>𝑖</m:t>
                                      </m:r>
                                    </m:sub>
                                  </m:sSub>
                                </m:e>
                              </m:sPre>
                            </m:e>
                          </m:d>
                        </m:e>
                      </m:d>
                      <m:r>
                        <a:rPr lang="zh-CN" altLang="en-US" sz="1200" i="0">
                          <a:latin typeface="Cambria Math" panose="02040503050406030204" pitchFamily="18" charset="0"/>
                        </a:rPr>
                        <m:t>      </m:t>
                      </m:r>
                      <m:r>
                        <a:rPr lang="zh-CN" altLang="en-US" sz="1200" i="1">
                          <a:latin typeface="Cambria Math" panose="02040503050406030204" pitchFamily="18" charset="0"/>
                        </a:rPr>
                        <m:t>𝑖</m:t>
                      </m:r>
                      <m:r>
                        <a:rPr lang="zh-CN" altLang="en-US" sz="1200" i="0">
                          <a:latin typeface="Cambria Math" panose="02040503050406030204" pitchFamily="18" charset="0"/>
                        </a:rPr>
                        <m:t>=</m:t>
                      </m:r>
                      <m:r>
                        <a:rPr lang="zh-CN" altLang="en-US" sz="1200" i="0">
                          <a:latin typeface="Cambria Math" panose="02040503050406030204" pitchFamily="18" charset="0"/>
                        </a:rPr>
                        <m:t>1</m:t>
                      </m:r>
                      <m:r>
                        <a:rPr lang="zh-CN" altLang="en-US" sz="1200" i="0">
                          <a:latin typeface="Cambria Math" panose="02040503050406030204" pitchFamily="18" charset="0"/>
                        </a:rPr>
                        <m:t>,</m:t>
                      </m:r>
                      <m:r>
                        <a:rPr lang="zh-CN" altLang="en-US" sz="1200" i="0">
                          <a:latin typeface="Cambria Math" panose="02040503050406030204" pitchFamily="18" charset="0"/>
                        </a:rPr>
                        <m:t>2</m:t>
                      </m:r>
                      <m:r>
                        <a:rPr lang="zh-CN" altLang="en-US" sz="1200" i="0">
                          <a:latin typeface="Cambria Math" panose="02040503050406030204" pitchFamily="18" charset="0"/>
                        </a:rPr>
                        <m:t>,</m:t>
                      </m:r>
                      <m:r>
                        <a:rPr lang="zh-CN" altLang="en-US" sz="1200" i="0">
                          <a:latin typeface="Cambria Math" panose="02040503050406030204" pitchFamily="18" charset="0"/>
                        </a:rPr>
                        <m:t>3</m:t>
                      </m:r>
                    </m:oMath>
                  </m:oMathPara>
                </a14:m>
                <a:endParaRPr lang="zh-CN" altLang="en-US" sz="1200" dirty="0"/>
              </a:p>
            </p:txBody>
          </p:sp>
        </mc:Choice>
        <mc:Fallback xmlns="">
          <p:sp>
            <p:nvSpPr>
              <p:cNvPr id="13" name="矩形 12"/>
              <p:cNvSpPr>
                <a:spLocks noRot="1" noChangeAspect="1" noMove="1" noResize="1" noEditPoints="1" noAdjustHandles="1" noChangeArrowheads="1" noChangeShapeType="1" noTextEdit="1"/>
              </p:cNvSpPr>
              <p:nvPr/>
            </p:nvSpPr>
            <p:spPr>
              <a:xfrm>
                <a:off x="2037130" y="2193097"/>
                <a:ext cx="4572000" cy="302519"/>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2267744" y="2495616"/>
                <a:ext cx="2830968" cy="34926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sz="1200" i="1">
                              <a:latin typeface="Cambria Math" panose="02040503050406030204" pitchFamily="18" charset="0"/>
                            </a:rPr>
                          </m:ctrlPr>
                        </m:sSup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𝑙</m:t>
                              </m:r>
                            </m:e>
                            <m:sub>
                              <m:r>
                                <a:rPr lang="zh-CN" altLang="en-US" sz="1200" i="1">
                                  <a:latin typeface="Cambria Math" panose="02040503050406030204" pitchFamily="18" charset="0"/>
                                </a:rPr>
                                <m:t>𝑖</m:t>
                              </m:r>
                            </m:sub>
                          </m:sSub>
                        </m:e>
                        <m:sup>
                          <m:r>
                            <a:rPr lang="zh-CN" altLang="en-US" sz="1200" i="0">
                              <a:latin typeface="Cambria Math" panose="02040503050406030204" pitchFamily="18" charset="0"/>
                            </a:rPr>
                            <m:t>2</m:t>
                          </m:r>
                        </m:sup>
                      </m:sSup>
                      <m:r>
                        <a:rPr lang="zh-CN" altLang="en-US" sz="1200" i="0">
                          <a:latin typeface="Cambria Math" panose="02040503050406030204" pitchFamily="18" charset="0"/>
                        </a:rPr>
                        <m:t>=</m:t>
                      </m:r>
                      <m:sSup>
                        <m:sSupPr>
                          <m:ctrlPr>
                            <a:rPr lang="zh-CN" altLang="en-US" sz="1200" i="1">
                              <a:latin typeface="Cambria Math" panose="02040503050406030204" pitchFamily="18" charset="0"/>
                            </a:rPr>
                          </m:ctrlPr>
                        </m:sSupPr>
                        <m:e>
                          <m:d>
                            <m:dPr>
                              <m:begChr m:val="‖"/>
                              <m:endChr m:val="‖"/>
                              <m:ctrlPr>
                                <a:rPr lang="zh-CN" altLang="en-US" sz="1200" i="1">
                                  <a:latin typeface="Cambria Math" panose="02040503050406030204" pitchFamily="18" charset="0"/>
                                </a:rPr>
                              </m:ctrlPr>
                            </m:dPr>
                            <m: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𝐵</m:t>
                                  </m:r>
                                </m:sup>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𝑙</m:t>
                                      </m:r>
                                    </m:e>
                                    <m:sub>
                                      <m:r>
                                        <a:rPr lang="zh-CN" altLang="en-US" sz="1200" i="1">
                                          <a:latin typeface="Cambria Math" panose="02040503050406030204" pitchFamily="18" charset="0"/>
                                        </a:rPr>
                                        <m:t>𝑖</m:t>
                                      </m:r>
                                    </m:sub>
                                  </m:sSub>
                                </m:e>
                              </m:sPre>
                            </m:e>
                          </m:d>
                        </m:e>
                        <m:sup>
                          <m:r>
                            <a:rPr lang="zh-CN" altLang="en-US" sz="1200" i="0">
                              <a:latin typeface="Cambria Math" panose="02040503050406030204" pitchFamily="18" charset="0"/>
                            </a:rPr>
                            <m:t>2</m:t>
                          </m:r>
                        </m:sup>
                      </m:sSup>
                      <m:r>
                        <a:rPr lang="zh-CN" altLang="en-US" sz="1200" i="0">
                          <a:latin typeface="Cambria Math" panose="02040503050406030204" pitchFamily="18" charset="0"/>
                        </a:rPr>
                        <m:t>=</m:t>
                      </m:r>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𝑙</m:t>
                          </m:r>
                        </m:e>
                        <m:sub>
                          <m:r>
                            <a:rPr lang="zh-CN" altLang="en-US" sz="1200" i="1">
                              <a:latin typeface="Cambria Math" panose="02040503050406030204" pitchFamily="18" charset="0"/>
                            </a:rPr>
                            <m:t>𝑖𝑥</m:t>
                          </m:r>
                        </m:sub>
                        <m:sup>
                          <m:r>
                            <a:rPr lang="zh-CN" altLang="en-US" sz="1200" i="0">
                              <a:latin typeface="Cambria Math" panose="02040503050406030204" pitchFamily="18" charset="0"/>
                            </a:rPr>
                            <m:t>2</m:t>
                          </m:r>
                        </m:sup>
                      </m:sSubSup>
                      <m:r>
                        <a:rPr lang="zh-CN" altLang="en-US" sz="1200" i="0">
                          <a:latin typeface="Cambria Math" panose="02040503050406030204" pitchFamily="18" charset="0"/>
                        </a:rPr>
                        <m:t>+</m:t>
                      </m:r>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𝑙</m:t>
                          </m:r>
                        </m:e>
                        <m:sub>
                          <m:r>
                            <a:rPr lang="zh-CN" altLang="en-US" sz="1200" i="1">
                              <a:latin typeface="Cambria Math" panose="02040503050406030204" pitchFamily="18" charset="0"/>
                            </a:rPr>
                            <m:t>𝑖𝑦</m:t>
                          </m:r>
                        </m:sub>
                        <m:sup>
                          <m:r>
                            <a:rPr lang="zh-CN" altLang="en-US" sz="1200" i="0">
                              <a:latin typeface="Cambria Math" panose="02040503050406030204" pitchFamily="18" charset="0"/>
                            </a:rPr>
                            <m:t>2</m:t>
                          </m:r>
                        </m:sup>
                      </m:sSubSup>
                      <m:r>
                        <a:rPr lang="zh-CN" altLang="en-US" sz="1200" i="0">
                          <a:latin typeface="Cambria Math" panose="02040503050406030204" pitchFamily="18" charset="0"/>
                        </a:rPr>
                        <m:t>+</m:t>
                      </m:r>
                      <m:sSubSup>
                        <m:sSubSupPr>
                          <m:ctrlPr>
                            <a:rPr lang="zh-CN" altLang="en-US" sz="1200" i="1">
                              <a:latin typeface="Cambria Math" panose="02040503050406030204" pitchFamily="18" charset="0"/>
                            </a:rPr>
                          </m:ctrlPr>
                        </m:sSubSupPr>
                        <m:e>
                          <m:r>
                            <a:rPr lang="zh-CN" altLang="en-US" sz="1200" i="1">
                              <a:latin typeface="Cambria Math" panose="02040503050406030204" pitchFamily="18" charset="0"/>
                            </a:rPr>
                            <m:t>𝑙</m:t>
                          </m:r>
                        </m:e>
                        <m:sub>
                          <m:r>
                            <a:rPr lang="zh-CN" altLang="en-US" sz="1200" i="1">
                              <a:latin typeface="Cambria Math" panose="02040503050406030204" pitchFamily="18" charset="0"/>
                            </a:rPr>
                            <m:t>𝑖𝑧</m:t>
                          </m:r>
                        </m:sub>
                        <m:sup>
                          <m:r>
                            <a:rPr lang="zh-CN" altLang="en-US" sz="1200" i="0">
                              <a:latin typeface="Cambria Math" panose="02040503050406030204" pitchFamily="18" charset="0"/>
                            </a:rPr>
                            <m:t>2</m:t>
                          </m:r>
                        </m:sup>
                      </m:sSubSup>
                      <m:r>
                        <a:rPr lang="zh-CN" altLang="en-US" sz="1200" i="0">
                          <a:latin typeface="Cambria Math" panose="02040503050406030204" pitchFamily="18" charset="0"/>
                        </a:rPr>
                        <m:t>    </m:t>
                      </m:r>
                      <m:r>
                        <a:rPr lang="zh-CN" altLang="en-US" sz="1200" i="1">
                          <a:latin typeface="Cambria Math" panose="02040503050406030204" pitchFamily="18" charset="0"/>
                        </a:rPr>
                        <m:t>𝑖</m:t>
                      </m:r>
                      <m:r>
                        <a:rPr lang="zh-CN" altLang="en-US" sz="1200" i="0">
                          <a:latin typeface="Cambria Math" panose="02040503050406030204" pitchFamily="18" charset="0"/>
                        </a:rPr>
                        <m:t>=</m:t>
                      </m:r>
                      <m:r>
                        <a:rPr lang="zh-CN" altLang="en-US" sz="1200" i="0">
                          <a:latin typeface="Cambria Math" panose="02040503050406030204" pitchFamily="18" charset="0"/>
                        </a:rPr>
                        <m:t>1</m:t>
                      </m:r>
                      <m:r>
                        <a:rPr lang="zh-CN" altLang="en-US" sz="1200" i="0">
                          <a:latin typeface="Cambria Math" panose="02040503050406030204" pitchFamily="18" charset="0"/>
                        </a:rPr>
                        <m:t>,</m:t>
                      </m:r>
                      <m:r>
                        <a:rPr lang="zh-CN" altLang="en-US" sz="1200" i="0">
                          <a:latin typeface="Cambria Math" panose="02040503050406030204" pitchFamily="18" charset="0"/>
                        </a:rPr>
                        <m:t>2</m:t>
                      </m:r>
                      <m:r>
                        <a:rPr lang="zh-CN" altLang="en-US" sz="1200" i="0">
                          <a:latin typeface="Cambria Math" panose="02040503050406030204" pitchFamily="18" charset="0"/>
                        </a:rPr>
                        <m:t>,</m:t>
                      </m:r>
                      <m:r>
                        <a:rPr lang="zh-CN" altLang="en-US" sz="1200" i="0">
                          <a:latin typeface="Cambria Math" panose="02040503050406030204" pitchFamily="18" charset="0"/>
                        </a:rPr>
                        <m:t>3</m:t>
                      </m:r>
                      <m:r>
                        <a:rPr lang="zh-CN" altLang="en-US" sz="1200" i="0">
                          <a:latin typeface="Cambria Math" panose="02040503050406030204" pitchFamily="18" charset="0"/>
                        </a:rPr>
                        <m:t> </m:t>
                      </m:r>
                    </m:oMath>
                  </m:oMathPara>
                </a14:m>
                <a:endParaRPr lang="zh-CN" altLang="en-US" sz="1200" dirty="0"/>
              </a:p>
            </p:txBody>
          </p:sp>
        </mc:Choice>
        <mc:Fallback xmlns="">
          <p:sp>
            <p:nvSpPr>
              <p:cNvPr id="14" name="矩形 13"/>
              <p:cNvSpPr>
                <a:spLocks noRot="1" noChangeAspect="1" noMove="1" noResize="1" noEditPoints="1" noAdjustHandles="1" noChangeArrowheads="1" noChangeShapeType="1" noTextEdit="1"/>
              </p:cNvSpPr>
              <p:nvPr/>
            </p:nvSpPr>
            <p:spPr>
              <a:xfrm>
                <a:off x="2267744" y="2495616"/>
                <a:ext cx="2830968" cy="349263"/>
              </a:xfrm>
              <a:prstGeom prst="rect">
                <a:avLst/>
              </a:prstGeom>
              <a:blipFill>
                <a:blip r:embed="rId6"/>
                <a:stretch>
                  <a:fillRect b="-34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1809303" y="2798135"/>
                <a:ext cx="5703389" cy="860300"/>
              </a:xfrm>
              <a:prstGeom prst="rect">
                <a:avLst/>
              </a:prstGeom>
            </p:spPr>
            <p:txBody>
              <a:bodyPr wrap="square">
                <a:spAutoFit/>
              </a:bodyPr>
              <a:lstStyle/>
              <a:p>
                <a:pPr indent="266700">
                  <a:spcBef>
                    <a:spcPts val="600"/>
                  </a:spcBef>
                  <a:spcAft>
                    <a:spcPts val="600"/>
                  </a:spcAft>
                </a:pPr>
                <a14:m>
                  <m:oMath xmlns:m="http://schemas.openxmlformats.org/officeDocument/2006/math">
                    <m:sPre>
                      <m:sPre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PrePr>
                      <m:sub/>
                      <m:sup>
                        <m:r>
                          <a:rPr lang="en-US" altLang="zh-CN" sz="1200" i="1">
                            <a:latin typeface="Cambria Math" panose="02040503050406030204" pitchFamily="18" charset="0"/>
                            <a:cs typeface="宋体" panose="02010600030101010101" pitchFamily="2" charset="-122"/>
                          </a:rPr>
                          <m:t>𝐵</m:t>
                        </m:r>
                      </m:sup>
                      <m:e>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𝐿</m:t>
                            </m:r>
                          </m:e>
                          <m:sub>
                            <m:r>
                              <a:rPr lang="en-US" altLang="zh-CN" sz="1200" i="1">
                                <a:latin typeface="Cambria Math" panose="02040503050406030204" pitchFamily="18" charset="0"/>
                                <a:cs typeface="宋体" panose="02010600030101010101" pitchFamily="2" charset="-122"/>
                              </a:rPr>
                              <m:t>1</m:t>
                            </m:r>
                          </m:sub>
                        </m:sSub>
                      </m:e>
                    </m:sPre>
                    <m:r>
                      <a:rPr lang="en-US" altLang="zh-CN" sz="1200" i="1">
                        <a:latin typeface="Cambria Math" panose="02040503050406030204" pitchFamily="18" charset="0"/>
                        <a:cs typeface="宋体" panose="02010600030101010101" pitchFamily="2" charset="-122"/>
                      </a:rPr>
                      <m:t>=</m:t>
                    </m:r>
                    <m:d>
                      <m:dPr>
                        <m:begChr m:val="{"/>
                        <m:endChr m:val="}"/>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dPr>
                      <m:e>
                        <m:m>
                          <m:mPr>
                            <m:mcs>
                              <m:mc>
                                <m:mcPr>
                                  <m:count m:val="1"/>
                                  <m:mcJc m:val="center"/>
                                </m:mcPr>
                              </m:mc>
                            </m:mcs>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mPr>
                          <m:mr>
                            <m:e>
                              <m:r>
                                <a:rPr lang="en-US" altLang="zh-CN" sz="1200" i="1">
                                  <a:latin typeface="Cambria Math" panose="02040503050406030204" pitchFamily="18" charset="0"/>
                                  <a:cs typeface="宋体" panose="02010600030101010101" pitchFamily="2" charset="-122"/>
                                </a:rPr>
                                <m:t>0</m:t>
                              </m:r>
                            </m:e>
                          </m:mr>
                          <m:mr>
                            <m:e>
                              <m:r>
                                <a:rPr lang="zh-CN" altLang="en-US" sz="1200" i="1">
                                  <a:latin typeface="Cambria Math" panose="02040503050406030204" pitchFamily="18" charset="0"/>
                                  <a:ea typeface="微软雅黑" panose="020B0503020204020204" pitchFamily="34" charset="-122"/>
                                  <a:cs typeface="微软雅黑" panose="020B0503020204020204" pitchFamily="34" charset="-122"/>
                                </a:rPr>
                                <m:t>−</m:t>
                              </m:r>
                              <m:r>
                                <a:rPr lang="en-US" altLang="zh-CN" sz="1200" i="1">
                                  <a:latin typeface="Cambria Math" panose="02040503050406030204" pitchFamily="18" charset="0"/>
                                  <a:cs typeface="宋体" panose="02010600030101010101" pitchFamily="2" charset="-122"/>
                                </a:rPr>
                                <m:t>𝐿𝑐𝑜𝑠</m:t>
                              </m:r>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𝜃</m:t>
                                  </m:r>
                                </m:e>
                                <m:sub>
                                  <m:r>
                                    <a:rPr lang="en-US" altLang="zh-CN" sz="1200" i="1">
                                      <a:latin typeface="Cambria Math" panose="02040503050406030204" pitchFamily="18" charset="0"/>
                                      <a:cs typeface="宋体" panose="02010600030101010101" pitchFamily="2" charset="-122"/>
                                    </a:rPr>
                                    <m:t>1</m:t>
                                  </m:r>
                                </m:sub>
                              </m:sSub>
                            </m:e>
                          </m:mr>
                          <m:mr>
                            <m:e>
                              <m:r>
                                <a:rPr lang="zh-CN" altLang="en-US" sz="1200" i="1">
                                  <a:latin typeface="Cambria Math" panose="02040503050406030204" pitchFamily="18" charset="0"/>
                                  <a:ea typeface="微软雅黑" panose="020B0503020204020204" pitchFamily="34" charset="-122"/>
                                  <a:cs typeface="微软雅黑" panose="020B0503020204020204" pitchFamily="34" charset="-122"/>
                                </a:rPr>
                                <m:t>−</m:t>
                              </m:r>
                              <m:r>
                                <a:rPr lang="en-US" altLang="zh-CN" sz="1200" i="1">
                                  <a:latin typeface="Cambria Math" panose="02040503050406030204" pitchFamily="18" charset="0"/>
                                  <a:cs typeface="宋体" panose="02010600030101010101" pitchFamily="2" charset="-122"/>
                                </a:rPr>
                                <m:t>𝐿𝑠𝑖𝑛</m:t>
                              </m:r>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𝜃</m:t>
                                  </m:r>
                                </m:e>
                                <m:sub>
                                  <m:r>
                                    <a:rPr lang="en-US" altLang="zh-CN" sz="1200" i="1">
                                      <a:latin typeface="Cambria Math" panose="02040503050406030204" pitchFamily="18" charset="0"/>
                                      <a:cs typeface="宋体" panose="02010600030101010101" pitchFamily="2" charset="-122"/>
                                    </a:rPr>
                                    <m:t>1</m:t>
                                  </m:r>
                                </m:sub>
                              </m:sSub>
                            </m:e>
                          </m:mr>
                        </m:m>
                      </m:e>
                    </m:d>
                  </m:oMath>
                </a14:m>
                <a:r>
                  <a:rPr lang="en-US" altLang="zh-CN" sz="1200" i="1" dirty="0">
                    <a:latin typeface="宋体" panose="02010600030101010101" pitchFamily="2" charset="-122"/>
                    <a:cs typeface="宋体" panose="02010600030101010101" pitchFamily="2" charset="-122"/>
                  </a:rPr>
                  <a:t>  </a:t>
                </a:r>
                <a14:m>
                  <m:oMath xmlns:m="http://schemas.openxmlformats.org/officeDocument/2006/math">
                    <m:sPre>
                      <m:sPre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PrePr>
                      <m:sub/>
                      <m:sup>
                        <m:r>
                          <a:rPr lang="en-US" altLang="zh-CN" sz="1200" i="1">
                            <a:latin typeface="Cambria Math" panose="02040503050406030204" pitchFamily="18" charset="0"/>
                            <a:cs typeface="宋体" panose="02010600030101010101" pitchFamily="2" charset="-122"/>
                          </a:rPr>
                          <m:t>𝐵</m:t>
                        </m:r>
                      </m:sup>
                      <m:e>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𝐿</m:t>
                            </m:r>
                          </m:e>
                          <m:sub>
                            <m:r>
                              <a:rPr lang="en-US" altLang="zh-CN" sz="1200" i="1">
                                <a:latin typeface="Cambria Math" panose="02040503050406030204" pitchFamily="18" charset="0"/>
                                <a:cs typeface="宋体" panose="02010600030101010101" pitchFamily="2" charset="-122"/>
                              </a:rPr>
                              <m:t>2</m:t>
                            </m:r>
                          </m:sub>
                        </m:sSub>
                      </m:e>
                    </m:sPre>
                    <m:r>
                      <a:rPr lang="en-US" altLang="zh-CN" sz="1200" i="1">
                        <a:latin typeface="Cambria Math" panose="02040503050406030204" pitchFamily="18" charset="0"/>
                        <a:cs typeface="宋体" panose="02010600030101010101" pitchFamily="2" charset="-122"/>
                      </a:rPr>
                      <m:t>=</m:t>
                    </m:r>
                    <m:d>
                      <m:dPr>
                        <m:begChr m:val="{"/>
                        <m:endChr m:val="}"/>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dPr>
                      <m:e>
                        <m:m>
                          <m:mPr>
                            <m:mcs>
                              <m:mc>
                                <m:mcPr>
                                  <m:count m:val="1"/>
                                  <m:mcJc m:val="center"/>
                                </m:mcPr>
                              </m:mc>
                            </m:mcs>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mPr>
                          <m:mr>
                            <m:e>
                              <m:f>
                                <m:fPr>
                                  <m:ctrlPr>
                                    <a:rPr lang="zh-CN" altLang="zh-CN" sz="1200" i="1">
                                      <a:latin typeface="Cambria Math" panose="02040503050406030204" pitchFamily="18" charset="0"/>
                                      <a:ea typeface="Cambria Math" panose="02040503050406030204" pitchFamily="18" charset="0"/>
                                      <a:cs typeface="微软雅黑" panose="020B0503020204020204" pitchFamily="34" charset="-122"/>
                                    </a:rPr>
                                  </m:ctrlPr>
                                </m:fPr>
                                <m:num>
                                  <m:rad>
                                    <m:radPr>
                                      <m:degHide m:val="on"/>
                                      <m:ctrlPr>
                                        <a:rPr lang="zh-CN" altLang="zh-CN" sz="1200" i="1">
                                          <a:latin typeface="Cambria Math" panose="02040503050406030204" pitchFamily="18" charset="0"/>
                                          <a:ea typeface="Cambria Math" panose="02040503050406030204" pitchFamily="18" charset="0"/>
                                          <a:cs typeface="微软雅黑" panose="020B0503020204020204" pitchFamily="34" charset="-122"/>
                                        </a:rPr>
                                      </m:ctrlPr>
                                    </m:radPr>
                                    <m:deg/>
                                    <m:e>
                                      <m:r>
                                        <a:rPr lang="en-US" altLang="zh-CN" sz="1200" i="1">
                                          <a:latin typeface="Cambria Math" panose="02040503050406030204" pitchFamily="18" charset="0"/>
                                          <a:ea typeface="微软雅黑" panose="020B0503020204020204" pitchFamily="34" charset="-122"/>
                                          <a:cs typeface="微软雅黑" panose="020B0503020204020204" pitchFamily="34" charset="-122"/>
                                        </a:rPr>
                                        <m:t>3</m:t>
                                      </m:r>
                                    </m:e>
                                  </m:rad>
                                </m:num>
                                <m:den>
                                  <m:r>
                                    <a:rPr lang="en-US" altLang="zh-CN" sz="1200" i="1">
                                      <a:latin typeface="Cambria Math" panose="02040503050406030204" pitchFamily="18" charset="0"/>
                                      <a:ea typeface="微软雅黑" panose="020B0503020204020204" pitchFamily="34" charset="-122"/>
                                      <a:cs typeface="微软雅黑" panose="020B0503020204020204" pitchFamily="34" charset="-122"/>
                                    </a:rPr>
                                    <m:t>2</m:t>
                                  </m:r>
                                </m:den>
                              </m:f>
                              <m:r>
                                <a:rPr lang="en-US" altLang="zh-CN" sz="1200" i="1">
                                  <a:latin typeface="Cambria Math" panose="02040503050406030204" pitchFamily="18" charset="0"/>
                                  <a:cs typeface="宋体" panose="02010600030101010101" pitchFamily="2" charset="-122"/>
                                </a:rPr>
                                <m:t>𝐿𝑐𝑜𝑠</m:t>
                              </m:r>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𝜃</m:t>
                                  </m:r>
                                </m:e>
                                <m:sub>
                                  <m:r>
                                    <a:rPr lang="en-US" altLang="zh-CN" sz="1200" i="1">
                                      <a:latin typeface="Cambria Math" panose="02040503050406030204" pitchFamily="18" charset="0"/>
                                      <a:cs typeface="宋体" panose="02010600030101010101" pitchFamily="2" charset="-122"/>
                                    </a:rPr>
                                    <m:t>2</m:t>
                                  </m:r>
                                </m:sub>
                              </m:sSub>
                            </m:e>
                          </m:mr>
                          <m:mr>
                            <m:e>
                              <m:f>
                                <m:fPr>
                                  <m:ctrlPr>
                                    <a:rPr lang="zh-CN" altLang="zh-CN" sz="1200" i="1">
                                      <a:latin typeface="Cambria Math" panose="02040503050406030204" pitchFamily="18" charset="0"/>
                                      <a:ea typeface="Cambria Math" panose="02040503050406030204" pitchFamily="18" charset="0"/>
                                      <a:cs typeface="微软雅黑" panose="020B0503020204020204" pitchFamily="34" charset="-122"/>
                                    </a:rPr>
                                  </m:ctrlPr>
                                </m:fPr>
                                <m:num>
                                  <m:r>
                                    <a:rPr lang="en-US" altLang="zh-CN" sz="1200" i="1">
                                      <a:latin typeface="Cambria Math" panose="02040503050406030204" pitchFamily="18" charset="0"/>
                                      <a:ea typeface="微软雅黑" panose="020B0503020204020204" pitchFamily="34" charset="-122"/>
                                      <a:cs typeface="微软雅黑" panose="020B0503020204020204" pitchFamily="34" charset="-122"/>
                                    </a:rPr>
                                    <m:t>1</m:t>
                                  </m:r>
                                </m:num>
                                <m:den>
                                  <m:r>
                                    <a:rPr lang="en-US" altLang="zh-CN" sz="1200" i="1">
                                      <a:latin typeface="Cambria Math" panose="02040503050406030204" pitchFamily="18" charset="0"/>
                                      <a:ea typeface="微软雅黑" panose="020B0503020204020204" pitchFamily="34" charset="-122"/>
                                      <a:cs typeface="微软雅黑" panose="020B0503020204020204" pitchFamily="34" charset="-122"/>
                                    </a:rPr>
                                    <m:t>2</m:t>
                                  </m:r>
                                </m:den>
                              </m:f>
                              <m:r>
                                <a:rPr lang="en-US" altLang="zh-CN" sz="1200" i="1">
                                  <a:latin typeface="Cambria Math" panose="02040503050406030204" pitchFamily="18" charset="0"/>
                                  <a:cs typeface="宋体" panose="02010600030101010101" pitchFamily="2" charset="-122"/>
                                </a:rPr>
                                <m:t>𝐿𝑐𝑜𝑠</m:t>
                              </m:r>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𝜃</m:t>
                                  </m:r>
                                </m:e>
                                <m:sub>
                                  <m:r>
                                    <a:rPr lang="en-US" altLang="zh-CN" sz="1200" i="1">
                                      <a:latin typeface="Cambria Math" panose="02040503050406030204" pitchFamily="18" charset="0"/>
                                      <a:cs typeface="宋体" panose="02010600030101010101" pitchFamily="2" charset="-122"/>
                                    </a:rPr>
                                    <m:t>2</m:t>
                                  </m:r>
                                </m:sub>
                              </m:sSub>
                            </m:e>
                          </m:mr>
                          <m:mr>
                            <m:e>
                              <m:r>
                                <a:rPr lang="zh-CN" altLang="en-US" sz="1200" i="1">
                                  <a:latin typeface="Cambria Math" panose="02040503050406030204" pitchFamily="18" charset="0"/>
                                  <a:ea typeface="微软雅黑" panose="020B0503020204020204" pitchFamily="34" charset="-122"/>
                                  <a:cs typeface="微软雅黑" panose="020B0503020204020204" pitchFamily="34" charset="-122"/>
                                </a:rPr>
                                <m:t>−</m:t>
                              </m:r>
                              <m:r>
                                <a:rPr lang="en-US" altLang="zh-CN" sz="1200" i="1">
                                  <a:latin typeface="Cambria Math" panose="02040503050406030204" pitchFamily="18" charset="0"/>
                                  <a:cs typeface="宋体" panose="02010600030101010101" pitchFamily="2" charset="-122"/>
                                </a:rPr>
                                <m:t>𝐿𝑠𝑖𝑛</m:t>
                              </m:r>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𝜃</m:t>
                                  </m:r>
                                </m:e>
                                <m:sub>
                                  <m:r>
                                    <a:rPr lang="en-US" altLang="zh-CN" sz="1200" i="1">
                                      <a:latin typeface="Cambria Math" panose="02040503050406030204" pitchFamily="18" charset="0"/>
                                      <a:cs typeface="宋体" panose="02010600030101010101" pitchFamily="2" charset="-122"/>
                                    </a:rPr>
                                    <m:t>2</m:t>
                                  </m:r>
                                </m:sub>
                              </m:sSub>
                            </m:e>
                          </m:mr>
                        </m:m>
                      </m:e>
                    </m:d>
                  </m:oMath>
                </a14:m>
                <a:r>
                  <a:rPr lang="en-US" altLang="zh-CN" sz="1200" i="1" dirty="0">
                    <a:latin typeface="宋体" panose="02010600030101010101" pitchFamily="2" charset="-122"/>
                    <a:cs typeface="宋体" panose="02010600030101010101" pitchFamily="2" charset="-122"/>
                  </a:rPr>
                  <a:t>   </a:t>
                </a:r>
                <a14:m>
                  <m:oMath xmlns:m="http://schemas.openxmlformats.org/officeDocument/2006/math">
                    <m:sPre>
                      <m:sPre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PrePr>
                      <m:sub/>
                      <m:sup>
                        <m:r>
                          <a:rPr lang="en-US" altLang="zh-CN" sz="1200" i="1">
                            <a:latin typeface="Cambria Math" panose="02040503050406030204" pitchFamily="18" charset="0"/>
                            <a:cs typeface="宋体" panose="02010600030101010101" pitchFamily="2" charset="-122"/>
                          </a:rPr>
                          <m:t>𝐵</m:t>
                        </m:r>
                      </m:sup>
                      <m:e>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𝐿</m:t>
                            </m:r>
                          </m:e>
                          <m:sub>
                            <m:r>
                              <a:rPr lang="en-US" altLang="zh-CN" sz="1200" i="1">
                                <a:latin typeface="Cambria Math" panose="02040503050406030204" pitchFamily="18" charset="0"/>
                                <a:cs typeface="宋体" panose="02010600030101010101" pitchFamily="2" charset="-122"/>
                              </a:rPr>
                              <m:t>3</m:t>
                            </m:r>
                          </m:sub>
                        </m:sSub>
                      </m:e>
                    </m:sPre>
                    <m:r>
                      <a:rPr lang="en-US" altLang="zh-CN" sz="1200" i="1">
                        <a:latin typeface="Cambria Math" panose="02040503050406030204" pitchFamily="18" charset="0"/>
                        <a:cs typeface="宋体" panose="02010600030101010101" pitchFamily="2" charset="-122"/>
                      </a:rPr>
                      <m:t>=</m:t>
                    </m:r>
                    <m:d>
                      <m:dPr>
                        <m:begChr m:val="{"/>
                        <m:endChr m:val="}"/>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dPr>
                      <m:e>
                        <m:m>
                          <m:mPr>
                            <m:mcs>
                              <m:mc>
                                <m:mcPr>
                                  <m:count m:val="1"/>
                                  <m:mcJc m:val="center"/>
                                </m:mcPr>
                              </m:mc>
                            </m:mcs>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mPr>
                          <m:mr>
                            <m:e>
                              <m:r>
                                <a:rPr lang="en-US" altLang="zh-CN" sz="1200" i="1">
                                  <a:latin typeface="Cambria Math" panose="02040503050406030204" pitchFamily="18" charset="0"/>
                                  <a:cs typeface="宋体" panose="02010600030101010101" pitchFamily="2" charset="-122"/>
                                </a:rPr>
                                <m:t>−</m:t>
                              </m:r>
                              <m:f>
                                <m:fPr>
                                  <m:ctrlPr>
                                    <a:rPr lang="zh-CN" altLang="zh-CN" sz="1200" i="1">
                                      <a:latin typeface="Cambria Math" panose="02040503050406030204" pitchFamily="18" charset="0"/>
                                      <a:ea typeface="Cambria Math" panose="02040503050406030204" pitchFamily="18" charset="0"/>
                                      <a:cs typeface="微软雅黑" panose="020B0503020204020204" pitchFamily="34" charset="-122"/>
                                    </a:rPr>
                                  </m:ctrlPr>
                                </m:fPr>
                                <m:num>
                                  <m:rad>
                                    <m:radPr>
                                      <m:degHide m:val="on"/>
                                      <m:ctrlPr>
                                        <a:rPr lang="zh-CN" altLang="zh-CN" sz="1200" i="1">
                                          <a:latin typeface="Cambria Math" panose="02040503050406030204" pitchFamily="18" charset="0"/>
                                          <a:ea typeface="Cambria Math" panose="02040503050406030204" pitchFamily="18" charset="0"/>
                                          <a:cs typeface="微软雅黑" panose="020B0503020204020204" pitchFamily="34" charset="-122"/>
                                        </a:rPr>
                                      </m:ctrlPr>
                                    </m:radPr>
                                    <m:deg/>
                                    <m:e>
                                      <m:r>
                                        <a:rPr lang="en-US" altLang="zh-CN" sz="1200" i="1">
                                          <a:latin typeface="Cambria Math" panose="02040503050406030204" pitchFamily="18" charset="0"/>
                                          <a:ea typeface="微软雅黑" panose="020B0503020204020204" pitchFamily="34" charset="-122"/>
                                          <a:cs typeface="微软雅黑" panose="020B0503020204020204" pitchFamily="34" charset="-122"/>
                                        </a:rPr>
                                        <m:t>3</m:t>
                                      </m:r>
                                    </m:e>
                                  </m:rad>
                                </m:num>
                                <m:den>
                                  <m:r>
                                    <a:rPr lang="en-US" altLang="zh-CN" sz="1200" i="1">
                                      <a:latin typeface="Cambria Math" panose="02040503050406030204" pitchFamily="18" charset="0"/>
                                      <a:ea typeface="微软雅黑" panose="020B0503020204020204" pitchFamily="34" charset="-122"/>
                                      <a:cs typeface="微软雅黑" panose="020B0503020204020204" pitchFamily="34" charset="-122"/>
                                    </a:rPr>
                                    <m:t>2</m:t>
                                  </m:r>
                                </m:den>
                              </m:f>
                              <m:r>
                                <a:rPr lang="en-US" altLang="zh-CN" sz="1200" i="1">
                                  <a:latin typeface="Cambria Math" panose="02040503050406030204" pitchFamily="18" charset="0"/>
                                  <a:cs typeface="宋体" panose="02010600030101010101" pitchFamily="2" charset="-122"/>
                                </a:rPr>
                                <m:t>𝐿𝑐𝑜𝑠</m:t>
                              </m:r>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𝜃</m:t>
                                  </m:r>
                                </m:e>
                                <m:sub>
                                  <m:r>
                                    <a:rPr lang="en-US" altLang="zh-CN" sz="1200" i="1">
                                      <a:latin typeface="Cambria Math" panose="02040503050406030204" pitchFamily="18" charset="0"/>
                                      <a:cs typeface="宋体" panose="02010600030101010101" pitchFamily="2" charset="-122"/>
                                    </a:rPr>
                                    <m:t>3</m:t>
                                  </m:r>
                                </m:sub>
                              </m:sSub>
                            </m:e>
                          </m:mr>
                          <m:mr>
                            <m:e>
                              <m:f>
                                <m:fPr>
                                  <m:ctrlPr>
                                    <a:rPr lang="zh-CN" altLang="zh-CN" sz="1200" i="1">
                                      <a:latin typeface="Cambria Math" panose="02040503050406030204" pitchFamily="18" charset="0"/>
                                      <a:ea typeface="Cambria Math" panose="02040503050406030204" pitchFamily="18" charset="0"/>
                                      <a:cs typeface="微软雅黑" panose="020B0503020204020204" pitchFamily="34" charset="-122"/>
                                    </a:rPr>
                                  </m:ctrlPr>
                                </m:fPr>
                                <m:num>
                                  <m:r>
                                    <a:rPr lang="en-US" altLang="zh-CN" sz="1200" i="1">
                                      <a:latin typeface="Cambria Math" panose="02040503050406030204" pitchFamily="18" charset="0"/>
                                      <a:ea typeface="微软雅黑" panose="020B0503020204020204" pitchFamily="34" charset="-122"/>
                                      <a:cs typeface="微软雅黑" panose="020B0503020204020204" pitchFamily="34" charset="-122"/>
                                    </a:rPr>
                                    <m:t>1</m:t>
                                  </m:r>
                                </m:num>
                                <m:den>
                                  <m:r>
                                    <a:rPr lang="en-US" altLang="zh-CN" sz="1200" i="1">
                                      <a:latin typeface="Cambria Math" panose="02040503050406030204" pitchFamily="18" charset="0"/>
                                      <a:ea typeface="微软雅黑" panose="020B0503020204020204" pitchFamily="34" charset="-122"/>
                                      <a:cs typeface="微软雅黑" panose="020B0503020204020204" pitchFamily="34" charset="-122"/>
                                    </a:rPr>
                                    <m:t>2</m:t>
                                  </m:r>
                                </m:den>
                              </m:f>
                              <m:r>
                                <a:rPr lang="en-US" altLang="zh-CN" sz="1200" i="1">
                                  <a:latin typeface="Cambria Math" panose="02040503050406030204" pitchFamily="18" charset="0"/>
                                  <a:cs typeface="宋体" panose="02010600030101010101" pitchFamily="2" charset="-122"/>
                                </a:rPr>
                                <m:t>𝐿𝑐𝑜𝑠</m:t>
                              </m:r>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𝜃</m:t>
                                  </m:r>
                                </m:e>
                                <m:sub>
                                  <m:r>
                                    <a:rPr lang="en-US" altLang="zh-CN" sz="1200" i="1">
                                      <a:latin typeface="Cambria Math" panose="02040503050406030204" pitchFamily="18" charset="0"/>
                                      <a:cs typeface="宋体" panose="02010600030101010101" pitchFamily="2" charset="-122"/>
                                    </a:rPr>
                                    <m:t>3</m:t>
                                  </m:r>
                                </m:sub>
                              </m:sSub>
                            </m:e>
                          </m:mr>
                          <m:mr>
                            <m:e>
                              <m:r>
                                <a:rPr lang="zh-CN" altLang="en-US" sz="1200" i="1">
                                  <a:latin typeface="Cambria Math" panose="02040503050406030204" pitchFamily="18" charset="0"/>
                                  <a:ea typeface="微软雅黑" panose="020B0503020204020204" pitchFamily="34" charset="-122"/>
                                  <a:cs typeface="微软雅黑" panose="020B0503020204020204" pitchFamily="34" charset="-122"/>
                                </a:rPr>
                                <m:t>−</m:t>
                              </m:r>
                              <m:r>
                                <a:rPr lang="en-US" altLang="zh-CN" sz="1200" i="1">
                                  <a:latin typeface="Cambria Math" panose="02040503050406030204" pitchFamily="18" charset="0"/>
                                  <a:cs typeface="宋体" panose="02010600030101010101" pitchFamily="2" charset="-122"/>
                                </a:rPr>
                                <m:t>𝐿𝑠𝑖𝑛</m:t>
                              </m:r>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𝜃</m:t>
                                  </m:r>
                                </m:e>
                                <m:sub>
                                  <m:r>
                                    <a:rPr lang="en-US" altLang="zh-CN" sz="1200" i="1">
                                      <a:latin typeface="Cambria Math" panose="02040503050406030204" pitchFamily="18" charset="0"/>
                                      <a:cs typeface="宋体" panose="02010600030101010101" pitchFamily="2" charset="-122"/>
                                    </a:rPr>
                                    <m:t>3</m:t>
                                  </m:r>
                                </m:sub>
                              </m:sSub>
                            </m:e>
                          </m:mr>
                        </m:m>
                      </m:e>
                    </m:d>
                  </m:oMath>
                </a14:m>
                <a:endParaRPr lang="zh-CN" altLang="zh-CN" sz="1200" dirty="0">
                  <a:latin typeface="宋体" panose="02010600030101010101" pitchFamily="2" charset="-122"/>
                  <a:cs typeface="宋体" panose="02010600030101010101" pitchFamily="2" charset="-122"/>
                </a:endParaRPr>
              </a:p>
            </p:txBody>
          </p:sp>
        </mc:Choice>
        <mc:Fallback xmlns="">
          <p:sp>
            <p:nvSpPr>
              <p:cNvPr id="15" name="矩形 14"/>
              <p:cNvSpPr>
                <a:spLocks noRot="1" noChangeAspect="1" noMove="1" noResize="1" noEditPoints="1" noAdjustHandles="1" noChangeArrowheads="1" noChangeShapeType="1" noTextEdit="1"/>
              </p:cNvSpPr>
              <p:nvPr/>
            </p:nvSpPr>
            <p:spPr>
              <a:xfrm>
                <a:off x="1809303" y="2798135"/>
                <a:ext cx="5703389" cy="86030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1983378" y="3684717"/>
                <a:ext cx="5598368" cy="860300"/>
              </a:xfrm>
              <a:prstGeom prst="rect">
                <a:avLst/>
              </a:prstGeom>
            </p:spPr>
            <p:txBody>
              <a:bodyPr wrap="square">
                <a:spAutoFit/>
              </a:bodyPr>
              <a:lstStyle/>
              <a:p>
                <a14:m>
                  <m:oMath xmlns:m="http://schemas.openxmlformats.org/officeDocument/2006/math">
                    <m:d>
                      <m:dPr>
                        <m:begChr m:val="{"/>
                        <m:endChr m:val="}"/>
                        <m:ctrlPr>
                          <a:rPr lang="zh-CN" altLang="zh-CN" sz="1200" i="1">
                            <a:latin typeface="Cambria Math" panose="02040503050406030204" pitchFamily="18" charset="0"/>
                            <a:ea typeface="Cambria Math" panose="02040503050406030204" pitchFamily="18" charset="0"/>
                          </a:rPr>
                        </m:ctrlPr>
                      </m:dPr>
                      <m:e>
                        <m:sPre>
                          <m:sPrePr>
                            <m:ctrlPr>
                              <a:rPr lang="zh-CN" altLang="zh-CN" sz="1200" i="1">
                                <a:effectLst/>
                                <a:latin typeface="Cambria Math" panose="02040503050406030204" pitchFamily="18" charset="0"/>
                                <a:ea typeface="Cambria Math" panose="02040503050406030204" pitchFamily="18" charset="0"/>
                              </a:rPr>
                            </m:ctrlPr>
                          </m:sPrePr>
                          <m:sub/>
                          <m:sup>
                            <m:r>
                              <a:rPr lang="en-US" altLang="zh-CN" sz="1200" i="1">
                                <a:latin typeface="Cambria Math" panose="02040503050406030204" pitchFamily="18" charset="0"/>
                                <a:ea typeface="等线" panose="02010600030101010101" pitchFamily="2" charset="-122"/>
                                <a:cs typeface="Times New Roman" panose="02020603050405020304" pitchFamily="18" charset="0"/>
                              </a:rPr>
                              <m:t>𝐵</m:t>
                            </m:r>
                          </m:sup>
                          <m:e>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𝑙</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sub>
                            </m:sSub>
                          </m:e>
                        </m:sPre>
                      </m:e>
                    </m:d>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d>
                      <m:dPr>
                        <m:begChr m:val="{"/>
                        <m:endChr m:val="}"/>
                        <m:ctrlPr>
                          <a:rPr lang="zh-CN" altLang="zh-CN" sz="1200" i="1">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sz="1200" i="1">
                                <a:effectLst/>
                                <a:latin typeface="Cambria Math" panose="02040503050406030204" pitchFamily="18" charset="0"/>
                                <a:ea typeface="Cambria Math" panose="02040503050406030204" pitchFamily="18" charset="0"/>
                              </a:rPr>
                            </m:ctrlPr>
                          </m:mPr>
                          <m:m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𝑥</m:t>
                              </m:r>
                            </m:e>
                          </m:mr>
                          <m:m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𝑦</m:t>
                              </m:r>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𝐿𝑐𝑜𝑠</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𝑎</m:t>
                              </m:r>
                            </m:e>
                          </m:mr>
                          <m:m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𝑧</m:t>
                              </m:r>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𝐿𝑠𝑖𝑛</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1</m:t>
                                  </m:r>
                                </m:sub>
                              </m:sSub>
                            </m:e>
                          </m:mr>
                        </m:m>
                      </m:e>
                    </m:d>
                  </m:oMath>
                </a14:m>
                <a:r>
                  <a:rPr lang="en-US" altLang="zh-CN" sz="1200" dirty="0">
                    <a:latin typeface="等线" panose="02010600030101010101" pitchFamily="2" charset="-122"/>
                    <a:cs typeface="Times New Roman" panose="02020603050405020304" pitchFamily="18" charset="0"/>
                  </a:rPr>
                  <a:t>  </a:t>
                </a:r>
                <a14:m>
                  <m:oMath xmlns:m="http://schemas.openxmlformats.org/officeDocument/2006/math">
                    <m:d>
                      <m:dPr>
                        <m:begChr m:val="{"/>
                        <m:endChr m:val="}"/>
                        <m:ctrlPr>
                          <a:rPr lang="zh-CN" altLang="zh-CN" sz="1200" i="1">
                            <a:effectLst/>
                            <a:latin typeface="Cambria Math" panose="02040503050406030204" pitchFamily="18" charset="0"/>
                            <a:ea typeface="Cambria Math" panose="02040503050406030204" pitchFamily="18" charset="0"/>
                          </a:rPr>
                        </m:ctrlPr>
                      </m:dPr>
                      <m:e>
                        <m:sPre>
                          <m:sPrePr>
                            <m:ctrlPr>
                              <a:rPr lang="zh-CN" altLang="zh-CN" sz="1200" i="1">
                                <a:effectLst/>
                                <a:latin typeface="Cambria Math" panose="02040503050406030204" pitchFamily="18" charset="0"/>
                                <a:ea typeface="Cambria Math" panose="02040503050406030204" pitchFamily="18" charset="0"/>
                              </a:rPr>
                            </m:ctrlPr>
                          </m:sPrePr>
                          <m:sub/>
                          <m:sup>
                            <m:r>
                              <a:rPr lang="en-US" altLang="zh-CN" sz="1200" i="1">
                                <a:latin typeface="Cambria Math" panose="02040503050406030204" pitchFamily="18" charset="0"/>
                                <a:ea typeface="等线" panose="02010600030101010101" pitchFamily="2" charset="-122"/>
                                <a:cs typeface="Times New Roman" panose="02020603050405020304" pitchFamily="18" charset="0"/>
                              </a:rPr>
                              <m:t>𝐵</m:t>
                            </m:r>
                          </m:sup>
                          <m:e>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𝑙</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b>
                            </m:sSub>
                          </m:e>
                        </m:sPre>
                      </m:e>
                    </m:d>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d>
                      <m:dPr>
                        <m:begChr m:val="{"/>
                        <m:endChr m:val="}"/>
                        <m:ctrlPr>
                          <a:rPr lang="zh-CN" altLang="zh-CN" sz="1200" i="1">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sz="1200" i="1">
                                <a:effectLst/>
                                <a:latin typeface="Cambria Math" panose="02040503050406030204" pitchFamily="18" charset="0"/>
                                <a:ea typeface="Cambria Math" panose="02040503050406030204" pitchFamily="18" charset="0"/>
                              </a:rPr>
                            </m:ctrlPr>
                          </m:mPr>
                          <m:m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𝑥</m:t>
                              </m:r>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200" i="1">
                                      <a:effectLst/>
                                      <a:latin typeface="Cambria Math" panose="02040503050406030204" pitchFamily="18" charset="0"/>
                                      <a:ea typeface="Cambria Math" panose="02040503050406030204" pitchFamily="18" charset="0"/>
                                      <a:cs typeface="微软雅黑" panose="020B0503020204020204" pitchFamily="34" charset="-122"/>
                                    </a:rPr>
                                  </m:ctrlPr>
                                </m:fPr>
                                <m:num>
                                  <m:rad>
                                    <m:radPr>
                                      <m:degHide m:val="on"/>
                                      <m:ctrlPr>
                                        <a:rPr lang="zh-CN" altLang="zh-CN" sz="1200" i="1">
                                          <a:effectLst/>
                                          <a:latin typeface="Cambria Math" panose="02040503050406030204" pitchFamily="18" charset="0"/>
                                          <a:ea typeface="Cambria Math" panose="02040503050406030204" pitchFamily="18" charset="0"/>
                                          <a:cs typeface="微软雅黑" panose="020B0503020204020204" pitchFamily="34" charset="-122"/>
                                        </a:rPr>
                                      </m:ctrlPr>
                                    </m:radPr>
                                    <m:deg/>
                                    <m:e>
                                      <m:r>
                                        <a:rPr lang="en-US" altLang="zh-CN" sz="1200" i="1">
                                          <a:latin typeface="Cambria Math" panose="02040503050406030204" pitchFamily="18" charset="0"/>
                                          <a:ea typeface="微软雅黑" panose="020B0503020204020204" pitchFamily="34" charset="-122"/>
                                          <a:cs typeface="微软雅黑" panose="020B0503020204020204" pitchFamily="34" charset="-122"/>
                                        </a:rPr>
                                        <m:t>3</m:t>
                                      </m:r>
                                    </m:e>
                                  </m:rad>
                                </m:num>
                                <m:den>
                                  <m:r>
                                    <a:rPr lang="en-US" altLang="zh-CN" sz="1200" i="1">
                                      <a:latin typeface="Cambria Math" panose="02040503050406030204" pitchFamily="18" charset="0"/>
                                      <a:ea typeface="微软雅黑" panose="020B0503020204020204" pitchFamily="34" charset="-122"/>
                                      <a:cs typeface="微软雅黑" panose="020B0503020204020204" pitchFamily="34" charset="-122"/>
                                    </a:rPr>
                                    <m:t>2</m:t>
                                  </m:r>
                                </m:den>
                              </m:f>
                              <m:r>
                                <a:rPr lang="en-US" altLang="zh-CN" sz="1200" i="1">
                                  <a:latin typeface="Cambria Math" panose="02040503050406030204" pitchFamily="18" charset="0"/>
                                  <a:ea typeface="等线" panose="02010600030101010101" pitchFamily="2" charset="-122"/>
                                  <a:cs typeface="Times New Roman" panose="02020603050405020304" pitchFamily="18" charset="0"/>
                                </a:rPr>
                                <m:t>𝐿𝑐𝑜𝑠</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𝑏</m:t>
                              </m:r>
                            </m:e>
                          </m:mr>
                          <m:m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𝑦</m:t>
                              </m:r>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200" i="1">
                                      <a:effectLst/>
                                      <a:latin typeface="Cambria Math" panose="02040503050406030204" pitchFamily="18" charset="0"/>
                                      <a:ea typeface="Cambria Math" panose="02040503050406030204" pitchFamily="18" charset="0"/>
                                      <a:cs typeface="微软雅黑" panose="020B0503020204020204" pitchFamily="34" charset="-122"/>
                                    </a:rPr>
                                  </m:ctrlPr>
                                </m:fPr>
                                <m:num>
                                  <m:r>
                                    <a:rPr lang="en-US" altLang="zh-CN" sz="1200" i="1">
                                      <a:latin typeface="Cambria Math" panose="02040503050406030204" pitchFamily="18" charset="0"/>
                                      <a:ea typeface="微软雅黑" panose="020B0503020204020204" pitchFamily="34" charset="-122"/>
                                      <a:cs typeface="微软雅黑" panose="020B0503020204020204" pitchFamily="34" charset="-122"/>
                                    </a:rPr>
                                    <m:t>1</m:t>
                                  </m:r>
                                </m:num>
                                <m:den>
                                  <m:r>
                                    <a:rPr lang="en-US" altLang="zh-CN" sz="1200" i="1">
                                      <a:latin typeface="Cambria Math" panose="02040503050406030204" pitchFamily="18" charset="0"/>
                                      <a:ea typeface="微软雅黑" panose="020B0503020204020204" pitchFamily="34" charset="-122"/>
                                      <a:cs typeface="微软雅黑" panose="020B0503020204020204" pitchFamily="34" charset="-122"/>
                                    </a:rPr>
                                    <m:t>2</m:t>
                                  </m:r>
                                </m:den>
                              </m:f>
                              <m:r>
                                <a:rPr lang="en-US" altLang="zh-CN" sz="1200" i="1">
                                  <a:latin typeface="Cambria Math" panose="02040503050406030204" pitchFamily="18" charset="0"/>
                                  <a:ea typeface="等线" panose="02010600030101010101" pitchFamily="2" charset="-122"/>
                                  <a:cs typeface="Times New Roman" panose="02020603050405020304" pitchFamily="18" charset="0"/>
                                </a:rPr>
                                <m:t>𝐿𝑐𝑜𝑠</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𝑐</m:t>
                              </m:r>
                            </m:e>
                          </m:mr>
                          <m:m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𝑧</m:t>
                              </m:r>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𝐿𝑠𝑖𝑛</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b>
                              </m:sSub>
                            </m:e>
                          </m:mr>
                        </m:m>
                      </m:e>
                    </m:d>
                  </m:oMath>
                </a14:m>
                <a:r>
                  <a:rPr lang="en-US" altLang="zh-CN" sz="1200" dirty="0">
                    <a:latin typeface="等线" panose="02010600030101010101" pitchFamily="2" charset="-122"/>
                    <a:cs typeface="Times New Roman" panose="02020603050405020304" pitchFamily="18" charset="0"/>
                  </a:rPr>
                  <a:t>  </a:t>
                </a:r>
                <a14:m>
                  <m:oMath xmlns:m="http://schemas.openxmlformats.org/officeDocument/2006/math">
                    <m:d>
                      <m:dPr>
                        <m:begChr m:val="{"/>
                        <m:endChr m:val="}"/>
                        <m:ctrlPr>
                          <a:rPr lang="zh-CN" altLang="zh-CN" sz="1000" i="1">
                            <a:effectLst/>
                            <a:latin typeface="Cambria Math" panose="02040503050406030204" pitchFamily="18" charset="0"/>
                            <a:ea typeface="Cambria Math" panose="02040503050406030204" pitchFamily="18" charset="0"/>
                          </a:rPr>
                        </m:ctrlPr>
                      </m:dPr>
                      <m:e>
                        <m:sPre>
                          <m:sPrePr>
                            <m:ctrlPr>
                              <a:rPr lang="zh-CN" altLang="zh-CN" sz="1000" i="1">
                                <a:effectLst/>
                                <a:latin typeface="Cambria Math" panose="02040503050406030204" pitchFamily="18" charset="0"/>
                                <a:ea typeface="Cambria Math" panose="02040503050406030204" pitchFamily="18" charset="0"/>
                              </a:rPr>
                            </m:ctrlPr>
                          </m:sPrePr>
                          <m:sub/>
                          <m:sup>
                            <m:r>
                              <a:rPr lang="en-US" altLang="zh-CN" sz="1000" i="1">
                                <a:latin typeface="Cambria Math" panose="02040503050406030204" pitchFamily="18" charset="0"/>
                                <a:ea typeface="等线" panose="02010600030101010101" pitchFamily="2" charset="-122"/>
                                <a:cs typeface="Times New Roman" panose="02020603050405020304" pitchFamily="18" charset="0"/>
                              </a:rPr>
                              <m:t>𝐵</m:t>
                            </m:r>
                          </m:sup>
                          <m:e>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𝑙</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3</m:t>
                                </m:r>
                              </m:sub>
                            </m:sSub>
                          </m:e>
                        </m:sPre>
                      </m:e>
                    </m:d>
                    <m:r>
                      <a:rPr lang="en-US" altLang="zh-CN" sz="1000" i="1">
                        <a:latin typeface="Cambria Math" panose="02040503050406030204" pitchFamily="18" charset="0"/>
                        <a:ea typeface="等线" panose="02010600030101010101" pitchFamily="2" charset="-122"/>
                        <a:cs typeface="Times New Roman" panose="02020603050405020304" pitchFamily="18" charset="0"/>
                      </a:rPr>
                      <m:t>=</m:t>
                    </m:r>
                    <m:d>
                      <m:dPr>
                        <m:begChr m:val="{"/>
                        <m:endChr m:val="}"/>
                        <m:ctrlPr>
                          <a:rPr lang="zh-CN" altLang="zh-CN" sz="1000" i="1">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sz="1000" i="1">
                                <a:effectLst/>
                                <a:latin typeface="Cambria Math" panose="02040503050406030204" pitchFamily="18" charset="0"/>
                                <a:ea typeface="Cambria Math" panose="02040503050406030204" pitchFamily="18" charset="0"/>
                              </a:rPr>
                            </m:ctrlPr>
                          </m:mPr>
                          <m:mr>
                            <m:e>
                              <m:r>
                                <a:rPr lang="en-US" altLang="zh-CN" sz="1000" i="1">
                                  <a:latin typeface="Cambria Math" panose="02040503050406030204" pitchFamily="18" charset="0"/>
                                  <a:ea typeface="等线" panose="02010600030101010101" pitchFamily="2" charset="-122"/>
                                  <a:cs typeface="Times New Roman" panose="02020603050405020304" pitchFamily="18" charset="0"/>
                                </a:rPr>
                                <m:t>𝑥</m:t>
                              </m:r>
                              <m:r>
                                <a:rPr lang="en-US" altLang="zh-CN" sz="1000" i="1">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000" i="1">
                                      <a:effectLst/>
                                      <a:latin typeface="Cambria Math" panose="02040503050406030204" pitchFamily="18" charset="0"/>
                                      <a:ea typeface="Cambria Math" panose="02040503050406030204" pitchFamily="18" charset="0"/>
                                      <a:cs typeface="微软雅黑" panose="020B0503020204020204" pitchFamily="34" charset="-122"/>
                                    </a:rPr>
                                  </m:ctrlPr>
                                </m:fPr>
                                <m:num>
                                  <m:rad>
                                    <m:radPr>
                                      <m:degHide m:val="on"/>
                                      <m:ctrlPr>
                                        <a:rPr lang="zh-CN" altLang="zh-CN" sz="1000" i="1">
                                          <a:effectLst/>
                                          <a:latin typeface="Cambria Math" panose="02040503050406030204" pitchFamily="18" charset="0"/>
                                          <a:ea typeface="Cambria Math" panose="02040503050406030204" pitchFamily="18" charset="0"/>
                                          <a:cs typeface="微软雅黑" panose="020B0503020204020204" pitchFamily="34" charset="-122"/>
                                        </a:rPr>
                                      </m:ctrlPr>
                                    </m:radPr>
                                    <m:deg/>
                                    <m:e>
                                      <m:r>
                                        <a:rPr lang="en-US" altLang="zh-CN" sz="1000" i="1">
                                          <a:latin typeface="Cambria Math" panose="02040503050406030204" pitchFamily="18" charset="0"/>
                                          <a:ea typeface="微软雅黑" panose="020B0503020204020204" pitchFamily="34" charset="-122"/>
                                          <a:cs typeface="微软雅黑" panose="020B0503020204020204" pitchFamily="34" charset="-122"/>
                                        </a:rPr>
                                        <m:t>3</m:t>
                                      </m:r>
                                    </m:e>
                                  </m:rad>
                                </m:num>
                                <m:den>
                                  <m:r>
                                    <a:rPr lang="en-US" altLang="zh-CN" sz="1000" i="1">
                                      <a:latin typeface="Cambria Math" panose="02040503050406030204" pitchFamily="18" charset="0"/>
                                      <a:ea typeface="微软雅黑" panose="020B0503020204020204" pitchFamily="34" charset="-122"/>
                                      <a:cs typeface="微软雅黑" panose="020B0503020204020204" pitchFamily="34" charset="-122"/>
                                    </a:rPr>
                                    <m:t>2</m:t>
                                  </m:r>
                                </m:den>
                              </m:f>
                              <m:r>
                                <a:rPr lang="en-US" altLang="zh-CN" sz="1000" i="1">
                                  <a:latin typeface="Cambria Math" panose="02040503050406030204" pitchFamily="18" charset="0"/>
                                  <a:ea typeface="等线" panose="02010600030101010101" pitchFamily="2" charset="-122"/>
                                  <a:cs typeface="Times New Roman" panose="02020603050405020304" pitchFamily="18" charset="0"/>
                                </a:rPr>
                                <m:t>𝐿𝑐𝑜𝑠</m:t>
                              </m:r>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3</m:t>
                                  </m:r>
                                </m:sub>
                              </m:sSub>
                              <m:r>
                                <a:rPr lang="en-US" altLang="zh-CN" sz="1000" i="1">
                                  <a:latin typeface="Cambria Math" panose="02040503050406030204" pitchFamily="18" charset="0"/>
                                  <a:ea typeface="等线" panose="02010600030101010101" pitchFamily="2" charset="-122"/>
                                  <a:cs typeface="Times New Roman" panose="02020603050405020304" pitchFamily="18" charset="0"/>
                                </a:rPr>
                                <m:t>−</m:t>
                              </m:r>
                              <m:r>
                                <a:rPr lang="en-US" altLang="zh-CN" sz="1000" i="1">
                                  <a:latin typeface="Cambria Math" panose="02040503050406030204" pitchFamily="18" charset="0"/>
                                  <a:ea typeface="等线" panose="02010600030101010101" pitchFamily="2" charset="-122"/>
                                  <a:cs typeface="Times New Roman" panose="02020603050405020304" pitchFamily="18" charset="0"/>
                                </a:rPr>
                                <m:t>𝑏</m:t>
                              </m:r>
                            </m:e>
                          </m:mr>
                          <m:mr>
                            <m:e>
                              <m:r>
                                <a:rPr lang="en-US" altLang="zh-CN" sz="1000" i="1">
                                  <a:latin typeface="Cambria Math" panose="02040503050406030204" pitchFamily="18" charset="0"/>
                                  <a:ea typeface="等线" panose="02010600030101010101" pitchFamily="2" charset="-122"/>
                                  <a:cs typeface="Times New Roman" panose="02020603050405020304" pitchFamily="18" charset="0"/>
                                </a:rPr>
                                <m:t>𝑦</m:t>
                              </m:r>
                              <m:r>
                                <a:rPr lang="en-US" altLang="zh-CN" sz="1000" i="1">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000" i="1">
                                      <a:effectLst/>
                                      <a:latin typeface="Cambria Math" panose="02040503050406030204" pitchFamily="18" charset="0"/>
                                      <a:ea typeface="Cambria Math" panose="02040503050406030204" pitchFamily="18" charset="0"/>
                                      <a:cs typeface="微软雅黑" panose="020B0503020204020204" pitchFamily="34" charset="-122"/>
                                    </a:rPr>
                                  </m:ctrlPr>
                                </m:fPr>
                                <m:num>
                                  <m:r>
                                    <a:rPr lang="en-US" altLang="zh-CN" sz="1000" i="1">
                                      <a:latin typeface="Cambria Math" panose="02040503050406030204" pitchFamily="18" charset="0"/>
                                      <a:ea typeface="微软雅黑" panose="020B0503020204020204" pitchFamily="34" charset="-122"/>
                                      <a:cs typeface="微软雅黑" panose="020B0503020204020204" pitchFamily="34" charset="-122"/>
                                    </a:rPr>
                                    <m:t>1</m:t>
                                  </m:r>
                                </m:num>
                                <m:den>
                                  <m:r>
                                    <a:rPr lang="en-US" altLang="zh-CN" sz="1000" i="1">
                                      <a:latin typeface="Cambria Math" panose="02040503050406030204" pitchFamily="18" charset="0"/>
                                      <a:ea typeface="微软雅黑" panose="020B0503020204020204" pitchFamily="34" charset="-122"/>
                                      <a:cs typeface="微软雅黑" panose="020B0503020204020204" pitchFamily="34" charset="-122"/>
                                    </a:rPr>
                                    <m:t>2</m:t>
                                  </m:r>
                                </m:den>
                              </m:f>
                              <m:r>
                                <a:rPr lang="en-US" altLang="zh-CN" sz="1000" i="1">
                                  <a:latin typeface="Cambria Math" panose="02040503050406030204" pitchFamily="18" charset="0"/>
                                  <a:ea typeface="等线" panose="02010600030101010101" pitchFamily="2" charset="-122"/>
                                  <a:cs typeface="Times New Roman" panose="02020603050405020304" pitchFamily="18" charset="0"/>
                                </a:rPr>
                                <m:t>𝐿𝑐𝑜𝑠</m:t>
                              </m:r>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3</m:t>
                                  </m:r>
                                </m:sub>
                              </m:sSub>
                              <m:r>
                                <a:rPr lang="en-US" altLang="zh-CN" sz="1000" i="1">
                                  <a:latin typeface="Cambria Math" panose="02040503050406030204" pitchFamily="18" charset="0"/>
                                  <a:ea typeface="等线" panose="02010600030101010101" pitchFamily="2" charset="-122"/>
                                  <a:cs typeface="Times New Roman" panose="02020603050405020304" pitchFamily="18" charset="0"/>
                                </a:rPr>
                                <m:t>+</m:t>
                              </m:r>
                              <m:r>
                                <a:rPr lang="en-US" altLang="zh-CN" sz="1000" i="1">
                                  <a:latin typeface="Cambria Math" panose="02040503050406030204" pitchFamily="18" charset="0"/>
                                  <a:ea typeface="等线" panose="02010600030101010101" pitchFamily="2" charset="-122"/>
                                  <a:cs typeface="Times New Roman" panose="02020603050405020304" pitchFamily="18" charset="0"/>
                                </a:rPr>
                                <m:t>𝑐</m:t>
                              </m:r>
                            </m:e>
                          </m:mr>
                          <m:mr>
                            <m:e>
                              <m:r>
                                <a:rPr lang="en-US" altLang="zh-CN" sz="1000" i="1">
                                  <a:latin typeface="Cambria Math" panose="02040503050406030204" pitchFamily="18" charset="0"/>
                                  <a:ea typeface="等线" panose="02010600030101010101" pitchFamily="2" charset="-122"/>
                                  <a:cs typeface="Times New Roman" panose="02020603050405020304" pitchFamily="18" charset="0"/>
                                </a:rPr>
                                <m:t>𝑧</m:t>
                              </m:r>
                              <m:r>
                                <a:rPr lang="en-US" altLang="zh-CN" sz="1000" i="1">
                                  <a:latin typeface="Cambria Math" panose="02040503050406030204" pitchFamily="18" charset="0"/>
                                  <a:ea typeface="等线" panose="02010600030101010101" pitchFamily="2" charset="-122"/>
                                  <a:cs typeface="Times New Roman" panose="02020603050405020304" pitchFamily="18" charset="0"/>
                                </a:rPr>
                                <m:t>+</m:t>
                              </m:r>
                              <m:r>
                                <a:rPr lang="en-US" altLang="zh-CN" sz="1000" i="1">
                                  <a:latin typeface="Cambria Math" panose="02040503050406030204" pitchFamily="18" charset="0"/>
                                  <a:ea typeface="等线" panose="02010600030101010101" pitchFamily="2" charset="-122"/>
                                  <a:cs typeface="Times New Roman" panose="02020603050405020304" pitchFamily="18" charset="0"/>
                                </a:rPr>
                                <m:t>𝐿𝑠𝑖𝑛</m:t>
                              </m:r>
                              <m:sSub>
                                <m:sSubPr>
                                  <m:ctrlPr>
                                    <a:rPr lang="zh-CN" altLang="zh-CN" sz="1000" i="1">
                                      <a:effectLst/>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000" i="1">
                                      <a:latin typeface="Cambria Math" panose="02040503050406030204" pitchFamily="18" charset="0"/>
                                      <a:ea typeface="等线" panose="02010600030101010101" pitchFamily="2" charset="-122"/>
                                      <a:cs typeface="Times New Roman" panose="02020603050405020304" pitchFamily="18" charset="0"/>
                                    </a:rPr>
                                    <m:t>3</m:t>
                                  </m:r>
                                </m:sub>
                              </m:sSub>
                            </m:e>
                          </m:mr>
                        </m:m>
                      </m:e>
                    </m:d>
                  </m:oMath>
                </a14:m>
                <a:endParaRPr lang="zh-CN" altLang="en-US" sz="1000" dirty="0"/>
              </a:p>
            </p:txBody>
          </p:sp>
        </mc:Choice>
        <mc:Fallback xmlns="">
          <p:sp>
            <p:nvSpPr>
              <p:cNvPr id="16" name="矩形 15"/>
              <p:cNvSpPr>
                <a:spLocks noRot="1" noChangeAspect="1" noMove="1" noResize="1" noEditPoints="1" noAdjustHandles="1" noChangeArrowheads="1" noChangeShapeType="1" noTextEdit="1"/>
              </p:cNvSpPr>
              <p:nvPr/>
            </p:nvSpPr>
            <p:spPr>
              <a:xfrm>
                <a:off x="1983378" y="3684717"/>
                <a:ext cx="5598368" cy="86030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2557418" y="4539816"/>
                <a:ext cx="4233872" cy="556499"/>
              </a:xfrm>
              <a:prstGeom prst="rect">
                <a:avLst/>
              </a:prstGeom>
            </p:spPr>
            <p:txBody>
              <a:bodyPr wrap="square">
                <a:spAutoFit/>
              </a:bodyPr>
              <a:lstStyle/>
              <a:p>
                <a:pPr indent="266700">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200" i="1" smtClean="0">
                          <a:latin typeface="Cambria Math" panose="02040503050406030204" pitchFamily="18" charset="0"/>
                          <a:cs typeface="宋体" panose="02010600030101010101" pitchFamily="2" charset="-122"/>
                        </a:rPr>
                        <m:t>𝑎</m:t>
                      </m:r>
                      <m:r>
                        <a:rPr lang="en-US" altLang="zh-CN" sz="1200" i="1" smtClean="0">
                          <a:latin typeface="Cambria Math" panose="02040503050406030204" pitchFamily="18" charset="0"/>
                          <a:cs typeface="宋体" panose="02010600030101010101" pitchFamily="2" charset="-122"/>
                        </a:rPr>
                        <m:t>=</m:t>
                      </m:r>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𝑤</m:t>
                          </m:r>
                        </m:e>
                        <m:sub>
                          <m:r>
                            <a:rPr lang="en-US" altLang="zh-CN" sz="1200" i="1">
                              <a:latin typeface="Cambria Math" panose="02040503050406030204" pitchFamily="18" charset="0"/>
                              <a:cs typeface="宋体" panose="02010600030101010101" pitchFamily="2" charset="-122"/>
                            </a:rPr>
                            <m:t>𝐵</m:t>
                          </m:r>
                        </m:sub>
                      </m:sSub>
                      <m:r>
                        <a:rPr lang="zh-CN" altLang="en-US" sz="1200" i="1">
                          <a:latin typeface="Cambria Math" panose="02040503050406030204" pitchFamily="18" charset="0"/>
                          <a:ea typeface="微软雅黑" panose="020B0503020204020204" pitchFamily="34" charset="-122"/>
                          <a:cs typeface="微软雅黑" panose="020B0503020204020204" pitchFamily="34" charset="-122"/>
                        </a:rPr>
                        <m:t>−</m:t>
                      </m:r>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𝑢</m:t>
                          </m:r>
                        </m:e>
                        <m:sub>
                          <m:r>
                            <a:rPr lang="en-US" altLang="zh-CN" sz="1200" i="1">
                              <a:latin typeface="Cambria Math" panose="02040503050406030204" pitchFamily="18" charset="0"/>
                              <a:cs typeface="宋体" panose="02010600030101010101" pitchFamily="2" charset="-122"/>
                            </a:rPr>
                            <m:t>𝑃</m:t>
                          </m:r>
                        </m:sub>
                      </m:sSub>
                      <m:r>
                        <a:rPr lang="en-US" altLang="zh-CN" sz="1200" b="0" i="0" smtClean="0">
                          <a:latin typeface="Cambria Math" panose="02040503050406030204" pitchFamily="18" charset="0"/>
                          <a:cs typeface="宋体" panose="02010600030101010101" pitchFamily="2" charset="-122"/>
                        </a:rPr>
                        <m:t>  </m:t>
                      </m:r>
                      <m:r>
                        <a:rPr lang="en-US" altLang="zh-CN" sz="1200" b="0" i="1" smtClean="0">
                          <a:latin typeface="Cambria Math" panose="02040503050406030204" pitchFamily="18" charset="0"/>
                          <a:cs typeface="宋体" panose="02010600030101010101" pitchFamily="2" charset="-122"/>
                        </a:rPr>
                        <m:t>           </m:t>
                      </m:r>
                      <m:r>
                        <a:rPr lang="en-US" altLang="zh-CN" sz="1200" i="1">
                          <a:latin typeface="Cambria Math" panose="02040503050406030204" pitchFamily="18" charset="0"/>
                          <a:cs typeface="宋体" panose="02010600030101010101" pitchFamily="2" charset="-122"/>
                        </a:rPr>
                        <m:t>𝑏</m:t>
                      </m:r>
                      <m:r>
                        <a:rPr lang="en-US" altLang="zh-CN" sz="1200" i="1">
                          <a:latin typeface="Cambria Math" panose="02040503050406030204" pitchFamily="18" charset="0"/>
                          <a:cs typeface="宋体" panose="02010600030101010101" pitchFamily="2" charset="-122"/>
                        </a:rPr>
                        <m:t>=</m:t>
                      </m:r>
                      <m:f>
                        <m:f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fPr>
                        <m:num>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𝑆</m:t>
                              </m:r>
                            </m:e>
                            <m:sub>
                              <m:r>
                                <a:rPr lang="en-US" altLang="zh-CN" sz="1200" i="1">
                                  <a:latin typeface="Cambria Math" panose="02040503050406030204" pitchFamily="18" charset="0"/>
                                  <a:cs typeface="宋体" panose="02010600030101010101" pitchFamily="2" charset="-122"/>
                                </a:rPr>
                                <m:t>𝑃</m:t>
                              </m:r>
                            </m:sub>
                          </m:sSub>
                        </m:num>
                        <m:den>
                          <m:r>
                            <a:rPr lang="en-US" altLang="zh-CN" sz="1200" i="1">
                              <a:latin typeface="Cambria Math" panose="02040503050406030204" pitchFamily="18" charset="0"/>
                              <a:cs typeface="宋体" panose="02010600030101010101" pitchFamily="2" charset="-122"/>
                            </a:rPr>
                            <m:t>2</m:t>
                          </m:r>
                        </m:den>
                      </m:f>
                      <m:r>
                        <a:rPr lang="en-US" altLang="zh-CN" sz="1200" i="1">
                          <a:latin typeface="Cambria Math" panose="02040503050406030204" pitchFamily="18" charset="0"/>
                          <a:cs typeface="宋体" panose="02010600030101010101" pitchFamily="2" charset="-122"/>
                        </a:rPr>
                        <m:t>−</m:t>
                      </m:r>
                      <m:f>
                        <m:f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fPr>
                        <m:num>
                          <m:rad>
                            <m:radPr>
                              <m:degHide m:val="on"/>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radPr>
                            <m:deg/>
                            <m:e>
                              <m:r>
                                <a:rPr lang="en-US" altLang="zh-CN" sz="1200" i="1">
                                  <a:latin typeface="Cambria Math" panose="02040503050406030204" pitchFamily="18" charset="0"/>
                                  <a:cs typeface="宋体" panose="02010600030101010101" pitchFamily="2" charset="-122"/>
                                </a:rPr>
                                <m:t>3</m:t>
                              </m:r>
                            </m:e>
                          </m:rad>
                        </m:num>
                        <m:den>
                          <m:r>
                            <a:rPr lang="en-US" altLang="zh-CN" sz="1200" i="1">
                              <a:latin typeface="Cambria Math" panose="02040503050406030204" pitchFamily="18" charset="0"/>
                              <a:cs typeface="宋体" panose="02010600030101010101" pitchFamily="2" charset="-122"/>
                            </a:rPr>
                            <m:t>2</m:t>
                          </m:r>
                        </m:den>
                      </m:f>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𝑤</m:t>
                          </m:r>
                        </m:e>
                        <m:sub>
                          <m:r>
                            <a:rPr lang="en-US" altLang="zh-CN" sz="1200" i="1">
                              <a:latin typeface="Cambria Math" panose="02040503050406030204" pitchFamily="18" charset="0"/>
                              <a:cs typeface="宋体" panose="02010600030101010101" pitchFamily="2" charset="-122"/>
                            </a:rPr>
                            <m:t>𝐵</m:t>
                          </m:r>
                        </m:sub>
                      </m:sSub>
                      <m:r>
                        <a:rPr lang="en-US" altLang="zh-CN" sz="1200" b="0" i="0" smtClean="0">
                          <a:latin typeface="Cambria Math" panose="02040503050406030204" pitchFamily="18" charset="0"/>
                          <a:cs typeface="宋体" panose="02010600030101010101" pitchFamily="2" charset="-122"/>
                        </a:rPr>
                        <m:t>              </m:t>
                      </m:r>
                      <m:r>
                        <a:rPr lang="en-US" altLang="zh-CN" sz="1200" i="1">
                          <a:effectLst/>
                          <a:latin typeface="Cambria Math" panose="02040503050406030204" pitchFamily="18" charset="0"/>
                          <a:ea typeface="等线" panose="02010600030101010101" pitchFamily="2" charset="-122"/>
                          <a:cs typeface="Times New Roman" panose="02020603050405020304" pitchFamily="18" charset="0"/>
                        </a:rPr>
                        <m:t>𝑐</m:t>
                      </m:r>
                      <m:r>
                        <a:rPr lang="en-US" altLang="zh-CN" sz="1200" i="1">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effectLst/>
                              <a:latin typeface="Cambria Math" panose="02040503050406030204" pitchFamily="18" charset="0"/>
                              <a:ea typeface="等线" panose="02010600030101010101" pitchFamily="2" charset="-122"/>
                              <a:cs typeface="Times New Roman" panose="02020603050405020304" pitchFamily="18" charset="0"/>
                            </a:rPr>
                            <m:t>𝑤</m:t>
                          </m:r>
                        </m:e>
                        <m:sub>
                          <m:r>
                            <a:rPr lang="en-US" altLang="zh-CN" sz="1200" i="1">
                              <a:effectLst/>
                              <a:latin typeface="Cambria Math" panose="02040503050406030204" pitchFamily="18" charset="0"/>
                              <a:ea typeface="等线" panose="02010600030101010101" pitchFamily="2" charset="-122"/>
                              <a:cs typeface="Times New Roman" panose="02020603050405020304" pitchFamily="18" charset="0"/>
                            </a:rPr>
                            <m:t>𝑃</m:t>
                          </m:r>
                        </m:sub>
                      </m:sSub>
                      <m:r>
                        <a:rPr lang="en-US" altLang="zh-CN" sz="1200" i="1">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1200" i="1">
                              <a:effectLst/>
                              <a:latin typeface="Cambria Math" panose="02040503050406030204" pitchFamily="18" charset="0"/>
                              <a:ea typeface="Cambria Math" panose="02040503050406030204" pitchFamily="18" charset="0"/>
                            </a:rPr>
                          </m:ctrlPr>
                        </m:fPr>
                        <m:num>
                          <m:r>
                            <a:rPr lang="en-US" altLang="zh-CN" sz="1200" i="1">
                              <a:effectLst/>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sz="1200" i="1">
                              <a:effectLst/>
                              <a:latin typeface="Cambria Math" panose="02040503050406030204" pitchFamily="18" charset="0"/>
                              <a:ea typeface="等线" panose="02010600030101010101" pitchFamily="2" charset="-122"/>
                              <a:cs typeface="Times New Roman" panose="02020603050405020304" pitchFamily="18" charset="0"/>
                            </a:rPr>
                            <m:t>2</m:t>
                          </m:r>
                        </m:den>
                      </m:f>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effectLst/>
                              <a:latin typeface="Cambria Math" panose="02040503050406030204" pitchFamily="18" charset="0"/>
                              <a:ea typeface="等线" panose="02010600030101010101" pitchFamily="2" charset="-122"/>
                              <a:cs typeface="Times New Roman" panose="02020603050405020304" pitchFamily="18" charset="0"/>
                            </a:rPr>
                            <m:t>𝑤</m:t>
                          </m:r>
                        </m:e>
                        <m:sub>
                          <m:r>
                            <a:rPr lang="en-US" altLang="zh-CN" sz="1200" i="1">
                              <a:effectLst/>
                              <a:latin typeface="Cambria Math" panose="02040503050406030204" pitchFamily="18" charset="0"/>
                              <a:ea typeface="等线" panose="02010600030101010101" pitchFamily="2" charset="-122"/>
                              <a:cs typeface="Times New Roman" panose="02020603050405020304" pitchFamily="18" charset="0"/>
                            </a:rPr>
                            <m:t>𝐵</m:t>
                          </m:r>
                        </m:sub>
                      </m:sSub>
                    </m:oMath>
                  </m:oMathPara>
                </a14:m>
                <a:endParaRPr lang="zh-CN" altLang="en-US" sz="1200" dirty="0"/>
              </a:p>
            </p:txBody>
          </p:sp>
        </mc:Choice>
        <mc:Fallback xmlns="">
          <p:sp>
            <p:nvSpPr>
              <p:cNvPr id="17" name="矩形 16"/>
              <p:cNvSpPr>
                <a:spLocks noRot="1" noChangeAspect="1" noMove="1" noResize="1" noEditPoints="1" noAdjustHandles="1" noChangeArrowheads="1" noChangeShapeType="1" noTextEdit="1"/>
              </p:cNvSpPr>
              <p:nvPr/>
            </p:nvSpPr>
            <p:spPr>
              <a:xfrm>
                <a:off x="2557418" y="4539816"/>
                <a:ext cx="4233872" cy="556499"/>
              </a:xfrm>
              <a:prstGeom prst="rect">
                <a:avLst/>
              </a:prstGeom>
              <a:blipFill>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1292409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a:off x="-236220" y="219075"/>
            <a:ext cx="5153660" cy="598805"/>
            <a:chOff x="-372" y="345"/>
            <a:chExt cx="8116" cy="943"/>
          </a:xfrm>
        </p:grpSpPr>
        <p:sp>
          <p:nvSpPr>
            <p:cNvPr id="40" name="矩形 39"/>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Kinematics of Parallel Robots</a:t>
              </a:r>
            </a:p>
          </p:txBody>
        </p:sp>
        <p:sp>
          <p:nvSpPr>
            <p:cNvPr id="41" name="文本框 40"/>
            <p:cNvSpPr txBox="1"/>
            <p:nvPr/>
          </p:nvSpPr>
          <p:spPr>
            <a:xfrm>
              <a:off x="443" y="363"/>
              <a:ext cx="7301"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并联机器人运动学</a:t>
              </a:r>
              <a:endParaRPr lang="en-US" altLang="zh-CN" sz="2000" b="1" dirty="0" smtClean="0">
                <a:latin typeface="Arial" panose="020B0604020202020204" pitchFamily="34" charset="0"/>
                <a:ea typeface="微软雅黑" panose="020B0503020204020204" charset="-122"/>
                <a:sym typeface="+mn-ea"/>
              </a:endParaRPr>
            </a:p>
          </p:txBody>
        </p:sp>
        <p:sp>
          <p:nvSpPr>
            <p:cNvPr id="42" name="椭圆 41"/>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3458437" y="754013"/>
            <a:ext cx="2290627" cy="338554"/>
          </a:xfrm>
          <a:prstGeom prst="rect">
            <a:avLst/>
          </a:prstGeom>
        </p:spPr>
        <p:txBody>
          <a:bodyPr wrap="none">
            <a:spAutoFit/>
          </a:bodyPr>
          <a:lstStyle/>
          <a:p>
            <a:r>
              <a:rPr lang="zh-CN" altLang="en-US" sz="1600" b="1" dirty="0">
                <a:solidFill>
                  <a:srgbClr val="002060"/>
                </a:solidFill>
              </a:rPr>
              <a:t>Delta机器人运动学分析</a:t>
            </a:r>
          </a:p>
        </p:txBody>
      </p:sp>
      <p:sp>
        <p:nvSpPr>
          <p:cNvPr id="18" name="矩形 17"/>
          <p:cNvSpPr/>
          <p:nvPr/>
        </p:nvSpPr>
        <p:spPr>
          <a:xfrm>
            <a:off x="2411760" y="1216025"/>
            <a:ext cx="3907545" cy="338554"/>
          </a:xfrm>
          <a:prstGeom prst="rect">
            <a:avLst/>
          </a:prstGeom>
        </p:spPr>
        <p:txBody>
          <a:bodyPr wrap="none">
            <a:spAutoFit/>
          </a:bodyPr>
          <a:lstStyle/>
          <a:p>
            <a:r>
              <a:rPr lang="zh-CN" altLang="zh-CN" sz="1600" b="1" dirty="0">
                <a:solidFill>
                  <a:srgbClr val="002060"/>
                </a:solidFill>
                <a:ea typeface="等线" panose="02010600030101010101" pitchFamily="2" charset="-122"/>
                <a:cs typeface="Times New Roman" panose="02020603050405020304" pitchFamily="18" charset="0"/>
              </a:rPr>
              <a:t>得到</a:t>
            </a:r>
            <a:r>
              <a:rPr lang="en-US" altLang="zh-CN" sz="1600" b="1" dirty="0">
                <a:solidFill>
                  <a:srgbClr val="002060"/>
                </a:solidFill>
                <a:ea typeface="等线" panose="02010600030101010101" pitchFamily="2" charset="-122"/>
                <a:cs typeface="Times New Roman" panose="02020603050405020304" pitchFamily="18" charset="0"/>
              </a:rPr>
              <a:t>Delta</a:t>
            </a:r>
            <a:r>
              <a:rPr lang="zh-CN" altLang="zh-CN" sz="1600" b="1" dirty="0">
                <a:solidFill>
                  <a:srgbClr val="002060"/>
                </a:solidFill>
                <a:ea typeface="等线" panose="02010600030101010101" pitchFamily="2" charset="-122"/>
                <a:cs typeface="Times New Roman" panose="02020603050405020304" pitchFamily="18" charset="0"/>
              </a:rPr>
              <a:t>机器人的三个运动学约束方程：</a:t>
            </a:r>
            <a:endParaRPr lang="zh-CN" altLang="en-US" sz="1600" b="1" dirty="0">
              <a:solidFill>
                <a:srgbClr val="002060"/>
              </a:solidFill>
            </a:endParaRPr>
          </a:p>
        </p:txBody>
      </p:sp>
      <mc:AlternateContent xmlns:mc="http://schemas.openxmlformats.org/markup-compatibility/2006" xmlns:a14="http://schemas.microsoft.com/office/drawing/2010/main">
        <mc:Choice Requires="a14">
          <p:sp>
            <p:nvSpPr>
              <p:cNvPr id="19" name="矩形 18"/>
              <p:cNvSpPr/>
              <p:nvPr/>
            </p:nvSpPr>
            <p:spPr>
              <a:xfrm>
                <a:off x="1475656" y="1562316"/>
                <a:ext cx="5688632" cy="276999"/>
              </a:xfrm>
              <a:prstGeom prst="rect">
                <a:avLst/>
              </a:prstGeom>
            </p:spPr>
            <p:txBody>
              <a:bodyPr wrap="square">
                <a:spAutoFit/>
              </a:bodyPr>
              <a:lstStyle/>
              <a:p>
                <a:pPr indent="266700">
                  <a:spcBef>
                    <a:spcPts val="600"/>
                  </a:spcBef>
                  <a:spcAft>
                    <a:spcPts val="600"/>
                  </a:spcAft>
                </a:pPr>
                <a14:m>
                  <m:oMath xmlns:m="http://schemas.openxmlformats.org/officeDocument/2006/math">
                    <m:r>
                      <a:rPr lang="en-US" altLang="zh-CN" sz="1200" i="1">
                        <a:latin typeface="Cambria Math" panose="02040503050406030204" pitchFamily="18" charset="0"/>
                        <a:cs typeface="宋体" panose="02010600030101010101" pitchFamily="2" charset="-122"/>
                      </a:rPr>
                      <m:t>2</m:t>
                    </m:r>
                    <m:r>
                      <a:rPr lang="en-US" altLang="zh-CN" sz="1200" i="1">
                        <a:latin typeface="Cambria Math" panose="02040503050406030204" pitchFamily="18" charset="0"/>
                        <a:cs typeface="宋体" panose="02010600030101010101" pitchFamily="2" charset="-122"/>
                      </a:rPr>
                      <m:t>𝐿</m:t>
                    </m:r>
                    <m:d>
                      <m:d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dPr>
                      <m:e>
                        <m:r>
                          <a:rPr lang="en-US" altLang="zh-CN" sz="1200" i="1">
                            <a:latin typeface="Cambria Math" panose="02040503050406030204" pitchFamily="18" charset="0"/>
                            <a:cs typeface="宋体" panose="02010600030101010101" pitchFamily="2" charset="-122"/>
                          </a:rPr>
                          <m:t>𝑦</m:t>
                        </m:r>
                        <m:r>
                          <a:rPr lang="en-US" altLang="zh-CN" sz="1200" i="1">
                            <a:latin typeface="Cambria Math" panose="02040503050406030204" pitchFamily="18" charset="0"/>
                            <a:cs typeface="宋体" panose="02010600030101010101" pitchFamily="2" charset="-122"/>
                          </a:rPr>
                          <m:t>+</m:t>
                        </m:r>
                        <m:r>
                          <a:rPr lang="en-US" altLang="zh-CN" sz="1200" i="1">
                            <a:latin typeface="Cambria Math" panose="02040503050406030204" pitchFamily="18" charset="0"/>
                            <a:cs typeface="宋体" panose="02010600030101010101" pitchFamily="2" charset="-122"/>
                          </a:rPr>
                          <m:t>𝑎</m:t>
                        </m:r>
                      </m:e>
                    </m:d>
                    <m:r>
                      <a:rPr lang="en-US" altLang="zh-CN" sz="1200" i="1">
                        <a:latin typeface="Cambria Math" panose="02040503050406030204" pitchFamily="18" charset="0"/>
                        <a:cs typeface="宋体" panose="02010600030101010101" pitchFamily="2" charset="-122"/>
                      </a:rPr>
                      <m:t>𝑐𝑜𝑠</m:t>
                    </m:r>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𝜃</m:t>
                        </m:r>
                      </m:e>
                      <m:sub>
                        <m:r>
                          <a:rPr lang="en-US" altLang="zh-CN" sz="1200" i="1">
                            <a:latin typeface="Cambria Math" panose="02040503050406030204" pitchFamily="18" charset="0"/>
                            <a:cs typeface="宋体" panose="02010600030101010101" pitchFamily="2" charset="-122"/>
                          </a:rPr>
                          <m:t>1</m:t>
                        </m:r>
                      </m:sub>
                    </m:sSub>
                    <m:r>
                      <a:rPr lang="en-US" altLang="zh-CN" sz="1200" i="1">
                        <a:latin typeface="Cambria Math" panose="02040503050406030204" pitchFamily="18" charset="0"/>
                        <a:cs typeface="宋体" panose="02010600030101010101" pitchFamily="2" charset="-122"/>
                      </a:rPr>
                      <m:t>+2</m:t>
                    </m:r>
                    <m:r>
                      <a:rPr lang="en-US" altLang="zh-CN" sz="1200" i="1">
                        <a:latin typeface="Cambria Math" panose="02040503050406030204" pitchFamily="18" charset="0"/>
                        <a:cs typeface="宋体" panose="02010600030101010101" pitchFamily="2" charset="-122"/>
                      </a:rPr>
                      <m:t>𝑧𝐿𝑠𝑖𝑛</m:t>
                    </m:r>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𝜃</m:t>
                        </m:r>
                      </m:e>
                      <m:sub>
                        <m:r>
                          <a:rPr lang="en-US" altLang="zh-CN" sz="1200" i="1">
                            <a:latin typeface="Cambria Math" panose="02040503050406030204" pitchFamily="18" charset="0"/>
                            <a:cs typeface="宋体" panose="02010600030101010101" pitchFamily="2" charset="-122"/>
                          </a:rPr>
                          <m:t>1</m:t>
                        </m:r>
                      </m:sub>
                    </m:sSub>
                    <m:r>
                      <a:rPr lang="en-US" altLang="zh-CN" sz="1200" i="1">
                        <a:latin typeface="Cambria Math" panose="02040503050406030204" pitchFamily="18" charset="0"/>
                        <a:cs typeface="宋体" panose="02010600030101010101" pitchFamily="2" charset="-122"/>
                      </a:rPr>
                      <m:t>+</m:t>
                    </m:r>
                    <m:sSup>
                      <m:sSup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200" i="1">
                            <a:latin typeface="Cambria Math" panose="02040503050406030204" pitchFamily="18" charset="0"/>
                            <a:cs typeface="宋体" panose="02010600030101010101" pitchFamily="2" charset="-122"/>
                          </a:rPr>
                          <m:t>𝑥</m:t>
                        </m:r>
                      </m:e>
                      <m:sup>
                        <m:r>
                          <a:rPr lang="en-US" altLang="zh-CN" sz="1200" i="1">
                            <a:latin typeface="Cambria Math" panose="02040503050406030204" pitchFamily="18" charset="0"/>
                            <a:cs typeface="宋体" panose="02010600030101010101" pitchFamily="2" charset="-122"/>
                          </a:rPr>
                          <m:t>2</m:t>
                        </m:r>
                      </m:sup>
                    </m:sSup>
                    <m:r>
                      <a:rPr lang="en-US" altLang="zh-CN" sz="1200" i="1">
                        <a:latin typeface="Cambria Math" panose="02040503050406030204" pitchFamily="18" charset="0"/>
                        <a:cs typeface="宋体" panose="02010600030101010101" pitchFamily="2" charset="-122"/>
                      </a:rPr>
                      <m:t>+</m:t>
                    </m:r>
                    <m:sSup>
                      <m:sSup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200" i="1">
                            <a:latin typeface="Cambria Math" panose="02040503050406030204" pitchFamily="18" charset="0"/>
                            <a:cs typeface="宋体" panose="02010600030101010101" pitchFamily="2" charset="-122"/>
                          </a:rPr>
                          <m:t>𝑦</m:t>
                        </m:r>
                      </m:e>
                      <m:sup>
                        <m:r>
                          <a:rPr lang="en-US" altLang="zh-CN" sz="1200" i="1">
                            <a:latin typeface="Cambria Math" panose="02040503050406030204" pitchFamily="18" charset="0"/>
                            <a:cs typeface="宋体" panose="02010600030101010101" pitchFamily="2" charset="-122"/>
                          </a:rPr>
                          <m:t>2</m:t>
                        </m:r>
                      </m:sup>
                    </m:sSup>
                    <m:r>
                      <a:rPr lang="en-US" altLang="zh-CN" sz="1200" i="1">
                        <a:latin typeface="Cambria Math" panose="02040503050406030204" pitchFamily="18" charset="0"/>
                        <a:cs typeface="宋体" panose="02010600030101010101" pitchFamily="2" charset="-122"/>
                      </a:rPr>
                      <m:t>+</m:t>
                    </m:r>
                    <m:sSup>
                      <m:sSup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200" i="1">
                            <a:latin typeface="Cambria Math" panose="02040503050406030204" pitchFamily="18" charset="0"/>
                            <a:cs typeface="宋体" panose="02010600030101010101" pitchFamily="2" charset="-122"/>
                          </a:rPr>
                          <m:t>𝑧</m:t>
                        </m:r>
                      </m:e>
                      <m:sup>
                        <m:r>
                          <a:rPr lang="en-US" altLang="zh-CN" sz="1200" i="1">
                            <a:latin typeface="Cambria Math" panose="02040503050406030204" pitchFamily="18" charset="0"/>
                            <a:cs typeface="宋体" panose="02010600030101010101" pitchFamily="2" charset="-122"/>
                          </a:rPr>
                          <m:t>2</m:t>
                        </m:r>
                      </m:sup>
                    </m:sSup>
                    <m:r>
                      <a:rPr lang="en-US" altLang="zh-CN" sz="1200" i="1">
                        <a:latin typeface="Cambria Math" panose="02040503050406030204" pitchFamily="18" charset="0"/>
                        <a:cs typeface="宋体" panose="02010600030101010101" pitchFamily="2" charset="-122"/>
                      </a:rPr>
                      <m:t>+</m:t>
                    </m:r>
                    <m:sSup>
                      <m:sSup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200" i="1">
                            <a:latin typeface="Cambria Math" panose="02040503050406030204" pitchFamily="18" charset="0"/>
                            <a:cs typeface="宋体" panose="02010600030101010101" pitchFamily="2" charset="-122"/>
                          </a:rPr>
                          <m:t>𝑎</m:t>
                        </m:r>
                      </m:e>
                      <m:sup>
                        <m:r>
                          <a:rPr lang="en-US" altLang="zh-CN" sz="1200" i="1">
                            <a:latin typeface="Cambria Math" panose="02040503050406030204" pitchFamily="18" charset="0"/>
                            <a:cs typeface="宋体" panose="02010600030101010101" pitchFamily="2" charset="-122"/>
                          </a:rPr>
                          <m:t>2</m:t>
                        </m:r>
                      </m:sup>
                    </m:sSup>
                    <m:r>
                      <a:rPr lang="en-US" altLang="zh-CN" sz="1200" i="1">
                        <a:latin typeface="Cambria Math" panose="02040503050406030204" pitchFamily="18" charset="0"/>
                        <a:cs typeface="宋体" panose="02010600030101010101" pitchFamily="2" charset="-122"/>
                      </a:rPr>
                      <m:t>+</m:t>
                    </m:r>
                    <m:sSup>
                      <m:sSup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200" i="1">
                            <a:latin typeface="Cambria Math" panose="02040503050406030204" pitchFamily="18" charset="0"/>
                            <a:cs typeface="宋体" panose="02010600030101010101" pitchFamily="2" charset="-122"/>
                          </a:rPr>
                          <m:t>𝐿</m:t>
                        </m:r>
                      </m:e>
                      <m:sup>
                        <m:r>
                          <a:rPr lang="en-US" altLang="zh-CN" sz="1200" i="1">
                            <a:latin typeface="Cambria Math" panose="02040503050406030204" pitchFamily="18" charset="0"/>
                            <a:cs typeface="宋体" panose="02010600030101010101" pitchFamily="2" charset="-122"/>
                          </a:rPr>
                          <m:t>2</m:t>
                        </m:r>
                      </m:sup>
                    </m:sSup>
                    <m:r>
                      <a:rPr lang="en-US" altLang="zh-CN" sz="1200" i="1">
                        <a:latin typeface="Cambria Math" panose="02040503050406030204" pitchFamily="18" charset="0"/>
                        <a:cs typeface="宋体" panose="02010600030101010101" pitchFamily="2" charset="-122"/>
                      </a:rPr>
                      <m:t>+2</m:t>
                    </m:r>
                    <m:r>
                      <a:rPr lang="en-US" altLang="zh-CN" sz="1200" i="1">
                        <a:latin typeface="Cambria Math" panose="02040503050406030204" pitchFamily="18" charset="0"/>
                        <a:cs typeface="宋体" panose="02010600030101010101" pitchFamily="2" charset="-122"/>
                      </a:rPr>
                      <m:t>𝑦𝑎</m:t>
                    </m:r>
                    <m:r>
                      <a:rPr lang="en-US" altLang="zh-CN" sz="1200" i="1">
                        <a:latin typeface="Cambria Math" panose="02040503050406030204" pitchFamily="18" charset="0"/>
                        <a:cs typeface="宋体" panose="02010600030101010101" pitchFamily="2" charset="-122"/>
                      </a:rPr>
                      <m:t>−</m:t>
                    </m:r>
                    <m:sSup>
                      <m:sSup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200" i="1">
                            <a:latin typeface="Cambria Math" panose="02040503050406030204" pitchFamily="18" charset="0"/>
                            <a:cs typeface="宋体" panose="02010600030101010101" pitchFamily="2" charset="-122"/>
                          </a:rPr>
                          <m:t>𝑙</m:t>
                        </m:r>
                      </m:e>
                      <m:sup>
                        <m:r>
                          <a:rPr lang="en-US" altLang="zh-CN" sz="1200" i="1">
                            <a:latin typeface="Cambria Math" panose="02040503050406030204" pitchFamily="18" charset="0"/>
                            <a:cs typeface="宋体" panose="02010600030101010101" pitchFamily="2" charset="-122"/>
                          </a:rPr>
                          <m:t>2</m:t>
                        </m:r>
                      </m:sup>
                    </m:sSup>
                    <m:r>
                      <a:rPr lang="en-US" altLang="zh-CN" sz="1200" i="1">
                        <a:latin typeface="Cambria Math" panose="02040503050406030204" pitchFamily="18" charset="0"/>
                        <a:cs typeface="宋体" panose="02010600030101010101" pitchFamily="2" charset="-122"/>
                      </a:rPr>
                      <m:t>=0</m:t>
                    </m:r>
                  </m:oMath>
                </a14:m>
                <a:r>
                  <a:rPr lang="en-US" altLang="zh-CN" sz="1200" dirty="0">
                    <a:latin typeface="宋体" panose="02010600030101010101" pitchFamily="2" charset="-122"/>
                    <a:cs typeface="宋体" panose="02010600030101010101" pitchFamily="2" charset="-122"/>
                  </a:rPr>
                  <a:t> </a:t>
                </a:r>
                <a:r>
                  <a:rPr lang="zh-CN" altLang="zh-CN" sz="1200" dirty="0">
                    <a:latin typeface="宋体" panose="02010600030101010101" pitchFamily="2" charset="-122"/>
                    <a:cs typeface="宋体" panose="02010600030101010101" pitchFamily="2" charset="-122"/>
                  </a:rPr>
                  <a:t>（</a:t>
                </a:r>
                <a:r>
                  <a:rPr lang="en-US" altLang="zh-CN" sz="1200" dirty="0" smtClean="0">
                    <a:latin typeface="宋体" panose="02010600030101010101" pitchFamily="2" charset="-122"/>
                    <a:cs typeface="宋体" panose="02010600030101010101" pitchFamily="2" charset="-122"/>
                  </a:rPr>
                  <a:t>3-114</a:t>
                </a:r>
                <a:r>
                  <a:rPr lang="zh-CN" altLang="zh-CN" sz="1200" dirty="0" smtClean="0">
                    <a:latin typeface="宋体" panose="02010600030101010101" pitchFamily="2" charset="-122"/>
                    <a:cs typeface="宋体" panose="02010600030101010101" pitchFamily="2" charset="-122"/>
                  </a:rPr>
                  <a:t>）</a:t>
                </a:r>
                <a:endParaRPr lang="zh-CN" altLang="zh-CN" sz="1200" dirty="0">
                  <a:latin typeface="宋体" panose="02010600030101010101" pitchFamily="2" charset="-122"/>
                  <a:cs typeface="宋体" panose="02010600030101010101" pitchFamily="2" charset="-122"/>
                </a:endParaRPr>
              </a:p>
            </p:txBody>
          </p:sp>
        </mc:Choice>
        <mc:Fallback xmlns="">
          <p:sp>
            <p:nvSpPr>
              <p:cNvPr id="19" name="矩形 18"/>
              <p:cNvSpPr>
                <a:spLocks noRot="1" noChangeAspect="1" noMove="1" noResize="1" noEditPoints="1" noAdjustHandles="1" noChangeArrowheads="1" noChangeShapeType="1" noTextEdit="1"/>
              </p:cNvSpPr>
              <p:nvPr/>
            </p:nvSpPr>
            <p:spPr>
              <a:xfrm>
                <a:off x="1475656" y="1562316"/>
                <a:ext cx="5688632" cy="276999"/>
              </a:xfrm>
              <a:prstGeom prst="rect">
                <a:avLst/>
              </a:prstGeom>
              <a:blipFill>
                <a:blip r:embed="rId3"/>
                <a:stretch>
                  <a:fillRect r="-2680" b="-152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1213788" y="1840490"/>
                <a:ext cx="6984776" cy="309187"/>
              </a:xfrm>
              <a:prstGeom prst="rect">
                <a:avLst/>
              </a:prstGeom>
            </p:spPr>
            <p:txBody>
              <a:bodyPr wrap="square">
                <a:spAutoFit/>
              </a:bodyPr>
              <a:lstStyle/>
              <a:p>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𝐿</m:t>
                    </m:r>
                    <m:d>
                      <m:dPr>
                        <m:ctrlPr>
                          <a:rPr lang="zh-CN" altLang="zh-CN" sz="1200" i="1">
                            <a:effectLst/>
                            <a:latin typeface="Cambria Math" panose="02040503050406030204" pitchFamily="18" charset="0"/>
                            <a:ea typeface="Cambria Math" panose="02040503050406030204" pitchFamily="18" charset="0"/>
                          </a:rPr>
                        </m:ctrlPr>
                      </m:dPr>
                      <m:e>
                        <m:rad>
                          <m:radPr>
                            <m:degHide m:val="on"/>
                            <m:ctrlPr>
                              <a:rPr lang="zh-CN" altLang="zh-CN" sz="1200" i="1">
                                <a:effectLst/>
                                <a:latin typeface="Cambria Math" panose="02040503050406030204" pitchFamily="18" charset="0"/>
                                <a:ea typeface="Cambria Math" panose="02040503050406030204" pitchFamily="18" charset="0"/>
                              </a:rPr>
                            </m:ctrlPr>
                          </m:radPr>
                          <m:deg/>
                          <m:e>
                            <m:r>
                              <a:rPr lang="en-US" altLang="zh-CN" sz="1200" i="1">
                                <a:latin typeface="Cambria Math" panose="02040503050406030204" pitchFamily="18" charset="0"/>
                                <a:ea typeface="等线" panose="02010600030101010101" pitchFamily="2" charset="-122"/>
                                <a:cs typeface="Times New Roman" panose="02020603050405020304" pitchFamily="18" charset="0"/>
                              </a:rPr>
                              <m:t>3</m:t>
                            </m:r>
                          </m:e>
                        </m:rad>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𝑥</m:t>
                        </m:r>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𝑏</m:t>
                        </m:r>
                      </m:e>
                    </m:d>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𝑦</m:t>
                    </m:r>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𝑐</m:t>
                    </m:r>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𝑐𝑜𝑠</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𝑧𝐿𝑠𝑖𝑛</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𝑥</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𝑦</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𝑧</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𝑏</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𝑐</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𝐿</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𝑥𝑏</m:t>
                    </m:r>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𝑦𝑐</m:t>
                    </m:r>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𝑙</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=0</m:t>
                    </m:r>
                  </m:oMath>
                </a14:m>
                <a:r>
                  <a:rPr lang="en-US" altLang="zh-CN" sz="1200" dirty="0">
                    <a:latin typeface="等线" panose="02010600030101010101" pitchFamily="2" charset="-122"/>
                    <a:cs typeface="Times New Roman" panose="02020603050405020304" pitchFamily="18" charset="0"/>
                  </a:rPr>
                  <a:t> </a:t>
                </a:r>
                <a:r>
                  <a:rPr lang="zh-CN" altLang="zh-CN" sz="1200" dirty="0">
                    <a:ea typeface="等线" panose="02010600030101010101" pitchFamily="2" charset="-122"/>
                    <a:cs typeface="Times New Roman" panose="02020603050405020304" pitchFamily="18" charset="0"/>
                  </a:rPr>
                  <a:t>（</a:t>
                </a:r>
                <a:r>
                  <a:rPr lang="en-US" altLang="zh-CN" sz="1200" dirty="0" smtClean="0">
                    <a:ea typeface="等线" panose="02010600030101010101" pitchFamily="2" charset="-122"/>
                    <a:cs typeface="Times New Roman" panose="02020603050405020304" pitchFamily="18" charset="0"/>
                  </a:rPr>
                  <a:t>3-115</a:t>
                </a:r>
                <a:r>
                  <a:rPr lang="zh-CN" altLang="zh-CN" sz="1200" dirty="0" smtClean="0">
                    <a:ea typeface="等线" panose="02010600030101010101" pitchFamily="2" charset="-122"/>
                    <a:cs typeface="Times New Roman" panose="02020603050405020304" pitchFamily="18" charset="0"/>
                  </a:rPr>
                  <a:t>）</a:t>
                </a:r>
                <a:endParaRPr lang="zh-CN" altLang="en-US" sz="1200" dirty="0"/>
              </a:p>
            </p:txBody>
          </p:sp>
        </mc:Choice>
        <mc:Fallback xmlns="">
          <p:sp>
            <p:nvSpPr>
              <p:cNvPr id="20" name="矩形 19"/>
              <p:cNvSpPr>
                <a:spLocks noRot="1" noChangeAspect="1" noMove="1" noResize="1" noEditPoints="1" noAdjustHandles="1" noChangeArrowheads="1" noChangeShapeType="1" noTextEdit="1"/>
              </p:cNvSpPr>
              <p:nvPr/>
            </p:nvSpPr>
            <p:spPr>
              <a:xfrm>
                <a:off x="1213788" y="1840490"/>
                <a:ext cx="6984776" cy="309187"/>
              </a:xfrm>
              <a:prstGeom prst="rect">
                <a:avLst/>
              </a:prstGeom>
              <a:blipFill>
                <a:blip r:embed="rId4"/>
                <a:stretch>
                  <a:fillRect r="-2182" b="-117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1209028" y="2147382"/>
                <a:ext cx="7200800" cy="309187"/>
              </a:xfrm>
              <a:prstGeom prst="rect">
                <a:avLst/>
              </a:prstGeom>
            </p:spPr>
            <p:txBody>
              <a:bodyPr wrap="square">
                <a:spAutoFit/>
              </a:bodyPr>
              <a:lstStyle/>
              <a:p>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𝐿</m:t>
                    </m:r>
                    <m:d>
                      <m:dPr>
                        <m:ctrlPr>
                          <a:rPr lang="zh-CN" altLang="zh-CN" sz="1200" i="1">
                            <a:effectLst/>
                            <a:latin typeface="Cambria Math" panose="02040503050406030204" pitchFamily="18" charset="0"/>
                            <a:ea typeface="Cambria Math" panose="02040503050406030204" pitchFamily="18" charset="0"/>
                          </a:rPr>
                        </m:ctrlPr>
                      </m:dPr>
                      <m:e>
                        <m:rad>
                          <m:radPr>
                            <m:degHide m:val="on"/>
                            <m:ctrlPr>
                              <a:rPr lang="zh-CN" altLang="zh-CN" sz="1200" i="1">
                                <a:effectLst/>
                                <a:latin typeface="Cambria Math" panose="02040503050406030204" pitchFamily="18" charset="0"/>
                                <a:ea typeface="Cambria Math" panose="02040503050406030204" pitchFamily="18" charset="0"/>
                              </a:rPr>
                            </m:ctrlPr>
                          </m:radPr>
                          <m:deg/>
                          <m:e>
                            <m:r>
                              <a:rPr lang="en-US" altLang="zh-CN" sz="1200" i="1">
                                <a:latin typeface="Cambria Math" panose="02040503050406030204" pitchFamily="18" charset="0"/>
                                <a:ea typeface="等线" panose="02010600030101010101" pitchFamily="2" charset="-122"/>
                                <a:cs typeface="Times New Roman" panose="02020603050405020304" pitchFamily="18" charset="0"/>
                              </a:rPr>
                              <m:t>3</m:t>
                            </m:r>
                          </m:e>
                        </m:rad>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𝑥</m:t>
                        </m:r>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𝑏</m:t>
                        </m:r>
                      </m:e>
                    </m:d>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𝑦</m:t>
                    </m:r>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𝑐</m:t>
                    </m:r>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𝑐𝑜𝑠</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3</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𝑧𝐿𝑠𝑖𝑛</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3</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𝑥</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𝑦</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𝑧</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𝑏</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𝑐</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𝐿</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𝑥𝑏</m:t>
                    </m:r>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𝑦𝑐</m:t>
                    </m:r>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𝑙</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=0</m:t>
                    </m:r>
                  </m:oMath>
                </a14:m>
                <a:r>
                  <a:rPr lang="en-US" altLang="zh-CN" sz="1200" dirty="0">
                    <a:latin typeface="等线" panose="02010600030101010101" pitchFamily="2" charset="-122"/>
                    <a:cs typeface="Times New Roman" panose="02020603050405020304" pitchFamily="18" charset="0"/>
                  </a:rPr>
                  <a:t> </a:t>
                </a:r>
                <a:r>
                  <a:rPr lang="zh-CN" altLang="zh-CN" sz="1200" dirty="0">
                    <a:ea typeface="等线" panose="02010600030101010101" pitchFamily="2" charset="-122"/>
                    <a:cs typeface="Times New Roman" panose="02020603050405020304" pitchFamily="18" charset="0"/>
                  </a:rPr>
                  <a:t>（</a:t>
                </a:r>
                <a:r>
                  <a:rPr lang="en-US" altLang="zh-CN" sz="1200" dirty="0" smtClean="0">
                    <a:ea typeface="等线" panose="02010600030101010101" pitchFamily="2" charset="-122"/>
                    <a:cs typeface="Times New Roman" panose="02020603050405020304" pitchFamily="18" charset="0"/>
                  </a:rPr>
                  <a:t>3-116</a:t>
                </a:r>
                <a:r>
                  <a:rPr lang="zh-CN" altLang="zh-CN" sz="1200" dirty="0" smtClean="0">
                    <a:ea typeface="等线" panose="02010600030101010101" pitchFamily="2" charset="-122"/>
                    <a:cs typeface="Times New Roman" panose="02020603050405020304" pitchFamily="18" charset="0"/>
                  </a:rPr>
                  <a:t>）</a:t>
                </a:r>
                <a:endParaRPr lang="zh-CN" altLang="en-US" sz="1200" dirty="0"/>
              </a:p>
            </p:txBody>
          </p:sp>
        </mc:Choice>
        <mc:Fallback xmlns="">
          <p:sp>
            <p:nvSpPr>
              <p:cNvPr id="21" name="矩形 20"/>
              <p:cNvSpPr>
                <a:spLocks noRot="1" noChangeAspect="1" noMove="1" noResize="1" noEditPoints="1" noAdjustHandles="1" noChangeArrowheads="1" noChangeShapeType="1" noTextEdit="1"/>
              </p:cNvSpPr>
              <p:nvPr/>
            </p:nvSpPr>
            <p:spPr>
              <a:xfrm>
                <a:off x="1209028" y="2147382"/>
                <a:ext cx="7200800" cy="309187"/>
              </a:xfrm>
              <a:prstGeom prst="rect">
                <a:avLst/>
              </a:prstGeom>
              <a:blipFill>
                <a:blip r:embed="rId5"/>
                <a:stretch>
                  <a:fillRect b="-117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1209028" y="2456569"/>
                <a:ext cx="2158348" cy="3247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𝐵</m:t>
                          </m:r>
                        </m:sup>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𝐴</m:t>
                              </m:r>
                            </m:e>
                            <m:sub>
                              <m:r>
                                <a:rPr lang="zh-CN" altLang="en-US" sz="1200" i="1">
                                  <a:latin typeface="Cambria Math" panose="02040503050406030204" pitchFamily="18" charset="0"/>
                                </a:rPr>
                                <m:t>𝑖</m:t>
                              </m:r>
                            </m:sub>
                          </m:sSub>
                          <m:r>
                            <a:rPr lang="zh-CN" altLang="en-US" sz="1200" i="0">
                              <a:latin typeface="Cambria Math" panose="02040503050406030204" pitchFamily="18" charset="0"/>
                            </a:rPr>
                            <m:t>=</m:t>
                          </m:r>
                        </m:e>
                      </m:sPre>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𝐵</m:t>
                          </m:r>
                        </m:sup>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𝐵</m:t>
                              </m:r>
                            </m:e>
                            <m:sub>
                              <m:r>
                                <a:rPr lang="zh-CN" altLang="en-US" sz="1200" i="1">
                                  <a:latin typeface="Cambria Math" panose="02040503050406030204" pitchFamily="18" charset="0"/>
                                </a:rPr>
                                <m:t>𝑖</m:t>
                              </m:r>
                            </m:sub>
                          </m:sSub>
                          <m:r>
                            <a:rPr lang="zh-CN" altLang="en-US" sz="1200" i="0">
                              <a:latin typeface="Cambria Math" panose="02040503050406030204" pitchFamily="18" charset="0"/>
                            </a:rPr>
                            <m:t>+</m:t>
                          </m:r>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𝐵</m:t>
                              </m:r>
                            </m:sup>
                            <m:e>
                              <m:d>
                                <m:dPr>
                                  <m:begChr m:val=""/>
                                  <m:ctrlPr>
                                    <a:rPr lang="zh-CN" altLang="en-US" sz="1200" i="1">
                                      <a:latin typeface="Cambria Math" panose="02040503050406030204" pitchFamily="18" charset="0"/>
                                    </a:rPr>
                                  </m:ctrlPr>
                                </m:dPr>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1">
                                          <a:latin typeface="Cambria Math" panose="02040503050406030204" pitchFamily="18" charset="0"/>
                                        </a:rPr>
                                        <m:t>𝑖</m:t>
                                      </m:r>
                                    </m:sub>
                                  </m:sSub>
                                  <m:r>
                                    <a:rPr lang="zh-CN" altLang="en-US" sz="1200" i="0">
                                      <a:latin typeface="Cambria Math" panose="02040503050406030204" pitchFamily="18" charset="0"/>
                                    </a:rPr>
                                    <m:t>   (</m:t>
                                  </m:r>
                                  <m:r>
                                    <a:rPr lang="zh-CN" altLang="en-US" sz="1200" i="1">
                                      <a:latin typeface="Cambria Math" panose="02040503050406030204" pitchFamily="18" charset="0"/>
                                    </a:rPr>
                                    <m:t>𝑖</m:t>
                                  </m:r>
                                  <m:r>
                                    <a:rPr lang="zh-CN" altLang="en-US" sz="1200" i="0">
                                      <a:latin typeface="Cambria Math" panose="02040503050406030204" pitchFamily="18" charset="0"/>
                                    </a:rPr>
                                    <m:t>=1,2,3</m:t>
                                  </m:r>
                                </m:e>
                              </m:d>
                            </m:e>
                          </m:sPre>
                        </m:e>
                      </m:sPre>
                    </m:oMath>
                  </m:oMathPara>
                </a14:m>
                <a:endParaRPr lang="zh-CN" altLang="en-US" sz="1200" dirty="0"/>
              </a:p>
            </p:txBody>
          </p:sp>
        </mc:Choice>
        <mc:Fallback xmlns="">
          <p:sp>
            <p:nvSpPr>
              <p:cNvPr id="4" name="矩形 3"/>
              <p:cNvSpPr>
                <a:spLocks noRot="1" noChangeAspect="1" noMove="1" noResize="1" noEditPoints="1" noAdjustHandles="1" noChangeArrowheads="1" noChangeShapeType="1" noTextEdit="1"/>
              </p:cNvSpPr>
              <p:nvPr/>
            </p:nvSpPr>
            <p:spPr>
              <a:xfrm>
                <a:off x="1209028" y="2456569"/>
                <a:ext cx="2158348" cy="324769"/>
              </a:xfrm>
              <a:prstGeom prst="rect">
                <a:avLst/>
              </a:prstGeom>
              <a:blipFill>
                <a:blip r:embed="rId6"/>
                <a:stretch>
                  <a:fillRect t="-83019" r="-15537" b="-1358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1209028" y="2776022"/>
                <a:ext cx="1769972" cy="6163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𝐵</m:t>
                          </m:r>
                        </m:sup>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𝐴</m:t>
                              </m:r>
                            </m:e>
                            <m:sub>
                              <m:r>
                                <a:rPr lang="zh-CN" altLang="en-US" sz="1200" i="0">
                                  <a:latin typeface="Cambria Math" panose="02040503050406030204" pitchFamily="18" charset="0"/>
                                </a:rPr>
                                <m:t>1</m:t>
                              </m:r>
                            </m:sub>
                          </m:sSub>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r>
                                      <a:rPr lang="zh-CN" altLang="en-US" sz="1200" i="0">
                                        <a:latin typeface="Cambria Math" panose="02040503050406030204" pitchFamily="18" charset="0"/>
                                      </a:rPr>
                                      <m:t>0</m:t>
                                    </m:r>
                                  </m:e>
                                </m:mr>
                                <m:mr>
                                  <m:e>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𝑤</m:t>
                                        </m:r>
                                      </m:e>
                                      <m:sub>
                                        <m:r>
                                          <a:rPr lang="zh-CN" altLang="en-US" sz="1200" i="1">
                                            <a:latin typeface="Cambria Math" panose="02040503050406030204" pitchFamily="18" charset="0"/>
                                          </a:rPr>
                                          <m:t>𝐵</m:t>
                                        </m:r>
                                      </m:sub>
                                    </m:sSub>
                                    <m:r>
                                      <a:rPr lang="zh-CN" altLang="en-US" sz="1200" i="0">
                                        <a:latin typeface="Cambria Math" panose="02040503050406030204" pitchFamily="18" charset="0"/>
                                      </a:rPr>
                                      <m:t>−</m:t>
                                    </m:r>
                                    <m:r>
                                      <a:rPr lang="zh-CN" altLang="en-US" sz="1200" i="1">
                                        <a:latin typeface="Cambria Math" panose="02040503050406030204" pitchFamily="18" charset="0"/>
                                      </a:rPr>
                                      <m:t>𝐿𝑐𝑜𝑠</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1</m:t>
                                        </m:r>
                                      </m:sub>
                                    </m:sSub>
                                  </m:e>
                                </m:mr>
                                <m:mr>
                                  <m:e>
                                    <m:r>
                                      <a:rPr lang="zh-CN" altLang="en-US" sz="1200" i="0">
                                        <a:latin typeface="Cambria Math" panose="02040503050406030204" pitchFamily="18" charset="0"/>
                                      </a:rPr>
                                      <m:t>−</m:t>
                                    </m:r>
                                    <m:r>
                                      <a:rPr lang="zh-CN" altLang="en-US" sz="1200" i="1">
                                        <a:latin typeface="Cambria Math" panose="02040503050406030204" pitchFamily="18" charset="0"/>
                                      </a:rPr>
                                      <m:t>𝐿𝑠𝑖𝑛</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1</m:t>
                                        </m:r>
                                      </m:sub>
                                    </m:sSub>
                                  </m:e>
                                </m:mr>
                              </m:m>
                            </m:e>
                          </m:d>
                        </m:e>
                      </m:sPre>
                    </m:oMath>
                  </m:oMathPara>
                </a14:m>
                <a:endParaRPr lang="zh-CN" altLang="en-US" sz="1200" dirty="0"/>
              </a:p>
            </p:txBody>
          </p:sp>
        </mc:Choice>
        <mc:Fallback xmlns="">
          <p:sp>
            <p:nvSpPr>
              <p:cNvPr id="5" name="矩形 4"/>
              <p:cNvSpPr>
                <a:spLocks noRot="1" noChangeAspect="1" noMove="1" noResize="1" noEditPoints="1" noAdjustHandles="1" noChangeArrowheads="1" noChangeShapeType="1" noTextEdit="1"/>
              </p:cNvSpPr>
              <p:nvPr/>
            </p:nvSpPr>
            <p:spPr>
              <a:xfrm>
                <a:off x="1209028" y="2776022"/>
                <a:ext cx="1769972" cy="61638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2979000" y="2498648"/>
                <a:ext cx="2114425" cy="11562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𝐵</m:t>
                          </m:r>
                        </m:sup>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𝐴</m:t>
                              </m:r>
                            </m:e>
                            <m:sub>
                              <m:r>
                                <a:rPr lang="zh-CN" altLang="en-US" sz="1200" i="0">
                                  <a:latin typeface="Cambria Math" panose="02040503050406030204" pitchFamily="18" charset="0"/>
                                </a:rPr>
                                <m:t>2</m:t>
                              </m:r>
                            </m:sub>
                          </m:sSub>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d>
                                      <m:dPr>
                                        <m:begChr m:val=""/>
                                        <m:ctrlPr>
                                          <a:rPr lang="zh-CN" altLang="en-US" sz="1200" i="1">
                                            <a:latin typeface="Cambria Math" panose="02040503050406030204" pitchFamily="18" charset="0"/>
                                          </a:rPr>
                                        </m:ctrlPr>
                                      </m:dPr>
                                      <m:e>
                                        <m:f>
                                          <m:fPr>
                                            <m:ctrlPr>
                                              <a:rPr lang="zh-CN" altLang="en-US" sz="1200" i="1">
                                                <a:latin typeface="Cambria Math" panose="02040503050406030204" pitchFamily="18" charset="0"/>
                                              </a:rPr>
                                            </m:ctrlPr>
                                          </m:fPr>
                                          <m:num>
                                            <m:rad>
                                              <m:radPr>
                                                <m:degHide m:val="on"/>
                                                <m:ctrlPr>
                                                  <a:rPr lang="zh-CN" altLang="en-US" sz="1200" i="1">
                                                    <a:latin typeface="Cambria Math" panose="02040503050406030204" pitchFamily="18" charset="0"/>
                                                  </a:rPr>
                                                </m:ctrlPr>
                                              </m:radPr>
                                              <m:deg/>
                                              <m:e>
                                                <m:r>
                                                  <a:rPr lang="zh-CN" altLang="en-US" sz="1200" i="0">
                                                    <a:latin typeface="Cambria Math" panose="02040503050406030204" pitchFamily="18" charset="0"/>
                                                  </a:rPr>
                                                  <m:t>3</m:t>
                                                </m:r>
                                              </m:e>
                                            </m:rad>
                                          </m:num>
                                          <m:den>
                                            <m:r>
                                              <a:rPr lang="zh-CN" altLang="en-US" sz="1200" i="0">
                                                <a:latin typeface="Cambria Math" panose="02040503050406030204" pitchFamily="18" charset="0"/>
                                              </a:rPr>
                                              <m:t>2</m:t>
                                            </m:r>
                                          </m:den>
                                        </m:f>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𝑤</m:t>
                                            </m:r>
                                          </m:e>
                                          <m:sub>
                                            <m:r>
                                              <a:rPr lang="zh-CN" altLang="en-US" sz="1200" i="1">
                                                <a:latin typeface="Cambria Math" panose="02040503050406030204" pitchFamily="18" charset="0"/>
                                              </a:rPr>
                                              <m:t>𝐵</m:t>
                                            </m:r>
                                          </m:sub>
                                        </m:sSub>
                                        <m:r>
                                          <a:rPr lang="zh-CN" altLang="en-US" sz="1200" i="0">
                                            <a:latin typeface="Cambria Math" panose="02040503050406030204" pitchFamily="18" charset="0"/>
                                          </a:rPr>
                                          <m:t>+</m:t>
                                        </m:r>
                                        <m:r>
                                          <a:rPr lang="zh-CN" altLang="en-US" sz="1200" i="1">
                                            <a:latin typeface="Cambria Math" panose="02040503050406030204" pitchFamily="18" charset="0"/>
                                          </a:rPr>
                                          <m:t>𝐿𝑐𝑜𝑠</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2</m:t>
                                            </m:r>
                                          </m:sub>
                                        </m:sSub>
                                      </m:e>
                                    </m:d>
                                  </m:e>
                                </m:mr>
                                <m:mr>
                                  <m:e>
                                    <m:d>
                                      <m:dPr>
                                        <m:begChr m:val=""/>
                                        <m:ctrlPr>
                                          <a:rPr lang="zh-CN" altLang="en-US" sz="1200" i="1">
                                            <a:latin typeface="Cambria Math" panose="02040503050406030204" pitchFamily="18" charset="0"/>
                                          </a:rPr>
                                        </m:ctrlPr>
                                      </m:dPr>
                                      <m:e>
                                        <m:f>
                                          <m:fPr>
                                            <m:ctrlPr>
                                              <a:rPr lang="zh-CN" altLang="en-US" sz="1200" i="1">
                                                <a:latin typeface="Cambria Math" panose="02040503050406030204" pitchFamily="18" charset="0"/>
                                              </a:rPr>
                                            </m:ctrlPr>
                                          </m:fPr>
                                          <m:num>
                                            <m:r>
                                              <a:rPr lang="zh-CN" altLang="en-US" sz="1200" i="0">
                                                <a:latin typeface="Cambria Math" panose="02040503050406030204" pitchFamily="18" charset="0"/>
                                              </a:rPr>
                                              <m:t>1</m:t>
                                            </m:r>
                                          </m:num>
                                          <m:den>
                                            <m:r>
                                              <a:rPr lang="zh-CN" altLang="en-US" sz="1200" i="0">
                                                <a:latin typeface="Cambria Math" panose="02040503050406030204" pitchFamily="18" charset="0"/>
                                              </a:rPr>
                                              <m:t>2</m:t>
                                            </m:r>
                                          </m:den>
                                        </m:f>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𝑤</m:t>
                                            </m:r>
                                          </m:e>
                                          <m:sub>
                                            <m:r>
                                              <a:rPr lang="zh-CN" altLang="en-US" sz="1200" i="1">
                                                <a:latin typeface="Cambria Math" panose="02040503050406030204" pitchFamily="18" charset="0"/>
                                              </a:rPr>
                                              <m:t>𝐵</m:t>
                                            </m:r>
                                          </m:sub>
                                        </m:sSub>
                                        <m:r>
                                          <a:rPr lang="zh-CN" altLang="en-US" sz="1200" i="0">
                                            <a:latin typeface="Cambria Math" panose="02040503050406030204" pitchFamily="18" charset="0"/>
                                          </a:rPr>
                                          <m:t>+</m:t>
                                        </m:r>
                                        <m:r>
                                          <a:rPr lang="zh-CN" altLang="en-US" sz="1200" i="1">
                                            <a:latin typeface="Cambria Math" panose="02040503050406030204" pitchFamily="18" charset="0"/>
                                          </a:rPr>
                                          <m:t>𝐿𝑐𝑜𝑠</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2</m:t>
                                            </m:r>
                                          </m:sub>
                                        </m:sSub>
                                      </m:e>
                                    </m:d>
                                  </m:e>
                                </m:mr>
                                <m:mr>
                                  <m:e>
                                    <m:r>
                                      <a:rPr lang="zh-CN" altLang="en-US" sz="1200" i="0">
                                        <a:latin typeface="Cambria Math" panose="02040503050406030204" pitchFamily="18" charset="0"/>
                                      </a:rPr>
                                      <m:t>−</m:t>
                                    </m:r>
                                    <m:r>
                                      <a:rPr lang="zh-CN" altLang="en-US" sz="1200" i="1">
                                        <a:latin typeface="Cambria Math" panose="02040503050406030204" pitchFamily="18" charset="0"/>
                                      </a:rPr>
                                      <m:t>𝐿𝑠𝑖𝑛</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2</m:t>
                                        </m:r>
                                      </m:sub>
                                    </m:sSub>
                                  </m:e>
                                </m:mr>
                              </m:m>
                            </m:e>
                          </m:d>
                        </m:e>
                      </m:sPre>
                    </m:oMath>
                  </m:oMathPara>
                </a14:m>
                <a:endParaRPr lang="zh-CN" altLang="en-US" sz="1200" dirty="0"/>
              </a:p>
            </p:txBody>
          </p:sp>
        </mc:Choice>
        <mc:Fallback xmlns="">
          <p:sp>
            <p:nvSpPr>
              <p:cNvPr id="6" name="矩形 5"/>
              <p:cNvSpPr>
                <a:spLocks noRot="1" noChangeAspect="1" noMove="1" noResize="1" noEditPoints="1" noAdjustHandles="1" noChangeArrowheads="1" noChangeShapeType="1" noTextEdit="1"/>
              </p:cNvSpPr>
              <p:nvPr/>
            </p:nvSpPr>
            <p:spPr>
              <a:xfrm>
                <a:off x="2979000" y="2498648"/>
                <a:ext cx="2114425" cy="1156279"/>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5137348" y="2498648"/>
                <a:ext cx="2255489" cy="11571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Pre>
                        <m:sPrePr>
                          <m:ctrlPr>
                            <a:rPr lang="zh-CN" altLang="en-US" sz="1200" i="1">
                              <a:latin typeface="Cambria Math" panose="02040503050406030204" pitchFamily="18" charset="0"/>
                            </a:rPr>
                          </m:ctrlPr>
                        </m:sPrePr>
                        <m:sub/>
                        <m:sup>
                          <m:r>
                            <a:rPr lang="zh-CN" altLang="en-US" sz="1200" i="1">
                              <a:latin typeface="Cambria Math" panose="02040503050406030204" pitchFamily="18" charset="0"/>
                            </a:rPr>
                            <m:t>𝐵</m:t>
                          </m:r>
                        </m:sup>
                        <m:e>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𝐴</m:t>
                              </m:r>
                            </m:e>
                            <m:sub>
                              <m:r>
                                <a:rPr lang="zh-CN" altLang="en-US" sz="1200" i="0">
                                  <a:latin typeface="Cambria Math" panose="02040503050406030204" pitchFamily="18" charset="0"/>
                                </a:rPr>
                                <m:t>3</m:t>
                              </m:r>
                            </m:sub>
                          </m:sSub>
                          <m:r>
                            <a:rPr lang="zh-CN" altLang="en-US" sz="1200" i="0">
                              <a:latin typeface="Cambria Math" panose="02040503050406030204" pitchFamily="18" charset="0"/>
                            </a:rPr>
                            <m:t>=</m:t>
                          </m:r>
                          <m:d>
                            <m:dPr>
                              <m:begChr m:val="{"/>
                              <m:endChr m:val="}"/>
                              <m:ctrlPr>
                                <a:rPr lang="zh-CN" altLang="en-US" sz="1200" i="1">
                                  <a:latin typeface="Cambria Math" panose="02040503050406030204" pitchFamily="18" charset="0"/>
                                </a:rPr>
                              </m:ctrlPr>
                            </m:dPr>
                            <m:e>
                              <m:m>
                                <m:mPr>
                                  <m:mcs>
                                    <m:mc>
                                      <m:mcPr>
                                        <m:count m:val="1"/>
                                        <m:mcJc m:val="center"/>
                                      </m:mcPr>
                                    </m:mc>
                                  </m:mcs>
                                  <m:ctrlPr>
                                    <a:rPr lang="zh-CN" altLang="en-US" sz="1200" i="1">
                                      <a:latin typeface="Cambria Math" panose="02040503050406030204" pitchFamily="18" charset="0"/>
                                    </a:rPr>
                                  </m:ctrlPr>
                                </m:mPr>
                                <m:mr>
                                  <m:e>
                                    <m:d>
                                      <m:dPr>
                                        <m:begChr m:val=""/>
                                        <m:ctrlPr>
                                          <a:rPr lang="zh-CN" altLang="en-US" sz="1200" i="1">
                                            <a:latin typeface="Cambria Math" panose="02040503050406030204" pitchFamily="18" charset="0"/>
                                          </a:rPr>
                                        </m:ctrlPr>
                                      </m:dPr>
                                      <m:e>
                                        <m:r>
                                          <a:rPr lang="zh-CN" altLang="en-US" sz="1200" i="0">
                                            <a:latin typeface="Cambria Math" panose="02040503050406030204" pitchFamily="18" charset="0"/>
                                          </a:rPr>
                                          <m:t>−</m:t>
                                        </m:r>
                                        <m:f>
                                          <m:fPr>
                                            <m:ctrlPr>
                                              <a:rPr lang="zh-CN" altLang="en-US" sz="1200" i="1">
                                                <a:latin typeface="Cambria Math" panose="02040503050406030204" pitchFamily="18" charset="0"/>
                                              </a:rPr>
                                            </m:ctrlPr>
                                          </m:fPr>
                                          <m:num>
                                            <m:rad>
                                              <m:radPr>
                                                <m:degHide m:val="on"/>
                                                <m:ctrlPr>
                                                  <a:rPr lang="zh-CN" altLang="en-US" sz="1200" i="1">
                                                    <a:latin typeface="Cambria Math" panose="02040503050406030204" pitchFamily="18" charset="0"/>
                                                  </a:rPr>
                                                </m:ctrlPr>
                                              </m:radPr>
                                              <m:deg/>
                                              <m:e>
                                                <m:r>
                                                  <a:rPr lang="zh-CN" altLang="en-US" sz="1200" i="0">
                                                    <a:latin typeface="Cambria Math" panose="02040503050406030204" pitchFamily="18" charset="0"/>
                                                  </a:rPr>
                                                  <m:t>3</m:t>
                                                </m:r>
                                              </m:e>
                                            </m:rad>
                                          </m:num>
                                          <m:den>
                                            <m:r>
                                              <a:rPr lang="zh-CN" altLang="en-US" sz="1200" i="0">
                                                <a:latin typeface="Cambria Math" panose="02040503050406030204" pitchFamily="18" charset="0"/>
                                              </a:rPr>
                                              <m:t>2</m:t>
                                            </m:r>
                                          </m:den>
                                        </m:f>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𝑤</m:t>
                                            </m:r>
                                          </m:e>
                                          <m:sub>
                                            <m:r>
                                              <a:rPr lang="zh-CN" altLang="en-US" sz="1200" i="1">
                                                <a:latin typeface="Cambria Math" panose="02040503050406030204" pitchFamily="18" charset="0"/>
                                              </a:rPr>
                                              <m:t>𝐵</m:t>
                                            </m:r>
                                          </m:sub>
                                        </m:sSub>
                                        <m:r>
                                          <a:rPr lang="zh-CN" altLang="en-US" sz="1200" i="0">
                                            <a:latin typeface="Cambria Math" panose="02040503050406030204" pitchFamily="18" charset="0"/>
                                          </a:rPr>
                                          <m:t>+</m:t>
                                        </m:r>
                                        <m:r>
                                          <a:rPr lang="zh-CN" altLang="en-US" sz="1200" i="1">
                                            <a:latin typeface="Cambria Math" panose="02040503050406030204" pitchFamily="18" charset="0"/>
                                          </a:rPr>
                                          <m:t>𝐿𝑐𝑜𝑠</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3</m:t>
                                            </m:r>
                                          </m:sub>
                                        </m:sSub>
                                      </m:e>
                                    </m:d>
                                  </m:e>
                                </m:mr>
                                <m:mr>
                                  <m:e>
                                    <m:d>
                                      <m:dPr>
                                        <m:begChr m:val=""/>
                                        <m:ctrlPr>
                                          <a:rPr lang="zh-CN" altLang="en-US" sz="1200" i="1">
                                            <a:latin typeface="Cambria Math" panose="02040503050406030204" pitchFamily="18" charset="0"/>
                                          </a:rPr>
                                        </m:ctrlPr>
                                      </m:dPr>
                                      <m:e>
                                        <m:f>
                                          <m:fPr>
                                            <m:ctrlPr>
                                              <a:rPr lang="zh-CN" altLang="en-US" sz="1200" i="1">
                                                <a:latin typeface="Cambria Math" panose="02040503050406030204" pitchFamily="18" charset="0"/>
                                              </a:rPr>
                                            </m:ctrlPr>
                                          </m:fPr>
                                          <m:num>
                                            <m:r>
                                              <a:rPr lang="zh-CN" altLang="en-US" sz="1200" i="0">
                                                <a:latin typeface="Cambria Math" panose="02040503050406030204" pitchFamily="18" charset="0"/>
                                              </a:rPr>
                                              <m:t>1</m:t>
                                            </m:r>
                                          </m:num>
                                          <m:den>
                                            <m:r>
                                              <a:rPr lang="zh-CN" altLang="en-US" sz="1200" i="0">
                                                <a:latin typeface="Cambria Math" panose="02040503050406030204" pitchFamily="18" charset="0"/>
                                              </a:rPr>
                                              <m:t>2</m:t>
                                            </m:r>
                                          </m:den>
                                        </m:f>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𝑤</m:t>
                                            </m:r>
                                          </m:e>
                                          <m:sub>
                                            <m:r>
                                              <a:rPr lang="zh-CN" altLang="en-US" sz="1200" i="1">
                                                <a:latin typeface="Cambria Math" panose="02040503050406030204" pitchFamily="18" charset="0"/>
                                              </a:rPr>
                                              <m:t>𝐵</m:t>
                                            </m:r>
                                          </m:sub>
                                        </m:sSub>
                                        <m:r>
                                          <a:rPr lang="zh-CN" altLang="en-US" sz="1200" i="0">
                                            <a:latin typeface="Cambria Math" panose="02040503050406030204" pitchFamily="18" charset="0"/>
                                          </a:rPr>
                                          <m:t>+</m:t>
                                        </m:r>
                                        <m:r>
                                          <a:rPr lang="zh-CN" altLang="en-US" sz="1200" i="1">
                                            <a:latin typeface="Cambria Math" panose="02040503050406030204" pitchFamily="18" charset="0"/>
                                          </a:rPr>
                                          <m:t>𝐿𝑐𝑜𝑠</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3</m:t>
                                            </m:r>
                                          </m:sub>
                                        </m:sSub>
                                      </m:e>
                                    </m:d>
                                  </m:e>
                                </m:mr>
                                <m:mr>
                                  <m:e>
                                    <m:r>
                                      <a:rPr lang="zh-CN" altLang="en-US" sz="1200" i="0">
                                        <a:latin typeface="Cambria Math" panose="02040503050406030204" pitchFamily="18" charset="0"/>
                                      </a:rPr>
                                      <m:t>−</m:t>
                                    </m:r>
                                    <m:r>
                                      <a:rPr lang="zh-CN" altLang="en-US" sz="1200" i="1">
                                        <a:latin typeface="Cambria Math" panose="02040503050406030204" pitchFamily="18" charset="0"/>
                                      </a:rPr>
                                      <m:t>𝐿𝑠𝑖𝑛</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𝜃</m:t>
                                        </m:r>
                                      </m:e>
                                      <m:sub>
                                        <m:r>
                                          <a:rPr lang="zh-CN" altLang="en-US" sz="1200" i="0">
                                            <a:latin typeface="Cambria Math" panose="02040503050406030204" pitchFamily="18" charset="0"/>
                                          </a:rPr>
                                          <m:t>3</m:t>
                                        </m:r>
                                      </m:sub>
                                    </m:sSub>
                                  </m:e>
                                </m:mr>
                              </m:m>
                            </m:e>
                          </m:d>
                        </m:e>
                      </m:sPre>
                    </m:oMath>
                  </m:oMathPara>
                </a14:m>
                <a:endParaRPr lang="zh-CN" altLang="en-US" sz="1200" dirty="0"/>
              </a:p>
            </p:txBody>
          </p:sp>
        </mc:Choice>
        <mc:Fallback xmlns="">
          <p:sp>
            <p:nvSpPr>
              <p:cNvPr id="7" name="矩形 6"/>
              <p:cNvSpPr>
                <a:spLocks noRot="1" noChangeAspect="1" noMove="1" noResize="1" noEditPoints="1" noAdjustHandles="1" noChangeArrowheads="1" noChangeShapeType="1" noTextEdit="1"/>
              </p:cNvSpPr>
              <p:nvPr/>
            </p:nvSpPr>
            <p:spPr>
              <a:xfrm>
                <a:off x="5137348" y="2498648"/>
                <a:ext cx="2255489" cy="1157176"/>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2320164" y="3697006"/>
                <a:ext cx="3217676"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400" i="1">
                              <a:latin typeface="Cambria Math" panose="02040503050406030204" pitchFamily="18" charset="0"/>
                            </a:rPr>
                          </m:ctrlPr>
                        </m:dPr>
                        <m:e>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𝐸</m:t>
                              </m:r>
                            </m:e>
                            <m:sub>
                              <m:r>
                                <a:rPr lang="zh-CN" altLang="en-US" sz="1400" i="1">
                                  <a:latin typeface="Cambria Math" panose="02040503050406030204" pitchFamily="18" charset="0"/>
                                </a:rPr>
                                <m:t>𝑖</m:t>
                              </m:r>
                            </m:sub>
                          </m:sSub>
                          <m:r>
                            <a:rPr lang="zh-CN" altLang="en-US" sz="1400" i="1">
                              <a:latin typeface="Cambria Math" panose="02040503050406030204" pitchFamily="18" charset="0"/>
                            </a:rPr>
                            <m:t>𝑐𝑜𝑠</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𝐹</m:t>
                              </m:r>
                            </m:e>
                            <m:sub>
                              <m:r>
                                <a:rPr lang="zh-CN" altLang="en-US" sz="1400" i="1">
                                  <a:latin typeface="Cambria Math" panose="02040503050406030204" pitchFamily="18" charset="0"/>
                                </a:rPr>
                                <m:t>𝑖</m:t>
                              </m:r>
                            </m:sub>
                          </m:sSub>
                          <m:r>
                            <a:rPr lang="zh-CN" altLang="en-US" sz="1400" i="1">
                              <a:latin typeface="Cambria Math" panose="02040503050406030204" pitchFamily="18" charset="0"/>
                            </a:rPr>
                            <m:t>𝑠𝑖𝑛</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𝜃</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𝐺</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=0   (</m:t>
                          </m:r>
                          <m:r>
                            <a:rPr lang="zh-CN" altLang="en-US" sz="1400" i="1">
                              <a:latin typeface="Cambria Math" panose="02040503050406030204" pitchFamily="18" charset="0"/>
                            </a:rPr>
                            <m:t>𝑖</m:t>
                          </m:r>
                          <m:r>
                            <a:rPr lang="zh-CN" altLang="en-US" sz="1400" i="0">
                              <a:latin typeface="Cambria Math" panose="02040503050406030204" pitchFamily="18" charset="0"/>
                            </a:rPr>
                            <m:t>=1,2,3</m:t>
                          </m:r>
                        </m:e>
                      </m:d>
                    </m:oMath>
                  </m:oMathPara>
                </a14:m>
                <a:endParaRPr lang="zh-CN" altLang="en-US" sz="1400" dirty="0"/>
              </a:p>
            </p:txBody>
          </p:sp>
        </mc:Choice>
        <mc:Fallback xmlns="">
          <p:sp>
            <p:nvSpPr>
              <p:cNvPr id="8" name="矩形 7"/>
              <p:cNvSpPr>
                <a:spLocks noRot="1" noChangeAspect="1" noMove="1" noResize="1" noEditPoints="1" noAdjustHandles="1" noChangeArrowheads="1" noChangeShapeType="1" noTextEdit="1"/>
              </p:cNvSpPr>
              <p:nvPr/>
            </p:nvSpPr>
            <p:spPr>
              <a:xfrm>
                <a:off x="2320164" y="3697006"/>
                <a:ext cx="3217676" cy="307777"/>
              </a:xfrm>
              <a:prstGeom prst="rect">
                <a:avLst/>
              </a:prstGeom>
              <a:blipFill>
                <a:blip r:embed="rId10"/>
                <a:stretch>
                  <a:fillRect t="-101961" r="-11385" b="-1568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2048893" y="4263514"/>
                <a:ext cx="1730858"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𝜃</m:t>
                              </m:r>
                            </m:e>
                            <m:sub>
                              <m:r>
                                <a:rPr lang="zh-CN" altLang="en-US" sz="1600" i="1">
                                  <a:latin typeface="Cambria Math" panose="02040503050406030204" pitchFamily="18" charset="0"/>
                                </a:rPr>
                                <m:t>𝑖</m:t>
                              </m:r>
                            </m:sub>
                          </m:sSub>
                          <m:r>
                            <a:rPr lang="zh-CN" altLang="en-US" sz="1600" i="0">
                              <a:latin typeface="Cambria Math" panose="02040503050406030204" pitchFamily="18" charset="0"/>
                            </a:rPr>
                            <m:t>=2</m:t>
                          </m:r>
                          <m:r>
                            <m:rPr>
                              <m:sty m:val="p"/>
                            </m:rPr>
                            <a:rPr lang="zh-CN" altLang="en-US" sz="1600" i="0">
                              <a:latin typeface="Cambria Math" panose="02040503050406030204" pitchFamily="18" charset="0"/>
                            </a:rPr>
                            <m:t>arcta</m:t>
                          </m:r>
                          <m:func>
                            <m:funcPr>
                              <m:ctrlPr>
                                <a:rPr lang="zh-CN" altLang="en-US" sz="1600" i="1">
                                  <a:latin typeface="Cambria Math" panose="02040503050406030204" pitchFamily="18" charset="0"/>
                                </a:rPr>
                              </m:ctrlPr>
                            </m:funcPr>
                            <m:fName>
                              <m:r>
                                <m:rPr>
                                  <m:sty m:val="p"/>
                                </m:rPr>
                                <a:rPr lang="zh-CN" altLang="en-US" sz="1600" i="0">
                                  <a:latin typeface="Cambria Math" panose="02040503050406030204" pitchFamily="18" charset="0"/>
                                </a:rPr>
                                <m:t>n</m:t>
                              </m:r>
                            </m:fName>
                            <m:e>
                              <m:r>
                                <a:rPr lang="zh-CN" altLang="en-US" sz="1600" i="0">
                                  <a:latin typeface="Cambria Math" panose="02040503050406030204" pitchFamily="18" charset="0"/>
                                </a:rPr>
                                <m:t>(</m:t>
                              </m:r>
                            </m:e>
                          </m:func>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𝑡</m:t>
                              </m:r>
                            </m:e>
                            <m:sub>
                              <m:r>
                                <a:rPr lang="zh-CN" altLang="en-US" sz="1600" i="1">
                                  <a:latin typeface="Cambria Math" panose="02040503050406030204" pitchFamily="18" charset="0"/>
                                </a:rPr>
                                <m:t>𝑖</m:t>
                              </m:r>
                            </m:sub>
                          </m:sSub>
                        </m:e>
                      </m:d>
                    </m:oMath>
                  </m:oMathPara>
                </a14:m>
                <a:endParaRPr lang="zh-CN" altLang="en-US" sz="1600" dirty="0"/>
              </a:p>
            </p:txBody>
          </p:sp>
        </mc:Choice>
        <mc:Fallback xmlns="">
          <p:sp>
            <p:nvSpPr>
              <p:cNvPr id="9" name="矩形 8"/>
              <p:cNvSpPr>
                <a:spLocks noRot="1" noChangeAspect="1" noMove="1" noResize="1" noEditPoints="1" noAdjustHandles="1" noChangeArrowheads="1" noChangeShapeType="1" noTextEdit="1"/>
              </p:cNvSpPr>
              <p:nvPr/>
            </p:nvSpPr>
            <p:spPr>
              <a:xfrm>
                <a:off x="2048893" y="4263514"/>
                <a:ext cx="1730858" cy="338554"/>
              </a:xfrm>
              <a:prstGeom prst="rect">
                <a:avLst/>
              </a:prstGeom>
              <a:blipFill>
                <a:blip r:embed="rId11"/>
                <a:stretch>
                  <a:fillRect t="-108929" r="-25000" b="-1678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3994542" y="4004783"/>
                <a:ext cx="2254207" cy="76848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𝑡</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f>
                        <m:fPr>
                          <m:ctrlPr>
                            <a:rPr lang="zh-CN" altLang="en-US" sz="1400" i="1">
                              <a:latin typeface="Cambria Math" panose="02040503050406030204" pitchFamily="18" charset="0"/>
                            </a:rPr>
                          </m:ctrlPr>
                        </m:fPr>
                        <m:num>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𝐹</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rad>
                            <m:radPr>
                              <m:degHide m:val="on"/>
                              <m:ctrlPr>
                                <a:rPr lang="zh-CN" altLang="en-US" sz="1400" i="1">
                                  <a:latin typeface="Cambria Math" panose="02040503050406030204" pitchFamily="18" charset="0"/>
                                </a:rPr>
                              </m:ctrlPr>
                            </m:radPr>
                            <m:deg/>
                            <m:e>
                              <m:sSubSup>
                                <m:sSubSupPr>
                                  <m:ctrlPr>
                                    <a:rPr lang="zh-CN" altLang="en-US" sz="1400" i="1">
                                      <a:latin typeface="Cambria Math" panose="02040503050406030204" pitchFamily="18" charset="0"/>
                                    </a:rPr>
                                  </m:ctrlPr>
                                </m:sSubSupPr>
                                <m:e>
                                  <m:r>
                                    <a:rPr lang="zh-CN" altLang="en-US" sz="1400" i="1">
                                      <a:latin typeface="Cambria Math" panose="02040503050406030204" pitchFamily="18" charset="0"/>
                                    </a:rPr>
                                    <m:t>𝐸</m:t>
                                  </m:r>
                                </m:e>
                                <m:sub>
                                  <m:r>
                                    <a:rPr lang="zh-CN" altLang="en-US" sz="1400" i="1">
                                      <a:latin typeface="Cambria Math" panose="02040503050406030204" pitchFamily="18" charset="0"/>
                                    </a:rPr>
                                    <m:t>𝑖</m:t>
                                  </m:r>
                                </m:sub>
                                <m:sup>
                                  <m:r>
                                    <a:rPr lang="zh-CN" altLang="en-US" sz="1400" i="0">
                                      <a:latin typeface="Cambria Math" panose="02040503050406030204" pitchFamily="18" charset="0"/>
                                    </a:rPr>
                                    <m:t>2</m:t>
                                  </m:r>
                                </m:sup>
                              </m:sSubSup>
                              <m:r>
                                <a:rPr lang="zh-CN" altLang="en-US" sz="1400" i="0">
                                  <a:latin typeface="Cambria Math" panose="02040503050406030204" pitchFamily="18" charset="0"/>
                                </a:rPr>
                                <m:t>+</m:t>
                              </m:r>
                              <m:sSubSup>
                                <m:sSubSupPr>
                                  <m:ctrlPr>
                                    <a:rPr lang="zh-CN" altLang="en-US" sz="1400" i="1">
                                      <a:latin typeface="Cambria Math" panose="02040503050406030204" pitchFamily="18" charset="0"/>
                                    </a:rPr>
                                  </m:ctrlPr>
                                </m:sSubSupPr>
                                <m:e>
                                  <m:r>
                                    <a:rPr lang="zh-CN" altLang="en-US" sz="1400" i="1">
                                      <a:latin typeface="Cambria Math" panose="02040503050406030204" pitchFamily="18" charset="0"/>
                                    </a:rPr>
                                    <m:t>𝐹</m:t>
                                  </m:r>
                                </m:e>
                                <m:sub>
                                  <m:r>
                                    <a:rPr lang="zh-CN" altLang="en-US" sz="1400" i="1">
                                      <a:latin typeface="Cambria Math" panose="02040503050406030204" pitchFamily="18" charset="0"/>
                                    </a:rPr>
                                    <m:t>𝑖</m:t>
                                  </m:r>
                                </m:sub>
                                <m:sup>
                                  <m:r>
                                    <a:rPr lang="zh-CN" altLang="en-US" sz="1400" i="0">
                                      <a:latin typeface="Cambria Math" panose="02040503050406030204" pitchFamily="18" charset="0"/>
                                    </a:rPr>
                                    <m:t>2</m:t>
                                  </m:r>
                                </m:sup>
                              </m:sSubSup>
                              <m:r>
                                <a:rPr lang="zh-CN" altLang="en-US" sz="1400" i="0">
                                  <a:latin typeface="Cambria Math" panose="02040503050406030204" pitchFamily="18" charset="0"/>
                                </a:rPr>
                                <m:t>−</m:t>
                              </m:r>
                              <m:sSubSup>
                                <m:sSubSupPr>
                                  <m:ctrlPr>
                                    <a:rPr lang="zh-CN" altLang="en-US" sz="1400" i="1">
                                      <a:latin typeface="Cambria Math" panose="02040503050406030204" pitchFamily="18" charset="0"/>
                                    </a:rPr>
                                  </m:ctrlPr>
                                </m:sSubSupPr>
                                <m:e>
                                  <m:r>
                                    <a:rPr lang="zh-CN" altLang="en-US" sz="1400" i="1">
                                      <a:latin typeface="Cambria Math" panose="02040503050406030204" pitchFamily="18" charset="0"/>
                                    </a:rPr>
                                    <m:t>𝐺</m:t>
                                  </m:r>
                                </m:e>
                                <m:sub>
                                  <m:r>
                                    <a:rPr lang="zh-CN" altLang="en-US" sz="1400" i="1">
                                      <a:latin typeface="Cambria Math" panose="02040503050406030204" pitchFamily="18" charset="0"/>
                                    </a:rPr>
                                    <m:t>𝑖</m:t>
                                  </m:r>
                                </m:sub>
                                <m:sup>
                                  <m:r>
                                    <a:rPr lang="zh-CN" altLang="en-US" sz="1400" i="0">
                                      <a:latin typeface="Cambria Math" panose="02040503050406030204" pitchFamily="18" charset="0"/>
                                    </a:rPr>
                                    <m:t>2</m:t>
                                  </m:r>
                                </m:sup>
                              </m:sSubSup>
                            </m:e>
                          </m:rad>
                        </m:num>
                        <m:den>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𝐺</m:t>
                              </m:r>
                            </m:e>
                            <m:sub>
                              <m:r>
                                <a:rPr lang="zh-CN" altLang="en-US" sz="1400" i="1">
                                  <a:latin typeface="Cambria Math" panose="02040503050406030204" pitchFamily="18" charset="0"/>
                                </a:rPr>
                                <m:t>𝑖</m:t>
                              </m:r>
                            </m:sub>
                          </m:sSub>
                          <m:r>
                            <a:rPr lang="zh-CN" altLang="en-US" sz="1400" i="0">
                              <a:latin typeface="Cambria Math" panose="02040503050406030204" pitchFamily="18" charset="0"/>
                            </a:rPr>
                            <m:t>−</m:t>
                          </m:r>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𝐸</m:t>
                              </m:r>
                            </m:e>
                            <m:sub>
                              <m:r>
                                <a:rPr lang="zh-CN" altLang="en-US" sz="1400" i="1">
                                  <a:latin typeface="Cambria Math" panose="02040503050406030204" pitchFamily="18" charset="0"/>
                                </a:rPr>
                                <m:t>𝑖</m:t>
                              </m:r>
                            </m:sub>
                          </m:sSub>
                        </m:den>
                      </m:f>
                    </m:oMath>
                  </m:oMathPara>
                </a14:m>
                <a:endParaRPr lang="zh-CN" altLang="en-US" sz="1400" dirty="0"/>
              </a:p>
            </p:txBody>
          </p:sp>
        </mc:Choice>
        <mc:Fallback xmlns="">
          <p:sp>
            <p:nvSpPr>
              <p:cNvPr id="12" name="矩形 11"/>
              <p:cNvSpPr>
                <a:spLocks noRot="1" noChangeAspect="1" noMove="1" noResize="1" noEditPoints="1" noAdjustHandles="1" noChangeArrowheads="1" noChangeShapeType="1" noTextEdit="1"/>
              </p:cNvSpPr>
              <p:nvPr/>
            </p:nvSpPr>
            <p:spPr>
              <a:xfrm>
                <a:off x="3994542" y="4004783"/>
                <a:ext cx="2254207" cy="768480"/>
              </a:xfrm>
              <a:prstGeom prst="rect">
                <a:avLst/>
              </a:prstGeom>
              <a:blipFill>
                <a:blip r:embed="rId12"/>
                <a:stretch>
                  <a:fillRect/>
                </a:stretch>
              </a:blipFill>
            </p:spPr>
            <p:txBody>
              <a:bodyPr/>
              <a:lstStyle/>
              <a:p>
                <a:r>
                  <a:rPr lang="zh-CN" altLang="en-US">
                    <a:noFill/>
                  </a:rPr>
                  <a:t> </a:t>
                </a:r>
              </a:p>
            </p:txBody>
          </p:sp>
        </mc:Fallback>
      </mc:AlternateContent>
      <p:sp>
        <p:nvSpPr>
          <p:cNvPr id="22" name="矩形 21"/>
          <p:cNvSpPr/>
          <p:nvPr/>
        </p:nvSpPr>
        <p:spPr>
          <a:xfrm>
            <a:off x="5684677" y="4721861"/>
            <a:ext cx="3416320" cy="276999"/>
          </a:xfrm>
          <a:prstGeom prst="rect">
            <a:avLst/>
          </a:prstGeom>
        </p:spPr>
        <p:txBody>
          <a:bodyPr wrap="none">
            <a:spAutoFit/>
          </a:bodyPr>
          <a:lstStyle/>
          <a:p>
            <a:r>
              <a:rPr lang="zh-CN" altLang="zh-CN" sz="1200" dirty="0">
                <a:solidFill>
                  <a:srgbClr val="002060"/>
                </a:solidFill>
              </a:rPr>
              <a:t>逆</a:t>
            </a:r>
            <a:r>
              <a:rPr lang="zh-CN" altLang="zh-CN" sz="1200" dirty="0" smtClean="0">
                <a:solidFill>
                  <a:srgbClr val="002060"/>
                </a:solidFill>
              </a:rPr>
              <a:t>解</a:t>
            </a:r>
            <a:r>
              <a:rPr lang="zh-CN" altLang="en-US" sz="1200" dirty="0" smtClean="0">
                <a:solidFill>
                  <a:srgbClr val="002060"/>
                </a:solidFill>
              </a:rPr>
              <a:t>还算比较好求，正解却不好解，且有多解！</a:t>
            </a:r>
            <a:endParaRPr lang="zh-CN" altLang="en-US" sz="1200" dirty="0">
              <a:solidFill>
                <a:srgbClr val="002060"/>
              </a:solidFill>
            </a:endParaRPr>
          </a:p>
        </p:txBody>
      </p:sp>
      <p:sp>
        <p:nvSpPr>
          <p:cNvPr id="23" name="矩形 22"/>
          <p:cNvSpPr/>
          <p:nvPr/>
        </p:nvSpPr>
        <p:spPr>
          <a:xfrm>
            <a:off x="5749064" y="759953"/>
            <a:ext cx="1415772" cy="338554"/>
          </a:xfrm>
          <a:prstGeom prst="rect">
            <a:avLst/>
          </a:prstGeom>
        </p:spPr>
        <p:txBody>
          <a:bodyPr wrap="none">
            <a:spAutoFit/>
          </a:bodyPr>
          <a:lstStyle/>
          <a:p>
            <a:r>
              <a:rPr lang="zh-CN" altLang="zh-CN" sz="1600" dirty="0">
                <a:solidFill>
                  <a:srgbClr val="FF0000"/>
                </a:solidFill>
              </a:rPr>
              <a:t>逆运动学求解</a:t>
            </a:r>
            <a:endParaRPr lang="zh-CN" altLang="en-US" sz="1600" dirty="0">
              <a:solidFill>
                <a:srgbClr val="FF0000"/>
              </a:solidFill>
            </a:endParaRPr>
          </a:p>
        </p:txBody>
      </p:sp>
    </p:spTree>
    <p:extLst>
      <p:ext uri="{BB962C8B-B14F-4D97-AF65-F5344CB8AC3E}">
        <p14:creationId xmlns:p14="http://schemas.microsoft.com/office/powerpoint/2010/main" val="145385352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a:off x="-236220" y="219075"/>
            <a:ext cx="5153660" cy="598805"/>
            <a:chOff x="-372" y="345"/>
            <a:chExt cx="8116" cy="943"/>
          </a:xfrm>
        </p:grpSpPr>
        <p:sp>
          <p:nvSpPr>
            <p:cNvPr id="40" name="矩形 39"/>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Kinematics of Parallel Robots</a:t>
              </a:r>
            </a:p>
          </p:txBody>
        </p:sp>
        <p:sp>
          <p:nvSpPr>
            <p:cNvPr id="41" name="文本框 40"/>
            <p:cNvSpPr txBox="1"/>
            <p:nvPr/>
          </p:nvSpPr>
          <p:spPr>
            <a:xfrm>
              <a:off x="443" y="363"/>
              <a:ext cx="7301"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并联机器人运动学</a:t>
              </a:r>
              <a:endParaRPr lang="en-US" altLang="zh-CN" sz="2000" b="1" dirty="0" smtClean="0">
                <a:latin typeface="Arial" panose="020B0604020202020204" pitchFamily="34" charset="0"/>
                <a:ea typeface="微软雅黑" panose="020B0503020204020204" charset="-122"/>
                <a:sym typeface="+mn-ea"/>
              </a:endParaRPr>
            </a:p>
          </p:txBody>
        </p:sp>
        <p:sp>
          <p:nvSpPr>
            <p:cNvPr id="42" name="椭圆 41"/>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2894526" y="561873"/>
            <a:ext cx="2540439" cy="369332"/>
          </a:xfrm>
          <a:prstGeom prst="rect">
            <a:avLst/>
          </a:prstGeom>
        </p:spPr>
        <p:txBody>
          <a:bodyPr wrap="none">
            <a:spAutoFit/>
          </a:bodyPr>
          <a:lstStyle/>
          <a:p>
            <a:r>
              <a:rPr lang="zh-CN" altLang="en-US" b="1" dirty="0">
                <a:solidFill>
                  <a:srgbClr val="002060"/>
                </a:solidFill>
                <a:ea typeface="等线" panose="02010600030101010101" pitchFamily="2" charset="-122"/>
                <a:cs typeface="Times New Roman" panose="02020603050405020304" pitchFamily="18" charset="0"/>
              </a:rPr>
              <a:t>Delta机器人运动学分析</a:t>
            </a:r>
          </a:p>
        </p:txBody>
      </p:sp>
      <p:sp>
        <p:nvSpPr>
          <p:cNvPr id="18" name="矩形 17"/>
          <p:cNvSpPr/>
          <p:nvPr/>
        </p:nvSpPr>
        <p:spPr>
          <a:xfrm>
            <a:off x="2411760" y="987574"/>
            <a:ext cx="3907545" cy="338554"/>
          </a:xfrm>
          <a:prstGeom prst="rect">
            <a:avLst/>
          </a:prstGeom>
        </p:spPr>
        <p:txBody>
          <a:bodyPr wrap="none">
            <a:spAutoFit/>
          </a:bodyPr>
          <a:lstStyle/>
          <a:p>
            <a:r>
              <a:rPr lang="zh-CN" altLang="zh-CN" sz="1600" b="1" dirty="0">
                <a:solidFill>
                  <a:srgbClr val="002060"/>
                </a:solidFill>
                <a:ea typeface="等线" panose="02010600030101010101" pitchFamily="2" charset="-122"/>
                <a:cs typeface="Times New Roman" panose="02020603050405020304" pitchFamily="18" charset="0"/>
              </a:rPr>
              <a:t>得到</a:t>
            </a:r>
            <a:r>
              <a:rPr lang="en-US" altLang="zh-CN" sz="1600" b="1" dirty="0">
                <a:solidFill>
                  <a:srgbClr val="002060"/>
                </a:solidFill>
                <a:ea typeface="等线" panose="02010600030101010101" pitchFamily="2" charset="-122"/>
                <a:cs typeface="Times New Roman" panose="02020603050405020304" pitchFamily="18" charset="0"/>
              </a:rPr>
              <a:t>Delta</a:t>
            </a:r>
            <a:r>
              <a:rPr lang="zh-CN" altLang="zh-CN" sz="1600" b="1" dirty="0">
                <a:solidFill>
                  <a:srgbClr val="002060"/>
                </a:solidFill>
                <a:ea typeface="等线" panose="02010600030101010101" pitchFamily="2" charset="-122"/>
                <a:cs typeface="Times New Roman" panose="02020603050405020304" pitchFamily="18" charset="0"/>
              </a:rPr>
              <a:t>机器人的三个运动学约束方程：</a:t>
            </a:r>
            <a:endParaRPr lang="zh-CN" altLang="en-US" sz="1600" b="1" dirty="0">
              <a:solidFill>
                <a:srgbClr val="002060"/>
              </a:solidFill>
            </a:endParaRPr>
          </a:p>
        </p:txBody>
      </p:sp>
      <mc:AlternateContent xmlns:mc="http://schemas.openxmlformats.org/markup-compatibility/2006" xmlns:a14="http://schemas.microsoft.com/office/drawing/2010/main">
        <mc:Choice Requires="a14">
          <p:sp>
            <p:nvSpPr>
              <p:cNvPr id="19" name="矩形 18"/>
              <p:cNvSpPr/>
              <p:nvPr/>
            </p:nvSpPr>
            <p:spPr>
              <a:xfrm>
                <a:off x="1475656" y="1333865"/>
                <a:ext cx="5688632" cy="276999"/>
              </a:xfrm>
              <a:prstGeom prst="rect">
                <a:avLst/>
              </a:prstGeom>
            </p:spPr>
            <p:txBody>
              <a:bodyPr wrap="square">
                <a:spAutoFit/>
              </a:bodyPr>
              <a:lstStyle/>
              <a:p>
                <a:pPr indent="266700">
                  <a:spcBef>
                    <a:spcPts val="600"/>
                  </a:spcBef>
                  <a:spcAft>
                    <a:spcPts val="600"/>
                  </a:spcAft>
                </a:pPr>
                <a14:m>
                  <m:oMath xmlns:m="http://schemas.openxmlformats.org/officeDocument/2006/math">
                    <m:r>
                      <a:rPr lang="en-US" altLang="zh-CN" sz="1200" i="1">
                        <a:latin typeface="Cambria Math" panose="02040503050406030204" pitchFamily="18" charset="0"/>
                        <a:cs typeface="宋体" panose="02010600030101010101" pitchFamily="2" charset="-122"/>
                      </a:rPr>
                      <m:t>2</m:t>
                    </m:r>
                    <m:r>
                      <a:rPr lang="en-US" altLang="zh-CN" sz="1200" i="1">
                        <a:latin typeface="Cambria Math" panose="02040503050406030204" pitchFamily="18" charset="0"/>
                        <a:cs typeface="宋体" panose="02010600030101010101" pitchFamily="2" charset="-122"/>
                      </a:rPr>
                      <m:t>𝐿</m:t>
                    </m:r>
                    <m:d>
                      <m:d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dPr>
                      <m:e>
                        <m:r>
                          <a:rPr lang="en-US" altLang="zh-CN" sz="1200" i="1">
                            <a:latin typeface="Cambria Math" panose="02040503050406030204" pitchFamily="18" charset="0"/>
                            <a:cs typeface="宋体" panose="02010600030101010101" pitchFamily="2" charset="-122"/>
                          </a:rPr>
                          <m:t>𝑦</m:t>
                        </m:r>
                        <m:r>
                          <a:rPr lang="en-US" altLang="zh-CN" sz="1200" i="1">
                            <a:latin typeface="Cambria Math" panose="02040503050406030204" pitchFamily="18" charset="0"/>
                            <a:cs typeface="宋体" panose="02010600030101010101" pitchFamily="2" charset="-122"/>
                          </a:rPr>
                          <m:t>+</m:t>
                        </m:r>
                        <m:r>
                          <a:rPr lang="en-US" altLang="zh-CN" sz="1200" i="1">
                            <a:latin typeface="Cambria Math" panose="02040503050406030204" pitchFamily="18" charset="0"/>
                            <a:cs typeface="宋体" panose="02010600030101010101" pitchFamily="2" charset="-122"/>
                          </a:rPr>
                          <m:t>𝑎</m:t>
                        </m:r>
                      </m:e>
                    </m:d>
                    <m:r>
                      <a:rPr lang="en-US" altLang="zh-CN" sz="1200" i="1">
                        <a:latin typeface="Cambria Math" panose="02040503050406030204" pitchFamily="18" charset="0"/>
                        <a:cs typeface="宋体" panose="02010600030101010101" pitchFamily="2" charset="-122"/>
                      </a:rPr>
                      <m:t>𝑐𝑜𝑠</m:t>
                    </m:r>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𝜃</m:t>
                        </m:r>
                      </m:e>
                      <m:sub>
                        <m:r>
                          <a:rPr lang="en-US" altLang="zh-CN" sz="1200" i="1">
                            <a:latin typeface="Cambria Math" panose="02040503050406030204" pitchFamily="18" charset="0"/>
                            <a:cs typeface="宋体" panose="02010600030101010101" pitchFamily="2" charset="-122"/>
                          </a:rPr>
                          <m:t>1</m:t>
                        </m:r>
                      </m:sub>
                    </m:sSub>
                    <m:r>
                      <a:rPr lang="en-US" altLang="zh-CN" sz="1200" i="1">
                        <a:latin typeface="Cambria Math" panose="02040503050406030204" pitchFamily="18" charset="0"/>
                        <a:cs typeface="宋体" panose="02010600030101010101" pitchFamily="2" charset="-122"/>
                      </a:rPr>
                      <m:t>+</m:t>
                    </m:r>
                    <m:r>
                      <a:rPr lang="en-US" altLang="zh-CN" sz="1200" i="1">
                        <a:latin typeface="Cambria Math" panose="02040503050406030204" pitchFamily="18" charset="0"/>
                        <a:cs typeface="宋体" panose="02010600030101010101" pitchFamily="2" charset="-122"/>
                      </a:rPr>
                      <m:t>2</m:t>
                    </m:r>
                    <m:r>
                      <a:rPr lang="en-US" altLang="zh-CN" sz="1200" i="1">
                        <a:latin typeface="Cambria Math" panose="02040503050406030204" pitchFamily="18" charset="0"/>
                        <a:cs typeface="宋体" panose="02010600030101010101" pitchFamily="2" charset="-122"/>
                      </a:rPr>
                      <m:t>𝑧𝐿𝑠𝑖𝑛</m:t>
                    </m:r>
                    <m:sSub>
                      <m:sSub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a:latin typeface="Cambria Math" panose="02040503050406030204" pitchFamily="18" charset="0"/>
                            <a:cs typeface="宋体" panose="02010600030101010101" pitchFamily="2" charset="-122"/>
                          </a:rPr>
                          <m:t>𝜃</m:t>
                        </m:r>
                      </m:e>
                      <m:sub>
                        <m:r>
                          <a:rPr lang="en-US" altLang="zh-CN" sz="1200" i="1">
                            <a:latin typeface="Cambria Math" panose="02040503050406030204" pitchFamily="18" charset="0"/>
                            <a:cs typeface="宋体" panose="02010600030101010101" pitchFamily="2" charset="-122"/>
                          </a:rPr>
                          <m:t>1</m:t>
                        </m:r>
                      </m:sub>
                    </m:sSub>
                    <m:r>
                      <a:rPr lang="en-US" altLang="zh-CN" sz="1200" i="1">
                        <a:latin typeface="Cambria Math" panose="02040503050406030204" pitchFamily="18" charset="0"/>
                        <a:cs typeface="宋体" panose="02010600030101010101" pitchFamily="2" charset="-122"/>
                      </a:rPr>
                      <m:t>+</m:t>
                    </m:r>
                    <m:sSup>
                      <m:sSup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200" i="1">
                            <a:latin typeface="Cambria Math" panose="02040503050406030204" pitchFamily="18" charset="0"/>
                            <a:cs typeface="宋体" panose="02010600030101010101" pitchFamily="2" charset="-122"/>
                          </a:rPr>
                          <m:t>𝑥</m:t>
                        </m:r>
                      </m:e>
                      <m:sup>
                        <m:r>
                          <a:rPr lang="en-US" altLang="zh-CN" sz="1200" i="1">
                            <a:latin typeface="Cambria Math" panose="02040503050406030204" pitchFamily="18" charset="0"/>
                            <a:cs typeface="宋体" panose="02010600030101010101" pitchFamily="2" charset="-122"/>
                          </a:rPr>
                          <m:t>2</m:t>
                        </m:r>
                      </m:sup>
                    </m:sSup>
                    <m:r>
                      <a:rPr lang="en-US" altLang="zh-CN" sz="1200" i="1">
                        <a:latin typeface="Cambria Math" panose="02040503050406030204" pitchFamily="18" charset="0"/>
                        <a:cs typeface="宋体" panose="02010600030101010101" pitchFamily="2" charset="-122"/>
                      </a:rPr>
                      <m:t>+</m:t>
                    </m:r>
                    <m:sSup>
                      <m:sSup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200" i="1">
                            <a:latin typeface="Cambria Math" panose="02040503050406030204" pitchFamily="18" charset="0"/>
                            <a:cs typeface="宋体" panose="02010600030101010101" pitchFamily="2" charset="-122"/>
                          </a:rPr>
                          <m:t>𝑦</m:t>
                        </m:r>
                      </m:e>
                      <m:sup>
                        <m:r>
                          <a:rPr lang="en-US" altLang="zh-CN" sz="1200" i="1">
                            <a:latin typeface="Cambria Math" panose="02040503050406030204" pitchFamily="18" charset="0"/>
                            <a:cs typeface="宋体" panose="02010600030101010101" pitchFamily="2" charset="-122"/>
                          </a:rPr>
                          <m:t>2</m:t>
                        </m:r>
                      </m:sup>
                    </m:sSup>
                    <m:r>
                      <a:rPr lang="en-US" altLang="zh-CN" sz="1200" i="1">
                        <a:latin typeface="Cambria Math" panose="02040503050406030204" pitchFamily="18" charset="0"/>
                        <a:cs typeface="宋体" panose="02010600030101010101" pitchFamily="2" charset="-122"/>
                      </a:rPr>
                      <m:t>+</m:t>
                    </m:r>
                    <m:sSup>
                      <m:sSup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200" i="1">
                            <a:latin typeface="Cambria Math" panose="02040503050406030204" pitchFamily="18" charset="0"/>
                            <a:cs typeface="宋体" panose="02010600030101010101" pitchFamily="2" charset="-122"/>
                          </a:rPr>
                          <m:t>𝑧</m:t>
                        </m:r>
                      </m:e>
                      <m:sup>
                        <m:r>
                          <a:rPr lang="en-US" altLang="zh-CN" sz="1200" i="1">
                            <a:latin typeface="Cambria Math" panose="02040503050406030204" pitchFamily="18" charset="0"/>
                            <a:cs typeface="宋体" panose="02010600030101010101" pitchFamily="2" charset="-122"/>
                          </a:rPr>
                          <m:t>2</m:t>
                        </m:r>
                      </m:sup>
                    </m:sSup>
                    <m:r>
                      <a:rPr lang="en-US" altLang="zh-CN" sz="1200" i="1">
                        <a:latin typeface="Cambria Math" panose="02040503050406030204" pitchFamily="18" charset="0"/>
                        <a:cs typeface="宋体" panose="02010600030101010101" pitchFamily="2" charset="-122"/>
                      </a:rPr>
                      <m:t>+</m:t>
                    </m:r>
                    <m:sSup>
                      <m:sSup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200" i="1">
                            <a:latin typeface="Cambria Math" panose="02040503050406030204" pitchFamily="18" charset="0"/>
                            <a:cs typeface="宋体" panose="02010600030101010101" pitchFamily="2" charset="-122"/>
                          </a:rPr>
                          <m:t>𝑎</m:t>
                        </m:r>
                      </m:e>
                      <m:sup>
                        <m:r>
                          <a:rPr lang="en-US" altLang="zh-CN" sz="1200" i="1">
                            <a:latin typeface="Cambria Math" panose="02040503050406030204" pitchFamily="18" charset="0"/>
                            <a:cs typeface="宋体" panose="02010600030101010101" pitchFamily="2" charset="-122"/>
                          </a:rPr>
                          <m:t>2</m:t>
                        </m:r>
                      </m:sup>
                    </m:sSup>
                    <m:r>
                      <a:rPr lang="en-US" altLang="zh-CN" sz="1200" i="1">
                        <a:latin typeface="Cambria Math" panose="02040503050406030204" pitchFamily="18" charset="0"/>
                        <a:cs typeface="宋体" panose="02010600030101010101" pitchFamily="2" charset="-122"/>
                      </a:rPr>
                      <m:t>+</m:t>
                    </m:r>
                    <m:sSup>
                      <m:sSup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200" i="1">
                            <a:latin typeface="Cambria Math" panose="02040503050406030204" pitchFamily="18" charset="0"/>
                            <a:cs typeface="宋体" panose="02010600030101010101" pitchFamily="2" charset="-122"/>
                          </a:rPr>
                          <m:t>𝐿</m:t>
                        </m:r>
                      </m:e>
                      <m:sup>
                        <m:r>
                          <a:rPr lang="en-US" altLang="zh-CN" sz="1200" i="1">
                            <a:latin typeface="Cambria Math" panose="02040503050406030204" pitchFamily="18" charset="0"/>
                            <a:cs typeface="宋体" panose="02010600030101010101" pitchFamily="2" charset="-122"/>
                          </a:rPr>
                          <m:t>2</m:t>
                        </m:r>
                      </m:sup>
                    </m:sSup>
                    <m:r>
                      <a:rPr lang="en-US" altLang="zh-CN" sz="1200" i="1">
                        <a:latin typeface="Cambria Math" panose="02040503050406030204" pitchFamily="18" charset="0"/>
                        <a:cs typeface="宋体" panose="02010600030101010101" pitchFamily="2" charset="-122"/>
                      </a:rPr>
                      <m:t>+</m:t>
                    </m:r>
                    <m:r>
                      <a:rPr lang="en-US" altLang="zh-CN" sz="1200" i="1">
                        <a:latin typeface="Cambria Math" panose="02040503050406030204" pitchFamily="18" charset="0"/>
                        <a:cs typeface="宋体" panose="02010600030101010101" pitchFamily="2" charset="-122"/>
                      </a:rPr>
                      <m:t>2</m:t>
                    </m:r>
                    <m:r>
                      <a:rPr lang="en-US" altLang="zh-CN" sz="1200" i="1">
                        <a:latin typeface="Cambria Math" panose="02040503050406030204" pitchFamily="18" charset="0"/>
                        <a:cs typeface="宋体" panose="02010600030101010101" pitchFamily="2" charset="-122"/>
                      </a:rPr>
                      <m:t>𝑦𝑎</m:t>
                    </m:r>
                    <m:r>
                      <a:rPr lang="en-US" altLang="zh-CN" sz="1200" i="1">
                        <a:latin typeface="Cambria Math" panose="02040503050406030204" pitchFamily="18" charset="0"/>
                        <a:cs typeface="宋体" panose="02010600030101010101" pitchFamily="2" charset="-122"/>
                      </a:rPr>
                      <m:t>−</m:t>
                    </m:r>
                    <m:sSup>
                      <m:sSupPr>
                        <m:ctrlPr>
                          <a:rPr lang="zh-CN" altLang="zh-CN" sz="1200" i="1">
                            <a:latin typeface="Cambria Math" panose="02040503050406030204" pitchFamily="18" charset="0"/>
                            <a:ea typeface="Cambria Math" panose="02040503050406030204" pitchFamily="18" charset="0"/>
                            <a:cs typeface="宋体" panose="02010600030101010101" pitchFamily="2" charset="-122"/>
                          </a:rPr>
                        </m:ctrlPr>
                      </m:sSupPr>
                      <m:e>
                        <m:r>
                          <a:rPr lang="en-US" altLang="zh-CN" sz="1200" i="1">
                            <a:latin typeface="Cambria Math" panose="02040503050406030204" pitchFamily="18" charset="0"/>
                            <a:cs typeface="宋体" panose="02010600030101010101" pitchFamily="2" charset="-122"/>
                          </a:rPr>
                          <m:t>𝑙</m:t>
                        </m:r>
                      </m:e>
                      <m:sup>
                        <m:r>
                          <a:rPr lang="en-US" altLang="zh-CN" sz="1200" i="1">
                            <a:latin typeface="Cambria Math" panose="02040503050406030204" pitchFamily="18" charset="0"/>
                            <a:cs typeface="宋体" panose="02010600030101010101" pitchFamily="2" charset="-122"/>
                          </a:rPr>
                          <m:t>2</m:t>
                        </m:r>
                      </m:sup>
                    </m:sSup>
                    <m:r>
                      <a:rPr lang="en-US" altLang="zh-CN" sz="1200" i="1">
                        <a:latin typeface="Cambria Math" panose="02040503050406030204" pitchFamily="18" charset="0"/>
                        <a:cs typeface="宋体" panose="02010600030101010101" pitchFamily="2" charset="-122"/>
                      </a:rPr>
                      <m:t>=</m:t>
                    </m:r>
                    <m:r>
                      <a:rPr lang="en-US" altLang="zh-CN" sz="1200" i="1">
                        <a:latin typeface="Cambria Math" panose="02040503050406030204" pitchFamily="18" charset="0"/>
                        <a:cs typeface="宋体" panose="02010600030101010101" pitchFamily="2" charset="-122"/>
                      </a:rPr>
                      <m:t>0</m:t>
                    </m:r>
                  </m:oMath>
                </a14:m>
                <a:r>
                  <a:rPr lang="en-US" altLang="zh-CN" sz="1200" dirty="0">
                    <a:latin typeface="宋体" panose="02010600030101010101" pitchFamily="2" charset="-122"/>
                    <a:cs typeface="宋体" panose="02010600030101010101" pitchFamily="2" charset="-122"/>
                  </a:rPr>
                  <a:t> </a:t>
                </a:r>
                <a:r>
                  <a:rPr lang="zh-CN" altLang="zh-CN" sz="1200" dirty="0">
                    <a:latin typeface="宋体" panose="02010600030101010101" pitchFamily="2" charset="-122"/>
                    <a:cs typeface="宋体" panose="02010600030101010101" pitchFamily="2" charset="-122"/>
                  </a:rPr>
                  <a:t>（</a:t>
                </a:r>
                <a:r>
                  <a:rPr lang="en-US" altLang="zh-CN" sz="1200" dirty="0" smtClean="0">
                    <a:latin typeface="宋体" panose="02010600030101010101" pitchFamily="2" charset="-122"/>
                    <a:cs typeface="宋体" panose="02010600030101010101" pitchFamily="2" charset="-122"/>
                  </a:rPr>
                  <a:t>3-114</a:t>
                </a:r>
                <a:r>
                  <a:rPr lang="zh-CN" altLang="zh-CN" sz="1200" dirty="0" smtClean="0">
                    <a:latin typeface="宋体" panose="02010600030101010101" pitchFamily="2" charset="-122"/>
                    <a:cs typeface="宋体" panose="02010600030101010101" pitchFamily="2" charset="-122"/>
                  </a:rPr>
                  <a:t>）</a:t>
                </a:r>
                <a:endParaRPr lang="zh-CN" altLang="zh-CN" sz="1200" dirty="0">
                  <a:latin typeface="宋体" panose="02010600030101010101" pitchFamily="2" charset="-122"/>
                  <a:cs typeface="宋体" panose="02010600030101010101" pitchFamily="2" charset="-122"/>
                </a:endParaRPr>
              </a:p>
            </p:txBody>
          </p:sp>
        </mc:Choice>
        <mc:Fallback xmlns="">
          <p:sp>
            <p:nvSpPr>
              <p:cNvPr id="19" name="矩形 18"/>
              <p:cNvSpPr>
                <a:spLocks noRot="1" noChangeAspect="1" noMove="1" noResize="1" noEditPoints="1" noAdjustHandles="1" noChangeArrowheads="1" noChangeShapeType="1" noTextEdit="1"/>
              </p:cNvSpPr>
              <p:nvPr/>
            </p:nvSpPr>
            <p:spPr>
              <a:xfrm>
                <a:off x="1475656" y="1333865"/>
                <a:ext cx="5688632" cy="276999"/>
              </a:xfrm>
              <a:prstGeom prst="rect">
                <a:avLst/>
              </a:prstGeom>
              <a:blipFill>
                <a:blip r:embed="rId3"/>
                <a:stretch>
                  <a:fillRect t="-2222" r="-2680" b="-1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1213788" y="1612039"/>
                <a:ext cx="6984776" cy="309187"/>
              </a:xfrm>
              <a:prstGeom prst="rect">
                <a:avLst/>
              </a:prstGeom>
            </p:spPr>
            <p:txBody>
              <a:bodyPr wrap="square">
                <a:spAutoFit/>
              </a:bodyPr>
              <a:lstStyle/>
              <a:p>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𝐿</m:t>
                    </m:r>
                    <m:d>
                      <m:dPr>
                        <m:ctrlPr>
                          <a:rPr lang="zh-CN" altLang="zh-CN" sz="1200" i="1">
                            <a:effectLst/>
                            <a:latin typeface="Cambria Math" panose="02040503050406030204" pitchFamily="18" charset="0"/>
                            <a:ea typeface="Cambria Math" panose="02040503050406030204" pitchFamily="18" charset="0"/>
                          </a:rPr>
                        </m:ctrlPr>
                      </m:dPr>
                      <m:e>
                        <m:rad>
                          <m:radPr>
                            <m:degHide m:val="on"/>
                            <m:ctrlPr>
                              <a:rPr lang="zh-CN" altLang="zh-CN" sz="1200" i="1">
                                <a:effectLst/>
                                <a:latin typeface="Cambria Math" panose="02040503050406030204" pitchFamily="18" charset="0"/>
                                <a:ea typeface="Cambria Math" panose="02040503050406030204" pitchFamily="18" charset="0"/>
                              </a:rPr>
                            </m:ctrlPr>
                          </m:radPr>
                          <m:deg/>
                          <m:e>
                            <m:r>
                              <a:rPr lang="en-US" altLang="zh-CN" sz="1200" i="1">
                                <a:latin typeface="Cambria Math" panose="02040503050406030204" pitchFamily="18" charset="0"/>
                                <a:ea typeface="等线" panose="02010600030101010101" pitchFamily="2" charset="-122"/>
                                <a:cs typeface="Times New Roman" panose="02020603050405020304" pitchFamily="18" charset="0"/>
                              </a:rPr>
                              <m:t>3</m:t>
                            </m:r>
                          </m:e>
                        </m:rad>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𝑥</m:t>
                        </m:r>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𝑏</m:t>
                        </m:r>
                      </m:e>
                    </m:d>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𝑦</m:t>
                    </m:r>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𝑐</m:t>
                    </m:r>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𝑐𝑜𝑠</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𝑧𝐿𝑠𝑖𝑛</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𝑥</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𝑦</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𝑧</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𝑏</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𝑐</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𝐿</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𝑥𝑏</m:t>
                    </m:r>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𝑦𝑐</m:t>
                    </m:r>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𝑙</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0</m:t>
                    </m:r>
                  </m:oMath>
                </a14:m>
                <a:r>
                  <a:rPr lang="en-US" altLang="zh-CN" sz="1200" dirty="0">
                    <a:latin typeface="等线" panose="02010600030101010101" pitchFamily="2" charset="-122"/>
                    <a:cs typeface="Times New Roman" panose="02020603050405020304" pitchFamily="18" charset="0"/>
                  </a:rPr>
                  <a:t> </a:t>
                </a:r>
                <a:r>
                  <a:rPr lang="zh-CN" altLang="zh-CN" sz="1200" dirty="0">
                    <a:ea typeface="等线" panose="02010600030101010101" pitchFamily="2" charset="-122"/>
                    <a:cs typeface="Times New Roman" panose="02020603050405020304" pitchFamily="18" charset="0"/>
                  </a:rPr>
                  <a:t>（</a:t>
                </a:r>
                <a:r>
                  <a:rPr lang="en-US" altLang="zh-CN" sz="1200" dirty="0" smtClean="0">
                    <a:ea typeface="等线" panose="02010600030101010101" pitchFamily="2" charset="-122"/>
                    <a:cs typeface="Times New Roman" panose="02020603050405020304" pitchFamily="18" charset="0"/>
                  </a:rPr>
                  <a:t>3-115</a:t>
                </a:r>
                <a:r>
                  <a:rPr lang="zh-CN" altLang="zh-CN" sz="1200" dirty="0" smtClean="0">
                    <a:ea typeface="等线" panose="02010600030101010101" pitchFamily="2" charset="-122"/>
                    <a:cs typeface="Times New Roman" panose="02020603050405020304" pitchFamily="18" charset="0"/>
                  </a:rPr>
                  <a:t>）</a:t>
                </a:r>
                <a:endParaRPr lang="zh-CN" altLang="en-US" sz="1200" dirty="0"/>
              </a:p>
            </p:txBody>
          </p:sp>
        </mc:Choice>
        <mc:Fallback xmlns="">
          <p:sp>
            <p:nvSpPr>
              <p:cNvPr id="20" name="矩形 19"/>
              <p:cNvSpPr>
                <a:spLocks noRot="1" noChangeAspect="1" noMove="1" noResize="1" noEditPoints="1" noAdjustHandles="1" noChangeArrowheads="1" noChangeShapeType="1" noTextEdit="1"/>
              </p:cNvSpPr>
              <p:nvPr/>
            </p:nvSpPr>
            <p:spPr>
              <a:xfrm>
                <a:off x="1213788" y="1612039"/>
                <a:ext cx="6984776" cy="309187"/>
              </a:xfrm>
              <a:prstGeom prst="rect">
                <a:avLst/>
              </a:prstGeom>
              <a:blipFill>
                <a:blip r:embed="rId4"/>
                <a:stretch>
                  <a:fillRect r="-2182" b="-117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1209028" y="1918931"/>
                <a:ext cx="7200800" cy="309187"/>
              </a:xfrm>
              <a:prstGeom prst="rect">
                <a:avLst/>
              </a:prstGeom>
            </p:spPr>
            <p:txBody>
              <a:bodyPr wrap="square">
                <a:spAutoFit/>
              </a:bodyPr>
              <a:lstStyle/>
              <a:p>
                <a14:m>
                  <m:oMath xmlns:m="http://schemas.openxmlformats.org/officeDocument/2006/math">
                    <m:r>
                      <a:rPr lang="en-US" altLang="zh-CN" sz="1200" i="1">
                        <a:latin typeface="Cambria Math" panose="02040503050406030204" pitchFamily="18" charset="0"/>
                        <a:ea typeface="等线" panose="02010600030101010101" pitchFamily="2" charset="-122"/>
                        <a:cs typeface="Times New Roman" panose="02020603050405020304" pitchFamily="18" charset="0"/>
                      </a:rPr>
                      <m:t>𝐿</m:t>
                    </m:r>
                    <m:d>
                      <m:dPr>
                        <m:ctrlPr>
                          <a:rPr lang="zh-CN" altLang="zh-CN" sz="1200" i="1">
                            <a:effectLst/>
                            <a:latin typeface="Cambria Math" panose="02040503050406030204" pitchFamily="18" charset="0"/>
                            <a:ea typeface="Cambria Math" panose="02040503050406030204" pitchFamily="18" charset="0"/>
                          </a:rPr>
                        </m:ctrlPr>
                      </m:dPr>
                      <m:e>
                        <m:rad>
                          <m:radPr>
                            <m:degHide m:val="on"/>
                            <m:ctrlPr>
                              <a:rPr lang="zh-CN" altLang="zh-CN" sz="1200" i="1">
                                <a:effectLst/>
                                <a:latin typeface="Cambria Math" panose="02040503050406030204" pitchFamily="18" charset="0"/>
                                <a:ea typeface="Cambria Math" panose="02040503050406030204" pitchFamily="18" charset="0"/>
                              </a:rPr>
                            </m:ctrlPr>
                          </m:radPr>
                          <m:deg/>
                          <m:e>
                            <m:r>
                              <a:rPr lang="en-US" altLang="zh-CN" sz="1200" i="1">
                                <a:latin typeface="Cambria Math" panose="02040503050406030204" pitchFamily="18" charset="0"/>
                                <a:ea typeface="等线" panose="02010600030101010101" pitchFamily="2" charset="-122"/>
                                <a:cs typeface="Times New Roman" panose="02020603050405020304" pitchFamily="18" charset="0"/>
                              </a:rPr>
                              <m:t>3</m:t>
                            </m:r>
                          </m:e>
                        </m:rad>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𝑥</m:t>
                        </m:r>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𝑏</m:t>
                        </m:r>
                      </m:e>
                    </m:d>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𝑦</m:t>
                    </m:r>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𝑐</m:t>
                    </m:r>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𝑐𝑜𝑠</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3</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𝑧𝐿𝑠𝑖𝑛</m:t>
                    </m:r>
                    <m:sSub>
                      <m:sSubPr>
                        <m:ctrlPr>
                          <a:rPr lang="zh-CN" altLang="zh-CN" sz="1200" i="1">
                            <a:effectLst/>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𝜃</m:t>
                        </m:r>
                      </m:e>
                      <m:sub>
                        <m:r>
                          <a:rPr lang="en-US" altLang="zh-CN" sz="1200" i="1">
                            <a:latin typeface="Cambria Math" panose="02040503050406030204" pitchFamily="18" charset="0"/>
                            <a:ea typeface="等线" panose="02010600030101010101" pitchFamily="2" charset="-122"/>
                            <a:cs typeface="Times New Roman" panose="02020603050405020304" pitchFamily="18" charset="0"/>
                          </a:rPr>
                          <m:t>3</m:t>
                        </m:r>
                      </m:sub>
                    </m:sSub>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𝑥</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𝑦</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𝑧</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𝑏</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𝑐</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𝐿</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𝑥𝑏</m:t>
                    </m:r>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r>
                      <a:rPr lang="en-US" altLang="zh-CN" sz="1200" i="1">
                        <a:latin typeface="Cambria Math" panose="02040503050406030204" pitchFamily="18" charset="0"/>
                        <a:ea typeface="等线" panose="02010600030101010101" pitchFamily="2" charset="-122"/>
                        <a:cs typeface="Times New Roman" panose="02020603050405020304" pitchFamily="18" charset="0"/>
                      </a:rPr>
                      <m:t>𝑦𝑐</m:t>
                    </m:r>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200" i="1">
                            <a:effectLst/>
                            <a:latin typeface="Cambria Math" panose="02040503050406030204" pitchFamily="18" charset="0"/>
                            <a:ea typeface="Cambria Math" panose="02040503050406030204" pitchFamily="18" charset="0"/>
                          </a:rPr>
                        </m:ctrlPr>
                      </m:sSupPr>
                      <m:e>
                        <m:r>
                          <a:rPr lang="en-US" altLang="zh-CN" sz="1200" i="1">
                            <a:latin typeface="Cambria Math" panose="02040503050406030204" pitchFamily="18" charset="0"/>
                            <a:ea typeface="等线" panose="02010600030101010101" pitchFamily="2" charset="-122"/>
                            <a:cs typeface="Times New Roman" panose="02020603050405020304" pitchFamily="18" charset="0"/>
                          </a:rPr>
                          <m:t>𝑙</m:t>
                        </m:r>
                      </m:e>
                      <m:sup>
                        <m:r>
                          <a:rPr lang="en-US" altLang="zh-CN" sz="1200" i="1">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1200" i="1">
                        <a:latin typeface="Cambria Math" panose="02040503050406030204" pitchFamily="18" charset="0"/>
                        <a:ea typeface="等线" panose="02010600030101010101" pitchFamily="2" charset="-122"/>
                        <a:cs typeface="Times New Roman" panose="02020603050405020304" pitchFamily="18" charset="0"/>
                      </a:rPr>
                      <m:t>=</m:t>
                    </m:r>
                    <m:r>
                      <a:rPr lang="en-US" altLang="zh-CN" sz="1200" i="1">
                        <a:latin typeface="Cambria Math" panose="02040503050406030204" pitchFamily="18" charset="0"/>
                        <a:ea typeface="等线" panose="02010600030101010101" pitchFamily="2" charset="-122"/>
                        <a:cs typeface="Times New Roman" panose="02020603050405020304" pitchFamily="18" charset="0"/>
                      </a:rPr>
                      <m:t>0</m:t>
                    </m:r>
                  </m:oMath>
                </a14:m>
                <a:r>
                  <a:rPr lang="en-US" altLang="zh-CN" sz="1200" dirty="0">
                    <a:latin typeface="等线" panose="02010600030101010101" pitchFamily="2" charset="-122"/>
                    <a:cs typeface="Times New Roman" panose="02020603050405020304" pitchFamily="18" charset="0"/>
                  </a:rPr>
                  <a:t> </a:t>
                </a:r>
                <a:r>
                  <a:rPr lang="zh-CN" altLang="zh-CN" sz="1200" dirty="0">
                    <a:ea typeface="等线" panose="02010600030101010101" pitchFamily="2" charset="-122"/>
                    <a:cs typeface="Times New Roman" panose="02020603050405020304" pitchFamily="18" charset="0"/>
                  </a:rPr>
                  <a:t>（</a:t>
                </a:r>
                <a:r>
                  <a:rPr lang="en-US" altLang="zh-CN" sz="1200" dirty="0" smtClean="0">
                    <a:ea typeface="等线" panose="02010600030101010101" pitchFamily="2" charset="-122"/>
                    <a:cs typeface="Times New Roman" panose="02020603050405020304" pitchFamily="18" charset="0"/>
                  </a:rPr>
                  <a:t>3-116</a:t>
                </a:r>
                <a:r>
                  <a:rPr lang="zh-CN" altLang="zh-CN" sz="1200" dirty="0" smtClean="0">
                    <a:ea typeface="等线" panose="02010600030101010101" pitchFamily="2" charset="-122"/>
                    <a:cs typeface="Times New Roman" panose="02020603050405020304" pitchFamily="18" charset="0"/>
                  </a:rPr>
                  <a:t>）</a:t>
                </a:r>
                <a:endParaRPr lang="zh-CN" altLang="en-US" sz="1200" dirty="0"/>
              </a:p>
            </p:txBody>
          </p:sp>
        </mc:Choice>
        <mc:Fallback xmlns="">
          <p:sp>
            <p:nvSpPr>
              <p:cNvPr id="21" name="矩形 20"/>
              <p:cNvSpPr>
                <a:spLocks noRot="1" noChangeAspect="1" noMove="1" noResize="1" noEditPoints="1" noAdjustHandles="1" noChangeArrowheads="1" noChangeShapeType="1" noTextEdit="1"/>
              </p:cNvSpPr>
              <p:nvPr/>
            </p:nvSpPr>
            <p:spPr>
              <a:xfrm>
                <a:off x="1209028" y="1918931"/>
                <a:ext cx="7200800" cy="309187"/>
              </a:xfrm>
              <a:prstGeom prst="rect">
                <a:avLst/>
              </a:prstGeom>
              <a:blipFill>
                <a:blip r:embed="rId5"/>
                <a:stretch>
                  <a:fillRect b="-11765"/>
                </a:stretch>
              </a:blipFill>
            </p:spPr>
            <p:txBody>
              <a:bodyPr/>
              <a:lstStyle/>
              <a:p>
                <a:r>
                  <a:rPr lang="zh-CN" altLang="en-US">
                    <a:noFill/>
                  </a:rPr>
                  <a:t> </a:t>
                </a:r>
              </a:p>
            </p:txBody>
          </p:sp>
        </mc:Fallback>
      </mc:AlternateContent>
      <p:sp>
        <p:nvSpPr>
          <p:cNvPr id="23" name="矩形 22"/>
          <p:cNvSpPr/>
          <p:nvPr/>
        </p:nvSpPr>
        <p:spPr>
          <a:xfrm>
            <a:off x="5434965" y="598674"/>
            <a:ext cx="1569660" cy="369332"/>
          </a:xfrm>
          <a:prstGeom prst="rect">
            <a:avLst/>
          </a:prstGeom>
        </p:spPr>
        <p:txBody>
          <a:bodyPr wrap="none">
            <a:spAutoFit/>
          </a:bodyPr>
          <a:lstStyle/>
          <a:p>
            <a:r>
              <a:rPr lang="zh-CN" altLang="en-US" dirty="0" smtClean="0">
                <a:solidFill>
                  <a:srgbClr val="FF0000"/>
                </a:solidFill>
              </a:rPr>
              <a:t>正</a:t>
            </a:r>
            <a:r>
              <a:rPr lang="zh-CN" altLang="zh-CN" dirty="0" smtClean="0">
                <a:solidFill>
                  <a:srgbClr val="FF0000"/>
                </a:solidFill>
              </a:rPr>
              <a:t>运动学</a:t>
            </a:r>
            <a:r>
              <a:rPr lang="zh-CN" altLang="zh-CN" dirty="0">
                <a:solidFill>
                  <a:srgbClr val="FF0000"/>
                </a:solidFill>
              </a:rPr>
              <a:t>求解</a:t>
            </a:r>
            <a:endParaRPr lang="zh-CN" altLang="en-US" dirty="0">
              <a:solidFill>
                <a:srgbClr val="FF0000"/>
              </a:solidFill>
            </a:endParaRPr>
          </a:p>
        </p:txBody>
      </p:sp>
      <p:pic>
        <p:nvPicPr>
          <p:cNvPr id="24" name="图片 23"/>
          <p:cNvPicPr/>
          <p:nvPr/>
        </p:nvPicPr>
        <p:blipFill>
          <a:blip r:embed="rId6">
            <a:extLst>
              <a:ext uri="{28A0092B-C50C-407E-A947-70E740481C1C}">
                <a14:useLocalDpi xmlns:a14="http://schemas.microsoft.com/office/drawing/2010/main" val="0"/>
              </a:ext>
            </a:extLst>
          </a:blip>
          <a:srcRect/>
          <a:stretch>
            <a:fillRect/>
          </a:stretch>
        </p:blipFill>
        <p:spPr bwMode="auto">
          <a:xfrm>
            <a:off x="611560" y="2215710"/>
            <a:ext cx="2232248" cy="2529339"/>
          </a:xfrm>
          <a:prstGeom prst="rect">
            <a:avLst/>
          </a:prstGeom>
          <a:noFill/>
          <a:ln>
            <a:noFill/>
          </a:ln>
        </p:spPr>
      </p:pic>
      <mc:AlternateContent xmlns:mc="http://schemas.openxmlformats.org/markup-compatibility/2006" xmlns:a14="http://schemas.microsoft.com/office/drawing/2010/main">
        <mc:Choice Requires="a14">
          <p:sp>
            <p:nvSpPr>
              <p:cNvPr id="3" name="矩形 2"/>
              <p:cNvSpPr/>
              <p:nvPr/>
            </p:nvSpPr>
            <p:spPr>
              <a:xfrm>
                <a:off x="3131840" y="2314774"/>
                <a:ext cx="5066724" cy="1145057"/>
              </a:xfrm>
              <a:prstGeom prst="rect">
                <a:avLst/>
              </a:prstGeom>
            </p:spPr>
            <p:txBody>
              <a:bodyPr wrap="square">
                <a:spAutoFit/>
              </a:bodyPr>
              <a:lstStyle/>
              <a:p>
                <a:pPr marL="285750" indent="-285750">
                  <a:buFont typeface="Wingdings" panose="05000000000000000000" pitchFamily="2" charset="2"/>
                  <a:buChar char="Ø"/>
                </a:pPr>
                <a:r>
                  <a:rPr lang="zh-CN" altLang="en-US" sz="1600" dirty="0" smtClean="0">
                    <a:solidFill>
                      <a:srgbClr val="FF0000"/>
                    </a:solidFill>
                    <a:ea typeface="等线" panose="02010600030101010101" pitchFamily="2" charset="-122"/>
                    <a:cs typeface="Times New Roman" panose="02020603050405020304" pitchFamily="18" charset="0"/>
                  </a:rPr>
                  <a:t>方法</a:t>
                </a:r>
                <a:r>
                  <a:rPr lang="en-US" altLang="zh-CN" sz="1600" dirty="0" smtClean="0">
                    <a:solidFill>
                      <a:srgbClr val="FF0000"/>
                    </a:solidFill>
                    <a:ea typeface="等线" panose="02010600030101010101" pitchFamily="2" charset="-122"/>
                    <a:cs typeface="Times New Roman" panose="02020603050405020304" pitchFamily="18" charset="0"/>
                  </a:rPr>
                  <a:t>1</a:t>
                </a:r>
                <a:r>
                  <a:rPr lang="zh-CN" altLang="en-US" sz="1600" dirty="0" smtClean="0">
                    <a:ea typeface="等线" panose="02010600030101010101" pitchFamily="2" charset="-122"/>
                    <a:cs typeface="Times New Roman" panose="02020603050405020304" pitchFamily="18" charset="0"/>
                  </a:rPr>
                  <a:t>：定义三个虚拟的球体，</a:t>
                </a:r>
                <a:r>
                  <a:rPr lang="zh-CN" altLang="zh-CN" sz="1600" dirty="0" smtClean="0">
                    <a:ea typeface="等线" panose="02010600030101010101" pitchFamily="2" charset="-122"/>
                    <a:cs typeface="Times New Roman" panose="02020603050405020304" pitchFamily="18" charset="0"/>
                  </a:rPr>
                  <a:t>这</a:t>
                </a:r>
                <a:r>
                  <a:rPr lang="zh-CN" altLang="zh-CN" sz="1600" dirty="0">
                    <a:ea typeface="等线" panose="02010600030101010101" pitchFamily="2" charset="-122"/>
                    <a:cs typeface="Times New Roman" panose="02020603050405020304" pitchFamily="18" charset="0"/>
                  </a:rPr>
                  <a:t>三个球的半径均为</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𝑙</m:t>
                    </m:r>
                  </m:oMath>
                </a14:m>
                <a:r>
                  <a:rPr lang="zh-CN" altLang="zh-CN" sz="1600" dirty="0">
                    <a:ea typeface="等线" panose="02010600030101010101" pitchFamily="2" charset="-122"/>
                    <a:cs typeface="Times New Roman" panose="02020603050405020304" pitchFamily="18" charset="0"/>
                  </a:rPr>
                  <a:t>，可以表示为</a:t>
                </a:r>
                <a14:m>
                  <m:oMath xmlns:m="http://schemas.openxmlformats.org/officeDocument/2006/math">
                    <m:d>
                      <m:dPr>
                        <m:ctrlPr>
                          <a:rPr lang="zh-CN" altLang="zh-CN" sz="1600" i="1">
                            <a:effectLst/>
                            <a:latin typeface="Cambria Math" panose="02040503050406030204" pitchFamily="18" charset="0"/>
                            <a:ea typeface="Cambria Math" panose="02040503050406030204" pitchFamily="18" charset="0"/>
                          </a:rPr>
                        </m:ctrlPr>
                      </m:dPr>
                      <m:e>
                        <m:d>
                          <m:dPr>
                            <m:begChr m:val="{"/>
                            <m:endChr m:val="}"/>
                            <m:ctrlPr>
                              <a:rPr lang="zh-CN" altLang="zh-CN" sz="1600" i="1">
                                <a:effectLst/>
                                <a:latin typeface="Cambria Math" panose="02040503050406030204" pitchFamily="18" charset="0"/>
                                <a:ea typeface="Cambria Math" panose="02040503050406030204" pitchFamily="18" charset="0"/>
                              </a:rPr>
                            </m:ctrlPr>
                          </m:dPr>
                          <m:e>
                            <m:sPre>
                              <m:sPrePr>
                                <m:ctrlPr>
                                  <a:rPr lang="zh-CN" altLang="zh-CN" sz="1600" i="1">
                                    <a:effectLst/>
                                    <a:latin typeface="Cambria Math" panose="02040503050406030204" pitchFamily="18" charset="0"/>
                                    <a:ea typeface="Cambria Math" panose="02040503050406030204" pitchFamily="18" charset="0"/>
                                  </a:rPr>
                                </m:ctrlPr>
                              </m:sPrePr>
                              <m:sub/>
                              <m:sup>
                                <m:r>
                                  <a:rPr lang="en-US" altLang="zh-CN" sz="1600" i="1">
                                    <a:latin typeface="Cambria Math" panose="02040503050406030204" pitchFamily="18" charset="0"/>
                                    <a:ea typeface="等线" panose="02010600030101010101" pitchFamily="2" charset="-122"/>
                                    <a:cs typeface="Times New Roman" panose="02020603050405020304" pitchFamily="18" charset="0"/>
                                  </a:rPr>
                                  <m:t>𝐵</m:t>
                                </m:r>
                              </m:sup>
                              <m:e>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𝐴</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1</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𝑣</m:t>
                                    </m:r>
                                  </m:sub>
                                </m:sSub>
                              </m:e>
                            </m:sPre>
                          </m:e>
                        </m:d>
                        <m:r>
                          <a:rPr lang="en-US" altLang="zh-CN" sz="1600" i="1">
                            <a:latin typeface="Cambria Math" panose="02040503050406030204" pitchFamily="18" charset="0"/>
                            <a:ea typeface="等线" panose="02010600030101010101" pitchFamily="2" charset="-122"/>
                            <a:cs typeface="Times New Roman" panose="02020603050405020304" pitchFamily="18" charset="0"/>
                          </a:rPr>
                          <m:t>,  </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𝑙</m:t>
                        </m:r>
                        <m:r>
                          <a:rPr lang="en-US" altLang="zh-CN" sz="1600" i="1">
                            <a:latin typeface="Cambria Math" panose="02040503050406030204" pitchFamily="18" charset="0"/>
                            <a:ea typeface="等线" panose="02010600030101010101" pitchFamily="2" charset="-122"/>
                            <a:cs typeface="Times New Roman" panose="02020603050405020304" pitchFamily="18" charset="0"/>
                          </a:rPr>
                          <m:t> </m:t>
                        </m:r>
                      </m:e>
                    </m:d>
                  </m:oMath>
                </a14:m>
                <a:r>
                  <a:rPr lang="zh-CN" altLang="zh-CN" sz="1600" dirty="0">
                    <a:ea typeface="等线" panose="02010600030101010101" pitchFamily="2" charset="-122"/>
                    <a:cs typeface="Times New Roman" panose="02020603050405020304" pitchFamily="18" charset="0"/>
                  </a:rPr>
                  <a:t>，</a:t>
                </a:r>
                <a14:m>
                  <m:oMath xmlns:m="http://schemas.openxmlformats.org/officeDocument/2006/math">
                    <m:d>
                      <m:dPr>
                        <m:ctrlPr>
                          <a:rPr lang="zh-CN" altLang="zh-CN" sz="1600" i="1">
                            <a:effectLst/>
                            <a:latin typeface="Cambria Math" panose="02040503050406030204" pitchFamily="18" charset="0"/>
                            <a:ea typeface="Cambria Math" panose="02040503050406030204" pitchFamily="18" charset="0"/>
                          </a:rPr>
                        </m:ctrlPr>
                      </m:dPr>
                      <m:e>
                        <m:d>
                          <m:dPr>
                            <m:begChr m:val="{"/>
                            <m:endChr m:val="}"/>
                            <m:ctrlPr>
                              <a:rPr lang="zh-CN" altLang="zh-CN" sz="1600" i="1">
                                <a:effectLst/>
                                <a:latin typeface="Cambria Math" panose="02040503050406030204" pitchFamily="18" charset="0"/>
                                <a:ea typeface="Cambria Math" panose="02040503050406030204" pitchFamily="18" charset="0"/>
                              </a:rPr>
                            </m:ctrlPr>
                          </m:dPr>
                          <m:e>
                            <m:sPre>
                              <m:sPrePr>
                                <m:ctrlPr>
                                  <a:rPr lang="zh-CN" altLang="zh-CN" sz="1600" i="1">
                                    <a:effectLst/>
                                    <a:latin typeface="Cambria Math" panose="02040503050406030204" pitchFamily="18" charset="0"/>
                                    <a:ea typeface="Cambria Math" panose="02040503050406030204" pitchFamily="18" charset="0"/>
                                  </a:rPr>
                                </m:ctrlPr>
                              </m:sPrePr>
                              <m:sub/>
                              <m:sup>
                                <m:r>
                                  <a:rPr lang="en-US" altLang="zh-CN" sz="1600" i="1">
                                    <a:latin typeface="Cambria Math" panose="02040503050406030204" pitchFamily="18" charset="0"/>
                                    <a:ea typeface="等线" panose="02010600030101010101" pitchFamily="2" charset="-122"/>
                                    <a:cs typeface="Times New Roman" panose="02020603050405020304" pitchFamily="18" charset="0"/>
                                  </a:rPr>
                                  <m:t>𝐵</m:t>
                                </m:r>
                              </m:sup>
                              <m:e>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𝐴</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2</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𝑣</m:t>
                                    </m:r>
                                  </m:sub>
                                </m:sSub>
                              </m:e>
                            </m:sPre>
                          </m:e>
                        </m:d>
                        <m:r>
                          <a:rPr lang="en-US" altLang="zh-CN" sz="1600" i="1">
                            <a:latin typeface="Cambria Math" panose="02040503050406030204" pitchFamily="18" charset="0"/>
                            <a:ea typeface="等线" panose="02010600030101010101" pitchFamily="2" charset="-122"/>
                            <a:cs typeface="Times New Roman" panose="02020603050405020304" pitchFamily="18" charset="0"/>
                          </a:rPr>
                          <m:t>,  </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𝑙</m:t>
                        </m:r>
                        <m:r>
                          <a:rPr lang="en-US" altLang="zh-CN" sz="1600" i="1">
                            <a:latin typeface="Cambria Math" panose="02040503050406030204" pitchFamily="18" charset="0"/>
                            <a:ea typeface="等线" panose="02010600030101010101" pitchFamily="2" charset="-122"/>
                            <a:cs typeface="Times New Roman" panose="02020603050405020304" pitchFamily="18" charset="0"/>
                          </a:rPr>
                          <m:t> </m:t>
                        </m:r>
                      </m:e>
                    </m:d>
                  </m:oMath>
                </a14:m>
                <a:r>
                  <a:rPr lang="zh-CN" altLang="zh-CN" sz="1600" dirty="0">
                    <a:ea typeface="等线" panose="02010600030101010101" pitchFamily="2" charset="-122"/>
                    <a:cs typeface="Times New Roman" panose="02020603050405020304" pitchFamily="18" charset="0"/>
                  </a:rPr>
                  <a:t>，</a:t>
                </a:r>
                <a14:m>
                  <m:oMath xmlns:m="http://schemas.openxmlformats.org/officeDocument/2006/math">
                    <m:d>
                      <m:dPr>
                        <m:ctrlPr>
                          <a:rPr lang="zh-CN" altLang="zh-CN" sz="1600" i="1">
                            <a:effectLst/>
                            <a:latin typeface="Cambria Math" panose="02040503050406030204" pitchFamily="18" charset="0"/>
                            <a:ea typeface="Cambria Math" panose="02040503050406030204" pitchFamily="18" charset="0"/>
                          </a:rPr>
                        </m:ctrlPr>
                      </m:dPr>
                      <m:e>
                        <m:d>
                          <m:dPr>
                            <m:begChr m:val="{"/>
                            <m:endChr m:val="}"/>
                            <m:ctrlPr>
                              <a:rPr lang="zh-CN" altLang="zh-CN" sz="1600" i="1">
                                <a:effectLst/>
                                <a:latin typeface="Cambria Math" panose="02040503050406030204" pitchFamily="18" charset="0"/>
                                <a:ea typeface="Cambria Math" panose="02040503050406030204" pitchFamily="18" charset="0"/>
                              </a:rPr>
                            </m:ctrlPr>
                          </m:dPr>
                          <m:e>
                            <m:sPre>
                              <m:sPrePr>
                                <m:ctrlPr>
                                  <a:rPr lang="zh-CN" altLang="zh-CN" sz="1600" i="1">
                                    <a:effectLst/>
                                    <a:latin typeface="Cambria Math" panose="02040503050406030204" pitchFamily="18" charset="0"/>
                                    <a:ea typeface="Cambria Math" panose="02040503050406030204" pitchFamily="18" charset="0"/>
                                  </a:rPr>
                                </m:ctrlPr>
                              </m:sPrePr>
                              <m:sub/>
                              <m:sup>
                                <m:r>
                                  <a:rPr lang="en-US" altLang="zh-CN" sz="1600" i="1">
                                    <a:latin typeface="Cambria Math" panose="02040503050406030204" pitchFamily="18" charset="0"/>
                                    <a:ea typeface="等线" panose="02010600030101010101" pitchFamily="2" charset="-122"/>
                                    <a:cs typeface="Times New Roman" panose="02020603050405020304" pitchFamily="18" charset="0"/>
                                  </a:rPr>
                                  <m:t>𝐵</m:t>
                                </m:r>
                              </m:sup>
                              <m:e>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𝐴</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3</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𝑣</m:t>
                                    </m:r>
                                  </m:sub>
                                </m:sSub>
                              </m:e>
                            </m:sPre>
                          </m:e>
                        </m:d>
                        <m:r>
                          <a:rPr lang="en-US" altLang="zh-CN" sz="1600" i="1">
                            <a:latin typeface="Cambria Math" panose="02040503050406030204" pitchFamily="18" charset="0"/>
                            <a:ea typeface="等线" panose="02010600030101010101" pitchFamily="2" charset="-122"/>
                            <a:cs typeface="Times New Roman" panose="02020603050405020304" pitchFamily="18" charset="0"/>
                          </a:rPr>
                          <m:t>,  </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𝑙</m:t>
                        </m:r>
                        <m:r>
                          <a:rPr lang="en-US" altLang="zh-CN" sz="1600" i="1">
                            <a:latin typeface="Cambria Math" panose="02040503050406030204" pitchFamily="18" charset="0"/>
                            <a:ea typeface="等线" panose="02010600030101010101" pitchFamily="2" charset="-122"/>
                            <a:cs typeface="Times New Roman" panose="02020603050405020304" pitchFamily="18" charset="0"/>
                          </a:rPr>
                          <m:t> </m:t>
                        </m:r>
                      </m:e>
                    </m:d>
                  </m:oMath>
                </a14:m>
                <a:r>
                  <a:rPr lang="zh-CN" altLang="zh-CN" sz="1600" dirty="0">
                    <a:ea typeface="等线" panose="02010600030101010101" pitchFamily="2" charset="-122"/>
                    <a:cs typeface="Times New Roman" panose="02020603050405020304" pitchFamily="18" charset="0"/>
                  </a:rPr>
                  <a:t>。正解即为这三个球面的交点坐标，三个球面求交点</a:t>
                </a:r>
                <a:endParaRPr lang="zh-CN" altLang="en-US" sz="1600" dirty="0"/>
              </a:p>
            </p:txBody>
          </p:sp>
        </mc:Choice>
        <mc:Fallback xmlns="">
          <p:sp>
            <p:nvSpPr>
              <p:cNvPr id="3" name="矩形 2"/>
              <p:cNvSpPr>
                <a:spLocks noRot="1" noChangeAspect="1" noMove="1" noResize="1" noEditPoints="1" noAdjustHandles="1" noChangeArrowheads="1" noChangeShapeType="1" noTextEdit="1"/>
              </p:cNvSpPr>
              <p:nvPr/>
            </p:nvSpPr>
            <p:spPr>
              <a:xfrm>
                <a:off x="3131840" y="2314774"/>
                <a:ext cx="5066724" cy="1145057"/>
              </a:xfrm>
              <a:prstGeom prst="rect">
                <a:avLst/>
              </a:prstGeom>
              <a:blipFill>
                <a:blip r:embed="rId7"/>
                <a:stretch>
                  <a:fillRect l="-481" t="-1596" b="-58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3066972" y="3464155"/>
                <a:ext cx="5066724" cy="1323439"/>
              </a:xfrm>
              <a:prstGeom prst="rect">
                <a:avLst/>
              </a:prstGeom>
            </p:spPr>
            <p:txBody>
              <a:bodyPr wrap="square">
                <a:spAutoFit/>
              </a:bodyPr>
              <a:lstStyle/>
              <a:p>
                <a:pPr marL="285750" indent="-285750">
                  <a:buFont typeface="Wingdings" panose="05000000000000000000" pitchFamily="2" charset="2"/>
                  <a:buChar char="Ø"/>
                </a:pPr>
                <a:r>
                  <a:rPr lang="zh-CN" altLang="en-US" sz="1600" dirty="0" smtClean="0">
                    <a:solidFill>
                      <a:srgbClr val="FF0000"/>
                    </a:solidFill>
                    <a:ea typeface="等线" panose="02010600030101010101" pitchFamily="2" charset="-122"/>
                    <a:cs typeface="Times New Roman" panose="02020603050405020304" pitchFamily="18" charset="0"/>
                  </a:rPr>
                  <a:t>方法</a:t>
                </a:r>
                <a:r>
                  <a:rPr lang="en-US" altLang="zh-CN" sz="1600" dirty="0" smtClean="0">
                    <a:solidFill>
                      <a:srgbClr val="FF0000"/>
                    </a:solidFill>
                    <a:ea typeface="等线" panose="02010600030101010101" pitchFamily="2" charset="-122"/>
                    <a:cs typeface="Times New Roman" panose="02020603050405020304" pitchFamily="18" charset="0"/>
                  </a:rPr>
                  <a:t>2</a:t>
                </a:r>
                <a:r>
                  <a:rPr lang="zh-CN" altLang="en-US" sz="1600" dirty="0" smtClean="0">
                    <a:ea typeface="等线" panose="02010600030101010101" pitchFamily="2" charset="-122"/>
                    <a:cs typeface="Times New Roman" panose="02020603050405020304" pitchFamily="18" charset="0"/>
                  </a:rPr>
                  <a:t>：</a:t>
                </a:r>
                <a:r>
                  <a:rPr lang="zh-CN" altLang="zh-CN" sz="1600" dirty="0" smtClean="0">
                    <a:ea typeface="等线" panose="02010600030101010101" pitchFamily="2" charset="-122"/>
                    <a:cs typeface="Times New Roman" panose="02020603050405020304" pitchFamily="18" charset="0"/>
                  </a:rPr>
                  <a:t>通过</a:t>
                </a:r>
                <a:r>
                  <a:rPr lang="zh-CN" altLang="zh-CN" sz="1600" dirty="0">
                    <a:ea typeface="等线" panose="02010600030101010101" pitchFamily="2" charset="-122"/>
                    <a:cs typeface="Times New Roman" panose="02020603050405020304" pitchFamily="18" charset="0"/>
                  </a:rPr>
                  <a:t>对三个约束方程（</a:t>
                </a:r>
                <a:r>
                  <a:rPr lang="en-US" altLang="zh-CN" sz="1600" dirty="0">
                    <a:ea typeface="等线" panose="02010600030101010101" pitchFamily="2" charset="-122"/>
                    <a:cs typeface="Times New Roman" panose="02020603050405020304" pitchFamily="18" charset="0"/>
                  </a:rPr>
                  <a:t>3-113</a:t>
                </a:r>
                <a:r>
                  <a:rPr lang="zh-CN" altLang="zh-CN" sz="1600" dirty="0">
                    <a:ea typeface="等线" panose="02010600030101010101" pitchFamily="2" charset="-122"/>
                    <a:cs typeface="Times New Roman" panose="02020603050405020304" pitchFamily="18" charset="0"/>
                  </a:rPr>
                  <a:t>）、（</a:t>
                </a:r>
                <a:r>
                  <a:rPr lang="en-US" altLang="zh-CN" sz="1600" dirty="0">
                    <a:ea typeface="等线" panose="02010600030101010101" pitchFamily="2" charset="-122"/>
                    <a:cs typeface="Times New Roman" panose="02020603050405020304" pitchFamily="18" charset="0"/>
                  </a:rPr>
                  <a:t>3-114</a:t>
                </a:r>
                <a:r>
                  <a:rPr lang="zh-CN" altLang="zh-CN" sz="1600" dirty="0">
                    <a:ea typeface="等线" panose="02010600030101010101" pitchFamily="2" charset="-122"/>
                    <a:cs typeface="Times New Roman" panose="02020603050405020304" pitchFamily="18" charset="0"/>
                  </a:rPr>
                  <a:t>）、（</a:t>
                </a:r>
                <a:r>
                  <a:rPr lang="en-US" altLang="zh-CN" sz="1600" dirty="0">
                    <a:ea typeface="等线" panose="02010600030101010101" pitchFamily="2" charset="-122"/>
                    <a:cs typeface="Times New Roman" panose="02020603050405020304" pitchFamily="18" charset="0"/>
                  </a:rPr>
                  <a:t>3-115</a:t>
                </a:r>
                <a:r>
                  <a:rPr lang="zh-CN" altLang="zh-CN" sz="1600" dirty="0">
                    <a:ea typeface="等线" panose="02010600030101010101" pitchFamily="2" charset="-122"/>
                    <a:cs typeface="Times New Roman" panose="02020603050405020304" pitchFamily="18" charset="0"/>
                  </a:rPr>
                  <a:t>），直接进行运动学正解的求解。我们将（</a:t>
                </a:r>
                <a:r>
                  <a:rPr lang="en-US" altLang="zh-CN" sz="1600" dirty="0">
                    <a:ea typeface="等线" panose="02010600030101010101" pitchFamily="2" charset="-122"/>
                    <a:cs typeface="Times New Roman" panose="02020603050405020304" pitchFamily="18" charset="0"/>
                  </a:rPr>
                  <a:t>3-115</a:t>
                </a:r>
                <a:r>
                  <a:rPr lang="zh-CN" altLang="zh-CN" sz="1600" dirty="0">
                    <a:ea typeface="等线" panose="02010600030101010101" pitchFamily="2" charset="-122"/>
                    <a:cs typeface="Times New Roman" panose="02020603050405020304" pitchFamily="18" charset="0"/>
                  </a:rPr>
                  <a:t>）减去（</a:t>
                </a:r>
                <a:r>
                  <a:rPr lang="en-US" altLang="zh-CN" sz="1600" dirty="0">
                    <a:ea typeface="等线" panose="02010600030101010101" pitchFamily="2" charset="-122"/>
                    <a:cs typeface="Times New Roman" panose="02020603050405020304" pitchFamily="18" charset="0"/>
                  </a:rPr>
                  <a:t>3-113</a:t>
                </a:r>
                <a:r>
                  <a:rPr lang="zh-CN" altLang="zh-CN" sz="1600" dirty="0">
                    <a:ea typeface="等线" panose="02010600030101010101" pitchFamily="2" charset="-122"/>
                    <a:cs typeface="Times New Roman" panose="02020603050405020304" pitchFamily="18" charset="0"/>
                  </a:rPr>
                  <a:t>）、（</a:t>
                </a:r>
                <a:r>
                  <a:rPr lang="en-US" altLang="zh-CN" sz="1600" dirty="0">
                    <a:ea typeface="等线" panose="02010600030101010101" pitchFamily="2" charset="-122"/>
                    <a:cs typeface="Times New Roman" panose="02020603050405020304" pitchFamily="18" charset="0"/>
                  </a:rPr>
                  <a:t>3-114</a:t>
                </a:r>
                <a:r>
                  <a:rPr lang="zh-CN" altLang="zh-CN" sz="1600" dirty="0">
                    <a:ea typeface="等线" panose="02010600030101010101" pitchFamily="2" charset="-122"/>
                    <a:cs typeface="Times New Roman" panose="02020603050405020304" pitchFamily="18" charset="0"/>
                  </a:rPr>
                  <a:t>），然后用（</a:t>
                </a:r>
                <a:r>
                  <a:rPr lang="en-US" altLang="zh-CN" sz="1600" dirty="0">
                    <a:ea typeface="等线" panose="02010600030101010101" pitchFamily="2" charset="-122"/>
                    <a:cs typeface="Times New Roman" panose="02020603050405020304" pitchFamily="18" charset="0"/>
                  </a:rPr>
                  <a:t>3-113</a:t>
                </a:r>
                <a:r>
                  <a:rPr lang="zh-CN" altLang="zh-CN" sz="1600" dirty="0">
                    <a:ea typeface="等线" panose="02010600030101010101" pitchFamily="2" charset="-122"/>
                    <a:cs typeface="Times New Roman" panose="02020603050405020304" pitchFamily="18" charset="0"/>
                  </a:rPr>
                  <a:t>）减去（</a:t>
                </a:r>
                <a:r>
                  <a:rPr lang="en-US" altLang="zh-CN" sz="1600" dirty="0">
                    <a:ea typeface="等线" panose="02010600030101010101" pitchFamily="2" charset="-122"/>
                    <a:cs typeface="Times New Roman" panose="02020603050405020304" pitchFamily="18" charset="0"/>
                  </a:rPr>
                  <a:t>3-114</a:t>
                </a:r>
                <a:r>
                  <a:rPr lang="zh-CN" altLang="zh-CN" sz="1600" dirty="0">
                    <a:ea typeface="等线" panose="02010600030101010101" pitchFamily="2" charset="-122"/>
                    <a:cs typeface="Times New Roman" panose="02020603050405020304" pitchFamily="18" charset="0"/>
                  </a:rPr>
                  <a:t>）即可得到三个关于未知数</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𝑥</m:t>
                    </m:r>
                    <m:r>
                      <a:rPr lang="zh-CN" altLang="zh-CN" sz="1600" i="1">
                        <a:latin typeface="Cambria Math" panose="02040503050406030204" pitchFamily="18" charset="0"/>
                        <a:ea typeface="等线" panose="02010600030101010101" pitchFamily="2" charset="-122"/>
                        <a:cs typeface="Times New Roman" panose="02020603050405020304" pitchFamily="18" charset="0"/>
                      </a:rPr>
                      <m:t>、</m:t>
                    </m:r>
                    <m:r>
                      <a:rPr lang="zh-CN" altLang="zh-CN" sz="1600" i="1">
                        <a:latin typeface="Cambria Math" panose="02040503050406030204" pitchFamily="18" charset="0"/>
                        <a:ea typeface="Cambria Math" panose="02040503050406030204" pitchFamily="18" charset="0"/>
                        <a:cs typeface="Times New Roman" panose="02020603050405020304" pitchFamily="18" charset="0"/>
                      </a:rPr>
                      <m:t> </m:t>
                    </m:r>
                    <m:r>
                      <a:rPr lang="en-US" altLang="zh-CN" sz="1600" i="1">
                        <a:latin typeface="Cambria Math" panose="02040503050406030204" pitchFamily="18" charset="0"/>
                        <a:ea typeface="Cambria Math" panose="02040503050406030204" pitchFamily="18" charset="0"/>
                        <a:cs typeface="Times New Roman" panose="02020603050405020304" pitchFamily="18" charset="0"/>
                      </a:rPr>
                      <m:t>𝑦</m:t>
                    </m:r>
                    <m:r>
                      <a:rPr lang="en-US" altLang="zh-CN" sz="1600" i="1">
                        <a:latin typeface="Cambria Math" panose="02040503050406030204" pitchFamily="18" charset="0"/>
                        <a:ea typeface="Cambria Math" panose="02040503050406030204" pitchFamily="18" charset="0"/>
                        <a:cs typeface="Times New Roman" panose="02020603050405020304" pitchFamily="18" charset="0"/>
                      </a:rPr>
                      <m:t> 、</m:t>
                    </m:r>
                    <m:r>
                      <a:rPr lang="en-US" altLang="zh-CN" sz="1600" i="1">
                        <a:latin typeface="Cambria Math" panose="02040503050406030204" pitchFamily="18" charset="0"/>
                        <a:ea typeface="等线" panose="02010600030101010101" pitchFamily="2" charset="-122"/>
                        <a:cs typeface="Times New Roman" panose="02020603050405020304" pitchFamily="18" charset="0"/>
                      </a:rPr>
                      <m:t>𝑧</m:t>
                    </m:r>
                  </m:oMath>
                </a14:m>
                <a:r>
                  <a:rPr lang="zh-CN" altLang="zh-CN" sz="1600" dirty="0">
                    <a:ea typeface="等线" panose="02010600030101010101" pitchFamily="2" charset="-122"/>
                    <a:cs typeface="Times New Roman" panose="02020603050405020304" pitchFamily="18" charset="0"/>
                  </a:rPr>
                  <a:t>的三元一次方程，通过消元法即可直接求解。</a:t>
                </a:r>
                <a:endParaRPr lang="zh-CN" altLang="en-US" sz="1600" dirty="0"/>
              </a:p>
            </p:txBody>
          </p:sp>
        </mc:Choice>
        <mc:Fallback xmlns="">
          <p:sp>
            <p:nvSpPr>
              <p:cNvPr id="10" name="矩形 9"/>
              <p:cNvSpPr>
                <a:spLocks noRot="1" noChangeAspect="1" noMove="1" noResize="1" noEditPoints="1" noAdjustHandles="1" noChangeArrowheads="1" noChangeShapeType="1" noTextEdit="1"/>
              </p:cNvSpPr>
              <p:nvPr/>
            </p:nvSpPr>
            <p:spPr>
              <a:xfrm>
                <a:off x="3066972" y="3464155"/>
                <a:ext cx="5066724" cy="1323439"/>
              </a:xfrm>
              <a:prstGeom prst="rect">
                <a:avLst/>
              </a:prstGeom>
              <a:blipFill>
                <a:blip r:embed="rId8"/>
                <a:stretch>
                  <a:fillRect l="-481" t="-1382" r="-3008" b="-5069"/>
                </a:stretch>
              </a:blipFill>
            </p:spPr>
            <p:txBody>
              <a:bodyPr/>
              <a:lstStyle/>
              <a:p>
                <a:r>
                  <a:rPr lang="zh-CN" altLang="en-US">
                    <a:noFill/>
                  </a:rPr>
                  <a:t> </a:t>
                </a:r>
              </a:p>
            </p:txBody>
          </p:sp>
        </mc:Fallback>
      </mc:AlternateContent>
      <p:sp>
        <p:nvSpPr>
          <p:cNvPr id="4" name="矩形 3"/>
          <p:cNvSpPr/>
          <p:nvPr/>
        </p:nvSpPr>
        <p:spPr>
          <a:xfrm>
            <a:off x="1048360" y="4818080"/>
            <a:ext cx="7522136" cy="276999"/>
          </a:xfrm>
          <a:prstGeom prst="rect">
            <a:avLst/>
          </a:prstGeom>
        </p:spPr>
        <p:txBody>
          <a:bodyPr wrap="square">
            <a:spAutoFit/>
          </a:bodyPr>
          <a:lstStyle/>
          <a:p>
            <a:r>
              <a:rPr lang="zh-CN" altLang="en-US" sz="1200" dirty="0" smtClean="0">
                <a:solidFill>
                  <a:schemeClr val="tx2"/>
                </a:solidFill>
              </a:rPr>
              <a:t>参考代码：https</a:t>
            </a:r>
            <a:r>
              <a:rPr lang="zh-CN" altLang="en-US" sz="1200" dirty="0">
                <a:solidFill>
                  <a:schemeClr val="tx2"/>
                </a:solidFill>
              </a:rPr>
              <a:t>://github.com/mhuasong/Basics-of-Robotics-Theory-and-Technology/tree/main/ch3/delta_robot</a:t>
            </a:r>
          </a:p>
        </p:txBody>
      </p:sp>
    </p:spTree>
    <p:extLst>
      <p:ext uri="{BB962C8B-B14F-4D97-AF65-F5344CB8AC3E}">
        <p14:creationId xmlns:p14="http://schemas.microsoft.com/office/powerpoint/2010/main" val="259685688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a:off x="-236220" y="219075"/>
            <a:ext cx="5153660" cy="598805"/>
            <a:chOff x="-372" y="345"/>
            <a:chExt cx="8116" cy="943"/>
          </a:xfrm>
        </p:grpSpPr>
        <p:sp>
          <p:nvSpPr>
            <p:cNvPr id="40" name="矩形 39"/>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Kinematics </a:t>
              </a:r>
              <a:r>
                <a:rPr lang="en-US" altLang="zh-CN" sz="1000" dirty="0">
                  <a:latin typeface="Arial" panose="020B0604020202020204" pitchFamily="34" charset="0"/>
                  <a:ea typeface="微软雅黑" panose="020B0503020204020204" charset="-122"/>
                  <a:sym typeface="+mn-ea"/>
                </a:rPr>
                <a:t>of Parallel Robots</a:t>
              </a:r>
            </a:p>
          </p:txBody>
        </p:sp>
        <p:sp>
          <p:nvSpPr>
            <p:cNvPr id="41" name="文本框 40"/>
            <p:cNvSpPr txBox="1"/>
            <p:nvPr/>
          </p:nvSpPr>
          <p:spPr>
            <a:xfrm>
              <a:off x="443" y="363"/>
              <a:ext cx="7301"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并联</a:t>
              </a:r>
              <a:r>
                <a:rPr lang="zh-CN" altLang="en-US" sz="2000" b="1" dirty="0" smtClean="0">
                  <a:latin typeface="Arial" panose="020B0604020202020204" pitchFamily="34" charset="0"/>
                  <a:ea typeface="微软雅黑" panose="020B0503020204020204" charset="-122"/>
                  <a:sym typeface="+mn-ea"/>
                </a:rPr>
                <a:t>机器人运动学</a:t>
              </a:r>
              <a:endParaRPr lang="en-US" altLang="zh-CN" sz="2000" b="1" dirty="0" smtClean="0">
                <a:latin typeface="Arial" panose="020B0604020202020204" pitchFamily="34" charset="0"/>
                <a:ea typeface="微软雅黑" panose="020B0503020204020204" charset="-122"/>
                <a:sym typeface="+mn-ea"/>
              </a:endParaRPr>
            </a:p>
          </p:txBody>
        </p:sp>
        <p:sp>
          <p:nvSpPr>
            <p:cNvPr id="42" name="椭圆 41"/>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3563888" y="460669"/>
            <a:ext cx="1620957" cy="338554"/>
          </a:xfrm>
          <a:prstGeom prst="rect">
            <a:avLst/>
          </a:prstGeom>
        </p:spPr>
        <p:txBody>
          <a:bodyPr wrap="none">
            <a:spAutoFit/>
          </a:bodyPr>
          <a:lstStyle/>
          <a:p>
            <a:r>
              <a:rPr lang="zh-CN" altLang="en-US" sz="1600" b="1" dirty="0" smtClean="0">
                <a:solidFill>
                  <a:srgbClr val="002060"/>
                </a:solidFill>
                <a:ea typeface="等线" panose="02010600030101010101" pitchFamily="2" charset="-122"/>
                <a:cs typeface="Times New Roman" panose="02020603050405020304" pitchFamily="18" charset="0"/>
              </a:rPr>
              <a:t>并联机器人应用</a:t>
            </a:r>
            <a:endParaRPr lang="zh-CN" altLang="en-US" sz="1600" b="1" dirty="0">
              <a:solidFill>
                <a:srgbClr val="002060"/>
              </a:solidFill>
              <a:ea typeface="等线" panose="02010600030101010101" pitchFamily="2" charset="-122"/>
              <a:cs typeface="Times New Roman" panose="02020603050405020304" pitchFamily="18" charset="0"/>
            </a:endParaRPr>
          </a:p>
        </p:txBody>
      </p:sp>
      <p:pic>
        <p:nvPicPr>
          <p:cNvPr id="15" name="图片 14"/>
          <p:cNvPicPr/>
          <p:nvPr/>
        </p:nvPicPr>
        <p:blipFill>
          <a:blip r:embed="rId3">
            <a:extLst>
              <a:ext uri="{28A0092B-C50C-407E-A947-70E740481C1C}">
                <a14:useLocalDpi xmlns:a14="http://schemas.microsoft.com/office/drawing/2010/main" val="0"/>
              </a:ext>
            </a:extLst>
          </a:blip>
          <a:srcRect/>
          <a:stretch>
            <a:fillRect/>
          </a:stretch>
        </p:blipFill>
        <p:spPr bwMode="auto">
          <a:xfrm>
            <a:off x="539552" y="843558"/>
            <a:ext cx="2314575" cy="2562225"/>
          </a:xfrm>
          <a:prstGeom prst="rect">
            <a:avLst/>
          </a:prstGeom>
          <a:noFill/>
          <a:ln>
            <a:noFill/>
          </a:ln>
        </p:spPr>
      </p:pic>
      <p:pic>
        <p:nvPicPr>
          <p:cNvPr id="16" name="图片 15"/>
          <p:cNvPicPr/>
          <p:nvPr/>
        </p:nvPicPr>
        <p:blipFill>
          <a:blip r:embed="rId4">
            <a:extLst>
              <a:ext uri="{28A0092B-C50C-407E-A947-70E740481C1C}">
                <a14:useLocalDpi xmlns:a14="http://schemas.microsoft.com/office/drawing/2010/main" val="0"/>
              </a:ext>
            </a:extLst>
          </a:blip>
          <a:srcRect/>
          <a:stretch>
            <a:fillRect/>
          </a:stretch>
        </p:blipFill>
        <p:spPr bwMode="auto">
          <a:xfrm>
            <a:off x="3424974" y="843558"/>
            <a:ext cx="3502660" cy="1485900"/>
          </a:xfrm>
          <a:prstGeom prst="rect">
            <a:avLst/>
          </a:prstGeom>
          <a:noFill/>
          <a:ln>
            <a:noFill/>
          </a:ln>
        </p:spPr>
      </p:pic>
      <p:pic>
        <p:nvPicPr>
          <p:cNvPr id="4" name="图片 3"/>
          <p:cNvPicPr>
            <a:picLocks noChangeAspect="1"/>
          </p:cNvPicPr>
          <p:nvPr/>
        </p:nvPicPr>
        <p:blipFill>
          <a:blip r:embed="rId5"/>
          <a:stretch>
            <a:fillRect/>
          </a:stretch>
        </p:blipFill>
        <p:spPr>
          <a:xfrm>
            <a:off x="6927634" y="843558"/>
            <a:ext cx="1172758" cy="1485900"/>
          </a:xfrm>
          <a:prstGeom prst="rect">
            <a:avLst/>
          </a:prstGeom>
        </p:spPr>
      </p:pic>
      <p:sp>
        <p:nvSpPr>
          <p:cNvPr id="5" name="矩形 4"/>
          <p:cNvSpPr/>
          <p:nvPr/>
        </p:nvSpPr>
        <p:spPr>
          <a:xfrm>
            <a:off x="3563888" y="2329458"/>
            <a:ext cx="990977" cy="276999"/>
          </a:xfrm>
          <a:prstGeom prst="rect">
            <a:avLst/>
          </a:prstGeom>
        </p:spPr>
        <p:txBody>
          <a:bodyPr wrap="none">
            <a:spAutoFit/>
          </a:bodyPr>
          <a:lstStyle/>
          <a:p>
            <a:r>
              <a:rPr lang="en-US" altLang="zh-CN" sz="1200" dirty="0">
                <a:latin typeface="等线" panose="02010600030101010101" pitchFamily="2" charset="-122"/>
                <a:cs typeface="Times New Roman" panose="02020603050405020304" pitchFamily="18" charset="0"/>
              </a:rPr>
              <a:t>Delta</a:t>
            </a:r>
            <a:r>
              <a:rPr lang="zh-CN" altLang="zh-CN" sz="1200" dirty="0">
                <a:ea typeface="等线" panose="02010600030101010101" pitchFamily="2" charset="-122"/>
                <a:cs typeface="Times New Roman" panose="02020603050405020304" pitchFamily="18" charset="0"/>
              </a:rPr>
              <a:t>机械手</a:t>
            </a:r>
            <a:endParaRPr lang="zh-CN" altLang="en-US" sz="1200" dirty="0"/>
          </a:p>
        </p:txBody>
      </p:sp>
      <p:sp>
        <p:nvSpPr>
          <p:cNvPr id="6" name="矩形 5"/>
          <p:cNvSpPr/>
          <p:nvPr/>
        </p:nvSpPr>
        <p:spPr>
          <a:xfrm>
            <a:off x="4764171" y="2307506"/>
            <a:ext cx="824265" cy="276999"/>
          </a:xfrm>
          <a:prstGeom prst="rect">
            <a:avLst/>
          </a:prstGeom>
        </p:spPr>
        <p:txBody>
          <a:bodyPr wrap="none">
            <a:spAutoFit/>
          </a:bodyPr>
          <a:lstStyle/>
          <a:p>
            <a:r>
              <a:rPr lang="en-US" altLang="zh-CN" sz="1200" dirty="0">
                <a:latin typeface="等线" panose="02010600030101010101" pitchFamily="2" charset="-122"/>
                <a:cs typeface="Times New Roman" panose="02020603050405020304" pitchFamily="18" charset="0"/>
              </a:rPr>
              <a:t>Par4</a:t>
            </a:r>
            <a:r>
              <a:rPr lang="zh-CN" altLang="zh-CN" sz="1200" dirty="0">
                <a:ea typeface="等线" panose="02010600030101010101" pitchFamily="2" charset="-122"/>
                <a:cs typeface="Times New Roman" panose="02020603050405020304" pitchFamily="18" charset="0"/>
              </a:rPr>
              <a:t>结构 </a:t>
            </a:r>
            <a:endParaRPr lang="zh-CN" altLang="en-US" sz="1200" dirty="0"/>
          </a:p>
        </p:txBody>
      </p:sp>
      <p:sp>
        <p:nvSpPr>
          <p:cNvPr id="7" name="矩形 6"/>
          <p:cNvSpPr/>
          <p:nvPr/>
        </p:nvSpPr>
        <p:spPr>
          <a:xfrm>
            <a:off x="5701474" y="2318482"/>
            <a:ext cx="1099981" cy="276999"/>
          </a:xfrm>
          <a:prstGeom prst="rect">
            <a:avLst/>
          </a:prstGeom>
        </p:spPr>
        <p:txBody>
          <a:bodyPr wrap="none">
            <a:spAutoFit/>
          </a:bodyPr>
          <a:lstStyle/>
          <a:p>
            <a:r>
              <a:rPr lang="en-US" altLang="zh-CN" sz="1200">
                <a:latin typeface="等线" panose="02010600030101010101" pitchFamily="2" charset="-122"/>
                <a:cs typeface="Times New Roman" panose="02020603050405020304" pitchFamily="18" charset="0"/>
              </a:rPr>
              <a:t>Diamond</a:t>
            </a:r>
            <a:r>
              <a:rPr lang="zh-CN" altLang="zh-CN" sz="1200" dirty="0">
                <a:ea typeface="等线" panose="02010600030101010101" pitchFamily="2" charset="-122"/>
                <a:cs typeface="Times New Roman" panose="02020603050405020304" pitchFamily="18" charset="0"/>
              </a:rPr>
              <a:t>机构</a:t>
            </a:r>
            <a:endParaRPr lang="zh-CN" altLang="en-US" sz="1200" dirty="0"/>
          </a:p>
        </p:txBody>
      </p:sp>
      <p:sp>
        <p:nvSpPr>
          <p:cNvPr id="8" name="矩形 7"/>
          <p:cNvSpPr/>
          <p:nvPr/>
        </p:nvSpPr>
        <p:spPr>
          <a:xfrm>
            <a:off x="6948922" y="2334423"/>
            <a:ext cx="1130181" cy="276999"/>
          </a:xfrm>
          <a:prstGeom prst="rect">
            <a:avLst/>
          </a:prstGeom>
        </p:spPr>
        <p:txBody>
          <a:bodyPr wrap="none">
            <a:spAutoFit/>
          </a:bodyPr>
          <a:lstStyle/>
          <a:p>
            <a:r>
              <a:rPr lang="zh-CN" altLang="zh-CN" sz="1200" dirty="0">
                <a:ea typeface="等线" panose="02010600030101010101" pitchFamily="2" charset="-122"/>
                <a:cs typeface="Times New Roman" panose="02020603050405020304" pitchFamily="18" charset="0"/>
              </a:rPr>
              <a:t>直线驱动</a:t>
            </a:r>
            <a:r>
              <a:rPr lang="en-US" altLang="zh-CN" sz="1200" dirty="0">
                <a:ea typeface="等线" panose="02010600030101010101" pitchFamily="2" charset="-122"/>
                <a:cs typeface="Times New Roman" panose="02020603050405020304" pitchFamily="18" charset="0"/>
              </a:rPr>
              <a:t>Delta</a:t>
            </a:r>
            <a:endParaRPr lang="zh-CN" altLang="en-US" sz="1200" dirty="0"/>
          </a:p>
        </p:txBody>
      </p:sp>
      <p:pic>
        <p:nvPicPr>
          <p:cNvPr id="22" name="图片 21"/>
          <p:cNvPicPr/>
          <p:nvPr/>
        </p:nvPicPr>
        <p:blipFill>
          <a:blip r:embed="rId6">
            <a:extLst>
              <a:ext uri="{28A0092B-C50C-407E-A947-70E740481C1C}">
                <a14:useLocalDpi xmlns:a14="http://schemas.microsoft.com/office/drawing/2010/main" val="0"/>
              </a:ext>
            </a:extLst>
          </a:blip>
          <a:srcRect/>
          <a:stretch>
            <a:fillRect/>
          </a:stretch>
        </p:blipFill>
        <p:spPr bwMode="auto">
          <a:xfrm>
            <a:off x="3366836" y="2669028"/>
            <a:ext cx="1550604" cy="1277801"/>
          </a:xfrm>
          <a:prstGeom prst="rect">
            <a:avLst/>
          </a:prstGeom>
          <a:noFill/>
          <a:ln>
            <a:noFill/>
          </a:ln>
        </p:spPr>
      </p:pic>
      <p:pic>
        <p:nvPicPr>
          <p:cNvPr id="25" name="图片 24"/>
          <p:cNvPicPr/>
          <p:nvPr/>
        </p:nvPicPr>
        <p:blipFill>
          <a:blip r:embed="rId7">
            <a:extLst>
              <a:ext uri="{28A0092B-C50C-407E-A947-70E740481C1C}">
                <a14:useLocalDpi xmlns:a14="http://schemas.microsoft.com/office/drawing/2010/main" val="0"/>
              </a:ext>
            </a:extLst>
          </a:blip>
          <a:srcRect/>
          <a:stretch>
            <a:fillRect/>
          </a:stretch>
        </p:blipFill>
        <p:spPr bwMode="auto">
          <a:xfrm>
            <a:off x="4940426" y="2680004"/>
            <a:ext cx="1522095" cy="1266825"/>
          </a:xfrm>
          <a:prstGeom prst="rect">
            <a:avLst/>
          </a:prstGeom>
          <a:noFill/>
          <a:ln>
            <a:noFill/>
          </a:ln>
        </p:spPr>
      </p:pic>
      <p:pic>
        <p:nvPicPr>
          <p:cNvPr id="26" name="图片 25"/>
          <p:cNvPicPr/>
          <p:nvPr/>
        </p:nvPicPr>
        <p:blipFill>
          <a:blip r:embed="rId8">
            <a:extLst>
              <a:ext uri="{28A0092B-C50C-407E-A947-70E740481C1C}">
                <a14:useLocalDpi xmlns:a14="http://schemas.microsoft.com/office/drawing/2010/main" val="0"/>
              </a:ext>
            </a:extLst>
          </a:blip>
          <a:srcRect/>
          <a:stretch>
            <a:fillRect/>
          </a:stretch>
        </p:blipFill>
        <p:spPr bwMode="auto">
          <a:xfrm>
            <a:off x="6485507" y="2680004"/>
            <a:ext cx="1902917" cy="1266825"/>
          </a:xfrm>
          <a:prstGeom prst="rect">
            <a:avLst/>
          </a:prstGeom>
          <a:noFill/>
          <a:ln>
            <a:noFill/>
          </a:ln>
        </p:spPr>
      </p:pic>
      <p:pic>
        <p:nvPicPr>
          <p:cNvPr id="27" name="图片 26"/>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366836" y="3946829"/>
            <a:ext cx="1197974" cy="1095764"/>
          </a:xfrm>
          <a:prstGeom prst="rect">
            <a:avLst/>
          </a:prstGeom>
          <a:noFill/>
          <a:ln>
            <a:noFill/>
          </a:ln>
        </p:spPr>
      </p:pic>
      <p:pic>
        <p:nvPicPr>
          <p:cNvPr id="28" name="图片 27"/>
          <p:cNvPicPr/>
          <p:nvPr/>
        </p:nvPicPr>
        <p:blipFill>
          <a:blip r:embed="rId10">
            <a:extLst>
              <a:ext uri="{28A0092B-C50C-407E-A947-70E740481C1C}">
                <a14:useLocalDpi xmlns:a14="http://schemas.microsoft.com/office/drawing/2010/main" val="0"/>
              </a:ext>
            </a:extLst>
          </a:blip>
          <a:srcRect/>
          <a:stretch>
            <a:fillRect/>
          </a:stretch>
        </p:blipFill>
        <p:spPr bwMode="auto">
          <a:xfrm>
            <a:off x="4574603" y="3945856"/>
            <a:ext cx="1293541" cy="1096737"/>
          </a:xfrm>
          <a:prstGeom prst="rect">
            <a:avLst/>
          </a:prstGeom>
          <a:noFill/>
          <a:ln>
            <a:noFill/>
          </a:ln>
        </p:spPr>
      </p:pic>
      <p:pic>
        <p:nvPicPr>
          <p:cNvPr id="29" name="图片 28"/>
          <p:cNvPicPr/>
          <p:nvPr/>
        </p:nvPicPr>
        <p:blipFill>
          <a:blip r:embed="rId11">
            <a:extLst>
              <a:ext uri="{28A0092B-C50C-407E-A947-70E740481C1C}">
                <a14:useLocalDpi xmlns:a14="http://schemas.microsoft.com/office/drawing/2010/main" val="0"/>
              </a:ext>
            </a:extLst>
          </a:blip>
          <a:srcRect/>
          <a:stretch>
            <a:fillRect/>
          </a:stretch>
        </p:blipFill>
        <p:spPr bwMode="auto">
          <a:xfrm>
            <a:off x="5877937" y="3945855"/>
            <a:ext cx="1070985" cy="1096737"/>
          </a:xfrm>
          <a:prstGeom prst="rect">
            <a:avLst/>
          </a:prstGeom>
          <a:noFill/>
          <a:ln>
            <a:noFill/>
          </a:ln>
        </p:spPr>
      </p:pic>
      <p:pic>
        <p:nvPicPr>
          <p:cNvPr id="30" name="图片 29"/>
          <p:cNvPicPr/>
          <p:nvPr/>
        </p:nvPicPr>
        <p:blipFill>
          <a:blip r:embed="rId12">
            <a:extLst>
              <a:ext uri="{28A0092B-C50C-407E-A947-70E740481C1C}">
                <a14:useLocalDpi xmlns:a14="http://schemas.microsoft.com/office/drawing/2010/main" val="0"/>
              </a:ext>
            </a:extLst>
          </a:blip>
          <a:srcRect/>
          <a:stretch>
            <a:fillRect/>
          </a:stretch>
        </p:blipFill>
        <p:spPr bwMode="auto">
          <a:xfrm>
            <a:off x="6958715" y="3965085"/>
            <a:ext cx="1429709" cy="1077507"/>
          </a:xfrm>
          <a:prstGeom prst="rect">
            <a:avLst/>
          </a:prstGeom>
          <a:noFill/>
          <a:ln>
            <a:noFill/>
          </a:ln>
        </p:spPr>
      </p:pic>
      <p:sp>
        <p:nvSpPr>
          <p:cNvPr id="9" name="矩形 8"/>
          <p:cNvSpPr/>
          <p:nvPr/>
        </p:nvSpPr>
        <p:spPr>
          <a:xfrm>
            <a:off x="3789221" y="3688086"/>
            <a:ext cx="954107" cy="276999"/>
          </a:xfrm>
          <a:prstGeom prst="rect">
            <a:avLst/>
          </a:prstGeom>
        </p:spPr>
        <p:txBody>
          <a:bodyPr wrap="none">
            <a:spAutoFit/>
          </a:bodyPr>
          <a:lstStyle/>
          <a:p>
            <a:r>
              <a:rPr lang="zh-CN" altLang="zh-CN" sz="1200" b="1" dirty="0">
                <a:solidFill>
                  <a:srgbClr val="FF0000"/>
                </a:solidFill>
                <a:ea typeface="等线" panose="02010600030101010101" pitchFamily="2" charset="-122"/>
                <a:cs typeface="Times New Roman" panose="02020603050405020304" pitchFamily="18" charset="0"/>
              </a:rPr>
              <a:t>模拟飞行器</a:t>
            </a:r>
            <a:endParaRPr lang="zh-CN" altLang="en-US" sz="1200" b="1" dirty="0">
              <a:solidFill>
                <a:srgbClr val="FF0000"/>
              </a:solidFill>
            </a:endParaRPr>
          </a:p>
        </p:txBody>
      </p:sp>
      <p:sp>
        <p:nvSpPr>
          <p:cNvPr id="11" name="矩形 10"/>
          <p:cNvSpPr/>
          <p:nvPr/>
        </p:nvSpPr>
        <p:spPr>
          <a:xfrm>
            <a:off x="5352042" y="3676640"/>
            <a:ext cx="800219" cy="276999"/>
          </a:xfrm>
          <a:prstGeom prst="rect">
            <a:avLst/>
          </a:prstGeom>
        </p:spPr>
        <p:txBody>
          <a:bodyPr wrap="none">
            <a:spAutoFit/>
          </a:bodyPr>
          <a:lstStyle/>
          <a:p>
            <a:r>
              <a:rPr lang="zh-CN" altLang="zh-CN" sz="1200" b="1" dirty="0">
                <a:solidFill>
                  <a:srgbClr val="FF0000"/>
                </a:solidFill>
                <a:ea typeface="等线" panose="02010600030101010101" pitchFamily="2" charset="-122"/>
                <a:cs typeface="Times New Roman" panose="02020603050405020304" pitchFamily="18" charset="0"/>
              </a:rPr>
              <a:t>并联机床</a:t>
            </a:r>
            <a:endParaRPr lang="zh-CN" altLang="en-US" sz="1200" b="1" dirty="0">
              <a:solidFill>
                <a:srgbClr val="FF0000"/>
              </a:solidFill>
            </a:endParaRPr>
          </a:p>
        </p:txBody>
      </p:sp>
      <p:sp>
        <p:nvSpPr>
          <p:cNvPr id="12" name="矩形 11"/>
          <p:cNvSpPr/>
          <p:nvPr/>
        </p:nvSpPr>
        <p:spPr>
          <a:xfrm>
            <a:off x="7069429" y="3662864"/>
            <a:ext cx="1107996" cy="276999"/>
          </a:xfrm>
          <a:prstGeom prst="rect">
            <a:avLst/>
          </a:prstGeom>
        </p:spPr>
        <p:txBody>
          <a:bodyPr wrap="none">
            <a:spAutoFit/>
          </a:bodyPr>
          <a:lstStyle/>
          <a:p>
            <a:r>
              <a:rPr lang="zh-CN" altLang="zh-CN" sz="1200" b="1" dirty="0">
                <a:solidFill>
                  <a:srgbClr val="FF0000"/>
                </a:solidFill>
                <a:ea typeface="等线" panose="02010600030101010101" pitchFamily="2" charset="-122"/>
                <a:cs typeface="Times New Roman" panose="02020603050405020304" pitchFamily="18" charset="0"/>
              </a:rPr>
              <a:t>工业分拣码垛</a:t>
            </a:r>
            <a:endParaRPr lang="zh-CN" altLang="en-US" sz="1200" b="1" dirty="0">
              <a:solidFill>
                <a:srgbClr val="FF0000"/>
              </a:solidFill>
            </a:endParaRPr>
          </a:p>
        </p:txBody>
      </p:sp>
      <p:sp>
        <p:nvSpPr>
          <p:cNvPr id="13" name="矩形 12"/>
          <p:cNvSpPr/>
          <p:nvPr/>
        </p:nvSpPr>
        <p:spPr>
          <a:xfrm>
            <a:off x="3571265" y="4765593"/>
            <a:ext cx="800219" cy="276999"/>
          </a:xfrm>
          <a:prstGeom prst="rect">
            <a:avLst/>
          </a:prstGeom>
        </p:spPr>
        <p:txBody>
          <a:bodyPr wrap="none">
            <a:spAutoFit/>
          </a:bodyPr>
          <a:lstStyle/>
          <a:p>
            <a:r>
              <a:rPr lang="zh-CN" altLang="zh-CN" sz="1200" b="1" dirty="0">
                <a:solidFill>
                  <a:srgbClr val="FF0000"/>
                </a:solidFill>
                <a:ea typeface="等线" panose="02010600030101010101" pitchFamily="2" charset="-122"/>
                <a:cs typeface="Times New Roman" panose="02020603050405020304" pitchFamily="18" charset="0"/>
              </a:rPr>
              <a:t>医学应用</a:t>
            </a:r>
            <a:endParaRPr lang="zh-CN" altLang="en-US" sz="1200" b="1" dirty="0">
              <a:solidFill>
                <a:srgbClr val="FF0000"/>
              </a:solidFill>
            </a:endParaRPr>
          </a:p>
        </p:txBody>
      </p:sp>
      <p:sp>
        <p:nvSpPr>
          <p:cNvPr id="14" name="矩形 13"/>
          <p:cNvSpPr/>
          <p:nvPr/>
        </p:nvSpPr>
        <p:spPr>
          <a:xfrm>
            <a:off x="4489128" y="4664413"/>
            <a:ext cx="1363173" cy="461665"/>
          </a:xfrm>
          <a:prstGeom prst="rect">
            <a:avLst/>
          </a:prstGeom>
        </p:spPr>
        <p:txBody>
          <a:bodyPr wrap="square">
            <a:spAutoFit/>
          </a:bodyPr>
          <a:lstStyle/>
          <a:p>
            <a:r>
              <a:rPr lang="zh-CN" altLang="zh-CN" sz="1200" b="1" dirty="0">
                <a:solidFill>
                  <a:srgbClr val="FF0000"/>
                </a:solidFill>
                <a:ea typeface="等线" panose="02010600030101010101" pitchFamily="2" charset="-122"/>
                <a:cs typeface="Times New Roman" panose="02020603050405020304" pitchFamily="18" charset="0"/>
              </a:rPr>
              <a:t>食品领域（巧克力分拣）</a:t>
            </a:r>
            <a:endParaRPr lang="zh-CN" altLang="en-US" sz="1200" b="1" dirty="0">
              <a:solidFill>
                <a:srgbClr val="FF0000"/>
              </a:solidFill>
            </a:endParaRPr>
          </a:p>
        </p:txBody>
      </p:sp>
      <p:sp>
        <p:nvSpPr>
          <p:cNvPr id="17" name="矩形 16"/>
          <p:cNvSpPr/>
          <p:nvPr/>
        </p:nvSpPr>
        <p:spPr>
          <a:xfrm>
            <a:off x="7060812" y="4756745"/>
            <a:ext cx="1197892" cy="276999"/>
          </a:xfrm>
          <a:prstGeom prst="rect">
            <a:avLst/>
          </a:prstGeom>
        </p:spPr>
        <p:txBody>
          <a:bodyPr wrap="none">
            <a:spAutoFit/>
          </a:bodyPr>
          <a:lstStyle/>
          <a:p>
            <a:r>
              <a:rPr lang="en-US" altLang="zh-CN" sz="1200" b="1">
                <a:solidFill>
                  <a:srgbClr val="FF0000"/>
                </a:solidFill>
              </a:rPr>
              <a:t>Delta 3D</a:t>
            </a:r>
            <a:r>
              <a:rPr lang="zh-CN" altLang="zh-CN" sz="1200" b="1">
                <a:solidFill>
                  <a:srgbClr val="FF0000"/>
                </a:solidFill>
              </a:rPr>
              <a:t>打印机</a:t>
            </a:r>
            <a:endParaRPr lang="zh-CN" altLang="en-US" sz="1200" b="1" dirty="0">
              <a:solidFill>
                <a:srgbClr val="FF0000"/>
              </a:solidFill>
            </a:endParaRPr>
          </a:p>
        </p:txBody>
      </p:sp>
      <p:sp>
        <p:nvSpPr>
          <p:cNvPr id="31" name="矩形 30"/>
          <p:cNvSpPr/>
          <p:nvPr/>
        </p:nvSpPr>
        <p:spPr>
          <a:xfrm>
            <a:off x="6215154" y="4843087"/>
            <a:ext cx="492443" cy="276999"/>
          </a:xfrm>
          <a:prstGeom prst="rect">
            <a:avLst/>
          </a:prstGeom>
        </p:spPr>
        <p:txBody>
          <a:bodyPr wrap="none">
            <a:spAutoFit/>
          </a:bodyPr>
          <a:lstStyle/>
          <a:p>
            <a:r>
              <a:rPr lang="zh-CN" altLang="zh-CN" sz="1200" b="1" dirty="0">
                <a:solidFill>
                  <a:srgbClr val="FF0000"/>
                </a:solidFill>
                <a:ea typeface="等线" panose="02010600030101010101" pitchFamily="2" charset="-122"/>
                <a:cs typeface="Times New Roman" panose="02020603050405020304" pitchFamily="18" charset="0"/>
              </a:rPr>
              <a:t>绘画</a:t>
            </a:r>
            <a:endParaRPr lang="zh-CN" altLang="en-US" sz="1200" b="1" dirty="0">
              <a:solidFill>
                <a:srgbClr val="FF0000"/>
              </a:solidFill>
            </a:endParaRPr>
          </a:p>
        </p:txBody>
      </p:sp>
      <p:pic>
        <p:nvPicPr>
          <p:cNvPr id="36" name="图片 35"/>
          <p:cNvPicPr/>
          <p:nvPr/>
        </p:nvPicPr>
        <p:blipFill>
          <a:blip r:embed="rId13">
            <a:extLst>
              <a:ext uri="{28A0092B-C50C-407E-A947-70E740481C1C}">
                <a14:useLocalDpi xmlns:a14="http://schemas.microsoft.com/office/drawing/2010/main" val="0"/>
              </a:ext>
            </a:extLst>
          </a:blip>
          <a:srcRect/>
          <a:stretch>
            <a:fillRect/>
          </a:stretch>
        </p:blipFill>
        <p:spPr bwMode="auto">
          <a:xfrm>
            <a:off x="526986" y="3431461"/>
            <a:ext cx="2327141" cy="1334132"/>
          </a:xfrm>
          <a:prstGeom prst="rect">
            <a:avLst/>
          </a:prstGeom>
          <a:noFill/>
          <a:ln>
            <a:noFill/>
          </a:ln>
        </p:spPr>
      </p:pic>
      <p:sp>
        <p:nvSpPr>
          <p:cNvPr id="32" name="矩形 31"/>
          <p:cNvSpPr/>
          <p:nvPr/>
        </p:nvSpPr>
        <p:spPr>
          <a:xfrm>
            <a:off x="75499" y="4766114"/>
            <a:ext cx="3129896" cy="276999"/>
          </a:xfrm>
          <a:prstGeom prst="rect">
            <a:avLst/>
          </a:prstGeom>
        </p:spPr>
        <p:txBody>
          <a:bodyPr wrap="none">
            <a:spAutoFit/>
          </a:bodyPr>
          <a:lstStyle/>
          <a:p>
            <a:r>
              <a:rPr lang="zh-CN" altLang="zh-CN" sz="1200" b="1" dirty="0">
                <a:solidFill>
                  <a:srgbClr val="FF0000"/>
                </a:solidFill>
                <a:ea typeface="等线" panose="02010600030101010101" pitchFamily="2" charset="-122"/>
                <a:cs typeface="Times New Roman" panose="02020603050405020304" pitchFamily="18" charset="0"/>
              </a:rPr>
              <a:t>基于触觉力反馈的游戏控制器</a:t>
            </a:r>
            <a:r>
              <a:rPr lang="en-US" altLang="zh-CN" sz="1200" b="1" dirty="0">
                <a:solidFill>
                  <a:srgbClr val="FF0000"/>
                </a:solidFill>
                <a:ea typeface="等线" panose="02010600030101010101" pitchFamily="2" charset="-122"/>
                <a:cs typeface="Times New Roman" panose="02020603050405020304" pitchFamily="18" charset="0"/>
              </a:rPr>
              <a:t>(</a:t>
            </a:r>
            <a:r>
              <a:rPr lang="en-US" altLang="zh-CN" sz="1200" b="1" dirty="0" err="1">
                <a:solidFill>
                  <a:srgbClr val="FF0000"/>
                </a:solidFill>
                <a:ea typeface="等线" panose="02010600030101010101" pitchFamily="2" charset="-122"/>
                <a:cs typeface="Times New Roman" panose="02020603050405020304" pitchFamily="18" charset="0"/>
              </a:rPr>
              <a:t>Novint</a:t>
            </a:r>
            <a:r>
              <a:rPr lang="en-US" altLang="zh-CN" sz="1200" b="1" dirty="0">
                <a:solidFill>
                  <a:srgbClr val="FF0000"/>
                </a:solidFill>
                <a:ea typeface="等线" panose="02010600030101010101" pitchFamily="2" charset="-122"/>
                <a:cs typeface="Times New Roman" panose="02020603050405020304" pitchFamily="18" charset="0"/>
              </a:rPr>
              <a:t> Falcon)</a:t>
            </a:r>
            <a:endParaRPr lang="zh-CN" altLang="en-US" sz="1200" b="1" dirty="0">
              <a:solidFill>
                <a:srgbClr val="FF0000"/>
              </a:solidFill>
            </a:endParaRPr>
          </a:p>
        </p:txBody>
      </p:sp>
    </p:spTree>
    <p:extLst>
      <p:ext uri="{BB962C8B-B14F-4D97-AF65-F5344CB8AC3E}">
        <p14:creationId xmlns:p14="http://schemas.microsoft.com/office/powerpoint/2010/main" val="29624322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椭圆 2"/>
          <p:cNvSpPr/>
          <p:nvPr/>
        </p:nvSpPr>
        <p:spPr>
          <a:xfrm>
            <a:off x="1943735" y="-3544570"/>
            <a:ext cx="5256530" cy="525653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3"/>
          <p:cNvSpPr txBox="1"/>
          <p:nvPr/>
        </p:nvSpPr>
        <p:spPr>
          <a:xfrm>
            <a:off x="1352550" y="2116587"/>
            <a:ext cx="6821170" cy="829945"/>
          </a:xfrm>
          <a:prstGeom prst="rect">
            <a:avLst/>
          </a:prstGeom>
          <a:noFill/>
          <a:effectLst/>
        </p:spPr>
        <p:txBody>
          <a:bodyPr wrap="square" rtlCol="0">
            <a:spAutoFit/>
          </a:bodyPr>
          <a:lstStyle/>
          <a:p>
            <a:pPr algn="ctr"/>
            <a:r>
              <a:rPr lang="en-US" sz="4800" b="1" dirty="0" smtClean="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rPr>
              <a:t>THANK YOU</a:t>
            </a:r>
          </a:p>
        </p:txBody>
      </p:sp>
      <p:sp>
        <p:nvSpPr>
          <p:cNvPr id="5" name="矩形 4"/>
          <p:cNvSpPr/>
          <p:nvPr/>
        </p:nvSpPr>
        <p:spPr>
          <a:xfrm>
            <a:off x="1155383" y="2946400"/>
            <a:ext cx="7215505" cy="246221"/>
          </a:xfrm>
          <a:prstGeom prst="rect">
            <a:avLst/>
          </a:prstGeom>
        </p:spPr>
        <p:txBody>
          <a:bodyPr wrap="square">
            <a:spAutoFit/>
          </a:bodyPr>
          <a:lstStyle/>
          <a:p>
            <a:pPr algn="ctr">
              <a:lnSpc>
                <a:spcPct val="100000"/>
              </a:lnSpc>
            </a:pPr>
            <a:r>
              <a:rPr lang="zh-CN" altLang="en-US" sz="1000" dirty="0" smtClean="0">
                <a:solidFill>
                  <a:schemeClr val="tx1"/>
                </a:solidFill>
                <a:latin typeface="Arial" panose="020B0604020202020204" pitchFamily="34" charset="0"/>
                <a:ea typeface="微软雅黑" panose="020B0503020204020204" charset="-122"/>
              </a:rPr>
              <a:t>机器人学</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4" name="椭圆 3"/>
          <p:cNvSpPr/>
          <p:nvPr/>
        </p:nvSpPr>
        <p:spPr>
          <a:xfrm>
            <a:off x="2304415" y="-3183890"/>
            <a:ext cx="4535170" cy="4535170"/>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4289425" y="3444240"/>
            <a:ext cx="948055" cy="215900"/>
          </a:xfrm>
          <a:prstGeom prst="roundRect">
            <a:avLst/>
          </a:prstGeom>
          <a:noFill/>
          <a:ln>
            <a:solidFill>
              <a:srgbClr val="558E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4417695" y="3429635"/>
            <a:ext cx="718466" cy="246221"/>
          </a:xfrm>
          <a:prstGeom prst="rect">
            <a:avLst/>
          </a:prstGeom>
          <a:noFill/>
        </p:spPr>
        <p:txBody>
          <a:bodyPr wrap="none" rtlCol="0">
            <a:spAutoFit/>
          </a:bodyPr>
          <a:lstStyle/>
          <a:p>
            <a:r>
              <a:rPr lang="en-US" altLang="zh-CN" sz="1000" dirty="0" smtClean="0">
                <a:latin typeface="微软雅黑" panose="020B0503020204020204" charset="-122"/>
                <a:ea typeface="微软雅黑" panose="020B0503020204020204" charset="-122"/>
              </a:rPr>
              <a:t>Robotics</a:t>
            </a:r>
            <a:endParaRPr lang="zh-CN" altLang="en-US" sz="10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新"/>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160464_4*l_h_i*1_1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160464_4*l_h_f*1_1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160464_4*l_h_a*1_1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160464_4*l_h_i*1_2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160464_4*l_h_f*1_2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160464_4*l_h_a*1_2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160464_4*l_h_i*1_3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160464_4*l_h_f*1_3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160464_4*l_h_a*1_3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1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MH" val="20160410221154"/>
  <p:tag name="MH_LIBRARY" val="GRAPHIC"/>
  <p:tag name="MH_ORDER" val="文本框 25"/>
</p:tagLst>
</file>

<file path=ppt/tags/tag27.xml><?xml version="1.0" encoding="utf-8"?>
<p:tagLst xmlns:a="http://schemas.openxmlformats.org/drawingml/2006/main" xmlns:r="http://schemas.openxmlformats.org/officeDocument/2006/relationships" xmlns:p="http://schemas.openxmlformats.org/presentationml/2006/main">
  <p:tag name="MH" val="20160410221154"/>
  <p:tag name="MH_LIBRARY" val="GRAPHIC"/>
  <p:tag name="MH_ORDER" val="文本框 25"/>
</p:tagLst>
</file>

<file path=ppt/tags/tag28.xml><?xml version="1.0" encoding="utf-8"?>
<p:tagLst xmlns:a="http://schemas.openxmlformats.org/drawingml/2006/main" xmlns:r="http://schemas.openxmlformats.org/officeDocument/2006/relationships" xmlns:p="http://schemas.openxmlformats.org/presentationml/2006/main">
  <p:tag name="MH" val="20160410221154"/>
  <p:tag name="MH_LIBRARY" val="GRAPHIC"/>
  <p:tag name="MH_ORDER" val="文本框 25"/>
</p:tagLst>
</file>

<file path=ppt/tags/tag29.xml><?xml version="1.0" encoding="utf-8"?>
<p:tagLst xmlns:a="http://schemas.openxmlformats.org/drawingml/2006/main" xmlns:r="http://schemas.openxmlformats.org/officeDocument/2006/relationships" xmlns:p="http://schemas.openxmlformats.org/presentationml/2006/main">
  <p:tag name="MH" val="20160410221154"/>
  <p:tag name="MH_LIBRARY" val="GRAPHIC"/>
  <p:tag name="MH_ORDER" val="文本框 25"/>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r1-1"/>
  <p:tag name="KSO_WM_UNIT_TYPE" val="r_i"/>
  <p:tag name="KSO_WM_UNIT_INDEX" val="1_1"/>
  <p:tag name="KSO_WM_UNIT_ID" val="diagram20201663_3*r_i*1_1"/>
  <p:tag name="KSO_WM_TEMPLATE_CATEGORY" val="diagram"/>
  <p:tag name="KSO_WM_TEMPLATE_INDEX" val="20201663"/>
  <p:tag name="KSO_WM_UNIT_LAYERLEVEL" val="1_1"/>
  <p:tag name="KSO_WM_TAG_VERSION" val="1.0"/>
  <p:tag name="KSO_WM_BEAUTIFY_FLAG" val="#wm#"/>
  <p:tag name="KSO_WM_UNIT_DIAGRAM_CONTRAST_TITLE_CNT" val="2"/>
  <p:tag name="KSO_WM_UNIT_DIAGRAM_DIMENSION_TITLE_CNT" val="3"/>
  <p:tag name="KSO_WM_UNIT_FILL_FORE_SCHEMECOLOR_INDEX" val="10"/>
  <p:tag name="KSO_WM_UNIT_FILL_TYPE" val="1"/>
  <p:tag name="KSO_WM_UNIT_TEXT_FILL_FORE_SCHEMECOLOR_INDEX" val="2"/>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r1-1"/>
  <p:tag name="KSO_WM_UNIT_TYPE" val="r_i"/>
  <p:tag name="KSO_WM_UNIT_INDEX" val="1_2"/>
  <p:tag name="KSO_WM_UNIT_ID" val="diagram20201663_3*r_i*1_2"/>
  <p:tag name="KSO_WM_TEMPLATE_CATEGORY" val="diagram"/>
  <p:tag name="KSO_WM_TEMPLATE_INDEX" val="20201663"/>
  <p:tag name="KSO_WM_UNIT_LAYERLEVEL" val="1_1"/>
  <p:tag name="KSO_WM_TAG_VERSION" val="1.0"/>
  <p:tag name="KSO_WM_BEAUTIFY_FLAG" val="#wm#"/>
  <p:tag name="KSO_WM_UNIT_DIAGRAM_CONTRAST_TITLE_CNT" val="2"/>
  <p:tag name="KSO_WM_UNIT_DIAGRAM_DIMENSION_TITLE_CNT" val="3"/>
  <p:tag name="KSO_WM_UNIT_FILL_FORE_SCHEMECOLOR_INDEX" val="5"/>
  <p:tag name="KSO_WM_UNIT_FILL_TYPE" val="1"/>
  <p:tag name="KSO_WM_UNIT_TEXT_FILL_FORE_SCHEMECOLOR_INDEX" val="2"/>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r1-1"/>
  <p:tag name="KSO_WM_UNIT_TYPE" val="r_i"/>
  <p:tag name="KSO_WM_UNIT_INDEX" val="1_3"/>
  <p:tag name="KSO_WM_UNIT_ID" val="diagram20201663_3*r_i*1_3"/>
  <p:tag name="KSO_WM_TEMPLATE_CATEGORY" val="diagram"/>
  <p:tag name="KSO_WM_TEMPLATE_INDEX" val="20201663"/>
  <p:tag name="KSO_WM_UNIT_LAYERLEVEL" val="1_1"/>
  <p:tag name="KSO_WM_TAG_VERSION" val="1.0"/>
  <p:tag name="KSO_WM_BEAUTIFY_FLAG" val="#wm#"/>
  <p:tag name="KSO_WM_UNIT_DIAGRAM_CONTRAST_TITLE_CNT" val="2"/>
  <p:tag name="KSO_WM_UNIT_DIAGRAM_DIMENSION_TITLE_CNT" val="3"/>
  <p:tag name="KSO_WM_UNIT_FILL_FORE_SCHEMECOLOR_INDEX" val="10"/>
  <p:tag name="KSO_WM_UNIT_FILL_TYPE" val="1"/>
  <p:tag name="KSO_WM_UNIT_TEXT_FILL_FORE_SCHEMECOLOR_INDEX" val="2"/>
  <p:tag name="KSO_WM_UNIT_TEX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r1-1"/>
  <p:tag name="KSO_WM_UNIT_TYPE" val="r_i"/>
  <p:tag name="KSO_WM_UNIT_INDEX" val="1_4"/>
  <p:tag name="KSO_WM_UNIT_ID" val="diagram20201663_3*r_i*1_4"/>
  <p:tag name="KSO_WM_TEMPLATE_CATEGORY" val="diagram"/>
  <p:tag name="KSO_WM_TEMPLATE_INDEX" val="20201663"/>
  <p:tag name="KSO_WM_UNIT_LAYERLEVEL" val="1_1"/>
  <p:tag name="KSO_WM_TAG_VERSION" val="1.0"/>
  <p:tag name="KSO_WM_BEAUTIFY_FLAG" val="#wm#"/>
  <p:tag name="KSO_WM_UNIT_DIAGRAM_CONTRAST_TITLE_CNT" val="2"/>
  <p:tag name="KSO_WM_UNIT_DIAGRAM_DIMENSION_TITLE_CNT" val="3"/>
  <p:tag name="KSO_WM_UNIT_FILL_FORE_SCHEMECOLOR_INDEX" val="5"/>
  <p:tag name="KSO_WM_UNIT_FILL_TYPE" val="1"/>
  <p:tag name="KSO_WM_UNIT_TEXT_FILL_FORE_SCHEMECOLOR_INDEX" val="2"/>
  <p:tag name="KSO_WM_UNIT_TEX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r1-1"/>
  <p:tag name="KSO_WM_UNIT_TYPE" val="r_i"/>
  <p:tag name="KSO_WM_UNIT_INDEX" val="1_5"/>
  <p:tag name="KSO_WM_UNIT_ID" val="diagram20201663_3*r_i*1_5"/>
  <p:tag name="KSO_WM_TEMPLATE_CATEGORY" val="diagram"/>
  <p:tag name="KSO_WM_TEMPLATE_INDEX" val="20201663"/>
  <p:tag name="KSO_WM_UNIT_LAYERLEVEL" val="1_1"/>
  <p:tag name="KSO_WM_TAG_VERSION" val="1.0"/>
  <p:tag name="KSO_WM_BEAUTIFY_FLAG" val="#wm#"/>
  <p:tag name="KSO_WM_UNIT_DIAGRAM_CONTRAST_TITLE_CNT" val="2"/>
  <p:tag name="KSO_WM_UNIT_DIAGRAM_DIMENSION_TITLE_CNT" val="3"/>
  <p:tag name="KSO_WM_UNIT_FILL_FORE_SCHEMECOLOR_INDEX" val="14"/>
  <p:tag name="KSO_WM_UNIT_FILL_TYPE" val="1"/>
  <p:tag name="KSO_WM_UNIT_TEXT_FILL_FORE_SCHEMECOLOR_INDEX" val="2"/>
  <p:tag name="KSO_WM_UNIT_TEX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r1-1"/>
  <p:tag name="KSO_WM_UNIT_TYPE" val="r_i"/>
  <p:tag name="KSO_WM_UNIT_INDEX" val="1_6"/>
  <p:tag name="KSO_WM_UNIT_ID" val="diagram20201663_3*r_i*1_6"/>
  <p:tag name="KSO_WM_TEMPLATE_CATEGORY" val="diagram"/>
  <p:tag name="KSO_WM_TEMPLATE_INDEX" val="20201663"/>
  <p:tag name="KSO_WM_UNIT_LAYERLEVEL" val="1_1"/>
  <p:tag name="KSO_WM_TAG_VERSION" val="1.0"/>
  <p:tag name="KSO_WM_BEAUTIFY_FLAG" val="#wm#"/>
  <p:tag name="KSO_WM_UNIT_DIAGRAM_CONTRAST_TITLE_CNT" val="2"/>
  <p:tag name="KSO_WM_UNIT_DIAGRAM_DIMENSION_TITLE_CNT" val="3"/>
  <p:tag name="KSO_WM_UNIT_FILL_FORE_SCHEMECOLOR_INDEX" val="14"/>
  <p:tag name="KSO_WM_UNIT_FILL_TYPE" val="1"/>
  <p:tag name="KSO_WM_UNIT_TEXT_FILL_FORE_SCHEMECOLOR_INDEX" val="2"/>
  <p:tag name="KSO_WM_UNIT_TEXT_FILL_TYPE" val="1"/>
</p:tagLst>
</file>

<file path=ppt/tags/tag36.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r1-1"/>
  <p:tag name="KSO_WM_UNIT_TYPE" val="r_t"/>
  <p:tag name="KSO_WM_UNIT_INDEX" val="1_1"/>
  <p:tag name="KSO_WM_UNIT_ID" val="diagram20201663_3*r_t*1_1"/>
  <p:tag name="KSO_WM_TEMPLATE_CATEGORY" val="diagram"/>
  <p:tag name="KSO_WM_TEMPLATE_INDEX" val="20201663"/>
  <p:tag name="KSO_WM_UNIT_LAYERLEVEL" val="1_1"/>
  <p:tag name="KSO_WM_TAG_VERSION" val="1.0"/>
  <p:tag name="KSO_WM_BEAUTIFY_FLAG" val="#wm#"/>
  <p:tag name="KSO_WM_UNIT_DIAGRAM_CONTRAST_TITLE_CNT" val="2"/>
  <p:tag name="KSO_WM_UNIT_DIAGRAM_DIMENSION_TITLE_CNT" val="3"/>
  <p:tag name="KSO_WM_UNIT_PRESET_TEXT" val="单击此处添加标题"/>
  <p:tag name="KSO_WM_UNIT_TEXT_FILL_FORE_SCHEMECOLOR_INDEX" val="13"/>
  <p:tag name="KSO_WM_UNIT_TEXT_FILL_TYPE" val="1"/>
</p:tagLst>
</file>

<file path=ppt/tags/tag37.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r1-1"/>
  <p:tag name="KSO_WM_UNIT_TYPE" val="r_v"/>
  <p:tag name="KSO_WM_UNIT_INDEX" val="1_5"/>
  <p:tag name="KSO_WM_UNIT_ID" val="diagram20201663_3*r_v*1_5"/>
  <p:tag name="KSO_WM_TEMPLATE_CATEGORY" val="diagram"/>
  <p:tag name="KSO_WM_TEMPLATE_INDEX" val="20201663"/>
  <p:tag name="KSO_WM_UNIT_LAYERLEVEL" val="1_1"/>
  <p:tag name="KSO_WM_TAG_VERSION" val="1.0"/>
  <p:tag name="KSO_WM_BEAUTIFY_FLAG" val="#wm#"/>
  <p:tag name="KSO_WM_UNIT_DIAGRAM_CONTRAST_TITLE_CNT" val="2"/>
  <p:tag name="KSO_WM_UNIT_DIAGRAM_DIMENSION_TITLE_CNT" val="3"/>
  <p:tag name="KSO_WM_UNIT_PRESET_TEXT" val="单击此处添加文本具体内容，简明扼要的阐述您的观点。"/>
  <p:tag name="KSO_WM_UNIT_VALUE" val="32"/>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r1-1"/>
  <p:tag name="KSO_WM_UNIT_TYPE" val="r_v"/>
  <p:tag name="KSO_WM_UNIT_INDEX" val="1_6"/>
  <p:tag name="KSO_WM_UNIT_ID" val="diagram20201663_3*r_v*1_6"/>
  <p:tag name="KSO_WM_TEMPLATE_CATEGORY" val="diagram"/>
  <p:tag name="KSO_WM_TEMPLATE_INDEX" val="20201663"/>
  <p:tag name="KSO_WM_UNIT_LAYERLEVEL" val="1_1"/>
  <p:tag name="KSO_WM_TAG_VERSION" val="1.0"/>
  <p:tag name="KSO_WM_BEAUTIFY_FLAG" val="#wm#"/>
  <p:tag name="KSO_WM_UNIT_DIAGRAM_CONTRAST_TITLE_CNT" val="2"/>
  <p:tag name="KSO_WM_UNIT_DIAGRAM_DIMENSION_TITLE_CNT" val="3"/>
  <p:tag name="KSO_WM_UNIT_PRESET_TEXT" val="单击此处添加文本具体内容，简明扼要的阐述您的观点。"/>
  <p:tag name="KSO_WM_UNIT_VALUE" val="32"/>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r1-1"/>
  <p:tag name="KSO_WM_UNIT_TYPE" val="r_v"/>
  <p:tag name="KSO_WM_UNIT_INDEX" val="1_3"/>
  <p:tag name="KSO_WM_UNIT_ID" val="diagram20201663_3*r_v*1_3"/>
  <p:tag name="KSO_WM_TEMPLATE_CATEGORY" val="diagram"/>
  <p:tag name="KSO_WM_TEMPLATE_INDEX" val="20201663"/>
  <p:tag name="KSO_WM_UNIT_LAYERLEVEL" val="1_1"/>
  <p:tag name="KSO_WM_TAG_VERSION" val="1.0"/>
  <p:tag name="KSO_WM_BEAUTIFY_FLAG" val="#wm#"/>
  <p:tag name="KSO_WM_UNIT_DIAGRAM_CONTRAST_TITLE_CNT" val="2"/>
  <p:tag name="KSO_WM_UNIT_DIAGRAM_DIMENSION_TITLE_CNT" val="3"/>
  <p:tag name="KSO_WM_UNIT_PRESET_TEXT" val="单击此处添加文本具体内容，简明扼要的阐述您的观点。"/>
  <p:tag name="KSO_WM_UNIT_VALUE" val="32"/>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r1-1"/>
  <p:tag name="KSO_WM_UNIT_TYPE" val="r_v"/>
  <p:tag name="KSO_WM_UNIT_INDEX" val="1_4"/>
  <p:tag name="KSO_WM_UNIT_ID" val="diagram20201663_3*r_v*1_4"/>
  <p:tag name="KSO_WM_TEMPLATE_CATEGORY" val="diagram"/>
  <p:tag name="KSO_WM_TEMPLATE_INDEX" val="20201663"/>
  <p:tag name="KSO_WM_UNIT_LAYERLEVEL" val="1_1"/>
  <p:tag name="KSO_WM_TAG_VERSION" val="1.0"/>
  <p:tag name="KSO_WM_BEAUTIFY_FLAG" val="#wm#"/>
  <p:tag name="KSO_WM_UNIT_DIAGRAM_CONTRAST_TITLE_CNT" val="2"/>
  <p:tag name="KSO_WM_UNIT_DIAGRAM_DIMENSION_TITLE_CNT" val="3"/>
  <p:tag name="KSO_WM_UNIT_PRESET_TEXT" val="单击此处添加文本具体内容，简明扼要的阐述您的观点。"/>
  <p:tag name="KSO_WM_UNIT_VALUE" val="32"/>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r1-1"/>
  <p:tag name="KSO_WM_UNIT_TYPE" val="r_t"/>
  <p:tag name="KSO_WM_UNIT_INDEX" val="1_2"/>
  <p:tag name="KSO_WM_UNIT_ID" val="diagram20201663_3*r_t*1_2"/>
  <p:tag name="KSO_WM_TEMPLATE_CATEGORY" val="diagram"/>
  <p:tag name="KSO_WM_TEMPLATE_INDEX" val="20201663"/>
  <p:tag name="KSO_WM_UNIT_LAYERLEVEL" val="1_1"/>
  <p:tag name="KSO_WM_TAG_VERSION" val="1.0"/>
  <p:tag name="KSO_WM_BEAUTIFY_FLAG" val="#wm#"/>
  <p:tag name="KSO_WM_UNIT_DIAGRAM_CONTRAST_TITLE_CNT" val="2"/>
  <p:tag name="KSO_WM_UNIT_DIAGRAM_DIMENSION_TITLE_CNT" val="3"/>
  <p:tag name="KSO_WM_UNIT_PRESET_TEXT" val="单击此处添加标题"/>
  <p:tag name="KSO_WM_UNIT_VALUE" val="11"/>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r1-1"/>
  <p:tag name="KSO_WM_UNIT_TYPE" val="r_v"/>
  <p:tag name="KSO_WM_UNIT_INDEX" val="1_1"/>
  <p:tag name="KSO_WM_UNIT_ID" val="diagram20201663_3*r_v*1_1"/>
  <p:tag name="KSO_WM_TEMPLATE_CATEGORY" val="diagram"/>
  <p:tag name="KSO_WM_TEMPLATE_INDEX" val="20201663"/>
  <p:tag name="KSO_WM_UNIT_LAYERLEVEL" val="1_1"/>
  <p:tag name="KSO_WM_TAG_VERSION" val="1.0"/>
  <p:tag name="KSO_WM_BEAUTIFY_FLAG" val="#wm#"/>
  <p:tag name="KSO_WM_UNIT_DIAGRAM_CONTRAST_TITLE_CNT" val="2"/>
  <p:tag name="KSO_WM_UNIT_DIAGRAM_DIMENSION_TITLE_CNT" val="3"/>
  <p:tag name="KSO_WM_UNIT_PRESET_TEXT" val="单击此处添加文本具体内容，简明扼要的阐述您的观点。"/>
  <p:tag name="KSO_WM_UNIT_VALUE" val="32"/>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r1-1"/>
  <p:tag name="KSO_WM_UNIT_TYPE" val="r_v"/>
  <p:tag name="KSO_WM_UNIT_INDEX" val="1_2"/>
  <p:tag name="KSO_WM_UNIT_ID" val="diagram20201663_3*r_v*1_2"/>
  <p:tag name="KSO_WM_TEMPLATE_CATEGORY" val="diagram"/>
  <p:tag name="KSO_WM_TEMPLATE_INDEX" val="20201663"/>
  <p:tag name="KSO_WM_UNIT_LAYERLEVEL" val="1_1"/>
  <p:tag name="KSO_WM_TAG_VERSION" val="1.0"/>
  <p:tag name="KSO_WM_BEAUTIFY_FLAG" val="#wm#"/>
  <p:tag name="KSO_WM_UNIT_DIAGRAM_CONTRAST_TITLE_CNT" val="2"/>
  <p:tag name="KSO_WM_UNIT_DIAGRAM_DIMENSION_TITLE_CNT" val="3"/>
  <p:tag name="KSO_WM_UNIT_PRESET_TEXT" val="单击此处添加文本具体内容，简明扼要的阐述您的观点。"/>
  <p:tag name="KSO_WM_UNIT_VALUE" val="32"/>
  <p:tag name="KSO_WM_UNIT_TEXT_FILL_FORE_SCHEMECOLOR_INDEX" val="13"/>
  <p:tag name="KSO_WM_UNIT_TEXT_FILL_TYPE" val="1"/>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r1-1"/>
  <p:tag name="KSO_WM_UNIT_TYPE" val="r_i"/>
  <p:tag name="KSO_WM_UNIT_INDEX" val="1_9"/>
  <p:tag name="KSO_WM_UNIT_ID" val="diagram20201663_3*r_i*1_9"/>
  <p:tag name="KSO_WM_TEMPLATE_CATEGORY" val="diagram"/>
  <p:tag name="KSO_WM_TEMPLATE_INDEX" val="20201663"/>
  <p:tag name="KSO_WM_UNIT_LAYERLEVEL" val="1_1"/>
  <p:tag name="KSO_WM_TAG_VERSION" val="1.0"/>
  <p:tag name="KSO_WM_BEAUTIFY_FLAG" val="#wm#"/>
  <p:tag name="KSO_WM_UNIT_DIAGRAM_CONTRAST_TITLE_CNT" val="2"/>
  <p:tag name="KSO_WM_UNIT_DIAGRAM_DIMENSION_TITLE_CNT" val="3"/>
  <p:tag name="KSO_WM_UNIT_LINE_FORE_SCHEMECOLOR_INDEX" val="14"/>
  <p:tag name="KSO_WM_UNIT_LINE_FILL_TYPE" val="2"/>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r1-1"/>
  <p:tag name="KSO_WM_UNIT_TYPE" val="r_i"/>
  <p:tag name="KSO_WM_UNIT_INDEX" val="1_7"/>
  <p:tag name="KSO_WM_UNIT_ID" val="diagram20201663_3*r_i*1_7"/>
  <p:tag name="KSO_WM_TEMPLATE_CATEGORY" val="diagram"/>
  <p:tag name="KSO_WM_TEMPLATE_INDEX" val="20201663"/>
  <p:tag name="KSO_WM_UNIT_LAYERLEVEL" val="1_1"/>
  <p:tag name="KSO_WM_TAG_VERSION" val="1.0"/>
  <p:tag name="KSO_WM_BEAUTIFY_FLAG" val="#wm#"/>
  <p:tag name="KSO_WM_UNIT_DIAGRAM_CONTRAST_TITLE_CNT" val="2"/>
  <p:tag name="KSO_WM_UNIT_DIAGRAM_DIMENSION_TITLE_CNT" val="3"/>
  <p:tag name="KSO_WM_UNIT_LINE_FORE_SCHEMECOLOR_INDEX" val="14"/>
  <p:tag name="KSO_WM_UNIT_LINE_FILL_TYPE" val="2"/>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r1-1"/>
  <p:tag name="KSO_WM_UNIT_TYPE" val="r_i"/>
  <p:tag name="KSO_WM_UNIT_INDEX" val="1_8"/>
  <p:tag name="KSO_WM_UNIT_ID" val="diagram20201663_3*r_i*1_8"/>
  <p:tag name="KSO_WM_TEMPLATE_CATEGORY" val="diagram"/>
  <p:tag name="KSO_WM_TEMPLATE_INDEX" val="20201663"/>
  <p:tag name="KSO_WM_UNIT_LAYERLEVEL" val="1_1"/>
  <p:tag name="KSO_WM_TAG_VERSION" val="1.0"/>
  <p:tag name="KSO_WM_BEAUTIFY_FLAG" val="#wm#"/>
  <p:tag name="KSO_WM_UNIT_DIAGRAM_CONTRAST_TITLE_CNT" val="2"/>
  <p:tag name="KSO_WM_UNIT_DIAGRAM_DIMENSION_TITLE_CNT" val="3"/>
  <p:tag name="KSO_WM_UNIT_LINE_FORE_SCHEMECOLOR_INDEX" val="14"/>
  <p:tag name="KSO_WM_UNIT_LINE_FILL_TYPE" val="2"/>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r1-1"/>
  <p:tag name="KSO_WM_UNIT_TYPE" val="r_i"/>
  <p:tag name="KSO_WM_UNIT_INDEX" val="1_10"/>
  <p:tag name="KSO_WM_UNIT_ID" val="diagram20201663_3*r_i*1_10"/>
  <p:tag name="KSO_WM_TEMPLATE_CATEGORY" val="diagram"/>
  <p:tag name="KSO_WM_TEMPLATE_INDEX" val="20201663"/>
  <p:tag name="KSO_WM_UNIT_LAYERLEVEL" val="1_1"/>
  <p:tag name="KSO_WM_TAG_VERSION" val="1.0"/>
  <p:tag name="KSO_WM_BEAUTIFY_FLAG" val="#wm#"/>
  <p:tag name="KSO_WM_UNIT_DIAGRAM_CONTRAST_TITLE_CNT" val="2"/>
  <p:tag name="KSO_WM_UNIT_DIAGRAM_DIMENSION_TITLE_CNT" val="3"/>
  <p:tag name="KSO_WM_UNIT_LINE_FORE_SCHEMECOLOR_INDEX" val="14"/>
  <p:tag name="KSO_WM_UNIT_LINE_FILL_TYPE" val="2"/>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201420_3*m_h_i*1_1_1"/>
  <p:tag name="KSO_WM_TEMPLATE_CATEGORY" val="diagram"/>
  <p:tag name="KSO_WM_TEMPLATE_INDEX" val="20201420"/>
  <p:tag name="KSO_WM_UNIT_LAYERLEVEL" val="1_1_1"/>
  <p:tag name="KSO_WM_TAG_VERSION" val="1.0"/>
  <p:tag name="KSO_WM_BEAUTIFY_FLAG" val="#wm#"/>
  <p:tag name="KSO_WM_UNIT_FILL_FORE_SCHEMECOLOR_INDEX" val="14"/>
  <p:tag name="KSO_WM_UNIT_FILL_TYPE" val="1"/>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01420_3*m_h_i*1_1_2"/>
  <p:tag name="KSO_WM_TEMPLATE_CATEGORY" val="diagram"/>
  <p:tag name="KSO_WM_TEMPLATE_INDEX" val="20201420"/>
  <p:tag name="KSO_WM_UNIT_LAYERLEVEL" val="1_1_1"/>
  <p:tag name="KSO_WM_TAG_VERSION" val="1.0"/>
  <p:tag name="KSO_WM_BEAUTIFY_FLAG" val="#wm#"/>
  <p:tag name="KSO_WM_UNIT_FILL_FORE_SCHEMECOLOR_INDEX" val="5"/>
  <p:tag name="KSO_WM_UNIT_FILL_TYPE" val="1"/>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1"/>
  <p:tag name="KSO_WM_UNIT_ID" val="diagram20201420_3*m_h_i*1_3_1"/>
  <p:tag name="KSO_WM_TEMPLATE_CATEGORY" val="diagram"/>
  <p:tag name="KSO_WM_TEMPLATE_INDEX" val="20201420"/>
  <p:tag name="KSO_WM_UNIT_LAYERLEVEL" val="1_1_1"/>
  <p:tag name="KSO_WM_TAG_VERSION" val="1.0"/>
  <p:tag name="KSO_WM_BEAUTIFY_FLAG" val="#wm#"/>
  <p:tag name="KSO_WM_UNIT_FILL_FORE_SCHEMECOLOR_INDEX" val="14"/>
  <p:tag name="KSO_WM_UNI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2"/>
  <p:tag name="KSO_WM_UNIT_ID" val="diagram20201420_3*m_h_i*1_3_2"/>
  <p:tag name="KSO_WM_TEMPLATE_CATEGORY" val="diagram"/>
  <p:tag name="KSO_WM_TEMPLATE_INDEX" val="20201420"/>
  <p:tag name="KSO_WM_UNIT_LAYERLEVEL" val="1_1_1"/>
  <p:tag name="KSO_WM_TAG_VERSION" val="1.0"/>
  <p:tag name="KSO_WM_BEAUTIFY_FLAG" val="#wm#"/>
  <p:tag name="KSO_WM_UNIT_FILL_FORE_SCHEMECOLOR_INDEX" val="5"/>
  <p:tag name="KSO_WM_UNI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4_1"/>
  <p:tag name="KSO_WM_UNIT_ID" val="diagram20201420_3*m_h_i*1_4_1"/>
  <p:tag name="KSO_WM_TEMPLATE_CATEGORY" val="diagram"/>
  <p:tag name="KSO_WM_TEMPLATE_INDEX" val="20201420"/>
  <p:tag name="KSO_WM_UNIT_LAYERLEVEL" val="1_1_1"/>
  <p:tag name="KSO_WM_TAG_VERSION" val="1.0"/>
  <p:tag name="KSO_WM_BEAUTIFY_FLAG" val="#wm#"/>
  <p:tag name="KSO_WM_UNIT_FILL_FORE_SCHEMECOLOR_INDEX" val="14"/>
  <p:tag name="KSO_WM_UNI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5_1"/>
  <p:tag name="KSO_WM_UNIT_ID" val="diagram20201420_3*m_h_i*1_5_1"/>
  <p:tag name="KSO_WM_TEMPLATE_CATEGORY" val="diagram"/>
  <p:tag name="KSO_WM_TEMPLATE_INDEX" val="20201420"/>
  <p:tag name="KSO_WM_UNIT_LAYERLEVEL" val="1_1_1"/>
  <p:tag name="KSO_WM_TAG_VERSION" val="1.0"/>
  <p:tag name="KSO_WM_BEAUTIFY_FLAG" val="#wm#"/>
  <p:tag name="KSO_WM_UNIT_FILL_FORE_SCHEMECOLOR_INDEX" val="14"/>
  <p:tag name="KSO_WM_UNIT_FILL_TYPE" val="1"/>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5_2"/>
  <p:tag name="KSO_WM_UNIT_ID" val="diagram20201420_3*m_h_i*1_5_2"/>
  <p:tag name="KSO_WM_TEMPLATE_CATEGORY" val="diagram"/>
  <p:tag name="KSO_WM_TEMPLATE_INDEX" val="20201420"/>
  <p:tag name="KSO_WM_UNIT_LAYERLEVEL" val="1_1_1"/>
  <p:tag name="KSO_WM_TAG_VERSION" val="1.0"/>
  <p:tag name="KSO_WM_BEAUTIFY_FLAG" val="#wm#"/>
  <p:tag name="KSO_WM_UNIT_FILL_FORE_SCHEMECOLOR_INDEX" val="5"/>
  <p:tag name="KSO_WM_UNIT_FILL_TYPE" val="1"/>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3_1"/>
  <p:tag name="KSO_WM_UNIT_ID" val="diagram20201420_3*m_h_z*1_3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83.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简明扼要的阐述您的观点。"/>
  <p:tag name="KSO_WM_UNIT_NOCLEAR" val="0"/>
  <p:tag name="KSO_WM_UNIT_VALUE" val="32"/>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01420_3*m_h_f*1_1_1"/>
  <p:tag name="KSO_WM_TEMPLATE_CATEGORY" val="diagram"/>
  <p:tag name="KSO_WM_TEMPLATE_INDEX" val="20201420"/>
  <p:tag name="KSO_WM_UNIT_LAYERLEVEL" val="1_1_1"/>
  <p:tag name="KSO_WM_TAG_VERSION" val="1.0"/>
  <p:tag name="KSO_WM_BEAUTIFY_FLAG" val="#wm#"/>
  <p:tag name="KSO_WM_UNIT_TEXT_FILL_FORE_SCHEMECOLOR_INDEX" val="13"/>
  <p:tag name="KSO_WM_UNIT_TEXT_FILL_TYPE" val="1"/>
</p:tagLst>
</file>

<file path=ppt/tags/tag84.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添加标题"/>
  <p:tag name="KSO_WM_UNIT_NOCLEAR" val="0"/>
  <p:tag name="KSO_WM_UNIT_VALUE" val="6"/>
  <p:tag name="KSO_WM_UNIT_HIGHLIGHT" val="0"/>
  <p:tag name="KSO_WM_UNIT_COMPATIBLE" val="0"/>
  <p:tag name="KSO_WM_UNIT_DIAGRAM_ISNUMVISUAL" val="0"/>
  <p:tag name="KSO_WM_UNIT_DIAGRAM_ISREFERUNIT" val="0"/>
  <p:tag name="KSO_WM_DIAGRAM_GROUP_CODE" val="m1-1"/>
  <p:tag name="KSO_WM_UNIT_TYPE" val="m_h_a"/>
  <p:tag name="KSO_WM_UNIT_INDEX" val="1_1_1"/>
  <p:tag name="KSO_WM_UNIT_ID" val="diagram20201420_3*m_h_a*1_1_1"/>
  <p:tag name="KSO_WM_TEMPLATE_CATEGORY" val="diagram"/>
  <p:tag name="KSO_WM_TEMPLATE_INDEX" val="20201420"/>
  <p:tag name="KSO_WM_UNIT_LAYERLEVEL" val="1_1_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简明扼要的阐述您的观点。"/>
  <p:tag name="KSO_WM_UNIT_NOCLEAR" val="0"/>
  <p:tag name="KSO_WM_UNIT_VALUE" val="32"/>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201420_3*m_h_f*1_3_1"/>
  <p:tag name="KSO_WM_TEMPLATE_CATEGORY" val="diagram"/>
  <p:tag name="KSO_WM_TEMPLATE_INDEX" val="20201420"/>
  <p:tag name="KSO_WM_UNIT_LAYERLEVEL" val="1_1_1"/>
  <p:tag name="KSO_WM_TAG_VERSION" val="1.0"/>
  <p:tag name="KSO_WM_BEAUTIFY_FLAG" val="#wm#"/>
  <p:tag name="KSO_WM_UNIT_TEXT_FILL_FORE_SCHEMECOLOR_INDEX" val="13"/>
  <p:tag name="KSO_WM_UNIT_TEXT_FILL_TYPE" val="1"/>
</p:tagLst>
</file>

<file path=ppt/tags/tag86.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添加标题"/>
  <p:tag name="KSO_WM_UNIT_NOCLEAR" val="0"/>
  <p:tag name="KSO_WM_UNIT_VALUE" val="6"/>
  <p:tag name="KSO_WM_UNIT_HIGHLIGHT" val="0"/>
  <p:tag name="KSO_WM_UNIT_COMPATIBLE" val="0"/>
  <p:tag name="KSO_WM_UNIT_DIAGRAM_ISNUMVISUAL" val="0"/>
  <p:tag name="KSO_WM_UNIT_DIAGRAM_ISREFERUNIT" val="0"/>
  <p:tag name="KSO_WM_DIAGRAM_GROUP_CODE" val="m1-1"/>
  <p:tag name="KSO_WM_UNIT_TYPE" val="m_h_a"/>
  <p:tag name="KSO_WM_UNIT_INDEX" val="1_3_1"/>
  <p:tag name="KSO_WM_UNIT_ID" val="diagram20201420_3*m_h_a*1_3_1"/>
  <p:tag name="KSO_WM_TEMPLATE_CATEGORY" val="diagram"/>
  <p:tag name="KSO_WM_TEMPLATE_INDEX" val="20201420"/>
  <p:tag name="KSO_WM_UNIT_LAYERLEVEL" val="1_1_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简明扼要的阐述您的观点。"/>
  <p:tag name="KSO_WM_UNIT_NOCLEAR" val="0"/>
  <p:tag name="KSO_WM_UNIT_VALUE" val="32"/>
  <p:tag name="KSO_WM_UNIT_HIGHLIGHT" val="0"/>
  <p:tag name="KSO_WM_UNIT_COMPATIBLE" val="0"/>
  <p:tag name="KSO_WM_UNIT_DIAGRAM_ISNUMVISUAL" val="0"/>
  <p:tag name="KSO_WM_UNIT_DIAGRAM_ISREFERUNIT" val="0"/>
  <p:tag name="KSO_WM_DIAGRAM_GROUP_CODE" val="m1-1"/>
  <p:tag name="KSO_WM_UNIT_TYPE" val="m_h_f"/>
  <p:tag name="KSO_WM_UNIT_INDEX" val="1_5_1"/>
  <p:tag name="KSO_WM_UNIT_ID" val="diagram20201420_3*m_h_f*1_5_1"/>
  <p:tag name="KSO_WM_TEMPLATE_CATEGORY" val="diagram"/>
  <p:tag name="KSO_WM_TEMPLATE_INDEX" val="20201420"/>
  <p:tag name="KSO_WM_UNIT_LAYERLEVEL" val="1_1_1"/>
  <p:tag name="KSO_WM_TAG_VERSION" val="1.0"/>
  <p:tag name="KSO_WM_BEAUTIFY_FLAG" val="#wm#"/>
  <p:tag name="KSO_WM_UNIT_TEXT_FILL_FORE_SCHEMECOLOR_INDEX" val="13"/>
  <p:tag name="KSO_WM_UNIT_TEXT_FILL_TYPE" val="1"/>
</p:tagLst>
</file>

<file path=ppt/tags/tag88.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添加标题"/>
  <p:tag name="KSO_WM_UNIT_NOCLEAR" val="0"/>
  <p:tag name="KSO_WM_UNIT_VALUE" val="6"/>
  <p:tag name="KSO_WM_UNIT_HIGHLIGHT" val="0"/>
  <p:tag name="KSO_WM_UNIT_COMPATIBLE" val="0"/>
  <p:tag name="KSO_WM_UNIT_DIAGRAM_ISNUMVISUAL" val="0"/>
  <p:tag name="KSO_WM_UNIT_DIAGRAM_ISREFERUNIT" val="0"/>
  <p:tag name="KSO_WM_DIAGRAM_GROUP_CODE" val="m1-1"/>
  <p:tag name="KSO_WM_UNIT_TYPE" val="m_h_a"/>
  <p:tag name="KSO_WM_UNIT_INDEX" val="1_5_1"/>
  <p:tag name="KSO_WM_UNIT_ID" val="diagram20201420_3*m_h_a*1_5_1"/>
  <p:tag name="KSO_WM_TEMPLATE_CATEGORY" val="diagram"/>
  <p:tag name="KSO_WM_TEMPLATE_INDEX" val="20201420"/>
  <p:tag name="KSO_WM_UNIT_LAYERLEVEL" val="1_1_1"/>
  <p:tag name="KSO_WM_TAG_VERSION" val="1.0"/>
  <p:tag name="KSO_WM_BEAUTIFY_FLAG" val="#wm#"/>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43786</Words>
  <Application>Microsoft Office PowerPoint</Application>
  <PresentationFormat>全屏显示(16:9)</PresentationFormat>
  <Paragraphs>1770</Paragraphs>
  <Slides>124</Slides>
  <Notes>119</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2</vt:i4>
      </vt:variant>
      <vt:variant>
        <vt:lpstr>幻灯片标题</vt:lpstr>
      </vt:variant>
      <vt:variant>
        <vt:i4>124</vt:i4>
      </vt:variant>
    </vt:vector>
  </HeadingPairs>
  <TitlesOfParts>
    <vt:vector size="140" baseType="lpstr">
      <vt:lpstr>MS Mincho</vt:lpstr>
      <vt:lpstr>等线</vt:lpstr>
      <vt:lpstr>楷体</vt:lpstr>
      <vt:lpstr>楷体_GB2312</vt:lpstr>
      <vt:lpstr>宋体</vt:lpstr>
      <vt:lpstr>宋体-简</vt:lpstr>
      <vt:lpstr>微软雅黑</vt:lpstr>
      <vt:lpstr>Arial</vt:lpstr>
      <vt:lpstr>Calibri</vt:lpstr>
      <vt:lpstr>Cambria Math</vt:lpstr>
      <vt:lpstr>Times New Roman</vt:lpstr>
      <vt:lpstr>Wingdings</vt:lpstr>
      <vt:lpstr>Office 主题​​</vt:lpstr>
      <vt:lpstr>自定义设计方案</vt:lpstr>
      <vt:lpstr>Visio</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7</cp:revision>
  <dcterms:created xsi:type="dcterms:W3CDTF">2017-03-24T14:39:00Z</dcterms:created>
  <dcterms:modified xsi:type="dcterms:W3CDTF">2026-05-19T10:10:42Z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2052-11.1.0.9912</vt:lpwstr>
  </property>
</Properties>
</file>