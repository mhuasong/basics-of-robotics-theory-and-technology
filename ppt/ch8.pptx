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64" r:id="rId2"/>
  </p:sldMasterIdLst>
  <p:notesMasterIdLst>
    <p:notesMasterId r:id="rId26"/>
  </p:notesMasterIdLst>
  <p:handoutMasterIdLst>
    <p:handoutMasterId r:id="rId27"/>
  </p:handoutMasterIdLst>
  <p:sldIdLst>
    <p:sldId id="283" r:id="rId3"/>
    <p:sldId id="401" r:id="rId4"/>
    <p:sldId id="422" r:id="rId5"/>
    <p:sldId id="284" r:id="rId6"/>
    <p:sldId id="441" r:id="rId7"/>
    <p:sldId id="406" r:id="rId8"/>
    <p:sldId id="405" r:id="rId9"/>
    <p:sldId id="408" r:id="rId10"/>
    <p:sldId id="444" r:id="rId11"/>
    <p:sldId id="442" r:id="rId12"/>
    <p:sldId id="443" r:id="rId13"/>
    <p:sldId id="445" r:id="rId14"/>
    <p:sldId id="407" r:id="rId15"/>
    <p:sldId id="325" r:id="rId16"/>
    <p:sldId id="416" r:id="rId17"/>
    <p:sldId id="417" r:id="rId18"/>
    <p:sldId id="446" r:id="rId19"/>
    <p:sldId id="447" r:id="rId20"/>
    <p:sldId id="418" r:id="rId21"/>
    <p:sldId id="437" r:id="rId22"/>
    <p:sldId id="420" r:id="rId23"/>
    <p:sldId id="448" r:id="rId24"/>
    <p:sldId id="399" r:id="rId25"/>
  </p:sldIdLst>
  <p:sldSz cx="9144000" cy="5143500" type="screen16x9"/>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94">
          <p15:clr>
            <a:srgbClr val="A4A3A4"/>
          </p15:clr>
        </p15:guide>
        <p15:guide id="2" pos="281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58ED5"/>
    <a:srgbClr val="FFFFFF"/>
    <a:srgbClr val="0065B0"/>
    <a:srgbClr val="268099"/>
    <a:srgbClr val="005CA8"/>
    <a:srgbClr val="4EE5FA"/>
    <a:srgbClr val="0060A8"/>
    <a:srgbClr val="19C3FF"/>
    <a:srgbClr val="00C0A9"/>
    <a:srgbClr val="00A1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73746" autoAdjust="0"/>
  </p:normalViewPr>
  <p:slideViewPr>
    <p:cSldViewPr>
      <p:cViewPr varScale="1">
        <p:scale>
          <a:sx n="83" d="100"/>
          <a:sy n="83" d="100"/>
        </p:scale>
        <p:origin x="1116" y="84"/>
      </p:cViewPr>
      <p:guideLst>
        <p:guide orient="horz" pos="1594"/>
        <p:guide pos="2815"/>
      </p:guideLst>
    </p:cSldViewPr>
  </p:slideViewPr>
  <p:notesTextViewPr>
    <p:cViewPr>
      <p:scale>
        <a:sx n="100" d="100"/>
        <a:sy n="100" d="100"/>
      </p:scale>
      <p:origin x="0" y="0"/>
    </p:cViewPr>
  </p:notesTextViewPr>
  <p:sorterViewPr>
    <p:cViewPr>
      <p:scale>
        <a:sx n="100" d="100"/>
        <a:sy n="100" d="100"/>
      </p:scale>
      <p:origin x="0" y="130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presProps" Target="presProps.xml"/><Relationship Id="rId8" Type="http://schemas.openxmlformats.org/officeDocument/2006/relationships/slide" Target="slides/slide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2024/4/28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1FAED0-7D10-4239-9B56-C55805060B86}" type="datetimeFigureOut">
              <a:rPr lang="zh-CN" altLang="en-US" smtClean="0"/>
              <a:t>2024/4/28</a:t>
            </a:fld>
            <a:endParaRPr lang="zh-CN" altLang="en-US"/>
          </a:p>
        </p:txBody>
      </p:sp>
      <p:sp>
        <p:nvSpPr>
          <p:cNvPr id="4" name="幻灯片图像占位符 3"/>
          <p:cNvSpPr>
            <a:spLocks noGrp="1" noRot="1" noChangeAspect="1"/>
          </p:cNvSpPr>
          <p:nvPr>
            <p:ph type="sldImg" idx="2"/>
          </p:nvPr>
        </p:nvSpPr>
        <p:spPr>
          <a:xfrm>
            <a:off x="381534" y="685800"/>
            <a:ext cx="6094934"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147A23-5BA8-44CE-9215-79B767159C4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smtClean="0"/>
              <a:t>This is an introductory of robotics course, containing both fundamental as well as some more advanced concepts. It presents a broad overview of robotics with focus on manipulators and mobile robots, and includes robot kinematics, dynamics, planning and control, programming language.</a:t>
            </a:r>
            <a:endParaRPr lang="zh-CN" altLang="zh-CN" dirty="0" smtClean="0"/>
          </a:p>
          <a:p>
            <a:r>
              <a:rPr lang="en-US" altLang="zh-CN" dirty="0" smtClean="0"/>
              <a:t>The course is divided between the following areas:</a:t>
            </a:r>
            <a:endParaRPr lang="zh-CN" altLang="zh-CN" dirty="0" smtClean="0"/>
          </a:p>
          <a:p>
            <a:r>
              <a:rPr lang="en-US" altLang="zh-CN" dirty="0" smtClean="0"/>
              <a:t>Robotics Introduction</a:t>
            </a:r>
          </a:p>
          <a:p>
            <a:r>
              <a:rPr lang="en-US" altLang="zh-CN" dirty="0" smtClean="0"/>
              <a:t>System Model of Robot</a:t>
            </a:r>
            <a:endParaRPr lang="zh-CN" altLang="zh-CN" dirty="0" smtClean="0"/>
          </a:p>
          <a:p>
            <a:r>
              <a:rPr lang="en-US" altLang="zh-CN" dirty="0" smtClean="0"/>
              <a:t>Robot kinematics</a:t>
            </a:r>
            <a:endParaRPr lang="zh-CN" altLang="zh-CN" dirty="0" smtClean="0"/>
          </a:p>
          <a:p>
            <a:r>
              <a:rPr lang="en-US" altLang="zh-CN" dirty="0" smtClean="0"/>
              <a:t>Robot dynamics</a:t>
            </a:r>
            <a:endParaRPr lang="zh-CN" altLang="zh-CN" dirty="0" smtClean="0"/>
          </a:p>
          <a:p>
            <a:r>
              <a:rPr lang="en-US" altLang="zh-CN" dirty="0" smtClean="0"/>
              <a:t>Robot control</a:t>
            </a:r>
            <a:endParaRPr lang="zh-CN" altLang="zh-CN" dirty="0" smtClean="0"/>
          </a:p>
          <a:p>
            <a:r>
              <a:rPr lang="en-US" altLang="zh-CN" dirty="0" smtClean="0"/>
              <a:t>Robot motion planning</a:t>
            </a:r>
          </a:p>
          <a:p>
            <a:r>
              <a:rPr lang="en-US" altLang="zh-CN" dirty="0" smtClean="0"/>
              <a:t>…</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a:t>
            </a:fld>
            <a:endParaRPr lang="zh-CN" altLang="en-US"/>
          </a:p>
        </p:txBody>
      </p:sp>
    </p:spTree>
    <p:extLst>
      <p:ext uri="{BB962C8B-B14F-4D97-AF65-F5344CB8AC3E}">
        <p14:creationId xmlns:p14="http://schemas.microsoft.com/office/powerpoint/2010/main" val="1769473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a:t>
            </a:fld>
            <a:endParaRPr lang="zh-CN" altLang="en-US"/>
          </a:p>
        </p:txBody>
      </p:sp>
    </p:spTree>
    <p:extLst>
      <p:ext uri="{BB962C8B-B14F-4D97-AF65-F5344CB8AC3E}">
        <p14:creationId xmlns:p14="http://schemas.microsoft.com/office/powerpoint/2010/main" val="41329599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技术因素、经济因素和人的因素是进行工厂调查时应当收集的数据。</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）技术因素</a:t>
            </a:r>
          </a:p>
          <a:p>
            <a:r>
              <a:rPr lang="zh-CN" altLang="zh-CN" sz="1200" kern="1200" dirty="0" smtClean="0">
                <a:solidFill>
                  <a:schemeClr val="tx1"/>
                </a:solidFill>
                <a:effectLst/>
                <a:latin typeface="+mn-lt"/>
                <a:ea typeface="+mn-ea"/>
                <a:cs typeface="+mn-cs"/>
              </a:rPr>
              <a:t>考虑的技术因素包括性能要求、布局要求、产品特性、设备更好、过程变更等。</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）经济因素</a:t>
            </a:r>
          </a:p>
          <a:p>
            <a:r>
              <a:rPr lang="zh-CN" altLang="zh-CN" sz="1200" kern="1200" dirty="0" smtClean="0">
                <a:solidFill>
                  <a:schemeClr val="tx1"/>
                </a:solidFill>
                <a:effectLst/>
                <a:latin typeface="+mn-lt"/>
                <a:ea typeface="+mn-ea"/>
                <a:cs typeface="+mn-cs"/>
              </a:rPr>
              <a:t>在经济方面所考虑的因素包括劳动力、材料、生产率、能源、设备和成本等。</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）人的因素</a:t>
            </a:r>
          </a:p>
          <a:p>
            <a:r>
              <a:rPr lang="zh-CN" altLang="zh-CN" sz="1200" kern="1200" dirty="0" smtClean="0">
                <a:solidFill>
                  <a:schemeClr val="tx1"/>
                </a:solidFill>
                <a:effectLst/>
                <a:latin typeface="+mn-lt"/>
                <a:ea typeface="+mn-ea"/>
                <a:cs typeface="+mn-cs"/>
              </a:rPr>
              <a:t>在考虑人的因素时，设计机器人的操作人员、管理人员、维护人员、经理和工程师等。</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美国通用电气（</a:t>
            </a:r>
            <a:r>
              <a:rPr lang="en-US" altLang="zh-CN" sz="1200" kern="1200" dirty="0" smtClean="0">
                <a:solidFill>
                  <a:schemeClr val="tx1"/>
                </a:solidFill>
                <a:effectLst/>
                <a:latin typeface="+mn-lt"/>
                <a:ea typeface="+mn-ea"/>
                <a:cs typeface="+mn-cs"/>
              </a:rPr>
              <a:t>GE</a:t>
            </a:r>
            <a:r>
              <a:rPr lang="zh-CN" altLang="zh-CN" sz="1200" kern="1200" dirty="0" smtClean="0">
                <a:solidFill>
                  <a:schemeClr val="tx1"/>
                </a:solidFill>
                <a:effectLst/>
                <a:latin typeface="+mn-lt"/>
                <a:ea typeface="+mn-ea"/>
                <a:cs typeface="+mn-cs"/>
              </a:rPr>
              <a:t>）公司过程自动化和控制系统经理弗农·</a:t>
            </a:r>
            <a:r>
              <a:rPr lang="en-US" altLang="zh-CN" sz="1200" kern="1200" dirty="0" smtClean="0">
                <a:solidFill>
                  <a:schemeClr val="tx1"/>
                </a:solidFill>
                <a:effectLst/>
                <a:latin typeface="+mn-lt"/>
                <a:ea typeface="+mn-ea"/>
                <a:cs typeface="+mn-cs"/>
              </a:rPr>
              <a:t>E</a:t>
            </a:r>
            <a:r>
              <a:rPr lang="zh-CN" altLang="zh-CN" sz="1200" kern="1200" dirty="0" smtClean="0">
                <a:solidFill>
                  <a:schemeClr val="tx1"/>
                </a:solidFill>
                <a:effectLst/>
                <a:latin typeface="+mn-lt"/>
                <a:ea typeface="+mn-ea"/>
                <a:cs typeface="+mn-cs"/>
              </a:rPr>
              <a:t>·埃斯蒂斯（</a:t>
            </a:r>
            <a:r>
              <a:rPr lang="en-US" altLang="zh-CN" sz="1200" kern="1200" dirty="0" err="1" smtClean="0">
                <a:solidFill>
                  <a:schemeClr val="tx1"/>
                </a:solidFill>
                <a:effectLst/>
                <a:latin typeface="+mn-lt"/>
                <a:ea typeface="+mn-ea"/>
                <a:cs typeface="+mn-cs"/>
              </a:rPr>
              <a:t>Vermnon</a:t>
            </a:r>
            <a:r>
              <a:rPr lang="en-US" altLang="zh-CN" sz="1200" kern="1200" dirty="0" smtClean="0">
                <a:solidFill>
                  <a:schemeClr val="tx1"/>
                </a:solidFill>
                <a:effectLst/>
                <a:latin typeface="+mn-lt"/>
                <a:ea typeface="+mn-ea"/>
                <a:cs typeface="+mn-cs"/>
              </a:rPr>
              <a:t> E</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 Estes</a:t>
            </a:r>
            <a:r>
              <a:rPr lang="zh-CN" altLang="zh-CN" sz="1200" kern="1200" dirty="0" smtClean="0">
                <a:solidFill>
                  <a:schemeClr val="tx1"/>
                </a:solidFill>
                <a:effectLst/>
                <a:latin typeface="+mn-lt"/>
                <a:ea typeface="+mn-ea"/>
                <a:cs typeface="+mn-cs"/>
              </a:rPr>
              <a:t>）曾提出八条使用机器人的经验准则，人们后来称之为弗农（</a:t>
            </a:r>
            <a:r>
              <a:rPr lang="en-US" altLang="zh-CN" sz="1200" kern="1200" dirty="0" smtClean="0">
                <a:solidFill>
                  <a:schemeClr val="tx1"/>
                </a:solidFill>
                <a:effectLst/>
                <a:latin typeface="+mn-lt"/>
                <a:ea typeface="+mn-ea"/>
                <a:cs typeface="+mn-cs"/>
              </a:rPr>
              <a:t>Vernon</a:t>
            </a:r>
            <a:r>
              <a:rPr lang="zh-CN" altLang="zh-CN" sz="1200" kern="1200" dirty="0" smtClean="0">
                <a:solidFill>
                  <a:schemeClr val="tx1"/>
                </a:solidFill>
                <a:effectLst/>
                <a:latin typeface="+mn-lt"/>
                <a:ea typeface="+mn-ea"/>
                <a:cs typeface="+mn-cs"/>
              </a:rPr>
              <a:t>）准则。它对于那些想使用机器人自动化形式来发展生产的人们至今仍值得借鉴。</a:t>
            </a:r>
          </a:p>
          <a:p>
            <a:r>
              <a:rPr lang="zh-CN" altLang="zh-CN" sz="1200" kern="1200" dirty="0" smtClean="0">
                <a:solidFill>
                  <a:schemeClr val="tx1"/>
                </a:solidFill>
                <a:effectLst/>
                <a:latin typeface="+mn-lt"/>
                <a:ea typeface="+mn-ea"/>
                <a:cs typeface="+mn-cs"/>
              </a:rPr>
              <a:t>弗农经验准则如下</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）应当从恶劣工种开始执行机器人计划。</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）考虑在生产率落后的部门应用机器人。</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）要估计长远需要。</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4</a:t>
            </a:r>
            <a:r>
              <a:rPr lang="zh-CN" altLang="zh-CN" sz="1200" kern="1200" dirty="0" smtClean="0">
                <a:solidFill>
                  <a:schemeClr val="tx1"/>
                </a:solidFill>
                <a:effectLst/>
                <a:latin typeface="+mn-lt"/>
                <a:ea typeface="+mn-ea"/>
                <a:cs typeface="+mn-cs"/>
              </a:rPr>
              <a:t>）使用费用不与机器人成本成正比。</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5</a:t>
            </a:r>
            <a:r>
              <a:rPr lang="zh-CN" altLang="zh-CN" sz="1200" kern="1200" dirty="0" smtClean="0">
                <a:solidFill>
                  <a:schemeClr val="tx1"/>
                </a:solidFill>
                <a:effectLst/>
                <a:latin typeface="+mn-lt"/>
                <a:ea typeface="+mn-ea"/>
                <a:cs typeface="+mn-cs"/>
              </a:rPr>
              <a:t>）力求简单实效。</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6</a:t>
            </a:r>
            <a:r>
              <a:rPr lang="zh-CN" altLang="zh-CN" sz="1200" kern="1200" dirty="0" smtClean="0">
                <a:solidFill>
                  <a:schemeClr val="tx1"/>
                </a:solidFill>
                <a:effectLst/>
                <a:latin typeface="+mn-lt"/>
                <a:ea typeface="+mn-ea"/>
                <a:cs typeface="+mn-cs"/>
              </a:rPr>
              <a:t>）确保人员和设备安全。</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7</a:t>
            </a:r>
            <a:r>
              <a:rPr lang="zh-CN" altLang="zh-CN" sz="1200" kern="1200" dirty="0" smtClean="0">
                <a:solidFill>
                  <a:schemeClr val="tx1"/>
                </a:solidFill>
                <a:effectLst/>
                <a:latin typeface="+mn-lt"/>
                <a:ea typeface="+mn-ea"/>
                <a:cs typeface="+mn-cs"/>
              </a:rPr>
              <a:t>）不要期望卖主提供全套承包服务。</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8</a:t>
            </a:r>
            <a:r>
              <a:rPr lang="zh-CN" altLang="zh-CN" sz="1200" kern="1200" dirty="0" smtClean="0">
                <a:solidFill>
                  <a:schemeClr val="tx1"/>
                </a:solidFill>
                <a:effectLst/>
                <a:latin typeface="+mn-lt"/>
                <a:ea typeface="+mn-ea"/>
                <a:cs typeface="+mn-cs"/>
              </a:rPr>
              <a:t>）不要忘记机器人需要人。</a:t>
            </a:r>
          </a:p>
          <a:p>
            <a:r>
              <a:rPr lang="zh-CN" altLang="zh-CN" sz="1200" kern="1200" dirty="0" smtClean="0">
                <a:solidFill>
                  <a:schemeClr val="tx1"/>
                </a:solidFill>
                <a:effectLst/>
                <a:latin typeface="+mn-lt"/>
                <a:ea typeface="+mn-ea"/>
                <a:cs typeface="+mn-cs"/>
              </a:rPr>
              <a:t>不过由于机器人价格的大幅下降和劳动力成本的显著上升，在确保安全、有效、高质、经济的前提下，需要创造与总结新的经验，包括在各种产业广泛使用机器人的经验。</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a:t>
            </a:fld>
            <a:endParaRPr lang="zh-CN" altLang="en-US"/>
          </a:p>
        </p:txBody>
      </p:sp>
    </p:spTree>
    <p:extLst>
      <p:ext uri="{BB962C8B-B14F-4D97-AF65-F5344CB8AC3E}">
        <p14:creationId xmlns:p14="http://schemas.microsoft.com/office/powerpoint/2010/main" val="41584803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7</a:t>
            </a:fld>
            <a:endParaRPr lang="zh-CN" altLang="en-US"/>
          </a:p>
        </p:txBody>
      </p:sp>
    </p:spTree>
    <p:extLst>
      <p:ext uri="{BB962C8B-B14F-4D97-AF65-F5344CB8AC3E}">
        <p14:creationId xmlns:p14="http://schemas.microsoft.com/office/powerpoint/2010/main" val="2383874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机器人是实现生产过程自动化、提高劳动生产率的一种有力工具。若要使一个生产过程实现自动化，需要对各种机械化、自动化装置进行综合的技术和经济分析，确定使用机器人操作臂是否合适。一旦确定使用机器人操作臂，设计人员一般要先做如下工作。</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）根据机器人的使用场合，明确采用机器人的目的和任务。</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）分析机器人所在系统的工作环境，包括机器人与已有设备的兼容性。</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认真分析系统的工作要求，确定机器人的基本功能和方案。如机器人的自由度数、信息的存储容量、计算机功能、动作速度、定位精度、抓取质量、容许的空间结构尺寸以及温度、振动等环境条件的适用性等。进一步通过对被抓取、搬运物体的质量、形状、尺寸及生产批量等情况，来确定手部形式及抓取工件的部位和握力。</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4</a:t>
            </a:r>
            <a:r>
              <a:rPr lang="zh-CN" altLang="zh-CN" sz="1200" kern="1200" dirty="0" smtClean="0">
                <a:solidFill>
                  <a:schemeClr val="tx1"/>
                </a:solidFill>
                <a:effectLst/>
                <a:latin typeface="+mn-lt"/>
                <a:ea typeface="+mn-ea"/>
                <a:cs typeface="+mn-cs"/>
              </a:rPr>
              <a:t>）进行必要的调查研究，搜索国内外的有关技术资料，进行综合分析，找出借鉴、选用之处和需要注意的问题。</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8</a:t>
            </a:fld>
            <a:endParaRPr lang="zh-CN" altLang="en-US"/>
          </a:p>
        </p:txBody>
      </p:sp>
    </p:spTree>
    <p:extLst>
      <p:ext uri="{BB962C8B-B14F-4D97-AF65-F5344CB8AC3E}">
        <p14:creationId xmlns:p14="http://schemas.microsoft.com/office/powerpoint/2010/main" val="18227650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9</a:t>
            </a:fld>
            <a:endParaRPr lang="zh-CN" altLang="en-US"/>
          </a:p>
        </p:txBody>
      </p:sp>
    </p:spTree>
    <p:extLst>
      <p:ext uri="{BB962C8B-B14F-4D97-AF65-F5344CB8AC3E}">
        <p14:creationId xmlns:p14="http://schemas.microsoft.com/office/powerpoint/2010/main" val="18359639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在系统分析的基础上，具体确定臂力、工作节拍、工作范围、运动速度及定位精度等基本参数。</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）臂力的确定</a:t>
            </a:r>
          </a:p>
          <a:p>
            <a:r>
              <a:rPr lang="zh-CN" altLang="zh-CN" sz="1200" kern="1200" dirty="0" smtClean="0">
                <a:solidFill>
                  <a:schemeClr val="tx1"/>
                </a:solidFill>
                <a:effectLst/>
                <a:latin typeface="+mn-lt"/>
                <a:ea typeface="+mn-ea"/>
                <a:cs typeface="+mn-cs"/>
              </a:rPr>
              <a:t>目前使用的机器人操作臂的臂力范围较大。对专用机械手来说，臂力主要根据被抓取物体的质量来定，其安全系数一般可在</a:t>
            </a:r>
            <a:r>
              <a:rPr lang="en-US" altLang="zh-CN" sz="1200" kern="1200" dirty="0" smtClean="0">
                <a:solidFill>
                  <a:schemeClr val="tx1"/>
                </a:solidFill>
                <a:effectLst/>
                <a:latin typeface="+mn-lt"/>
                <a:ea typeface="+mn-ea"/>
                <a:cs typeface="+mn-cs"/>
              </a:rPr>
              <a:t>1.5~3.0</a:t>
            </a:r>
            <a:r>
              <a:rPr lang="zh-CN" altLang="zh-CN" sz="1200" kern="1200" dirty="0" smtClean="0">
                <a:solidFill>
                  <a:schemeClr val="tx1"/>
                </a:solidFill>
                <a:effectLst/>
                <a:latin typeface="+mn-lt"/>
                <a:ea typeface="+mn-ea"/>
                <a:cs typeface="+mn-cs"/>
              </a:rPr>
              <a:t>范围内选取。对于工业机器人来说，臂力要根据被抓取、搬运物体的质量变化范围来定。</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）工作范围的确定</a:t>
            </a:r>
          </a:p>
          <a:p>
            <a:r>
              <a:rPr lang="zh-CN" altLang="zh-CN" sz="1200" kern="1200" dirty="0" smtClean="0">
                <a:solidFill>
                  <a:schemeClr val="tx1"/>
                </a:solidFill>
                <a:effectLst/>
                <a:latin typeface="+mn-lt"/>
                <a:ea typeface="+mn-ea"/>
                <a:cs typeface="+mn-cs"/>
              </a:rPr>
              <a:t>机器人操作臂的工作范围根据工艺要求和操作运动的轨迹来确定。一个操作运动的轨迹往往是几个动作合成的，在确定工作范围时，可将运动轨迹分解成单个动作，由单个动作的行程确定机器人操作臂的最大行程。为便于调整，可适当加大行程数值。各个动作的最大行程确定之后，机器人操作臂的工作范围也就定下来了。</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）确定运动速度</a:t>
            </a:r>
          </a:p>
          <a:p>
            <a:r>
              <a:rPr lang="zh-CN" altLang="zh-CN" sz="1200" kern="1200" dirty="0" smtClean="0">
                <a:solidFill>
                  <a:schemeClr val="tx1"/>
                </a:solidFill>
                <a:effectLst/>
                <a:latin typeface="+mn-lt"/>
                <a:ea typeface="+mn-ea"/>
                <a:cs typeface="+mn-cs"/>
              </a:rPr>
              <a:t>机器人或机械手各动作的最大行程确定之后，可根据生产需要的工作节拍分配每个动作的时间，进而确定各动作的运动速度。如一个机器人操作臂要完成某一工件的上料过程，需完成夹紧工件，手臂升降、伸缩、回转等一系列动作，这些动作都应该在工作节拍所规定的时间内完成。至于各动作的时间究竟应如何分配，则取决于很多因素，不是一般的计算所能确定的。要根据各种因素反复考虑，并试作各动作的分配方案，进行比较平衡后，才能确定。节拍较短时，更需仔细考虑。</a:t>
            </a:r>
          </a:p>
          <a:p>
            <a:r>
              <a:rPr lang="zh-CN" altLang="zh-CN" sz="1200" kern="1200" dirty="0" smtClean="0">
                <a:solidFill>
                  <a:schemeClr val="tx1"/>
                </a:solidFill>
                <a:effectLst/>
                <a:latin typeface="+mn-lt"/>
                <a:ea typeface="+mn-ea"/>
                <a:cs typeface="+mn-cs"/>
              </a:rPr>
              <a:t>机器人操作臂的总动作时间应小于或等于工作节拍。如果两个动作同时进行，要按时间较长的计算。一旦确定了最大行程和动作时间，其运动速度也就确定下来了。</a:t>
            </a:r>
          </a:p>
          <a:p>
            <a:r>
              <a:rPr lang="zh-CN" altLang="zh-CN" sz="1200" kern="1200" dirty="0" smtClean="0">
                <a:solidFill>
                  <a:schemeClr val="tx1"/>
                </a:solidFill>
                <a:effectLst/>
                <a:latin typeface="+mn-lt"/>
                <a:ea typeface="+mn-ea"/>
                <a:cs typeface="+mn-cs"/>
              </a:rPr>
              <a:t>分配各动作时间应考虑以下要求。</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a</a:t>
            </a:r>
            <a:r>
              <a:rPr lang="zh-CN" altLang="zh-CN" sz="1200" kern="1200" dirty="0" smtClean="0">
                <a:solidFill>
                  <a:schemeClr val="tx1"/>
                </a:solidFill>
                <a:effectLst/>
                <a:latin typeface="+mn-lt"/>
                <a:ea typeface="+mn-ea"/>
                <a:cs typeface="+mn-cs"/>
              </a:rPr>
              <a:t>）给定的运动时间应大于电气、液（气）压元件的执行时间。</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b</a:t>
            </a:r>
            <a:r>
              <a:rPr lang="zh-CN" altLang="zh-CN" sz="1200" kern="1200" dirty="0" smtClean="0">
                <a:solidFill>
                  <a:schemeClr val="tx1"/>
                </a:solidFill>
                <a:effectLst/>
                <a:latin typeface="+mn-lt"/>
                <a:ea typeface="+mn-ea"/>
                <a:cs typeface="+mn-cs"/>
              </a:rPr>
              <a:t>）伸缩运动的速度要大于回转运动的速度。因为回转运动的惯性一般大于伸缩运动的惯性。机器人或机械手升降、回转及伸缩运动的时间要根据实际情况进行分配。如果工作节拍短，上述运动所分配的时间就短，运动速度就一定要提高。但速度不能太高，否则会给设计、制造带来困难。在满足工作节拍要求的条件下，应尽量选取较低的运动速度。机器人或机械手的运动速度与臂力、行程、驱动方式、缓冲方式、定位方式都有很大关系，应根据具体情况加以确定。</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c</a:t>
            </a:r>
            <a:r>
              <a:rPr lang="zh-CN" altLang="zh-CN" sz="1200" kern="1200" dirty="0" smtClean="0">
                <a:solidFill>
                  <a:schemeClr val="tx1"/>
                </a:solidFill>
                <a:effectLst/>
                <a:latin typeface="+mn-lt"/>
                <a:ea typeface="+mn-ea"/>
                <a:cs typeface="+mn-cs"/>
              </a:rPr>
              <a:t>）在工作节拍短、动作多的情况下，常使几个动作同时进行。为此，驱动系统要采取相应的措施，以保证动作的同步。</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4</a:t>
            </a:r>
            <a:r>
              <a:rPr lang="zh-CN" altLang="zh-CN" sz="1200" kern="1200" dirty="0" smtClean="0">
                <a:solidFill>
                  <a:schemeClr val="tx1"/>
                </a:solidFill>
                <a:effectLst/>
                <a:latin typeface="+mn-lt"/>
                <a:ea typeface="+mn-ea"/>
                <a:cs typeface="+mn-cs"/>
              </a:rPr>
              <a:t>）定位精度的确定</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10</a:t>
            </a:fld>
            <a:endParaRPr lang="zh-CN" altLang="en-US"/>
          </a:p>
        </p:txBody>
      </p:sp>
    </p:spTree>
    <p:extLst>
      <p:ext uri="{BB962C8B-B14F-4D97-AF65-F5344CB8AC3E}">
        <p14:creationId xmlns:p14="http://schemas.microsoft.com/office/powerpoint/2010/main" val="25814507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机器人操作臂的定位精度是根据使用要求确定的，而机器人操作臂本身所能达到的定位精度，取决于定位方式、运动速度、控制方式、臂部刚度、驱动方式、缓冲方法等因素。</a:t>
            </a:r>
          </a:p>
          <a:p>
            <a:r>
              <a:rPr lang="zh-CN" altLang="zh-CN" sz="1200" kern="1200" dirty="0" smtClean="0">
                <a:solidFill>
                  <a:schemeClr val="tx1"/>
                </a:solidFill>
                <a:effectLst/>
                <a:latin typeface="+mn-lt"/>
                <a:ea typeface="+mn-ea"/>
                <a:cs typeface="+mn-cs"/>
              </a:rPr>
              <a:t>工艺过程的不同，对机器人操作臂重复定位精度的要求也不同。不同工艺过程所要求的定位精度见表 </a:t>
            </a:r>
            <a:r>
              <a:rPr lang="en-US" altLang="zh-CN" sz="1200" kern="1200" dirty="0" smtClean="0">
                <a:solidFill>
                  <a:schemeClr val="tx1"/>
                </a:solidFill>
                <a:effectLst/>
                <a:latin typeface="+mn-lt"/>
                <a:ea typeface="+mn-ea"/>
                <a:cs typeface="+mn-cs"/>
              </a:rPr>
              <a:t>8.1</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当机器人操作臂达到所要求的定位精度有困难时，可采用辅助工夹具协助定位的办法，即机器人操作臂把被抓取物体送到工、夹具进行粗定位，然后利用工、夹具的夹紧动作实现工件的最后定位。这种办法既能保证工艺要求，又可降低机器人操作臂的定位要求。</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a:t>
            </a:fld>
            <a:endParaRPr lang="zh-CN" altLang="en-US"/>
          </a:p>
        </p:txBody>
      </p:sp>
    </p:spTree>
    <p:extLst>
      <p:ext uri="{BB962C8B-B14F-4D97-AF65-F5344CB8AC3E}">
        <p14:creationId xmlns:p14="http://schemas.microsoft.com/office/powerpoint/2010/main" val="40053548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（二）机器人运动形式或移动机构的选择</a:t>
            </a:r>
          </a:p>
          <a:p>
            <a:r>
              <a:rPr lang="zh-CN" altLang="zh-CN" sz="1200" kern="1200" dirty="0" smtClean="0">
                <a:solidFill>
                  <a:schemeClr val="tx1"/>
                </a:solidFill>
                <a:effectLst/>
                <a:latin typeface="+mn-lt"/>
                <a:ea typeface="+mn-ea"/>
                <a:cs typeface="+mn-cs"/>
              </a:rPr>
              <a:t>根据主要的运动参数选择运动形式是结构设计的基础。常见工业机器人的运动形式有五种：直角坐标型、圆柱坐标型、极坐标型、关节型和</a:t>
            </a:r>
            <a:r>
              <a:rPr lang="en-US" altLang="zh-CN" sz="1200" kern="1200" dirty="0" smtClean="0">
                <a:solidFill>
                  <a:schemeClr val="tx1"/>
                </a:solidFill>
                <a:effectLst/>
                <a:latin typeface="+mn-lt"/>
                <a:ea typeface="+mn-ea"/>
                <a:cs typeface="+mn-cs"/>
              </a:rPr>
              <a:t> SCARA </a:t>
            </a:r>
            <a:r>
              <a:rPr lang="zh-CN" altLang="zh-CN" sz="1200" kern="1200" dirty="0" smtClean="0">
                <a:solidFill>
                  <a:schemeClr val="tx1"/>
                </a:solidFill>
                <a:effectLst/>
                <a:latin typeface="+mn-lt"/>
                <a:ea typeface="+mn-ea"/>
                <a:cs typeface="+mn-cs"/>
              </a:rPr>
              <a:t>型。常见移动机器人的移动机构有轮式、履带式和足式移动机构。为适应不同的生产工艺或环境需要，可采用不同的结构。具体选用哪种形式，必须根据工艺要求、工作现场、位置以及搬运前后工件中心线方向的变化等情况，分析比较，择优选取。</a:t>
            </a:r>
          </a:p>
          <a:p>
            <a:r>
              <a:rPr lang="zh-CN" altLang="zh-CN" sz="1200" kern="1200" dirty="0" smtClean="0">
                <a:solidFill>
                  <a:schemeClr val="tx1"/>
                </a:solidFill>
                <a:effectLst/>
                <a:latin typeface="+mn-lt"/>
                <a:ea typeface="+mn-ea"/>
                <a:cs typeface="+mn-cs"/>
              </a:rPr>
              <a:t>为了满足特定工艺要求，专用的机械手一般只要求有</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个或</a:t>
            </a:r>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个自由度，而通用机器人必须具有</a:t>
            </a:r>
            <a:r>
              <a:rPr lang="en-US" altLang="zh-CN" sz="1200" kern="1200" dirty="0" smtClean="0">
                <a:solidFill>
                  <a:schemeClr val="tx1"/>
                </a:solidFill>
                <a:effectLst/>
                <a:latin typeface="+mn-lt"/>
                <a:ea typeface="+mn-ea"/>
                <a:cs typeface="+mn-cs"/>
              </a:rPr>
              <a:t>4~6</a:t>
            </a:r>
            <a:r>
              <a:rPr lang="zh-CN" altLang="zh-CN" sz="1200" kern="1200" dirty="0" smtClean="0">
                <a:solidFill>
                  <a:schemeClr val="tx1"/>
                </a:solidFill>
                <a:effectLst/>
                <a:latin typeface="+mn-lt"/>
                <a:ea typeface="+mn-ea"/>
                <a:cs typeface="+mn-cs"/>
              </a:rPr>
              <a:t>个自由度，才能满足不同产品的不同工艺要求。所选择的运动形式，在满足需要的情况下，应以使自由度最少、结构最简单为准。</a:t>
            </a:r>
          </a:p>
          <a:p>
            <a:r>
              <a:rPr lang="zh-CN" altLang="zh-CN" sz="1200" kern="1200" dirty="0" smtClean="0">
                <a:solidFill>
                  <a:schemeClr val="tx1"/>
                </a:solidFill>
                <a:effectLst/>
                <a:latin typeface="+mn-lt"/>
                <a:ea typeface="+mn-ea"/>
                <a:cs typeface="+mn-cs"/>
              </a:rPr>
              <a:t>（三）拟定检测传感系统框图</a:t>
            </a:r>
          </a:p>
          <a:p>
            <a:r>
              <a:rPr lang="zh-CN" altLang="zh-CN" sz="1200" kern="1200" dirty="0" smtClean="0">
                <a:solidFill>
                  <a:schemeClr val="tx1"/>
                </a:solidFill>
                <a:effectLst/>
                <a:latin typeface="+mn-lt"/>
                <a:ea typeface="+mn-ea"/>
                <a:cs typeface="+mn-cs"/>
              </a:rPr>
              <a:t>选择合适的传感器，以便结构设计时考虑安装位置。</a:t>
            </a:r>
          </a:p>
          <a:p>
            <a:r>
              <a:rPr lang="zh-CN" altLang="zh-CN" sz="1200" kern="1200" dirty="0" smtClean="0">
                <a:solidFill>
                  <a:schemeClr val="tx1"/>
                </a:solidFill>
                <a:effectLst/>
                <a:latin typeface="+mn-lt"/>
                <a:ea typeface="+mn-ea"/>
                <a:cs typeface="+mn-cs"/>
              </a:rPr>
              <a:t>（四）确定控制系统总体方案</a:t>
            </a:r>
          </a:p>
          <a:p>
            <a:r>
              <a:rPr lang="zh-CN" altLang="zh-CN" sz="1200" kern="1200" dirty="0" smtClean="0">
                <a:solidFill>
                  <a:schemeClr val="tx1"/>
                </a:solidFill>
                <a:effectLst/>
                <a:latin typeface="+mn-lt"/>
                <a:ea typeface="+mn-ea"/>
                <a:cs typeface="+mn-cs"/>
              </a:rPr>
              <a:t>选择合适的控制方案，绘制控制系统结构框图。</a:t>
            </a:r>
          </a:p>
          <a:p>
            <a:r>
              <a:rPr lang="zh-CN" altLang="zh-CN" sz="1200" kern="1200" dirty="0" smtClean="0">
                <a:solidFill>
                  <a:schemeClr val="tx1"/>
                </a:solidFill>
                <a:effectLst/>
                <a:latin typeface="+mn-lt"/>
                <a:ea typeface="+mn-ea"/>
                <a:cs typeface="+mn-cs"/>
              </a:rPr>
              <a:t>（五）机械结构设计</a:t>
            </a:r>
          </a:p>
          <a:p>
            <a:r>
              <a:rPr lang="zh-CN" altLang="zh-CN" sz="1200" kern="1200" dirty="0" smtClean="0">
                <a:solidFill>
                  <a:schemeClr val="tx1"/>
                </a:solidFill>
                <a:effectLst/>
                <a:latin typeface="+mn-lt"/>
                <a:ea typeface="+mn-ea"/>
                <a:cs typeface="+mn-cs"/>
              </a:rPr>
              <a:t>确定驱动方式，选择运动部件和设计具体结构，绘制机器人总装图及主要部件零件图。</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12</a:t>
            </a:fld>
            <a:endParaRPr lang="zh-CN" altLang="en-US"/>
          </a:p>
        </p:txBody>
      </p:sp>
    </p:spTree>
    <p:extLst>
      <p:ext uri="{BB962C8B-B14F-4D97-AF65-F5344CB8AC3E}">
        <p14:creationId xmlns:p14="http://schemas.microsoft.com/office/powerpoint/2010/main" val="2845549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13</a:t>
            </a:fld>
            <a:endParaRPr lang="zh-CN" altLang="en-US"/>
          </a:p>
        </p:txBody>
      </p:sp>
    </p:spTree>
    <p:extLst>
      <p:ext uri="{BB962C8B-B14F-4D97-AF65-F5344CB8AC3E}">
        <p14:creationId xmlns:p14="http://schemas.microsoft.com/office/powerpoint/2010/main" val="1597053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建筑固废分拣机器人的最高分拣速度高达</a:t>
            </a:r>
            <a:r>
              <a:rPr lang="en-US" altLang="zh-CN" sz="1200" kern="1200" dirty="0" smtClean="0">
                <a:solidFill>
                  <a:schemeClr val="tx1"/>
                </a:solidFill>
                <a:effectLst/>
                <a:latin typeface="+mn-lt"/>
                <a:ea typeface="+mn-ea"/>
                <a:cs typeface="+mn-cs"/>
              </a:rPr>
              <a:t>4000</a:t>
            </a:r>
            <a:r>
              <a:rPr lang="zh-CN" altLang="zh-CN" sz="1200" kern="1200" dirty="0" smtClean="0">
                <a:solidFill>
                  <a:schemeClr val="tx1"/>
                </a:solidFill>
                <a:effectLst/>
                <a:latin typeface="+mn-lt"/>
                <a:ea typeface="+mn-ea"/>
                <a:cs typeface="+mn-cs"/>
              </a:rPr>
              <a:t>次</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分钟，抓取器的开口范围为</a:t>
            </a:r>
            <a:r>
              <a:rPr lang="en-US" altLang="zh-CN" sz="1200" kern="1200" dirty="0" smtClean="0">
                <a:solidFill>
                  <a:schemeClr val="tx1"/>
                </a:solidFill>
                <a:effectLst/>
                <a:latin typeface="+mn-lt"/>
                <a:ea typeface="+mn-ea"/>
                <a:cs typeface="+mn-cs"/>
              </a:rPr>
              <a:t>5~50</a:t>
            </a:r>
            <a:r>
              <a:rPr lang="zh-CN" altLang="zh-CN" sz="1200" kern="1200" dirty="0" smtClean="0">
                <a:solidFill>
                  <a:schemeClr val="tx1"/>
                </a:solidFill>
                <a:effectLst/>
                <a:latin typeface="+mn-lt"/>
                <a:ea typeface="+mn-ea"/>
                <a:cs typeface="+mn-cs"/>
              </a:rPr>
              <a:t>厘米，单臂负荷</a:t>
            </a:r>
            <a:r>
              <a:rPr lang="en-US" altLang="zh-CN" sz="1200" kern="1200" dirty="0" smtClean="0">
                <a:solidFill>
                  <a:schemeClr val="tx1"/>
                </a:solidFill>
                <a:effectLst/>
                <a:latin typeface="+mn-lt"/>
                <a:ea typeface="+mn-ea"/>
                <a:cs typeface="+mn-cs"/>
              </a:rPr>
              <a:t>30</a:t>
            </a:r>
            <a:r>
              <a:rPr lang="zh-CN" altLang="zh-CN" sz="1200" kern="1200" dirty="0" smtClean="0">
                <a:solidFill>
                  <a:schemeClr val="tx1"/>
                </a:solidFill>
                <a:effectLst/>
                <a:latin typeface="+mn-lt"/>
                <a:ea typeface="+mn-ea"/>
                <a:cs typeface="+mn-cs"/>
              </a:rPr>
              <a:t>公斤。先用挖掘机将垃圾堆放到宽</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米的输送带上，经抖动过滤器筛选掉体积过小的残渣，然后通过类似于安检机的扫描器。此时计算机视觉系统会分析垃圾的类型与尺寸，并根据输送带的速度计算出机械臂的抓取时机。当目标物体输送至机械臂</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米半径时被拣起并抛掷到指定废料斜槽，存储到一定量后运送至回收厂。目前，金属、木材、石膏、石块、混凝土、硬塑料、纸板等</a:t>
            </a:r>
            <a:r>
              <a:rPr lang="en-US" altLang="zh-CN" sz="1200" kern="1200" dirty="0" smtClean="0">
                <a:solidFill>
                  <a:schemeClr val="tx1"/>
                </a:solidFill>
                <a:effectLst/>
                <a:latin typeface="+mn-lt"/>
                <a:ea typeface="+mn-ea"/>
                <a:cs typeface="+mn-cs"/>
              </a:rPr>
              <a:t>20</a:t>
            </a:r>
            <a:r>
              <a:rPr lang="zh-CN" altLang="zh-CN" sz="1200" kern="1200" dirty="0" smtClean="0">
                <a:solidFill>
                  <a:schemeClr val="tx1"/>
                </a:solidFill>
                <a:effectLst/>
                <a:latin typeface="+mn-lt"/>
                <a:ea typeface="+mn-ea"/>
                <a:cs typeface="+mn-cs"/>
              </a:rPr>
              <a:t>余种可回收垃圾能够被机器人识别并分拣，两套回收机一天即可处理</a:t>
            </a:r>
            <a:r>
              <a:rPr lang="en-US" altLang="zh-CN" sz="1200" kern="1200" dirty="0" smtClean="0">
                <a:solidFill>
                  <a:schemeClr val="tx1"/>
                </a:solidFill>
                <a:effectLst/>
                <a:latin typeface="+mn-lt"/>
                <a:ea typeface="+mn-ea"/>
                <a:cs typeface="+mn-cs"/>
              </a:rPr>
              <a:t>2000</a:t>
            </a:r>
            <a:r>
              <a:rPr lang="zh-CN" altLang="zh-CN" sz="1200" kern="1200" dirty="0" smtClean="0">
                <a:solidFill>
                  <a:schemeClr val="tx1"/>
                </a:solidFill>
                <a:effectLst/>
                <a:latin typeface="+mn-lt"/>
                <a:ea typeface="+mn-ea"/>
                <a:cs typeface="+mn-cs"/>
              </a:rPr>
              <a:t>吨垃圾。</a:t>
            </a:r>
            <a:endParaRPr lang="en-US" altLang="zh-CN" sz="1200" kern="1200" dirty="0" smtClean="0">
              <a:solidFill>
                <a:schemeClr val="tx1"/>
              </a:solidFill>
              <a:effectLst/>
              <a:latin typeface="+mn-lt"/>
              <a:ea typeface="+mn-ea"/>
              <a:cs typeface="+mn-cs"/>
            </a:endParaRPr>
          </a:p>
          <a:p>
            <a:endParaRPr lang="en-US" altLang="zh-CN" dirty="0" smtClean="0"/>
          </a:p>
          <a:p>
            <a:r>
              <a:rPr lang="zh-CN" altLang="zh-CN" sz="1200" kern="1200" dirty="0" smtClean="0">
                <a:solidFill>
                  <a:schemeClr val="tx1"/>
                </a:solidFill>
                <a:effectLst/>
                <a:latin typeface="+mn-lt"/>
                <a:ea typeface="+mn-ea"/>
                <a:cs typeface="+mn-cs"/>
              </a:rPr>
              <a:t>快递包裹分拣机器人结合</a:t>
            </a:r>
            <a:r>
              <a:rPr lang="en-US" altLang="zh-CN" sz="1200" kern="1200" dirty="0" smtClean="0">
                <a:solidFill>
                  <a:schemeClr val="tx1"/>
                </a:solidFill>
                <a:effectLst/>
                <a:latin typeface="+mn-lt"/>
                <a:ea typeface="+mn-ea"/>
                <a:cs typeface="+mn-cs"/>
              </a:rPr>
              <a:t>3D</a:t>
            </a:r>
            <a:r>
              <a:rPr lang="zh-CN" altLang="zh-CN" sz="1200" kern="1200" dirty="0" smtClean="0">
                <a:solidFill>
                  <a:schemeClr val="tx1"/>
                </a:solidFill>
                <a:effectLst/>
                <a:latin typeface="+mn-lt"/>
                <a:ea typeface="+mn-ea"/>
                <a:cs typeface="+mn-cs"/>
              </a:rPr>
              <a:t>视觉与</a:t>
            </a:r>
            <a:r>
              <a:rPr lang="en-US" altLang="zh-CN" sz="1200" kern="1200" dirty="0" smtClean="0">
                <a:solidFill>
                  <a:schemeClr val="tx1"/>
                </a:solidFill>
                <a:effectLst/>
                <a:latin typeface="+mn-lt"/>
                <a:ea typeface="+mn-ea"/>
                <a:cs typeface="+mn-cs"/>
              </a:rPr>
              <a:t>AI</a:t>
            </a:r>
            <a:r>
              <a:rPr lang="zh-CN" altLang="zh-CN" sz="1200" kern="1200" dirty="0" smtClean="0">
                <a:solidFill>
                  <a:schemeClr val="tx1"/>
                </a:solidFill>
                <a:effectLst/>
                <a:latin typeface="+mn-lt"/>
                <a:ea typeface="+mn-ea"/>
                <a:cs typeface="+mn-cs"/>
              </a:rPr>
              <a:t>技术，采用高逼真虚拟数据生成、对比学习、目标检测与分割以及点云位姿检测等多种算法，可对目标的几何边缘、曲面平面、纹理等重要特征信息进行学习，实现不同种类包裹的精准识别与定位。</a:t>
            </a:r>
          </a:p>
          <a:p>
            <a:r>
              <a:rPr lang="zh-CN" altLang="zh-CN" sz="1200" kern="1200" dirty="0" smtClean="0">
                <a:solidFill>
                  <a:schemeClr val="tx1"/>
                </a:solidFill>
                <a:effectLst/>
                <a:latin typeface="+mn-lt"/>
                <a:ea typeface="+mn-ea"/>
                <a:cs typeface="+mn-cs"/>
              </a:rPr>
              <a:t>用户在实际场景中无需采集大量标注图片，可实现包裹的免注册，能够保障产品的高效、快捷部署。针对包裹异形识别困难、形状差异大、种类繁多的难点，主体采用高强度塑料材质，通过集成式真空控制的方式，并结合柔性抓取控制技术，可适应各种信封、纸箱、泡沫箱、软包等常规包裹种类的稳定抓取。针对高速分拣下存在的碰撞、甩包、上双等异常问题，机器人控制算法融合包裹尺寸、形状、堆叠情况、抓手尺寸等信息，可实时规划机器人运动轨迹，自动躲避障碍物，避免抓取过程中碰撞、甩包、上双等异常情况发生。</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水果分拣机器人可根据用户要求将不同颜色、类型的水果放置到不同的储物篮。如图</a:t>
            </a:r>
            <a:r>
              <a:rPr lang="en-US" altLang="zh-CN" sz="1200" kern="1200" dirty="0" smtClean="0">
                <a:solidFill>
                  <a:schemeClr val="tx1"/>
                </a:solidFill>
                <a:effectLst/>
                <a:latin typeface="+mn-lt"/>
                <a:ea typeface="+mn-ea"/>
                <a:cs typeface="+mn-cs"/>
              </a:rPr>
              <a:t>8.3</a:t>
            </a:r>
            <a:r>
              <a:rPr lang="zh-CN" altLang="zh-CN" sz="1200" kern="1200" dirty="0" smtClean="0">
                <a:solidFill>
                  <a:schemeClr val="tx1"/>
                </a:solidFill>
                <a:effectLst/>
                <a:latin typeface="+mn-lt"/>
                <a:ea typeface="+mn-ea"/>
                <a:cs typeface="+mn-cs"/>
              </a:rPr>
              <a:t>是分拣机器人系统的实物图，包含</a:t>
            </a:r>
            <a:r>
              <a:rPr lang="en-US" altLang="zh-CN" sz="1200" kern="1200" dirty="0" smtClean="0">
                <a:solidFill>
                  <a:schemeClr val="tx1"/>
                </a:solidFill>
                <a:effectLst/>
                <a:latin typeface="+mn-lt"/>
                <a:ea typeface="+mn-ea"/>
                <a:cs typeface="+mn-cs"/>
              </a:rPr>
              <a:t>RGBD</a:t>
            </a:r>
            <a:r>
              <a:rPr lang="zh-CN" altLang="zh-CN" sz="1200" kern="1200" dirty="0" smtClean="0">
                <a:solidFill>
                  <a:schemeClr val="tx1"/>
                </a:solidFill>
                <a:effectLst/>
                <a:latin typeface="+mn-lt"/>
                <a:ea typeface="+mn-ea"/>
                <a:cs typeface="+mn-cs"/>
              </a:rPr>
              <a:t>传感器、工作台、待识别物体、储物篮、机械臂及末端二指手爪。通过</a:t>
            </a:r>
            <a:r>
              <a:rPr lang="en-US" altLang="zh-CN" sz="1200" kern="1200" dirty="0" smtClean="0">
                <a:solidFill>
                  <a:schemeClr val="tx1"/>
                </a:solidFill>
                <a:effectLst/>
                <a:latin typeface="+mn-lt"/>
                <a:ea typeface="+mn-ea"/>
                <a:cs typeface="+mn-cs"/>
              </a:rPr>
              <a:t>RGBD</a:t>
            </a:r>
            <a:r>
              <a:rPr lang="zh-CN" altLang="zh-CN" sz="1200" kern="1200" dirty="0" smtClean="0">
                <a:solidFill>
                  <a:schemeClr val="tx1"/>
                </a:solidFill>
                <a:effectLst/>
                <a:latin typeface="+mn-lt"/>
                <a:ea typeface="+mn-ea"/>
                <a:cs typeface="+mn-cs"/>
              </a:rPr>
              <a:t>识别出工作台上所有水果的场景信息（颜色、大小、三维坐标等），系统控制机械臂将不同颜色、类型的水果放置到不同的储物篮，实现物体的自动分拣作业。</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15</a:t>
            </a:fld>
            <a:endParaRPr lang="zh-CN" altLang="en-US"/>
          </a:p>
        </p:txBody>
      </p:sp>
    </p:spTree>
    <p:extLst>
      <p:ext uri="{BB962C8B-B14F-4D97-AF65-F5344CB8AC3E}">
        <p14:creationId xmlns:p14="http://schemas.microsoft.com/office/powerpoint/2010/main" val="2209661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16</a:t>
            </a:fld>
            <a:endParaRPr lang="zh-CN" altLang="en-US"/>
          </a:p>
        </p:txBody>
      </p:sp>
    </p:spTree>
    <p:extLst>
      <p:ext uri="{BB962C8B-B14F-4D97-AF65-F5344CB8AC3E}">
        <p14:creationId xmlns:p14="http://schemas.microsoft.com/office/powerpoint/2010/main" val="21706378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工业机器人搬运码垛系统通常由以下几部分构成：</a:t>
            </a:r>
          </a:p>
          <a:p>
            <a:r>
              <a:rPr lang="zh-CN" altLang="en-US" dirty="0" smtClean="0"/>
              <a:t>（</a:t>
            </a:r>
            <a:r>
              <a:rPr lang="en-US" altLang="zh-CN" dirty="0" smtClean="0"/>
              <a:t>1</a:t>
            </a:r>
            <a:r>
              <a:rPr lang="zh-CN" altLang="en-US" dirty="0" smtClean="0"/>
              <a:t>）托盘：现在市场上有许多不同种类的托盘，例如木托盘、塑料托盘、纸</a:t>
            </a:r>
            <a:r>
              <a:rPr lang="en-US" altLang="zh-CN" dirty="0" smtClean="0"/>
              <a:t>/</a:t>
            </a:r>
            <a:r>
              <a:rPr lang="zh-CN" altLang="en-US" dirty="0" smtClean="0"/>
              <a:t>纸板托盘、金属托盘和铝托盘等等。尺寸标准可能因用户所在的区域而异。</a:t>
            </a:r>
          </a:p>
          <a:p>
            <a:r>
              <a:rPr lang="zh-CN" altLang="en-US" dirty="0" smtClean="0"/>
              <a:t>（</a:t>
            </a:r>
            <a:r>
              <a:rPr lang="en-US" altLang="zh-CN" dirty="0" smtClean="0"/>
              <a:t>2</a:t>
            </a:r>
            <a:r>
              <a:rPr lang="zh-CN" altLang="en-US" dirty="0" smtClean="0"/>
              <a:t>）传送带：用于将箱子传送到机器人的可达区域。目前市场上传送带的种类繁多，设计者需要针对特定应用行业需求选择合适的配置。</a:t>
            </a:r>
          </a:p>
          <a:p>
            <a:r>
              <a:rPr lang="zh-CN" altLang="en-US" dirty="0" smtClean="0"/>
              <a:t>（</a:t>
            </a:r>
            <a:r>
              <a:rPr lang="en-US" altLang="zh-CN" dirty="0" smtClean="0"/>
              <a:t>3</a:t>
            </a:r>
            <a:r>
              <a:rPr lang="zh-CN" altLang="en-US" dirty="0" smtClean="0"/>
              <a:t>）控制器：协调机器的运动的控制设备。</a:t>
            </a:r>
          </a:p>
          <a:p>
            <a:r>
              <a:rPr lang="zh-CN" altLang="en-US" dirty="0" smtClean="0"/>
              <a:t>（</a:t>
            </a:r>
            <a:r>
              <a:rPr lang="en-US" altLang="zh-CN" dirty="0" smtClean="0"/>
              <a:t>4</a:t>
            </a:r>
            <a:r>
              <a:rPr lang="zh-CN" altLang="en-US" dirty="0" smtClean="0"/>
              <a:t>）操作员：执行码垛操作的机器人本体。</a:t>
            </a:r>
          </a:p>
          <a:p>
            <a:r>
              <a:rPr lang="zh-CN" altLang="en-US" dirty="0" smtClean="0"/>
              <a:t>（</a:t>
            </a:r>
            <a:r>
              <a:rPr lang="en-US" altLang="zh-CN" dirty="0" smtClean="0"/>
              <a:t>5</a:t>
            </a:r>
            <a:r>
              <a:rPr lang="zh-CN" altLang="en-US" dirty="0" smtClean="0"/>
              <a:t>）夹持器：固定于机械臂的末端的工具，用于从传送带上抓取盒子。通常，真空夹具是拾取箱子的最佳选择。确保吸盘配置适合箱子和有效载荷，否则可能会遇到拾取可靠性和可重复性方面的问题。</a:t>
            </a:r>
          </a:p>
          <a:p>
            <a:r>
              <a:rPr lang="zh-CN" altLang="en-US" dirty="0" smtClean="0"/>
              <a:t>（</a:t>
            </a:r>
            <a:r>
              <a:rPr lang="en-US" altLang="zh-CN" dirty="0" smtClean="0"/>
              <a:t>6</a:t>
            </a:r>
            <a:r>
              <a:rPr lang="zh-CN" altLang="en-US" dirty="0" smtClean="0"/>
              <a:t>）示教器：用于对机器人进行编程的手持设备。</a:t>
            </a:r>
          </a:p>
          <a:p>
            <a:r>
              <a:rPr lang="zh-CN" altLang="en-US" dirty="0" smtClean="0"/>
              <a:t>（</a:t>
            </a:r>
            <a:r>
              <a:rPr lang="en-US" altLang="zh-CN" dirty="0" smtClean="0"/>
              <a:t>7</a:t>
            </a:r>
            <a:r>
              <a:rPr lang="zh-CN" altLang="en-US" dirty="0" smtClean="0"/>
              <a:t>）状态灯：指示机器的不同状态，包含状态：托盘就绪、托盘已满、错误、紧急停止等。</a:t>
            </a:r>
          </a:p>
          <a:p>
            <a:r>
              <a:rPr lang="zh-CN" altLang="en-US" dirty="0" smtClean="0"/>
              <a:t>（</a:t>
            </a:r>
            <a:r>
              <a:rPr lang="en-US" altLang="zh-CN" dirty="0" smtClean="0"/>
              <a:t>8</a:t>
            </a:r>
            <a:r>
              <a:rPr lang="zh-CN" altLang="en-US" dirty="0" smtClean="0"/>
              <a:t>）电缆管理系统：用于保护连接机器人和其他组件的电缆。它还可以防止电缆挤压和断裂。</a:t>
            </a:r>
          </a:p>
          <a:p>
            <a:r>
              <a:rPr lang="zh-CN" altLang="en-US" dirty="0" smtClean="0"/>
              <a:t>（</a:t>
            </a:r>
            <a:r>
              <a:rPr lang="en-US" altLang="zh-CN" dirty="0" smtClean="0"/>
              <a:t>9</a:t>
            </a:r>
            <a:r>
              <a:rPr lang="zh-CN" altLang="en-US" dirty="0" smtClean="0"/>
              <a:t>）保障措施：并不总是需要，但总是必须通过风险评估分析来考虑。它们通常以三种形式存在：栅栏、光幕和区域扫描仪。</a:t>
            </a:r>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17</a:t>
            </a:fld>
            <a:endParaRPr lang="zh-CN" altLang="en-US"/>
          </a:p>
        </p:txBody>
      </p:sp>
    </p:spTree>
    <p:extLst>
      <p:ext uri="{BB962C8B-B14F-4D97-AF65-F5344CB8AC3E}">
        <p14:creationId xmlns:p14="http://schemas.microsoft.com/office/powerpoint/2010/main" val="14806143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图</a:t>
            </a:r>
            <a:r>
              <a:rPr lang="en-US" altLang="zh-CN" sz="1200" kern="1200" dirty="0" smtClean="0">
                <a:solidFill>
                  <a:schemeClr val="tx1"/>
                </a:solidFill>
                <a:effectLst/>
                <a:latin typeface="+mn-lt"/>
                <a:ea typeface="+mn-ea"/>
                <a:cs typeface="+mn-cs"/>
              </a:rPr>
              <a:t>8.21</a:t>
            </a:r>
            <a:r>
              <a:rPr lang="zh-CN" altLang="zh-CN" sz="1200" kern="1200" dirty="0" smtClean="0">
                <a:solidFill>
                  <a:schemeClr val="tx1"/>
                </a:solidFill>
                <a:effectLst/>
                <a:latin typeface="+mn-lt"/>
                <a:ea typeface="+mn-ea"/>
                <a:cs typeface="+mn-cs"/>
              </a:rPr>
              <a:t>的流程图展示了一个简单的码垛机器人系统。读者可以根据具体的需求和实际应用场景，对层次状态机进行扩展和优化。</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18</a:t>
            </a:fld>
            <a:endParaRPr lang="zh-CN" altLang="en-US"/>
          </a:p>
        </p:txBody>
      </p:sp>
    </p:spTree>
    <p:extLst>
      <p:ext uri="{BB962C8B-B14F-4D97-AF65-F5344CB8AC3E}">
        <p14:creationId xmlns:p14="http://schemas.microsoft.com/office/powerpoint/2010/main" val="2689543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19</a:t>
            </a:fld>
            <a:endParaRPr lang="zh-CN" altLang="en-US"/>
          </a:p>
        </p:txBody>
      </p:sp>
    </p:spTree>
    <p:extLst>
      <p:ext uri="{BB962C8B-B14F-4D97-AF65-F5344CB8AC3E}">
        <p14:creationId xmlns:p14="http://schemas.microsoft.com/office/powerpoint/2010/main" val="13043481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20</a:t>
            </a:fld>
            <a:endParaRPr lang="zh-CN" altLang="en-US"/>
          </a:p>
        </p:txBody>
      </p:sp>
    </p:spTree>
    <p:extLst>
      <p:ext uri="{BB962C8B-B14F-4D97-AF65-F5344CB8AC3E}">
        <p14:creationId xmlns:p14="http://schemas.microsoft.com/office/powerpoint/2010/main" val="10982190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21</a:t>
            </a:fld>
            <a:endParaRPr lang="zh-CN" altLang="en-US"/>
          </a:p>
        </p:txBody>
      </p:sp>
    </p:spTree>
    <p:extLst>
      <p:ext uri="{BB962C8B-B14F-4D97-AF65-F5344CB8AC3E}">
        <p14:creationId xmlns:p14="http://schemas.microsoft.com/office/powerpoint/2010/main" val="33746683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1.sv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5.jpe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8.png"/><Relationship Id="rId11" Type="http://schemas.openxmlformats.org/officeDocument/2006/relationships/image" Target="../media/image5.jpe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18" y="1598181"/>
            <a:ext cx="7772603" cy="1102768"/>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36" y="2915310"/>
            <a:ext cx="6400967" cy="1314748"/>
          </a:xfrm>
          <a:prstGeom prst="rect">
            <a:avLst/>
          </a:prstGeo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8035" indent="0" algn="ctr">
              <a:buNone/>
              <a:defRPr>
                <a:solidFill>
                  <a:schemeClr val="tx1">
                    <a:tint val="75000"/>
                  </a:schemeClr>
                </a:solidFill>
              </a:defRPr>
            </a:lvl7pPr>
            <a:lvl8pPr marL="2400935" indent="0" algn="ctr">
              <a:buNone/>
              <a:defRPr>
                <a:solidFill>
                  <a:schemeClr val="tx1">
                    <a:tint val="75000"/>
                  </a:schemeClr>
                </a:solidFill>
              </a:defRPr>
            </a:lvl8pPr>
            <a:lvl9pPr marL="2743835"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2024/4/28</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12" y="1200422"/>
            <a:ext cx="8229815" cy="3395241"/>
          </a:xfrm>
          <a:prstGeom prst="rect">
            <a:avLst/>
          </a:prstGeo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2024/4/28</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32" y="3305924"/>
            <a:ext cx="7772603" cy="1021788"/>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32" y="2180528"/>
            <a:ext cx="7772603" cy="1125395"/>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8035" indent="0">
              <a:buNone/>
              <a:defRPr sz="1050">
                <a:solidFill>
                  <a:schemeClr val="tx1">
                    <a:tint val="75000"/>
                  </a:schemeClr>
                </a:solidFill>
              </a:defRPr>
            </a:lvl7pPr>
            <a:lvl8pPr marL="2400935" indent="0">
              <a:buNone/>
              <a:defRPr sz="1050">
                <a:solidFill>
                  <a:schemeClr val="tx1">
                    <a:tint val="75000"/>
                  </a:schemeClr>
                </a:solidFill>
              </a:defRPr>
            </a:lvl8pPr>
            <a:lvl9pPr marL="2743835" indent="0">
              <a:buNone/>
              <a:defRPr sz="105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2024/4/28</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17" y="1200422"/>
            <a:ext cx="540875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0774" y="1200422"/>
            <a:ext cx="5410341"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2024/4/28</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12" y="1151595"/>
            <a:ext cx="4040293"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12" y="1631526"/>
            <a:ext cx="4040293"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147" y="1151595"/>
            <a:ext cx="4041881"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147" y="1631526"/>
            <a:ext cx="4041881"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2024/4/28</a:t>
            </a:fld>
            <a:endParaRPr lang="zh-CN" altLang="en-US"/>
          </a:p>
        </p:txBody>
      </p:sp>
      <p:sp>
        <p:nvSpPr>
          <p:cNvPr id="8" name="页脚占位符 7"/>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2024/4/28</a:t>
            </a:fld>
            <a:endParaRPr lang="zh-CN" altLang="en-US"/>
          </a:p>
        </p:txBody>
      </p:sp>
      <p:sp>
        <p:nvSpPr>
          <p:cNvPr id="4" name="页脚占位符 3"/>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2024/4/28</a:t>
            </a:fld>
            <a:endParaRPr lang="zh-CN" altLang="en-US"/>
          </a:p>
        </p:txBody>
      </p:sp>
      <p:sp>
        <p:nvSpPr>
          <p:cNvPr id="3" name="页脚占位符 2"/>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2" y="204834"/>
            <a:ext cx="3008392" cy="871735"/>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143" y="204835"/>
            <a:ext cx="5111883" cy="439082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12" y="1076569"/>
            <a:ext cx="3008392" cy="3519094"/>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2024/4/28</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335" y="3601265"/>
            <a:ext cx="5486543" cy="425150"/>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335" y="459685"/>
            <a:ext cx="5486543" cy="308679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p:nvPr>
        </p:nvSpPr>
        <p:spPr>
          <a:xfrm>
            <a:off x="1792335" y="4026415"/>
            <a:ext cx="5486543" cy="60378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2024/4/28</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12" y="1200422"/>
            <a:ext cx="8229815" cy="3395241"/>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2024/4/28</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431" y="206026"/>
            <a:ext cx="2741684" cy="4389637"/>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16" y="206026"/>
            <a:ext cx="8077411" cy="4389637"/>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2024/4/28</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设计准则">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71" name="矩形 70"/>
          <p:cNvSpPr/>
          <p:nvPr userDrawn="1"/>
        </p:nvSpPr>
        <p:spPr>
          <a:xfrm>
            <a:off x="1143000" y="1762828"/>
            <a:ext cx="6858000" cy="2801194"/>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sp>
        <p:nvSpPr>
          <p:cNvPr id="72" name="矩形 71"/>
          <p:cNvSpPr/>
          <p:nvPr userDrawn="1"/>
        </p:nvSpPr>
        <p:spPr>
          <a:xfrm>
            <a:off x="1143000" y="1350917"/>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03905" y="2092604"/>
            <a:ext cx="438031" cy="438221"/>
          </a:xfrm>
          <a:prstGeom prst="rect">
            <a:avLst/>
          </a:prstGeom>
        </p:spPr>
      </p:pic>
      <p:sp>
        <p:nvSpPr>
          <p:cNvPr id="13" name="文本框 12"/>
          <p:cNvSpPr txBox="1"/>
          <p:nvPr userDrawn="1"/>
        </p:nvSpPr>
        <p:spPr>
          <a:xfrm>
            <a:off x="1576216" y="2623188"/>
            <a:ext cx="893407" cy="299085"/>
          </a:xfrm>
          <a:prstGeom prst="rect">
            <a:avLst/>
          </a:prstGeom>
          <a:noFill/>
        </p:spPr>
        <p:txBody>
          <a:bodyPr wrap="square" rtlCol="0">
            <a:spAutoFit/>
          </a:bodyPr>
          <a:lstStyle/>
          <a:p>
            <a:pPr algn="ctr"/>
            <a:r>
              <a:rPr lang="zh-CN" altLang="en-US" sz="1350" dirty="0">
                <a:latin typeface="宋体-简" panose="02010800040101010101" charset="-122"/>
                <a:ea typeface="宋体-简" panose="02010800040101010101" charset="-122"/>
              </a:rPr>
              <a:t>字体设置</a:t>
            </a:r>
          </a:p>
        </p:txBody>
      </p:sp>
      <p:pic>
        <p:nvPicPr>
          <p:cNvPr id="3" name="图形 2"/>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803905" y="3469411"/>
            <a:ext cx="521818" cy="522044"/>
          </a:xfrm>
          <a:prstGeom prst="rect">
            <a:avLst/>
          </a:prstGeom>
        </p:spPr>
      </p:pic>
      <p:sp>
        <p:nvSpPr>
          <p:cNvPr id="21" name="文本框 20"/>
          <p:cNvSpPr txBox="1"/>
          <p:nvPr userDrawn="1"/>
        </p:nvSpPr>
        <p:spPr>
          <a:xfrm>
            <a:off x="1598139" y="3991453"/>
            <a:ext cx="893407" cy="299085"/>
          </a:xfrm>
          <a:prstGeom prst="rect">
            <a:avLst/>
          </a:prstGeom>
          <a:noFill/>
        </p:spPr>
        <p:txBody>
          <a:bodyPr wrap="square" rtlCol="0">
            <a:spAutoFit/>
          </a:bodyPr>
          <a:lstStyle/>
          <a:p>
            <a:pPr algn="ctr"/>
            <a:r>
              <a:rPr lang="zh-CN" altLang="en-US" sz="1350" dirty="0">
                <a:latin typeface="宋体-简" panose="02010800040101010101" charset="-122"/>
                <a:ea typeface="宋体-简" panose="02010800040101010101" charset="-122"/>
              </a:rPr>
              <a:t>大小设置</a:t>
            </a:r>
          </a:p>
        </p:txBody>
      </p:sp>
      <p:cxnSp>
        <p:nvCxnSpPr>
          <p:cNvPr id="5" name="直接连接符 4"/>
          <p:cNvCxnSpPr/>
          <p:nvPr userDrawn="1"/>
        </p:nvCxnSpPr>
        <p:spPr>
          <a:xfrm>
            <a:off x="1689755" y="3187828"/>
            <a:ext cx="5747994"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文本框 5"/>
          <p:cNvSpPr txBox="1"/>
          <p:nvPr userDrawn="1"/>
        </p:nvSpPr>
        <p:spPr>
          <a:xfrm>
            <a:off x="3964141" y="1999881"/>
            <a:ext cx="1678940" cy="897890"/>
          </a:xfrm>
          <a:prstGeom prst="rect">
            <a:avLst/>
          </a:prstGeom>
        </p:spPr>
        <p:txBody>
          <a:bodyPr vert="horz" wrap="none" lIns="68549" tIns="34272" rIns="68549" bIns="34272" rtlCol="0" anchor="ctr">
            <a:spAutoFit/>
          </a:bodyPr>
          <a:lstStyle/>
          <a:p>
            <a:pPr algn="l">
              <a:lnSpc>
                <a:spcPct val="200000"/>
              </a:lnSpc>
            </a:pPr>
            <a:r>
              <a:rPr lang="zh-CN" altLang="en-US" sz="1350" dirty="0">
                <a:latin typeface="宋体-简" panose="02010800040101010101" charset="-122"/>
                <a:ea typeface="宋体-简" panose="02010800040101010101" charset="-122"/>
              </a:rPr>
              <a:t>中文字体：微软雅黑</a:t>
            </a:r>
            <a:endParaRPr lang="en-US" altLang="zh-CN" sz="1350" dirty="0">
              <a:latin typeface="宋体-简" panose="02010800040101010101" charset="-122"/>
              <a:ea typeface="宋体-简" panose="02010800040101010101" charset="-122"/>
            </a:endParaRPr>
          </a:p>
          <a:p>
            <a:pPr algn="l">
              <a:lnSpc>
                <a:spcPct val="200000"/>
              </a:lnSpc>
            </a:pPr>
            <a:r>
              <a:rPr lang="zh-CN" altLang="en-US" sz="1350" dirty="0">
                <a:latin typeface="宋体-简" panose="02010800040101010101" charset="-122"/>
                <a:ea typeface="宋体-简" panose="02010800040101010101" charset="-122"/>
              </a:rPr>
              <a:t>英文字体：</a:t>
            </a:r>
            <a:r>
              <a:rPr lang="en-US" altLang="zh-CN" sz="1350" dirty="0">
                <a:latin typeface="宋体-简" panose="02010800040101010101" charset="-122"/>
                <a:ea typeface="宋体-简" panose="02010800040101010101" charset="-122"/>
              </a:rPr>
              <a:t>Arial</a:t>
            </a:r>
            <a:endParaRPr lang="zh-CN" altLang="en-US" sz="1350" dirty="0">
              <a:latin typeface="宋体-简" panose="02010800040101010101" charset="-122"/>
              <a:ea typeface="宋体-简" panose="02010800040101010101" charset="-122"/>
            </a:endParaRPr>
          </a:p>
        </p:txBody>
      </p:sp>
      <p:sp>
        <p:nvSpPr>
          <p:cNvPr id="24" name="文本框 23"/>
          <p:cNvSpPr txBox="1"/>
          <p:nvPr userDrawn="1"/>
        </p:nvSpPr>
        <p:spPr>
          <a:xfrm>
            <a:off x="3964141" y="3400823"/>
            <a:ext cx="1336040" cy="897890"/>
          </a:xfrm>
          <a:prstGeom prst="rect">
            <a:avLst/>
          </a:prstGeom>
        </p:spPr>
        <p:txBody>
          <a:bodyPr vert="horz" wrap="none" lIns="68549" tIns="34272" rIns="68549" bIns="34272" rtlCol="0" anchor="ctr">
            <a:spAutoFit/>
          </a:bodyPr>
          <a:lstStyle/>
          <a:p>
            <a:pPr algn="l">
              <a:lnSpc>
                <a:spcPct val="200000"/>
              </a:lnSpc>
            </a:pPr>
            <a:r>
              <a:rPr lang="zh-CN" altLang="en-US" sz="1350" dirty="0">
                <a:latin typeface="宋体-简" panose="02010800040101010101" charset="-122"/>
                <a:ea typeface="宋体-简" panose="02010800040101010101" charset="-122"/>
              </a:rPr>
              <a:t>标题字号：</a:t>
            </a:r>
            <a:r>
              <a:rPr lang="en-US" altLang="zh-CN" sz="1350" dirty="0">
                <a:latin typeface="宋体-简" panose="02010800040101010101" charset="-122"/>
                <a:ea typeface="宋体-简" panose="02010800040101010101" charset="-122"/>
              </a:rPr>
              <a:t>18</a:t>
            </a:r>
            <a:r>
              <a:rPr lang="zh-CN" altLang="en-US" sz="1350" dirty="0">
                <a:latin typeface="宋体-简" panose="02010800040101010101" charset="-122"/>
                <a:ea typeface="宋体-简" panose="02010800040101010101" charset="-122"/>
              </a:rPr>
              <a:t>号</a:t>
            </a:r>
            <a:endParaRPr lang="en-US" altLang="zh-CN" sz="1350" dirty="0">
              <a:latin typeface="宋体-简" panose="02010800040101010101" charset="-122"/>
              <a:ea typeface="宋体-简" panose="02010800040101010101" charset="-122"/>
            </a:endParaRPr>
          </a:p>
          <a:p>
            <a:pPr algn="l">
              <a:lnSpc>
                <a:spcPct val="200000"/>
              </a:lnSpc>
            </a:pPr>
            <a:r>
              <a:rPr lang="zh-CN" altLang="en-US" sz="1350" dirty="0">
                <a:latin typeface="宋体-简" panose="02010800040101010101" charset="-122"/>
                <a:ea typeface="宋体-简" panose="02010800040101010101" charset="-122"/>
              </a:rPr>
              <a:t>正文字号：</a:t>
            </a:r>
            <a:r>
              <a:rPr lang="en-US" altLang="zh-CN" sz="1350" dirty="0">
                <a:latin typeface="宋体-简" panose="02010800040101010101" charset="-122"/>
                <a:ea typeface="宋体-简" panose="02010800040101010101" charset="-122"/>
              </a:rPr>
              <a:t>14</a:t>
            </a:r>
            <a:r>
              <a:rPr lang="zh-CN" altLang="en-US" sz="1350" dirty="0">
                <a:latin typeface="宋体-简" panose="02010800040101010101" charset="-122"/>
                <a:ea typeface="宋体-简" panose="02010800040101010101" charset="-122"/>
              </a:rPr>
              <a:t>号</a:t>
            </a:r>
          </a:p>
        </p:txBody>
      </p:sp>
      <p:cxnSp>
        <p:nvCxnSpPr>
          <p:cNvPr id="79" name="直接连接符 78"/>
          <p:cNvCxnSpPr/>
          <p:nvPr userDrawn="1"/>
        </p:nvCxnSpPr>
        <p:spPr>
          <a:xfrm>
            <a:off x="1143000" y="1765418"/>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107" name="文本框 106"/>
          <p:cNvSpPr txBox="1"/>
          <p:nvPr userDrawn="1"/>
        </p:nvSpPr>
        <p:spPr>
          <a:xfrm>
            <a:off x="4156502" y="1429059"/>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设计准则</a:t>
            </a:r>
          </a:p>
        </p:txBody>
      </p:sp>
      <p:sp>
        <p:nvSpPr>
          <p:cNvPr id="236" name="矩形 235"/>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238" name="图片 23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239" name="文本框 238"/>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240" name="文本框 239"/>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241" name="文本框 240"/>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7"/>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宣传页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3" name="矩形 2"/>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sp>
        <p:nvSpPr>
          <p:cNvPr id="10" name="矩形 9"/>
          <p:cNvSpPr/>
          <p:nvPr userDrawn="1"/>
        </p:nvSpPr>
        <p:spPr>
          <a:xfrm>
            <a:off x="1143000" y="1772490"/>
            <a:ext cx="6858000" cy="2801194"/>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269" name="直接连接符 268"/>
          <p:cNvCxnSpPr/>
          <p:nvPr userDrawn="1"/>
        </p:nvCxnSpPr>
        <p:spPr>
          <a:xfrm>
            <a:off x="1143000" y="1772490"/>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16" name="文本框 15"/>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17" name="文本框 16"/>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2" name="文本框 1"/>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sp>
        <p:nvSpPr>
          <p:cNvPr id="14" name="矩形 13"/>
          <p:cNvSpPr/>
          <p:nvPr userDrawn="1"/>
        </p:nvSpPr>
        <p:spPr>
          <a:xfrm>
            <a:off x="1143000" y="1360579"/>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4" name="文本框 3"/>
          <p:cNvSpPr txBox="1"/>
          <p:nvPr userDrawn="1"/>
        </p:nvSpPr>
        <p:spPr>
          <a:xfrm>
            <a:off x="4156502" y="1429059"/>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版权声明</a:t>
            </a:r>
          </a:p>
        </p:txBody>
      </p:sp>
      <p:sp>
        <p:nvSpPr>
          <p:cNvPr id="6" name="文本框 5"/>
          <p:cNvSpPr txBox="1"/>
          <p:nvPr userDrawn="1"/>
        </p:nvSpPr>
        <p:spPr>
          <a:xfrm>
            <a:off x="1291281" y="2004371"/>
            <a:ext cx="6549081" cy="2337435"/>
          </a:xfrm>
          <a:prstGeom prst="rect">
            <a:avLst/>
          </a:prstGeom>
        </p:spPr>
        <p:txBody>
          <a:bodyPr vert="horz" wrap="square" lIns="68549" tIns="34272" rIns="68549" bIns="34272" rtlCol="0" anchor="ctr">
            <a:spAutoFit/>
          </a:bodyPr>
          <a:lstStyle/>
          <a:p>
            <a:pPr>
              <a:lnSpc>
                <a:spcPct val="220000"/>
              </a:lnSpc>
            </a:pPr>
            <a:r>
              <a:rPr lang="zh-CN" altLang="zh-CN" sz="900" dirty="0">
                <a:latin typeface="宋体-简" panose="02010800040101010101" charset="-122"/>
                <a:ea typeface="宋体-简" panose="02010800040101010101" charset="-122"/>
                <a:cs typeface="宋体-简" panose="02010800040101010101" charset="-122"/>
                <a:sym typeface="+mn-lt"/>
              </a:rPr>
              <a:t>本素材中涉及到的所有的内容的所有权、知识产权等归原始权利人或者合法的受让人所有，您购买</a:t>
            </a:r>
            <a:r>
              <a:rPr lang="en-US" altLang="zh-CN" sz="900" dirty="0">
                <a:latin typeface="宋体-简" panose="02010800040101010101" charset="-122"/>
                <a:ea typeface="宋体-简" panose="02010800040101010101" charset="-122"/>
                <a:cs typeface="宋体-简" panose="02010800040101010101" charset="-122"/>
                <a:sym typeface="+mn-lt"/>
              </a:rPr>
              <a:t>/</a:t>
            </a:r>
            <a:r>
              <a:rPr lang="zh-CN" altLang="zh-CN" sz="900" dirty="0">
                <a:latin typeface="宋体-简" panose="02010800040101010101" charset="-122"/>
                <a:ea typeface="宋体-简" panose="02010800040101010101" charset="-122"/>
                <a:cs typeface="宋体-简" panose="02010800040101010101" charset="-122"/>
                <a:sym typeface="+mn-lt"/>
              </a:rPr>
              <a:t>免费或通过其他合法方式获得的本信息的使用权，并受到以下条款约束：</a:t>
            </a:r>
          </a:p>
          <a:p>
            <a:pPr lvl="0">
              <a:lnSpc>
                <a:spcPct val="220000"/>
              </a:lnSpc>
            </a:pPr>
            <a:r>
              <a:rPr lang="zh-CN" altLang="zh-CN" sz="900" dirty="0">
                <a:latin typeface="宋体-简" panose="02010800040101010101" charset="-122"/>
                <a:ea typeface="宋体-简" panose="02010800040101010101" charset="-122"/>
                <a:cs typeface="宋体-简" panose="02010800040101010101" charset="-122"/>
                <a:sym typeface="+mn-lt"/>
              </a:rPr>
              <a:t>您仅可以个人非商业用途使用该等信息内容，不得将其全部或部分内容用于出售、或出租、出借、转让、分销、发布等其他方任何式供他人使用；</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禁止在任何网站、平台、应用程序上以任何方式为他人提供本素材所有内容的下载、转载等；</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对于不当下载、转载或引用本信息内容而引起的民事纷争、行政处理或其他损失，声明方不承担责任；</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对不遵守本声明或其他违法、恶意使用本信息内容者，声明方保留追究其法律责任的权利。</a:t>
            </a:r>
          </a:p>
          <a:p>
            <a:pPr algn="l"/>
            <a:endParaRPr lang="zh-CN" altLang="en-US" sz="900" dirty="0">
              <a:latin typeface="宋体-简" panose="02010800040101010101" charset="-122"/>
              <a:ea typeface="宋体-简" panose="02010800040101010101" charset="-122"/>
            </a:endParaRPr>
          </a:p>
        </p:txBody>
      </p:sp>
      <p:pic>
        <p:nvPicPr>
          <p:cNvPr id="5" name="图片 4"/>
          <p:cNvPicPr>
            <a:picLocks noChangeAspect="1"/>
          </p:cNvPicPr>
          <p:nvPr userDrawn="1"/>
        </p:nvPicPr>
        <p:blipFill>
          <a:blip r:embed="rId4"/>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宣传页1">
    <p:spTree>
      <p:nvGrpSpPr>
        <p:cNvPr id="1" name=""/>
        <p:cNvGrpSpPr/>
        <p:nvPr/>
      </p:nvGrpSpPr>
      <p:grpSpPr>
        <a:xfrm>
          <a:off x="0" y="0"/>
          <a:ext cx="0" cy="0"/>
          <a:chOff x="0" y="0"/>
          <a:chExt cx="0" cy="0"/>
        </a:xfrm>
      </p:grpSpPr>
      <p:pic>
        <p:nvPicPr>
          <p:cNvPr id="31" name="图片 3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10" name="矩形 9"/>
          <p:cNvSpPr/>
          <p:nvPr userDrawn="1"/>
        </p:nvSpPr>
        <p:spPr>
          <a:xfrm>
            <a:off x="1143000" y="1190167"/>
            <a:ext cx="6858000" cy="3528499"/>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269" name="直接连接符 268"/>
          <p:cNvCxnSpPr/>
          <p:nvPr userDrawn="1"/>
        </p:nvCxnSpPr>
        <p:spPr>
          <a:xfrm>
            <a:off x="1143000" y="1615042"/>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1143000" y="1202663"/>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5" name="文本框 4"/>
          <p:cNvSpPr txBox="1"/>
          <p:nvPr userDrawn="1"/>
        </p:nvSpPr>
        <p:spPr>
          <a:xfrm>
            <a:off x="2858069" y="1261833"/>
            <a:ext cx="339344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智能的设计工具，让你告别繁琐的设计流程</a:t>
            </a:r>
          </a:p>
        </p:txBody>
      </p:sp>
      <p:sp>
        <p:nvSpPr>
          <p:cNvPr id="8" name="文本框 7"/>
          <p:cNvSpPr txBox="1"/>
          <p:nvPr userDrawn="1"/>
        </p:nvSpPr>
        <p:spPr>
          <a:xfrm>
            <a:off x="1715210" y="2467668"/>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latin typeface="宋体-简" panose="02010800040101010101" charset="-122"/>
                <a:ea typeface="宋体-简" panose="02010800040101010101" charset="-122"/>
              </a:rPr>
              <a:t>段落统一</a:t>
            </a:r>
          </a:p>
        </p:txBody>
      </p:sp>
      <p:sp>
        <p:nvSpPr>
          <p:cNvPr id="27" name="文本框 26"/>
          <p:cNvSpPr txBox="1"/>
          <p:nvPr userDrawn="1"/>
        </p:nvSpPr>
        <p:spPr>
          <a:xfrm>
            <a:off x="3344862" y="2467668"/>
            <a:ext cx="830997" cy="274955"/>
          </a:xfrm>
          <a:prstGeom prst="rect">
            <a:avLst/>
          </a:prstGeom>
        </p:spPr>
        <p:txBody>
          <a:bodyPr vert="horz" wrap="square" lIns="68549" tIns="34272" rIns="68549" bIns="34272" rtlCol="0" anchor="ctr">
            <a:spAutoFit/>
          </a:bodyPr>
          <a:lstStyle/>
          <a:p>
            <a:pPr algn="ctr"/>
            <a:r>
              <a:rPr lang="zh-CN" altLang="en-US" sz="1350" dirty="0">
                <a:latin typeface="宋体-简" panose="02010800040101010101" charset="-122"/>
                <a:ea typeface="宋体-简" panose="02010800040101010101" charset="-122"/>
                <a:cs typeface="宋体-简" panose="02010800040101010101" charset="-122"/>
                <a:sym typeface="+mn-lt"/>
              </a:rPr>
              <a:t>画中画</a:t>
            </a:r>
          </a:p>
        </p:txBody>
      </p:sp>
      <p:sp>
        <p:nvSpPr>
          <p:cNvPr id="46" name="文本框 45"/>
          <p:cNvSpPr txBox="1"/>
          <p:nvPr userDrawn="1"/>
        </p:nvSpPr>
        <p:spPr>
          <a:xfrm>
            <a:off x="5057022" y="2467666"/>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三维折图</a:t>
            </a:r>
          </a:p>
        </p:txBody>
      </p:sp>
      <p:sp>
        <p:nvSpPr>
          <p:cNvPr id="47" name="文本框 46"/>
          <p:cNvSpPr txBox="1"/>
          <p:nvPr userDrawn="1"/>
        </p:nvSpPr>
        <p:spPr>
          <a:xfrm>
            <a:off x="6727574" y="2469211"/>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色彩统一</a:t>
            </a:r>
          </a:p>
        </p:txBody>
      </p:sp>
      <p:sp>
        <p:nvSpPr>
          <p:cNvPr id="63" name="文本框 62"/>
          <p:cNvSpPr txBox="1"/>
          <p:nvPr userDrawn="1"/>
        </p:nvSpPr>
        <p:spPr>
          <a:xfrm>
            <a:off x="1730654"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图形裁图</a:t>
            </a:r>
          </a:p>
        </p:txBody>
      </p:sp>
      <p:sp>
        <p:nvSpPr>
          <p:cNvPr id="64" name="文本框 63"/>
          <p:cNvSpPr txBox="1"/>
          <p:nvPr userDrawn="1"/>
        </p:nvSpPr>
        <p:spPr>
          <a:xfrm>
            <a:off x="3360306"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背景虚化</a:t>
            </a:r>
          </a:p>
        </p:txBody>
      </p:sp>
      <p:sp>
        <p:nvSpPr>
          <p:cNvPr id="65" name="文本框 64"/>
          <p:cNvSpPr txBox="1"/>
          <p:nvPr userDrawn="1"/>
        </p:nvSpPr>
        <p:spPr>
          <a:xfrm>
            <a:off x="5072466"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字体统一</a:t>
            </a:r>
          </a:p>
        </p:txBody>
      </p:sp>
      <p:sp>
        <p:nvSpPr>
          <p:cNvPr id="66" name="文本框 65"/>
          <p:cNvSpPr txBox="1"/>
          <p:nvPr userDrawn="1"/>
        </p:nvSpPr>
        <p:spPr>
          <a:xfrm>
            <a:off x="6743018" y="3593705"/>
            <a:ext cx="735965" cy="274955"/>
          </a:xfrm>
          <a:prstGeom prst="rect">
            <a:avLst/>
          </a:prstGeom>
        </p:spPr>
        <p:txBody>
          <a:bodyPr vert="horz" wrap="none" lIns="68549" tIns="34272" rIns="68549" bIns="34272" rtlCol="0" anchor="ctr">
            <a:spAutoFit/>
          </a:bodyPr>
          <a:lstStyle/>
          <a:p>
            <a:r>
              <a:rPr lang="en-US" altLang="zh-CN" sz="1350" dirty="0">
                <a:latin typeface="宋体-简" panose="02010800040101010101" charset="-122"/>
                <a:ea typeface="宋体-简" panose="02010800040101010101" charset="-122"/>
                <a:cs typeface="宋体-简" panose="02010800040101010101" charset="-122"/>
                <a:sym typeface="+mn-lt"/>
              </a:rPr>
              <a:t>PPT</a:t>
            </a:r>
            <a:r>
              <a:rPr lang="zh-CN" altLang="en-US" sz="1350" dirty="0">
                <a:latin typeface="宋体-简" panose="02010800040101010101" charset="-122"/>
                <a:ea typeface="宋体-简" panose="02010800040101010101" charset="-122"/>
                <a:cs typeface="宋体-简" panose="02010800040101010101" charset="-122"/>
                <a:sym typeface="+mn-lt"/>
              </a:rPr>
              <a:t>瘦身</a:t>
            </a:r>
          </a:p>
        </p:txBody>
      </p:sp>
      <p:sp>
        <p:nvSpPr>
          <p:cNvPr id="11" name="文本框 10"/>
          <p:cNvSpPr txBox="1"/>
          <p:nvPr userDrawn="1"/>
        </p:nvSpPr>
        <p:spPr>
          <a:xfrm>
            <a:off x="1395827" y="2773994"/>
            <a:ext cx="1450340" cy="205740"/>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所有页面字体</a:t>
            </a:r>
          </a:p>
        </p:txBody>
      </p:sp>
      <p:sp>
        <p:nvSpPr>
          <p:cNvPr id="71" name="文本框 70"/>
          <p:cNvSpPr txBox="1"/>
          <p:nvPr userDrawn="1"/>
        </p:nvSpPr>
        <p:spPr>
          <a:xfrm>
            <a:off x="3287154" y="2773994"/>
            <a:ext cx="9359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让图片更加高级</a:t>
            </a:r>
          </a:p>
        </p:txBody>
      </p:sp>
      <p:sp>
        <p:nvSpPr>
          <p:cNvPr id="72" name="文本框 71"/>
          <p:cNvSpPr txBox="1"/>
          <p:nvPr userDrawn="1"/>
        </p:nvSpPr>
        <p:spPr>
          <a:xfrm>
            <a:off x="4869357" y="2773994"/>
            <a:ext cx="12788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快速让图片具有立体感</a:t>
            </a:r>
          </a:p>
        </p:txBody>
      </p:sp>
      <p:sp>
        <p:nvSpPr>
          <p:cNvPr id="74" name="文本框 73"/>
          <p:cNvSpPr txBox="1"/>
          <p:nvPr userDrawn="1"/>
        </p:nvSpPr>
        <p:spPr>
          <a:xfrm>
            <a:off x="6399774" y="2773994"/>
            <a:ext cx="14503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所有页面色彩</a:t>
            </a:r>
          </a:p>
        </p:txBody>
      </p:sp>
      <p:sp>
        <p:nvSpPr>
          <p:cNvPr id="91" name="文本框 90"/>
          <p:cNvSpPr txBox="1"/>
          <p:nvPr userDrawn="1"/>
        </p:nvSpPr>
        <p:spPr>
          <a:xfrm>
            <a:off x="1615238" y="3921438"/>
            <a:ext cx="1050290" cy="205740"/>
          </a:xfrm>
          <a:prstGeom prst="rect">
            <a:avLst/>
          </a:prstGeom>
        </p:spPr>
        <p:txBody>
          <a:bodyPr vert="horz" wrap="none" lIns="68549" tIns="34272" rIns="68549" bIns="34272" rtlCol="0" anchor="ctr">
            <a:spAutoFit/>
          </a:bodyPr>
          <a:lstStyle/>
          <a:p>
            <a:pPr algn="l"/>
            <a:r>
              <a:rPr lang="zh-CN" altLang="zh-CN" sz="900" dirty="0">
                <a:solidFill>
                  <a:srgbClr val="999999"/>
                </a:solidFill>
                <a:latin typeface="宋体-简" panose="02010800040101010101" charset="-122"/>
                <a:ea typeface="宋体-简" panose="02010800040101010101" charset="-122"/>
                <a:cs typeface="宋体-简" panose="02010800040101010101" charset="-122"/>
                <a:sym typeface="+mn-lt"/>
              </a:rPr>
              <a:t>极速裁剪图片大小</a:t>
            </a:r>
          </a:p>
        </p:txBody>
      </p:sp>
      <p:sp>
        <p:nvSpPr>
          <p:cNvPr id="92" name="文本框 91"/>
          <p:cNvSpPr txBox="1"/>
          <p:nvPr userDrawn="1"/>
        </p:nvSpPr>
        <p:spPr>
          <a:xfrm>
            <a:off x="3148709" y="3921438"/>
            <a:ext cx="13931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让图片具有</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大片</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特质</a:t>
            </a:r>
          </a:p>
        </p:txBody>
      </p:sp>
      <p:sp>
        <p:nvSpPr>
          <p:cNvPr id="93" name="文本框 92"/>
          <p:cNvSpPr txBox="1"/>
          <p:nvPr userDrawn="1"/>
        </p:nvSpPr>
        <p:spPr>
          <a:xfrm>
            <a:off x="4814654" y="3921438"/>
            <a:ext cx="13360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所有页字体</a:t>
            </a:r>
          </a:p>
        </p:txBody>
      </p:sp>
      <p:sp>
        <p:nvSpPr>
          <p:cNvPr id="94" name="文本框 93"/>
          <p:cNvSpPr txBox="1"/>
          <p:nvPr userDrawn="1"/>
        </p:nvSpPr>
        <p:spPr>
          <a:xfrm>
            <a:off x="6628475" y="3921438"/>
            <a:ext cx="9931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快速精简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空间</a:t>
            </a:r>
          </a:p>
        </p:txBody>
      </p:sp>
      <p:pic>
        <p:nvPicPr>
          <p:cNvPr id="9" name="图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287087" y="3072651"/>
            <a:ext cx="457200" cy="457399"/>
          </a:xfrm>
          <a:prstGeom prst="rect">
            <a:avLst/>
          </a:prstGeom>
        </p:spPr>
      </p:pic>
      <p:pic>
        <p:nvPicPr>
          <p:cNvPr id="14" name="图片 1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927785" y="3072651"/>
            <a:ext cx="457200" cy="457399"/>
          </a:xfrm>
          <a:prstGeom prst="rect">
            <a:avLst/>
          </a:prstGeom>
        </p:spPr>
      </p:pic>
      <p:pic>
        <p:nvPicPr>
          <p:cNvPr id="18" name="图片 1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530735" y="3072651"/>
            <a:ext cx="457200" cy="457399"/>
          </a:xfrm>
          <a:prstGeom prst="rect">
            <a:avLst/>
          </a:prstGeom>
        </p:spPr>
      </p:pic>
      <p:pic>
        <p:nvPicPr>
          <p:cNvPr id="22" name="图片 21"/>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842868" y="3072651"/>
            <a:ext cx="457200" cy="457399"/>
          </a:xfrm>
          <a:prstGeom prst="rect">
            <a:avLst/>
          </a:prstGeom>
        </p:spPr>
      </p:pic>
      <p:pic>
        <p:nvPicPr>
          <p:cNvPr id="26" name="图片 25"/>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885488" y="1915178"/>
            <a:ext cx="457200" cy="457399"/>
          </a:xfrm>
          <a:prstGeom prst="rect">
            <a:avLst/>
          </a:prstGeom>
        </p:spPr>
      </p:pic>
      <p:pic>
        <p:nvPicPr>
          <p:cNvPr id="29" name="图片 2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5243921" y="1915178"/>
            <a:ext cx="457200" cy="457399"/>
          </a:xfrm>
          <a:prstGeom prst="rect">
            <a:avLst/>
          </a:prstGeom>
        </p:spPr>
      </p:pic>
      <p:pic>
        <p:nvPicPr>
          <p:cNvPr id="256" name="图片 255"/>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3543298" y="1915178"/>
            <a:ext cx="457200" cy="457399"/>
          </a:xfrm>
          <a:prstGeom prst="rect">
            <a:avLst/>
          </a:prstGeom>
        </p:spPr>
      </p:pic>
      <p:pic>
        <p:nvPicPr>
          <p:cNvPr id="258" name="图片 257"/>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917552" y="1948156"/>
            <a:ext cx="457200" cy="457399"/>
          </a:xfrm>
          <a:prstGeom prst="rect">
            <a:avLst/>
          </a:prstGeom>
        </p:spPr>
      </p:pic>
      <p:sp>
        <p:nvSpPr>
          <p:cNvPr id="50" name="矩形 49"/>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52" name="图片 51"/>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53" name="文本框 52"/>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54" name="文本框 53"/>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55" name="文本框 54"/>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12"/>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宣传页2">
    <p:spTree>
      <p:nvGrpSpPr>
        <p:cNvPr id="1" name=""/>
        <p:cNvGrpSpPr/>
        <p:nvPr/>
      </p:nvGrpSpPr>
      <p:grpSpPr>
        <a:xfrm>
          <a:off x="0" y="0"/>
          <a:ext cx="0" cy="0"/>
          <a:chOff x="0" y="0"/>
          <a:chExt cx="0" cy="0"/>
        </a:xfrm>
      </p:grpSpPr>
      <p:pic>
        <p:nvPicPr>
          <p:cNvPr id="23" name="图片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49" name="矩形 48"/>
          <p:cNvSpPr/>
          <p:nvPr userDrawn="1"/>
        </p:nvSpPr>
        <p:spPr>
          <a:xfrm>
            <a:off x="1143000" y="1190167"/>
            <a:ext cx="6858000" cy="3528499"/>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50" name="直接连接符 49"/>
          <p:cNvCxnSpPr/>
          <p:nvPr userDrawn="1"/>
        </p:nvCxnSpPr>
        <p:spPr>
          <a:xfrm>
            <a:off x="1143000" y="1615042"/>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52" name="矩形 51"/>
          <p:cNvSpPr/>
          <p:nvPr userDrawn="1"/>
        </p:nvSpPr>
        <p:spPr>
          <a:xfrm>
            <a:off x="1143000" y="1202663"/>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53" name="文本框 52"/>
          <p:cNvSpPr txBox="1"/>
          <p:nvPr userDrawn="1"/>
        </p:nvSpPr>
        <p:spPr>
          <a:xfrm>
            <a:off x="3117755" y="1261833"/>
            <a:ext cx="2879090" cy="274955"/>
          </a:xfrm>
          <a:prstGeom prst="rect">
            <a:avLst/>
          </a:prstGeom>
        </p:spPr>
        <p:txBody>
          <a:bodyPr vert="horz" wrap="none" lIns="68549" tIns="34272" rIns="68549" bIns="34272" rtlCol="0" anchor="ctr">
            <a:spAutoFit/>
          </a:bodyPr>
          <a:lstStyle/>
          <a:p>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丰富的内容库，让你随时迸发灵感！</a:t>
            </a:r>
          </a:p>
        </p:txBody>
      </p:sp>
      <p:sp>
        <p:nvSpPr>
          <p:cNvPr id="54" name="文本框 53"/>
          <p:cNvSpPr txBox="1"/>
          <p:nvPr userDrawn="1"/>
        </p:nvSpPr>
        <p:spPr>
          <a:xfrm>
            <a:off x="1740069" y="2467668"/>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案例库</a:t>
            </a:r>
          </a:p>
        </p:txBody>
      </p:sp>
      <p:sp>
        <p:nvSpPr>
          <p:cNvPr id="55" name="文本框 54"/>
          <p:cNvSpPr txBox="1"/>
          <p:nvPr userDrawn="1"/>
        </p:nvSpPr>
        <p:spPr>
          <a:xfrm>
            <a:off x="3434430" y="2467668"/>
            <a:ext cx="657872" cy="274955"/>
          </a:xfrm>
          <a:prstGeom prst="rect">
            <a:avLst/>
          </a:prstGeom>
        </p:spPr>
        <p:txBody>
          <a:bodyPr vert="horz" wrap="squar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插图库</a:t>
            </a:r>
          </a:p>
        </p:txBody>
      </p:sp>
      <p:sp>
        <p:nvSpPr>
          <p:cNvPr id="56" name="文本框 55"/>
          <p:cNvSpPr txBox="1"/>
          <p:nvPr userDrawn="1"/>
        </p:nvSpPr>
        <p:spPr>
          <a:xfrm>
            <a:off x="5159028" y="2467666"/>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色彩库</a:t>
            </a:r>
          </a:p>
        </p:txBody>
      </p:sp>
      <p:sp>
        <p:nvSpPr>
          <p:cNvPr id="57" name="文本框 56"/>
          <p:cNvSpPr txBox="1"/>
          <p:nvPr userDrawn="1"/>
        </p:nvSpPr>
        <p:spPr>
          <a:xfrm>
            <a:off x="6814136" y="2469211"/>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图标库</a:t>
            </a:r>
          </a:p>
        </p:txBody>
      </p:sp>
      <p:sp>
        <p:nvSpPr>
          <p:cNvPr id="58" name="文本框 57"/>
          <p:cNvSpPr txBox="1"/>
          <p:nvPr userDrawn="1"/>
        </p:nvSpPr>
        <p:spPr>
          <a:xfrm>
            <a:off x="1746667" y="3592162"/>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图片库</a:t>
            </a:r>
          </a:p>
        </p:txBody>
      </p:sp>
      <p:sp>
        <p:nvSpPr>
          <p:cNvPr id="59" name="文本框 58"/>
          <p:cNvSpPr txBox="1"/>
          <p:nvPr userDrawn="1"/>
        </p:nvSpPr>
        <p:spPr>
          <a:xfrm>
            <a:off x="3378287"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逻辑图表</a:t>
            </a:r>
          </a:p>
        </p:txBody>
      </p:sp>
      <p:sp>
        <p:nvSpPr>
          <p:cNvPr id="60" name="文本框 59"/>
          <p:cNvSpPr txBox="1"/>
          <p:nvPr userDrawn="1"/>
        </p:nvSpPr>
        <p:spPr>
          <a:xfrm>
            <a:off x="5100188"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数据图表</a:t>
            </a:r>
          </a:p>
        </p:txBody>
      </p:sp>
      <p:sp>
        <p:nvSpPr>
          <p:cNvPr id="61" name="文本框 60"/>
          <p:cNvSpPr txBox="1"/>
          <p:nvPr userDrawn="1"/>
        </p:nvSpPr>
        <p:spPr>
          <a:xfrm>
            <a:off x="6827448" y="3593705"/>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主题库</a:t>
            </a:r>
          </a:p>
        </p:txBody>
      </p:sp>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2731" y="1935879"/>
            <a:ext cx="457200" cy="457399"/>
          </a:xfrm>
          <a:prstGeom prst="rect">
            <a:avLst/>
          </a:prstGeom>
        </p:spPr>
      </p:pic>
      <p:pic>
        <p:nvPicPr>
          <p:cNvPr id="5" name="图片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516860" y="1927846"/>
            <a:ext cx="457200" cy="457399"/>
          </a:xfrm>
          <a:prstGeom prst="rect">
            <a:avLst/>
          </a:prstGeom>
        </p:spPr>
      </p:pic>
      <p:pic>
        <p:nvPicPr>
          <p:cNvPr id="41" name="111_3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927784" y="1935879"/>
            <a:ext cx="457200" cy="457399"/>
          </a:xfrm>
          <a:prstGeom prst="rect">
            <a:avLst/>
          </a:prstGeom>
        </p:spPr>
      </p:pic>
      <p:pic>
        <p:nvPicPr>
          <p:cNvPr id="42" name="111_34"/>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847003" y="3073287"/>
            <a:ext cx="457200" cy="457399"/>
          </a:xfrm>
          <a:prstGeom prst="rect">
            <a:avLst/>
          </a:prstGeom>
        </p:spPr>
      </p:pic>
      <p:pic>
        <p:nvPicPr>
          <p:cNvPr id="43" name="111_35"/>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547203" y="3073287"/>
            <a:ext cx="457200" cy="457399"/>
          </a:xfrm>
          <a:prstGeom prst="rect">
            <a:avLst/>
          </a:prstGeom>
        </p:spPr>
      </p:pic>
      <p:pic>
        <p:nvPicPr>
          <p:cNvPr id="45" name="111_32"/>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5288596" y="1935879"/>
            <a:ext cx="457200" cy="457399"/>
          </a:xfrm>
          <a:prstGeom prst="rect">
            <a:avLst/>
          </a:prstGeom>
        </p:spPr>
      </p:pic>
      <p:pic>
        <p:nvPicPr>
          <p:cNvPr id="46" name="图片 45"/>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927784" y="3073287"/>
            <a:ext cx="457200" cy="457399"/>
          </a:xfrm>
          <a:prstGeom prst="rect">
            <a:avLst/>
          </a:prstGeom>
        </p:spPr>
      </p:pic>
      <p:pic>
        <p:nvPicPr>
          <p:cNvPr id="24" name="图片 23"/>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5287087" y="3073287"/>
            <a:ext cx="457200" cy="457399"/>
          </a:xfrm>
          <a:prstGeom prst="rect">
            <a:avLst/>
          </a:prstGeom>
        </p:spPr>
      </p:pic>
      <p:sp>
        <p:nvSpPr>
          <p:cNvPr id="62" name="矩形 61"/>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64" name="图片 6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65" name="文本框 64"/>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66" name="文本框 65"/>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67" name="文本框 66"/>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12"/>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907" y="1598181"/>
            <a:ext cx="7772424" cy="1102768"/>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814" y="2915310"/>
            <a:ext cx="6400610" cy="1314748"/>
          </a:xfrm>
          <a:prstGeom prst="rect">
            <a:avLst/>
          </a:prstGeo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8035" indent="0" algn="ctr">
              <a:buNone/>
              <a:defRPr>
                <a:solidFill>
                  <a:schemeClr val="tx1">
                    <a:tint val="75000"/>
                  </a:schemeClr>
                </a:solidFill>
              </a:defRPr>
            </a:lvl7pPr>
            <a:lvl8pPr marL="2400935" indent="0" algn="ctr">
              <a:buNone/>
              <a:defRPr>
                <a:solidFill>
                  <a:schemeClr val="tx1">
                    <a:tint val="75000"/>
                  </a:schemeClr>
                </a:solidFill>
              </a:defRPr>
            </a:lvl8pPr>
            <a:lvl9pPr marL="2743835"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2024/4/28</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71" y="1200422"/>
            <a:ext cx="8229696" cy="339524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2024/4/28</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823" y="3305923"/>
            <a:ext cx="7772423" cy="1021788"/>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823" y="2180528"/>
            <a:ext cx="7772423" cy="1125395"/>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8035" indent="0">
              <a:buNone/>
              <a:defRPr sz="1050">
                <a:solidFill>
                  <a:schemeClr val="tx1">
                    <a:tint val="75000"/>
                  </a:schemeClr>
                </a:solidFill>
              </a:defRPr>
            </a:lvl7pPr>
            <a:lvl8pPr marL="2400935" indent="0">
              <a:buNone/>
              <a:defRPr sz="1050">
                <a:solidFill>
                  <a:schemeClr val="tx1">
                    <a:tint val="75000"/>
                  </a:schemeClr>
                </a:solidFill>
              </a:defRPr>
            </a:lvl8pPr>
            <a:lvl9pPr marL="2743835" indent="0">
              <a:buNone/>
              <a:defRPr sz="105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2024/4/28</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71" y="1200422"/>
            <a:ext cx="405709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8683" y="1200422"/>
            <a:ext cx="405828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2024/4/28</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71" y="1151595"/>
            <a:ext cx="4040422"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71" y="1631526"/>
            <a:ext cx="4040422"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354" y="1151595"/>
            <a:ext cx="4041613"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354" y="1631526"/>
            <a:ext cx="4041613"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2024/4/28</a:t>
            </a:fld>
            <a:endParaRPr lang="zh-CN" altLang="en-US"/>
          </a:p>
        </p:txBody>
      </p:sp>
      <p:sp>
        <p:nvSpPr>
          <p:cNvPr id="8" name="页脚占位符 7"/>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2024/4/28</a:t>
            </a:fld>
            <a:endParaRPr lang="zh-CN" altLang="en-US"/>
          </a:p>
        </p:txBody>
      </p:sp>
      <p:sp>
        <p:nvSpPr>
          <p:cNvPr id="4" name="页脚占位符 3"/>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2024/4/28</a:t>
            </a:fld>
            <a:endParaRPr lang="zh-CN" altLang="en-US"/>
          </a:p>
        </p:txBody>
      </p:sp>
      <p:sp>
        <p:nvSpPr>
          <p:cNvPr id="3" name="页脚占位符 2"/>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71" y="204834"/>
            <a:ext cx="3007989" cy="871735"/>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4815" y="204834"/>
            <a:ext cx="5112152" cy="439082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71" y="1076569"/>
            <a:ext cx="3007989" cy="3519094"/>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2024/4/28</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71" y="3601265"/>
            <a:ext cx="5487257" cy="425150"/>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71" y="459685"/>
            <a:ext cx="5487257" cy="308679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p:nvPr>
        </p:nvSpPr>
        <p:spPr>
          <a:xfrm>
            <a:off x="1792171" y="4026415"/>
            <a:ext cx="5487257" cy="60378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2024/4/28</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71" y="1200422"/>
            <a:ext cx="8229696" cy="3395241"/>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2024/4/28</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0436" y="206025"/>
            <a:ext cx="2056531" cy="4389637"/>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71" y="206025"/>
            <a:ext cx="6058847" cy="4389637"/>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2024/4/28</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1.jpe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7" name="矩形 6"/>
          <p:cNvSpPr/>
          <p:nvPr userDrawn="1"/>
        </p:nvSpPr>
        <p:spPr>
          <a:xfrm rot="10800000">
            <a:off x="-5174" y="-8001"/>
            <a:ext cx="9149412" cy="5152666"/>
          </a:xfrm>
          <a:prstGeom prst="rect">
            <a:avLst/>
          </a:prstGeom>
          <a:gradFill flip="none" rotWithShape="1">
            <a:gsLst>
              <a:gs pos="100000">
                <a:schemeClr val="bg1">
                  <a:lumMod val="75000"/>
                </a:schemeClr>
              </a:gs>
              <a:gs pos="48000">
                <a:schemeClr val="bg1">
                  <a:lumMod val="95000"/>
                </a:schemeClr>
              </a:gs>
              <a:gs pos="0">
                <a:schemeClr val="bg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15000"/>
        </a:spcBef>
        <a:buFont typeface="Arial" panose="020B0604020202020204" pitchFamily="34" charset="0"/>
        <a:buChar char="•"/>
        <a:defRPr sz="2400" kern="1200">
          <a:solidFill>
            <a:schemeClr val="tx1"/>
          </a:solidFill>
          <a:latin typeface="+mn-lt"/>
          <a:ea typeface="+mn-ea"/>
          <a:cs typeface="+mn-cs"/>
        </a:defRPr>
      </a:lvl1pPr>
      <a:lvl2pPr marL="557530" indent="-214630" algn="l" defTabSz="685800" rtl="0" eaLnBrk="1" latinLnBrk="0" hangingPunct="1">
        <a:spcBef>
          <a:spcPct val="15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15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5pPr>
      <a:lvl6pPr marL="18865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6pPr>
      <a:lvl7pPr marL="22294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7pPr>
      <a:lvl8pPr marL="25723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8pPr>
      <a:lvl9pPr marL="29152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rot="10800000">
            <a:off x="-5174" y="-8001"/>
            <a:ext cx="9149412" cy="5152666"/>
          </a:xfrm>
          <a:prstGeom prst="rect">
            <a:avLst/>
          </a:prstGeom>
          <a:gradFill flip="none" rotWithShape="1">
            <a:gsLst>
              <a:gs pos="100000">
                <a:schemeClr val="bg1">
                  <a:lumMod val="75000"/>
                </a:schemeClr>
              </a:gs>
              <a:gs pos="48000">
                <a:schemeClr val="bg1">
                  <a:lumMod val="95000"/>
                </a:schemeClr>
              </a:gs>
              <a:gs pos="0">
                <a:schemeClr val="bg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矩形 4"/>
          <p:cNvSpPr/>
          <p:nvPr userDrawn="1"/>
        </p:nvSpPr>
        <p:spPr>
          <a:xfrm>
            <a:off x="8969989" y="4084843"/>
            <a:ext cx="185136" cy="540182"/>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矩形 5"/>
          <p:cNvSpPr/>
          <p:nvPr userDrawn="1"/>
        </p:nvSpPr>
        <p:spPr>
          <a:xfrm>
            <a:off x="8969989" y="4625025"/>
            <a:ext cx="185136" cy="5401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8" name="直接连接符 7"/>
          <p:cNvCxnSpPr/>
          <p:nvPr userDrawn="1"/>
        </p:nvCxnSpPr>
        <p:spPr>
          <a:xfrm>
            <a:off x="261851" y="573658"/>
            <a:ext cx="8588296" cy="0"/>
          </a:xfrm>
          <a:prstGeom prst="line">
            <a:avLst/>
          </a:prstGeom>
          <a:ln w="28575">
            <a:solidFill>
              <a:schemeClr val="bg1">
                <a:lumMod val="75000"/>
              </a:schemeClr>
            </a:solidFill>
          </a:ln>
          <a:effectLst>
            <a:outerShdw dist="25400" dir="5400000" algn="t" rotWithShape="0">
              <a:schemeClr val="bg1"/>
            </a:outerShdw>
          </a:effectLst>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235214" y="126050"/>
            <a:ext cx="185136" cy="18514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userDrawn="1"/>
        </p:nvSpPr>
        <p:spPr>
          <a:xfrm>
            <a:off x="420351" y="311200"/>
            <a:ext cx="185136" cy="185149"/>
          </a:xfrm>
          <a:prstGeom prst="rect">
            <a:avLst/>
          </a:prstGeom>
          <a:solidFill>
            <a:srgbClr val="00A1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15000"/>
        </a:spcBef>
        <a:buFont typeface="Arial" panose="020B0604020202020204" pitchFamily="34" charset="0"/>
        <a:buChar char="•"/>
        <a:defRPr sz="2400" kern="1200">
          <a:solidFill>
            <a:schemeClr val="tx1"/>
          </a:solidFill>
          <a:latin typeface="+mn-lt"/>
          <a:ea typeface="+mn-ea"/>
          <a:cs typeface="+mn-cs"/>
        </a:defRPr>
      </a:lvl1pPr>
      <a:lvl2pPr marL="557530" indent="-214630" algn="l" defTabSz="685800" rtl="0" eaLnBrk="1" latinLnBrk="0" hangingPunct="1">
        <a:spcBef>
          <a:spcPct val="15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15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5pPr>
      <a:lvl6pPr marL="18865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6pPr>
      <a:lvl7pPr marL="22294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7pPr>
      <a:lvl8pPr marL="25723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8pPr>
      <a:lvl9pPr marL="29152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notesSlide" Target="../notesSlides/notesSlide2.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slideLayout" Target="../slideLayouts/slideLayout7.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2.xml"/><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36.emf"/><Relationship Id="rId4"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 name="椭圆 2"/>
          <p:cNvSpPr/>
          <p:nvPr/>
        </p:nvSpPr>
        <p:spPr>
          <a:xfrm>
            <a:off x="1943735" y="-3544570"/>
            <a:ext cx="5256530" cy="52565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3"/>
          <p:cNvSpPr txBox="1"/>
          <p:nvPr/>
        </p:nvSpPr>
        <p:spPr>
          <a:xfrm>
            <a:off x="1366203" y="2103887"/>
            <a:ext cx="6821170" cy="829945"/>
          </a:xfrm>
          <a:prstGeom prst="rect">
            <a:avLst/>
          </a:prstGeom>
          <a:noFill/>
          <a:effectLst/>
        </p:spPr>
        <p:txBody>
          <a:bodyPr wrap="square" rtlCol="0">
            <a:spAutoFit/>
          </a:bodyPr>
          <a:lstStyle/>
          <a:p>
            <a:pPr algn="ctr"/>
            <a:r>
              <a:rPr lang="zh-CN" altLang="en-US" sz="48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机器人原理与应用</a:t>
            </a:r>
            <a:endParaRPr lang="zh-CN" altLang="en-US" sz="4800" b="1" dirty="0" smtClean="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 name="矩形 4"/>
          <p:cNvSpPr/>
          <p:nvPr/>
        </p:nvSpPr>
        <p:spPr>
          <a:xfrm>
            <a:off x="1169670" y="2933700"/>
            <a:ext cx="7215505" cy="461665"/>
          </a:xfrm>
          <a:prstGeom prst="rect">
            <a:avLst/>
          </a:prstGeom>
        </p:spPr>
        <p:txBody>
          <a:bodyPr wrap="square">
            <a:spAutoFit/>
          </a:bodyPr>
          <a:lstStyle/>
          <a:p>
            <a:pPr algn="ctr">
              <a:lnSpc>
                <a:spcPct val="100000"/>
              </a:lnSpc>
            </a:pPr>
            <a:r>
              <a:rPr lang="en-US" altLang="zh-CN" sz="2400" dirty="0">
                <a:latin typeface="Arial" panose="020B0604020202020204" pitchFamily="34" charset="0"/>
                <a:ea typeface="微软雅黑" panose="020B0503020204020204" charset="-122"/>
              </a:rPr>
              <a:t>Principles and Applications of Robotics </a:t>
            </a:r>
            <a:endParaRPr lang="zh-CN" altLang="en-US" sz="2400" dirty="0">
              <a:solidFill>
                <a:schemeClr val="tx1"/>
              </a:solidFill>
              <a:latin typeface="Arial" panose="020B0604020202020204" pitchFamily="34" charset="0"/>
              <a:ea typeface="微软雅黑" panose="020B0503020204020204" charset="-122"/>
              <a:sym typeface="+mn-ea"/>
            </a:endParaRPr>
          </a:p>
        </p:txBody>
      </p:sp>
      <p:sp>
        <p:nvSpPr>
          <p:cNvPr id="4" name="椭圆 3"/>
          <p:cNvSpPr/>
          <p:nvPr/>
        </p:nvSpPr>
        <p:spPr>
          <a:xfrm>
            <a:off x="2304415" y="-3183890"/>
            <a:ext cx="4535170" cy="4535170"/>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 Box 4"/>
          <p:cNvSpPr txBox="1">
            <a:spLocks noChangeArrowheads="1"/>
          </p:cNvSpPr>
          <p:nvPr/>
        </p:nvSpPr>
        <p:spPr bwMode="auto">
          <a:xfrm>
            <a:off x="708819" y="3439620"/>
            <a:ext cx="8135938"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dirty="0"/>
              <a:t>Instructor:</a:t>
            </a:r>
            <a:r>
              <a:rPr lang="zh-CN" altLang="en-US" sz="2000" dirty="0">
                <a:ea typeface="楷体_GB2312" pitchFamily="49" charset="-122"/>
              </a:rPr>
              <a:t> </a:t>
            </a:r>
            <a:r>
              <a:rPr lang="en-US" altLang="zh-CN" sz="2000" dirty="0">
                <a:ea typeface="楷体_GB2312" pitchFamily="49" charset="-122"/>
              </a:rPr>
              <a:t>Dr. </a:t>
            </a:r>
            <a:r>
              <a:rPr lang="zh-CN" altLang="en-US" sz="2000" dirty="0" smtClean="0">
                <a:latin typeface="楷体" panose="02010609060101010101" pitchFamily="49" charset="-122"/>
                <a:ea typeface="楷体" panose="02010609060101010101" pitchFamily="49" charset="-122"/>
              </a:rPr>
              <a:t>闵华松</a:t>
            </a:r>
            <a:r>
              <a:rPr lang="en-US" altLang="zh-CN" sz="2000" dirty="0" smtClean="0">
                <a:ea typeface="楷体_GB2312" pitchFamily="49" charset="-122"/>
              </a:rPr>
              <a:t>(</a:t>
            </a:r>
            <a:r>
              <a:rPr lang="en-US" altLang="zh-CN" sz="2000" dirty="0" err="1" smtClean="0">
                <a:ea typeface="楷体_GB2312" pitchFamily="49" charset="-122"/>
              </a:rPr>
              <a:t>Huasong</a:t>
            </a:r>
            <a:r>
              <a:rPr lang="en-US" altLang="zh-CN" sz="2000" dirty="0" smtClean="0">
                <a:ea typeface="楷体_GB2312" pitchFamily="49" charset="-122"/>
              </a:rPr>
              <a:t> Min), </a:t>
            </a:r>
            <a:r>
              <a:rPr lang="en-US" altLang="zh-CN" sz="2000" dirty="0">
                <a:ea typeface="楷体_GB2312" pitchFamily="49" charset="-122"/>
              </a:rPr>
              <a:t>professor </a:t>
            </a:r>
            <a:endParaRPr lang="zh-CN" altLang="en-US" sz="2000" dirty="0">
              <a:ea typeface="楷体_GB2312" pitchFamily="49" charset="-122"/>
            </a:endParaRPr>
          </a:p>
          <a:p>
            <a:pPr eaLnBrk="1" hangingPunct="1">
              <a:spcBef>
                <a:spcPct val="0"/>
              </a:spcBef>
              <a:buFontTx/>
              <a:buNone/>
            </a:pPr>
            <a:r>
              <a:rPr lang="en-US" altLang="zh-CN" sz="2000" b="1" dirty="0"/>
              <a:t>Office Location</a:t>
            </a:r>
            <a:r>
              <a:rPr lang="zh-CN" altLang="en-US" sz="2000" dirty="0" smtClean="0">
                <a:ea typeface="楷体_GB2312" pitchFamily="49" charset="-122"/>
              </a:rPr>
              <a:t>：</a:t>
            </a:r>
            <a:r>
              <a:rPr lang="zh-CN" altLang="en-US" sz="2000" dirty="0" smtClean="0">
                <a:latin typeface="楷体" panose="02010609060101010101" pitchFamily="49" charset="-122"/>
                <a:ea typeface="楷体" panose="02010609060101010101" pitchFamily="49" charset="-122"/>
              </a:rPr>
              <a:t>武钢楼</a:t>
            </a:r>
            <a:r>
              <a:rPr lang="en-US" altLang="zh-CN" sz="2000" dirty="0" smtClean="0">
                <a:ea typeface="楷体_GB2312" pitchFamily="49" charset="-122"/>
              </a:rPr>
              <a:t>1110</a:t>
            </a:r>
            <a:r>
              <a:rPr lang="en-US" altLang="zh-CN" sz="2000" dirty="0">
                <a:ea typeface="楷体_GB2312" pitchFamily="49" charset="-122"/>
              </a:rPr>
              <a:t>(</a:t>
            </a:r>
            <a:r>
              <a:rPr lang="en-US" altLang="zh-CN" sz="2000" dirty="0" smtClean="0">
                <a:ea typeface="楷体_GB2312" pitchFamily="49" charset="-122"/>
              </a:rPr>
              <a:t>Room </a:t>
            </a:r>
            <a:r>
              <a:rPr lang="en-US" altLang="zh-CN" sz="2000" dirty="0">
                <a:ea typeface="楷体_GB2312" pitchFamily="49" charset="-122"/>
              </a:rPr>
              <a:t>No. 1110, </a:t>
            </a:r>
            <a:r>
              <a:rPr lang="en-US" altLang="zh-CN" sz="2000" dirty="0" smtClean="0">
                <a:ea typeface="楷体_GB2312" pitchFamily="49" charset="-122"/>
              </a:rPr>
              <a:t>WUGANG Building)</a:t>
            </a:r>
          </a:p>
          <a:p>
            <a:pPr eaLnBrk="1" hangingPunct="1">
              <a:spcBef>
                <a:spcPct val="0"/>
              </a:spcBef>
              <a:buFontTx/>
              <a:buNone/>
            </a:pPr>
            <a:r>
              <a:rPr lang="en-US" altLang="zh-CN" sz="2000" b="1" dirty="0" smtClean="0"/>
              <a:t>Class </a:t>
            </a:r>
            <a:r>
              <a:rPr lang="en-US" altLang="zh-CN" sz="2000" b="1" dirty="0"/>
              <a:t>venue:  </a:t>
            </a:r>
            <a:r>
              <a:rPr lang="en-US" altLang="zh-CN" sz="2000" dirty="0">
                <a:ea typeface="楷体_GB2312" pitchFamily="49" charset="-122"/>
              </a:rPr>
              <a:t>Room No. </a:t>
            </a:r>
            <a:r>
              <a:rPr lang="en-US" altLang="zh-CN" sz="2000" dirty="0" smtClean="0">
                <a:ea typeface="楷体_GB2312" pitchFamily="49" charset="-122"/>
              </a:rPr>
              <a:t>F4502</a:t>
            </a:r>
            <a:endParaRPr lang="en-US" altLang="zh-CN" sz="2000" dirty="0">
              <a:ea typeface="楷体_GB2312" pitchFamily="49" charset="-122"/>
            </a:endParaRPr>
          </a:p>
          <a:p>
            <a:pPr eaLnBrk="1" hangingPunct="1">
              <a:spcBef>
                <a:spcPct val="0"/>
              </a:spcBef>
              <a:buFontTx/>
              <a:buNone/>
            </a:pPr>
            <a:r>
              <a:rPr lang="en-US" altLang="zh-CN" sz="2000" b="1" dirty="0">
                <a:ea typeface="楷体_GB2312" pitchFamily="49" charset="-122"/>
              </a:rPr>
              <a:t>Email:  </a:t>
            </a:r>
            <a:r>
              <a:rPr lang="en-US" altLang="zh-CN" sz="2000" dirty="0">
                <a:ea typeface="楷体_GB2312" pitchFamily="49" charset="-122"/>
              </a:rPr>
              <a:t>mhuasong@wust.edu.cn</a:t>
            </a:r>
          </a:p>
          <a:p>
            <a:pPr eaLnBrk="1" hangingPunct="1">
              <a:spcBef>
                <a:spcPct val="0"/>
              </a:spcBef>
              <a:buFontTx/>
              <a:buNone/>
            </a:pPr>
            <a:r>
              <a:rPr lang="en-US" altLang="zh-CN" sz="2000" b="1" dirty="0">
                <a:ea typeface="楷体_GB2312" pitchFamily="49" charset="-122"/>
              </a:rPr>
              <a:t>Mobile: </a:t>
            </a:r>
            <a:r>
              <a:rPr lang="en-US" altLang="zh-CN" sz="2000" dirty="0">
                <a:ea typeface="楷体_GB2312" pitchFamily="49" charset="-122"/>
              </a:rPr>
              <a:t>13971365898</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3"/>
          <p:cNvSpPr>
            <a:spLocks noChangeArrowheads="1"/>
          </p:cNvSpPr>
          <p:nvPr/>
        </p:nvSpPr>
        <p:spPr bwMode="auto">
          <a:xfrm>
            <a:off x="251520" y="650290"/>
            <a:ext cx="5555246" cy="4104455"/>
          </a:xfrm>
          <a:prstGeom prst="rect">
            <a:avLst/>
          </a:prstGeom>
          <a:solidFill>
            <a:srgbClr val="FFFFFF"/>
          </a:solidFill>
          <a:ln w="9525">
            <a:noFill/>
            <a:miter lim="800000"/>
            <a:headEnd/>
            <a:tailEnd/>
          </a:ln>
        </p:spPr>
        <p:txBody>
          <a:bodyPr/>
          <a:lstStyle/>
          <a:p>
            <a:pPr marL="342900" indent="-342900">
              <a:buClr>
                <a:schemeClr val="tx2"/>
              </a:buClr>
              <a:buSzPct val="75000"/>
              <a:buFont typeface="Wingdings" pitchFamily="2" charset="2"/>
              <a:buChar char="Ø"/>
              <a:defRPr/>
            </a:pPr>
            <a:r>
              <a:rPr kumimoji="0" lang="en-US" altLang="zh-CN" dirty="0">
                <a:effectLst>
                  <a:outerShdw blurRad="38100" dist="38100" dir="2700000" algn="tl">
                    <a:srgbClr val="C0C0C0"/>
                  </a:outerShdw>
                </a:effectLst>
                <a:cs typeface="Arial" pitchFamily="34" charset="0"/>
              </a:rPr>
              <a:t>Textbook:</a:t>
            </a:r>
          </a:p>
          <a:p>
            <a:pPr marL="800100" lvl="1" indent="-342900">
              <a:buClr>
                <a:schemeClr val="tx2"/>
              </a:buClr>
              <a:buSzPct val="75000"/>
              <a:buFont typeface="Wingdings" pitchFamily="2" charset="2"/>
              <a:buChar char="Ø"/>
              <a:defRPr/>
            </a:pPr>
            <a:r>
              <a:rPr kumimoji="0" lang="en-US" altLang="en-US" b="1" dirty="0">
                <a:effectLst>
                  <a:outerShdw blurRad="38100" dist="38100" dir="2700000" algn="tl">
                    <a:srgbClr val="C0C0C0"/>
                  </a:outerShdw>
                </a:effectLst>
                <a:cs typeface="Arial" pitchFamily="34" charset="0"/>
              </a:rPr>
              <a:t>Robot Modeling and Control, by M.W. </a:t>
            </a:r>
            <a:r>
              <a:rPr kumimoji="0" lang="en-US" altLang="en-US" b="1" dirty="0" err="1">
                <a:effectLst>
                  <a:outerShdw blurRad="38100" dist="38100" dir="2700000" algn="tl">
                    <a:srgbClr val="C0C0C0"/>
                  </a:outerShdw>
                </a:effectLst>
                <a:cs typeface="Arial" pitchFamily="34" charset="0"/>
              </a:rPr>
              <a:t>Spong</a:t>
            </a:r>
            <a:r>
              <a:rPr kumimoji="0" lang="en-US" altLang="en-US" b="1" dirty="0">
                <a:effectLst>
                  <a:outerShdw blurRad="38100" dist="38100" dir="2700000" algn="tl">
                    <a:srgbClr val="C0C0C0"/>
                  </a:outerShdw>
                </a:effectLst>
                <a:cs typeface="Arial" pitchFamily="34" charset="0"/>
              </a:rPr>
              <a:t>, S. Hutchinson, M. </a:t>
            </a:r>
            <a:r>
              <a:rPr kumimoji="0" lang="en-US" altLang="en-US" b="1" dirty="0" err="1">
                <a:effectLst>
                  <a:outerShdw blurRad="38100" dist="38100" dir="2700000" algn="tl">
                    <a:srgbClr val="C0C0C0"/>
                  </a:outerShdw>
                </a:effectLst>
                <a:cs typeface="Arial" pitchFamily="34" charset="0"/>
              </a:rPr>
              <a:t>Vidyasagar</a:t>
            </a:r>
            <a:r>
              <a:rPr kumimoji="0" lang="en-US" altLang="en-US" b="1" dirty="0">
                <a:effectLst>
                  <a:outerShdw blurRad="38100" dist="38100" dir="2700000" algn="tl">
                    <a:srgbClr val="C0C0C0"/>
                  </a:outerShdw>
                </a:effectLst>
                <a:cs typeface="Arial" pitchFamily="34" charset="0"/>
              </a:rPr>
              <a:t> (2005) (required)</a:t>
            </a:r>
          </a:p>
          <a:p>
            <a:pPr lvl="1">
              <a:buClr>
                <a:schemeClr val="tx2"/>
              </a:buClr>
              <a:buSzPct val="75000"/>
              <a:buFontTx/>
              <a:buNone/>
              <a:defRPr/>
            </a:pPr>
            <a:r>
              <a:rPr kumimoji="0" lang="en-US" altLang="zh-CN" b="1" dirty="0">
                <a:effectLst>
                  <a:outerShdw blurRad="38100" dist="38100" dir="2700000" algn="tl">
                    <a:srgbClr val="C0C0C0"/>
                  </a:outerShdw>
                </a:effectLst>
                <a:cs typeface="Arial" pitchFamily="34" charset="0"/>
              </a:rPr>
              <a:t>	</a:t>
            </a:r>
            <a:r>
              <a:rPr kumimoji="0" lang="zh-CN" altLang="en-US" b="1" dirty="0">
                <a:solidFill>
                  <a:srgbClr val="FF0000"/>
                </a:solidFill>
                <a:effectLst>
                  <a:outerShdw blurRad="38100" dist="38100" dir="2700000" algn="tl">
                    <a:srgbClr val="C0C0C0"/>
                  </a:outerShdw>
                </a:effectLst>
                <a:cs typeface="Arial" pitchFamily="34" charset="0"/>
              </a:rPr>
              <a:t>机器人建模与控制</a:t>
            </a:r>
            <a:r>
              <a:rPr kumimoji="0" lang="zh-CN" altLang="en-US" b="1" dirty="0">
                <a:effectLst>
                  <a:outerShdw blurRad="38100" dist="38100" dir="2700000" algn="tl">
                    <a:srgbClr val="C0C0C0"/>
                  </a:outerShdw>
                </a:effectLst>
                <a:cs typeface="Arial" pitchFamily="34" charset="0"/>
              </a:rPr>
              <a:t>（中文译本）</a:t>
            </a:r>
            <a:endParaRPr kumimoji="0" lang="en-US" altLang="zh-CN" b="1" dirty="0">
              <a:effectLst>
                <a:outerShdw blurRad="38100" dist="38100" dir="2700000" algn="tl">
                  <a:srgbClr val="C0C0C0"/>
                </a:outerShdw>
              </a:effectLst>
              <a:cs typeface="Arial" pitchFamily="34" charset="0"/>
            </a:endParaRPr>
          </a:p>
          <a:p>
            <a:pPr marL="800100" lvl="1" indent="-342900">
              <a:buClr>
                <a:schemeClr val="tx2"/>
              </a:buClr>
              <a:buSzPct val="75000"/>
              <a:buFont typeface="Wingdings" pitchFamily="2" charset="2"/>
              <a:buChar char="Ø"/>
              <a:defRPr/>
            </a:pPr>
            <a:r>
              <a:rPr kumimoji="0" lang="en-US" altLang="zh-CN" b="1" dirty="0">
                <a:effectLst>
                  <a:outerShdw blurRad="38100" dist="38100" dir="2700000" algn="tl">
                    <a:srgbClr val="C0C0C0"/>
                  </a:outerShdw>
                </a:effectLst>
                <a:cs typeface="Arial" pitchFamily="34" charset="0"/>
              </a:rPr>
              <a:t>Springer handbook of robotics. </a:t>
            </a:r>
            <a:r>
              <a:rPr kumimoji="0" lang="en-US" altLang="zh-CN" dirty="0" err="1">
                <a:effectLst>
                  <a:outerShdw blurRad="38100" dist="38100" dir="2700000" algn="tl">
                    <a:srgbClr val="C0C0C0"/>
                  </a:outerShdw>
                </a:effectLst>
                <a:cs typeface="Arial" pitchFamily="34" charset="0"/>
              </a:rPr>
              <a:t>Siciliano</a:t>
            </a:r>
            <a:r>
              <a:rPr kumimoji="0" lang="en-US" altLang="zh-CN" dirty="0">
                <a:effectLst>
                  <a:outerShdw blurRad="38100" dist="38100" dir="2700000" algn="tl">
                    <a:srgbClr val="C0C0C0"/>
                  </a:outerShdw>
                </a:effectLst>
                <a:cs typeface="Arial" pitchFamily="34" charset="0"/>
              </a:rPr>
              <a:t>, Bruno, and </a:t>
            </a:r>
            <a:r>
              <a:rPr kumimoji="0" lang="en-US" altLang="zh-CN" dirty="0" err="1">
                <a:effectLst>
                  <a:outerShdw blurRad="38100" dist="38100" dir="2700000" algn="tl">
                    <a:srgbClr val="C0C0C0"/>
                  </a:outerShdw>
                </a:effectLst>
                <a:cs typeface="Arial" pitchFamily="34" charset="0"/>
              </a:rPr>
              <a:t>Oussama</a:t>
            </a:r>
            <a:r>
              <a:rPr kumimoji="0" lang="en-US" altLang="zh-CN" dirty="0">
                <a:effectLst>
                  <a:outerShdw blurRad="38100" dist="38100" dir="2700000" algn="tl">
                    <a:srgbClr val="C0C0C0"/>
                  </a:outerShdw>
                </a:effectLst>
                <a:cs typeface="Arial" pitchFamily="34" charset="0"/>
              </a:rPr>
              <a:t> </a:t>
            </a:r>
            <a:r>
              <a:rPr kumimoji="0" lang="en-US" altLang="zh-CN" dirty="0" err="1">
                <a:effectLst>
                  <a:outerShdw blurRad="38100" dist="38100" dir="2700000" algn="tl">
                    <a:srgbClr val="C0C0C0"/>
                  </a:outerShdw>
                </a:effectLst>
                <a:cs typeface="Arial" pitchFamily="34" charset="0"/>
              </a:rPr>
              <a:t>Khatib</a:t>
            </a:r>
            <a:r>
              <a:rPr kumimoji="0" lang="en-US" altLang="zh-CN" dirty="0">
                <a:effectLst>
                  <a:outerShdw blurRad="38100" dist="38100" dir="2700000" algn="tl">
                    <a:srgbClr val="C0C0C0"/>
                  </a:outerShdw>
                </a:effectLst>
                <a:cs typeface="Arial" pitchFamily="34" charset="0"/>
              </a:rPr>
              <a:t>, eds. Springer, 2016.</a:t>
            </a:r>
          </a:p>
          <a:p>
            <a:pPr lvl="1">
              <a:buClr>
                <a:schemeClr val="tx2"/>
              </a:buClr>
              <a:buSzPct val="75000"/>
              <a:buFontTx/>
              <a:buNone/>
              <a:defRPr/>
            </a:pPr>
            <a:r>
              <a:rPr kumimoji="0" lang="en-US" altLang="zh-CN" b="1" dirty="0">
                <a:effectLst>
                  <a:outerShdw blurRad="38100" dist="38100" dir="2700000" algn="tl">
                    <a:srgbClr val="C0C0C0"/>
                  </a:outerShdw>
                </a:effectLst>
                <a:cs typeface="Arial" pitchFamily="34" charset="0"/>
              </a:rPr>
              <a:t>	</a:t>
            </a:r>
            <a:r>
              <a:rPr kumimoji="0" lang="zh-CN" altLang="en-US" b="1" dirty="0">
                <a:effectLst>
                  <a:outerShdw blurRad="38100" dist="38100" dir="2700000" algn="tl">
                    <a:srgbClr val="C0C0C0"/>
                  </a:outerShdw>
                </a:effectLst>
                <a:cs typeface="Arial" pitchFamily="34" charset="0"/>
              </a:rPr>
              <a:t>机器人手册（中文译本）</a:t>
            </a:r>
            <a:endParaRPr kumimoji="0" lang="en-US" altLang="zh-CN" dirty="0">
              <a:effectLst>
                <a:outerShdw blurRad="38100" dist="38100" dir="2700000" algn="tl">
                  <a:srgbClr val="C0C0C0"/>
                </a:outerShdw>
              </a:effectLst>
              <a:cs typeface="Arial" pitchFamily="34" charset="0"/>
            </a:endParaRPr>
          </a:p>
          <a:p>
            <a:pPr marL="742950" lvl="1" indent="-285750">
              <a:buClr>
                <a:schemeClr val="tx2"/>
              </a:buClr>
              <a:buSzPct val="75000"/>
              <a:buFont typeface="Wingdings" pitchFamily="2" charset="2"/>
              <a:buChar char="Ø"/>
              <a:defRPr/>
            </a:pPr>
            <a:r>
              <a:rPr kumimoji="0" lang="en-US" altLang="zh-CN" dirty="0">
                <a:effectLst>
                  <a:outerShdw blurRad="38100" dist="38100" dir="2700000" algn="tl">
                    <a:srgbClr val="000000">
                      <a:alpha val="43137"/>
                    </a:srgbClr>
                  </a:outerShdw>
                </a:effectLst>
                <a:cs typeface="Arial" pitchFamily="34" charset="0"/>
              </a:rPr>
              <a:t>Modelling and Control of Robot Manipulators (Second Edition), L. </a:t>
            </a:r>
            <a:r>
              <a:rPr kumimoji="0" lang="en-US" altLang="zh-CN" dirty="0" err="1">
                <a:effectLst>
                  <a:outerShdw blurRad="38100" dist="38100" dir="2700000" algn="tl">
                    <a:srgbClr val="000000">
                      <a:alpha val="43137"/>
                    </a:srgbClr>
                  </a:outerShdw>
                </a:effectLst>
                <a:cs typeface="Arial" pitchFamily="34" charset="0"/>
              </a:rPr>
              <a:t>Sciavicco</a:t>
            </a:r>
            <a:r>
              <a:rPr kumimoji="0" lang="en-US" altLang="zh-CN" dirty="0">
                <a:effectLst>
                  <a:outerShdw blurRad="38100" dist="38100" dir="2700000" algn="tl">
                    <a:srgbClr val="000000">
                      <a:alpha val="43137"/>
                    </a:srgbClr>
                  </a:outerShdw>
                </a:effectLst>
                <a:cs typeface="Arial" pitchFamily="34" charset="0"/>
              </a:rPr>
              <a:t> and B. </a:t>
            </a:r>
            <a:r>
              <a:rPr kumimoji="0" lang="en-US" altLang="zh-CN" dirty="0" err="1">
                <a:effectLst>
                  <a:outerShdw blurRad="38100" dist="38100" dir="2700000" algn="tl">
                    <a:srgbClr val="000000">
                      <a:alpha val="43137"/>
                    </a:srgbClr>
                  </a:outerShdw>
                </a:effectLst>
                <a:cs typeface="Arial" pitchFamily="34" charset="0"/>
              </a:rPr>
              <a:t>Siciliano</a:t>
            </a:r>
            <a:r>
              <a:rPr kumimoji="0" lang="en-US" altLang="zh-CN" dirty="0">
                <a:effectLst>
                  <a:outerShdw blurRad="38100" dist="38100" dir="2700000" algn="tl">
                    <a:srgbClr val="000000">
                      <a:alpha val="43137"/>
                    </a:srgbClr>
                  </a:outerShdw>
                </a:effectLst>
                <a:cs typeface="Arial" pitchFamily="34" charset="0"/>
              </a:rPr>
              <a:t>, Springer-</a:t>
            </a:r>
            <a:r>
              <a:rPr kumimoji="0" lang="en-US" altLang="zh-CN" dirty="0" err="1">
                <a:effectLst>
                  <a:outerShdw blurRad="38100" dist="38100" dir="2700000" algn="tl">
                    <a:srgbClr val="000000">
                      <a:alpha val="43137"/>
                    </a:srgbClr>
                  </a:outerShdw>
                </a:effectLst>
                <a:cs typeface="Arial" pitchFamily="34" charset="0"/>
              </a:rPr>
              <a:t>Verlag</a:t>
            </a:r>
            <a:r>
              <a:rPr kumimoji="0" lang="en-US" altLang="zh-CN" dirty="0">
                <a:effectLst>
                  <a:outerShdw blurRad="38100" dist="38100" dir="2700000" algn="tl">
                    <a:srgbClr val="000000">
                      <a:alpha val="43137"/>
                    </a:srgbClr>
                  </a:outerShdw>
                </a:effectLst>
                <a:cs typeface="Arial" pitchFamily="34" charset="0"/>
              </a:rPr>
              <a:t>, London, 2000.</a:t>
            </a:r>
            <a:endParaRPr kumimoji="0" lang="zh-CN" altLang="en-US" dirty="0">
              <a:effectLst>
                <a:outerShdw blurRad="38100" dist="38100" dir="2700000" algn="tl">
                  <a:srgbClr val="C0C0C0"/>
                </a:outerShdw>
              </a:effectLst>
              <a:cs typeface="Arial" pitchFamily="34" charset="0"/>
            </a:endParaRPr>
          </a:p>
          <a:p>
            <a:pPr marL="742950" lvl="1" indent="-285750">
              <a:buClr>
                <a:schemeClr val="tx2"/>
              </a:buClr>
              <a:buSzPct val="75000"/>
              <a:buFont typeface="Wingdings" pitchFamily="2" charset="2"/>
              <a:buChar char="Ø"/>
              <a:defRPr/>
            </a:pPr>
            <a:r>
              <a:rPr kumimoji="0" lang="en-US" altLang="zh-CN" dirty="0">
                <a:effectLst>
                  <a:outerShdw blurRad="38100" dist="38100" dir="2700000" algn="tl">
                    <a:srgbClr val="C0C0C0"/>
                  </a:outerShdw>
                </a:effectLst>
                <a:cs typeface="Arial" pitchFamily="34" charset="0"/>
              </a:rPr>
              <a:t>Robotics: Modelling Planning and Control, B. </a:t>
            </a:r>
            <a:r>
              <a:rPr kumimoji="0" lang="en-US" altLang="zh-CN" dirty="0" err="1">
                <a:effectLst>
                  <a:outerShdw blurRad="38100" dist="38100" dir="2700000" algn="tl">
                    <a:srgbClr val="C0C0C0"/>
                  </a:outerShdw>
                </a:effectLst>
                <a:cs typeface="Arial" pitchFamily="34" charset="0"/>
              </a:rPr>
              <a:t>Siciliano,L</a:t>
            </a:r>
            <a:r>
              <a:rPr kumimoji="0" lang="en-US" altLang="zh-CN" dirty="0">
                <a:effectLst>
                  <a:outerShdw blurRad="38100" dist="38100" dir="2700000" algn="tl">
                    <a:srgbClr val="C0C0C0"/>
                  </a:outerShdw>
                </a:effectLst>
                <a:cs typeface="Arial" pitchFamily="34" charset="0"/>
              </a:rPr>
              <a:t>. </a:t>
            </a:r>
            <a:r>
              <a:rPr kumimoji="0" lang="en-US" altLang="zh-CN" dirty="0" err="1">
                <a:effectLst>
                  <a:outerShdw blurRad="38100" dist="38100" dir="2700000" algn="tl">
                    <a:srgbClr val="C0C0C0"/>
                  </a:outerShdw>
                </a:effectLst>
                <a:cs typeface="Arial" pitchFamily="34" charset="0"/>
              </a:rPr>
              <a:t>Sciavicco,L</a:t>
            </a:r>
            <a:r>
              <a:rPr kumimoji="0" lang="en-US" altLang="zh-CN" dirty="0">
                <a:effectLst>
                  <a:outerShdw blurRad="38100" dist="38100" dir="2700000" algn="tl">
                    <a:srgbClr val="C0C0C0"/>
                  </a:outerShdw>
                </a:effectLst>
                <a:cs typeface="Arial" pitchFamily="34" charset="0"/>
              </a:rPr>
              <a:t>. </a:t>
            </a:r>
            <a:r>
              <a:rPr kumimoji="0" lang="en-US" altLang="zh-CN" dirty="0" err="1">
                <a:effectLst>
                  <a:outerShdw blurRad="38100" dist="38100" dir="2700000" algn="tl">
                    <a:srgbClr val="C0C0C0"/>
                  </a:outerShdw>
                </a:effectLst>
                <a:cs typeface="Arial" pitchFamily="34" charset="0"/>
              </a:rPr>
              <a:t>Villani,G</a:t>
            </a:r>
            <a:r>
              <a:rPr kumimoji="0" lang="en-US" altLang="zh-CN" dirty="0">
                <a:effectLst>
                  <a:outerShdw blurRad="38100" dist="38100" dir="2700000" algn="tl">
                    <a:srgbClr val="C0C0C0"/>
                  </a:outerShdw>
                </a:effectLst>
                <a:cs typeface="Arial" pitchFamily="34" charset="0"/>
              </a:rPr>
              <a:t>. </a:t>
            </a:r>
            <a:r>
              <a:rPr kumimoji="0" lang="en-US" altLang="zh-CN" dirty="0" err="1">
                <a:effectLst>
                  <a:outerShdw blurRad="38100" dist="38100" dir="2700000" algn="tl">
                    <a:srgbClr val="C0C0C0"/>
                  </a:outerShdw>
                </a:effectLst>
                <a:cs typeface="Arial" pitchFamily="34" charset="0"/>
              </a:rPr>
              <a:t>Oriolo</a:t>
            </a:r>
            <a:r>
              <a:rPr kumimoji="0" lang="en-US" altLang="zh-CN" dirty="0">
                <a:effectLst>
                  <a:outerShdw blurRad="38100" dist="38100" dir="2700000" algn="tl">
                    <a:srgbClr val="C0C0C0"/>
                  </a:outerShdw>
                </a:effectLst>
                <a:cs typeface="Arial" pitchFamily="34" charset="0"/>
              </a:rPr>
              <a:t>, Springer-</a:t>
            </a:r>
            <a:r>
              <a:rPr kumimoji="0" lang="en-US" altLang="zh-CN" dirty="0" err="1">
                <a:effectLst>
                  <a:outerShdw blurRad="38100" dist="38100" dir="2700000" algn="tl">
                    <a:srgbClr val="C0C0C0"/>
                  </a:outerShdw>
                </a:effectLst>
                <a:cs typeface="Arial" pitchFamily="34" charset="0"/>
              </a:rPr>
              <a:t>Verlag</a:t>
            </a:r>
            <a:r>
              <a:rPr kumimoji="0" lang="en-US" altLang="zh-CN" dirty="0">
                <a:effectLst>
                  <a:outerShdw blurRad="38100" dist="38100" dir="2700000" algn="tl">
                    <a:srgbClr val="C0C0C0"/>
                  </a:outerShdw>
                </a:effectLst>
                <a:cs typeface="Arial" pitchFamily="34" charset="0"/>
              </a:rPr>
              <a:t>, London, 2008</a:t>
            </a:r>
            <a:r>
              <a:rPr kumimoji="0" lang="en-US" altLang="zh-CN" dirty="0" smtClean="0">
                <a:effectLst>
                  <a:outerShdw blurRad="38100" dist="38100" dir="2700000" algn="tl">
                    <a:srgbClr val="C0C0C0"/>
                  </a:outerShdw>
                </a:effectLst>
                <a:cs typeface="Arial" pitchFamily="34" charset="0"/>
              </a:rPr>
              <a:t>.</a:t>
            </a:r>
          </a:p>
          <a:p>
            <a:pPr marL="742950" lvl="1" indent="-285750">
              <a:buClr>
                <a:schemeClr val="tx2"/>
              </a:buClr>
              <a:buSzPct val="75000"/>
              <a:buFont typeface="Wingdings" pitchFamily="2" charset="2"/>
              <a:buChar char="Ø"/>
              <a:defRPr/>
            </a:pPr>
            <a:r>
              <a:rPr kumimoji="0" lang="en-US" altLang="zh-CN" dirty="0" smtClean="0">
                <a:effectLst>
                  <a:outerShdw blurRad="38100" dist="38100" dir="2700000" algn="tl">
                    <a:srgbClr val="C0C0C0"/>
                  </a:outerShdw>
                </a:effectLst>
                <a:cs typeface="Arial" pitchFamily="34" charset="0"/>
              </a:rPr>
              <a:t>Modern Robotics. Mechanics, Planning and Control(</a:t>
            </a:r>
            <a:r>
              <a:rPr kumimoji="0" lang="zh-CN" altLang="en-US" b="1" dirty="0" smtClean="0">
                <a:solidFill>
                  <a:srgbClr val="FF0000"/>
                </a:solidFill>
                <a:effectLst>
                  <a:outerShdw blurRad="38100" dist="38100" dir="2700000" algn="tl">
                    <a:srgbClr val="C0C0C0"/>
                  </a:outerShdw>
                </a:effectLst>
                <a:cs typeface="Arial" pitchFamily="34" charset="0"/>
              </a:rPr>
              <a:t>现代机器人学</a:t>
            </a:r>
            <a:r>
              <a:rPr kumimoji="0" lang="zh-CN" altLang="en-US" dirty="0" smtClean="0">
                <a:effectLst>
                  <a:outerShdw blurRad="38100" dist="38100" dir="2700000" algn="tl">
                    <a:srgbClr val="C0C0C0"/>
                  </a:outerShdw>
                </a:effectLst>
                <a:cs typeface="Arial" pitchFamily="34" charset="0"/>
              </a:rPr>
              <a:t>）</a:t>
            </a:r>
            <a:endParaRPr kumimoji="0" lang="en-US" altLang="zh-CN" dirty="0">
              <a:effectLst>
                <a:outerShdw blurRad="38100" dist="38100" dir="2700000" algn="tl">
                  <a:srgbClr val="C0C0C0"/>
                </a:outerShdw>
              </a:effectLst>
              <a:cs typeface="Arial" pitchFamily="34" charset="0"/>
            </a:endParaRPr>
          </a:p>
        </p:txBody>
      </p:sp>
      <p:sp>
        <p:nvSpPr>
          <p:cNvPr id="8" name="Rectangle 2"/>
          <p:cNvSpPr>
            <a:spLocks noGrp="1" noChangeArrowheads="1"/>
          </p:cNvSpPr>
          <p:nvPr>
            <p:ph type="title"/>
          </p:nvPr>
        </p:nvSpPr>
        <p:spPr>
          <a:xfrm>
            <a:off x="689213" y="44450"/>
            <a:ext cx="7772400" cy="533832"/>
          </a:xfrm>
        </p:spPr>
        <p:txBody>
          <a:bodyPr/>
          <a:lstStyle/>
          <a:p>
            <a:pPr eaLnBrk="1" hangingPunct="1">
              <a:defRPr/>
            </a:pPr>
            <a:r>
              <a:rPr lang="en-US" altLang="zh-CN" dirty="0" smtClean="0"/>
              <a:t>Textbooks</a:t>
            </a:r>
            <a:endParaRPr lang="zh-CN" altLang="en-US" dirty="0" smtClean="0"/>
          </a:p>
        </p:txBody>
      </p:sp>
      <p:grpSp>
        <p:nvGrpSpPr>
          <p:cNvPr id="12" name="组合 11"/>
          <p:cNvGrpSpPr/>
          <p:nvPr/>
        </p:nvGrpSpPr>
        <p:grpSpPr>
          <a:xfrm>
            <a:off x="5806766" y="650289"/>
            <a:ext cx="3096344" cy="4104456"/>
            <a:chOff x="5580112" y="659333"/>
            <a:chExt cx="3409901" cy="5584825"/>
          </a:xfrm>
        </p:grpSpPr>
        <p:pic>
          <p:nvPicPr>
            <p:cNvPr id="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7436" y="659333"/>
              <a:ext cx="1482577" cy="2516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7704" y="665683"/>
              <a:ext cx="1800871" cy="2932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7"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68715" y="2340495"/>
              <a:ext cx="1717109" cy="2622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9" name="图片 8"/>
            <p:cNvPicPr>
              <a:picLocks noChangeAspect="1"/>
            </p:cNvPicPr>
            <p:nvPr/>
          </p:nvPicPr>
          <p:blipFill rotWithShape="1">
            <a:blip r:embed="rId5"/>
            <a:srcRect l="10839" r="12999"/>
            <a:stretch/>
          </p:blipFill>
          <p:spPr>
            <a:xfrm>
              <a:off x="5580112" y="2042477"/>
              <a:ext cx="1944216" cy="2552700"/>
            </a:xfrm>
            <a:prstGeom prst="rect">
              <a:avLst/>
            </a:prstGeom>
          </p:spPr>
        </p:pic>
        <p:pic>
          <p:nvPicPr>
            <p:cNvPr id="10" name="Picture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2120" y="3681933"/>
              <a:ext cx="1666852" cy="256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58575" y="3618433"/>
              <a:ext cx="1531438" cy="262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4" name="直接连接符 13"/>
          <p:cNvCxnSpPr/>
          <p:nvPr/>
        </p:nvCxnSpPr>
        <p:spPr>
          <a:xfrm>
            <a:off x="251520" y="650289"/>
            <a:ext cx="8647786"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93788154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4043930" y="0"/>
            <a:ext cx="5136582" cy="5144135"/>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508635" y="972185"/>
            <a:ext cx="3199765" cy="319976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728345" y="1191895"/>
            <a:ext cx="2760345" cy="276034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576263" y="2280285"/>
            <a:ext cx="3063875" cy="583565"/>
          </a:xfrm>
          <a:prstGeom prst="rect">
            <a:avLst/>
          </a:prstGeom>
          <a:noFill/>
        </p:spPr>
        <p:txBody>
          <a:bodyPr wrap="square" rtlCol="0">
            <a:spAutoFit/>
          </a:bodyPr>
          <a:lstStyle/>
          <a:p>
            <a:pPr algn="ctr"/>
            <a:r>
              <a:rPr lang="en-US" altLang="zh-CN" sz="3200" b="1" spc="500">
                <a:solidFill>
                  <a:schemeClr val="bg1"/>
                </a:solidFill>
                <a:uFillTx/>
                <a:sym typeface="+mn-ea"/>
              </a:rPr>
              <a:t>CONTENTS</a:t>
            </a:r>
          </a:p>
        </p:txBody>
      </p:sp>
      <p:sp>
        <p:nvSpPr>
          <p:cNvPr id="24" name="KSO_Shape"/>
          <p:cNvSpPr/>
          <p:nvPr>
            <p:custDataLst>
              <p:tags r:id="rId1"/>
            </p:custDataLst>
          </p:nvPr>
        </p:nvSpPr>
        <p:spPr bwMode="auto">
          <a:xfrm>
            <a:off x="4067944" y="627534"/>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6" name="矩形 25"/>
          <p:cNvSpPr/>
          <p:nvPr>
            <p:custDataLst>
              <p:tags r:id="rId2"/>
            </p:custDataLst>
          </p:nvPr>
        </p:nvSpPr>
        <p:spPr>
          <a:xfrm>
            <a:off x="4534669" y="771550"/>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Introduction and Conceptual Problems</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27" name="矩形 26"/>
          <p:cNvSpPr/>
          <p:nvPr>
            <p:custDataLst>
              <p:tags r:id="rId3"/>
            </p:custDataLst>
          </p:nvPr>
        </p:nvSpPr>
        <p:spPr>
          <a:xfrm>
            <a:off x="4534637" y="555526"/>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smtClean="0">
                <a:solidFill>
                  <a:srgbClr val="002060"/>
                </a:solidFill>
                <a:latin typeface="Arial" panose="020B0604020202020204" pitchFamily="34" charset="0"/>
                <a:ea typeface="微软雅黑" panose="020B0503020204020204" charset="-122"/>
                <a:cs typeface="+mn-ea"/>
                <a:sym typeface="Arial" panose="020B0604020202020204" pitchFamily="34" charset="0"/>
              </a:rPr>
              <a:t>绪论</a:t>
            </a:r>
            <a:endPar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62" name="KSO_Shape"/>
          <p:cNvSpPr/>
          <p:nvPr>
            <p:custDataLst>
              <p:tags r:id="rId4"/>
            </p:custDataLst>
          </p:nvPr>
        </p:nvSpPr>
        <p:spPr bwMode="auto">
          <a:xfrm>
            <a:off x="4067944" y="1131590"/>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3" name="矩形 62"/>
          <p:cNvSpPr/>
          <p:nvPr>
            <p:custDataLst>
              <p:tags r:id="rId5"/>
            </p:custDataLst>
          </p:nvPr>
        </p:nvSpPr>
        <p:spPr>
          <a:xfrm>
            <a:off x="4534669" y="1275606"/>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2060"/>
                </a:solidFill>
                <a:latin typeface="Arial" panose="020B0604020202020204" pitchFamily="34" charset="0"/>
                <a:ea typeface="微软雅黑" panose="020B0503020204020204" charset="-122"/>
                <a:sym typeface="Arial" panose="020B0604020202020204" pitchFamily="34" charset="0"/>
              </a:rPr>
              <a:t>System </a:t>
            </a:r>
            <a:r>
              <a:rPr lang="en-US" altLang="zh-CN" sz="1200" spc="150" dirty="0" smtClean="0">
                <a:solidFill>
                  <a:srgbClr val="002060"/>
                </a:solidFill>
                <a:latin typeface="Arial" panose="020B0604020202020204" pitchFamily="34" charset="0"/>
                <a:ea typeface="微软雅黑" panose="020B0503020204020204" charset="-122"/>
                <a:sym typeface="Arial" panose="020B0604020202020204" pitchFamily="34" charset="0"/>
              </a:rPr>
              <a:t>Model of </a:t>
            </a:r>
            <a:r>
              <a:rPr lang="en-US" altLang="zh-CN" sz="1200" spc="150" dirty="0">
                <a:solidFill>
                  <a:srgbClr val="002060"/>
                </a:solidFill>
                <a:latin typeface="Arial" panose="020B0604020202020204" pitchFamily="34" charset="0"/>
                <a:ea typeface="微软雅黑" panose="020B0503020204020204" charset="-122"/>
                <a:sym typeface="Arial" panose="020B0604020202020204" pitchFamily="34" charset="0"/>
              </a:rPr>
              <a:t>Robot</a:t>
            </a:r>
            <a:endParaRPr lang="zh-CN" altLang="en-US" sz="1200" spc="150" dirty="0">
              <a:solidFill>
                <a:srgbClr val="002060"/>
              </a:solidFill>
              <a:latin typeface="Arial" panose="020B0604020202020204" pitchFamily="34" charset="0"/>
              <a:ea typeface="微软雅黑" panose="020B0503020204020204" charset="-122"/>
              <a:sym typeface="Arial" panose="020B0604020202020204" pitchFamily="34" charset="0"/>
            </a:endParaRPr>
          </a:p>
        </p:txBody>
      </p:sp>
      <p:sp>
        <p:nvSpPr>
          <p:cNvPr id="64" name="矩形 63"/>
          <p:cNvSpPr/>
          <p:nvPr>
            <p:custDataLst>
              <p:tags r:id="rId6"/>
            </p:custDataLst>
          </p:nvPr>
        </p:nvSpPr>
        <p:spPr>
          <a:xfrm>
            <a:off x="4534637" y="105958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机器人系统分析基础</a:t>
            </a:r>
          </a:p>
        </p:txBody>
      </p:sp>
      <p:sp>
        <p:nvSpPr>
          <p:cNvPr id="66" name="KSO_Shape"/>
          <p:cNvSpPr/>
          <p:nvPr>
            <p:custDataLst>
              <p:tags r:id="rId7"/>
            </p:custDataLst>
          </p:nvPr>
        </p:nvSpPr>
        <p:spPr bwMode="auto">
          <a:xfrm>
            <a:off x="4067944" y="1635646"/>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7" name="矩形 66"/>
          <p:cNvSpPr/>
          <p:nvPr>
            <p:custDataLst>
              <p:tags r:id="rId8"/>
            </p:custDataLst>
          </p:nvPr>
        </p:nvSpPr>
        <p:spPr>
          <a:xfrm>
            <a:off x="4534669" y="1795914"/>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Robot Kinematics</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68" name="矩形 67"/>
          <p:cNvSpPr/>
          <p:nvPr>
            <p:custDataLst>
              <p:tags r:id="rId9"/>
            </p:custDataLst>
          </p:nvPr>
        </p:nvSpPr>
        <p:spPr>
          <a:xfrm>
            <a:off x="4534637" y="160128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运动学</a:t>
            </a:r>
          </a:p>
        </p:txBody>
      </p:sp>
      <p:sp>
        <p:nvSpPr>
          <p:cNvPr id="78" name="KSO_Shape"/>
          <p:cNvSpPr/>
          <p:nvPr>
            <p:custDataLst>
              <p:tags r:id="rId10"/>
            </p:custDataLst>
          </p:nvPr>
        </p:nvSpPr>
        <p:spPr bwMode="auto">
          <a:xfrm>
            <a:off x="4067944" y="2103284"/>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79" name="矩形 78"/>
          <p:cNvSpPr/>
          <p:nvPr>
            <p:custDataLst>
              <p:tags r:id="rId11"/>
            </p:custDataLst>
          </p:nvPr>
        </p:nvSpPr>
        <p:spPr>
          <a:xfrm>
            <a:off x="4534669" y="2299970"/>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Dynamics</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80" name="矩形 79"/>
          <p:cNvSpPr/>
          <p:nvPr>
            <p:custDataLst>
              <p:tags r:id="rId12"/>
            </p:custDataLst>
          </p:nvPr>
        </p:nvSpPr>
        <p:spPr>
          <a:xfrm>
            <a:off x="4534637" y="2067694"/>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动力学</a:t>
            </a:r>
          </a:p>
        </p:txBody>
      </p:sp>
      <p:sp>
        <p:nvSpPr>
          <p:cNvPr id="2" name="矩形 1"/>
          <p:cNvSpPr/>
          <p:nvPr/>
        </p:nvSpPr>
        <p:spPr>
          <a:xfrm>
            <a:off x="4043930" y="-20538"/>
            <a:ext cx="5094446" cy="584775"/>
          </a:xfrm>
          <a:prstGeom prst="rect">
            <a:avLst/>
          </a:prstGeom>
        </p:spPr>
        <p:txBody>
          <a:bodyPr wrap="square">
            <a:spAutoFit/>
          </a:bodyPr>
          <a:lstStyle/>
          <a:p>
            <a:r>
              <a:rPr lang="en-US" altLang="zh-CN" sz="1600" b="1" dirty="0">
                <a:solidFill>
                  <a:schemeClr val="bg1"/>
                </a:solidFill>
              </a:rPr>
              <a:t>The course is divided into eight modules covering the following </a:t>
            </a:r>
            <a:r>
              <a:rPr lang="en-US" altLang="zh-CN" sz="1600" b="1" dirty="0" smtClean="0">
                <a:solidFill>
                  <a:schemeClr val="bg1"/>
                </a:solidFill>
              </a:rPr>
              <a:t>areas:</a:t>
            </a:r>
            <a:endParaRPr lang="en-US" altLang="zh-CN" sz="1600" b="1" dirty="0">
              <a:solidFill>
                <a:schemeClr val="bg1"/>
              </a:solidFill>
            </a:endParaRPr>
          </a:p>
        </p:txBody>
      </p:sp>
      <p:sp>
        <p:nvSpPr>
          <p:cNvPr id="19" name="KSO_Shape"/>
          <p:cNvSpPr/>
          <p:nvPr>
            <p:custDataLst>
              <p:tags r:id="rId13"/>
            </p:custDataLst>
          </p:nvPr>
        </p:nvSpPr>
        <p:spPr bwMode="auto">
          <a:xfrm>
            <a:off x="4067944" y="2679348"/>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0" name="矩形 19"/>
          <p:cNvSpPr/>
          <p:nvPr>
            <p:custDataLst>
              <p:tags r:id="rId14"/>
            </p:custDataLst>
          </p:nvPr>
        </p:nvSpPr>
        <p:spPr>
          <a:xfrm>
            <a:off x="4534637" y="3452098"/>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Control</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21" name="矩形 20"/>
          <p:cNvSpPr/>
          <p:nvPr>
            <p:custDataLst>
              <p:tags r:id="rId15"/>
            </p:custDataLst>
          </p:nvPr>
        </p:nvSpPr>
        <p:spPr>
          <a:xfrm>
            <a:off x="4534637" y="3185458"/>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机器人控制</a:t>
            </a:r>
          </a:p>
        </p:txBody>
      </p:sp>
      <p:sp>
        <p:nvSpPr>
          <p:cNvPr id="25" name="KSO_Shape"/>
          <p:cNvSpPr/>
          <p:nvPr>
            <p:custDataLst>
              <p:tags r:id="rId16"/>
            </p:custDataLst>
          </p:nvPr>
        </p:nvSpPr>
        <p:spPr bwMode="auto">
          <a:xfrm>
            <a:off x="4097652" y="3255412"/>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9" name="矩形 28"/>
          <p:cNvSpPr/>
          <p:nvPr>
            <p:custDataLst>
              <p:tags r:id="rId17"/>
            </p:custDataLst>
          </p:nvPr>
        </p:nvSpPr>
        <p:spPr>
          <a:xfrm>
            <a:off x="4534669" y="2876034"/>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Motion </a:t>
            </a: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P</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lanning</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30" name="矩形 29"/>
          <p:cNvSpPr/>
          <p:nvPr>
            <p:custDataLst>
              <p:tags r:id="rId18"/>
            </p:custDataLst>
          </p:nvPr>
        </p:nvSpPr>
        <p:spPr>
          <a:xfrm>
            <a:off x="4534637" y="2609394"/>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机器人运动规划</a:t>
            </a:r>
          </a:p>
        </p:txBody>
      </p:sp>
      <p:sp>
        <p:nvSpPr>
          <p:cNvPr id="35" name="KSO_Shape"/>
          <p:cNvSpPr/>
          <p:nvPr>
            <p:custDataLst>
              <p:tags r:id="rId19"/>
            </p:custDataLst>
          </p:nvPr>
        </p:nvSpPr>
        <p:spPr bwMode="auto">
          <a:xfrm>
            <a:off x="4114428" y="3831476"/>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6" name="矩形 35"/>
          <p:cNvSpPr/>
          <p:nvPr>
            <p:custDataLst>
              <p:tags r:id="rId20"/>
            </p:custDataLst>
          </p:nvPr>
        </p:nvSpPr>
        <p:spPr>
          <a:xfrm>
            <a:off x="4546476" y="376152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smtClean="0">
                <a:latin typeface="Arial" panose="020B0604020202020204" pitchFamily="34" charset="0"/>
                <a:ea typeface="微软雅黑" panose="020B0503020204020204" charset="-122"/>
                <a:cs typeface="+mn-ea"/>
                <a:sym typeface="Arial" panose="020B0604020202020204" pitchFamily="34" charset="0"/>
              </a:rPr>
              <a:t>机器人编程语言</a:t>
            </a:r>
            <a:endParaRPr lang="zh-CN" altLang="en-US" sz="1500" b="1" spc="300" dirty="0">
              <a:latin typeface="Arial" panose="020B0604020202020204" pitchFamily="34" charset="0"/>
              <a:ea typeface="微软雅黑" panose="020B0503020204020204" charset="-122"/>
              <a:cs typeface="+mn-ea"/>
              <a:sym typeface="Arial" panose="020B0604020202020204" pitchFamily="34" charset="0"/>
            </a:endParaRPr>
          </a:p>
        </p:txBody>
      </p:sp>
      <p:sp>
        <p:nvSpPr>
          <p:cNvPr id="37" name="矩形 36"/>
          <p:cNvSpPr/>
          <p:nvPr>
            <p:custDataLst>
              <p:tags r:id="rId21"/>
            </p:custDataLst>
          </p:nvPr>
        </p:nvSpPr>
        <p:spPr>
          <a:xfrm>
            <a:off x="4546476" y="4028162"/>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smtClean="0">
                <a:solidFill>
                  <a:schemeClr val="accent1"/>
                </a:solidFill>
                <a:latin typeface="Arial" panose="020B0604020202020204" pitchFamily="34" charset="0"/>
                <a:ea typeface="微软雅黑" panose="020B0503020204020204" charset="-122"/>
                <a:sym typeface="Arial" panose="020B0604020202020204" pitchFamily="34" charset="0"/>
              </a:rPr>
              <a:t>Programming Language of Robot</a:t>
            </a:r>
            <a:endParaRPr lang="zh-CN" altLang="en-US" sz="1200" spc="150"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38" name="KSO_Shape"/>
          <p:cNvSpPr/>
          <p:nvPr>
            <p:custDataLst>
              <p:tags r:id="rId22"/>
            </p:custDataLst>
          </p:nvPr>
        </p:nvSpPr>
        <p:spPr bwMode="auto">
          <a:xfrm>
            <a:off x="4114428" y="4407540"/>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9" name="矩形 38"/>
          <p:cNvSpPr/>
          <p:nvPr>
            <p:custDataLst>
              <p:tags r:id="rId23"/>
            </p:custDataLst>
          </p:nvPr>
        </p:nvSpPr>
        <p:spPr>
          <a:xfrm>
            <a:off x="4546476" y="4337586"/>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FF0000"/>
                </a:solidFill>
                <a:latin typeface="Arial" panose="020B0604020202020204" pitchFamily="34" charset="0"/>
                <a:ea typeface="微软雅黑" panose="020B0503020204020204" charset="-122"/>
                <a:cs typeface="+mn-ea"/>
                <a:sym typeface="Arial" panose="020B0604020202020204" pitchFamily="34" charset="0"/>
              </a:rPr>
              <a:t>典型机器人系统的设计与实现</a:t>
            </a:r>
          </a:p>
        </p:txBody>
      </p:sp>
      <p:sp>
        <p:nvSpPr>
          <p:cNvPr id="40" name="矩形 39"/>
          <p:cNvSpPr/>
          <p:nvPr>
            <p:custDataLst>
              <p:tags r:id="rId24"/>
            </p:custDataLst>
          </p:nvPr>
        </p:nvSpPr>
        <p:spPr>
          <a:xfrm>
            <a:off x="4534232" y="4604226"/>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FF0000"/>
                </a:solidFill>
                <a:latin typeface="Arial" panose="020B0604020202020204" pitchFamily="34" charset="0"/>
                <a:ea typeface="微软雅黑" panose="020B0503020204020204" charset="-122"/>
                <a:sym typeface="Arial" panose="020B0604020202020204" pitchFamily="34" charset="0"/>
              </a:rPr>
              <a:t>Design and Implementation of Robot System</a:t>
            </a:r>
            <a:endParaRPr lang="zh-CN" altLang="en-US" sz="1200" spc="150" dirty="0">
              <a:solidFill>
                <a:srgbClr val="FF0000"/>
              </a:solidFill>
              <a:latin typeface="Arial" panose="020B0604020202020204" pitchFamily="34" charset="0"/>
              <a:ea typeface="微软雅黑" panose="020B0503020204020204" charset="-122"/>
              <a:sym typeface="Arial" panose="020B0604020202020204" pitchFamily="34" charset="0"/>
            </a:endParaRPr>
          </a:p>
        </p:txBody>
      </p:sp>
    </p:spTree>
    <p:extLst>
      <p:ext uri="{BB962C8B-B14F-4D97-AF65-F5344CB8AC3E}">
        <p14:creationId xmlns:p14="http://schemas.microsoft.com/office/powerpoint/2010/main" val="282621445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228099" y="2082089"/>
            <a:ext cx="3849370" cy="2123658"/>
          </a:xfrm>
          <a:prstGeom prst="rect">
            <a:avLst/>
          </a:prstGeom>
        </p:spPr>
        <p:txBody>
          <a:bodyPr wrap="square">
            <a:spAutoFit/>
          </a:bodyPr>
          <a:lstStyle/>
          <a:p>
            <a:r>
              <a:rPr lang="zh-CN" altLang="en-US" sz="1200" dirty="0"/>
              <a:t>本章从典型机器人系统的设计出发，引导读者在进行系统的设计之前，考虑任务估计、技术要求和依据、经济理由以及与人的因素等，熟悉使用机器人的经验准则和步骤。给出机器人的应用实例，如：分拣机器人系统设计、搬运码垛机器人系统设计和五子棋对弈机器人系统设计等。</a:t>
            </a:r>
          </a:p>
          <a:p>
            <a:r>
              <a:rPr lang="zh-CN" altLang="en-US" sz="1200" dirty="0"/>
              <a:t>本章知识点：</a:t>
            </a:r>
          </a:p>
          <a:p>
            <a:pPr marL="171450" indent="-171450">
              <a:buFont typeface="Wingdings" panose="05000000000000000000" pitchFamily="2" charset="2"/>
              <a:buChar char="Ø"/>
            </a:pPr>
            <a:r>
              <a:rPr lang="zh-CN" altLang="en-US" sz="1200" dirty="0" smtClean="0"/>
              <a:t>应用</a:t>
            </a:r>
            <a:r>
              <a:rPr lang="zh-CN" altLang="en-US" sz="1200" dirty="0"/>
              <a:t>机器人的三要素</a:t>
            </a:r>
          </a:p>
          <a:p>
            <a:pPr marL="171450" indent="-171450">
              <a:buFont typeface="Wingdings" panose="05000000000000000000" pitchFamily="2" charset="2"/>
              <a:buChar char="Ø"/>
            </a:pPr>
            <a:r>
              <a:rPr lang="zh-CN" altLang="en-US" sz="1200" dirty="0" smtClean="0"/>
              <a:t>使用</a:t>
            </a:r>
            <a:r>
              <a:rPr lang="zh-CN" altLang="en-US" sz="1200" dirty="0"/>
              <a:t>机器人的经验准则</a:t>
            </a:r>
          </a:p>
          <a:p>
            <a:pPr marL="171450" indent="-171450">
              <a:buFont typeface="Wingdings" panose="05000000000000000000" pitchFamily="2" charset="2"/>
              <a:buChar char="Ø"/>
            </a:pPr>
            <a:r>
              <a:rPr lang="zh-CN" altLang="en-US" sz="1200" dirty="0" smtClean="0"/>
              <a:t>机器人系统</a:t>
            </a:r>
            <a:r>
              <a:rPr lang="zh-CN" altLang="en-US" sz="1200" dirty="0"/>
              <a:t>的总体设计步骤</a:t>
            </a:r>
          </a:p>
          <a:p>
            <a:pPr marL="171450" indent="-171450">
              <a:buFont typeface="Wingdings" panose="05000000000000000000" pitchFamily="2" charset="2"/>
              <a:buChar char="Ø"/>
            </a:pPr>
            <a:r>
              <a:rPr lang="zh-CN" altLang="en-US" sz="1200" dirty="0" smtClean="0"/>
              <a:t>典型</a:t>
            </a:r>
            <a:r>
              <a:rPr lang="zh-CN" altLang="en-US" sz="1200" dirty="0"/>
              <a:t>机器人系统的设计与实现实例</a:t>
            </a:r>
            <a:endParaRPr lang="zh-CN" altLang="en-US" sz="1200" dirty="0"/>
          </a:p>
        </p:txBody>
      </p:sp>
      <p:sp>
        <p:nvSpPr>
          <p:cNvPr id="7" name="文本框 6"/>
          <p:cNvSpPr txBox="1"/>
          <p:nvPr/>
        </p:nvSpPr>
        <p:spPr>
          <a:xfrm>
            <a:off x="4319270" y="1547684"/>
            <a:ext cx="3335655" cy="523220"/>
          </a:xfrm>
          <a:prstGeom prst="rect">
            <a:avLst/>
          </a:prstGeom>
          <a:noFill/>
        </p:spPr>
        <p:txBody>
          <a:bodyPr wrap="square" rtlCol="0" anchor="t">
            <a:spAutoFit/>
          </a:bodyPr>
          <a:lstStyle/>
          <a:p>
            <a:pPr algn="l"/>
            <a:r>
              <a:rPr lang="zh-CN" altLang="en-US" sz="2800" b="1" dirty="0">
                <a:latin typeface="Arial" panose="020B0604020202020204" pitchFamily="34" charset="0"/>
                <a:ea typeface="微软雅黑" panose="020B0503020204020204" charset="-122"/>
                <a:sym typeface="+mn-ea"/>
              </a:rPr>
              <a:t>引言</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00</a:t>
            </a:r>
            <a:endParaRPr lang="en-US" altLang="zh-CN" sz="6600" b="1" dirty="0">
              <a:solidFill>
                <a:schemeClr val="bg1"/>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228099" y="2082089"/>
            <a:ext cx="3849370" cy="1015663"/>
          </a:xfrm>
          <a:prstGeom prst="rect">
            <a:avLst/>
          </a:prstGeom>
        </p:spPr>
        <p:txBody>
          <a:bodyPr wrap="square">
            <a:spAutoFit/>
          </a:bodyPr>
          <a:lstStyle/>
          <a:p>
            <a:r>
              <a:rPr lang="zh-CN" altLang="en-US" sz="1200" dirty="0"/>
              <a:t>工厂或企业在准备采用工业机器人时应当考虑的问题及因素包括任务估计、技术要求与依据、经济理由以及与人的因素的关系等。只有这样，才能论证使用机器人的合理性，选择适当的作业，选用合适的机器人，考虑到今后的发展以及充分发挥人的作用和机器人的优点。</a:t>
            </a:r>
            <a:endParaRPr lang="zh-CN" altLang="en-US" sz="1200" dirty="0"/>
          </a:p>
        </p:txBody>
      </p:sp>
      <p:sp>
        <p:nvSpPr>
          <p:cNvPr id="7" name="文本框 6"/>
          <p:cNvSpPr txBox="1"/>
          <p:nvPr/>
        </p:nvSpPr>
        <p:spPr>
          <a:xfrm>
            <a:off x="4319270" y="1547684"/>
            <a:ext cx="4645218" cy="461665"/>
          </a:xfrm>
          <a:prstGeom prst="rect">
            <a:avLst/>
          </a:prstGeom>
          <a:noFill/>
        </p:spPr>
        <p:txBody>
          <a:bodyPr wrap="square" rtlCol="0" anchor="t">
            <a:spAutoFit/>
          </a:bodyPr>
          <a:lstStyle/>
          <a:p>
            <a:r>
              <a:rPr lang="zh-CN" altLang="en-US" sz="2400" b="1" dirty="0">
                <a:latin typeface="Arial" panose="020B0604020202020204" pitchFamily="34" charset="0"/>
                <a:ea typeface="微软雅黑" panose="020B0503020204020204" charset="-122"/>
                <a:sym typeface="+mn-ea"/>
              </a:rPr>
              <a:t>机器人系统设计需要考虑的因素</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01</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382965642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483768" y="339502"/>
            <a:ext cx="4515980" cy="461665"/>
          </a:xfrm>
          <a:prstGeom prst="rect">
            <a:avLst/>
          </a:prstGeom>
        </p:spPr>
        <p:txBody>
          <a:bodyPr wrap="none">
            <a:spAutoFit/>
          </a:bodyPr>
          <a:lstStyle/>
          <a:p>
            <a:r>
              <a:rPr lang="zh-CN" altLang="en-US" sz="2400" b="1" dirty="0">
                <a:latin typeface="Calibri" panose="020F0502020204030204" pitchFamily="34" charset="0"/>
                <a:cs typeface="Times New Roman" panose="02020603050405020304" pitchFamily="18" charset="0"/>
              </a:rPr>
              <a:t>机器人系统设计需要考虑的因素</a:t>
            </a:r>
            <a:endParaRPr lang="zh-CN" altLang="en-US" sz="2400" b="1" dirty="0"/>
          </a:p>
        </p:txBody>
      </p:sp>
      <p:sp>
        <p:nvSpPr>
          <p:cNvPr id="2" name="矩形 1"/>
          <p:cNvSpPr/>
          <p:nvPr/>
        </p:nvSpPr>
        <p:spPr>
          <a:xfrm>
            <a:off x="899592" y="987574"/>
            <a:ext cx="7488832" cy="3416320"/>
          </a:xfrm>
          <a:prstGeom prst="rect">
            <a:avLst/>
          </a:prstGeom>
        </p:spPr>
        <p:txBody>
          <a:bodyPr wrap="square">
            <a:spAutoFit/>
          </a:bodyPr>
          <a:lstStyle/>
          <a:p>
            <a:pPr marL="285750" indent="-285750">
              <a:buFont typeface="Wingdings" panose="05000000000000000000" pitchFamily="2" charset="2"/>
              <a:buChar char="Ø"/>
            </a:pPr>
            <a:r>
              <a:rPr lang="zh-CN" altLang="zh-CN" kern="100" dirty="0">
                <a:latin typeface="Times New Roman" panose="02020603050405020304" pitchFamily="18" charset="0"/>
                <a:cs typeface="Times New Roman" panose="02020603050405020304" pitchFamily="18" charset="0"/>
              </a:rPr>
              <a:t>机器人的任务</a:t>
            </a:r>
            <a:r>
              <a:rPr lang="zh-CN" altLang="zh-CN" kern="100" dirty="0" smtClean="0">
                <a:latin typeface="Times New Roman" panose="02020603050405020304" pitchFamily="18" charset="0"/>
                <a:cs typeface="Times New Roman" panose="02020603050405020304" pitchFamily="18" charset="0"/>
              </a:rPr>
              <a:t>估计</a:t>
            </a:r>
            <a:endParaRPr lang="en-US" altLang="zh-CN" kern="100" dirty="0" smtClean="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Ø"/>
            </a:pPr>
            <a:r>
              <a:rPr lang="zh-CN" altLang="zh-CN" dirty="0"/>
              <a:t>要增加对机器人应用情况的了解，最好的方法是到工作现场去观察机器人的工作</a:t>
            </a:r>
            <a:r>
              <a:rPr lang="zh-CN" altLang="zh-CN" dirty="0" smtClean="0"/>
              <a:t>。</a:t>
            </a:r>
            <a:endParaRPr lang="en-US" altLang="zh-CN" dirty="0" smtClean="0"/>
          </a:p>
          <a:p>
            <a:pPr marL="742950" lvl="1" indent="-285750">
              <a:buFont typeface="Wingdings" panose="05000000000000000000" pitchFamily="2" charset="2"/>
              <a:buChar char="Ø"/>
            </a:pPr>
            <a:r>
              <a:rPr lang="zh-CN" altLang="zh-CN" dirty="0"/>
              <a:t>在估计作业任务时，必须把当前进行的作业任务与应当由机器人进行的作业任务加以区别</a:t>
            </a:r>
            <a:r>
              <a:rPr lang="zh-CN" altLang="zh-CN" dirty="0" smtClean="0"/>
              <a:t>。</a:t>
            </a:r>
            <a:endParaRPr lang="en-US" altLang="zh-CN" dirty="0" smtClean="0"/>
          </a:p>
          <a:p>
            <a:pPr marL="742950" lvl="1" indent="-285750">
              <a:buFont typeface="Wingdings" panose="05000000000000000000" pitchFamily="2" charset="2"/>
              <a:buChar char="Ø"/>
            </a:pPr>
            <a:r>
              <a:rPr lang="zh-CN" altLang="zh-CN" dirty="0" smtClean="0"/>
              <a:t>改变</a:t>
            </a:r>
            <a:r>
              <a:rPr lang="zh-CN" altLang="zh-CN" dirty="0"/>
              <a:t>过程变量来显著提高</a:t>
            </a:r>
            <a:r>
              <a:rPr lang="zh-CN" altLang="zh-CN" dirty="0" smtClean="0"/>
              <a:t>生产率</a:t>
            </a:r>
            <a:endParaRPr lang="en-US" altLang="zh-CN" kern="100"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zh-CN" altLang="zh-CN" dirty="0"/>
              <a:t>应用机器人的三</a:t>
            </a:r>
            <a:r>
              <a:rPr lang="zh-CN" altLang="zh-CN" dirty="0" smtClean="0"/>
              <a:t>要素</a:t>
            </a:r>
            <a:endParaRPr lang="en-US" altLang="zh-CN" dirty="0" smtClean="0"/>
          </a:p>
          <a:p>
            <a:pPr marL="742950" lvl="1" indent="-285750">
              <a:buFont typeface="Wingdings" panose="05000000000000000000" pitchFamily="2" charset="2"/>
              <a:buChar char="Ø"/>
            </a:pPr>
            <a:r>
              <a:rPr lang="zh-CN" altLang="zh-CN" dirty="0"/>
              <a:t>技术因素</a:t>
            </a:r>
            <a:r>
              <a:rPr lang="zh-CN" altLang="zh-CN" dirty="0" smtClean="0"/>
              <a:t>、</a:t>
            </a:r>
            <a:endParaRPr lang="en-US" altLang="zh-CN" dirty="0" smtClean="0"/>
          </a:p>
          <a:p>
            <a:pPr marL="742950" lvl="1" indent="-285750">
              <a:buFont typeface="Wingdings" panose="05000000000000000000" pitchFamily="2" charset="2"/>
              <a:buChar char="Ø"/>
            </a:pPr>
            <a:r>
              <a:rPr lang="zh-CN" altLang="zh-CN" dirty="0" smtClean="0"/>
              <a:t>经济因素</a:t>
            </a:r>
            <a:endParaRPr lang="en-US" altLang="zh-CN" dirty="0" smtClean="0"/>
          </a:p>
          <a:p>
            <a:pPr marL="742950" lvl="1" indent="-285750">
              <a:buFont typeface="Wingdings" panose="05000000000000000000" pitchFamily="2" charset="2"/>
              <a:buChar char="Ø"/>
            </a:pPr>
            <a:r>
              <a:rPr lang="zh-CN" altLang="zh-CN" dirty="0" smtClean="0"/>
              <a:t>人的因素</a:t>
            </a:r>
            <a:endParaRPr lang="en-US" altLang="zh-CN" dirty="0" smtClean="0"/>
          </a:p>
          <a:p>
            <a:pPr marL="285750" indent="-285750">
              <a:buFont typeface="Wingdings" panose="05000000000000000000" pitchFamily="2" charset="2"/>
              <a:buChar char="Ø"/>
            </a:pPr>
            <a:r>
              <a:rPr lang="zh-CN" altLang="zh-CN" dirty="0" smtClean="0"/>
              <a:t>使用机器人的经验准则</a:t>
            </a:r>
            <a:endParaRPr lang="en-US" altLang="zh-CN" dirty="0" smtClean="0"/>
          </a:p>
          <a:p>
            <a:pPr marL="742950" lvl="1" indent="-285750">
              <a:buFont typeface="Wingdings" panose="05000000000000000000" pitchFamily="2" charset="2"/>
              <a:buChar char="Ø"/>
            </a:pPr>
            <a:r>
              <a:rPr lang="zh-CN" altLang="zh-CN" dirty="0"/>
              <a:t>弗农经验准则</a:t>
            </a:r>
            <a:endParaRPr lang="zh-CN" altLang="en-US" dirty="0"/>
          </a:p>
        </p:txBody>
      </p:sp>
    </p:spTree>
    <p:extLst>
      <p:ext uri="{BB962C8B-B14F-4D97-AF65-F5344CB8AC3E}">
        <p14:creationId xmlns:p14="http://schemas.microsoft.com/office/powerpoint/2010/main" val="255989189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2031325"/>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机器人总体设计的主要内容有确定基本参数，选择运动方式，确定操作臂配置形式，确定位置检测、驱动和控制方式等。在结构设计的同时，对各部件的强度、刚度做必要的验算。机器人</a:t>
            </a:r>
            <a:r>
              <a:rPr lang="zh-CN" altLang="en-US" sz="1200" dirty="0" smtClean="0">
                <a:latin typeface="Arial" panose="020B0604020202020204" pitchFamily="34" charset="0"/>
                <a:ea typeface="微软雅黑" panose="020B0503020204020204" charset="-122"/>
                <a:sym typeface="+mn-ea"/>
              </a:rPr>
              <a:t>总体设计包含：</a:t>
            </a:r>
            <a:endParaRPr lang="en-US" altLang="zh-CN" sz="1200" dirty="0" smtClean="0">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Ø"/>
            </a:pPr>
            <a:r>
              <a:rPr lang="zh-CN" altLang="en-US" sz="1200" dirty="0">
                <a:latin typeface="Arial" panose="020B0604020202020204" pitchFamily="34" charset="0"/>
                <a:ea typeface="微软雅黑" panose="020B0503020204020204" charset="-122"/>
                <a:sym typeface="+mn-ea"/>
              </a:rPr>
              <a:t>系统分析</a:t>
            </a:r>
          </a:p>
          <a:p>
            <a:pPr marL="171450" indent="-171450">
              <a:lnSpc>
                <a:spcPct val="150000"/>
              </a:lnSpc>
              <a:buFont typeface="Wingdings" panose="05000000000000000000" pitchFamily="2" charset="2"/>
              <a:buChar char="Ø"/>
            </a:pPr>
            <a:r>
              <a:rPr lang="zh-CN" altLang="en-US" sz="1200" dirty="0">
                <a:latin typeface="Arial" panose="020B0604020202020204" pitchFamily="34" charset="0"/>
                <a:ea typeface="微软雅黑" panose="020B0503020204020204" charset="-122"/>
                <a:sym typeface="+mn-ea"/>
              </a:rPr>
              <a:t>技术设计</a:t>
            </a:r>
            <a:endParaRPr lang="en-US" altLang="zh-CN" sz="1200" dirty="0" smtClean="0">
              <a:latin typeface="Arial" panose="020B0604020202020204" pitchFamily="34" charset="0"/>
              <a:ea typeface="微软雅黑" panose="020B0503020204020204" charset="-122"/>
              <a:sym typeface="+mn-ea"/>
            </a:endParaRPr>
          </a:p>
          <a:p>
            <a:pPr>
              <a:lnSpc>
                <a:spcPct val="150000"/>
              </a:lnSpc>
            </a:pPr>
            <a:endParaRPr lang="zh-CN" altLang="en-US" sz="1200" dirty="0">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4501202" cy="52322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机器人系统的总体设计方法</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a:solidFill>
                  <a:schemeClr val="bg1"/>
                </a:solidFill>
                <a:latin typeface="微软雅黑" panose="020B0503020204020204" charset="-122"/>
                <a:ea typeface="微软雅黑" panose="020B0503020204020204" charset="-122"/>
                <a:sym typeface="+mn-ea"/>
              </a:rPr>
              <a:t>02</a:t>
            </a:r>
          </a:p>
        </p:txBody>
      </p:sp>
    </p:spTree>
    <p:extLst>
      <p:ext uri="{BB962C8B-B14F-4D97-AF65-F5344CB8AC3E}">
        <p14:creationId xmlns:p14="http://schemas.microsoft.com/office/powerpoint/2010/main" val="323053323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55747" y="254504"/>
            <a:ext cx="1107996" cy="369332"/>
          </a:xfrm>
          <a:prstGeom prst="rect">
            <a:avLst/>
          </a:prstGeom>
        </p:spPr>
        <p:txBody>
          <a:bodyPr wrap="none">
            <a:spAutoFit/>
          </a:bodyPr>
          <a:lstStyle/>
          <a:p>
            <a:r>
              <a:rPr lang="zh-CN" altLang="zh-CN" dirty="0"/>
              <a:t>系统分析</a:t>
            </a:r>
            <a:endParaRPr lang="zh-CN" altLang="en-US" dirty="0"/>
          </a:p>
        </p:txBody>
      </p:sp>
      <p:cxnSp>
        <p:nvCxnSpPr>
          <p:cNvPr id="13" name="直接连接符 12"/>
          <p:cNvCxnSpPr/>
          <p:nvPr/>
        </p:nvCxnSpPr>
        <p:spPr>
          <a:xfrm>
            <a:off x="0" y="627534"/>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1379367" y="1347614"/>
            <a:ext cx="6768752" cy="2554545"/>
          </a:xfrm>
          <a:prstGeom prst="rect">
            <a:avLst/>
          </a:prstGeom>
        </p:spPr>
        <p:txBody>
          <a:bodyPr wrap="square">
            <a:spAutoFit/>
          </a:bodyPr>
          <a:lstStyle/>
          <a:p>
            <a:pPr marL="285750" indent="-285750" algn="just">
              <a:lnSpc>
                <a:spcPct val="125000"/>
              </a:lnSpc>
              <a:spcAft>
                <a:spcPts val="0"/>
              </a:spcAft>
              <a:buFont typeface="Wingdings" panose="05000000000000000000" pitchFamily="2" charset="2"/>
              <a:buChar char="Ø"/>
            </a:pPr>
            <a:r>
              <a:rPr lang="zh-CN" altLang="zh-CN" sz="1600" kern="100" dirty="0" smtClean="0">
                <a:latin typeface="Times New Roman" panose="02020603050405020304" pitchFamily="18" charset="0"/>
                <a:cs typeface="Times New Roman" panose="02020603050405020304" pitchFamily="18" charset="0"/>
              </a:rPr>
              <a:t>根据</a:t>
            </a:r>
            <a:r>
              <a:rPr lang="zh-CN" altLang="zh-CN" sz="1600" kern="100" dirty="0">
                <a:latin typeface="Times New Roman" panose="02020603050405020304" pitchFamily="18" charset="0"/>
                <a:cs typeface="Times New Roman" panose="02020603050405020304" pitchFamily="18" charset="0"/>
              </a:rPr>
              <a:t>机器人的使用场合，明确采用机器人的目的和任务</a:t>
            </a:r>
            <a:r>
              <a:rPr lang="zh-CN" altLang="zh-CN" sz="1600" kern="100" dirty="0" smtClean="0">
                <a:latin typeface="Times New Roman" panose="02020603050405020304" pitchFamily="18" charset="0"/>
                <a:cs typeface="Times New Roman" panose="02020603050405020304" pitchFamily="18" charset="0"/>
              </a:rPr>
              <a:t>。</a:t>
            </a:r>
            <a:endParaRPr lang="en-US" altLang="zh-CN" sz="1600" kern="100" dirty="0" smtClean="0">
              <a:latin typeface="Times New Roman" panose="02020603050405020304" pitchFamily="18" charset="0"/>
              <a:cs typeface="Times New Roman" panose="02020603050405020304" pitchFamily="18" charset="0"/>
            </a:endParaRPr>
          </a:p>
          <a:p>
            <a:pPr marL="285750" indent="-285750" algn="just">
              <a:lnSpc>
                <a:spcPct val="125000"/>
              </a:lnSpc>
              <a:spcAft>
                <a:spcPts val="0"/>
              </a:spcAft>
              <a:buFont typeface="Wingdings" panose="05000000000000000000" pitchFamily="2" charset="2"/>
              <a:buChar char="Ø"/>
            </a:pPr>
            <a:endParaRPr lang="en-US" altLang="zh-CN" sz="1600" kern="100" dirty="0" smtClean="0">
              <a:latin typeface="Times New Roman" panose="02020603050405020304" pitchFamily="18" charset="0"/>
              <a:cs typeface="Times New Roman" panose="02020603050405020304" pitchFamily="18" charset="0"/>
            </a:endParaRPr>
          </a:p>
          <a:p>
            <a:pPr marL="285750" indent="-285750" algn="just">
              <a:lnSpc>
                <a:spcPct val="125000"/>
              </a:lnSpc>
              <a:spcAft>
                <a:spcPts val="0"/>
              </a:spcAft>
              <a:buFont typeface="Wingdings" panose="05000000000000000000" pitchFamily="2" charset="2"/>
              <a:buChar char="Ø"/>
            </a:pPr>
            <a:r>
              <a:rPr lang="zh-CN" altLang="zh-CN" sz="1600" kern="100" dirty="0" smtClean="0">
                <a:latin typeface="Times New Roman" panose="02020603050405020304" pitchFamily="18" charset="0"/>
                <a:cs typeface="Times New Roman" panose="02020603050405020304" pitchFamily="18" charset="0"/>
              </a:rPr>
              <a:t>分析</a:t>
            </a:r>
            <a:r>
              <a:rPr lang="zh-CN" altLang="zh-CN" sz="1600" kern="100" dirty="0">
                <a:latin typeface="Times New Roman" panose="02020603050405020304" pitchFamily="18" charset="0"/>
                <a:cs typeface="Times New Roman" panose="02020603050405020304" pitchFamily="18" charset="0"/>
              </a:rPr>
              <a:t>机器人所在系统的工作环境，包括机器人与已有设备的兼容性</a:t>
            </a:r>
            <a:r>
              <a:rPr lang="zh-CN" altLang="zh-CN" sz="1600" kern="100" dirty="0" smtClean="0">
                <a:latin typeface="Times New Roman" panose="02020603050405020304" pitchFamily="18" charset="0"/>
                <a:cs typeface="Times New Roman" panose="02020603050405020304" pitchFamily="18" charset="0"/>
              </a:rPr>
              <a:t>。</a:t>
            </a:r>
            <a:endParaRPr lang="en-US" altLang="zh-CN" sz="1600" kern="100" dirty="0" smtClean="0">
              <a:latin typeface="Times New Roman" panose="02020603050405020304" pitchFamily="18" charset="0"/>
              <a:cs typeface="Times New Roman" panose="02020603050405020304" pitchFamily="18" charset="0"/>
            </a:endParaRPr>
          </a:p>
          <a:p>
            <a:pPr marL="285750" indent="-285750" algn="just">
              <a:lnSpc>
                <a:spcPct val="125000"/>
              </a:lnSpc>
              <a:spcAft>
                <a:spcPts val="0"/>
              </a:spcAft>
              <a:buFont typeface="Wingdings" panose="05000000000000000000" pitchFamily="2" charset="2"/>
              <a:buChar char="Ø"/>
            </a:pPr>
            <a:endParaRPr lang="en-US" altLang="zh-CN" sz="1600" kern="100" dirty="0" smtClean="0">
              <a:latin typeface="Times New Roman" panose="02020603050405020304" pitchFamily="18" charset="0"/>
              <a:cs typeface="Times New Roman" panose="02020603050405020304" pitchFamily="18" charset="0"/>
            </a:endParaRPr>
          </a:p>
          <a:p>
            <a:pPr marL="285750" indent="-285750" algn="just">
              <a:lnSpc>
                <a:spcPct val="125000"/>
              </a:lnSpc>
              <a:spcAft>
                <a:spcPts val="0"/>
              </a:spcAft>
              <a:buFont typeface="Wingdings" panose="05000000000000000000" pitchFamily="2" charset="2"/>
              <a:buChar char="Ø"/>
            </a:pPr>
            <a:r>
              <a:rPr lang="zh-CN" altLang="zh-CN" sz="1600" kern="100" dirty="0" smtClean="0">
                <a:latin typeface="Times New Roman" panose="02020603050405020304" pitchFamily="18" charset="0"/>
                <a:cs typeface="Times New Roman" panose="02020603050405020304" pitchFamily="18" charset="0"/>
              </a:rPr>
              <a:t>认真</a:t>
            </a:r>
            <a:r>
              <a:rPr lang="zh-CN" altLang="zh-CN" sz="1600" kern="100" dirty="0">
                <a:latin typeface="Times New Roman" panose="02020603050405020304" pitchFamily="18" charset="0"/>
                <a:cs typeface="Times New Roman" panose="02020603050405020304" pitchFamily="18" charset="0"/>
              </a:rPr>
              <a:t>分析系统的工作要求，确定机器人的基本功能和方案</a:t>
            </a:r>
            <a:r>
              <a:rPr lang="zh-CN" altLang="zh-CN" sz="1600" kern="100" dirty="0" smtClean="0">
                <a:latin typeface="Times New Roman" panose="02020603050405020304" pitchFamily="18" charset="0"/>
                <a:cs typeface="Times New Roman" panose="02020603050405020304" pitchFamily="18" charset="0"/>
              </a:rPr>
              <a:t>。</a:t>
            </a:r>
            <a:endParaRPr lang="en-US" altLang="zh-CN" sz="1600" kern="100" dirty="0" smtClean="0">
              <a:latin typeface="Times New Roman" panose="02020603050405020304" pitchFamily="18" charset="0"/>
              <a:cs typeface="Times New Roman" panose="02020603050405020304" pitchFamily="18" charset="0"/>
            </a:endParaRPr>
          </a:p>
          <a:p>
            <a:pPr marL="285750" indent="-285750" algn="just">
              <a:lnSpc>
                <a:spcPct val="125000"/>
              </a:lnSpc>
              <a:spcAft>
                <a:spcPts val="0"/>
              </a:spcAft>
              <a:buFont typeface="Wingdings" panose="05000000000000000000" pitchFamily="2" charset="2"/>
              <a:buChar char="Ø"/>
            </a:pPr>
            <a:endParaRPr lang="en-US" altLang="zh-CN" sz="1600" kern="100" dirty="0" smtClean="0">
              <a:latin typeface="Times New Roman" panose="02020603050405020304" pitchFamily="18" charset="0"/>
              <a:cs typeface="Times New Roman" panose="02020603050405020304" pitchFamily="18" charset="0"/>
            </a:endParaRPr>
          </a:p>
          <a:p>
            <a:pPr marL="285750" indent="-285750" algn="just">
              <a:lnSpc>
                <a:spcPct val="125000"/>
              </a:lnSpc>
              <a:spcAft>
                <a:spcPts val="0"/>
              </a:spcAft>
              <a:buFont typeface="Wingdings" panose="05000000000000000000" pitchFamily="2" charset="2"/>
              <a:buChar char="Ø"/>
            </a:pPr>
            <a:r>
              <a:rPr lang="zh-CN" altLang="zh-CN" sz="1600" kern="100" dirty="0" smtClean="0">
                <a:latin typeface="Times New Roman" panose="02020603050405020304" pitchFamily="18" charset="0"/>
                <a:cs typeface="Times New Roman" panose="02020603050405020304" pitchFamily="18" charset="0"/>
              </a:rPr>
              <a:t>进行</a:t>
            </a:r>
            <a:r>
              <a:rPr lang="zh-CN" altLang="zh-CN" sz="1600" kern="100" dirty="0">
                <a:latin typeface="Times New Roman" panose="02020603050405020304" pitchFamily="18" charset="0"/>
                <a:cs typeface="Times New Roman" panose="02020603050405020304" pitchFamily="18" charset="0"/>
              </a:rPr>
              <a:t>必要的调查研究，搜索国内外的有关技术资料，进行综合分析，找出借鉴、选用之处和需要注意的问题。</a:t>
            </a:r>
            <a:endParaRPr lang="zh-CN" altLang="en-US" sz="1600" dirty="0"/>
          </a:p>
        </p:txBody>
      </p:sp>
    </p:spTree>
    <p:extLst>
      <p:ext uri="{BB962C8B-B14F-4D97-AF65-F5344CB8AC3E}">
        <p14:creationId xmlns:p14="http://schemas.microsoft.com/office/powerpoint/2010/main" val="205838949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55747" y="254504"/>
            <a:ext cx="1107996" cy="369332"/>
          </a:xfrm>
          <a:prstGeom prst="rect">
            <a:avLst/>
          </a:prstGeom>
        </p:spPr>
        <p:txBody>
          <a:bodyPr wrap="none">
            <a:spAutoFit/>
          </a:bodyPr>
          <a:lstStyle/>
          <a:p>
            <a:r>
              <a:rPr lang="zh-CN" altLang="zh-CN" dirty="0"/>
              <a:t>技术设计</a:t>
            </a:r>
            <a:endParaRPr lang="zh-CN" altLang="en-US" dirty="0"/>
          </a:p>
        </p:txBody>
      </p:sp>
      <p:cxnSp>
        <p:nvCxnSpPr>
          <p:cNvPr id="13" name="直接连接符 12"/>
          <p:cNvCxnSpPr/>
          <p:nvPr/>
        </p:nvCxnSpPr>
        <p:spPr>
          <a:xfrm>
            <a:off x="0" y="627534"/>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1379367" y="1347614"/>
            <a:ext cx="6768752" cy="1823576"/>
          </a:xfrm>
          <a:prstGeom prst="rect">
            <a:avLst/>
          </a:prstGeom>
        </p:spPr>
        <p:txBody>
          <a:bodyPr wrap="square">
            <a:spAutoFit/>
          </a:bodyPr>
          <a:lstStyle/>
          <a:p>
            <a:pPr marL="285750" indent="-285750" algn="just">
              <a:lnSpc>
                <a:spcPct val="125000"/>
              </a:lnSpc>
              <a:buFont typeface="Wingdings" panose="05000000000000000000" pitchFamily="2" charset="2"/>
              <a:buChar char="Ø"/>
            </a:pPr>
            <a:r>
              <a:rPr lang="zh-CN" altLang="zh-CN" dirty="0"/>
              <a:t>机器人基本参数的</a:t>
            </a:r>
            <a:r>
              <a:rPr lang="zh-CN" altLang="zh-CN" dirty="0" smtClean="0"/>
              <a:t>确定</a:t>
            </a:r>
            <a:endParaRPr lang="en-US" altLang="zh-CN" dirty="0" smtClean="0"/>
          </a:p>
          <a:p>
            <a:pPr marL="285750" indent="-285750" algn="just">
              <a:lnSpc>
                <a:spcPct val="125000"/>
              </a:lnSpc>
              <a:spcAft>
                <a:spcPts val="0"/>
              </a:spcAft>
              <a:buFont typeface="Wingdings" panose="05000000000000000000" pitchFamily="2" charset="2"/>
              <a:buChar char="Ø"/>
            </a:pPr>
            <a:r>
              <a:rPr lang="zh-CN" altLang="zh-CN" dirty="0" smtClean="0"/>
              <a:t>机器人</a:t>
            </a:r>
            <a:r>
              <a:rPr lang="zh-CN" altLang="zh-CN" dirty="0"/>
              <a:t>运动形式或移动机构的选择</a:t>
            </a:r>
            <a:endParaRPr lang="en-US" altLang="zh-CN" dirty="0" smtClean="0"/>
          </a:p>
          <a:p>
            <a:pPr marL="285750" indent="-285750" algn="just">
              <a:lnSpc>
                <a:spcPct val="125000"/>
              </a:lnSpc>
              <a:buFont typeface="Wingdings" panose="05000000000000000000" pitchFamily="2" charset="2"/>
              <a:buChar char="Ø"/>
            </a:pPr>
            <a:r>
              <a:rPr lang="zh-CN" altLang="zh-CN" dirty="0"/>
              <a:t>拟定检测传感系统</a:t>
            </a:r>
            <a:r>
              <a:rPr lang="zh-CN" altLang="zh-CN" dirty="0" smtClean="0"/>
              <a:t>框图</a:t>
            </a:r>
            <a:endParaRPr lang="en-US" altLang="zh-CN" dirty="0" smtClean="0"/>
          </a:p>
          <a:p>
            <a:pPr marL="285750" indent="-285750" algn="just">
              <a:lnSpc>
                <a:spcPct val="125000"/>
              </a:lnSpc>
              <a:buFont typeface="Wingdings" panose="05000000000000000000" pitchFamily="2" charset="2"/>
              <a:buChar char="Ø"/>
            </a:pPr>
            <a:r>
              <a:rPr lang="zh-CN" altLang="zh-CN" dirty="0"/>
              <a:t>确定控制系统总体</a:t>
            </a:r>
            <a:r>
              <a:rPr lang="zh-CN" altLang="zh-CN" dirty="0" smtClean="0"/>
              <a:t>方案</a:t>
            </a:r>
            <a:endParaRPr lang="en-US" altLang="zh-CN" dirty="0" smtClean="0"/>
          </a:p>
          <a:p>
            <a:pPr marL="285750" indent="-285750" algn="just">
              <a:lnSpc>
                <a:spcPct val="125000"/>
              </a:lnSpc>
              <a:buFont typeface="Wingdings" panose="05000000000000000000" pitchFamily="2" charset="2"/>
              <a:buChar char="Ø"/>
            </a:pPr>
            <a:r>
              <a:rPr lang="zh-CN" altLang="zh-CN" dirty="0"/>
              <a:t>机械结构设计</a:t>
            </a:r>
            <a:endParaRPr lang="en-US" altLang="zh-CN" sz="1600" kern="1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911907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55747" y="254504"/>
            <a:ext cx="1107996" cy="369332"/>
          </a:xfrm>
          <a:prstGeom prst="rect">
            <a:avLst/>
          </a:prstGeom>
        </p:spPr>
        <p:txBody>
          <a:bodyPr wrap="none">
            <a:spAutoFit/>
          </a:bodyPr>
          <a:lstStyle/>
          <a:p>
            <a:r>
              <a:rPr lang="zh-CN" altLang="zh-CN" dirty="0"/>
              <a:t>技术设计</a:t>
            </a:r>
            <a:endParaRPr lang="zh-CN" altLang="en-US" dirty="0"/>
          </a:p>
        </p:txBody>
      </p:sp>
      <p:cxnSp>
        <p:nvCxnSpPr>
          <p:cNvPr id="13" name="直接连接符 12"/>
          <p:cNvCxnSpPr/>
          <p:nvPr/>
        </p:nvCxnSpPr>
        <p:spPr>
          <a:xfrm>
            <a:off x="0" y="627534"/>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1379367" y="1347614"/>
            <a:ext cx="6768752" cy="2823850"/>
          </a:xfrm>
          <a:prstGeom prst="rect">
            <a:avLst/>
          </a:prstGeom>
        </p:spPr>
        <p:txBody>
          <a:bodyPr wrap="square">
            <a:spAutoFit/>
          </a:bodyPr>
          <a:lstStyle/>
          <a:p>
            <a:pPr marL="285750" indent="-285750" algn="just">
              <a:lnSpc>
                <a:spcPct val="125000"/>
              </a:lnSpc>
              <a:spcAft>
                <a:spcPts val="0"/>
              </a:spcAft>
              <a:buFont typeface="Wingdings" panose="05000000000000000000" pitchFamily="2" charset="2"/>
              <a:buChar char="Ø"/>
            </a:pPr>
            <a:r>
              <a:rPr lang="zh-CN" altLang="zh-CN" dirty="0"/>
              <a:t>机器人基本参数的</a:t>
            </a:r>
            <a:r>
              <a:rPr lang="zh-CN" altLang="zh-CN" dirty="0" smtClean="0"/>
              <a:t>确定</a:t>
            </a:r>
            <a:endParaRPr lang="en-US" altLang="zh-CN" dirty="0" smtClean="0"/>
          </a:p>
          <a:p>
            <a:pPr marL="742950" lvl="1" indent="-285750" algn="just">
              <a:lnSpc>
                <a:spcPct val="125000"/>
              </a:lnSpc>
              <a:buFont typeface="Wingdings" panose="05000000000000000000" pitchFamily="2" charset="2"/>
              <a:buChar char="Ø"/>
            </a:pPr>
            <a:endParaRPr lang="en-US" altLang="zh-CN" dirty="0" smtClean="0"/>
          </a:p>
          <a:p>
            <a:pPr marL="742950" lvl="1" indent="-285750" algn="just">
              <a:lnSpc>
                <a:spcPct val="125000"/>
              </a:lnSpc>
              <a:buFont typeface="Wingdings" panose="05000000000000000000" pitchFamily="2" charset="2"/>
              <a:buChar char="Ø"/>
            </a:pPr>
            <a:r>
              <a:rPr lang="zh-CN" altLang="zh-CN" dirty="0" smtClean="0">
                <a:solidFill>
                  <a:srgbClr val="FF0000"/>
                </a:solidFill>
              </a:rPr>
              <a:t>臂力</a:t>
            </a:r>
            <a:endParaRPr lang="en-US" altLang="zh-CN" dirty="0" smtClean="0"/>
          </a:p>
          <a:p>
            <a:pPr marL="742950" lvl="1" indent="-285750" algn="just">
              <a:lnSpc>
                <a:spcPct val="125000"/>
              </a:lnSpc>
              <a:buFont typeface="Wingdings" panose="05000000000000000000" pitchFamily="2" charset="2"/>
              <a:buChar char="Ø"/>
            </a:pPr>
            <a:r>
              <a:rPr lang="zh-CN" altLang="zh-CN" dirty="0" smtClean="0">
                <a:solidFill>
                  <a:srgbClr val="FF0000"/>
                </a:solidFill>
              </a:rPr>
              <a:t>工作节拍</a:t>
            </a:r>
            <a:endParaRPr lang="en-US" altLang="zh-CN" dirty="0" smtClean="0"/>
          </a:p>
          <a:p>
            <a:pPr marL="742950" lvl="1" indent="-285750" algn="just">
              <a:lnSpc>
                <a:spcPct val="125000"/>
              </a:lnSpc>
              <a:buFont typeface="Wingdings" panose="05000000000000000000" pitchFamily="2" charset="2"/>
              <a:buChar char="Ø"/>
            </a:pPr>
            <a:r>
              <a:rPr lang="zh-CN" altLang="zh-CN" dirty="0" smtClean="0">
                <a:solidFill>
                  <a:srgbClr val="FF0000"/>
                </a:solidFill>
              </a:rPr>
              <a:t>工作范围</a:t>
            </a:r>
            <a:endParaRPr lang="en-US" altLang="zh-CN" dirty="0" smtClean="0"/>
          </a:p>
          <a:p>
            <a:pPr marL="742950" lvl="1" indent="-285750" algn="just">
              <a:lnSpc>
                <a:spcPct val="125000"/>
              </a:lnSpc>
              <a:buFont typeface="Wingdings" panose="05000000000000000000" pitchFamily="2" charset="2"/>
              <a:buChar char="Ø"/>
            </a:pPr>
            <a:r>
              <a:rPr lang="zh-CN" altLang="zh-CN" dirty="0" smtClean="0">
                <a:solidFill>
                  <a:srgbClr val="FF0000"/>
                </a:solidFill>
              </a:rPr>
              <a:t>运动速度</a:t>
            </a:r>
            <a:endParaRPr lang="en-US" altLang="zh-CN" dirty="0" smtClean="0"/>
          </a:p>
          <a:p>
            <a:pPr marL="742950" lvl="1" indent="-285750" algn="just">
              <a:lnSpc>
                <a:spcPct val="125000"/>
              </a:lnSpc>
              <a:buFont typeface="Wingdings" panose="05000000000000000000" pitchFamily="2" charset="2"/>
              <a:buChar char="Ø"/>
            </a:pPr>
            <a:r>
              <a:rPr lang="zh-CN" altLang="zh-CN" dirty="0" smtClean="0">
                <a:solidFill>
                  <a:srgbClr val="FF0000"/>
                </a:solidFill>
              </a:rPr>
              <a:t>定位精度</a:t>
            </a:r>
            <a:endParaRPr lang="en-US" altLang="zh-CN" dirty="0" smtClean="0"/>
          </a:p>
          <a:p>
            <a:pPr marL="742950" lvl="1" indent="-285750" algn="just">
              <a:lnSpc>
                <a:spcPct val="125000"/>
              </a:lnSpc>
              <a:buFont typeface="Wingdings" panose="05000000000000000000" pitchFamily="2" charset="2"/>
              <a:buChar char="Ø"/>
            </a:pPr>
            <a:endParaRPr lang="en-US" altLang="zh-CN" sz="1600" kern="1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244044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55747" y="254504"/>
            <a:ext cx="1107996" cy="369332"/>
          </a:xfrm>
          <a:prstGeom prst="rect">
            <a:avLst/>
          </a:prstGeom>
        </p:spPr>
        <p:txBody>
          <a:bodyPr wrap="none">
            <a:spAutoFit/>
          </a:bodyPr>
          <a:lstStyle/>
          <a:p>
            <a:r>
              <a:rPr lang="zh-CN" altLang="zh-CN" dirty="0"/>
              <a:t>技术设计</a:t>
            </a:r>
            <a:endParaRPr lang="zh-CN" altLang="en-US" dirty="0"/>
          </a:p>
        </p:txBody>
      </p:sp>
      <p:cxnSp>
        <p:nvCxnSpPr>
          <p:cNvPr id="13" name="直接连接符 12"/>
          <p:cNvCxnSpPr/>
          <p:nvPr/>
        </p:nvCxnSpPr>
        <p:spPr>
          <a:xfrm>
            <a:off x="0" y="627534"/>
            <a:ext cx="9144000"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 name="表格 3"/>
          <p:cNvGraphicFramePr>
            <a:graphicFrameLocks noGrp="1"/>
          </p:cNvGraphicFramePr>
          <p:nvPr>
            <p:extLst>
              <p:ext uri="{D42A27DB-BD31-4B8C-83A1-F6EECF244321}">
                <p14:modId xmlns:p14="http://schemas.microsoft.com/office/powerpoint/2010/main" val="1430910062"/>
              </p:ext>
            </p:extLst>
          </p:nvPr>
        </p:nvGraphicFramePr>
        <p:xfrm>
          <a:off x="1403648" y="1779663"/>
          <a:ext cx="6408712" cy="2376262"/>
        </p:xfrm>
        <a:graphic>
          <a:graphicData uri="http://schemas.openxmlformats.org/drawingml/2006/table">
            <a:tbl>
              <a:tblPr firstRow="1" firstCol="1" bandRow="1">
                <a:tableStyleId>{5C22544A-7EE6-4342-B048-85BDC9FD1C3A}</a:tableStyleId>
              </a:tblPr>
              <a:tblGrid>
                <a:gridCol w="3204356">
                  <a:extLst>
                    <a:ext uri="{9D8B030D-6E8A-4147-A177-3AD203B41FA5}">
                      <a16:colId xmlns:a16="http://schemas.microsoft.com/office/drawing/2014/main" val="1802473827"/>
                    </a:ext>
                  </a:extLst>
                </a:gridCol>
                <a:gridCol w="3204356">
                  <a:extLst>
                    <a:ext uri="{9D8B030D-6E8A-4147-A177-3AD203B41FA5}">
                      <a16:colId xmlns:a16="http://schemas.microsoft.com/office/drawing/2014/main" val="3798099321"/>
                    </a:ext>
                  </a:extLst>
                </a:gridCol>
              </a:tblGrid>
              <a:tr h="339466">
                <a:tc>
                  <a:txBody>
                    <a:bodyPr/>
                    <a:lstStyle/>
                    <a:p>
                      <a:pPr indent="267970" algn="just">
                        <a:lnSpc>
                          <a:spcPct val="125000"/>
                        </a:lnSpc>
                        <a:spcAft>
                          <a:spcPts val="0"/>
                        </a:spcAft>
                      </a:pPr>
                      <a:r>
                        <a:rPr lang="zh-CN" sz="1050" kern="100">
                          <a:effectLst/>
                        </a:rPr>
                        <a:t>工艺过程</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267970" algn="just">
                        <a:lnSpc>
                          <a:spcPct val="125000"/>
                        </a:lnSpc>
                        <a:spcAft>
                          <a:spcPts val="0"/>
                        </a:spcAft>
                      </a:pPr>
                      <a:r>
                        <a:rPr lang="zh-CN" sz="1050" kern="100">
                          <a:effectLst/>
                        </a:rPr>
                        <a:t>定位精度</a:t>
                      </a:r>
                      <a:r>
                        <a:rPr lang="en-US" sz="1050" kern="100">
                          <a:effectLst/>
                        </a:rPr>
                        <a:t>/mm</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993647439"/>
                  </a:ext>
                </a:extLst>
              </a:tr>
              <a:tr h="339466">
                <a:tc>
                  <a:txBody>
                    <a:bodyPr/>
                    <a:lstStyle/>
                    <a:p>
                      <a:pPr indent="266700" algn="just">
                        <a:lnSpc>
                          <a:spcPct val="125000"/>
                        </a:lnSpc>
                        <a:spcAft>
                          <a:spcPts val="0"/>
                        </a:spcAft>
                      </a:pPr>
                      <a:r>
                        <a:rPr lang="zh-CN" sz="1050" kern="100">
                          <a:effectLst/>
                        </a:rPr>
                        <a:t>金属切削机床上下料</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266700" algn="just">
                        <a:lnSpc>
                          <a:spcPct val="125000"/>
                        </a:lnSpc>
                        <a:spcAft>
                          <a:spcPts val="0"/>
                        </a:spcAft>
                      </a:pPr>
                      <a:r>
                        <a:rPr lang="zh-CN" sz="1050" kern="100">
                          <a:effectLst/>
                        </a:rPr>
                        <a:t>±（</a:t>
                      </a:r>
                      <a:r>
                        <a:rPr lang="en-US" sz="1050" kern="100">
                          <a:effectLst/>
                        </a:rPr>
                        <a:t>0.05~1.00</a:t>
                      </a:r>
                      <a:r>
                        <a:rPr lang="zh-CN" sz="1050" kern="100">
                          <a:effectLst/>
                        </a:rPr>
                        <a:t>）</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936828122"/>
                  </a:ext>
                </a:extLst>
              </a:tr>
              <a:tr h="339466">
                <a:tc>
                  <a:txBody>
                    <a:bodyPr/>
                    <a:lstStyle/>
                    <a:p>
                      <a:pPr indent="266700" algn="just">
                        <a:lnSpc>
                          <a:spcPct val="125000"/>
                        </a:lnSpc>
                        <a:spcAft>
                          <a:spcPts val="0"/>
                        </a:spcAft>
                      </a:pPr>
                      <a:r>
                        <a:rPr lang="zh-CN" sz="1050" kern="100">
                          <a:effectLst/>
                        </a:rPr>
                        <a:t>冲床上下料</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266700" algn="just">
                        <a:lnSpc>
                          <a:spcPct val="125000"/>
                        </a:lnSpc>
                        <a:spcAft>
                          <a:spcPts val="0"/>
                        </a:spcAft>
                      </a:pPr>
                      <a:r>
                        <a:rPr lang="zh-CN" sz="1050" kern="100">
                          <a:effectLst/>
                        </a:rPr>
                        <a:t>±</a:t>
                      </a:r>
                      <a:r>
                        <a:rPr lang="en-US" sz="1050" kern="100">
                          <a:effectLst/>
                        </a:rPr>
                        <a:t>1</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8519896"/>
                  </a:ext>
                </a:extLst>
              </a:tr>
              <a:tr h="339466">
                <a:tc>
                  <a:txBody>
                    <a:bodyPr/>
                    <a:lstStyle/>
                    <a:p>
                      <a:pPr indent="266700" algn="just">
                        <a:lnSpc>
                          <a:spcPct val="125000"/>
                        </a:lnSpc>
                        <a:spcAft>
                          <a:spcPts val="0"/>
                        </a:spcAft>
                      </a:pPr>
                      <a:r>
                        <a:rPr lang="zh-CN" sz="1050" kern="100">
                          <a:effectLst/>
                        </a:rPr>
                        <a:t>点焊</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266700" algn="just">
                        <a:lnSpc>
                          <a:spcPct val="125000"/>
                        </a:lnSpc>
                        <a:spcAft>
                          <a:spcPts val="0"/>
                        </a:spcAft>
                      </a:pPr>
                      <a:r>
                        <a:rPr lang="zh-CN" sz="1050" kern="100">
                          <a:effectLst/>
                        </a:rPr>
                        <a:t>±</a:t>
                      </a:r>
                      <a:r>
                        <a:rPr lang="en-US" sz="1050" kern="100">
                          <a:effectLst/>
                        </a:rPr>
                        <a:t>1</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84551540"/>
                  </a:ext>
                </a:extLst>
              </a:tr>
              <a:tr h="339466">
                <a:tc>
                  <a:txBody>
                    <a:bodyPr/>
                    <a:lstStyle/>
                    <a:p>
                      <a:pPr indent="266700" algn="just">
                        <a:lnSpc>
                          <a:spcPct val="125000"/>
                        </a:lnSpc>
                        <a:spcAft>
                          <a:spcPts val="0"/>
                        </a:spcAft>
                      </a:pPr>
                      <a:r>
                        <a:rPr lang="zh-CN" sz="1050" kern="100">
                          <a:effectLst/>
                        </a:rPr>
                        <a:t>模锻</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266700" algn="just">
                        <a:lnSpc>
                          <a:spcPct val="125000"/>
                        </a:lnSpc>
                        <a:spcAft>
                          <a:spcPts val="0"/>
                        </a:spcAft>
                      </a:pPr>
                      <a:r>
                        <a:rPr lang="zh-CN" sz="1050" kern="100">
                          <a:effectLst/>
                        </a:rPr>
                        <a:t>±（</a:t>
                      </a:r>
                      <a:r>
                        <a:rPr lang="en-US" sz="1050" kern="100">
                          <a:effectLst/>
                        </a:rPr>
                        <a:t>0.1~2.0</a:t>
                      </a:r>
                      <a:r>
                        <a:rPr lang="zh-CN" sz="1050" kern="100">
                          <a:effectLst/>
                        </a:rPr>
                        <a:t>）</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13071336"/>
                  </a:ext>
                </a:extLst>
              </a:tr>
              <a:tr h="339466">
                <a:tc>
                  <a:txBody>
                    <a:bodyPr/>
                    <a:lstStyle/>
                    <a:p>
                      <a:pPr indent="266700" algn="just">
                        <a:lnSpc>
                          <a:spcPct val="125000"/>
                        </a:lnSpc>
                        <a:spcAft>
                          <a:spcPts val="0"/>
                        </a:spcAft>
                      </a:pPr>
                      <a:r>
                        <a:rPr lang="zh-CN" sz="1050" kern="100">
                          <a:effectLst/>
                        </a:rPr>
                        <a:t>喷涂</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266700" algn="just">
                        <a:lnSpc>
                          <a:spcPct val="125000"/>
                        </a:lnSpc>
                        <a:spcAft>
                          <a:spcPts val="0"/>
                        </a:spcAft>
                      </a:pPr>
                      <a:r>
                        <a:rPr lang="zh-CN" sz="1050" kern="100">
                          <a:effectLst/>
                        </a:rPr>
                        <a:t>±</a:t>
                      </a:r>
                      <a:r>
                        <a:rPr lang="en-US" sz="1050" kern="100">
                          <a:effectLst/>
                        </a:rPr>
                        <a:t>3</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7047572"/>
                  </a:ext>
                </a:extLst>
              </a:tr>
              <a:tr h="339466">
                <a:tc>
                  <a:txBody>
                    <a:bodyPr/>
                    <a:lstStyle/>
                    <a:p>
                      <a:pPr indent="266700" algn="just">
                        <a:lnSpc>
                          <a:spcPct val="125000"/>
                        </a:lnSpc>
                        <a:spcAft>
                          <a:spcPts val="0"/>
                        </a:spcAft>
                      </a:pPr>
                      <a:r>
                        <a:rPr lang="zh-CN" sz="1050" kern="100">
                          <a:effectLst/>
                        </a:rPr>
                        <a:t>装配、测量</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266700" algn="just">
                        <a:lnSpc>
                          <a:spcPct val="125000"/>
                        </a:lnSpc>
                        <a:spcAft>
                          <a:spcPts val="0"/>
                        </a:spcAft>
                      </a:pPr>
                      <a:r>
                        <a:rPr lang="zh-CN" sz="1050" kern="100" dirty="0">
                          <a:effectLst/>
                        </a:rPr>
                        <a:t>±（</a:t>
                      </a:r>
                      <a:r>
                        <a:rPr lang="en-US" sz="1050" kern="100" dirty="0">
                          <a:effectLst/>
                        </a:rPr>
                        <a:t>0.01~0.50</a:t>
                      </a:r>
                      <a:r>
                        <a:rPr lang="zh-CN" sz="1050" kern="100" dirty="0">
                          <a:effectLst/>
                        </a:rPr>
                        <a:t>）</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934019350"/>
                  </a:ext>
                </a:extLst>
              </a:tr>
            </a:tbl>
          </a:graphicData>
        </a:graphic>
      </p:graphicFrame>
      <p:sp>
        <p:nvSpPr>
          <p:cNvPr id="5" name="Rectangle 1"/>
          <p:cNvSpPr>
            <a:spLocks noChangeArrowheads="1"/>
          </p:cNvSpPr>
          <p:nvPr/>
        </p:nvSpPr>
        <p:spPr bwMode="auto">
          <a:xfrm>
            <a:off x="2339752" y="1271879"/>
            <a:ext cx="407034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dirty="0">
                <a:latin typeface="Times New Roman" panose="02020603050405020304" pitchFamily="18" charset="0"/>
                <a:cs typeface="Times New Roman" panose="02020603050405020304" pitchFamily="18" charset="0"/>
              </a:rPr>
              <a:t>表</a:t>
            </a:r>
            <a:r>
              <a:rPr lang="en-US" altLang="zh-CN" dirty="0">
                <a:cs typeface="Times New Roman" panose="02020603050405020304" pitchFamily="18" charset="0"/>
              </a:rPr>
              <a:t>8.1 </a:t>
            </a:r>
            <a:r>
              <a:rPr lang="zh-CN" altLang="en-US" dirty="0">
                <a:latin typeface="Times New Roman" panose="02020603050405020304" pitchFamily="18" charset="0"/>
                <a:cs typeface="Times New Roman" panose="02020603050405020304" pitchFamily="18" charset="0"/>
              </a:rPr>
              <a:t>不同工艺过程的定位精度</a:t>
            </a:r>
            <a:r>
              <a:rPr lang="zh-CN" altLang="en-US" dirty="0" smtClean="0">
                <a:latin typeface="Times New Roman" panose="02020603050405020304" pitchFamily="18" charset="0"/>
                <a:cs typeface="Times New Roman" panose="02020603050405020304" pitchFamily="18" charset="0"/>
              </a:rPr>
              <a:t>要求</a:t>
            </a:r>
            <a:endParaRPr lang="zh-CN" altLang="en-US" sz="1400" dirty="0"/>
          </a:p>
        </p:txBody>
      </p:sp>
      <p:sp>
        <p:nvSpPr>
          <p:cNvPr id="6" name="矩形 5"/>
          <p:cNvSpPr/>
          <p:nvPr/>
        </p:nvSpPr>
        <p:spPr>
          <a:xfrm>
            <a:off x="2984158" y="744357"/>
            <a:ext cx="2781531" cy="438582"/>
          </a:xfrm>
          <a:prstGeom prst="rect">
            <a:avLst/>
          </a:prstGeom>
        </p:spPr>
        <p:txBody>
          <a:bodyPr wrap="none">
            <a:spAutoFit/>
          </a:bodyPr>
          <a:lstStyle/>
          <a:p>
            <a:pPr marL="285750" indent="-285750" algn="just">
              <a:lnSpc>
                <a:spcPct val="125000"/>
              </a:lnSpc>
              <a:spcAft>
                <a:spcPts val="0"/>
              </a:spcAft>
              <a:buFont typeface="Wingdings" panose="05000000000000000000" pitchFamily="2" charset="2"/>
              <a:buChar char="Ø"/>
            </a:pPr>
            <a:r>
              <a:rPr lang="zh-CN" altLang="zh-CN" dirty="0"/>
              <a:t>机器人基本参数的确定</a:t>
            </a:r>
            <a:endParaRPr lang="en-US" altLang="zh-CN" dirty="0"/>
          </a:p>
        </p:txBody>
      </p:sp>
    </p:spTree>
    <p:extLst>
      <p:ext uri="{BB962C8B-B14F-4D97-AF65-F5344CB8AC3E}">
        <p14:creationId xmlns:p14="http://schemas.microsoft.com/office/powerpoint/2010/main" val="344235644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55747" y="254504"/>
            <a:ext cx="1107996" cy="369332"/>
          </a:xfrm>
          <a:prstGeom prst="rect">
            <a:avLst/>
          </a:prstGeom>
        </p:spPr>
        <p:txBody>
          <a:bodyPr wrap="none">
            <a:spAutoFit/>
          </a:bodyPr>
          <a:lstStyle/>
          <a:p>
            <a:r>
              <a:rPr lang="zh-CN" altLang="zh-CN" dirty="0"/>
              <a:t>技术设计</a:t>
            </a:r>
            <a:endParaRPr lang="zh-CN" altLang="en-US" dirty="0"/>
          </a:p>
        </p:txBody>
      </p:sp>
      <p:cxnSp>
        <p:nvCxnSpPr>
          <p:cNvPr id="13" name="直接连接符 12"/>
          <p:cNvCxnSpPr/>
          <p:nvPr/>
        </p:nvCxnSpPr>
        <p:spPr>
          <a:xfrm>
            <a:off x="0" y="627534"/>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1379367" y="1347614"/>
            <a:ext cx="6768752" cy="1823576"/>
          </a:xfrm>
          <a:prstGeom prst="rect">
            <a:avLst/>
          </a:prstGeom>
        </p:spPr>
        <p:txBody>
          <a:bodyPr wrap="square">
            <a:spAutoFit/>
          </a:bodyPr>
          <a:lstStyle/>
          <a:p>
            <a:pPr marL="285750" indent="-285750" algn="just">
              <a:lnSpc>
                <a:spcPct val="125000"/>
              </a:lnSpc>
              <a:buFont typeface="Wingdings" panose="05000000000000000000" pitchFamily="2" charset="2"/>
              <a:buChar char="Ø"/>
            </a:pPr>
            <a:r>
              <a:rPr lang="zh-CN" altLang="zh-CN" dirty="0"/>
              <a:t>机器人基本参数的</a:t>
            </a:r>
            <a:r>
              <a:rPr lang="zh-CN" altLang="zh-CN" dirty="0" smtClean="0"/>
              <a:t>确定</a:t>
            </a:r>
            <a:endParaRPr lang="en-US" altLang="zh-CN" dirty="0" smtClean="0"/>
          </a:p>
          <a:p>
            <a:pPr marL="285750" indent="-285750" algn="just">
              <a:lnSpc>
                <a:spcPct val="125000"/>
              </a:lnSpc>
              <a:spcAft>
                <a:spcPts val="0"/>
              </a:spcAft>
              <a:buFont typeface="Wingdings" panose="05000000000000000000" pitchFamily="2" charset="2"/>
              <a:buChar char="Ø"/>
            </a:pPr>
            <a:r>
              <a:rPr lang="zh-CN" altLang="zh-CN" dirty="0" smtClean="0"/>
              <a:t>机器人</a:t>
            </a:r>
            <a:r>
              <a:rPr lang="zh-CN" altLang="zh-CN" dirty="0"/>
              <a:t>运动形式或移动机构的选择</a:t>
            </a:r>
            <a:endParaRPr lang="en-US" altLang="zh-CN" dirty="0" smtClean="0"/>
          </a:p>
          <a:p>
            <a:pPr marL="285750" indent="-285750" algn="just">
              <a:lnSpc>
                <a:spcPct val="125000"/>
              </a:lnSpc>
              <a:buFont typeface="Wingdings" panose="05000000000000000000" pitchFamily="2" charset="2"/>
              <a:buChar char="Ø"/>
            </a:pPr>
            <a:r>
              <a:rPr lang="zh-CN" altLang="zh-CN" dirty="0"/>
              <a:t>拟定检测传感系统</a:t>
            </a:r>
            <a:r>
              <a:rPr lang="zh-CN" altLang="zh-CN" dirty="0" smtClean="0"/>
              <a:t>框图</a:t>
            </a:r>
            <a:endParaRPr lang="en-US" altLang="zh-CN" dirty="0" smtClean="0"/>
          </a:p>
          <a:p>
            <a:pPr marL="285750" indent="-285750" algn="just">
              <a:lnSpc>
                <a:spcPct val="125000"/>
              </a:lnSpc>
              <a:buFont typeface="Wingdings" panose="05000000000000000000" pitchFamily="2" charset="2"/>
              <a:buChar char="Ø"/>
            </a:pPr>
            <a:r>
              <a:rPr lang="zh-CN" altLang="zh-CN" dirty="0"/>
              <a:t>确定控制系统总体</a:t>
            </a:r>
            <a:r>
              <a:rPr lang="zh-CN" altLang="zh-CN" dirty="0" smtClean="0"/>
              <a:t>方案</a:t>
            </a:r>
            <a:endParaRPr lang="en-US" altLang="zh-CN" dirty="0" smtClean="0"/>
          </a:p>
          <a:p>
            <a:pPr marL="285750" indent="-285750" algn="just">
              <a:lnSpc>
                <a:spcPct val="125000"/>
              </a:lnSpc>
              <a:buFont typeface="Wingdings" panose="05000000000000000000" pitchFamily="2" charset="2"/>
              <a:buChar char="Ø"/>
            </a:pPr>
            <a:r>
              <a:rPr lang="zh-CN" altLang="zh-CN" dirty="0"/>
              <a:t>机械结构设计</a:t>
            </a:r>
            <a:endParaRPr lang="en-US" altLang="zh-CN" sz="1600" kern="1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982444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2031325"/>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分拣机器人可用于农副产品分选、金属分选、矿石分选等场景。一般需要搭配视觉等传感器，使用带有末端执行器或产品夹具的机械臂从传送带或层台上拾取产品，经过识别后分类放置于不同区域。臂端工具可以是机械式、吸力式或磁性夹具。</a:t>
            </a:r>
          </a:p>
          <a:p>
            <a:pPr>
              <a:lnSpc>
                <a:spcPct val="150000"/>
              </a:lnSpc>
            </a:pPr>
            <a:r>
              <a:rPr lang="zh-CN" altLang="en-US" sz="1200" dirty="0">
                <a:latin typeface="Arial" panose="020B0604020202020204" pitchFamily="34" charset="0"/>
                <a:ea typeface="微软雅黑" panose="020B0503020204020204" charset="-122"/>
                <a:sym typeface="+mn-ea"/>
              </a:rPr>
              <a:t>分拣机器人可以根据实际应用进行分类</a:t>
            </a:r>
            <a:r>
              <a:rPr lang="zh-CN" altLang="en-US" sz="1200" dirty="0" smtClean="0">
                <a:latin typeface="Arial" panose="020B0604020202020204" pitchFamily="34" charset="0"/>
                <a:ea typeface="微软雅黑" panose="020B0503020204020204" charset="-122"/>
                <a:sym typeface="+mn-ea"/>
              </a:rPr>
              <a:t>，例如在</a:t>
            </a:r>
            <a:r>
              <a:rPr lang="zh-CN" altLang="en-US" sz="1200" dirty="0">
                <a:latin typeface="Arial" panose="020B0604020202020204" pitchFamily="34" charset="0"/>
                <a:ea typeface="微软雅黑" panose="020B0503020204020204" charset="-122"/>
                <a:sym typeface="+mn-ea"/>
              </a:rPr>
              <a:t>建筑固废、快递包裹、水果等领域应用的分拣机器人。</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3781122" cy="52322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分拣机器人系统设计</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a:solidFill>
                  <a:schemeClr val="bg1"/>
                </a:solidFill>
                <a:latin typeface="微软雅黑" panose="020B0503020204020204" charset="-122"/>
                <a:ea typeface="微软雅黑" panose="020B0503020204020204" charset="-122"/>
                <a:sym typeface="+mn-ea"/>
              </a:rPr>
              <a:t>03</a:t>
            </a:r>
          </a:p>
        </p:txBody>
      </p:sp>
    </p:spTree>
    <p:extLst>
      <p:ext uri="{BB962C8B-B14F-4D97-AF65-F5344CB8AC3E}">
        <p14:creationId xmlns:p14="http://schemas.microsoft.com/office/powerpoint/2010/main" val="44651311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20" name="图片 19"/>
          <p:cNvPicPr/>
          <p:nvPr/>
        </p:nvPicPr>
        <p:blipFill>
          <a:blip r:embed="rId3"/>
          <a:stretch>
            <a:fillRect/>
          </a:stretch>
        </p:blipFill>
        <p:spPr>
          <a:xfrm>
            <a:off x="467544" y="1419622"/>
            <a:ext cx="3635375" cy="1962785"/>
          </a:xfrm>
          <a:prstGeom prst="rect">
            <a:avLst/>
          </a:prstGeom>
        </p:spPr>
      </p:pic>
      <p:sp>
        <p:nvSpPr>
          <p:cNvPr id="2" name="矩形 1"/>
          <p:cNvSpPr/>
          <p:nvPr/>
        </p:nvSpPr>
        <p:spPr>
          <a:xfrm>
            <a:off x="827584" y="3435846"/>
            <a:ext cx="3108543" cy="438582"/>
          </a:xfrm>
          <a:prstGeom prst="rect">
            <a:avLst/>
          </a:prstGeom>
        </p:spPr>
        <p:txBody>
          <a:bodyPr wrap="none">
            <a:spAutoFit/>
          </a:bodyPr>
          <a:lstStyle/>
          <a:p>
            <a:pPr indent="266700" algn="ctr">
              <a:lnSpc>
                <a:spcPct val="125000"/>
              </a:lnSpc>
              <a:spcAft>
                <a:spcPts val="0"/>
              </a:spcAft>
            </a:pPr>
            <a:r>
              <a:rPr lang="zh-CN" altLang="zh-CN" kern="100" dirty="0">
                <a:latin typeface="Times New Roman" panose="02020603050405020304" pitchFamily="18" charset="0"/>
                <a:cs typeface="Times New Roman" panose="02020603050405020304" pitchFamily="18" charset="0"/>
              </a:rPr>
              <a:t>图</a:t>
            </a:r>
            <a:r>
              <a:rPr lang="en-US" altLang="zh-CN" kern="100" dirty="0">
                <a:latin typeface="Times New Roman" panose="02020603050405020304" pitchFamily="18" charset="0"/>
                <a:cs typeface="Times New Roman" panose="02020603050405020304" pitchFamily="18" charset="0"/>
              </a:rPr>
              <a:t>8.1 </a:t>
            </a:r>
            <a:r>
              <a:rPr lang="zh-CN" altLang="zh-CN" kern="100" dirty="0">
                <a:latin typeface="Times New Roman" panose="02020603050405020304" pitchFamily="18" charset="0"/>
                <a:cs typeface="Times New Roman" panose="02020603050405020304" pitchFamily="18" charset="0"/>
              </a:rPr>
              <a:t>建筑固废分拣机器人</a:t>
            </a:r>
          </a:p>
        </p:txBody>
      </p:sp>
      <p:pic>
        <p:nvPicPr>
          <p:cNvPr id="22" name="图片 21"/>
          <p:cNvPicPr/>
          <p:nvPr/>
        </p:nvPicPr>
        <p:blipFill>
          <a:blip r:embed="rId4"/>
          <a:stretch>
            <a:fillRect/>
          </a:stretch>
        </p:blipFill>
        <p:spPr>
          <a:xfrm>
            <a:off x="3904183" y="123478"/>
            <a:ext cx="5139055" cy="2051685"/>
          </a:xfrm>
          <a:prstGeom prst="rect">
            <a:avLst/>
          </a:prstGeom>
        </p:spPr>
      </p:pic>
      <p:sp>
        <p:nvSpPr>
          <p:cNvPr id="3" name="矩形 2"/>
          <p:cNvSpPr/>
          <p:nvPr/>
        </p:nvSpPr>
        <p:spPr>
          <a:xfrm>
            <a:off x="5580112" y="2224787"/>
            <a:ext cx="2262158" cy="369332"/>
          </a:xfrm>
          <a:prstGeom prst="rect">
            <a:avLst/>
          </a:prstGeom>
        </p:spPr>
        <p:txBody>
          <a:bodyPr wrap="none">
            <a:spAutoFit/>
          </a:bodyPr>
          <a:lstStyle/>
          <a:p>
            <a:r>
              <a:rPr lang="zh-CN" altLang="zh-CN" kern="100" dirty="0">
                <a:latin typeface="Times New Roman" panose="02020603050405020304" pitchFamily="18" charset="0"/>
                <a:cs typeface="Times New Roman" panose="02020603050405020304" pitchFamily="18" charset="0"/>
              </a:rPr>
              <a:t>快递包裹分拣机器人</a:t>
            </a:r>
            <a:endParaRPr lang="zh-CN" altLang="en-US" dirty="0"/>
          </a:p>
        </p:txBody>
      </p:sp>
      <p:pic>
        <p:nvPicPr>
          <p:cNvPr id="24" name="图片 23" descr="房间的摆设布局&#10;&#10;中度可信度描述已自动生成"/>
          <p:cNvPicPr/>
          <p:nvPr/>
        </p:nvPicPr>
        <p:blipFill>
          <a:blip r:embed="rId5"/>
          <a:stretch>
            <a:fillRect/>
          </a:stretch>
        </p:blipFill>
        <p:spPr>
          <a:xfrm>
            <a:off x="4838983" y="2729362"/>
            <a:ext cx="3744416" cy="1412967"/>
          </a:xfrm>
          <a:prstGeom prst="rect">
            <a:avLst/>
          </a:prstGeom>
        </p:spPr>
      </p:pic>
      <p:sp>
        <p:nvSpPr>
          <p:cNvPr id="4" name="矩形 3"/>
          <p:cNvSpPr/>
          <p:nvPr/>
        </p:nvSpPr>
        <p:spPr>
          <a:xfrm>
            <a:off x="5580112" y="4277572"/>
            <a:ext cx="2492990" cy="369332"/>
          </a:xfrm>
          <a:prstGeom prst="rect">
            <a:avLst/>
          </a:prstGeom>
        </p:spPr>
        <p:txBody>
          <a:bodyPr wrap="none">
            <a:spAutoFit/>
          </a:bodyPr>
          <a:lstStyle/>
          <a:p>
            <a:r>
              <a:rPr lang="zh-CN" altLang="zh-CN" kern="100" dirty="0">
                <a:latin typeface="Times New Roman" panose="02020603050405020304" pitchFamily="18" charset="0"/>
                <a:cs typeface="Times New Roman" panose="02020603050405020304" pitchFamily="18" charset="0"/>
              </a:rPr>
              <a:t>分拣机器人系统实物图</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034324" y="1329506"/>
            <a:ext cx="3849370" cy="3383362"/>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搬运码垛机器人是一台能够快速高效地将产品整齐堆叠到托盘上的机器。它使用机械臂来拾取、定向和放置产品，并将它们排列成一个负载堆。第一台机械式码垛机是</a:t>
            </a:r>
            <a:r>
              <a:rPr lang="en-US" altLang="zh-CN" sz="1200" dirty="0" err="1">
                <a:latin typeface="Arial" panose="020B0604020202020204" pitchFamily="34" charset="0"/>
                <a:ea typeface="微软雅黑" panose="020B0503020204020204" charset="-122"/>
                <a:sym typeface="+mn-ea"/>
              </a:rPr>
              <a:t>Lamson</a:t>
            </a:r>
            <a:r>
              <a:rPr lang="en-US" altLang="zh-CN" sz="1200" dirty="0">
                <a:latin typeface="Arial" panose="020B0604020202020204" pitchFamily="34" charset="0"/>
                <a:ea typeface="微软雅黑" panose="020B0503020204020204" charset="-122"/>
                <a:sym typeface="+mn-ea"/>
              </a:rPr>
              <a:t> Corp.</a:t>
            </a:r>
            <a:r>
              <a:rPr lang="zh-CN" altLang="en-US" sz="1200" dirty="0">
                <a:latin typeface="Arial" panose="020B0604020202020204" pitchFamily="34" charset="0"/>
                <a:ea typeface="微软雅黑" panose="020B0503020204020204" charset="-122"/>
                <a:sym typeface="+mn-ea"/>
              </a:rPr>
              <a:t>公司于</a:t>
            </a:r>
            <a:r>
              <a:rPr lang="en-US" altLang="zh-CN" sz="1200" dirty="0">
                <a:latin typeface="Arial" panose="020B0604020202020204" pitchFamily="34" charset="0"/>
                <a:ea typeface="微软雅黑" panose="020B0503020204020204" charset="-122"/>
                <a:sym typeface="+mn-ea"/>
              </a:rPr>
              <a:t>1948</a:t>
            </a:r>
            <a:r>
              <a:rPr lang="zh-CN" altLang="en-US" sz="1200" dirty="0">
                <a:latin typeface="Arial" panose="020B0604020202020204" pitchFamily="34" charset="0"/>
                <a:ea typeface="微软雅黑" panose="020B0503020204020204" charset="-122"/>
                <a:sym typeface="+mn-ea"/>
              </a:rPr>
              <a:t>年设计制造的。该码垛机为排式码垛机，在这台机器中，材料被排列在一个行形成区域，然后被转移到另一个层堆叠的区域。这种码垛技术成为传统码垛机的基本操作</a:t>
            </a:r>
            <a:r>
              <a:rPr lang="zh-CN" altLang="en-US" sz="1200" dirty="0" smtClean="0">
                <a:latin typeface="Arial" panose="020B0604020202020204" pitchFamily="34" charset="0"/>
                <a:ea typeface="微软雅黑" panose="020B0503020204020204" charset="-122"/>
                <a:sym typeface="+mn-ea"/>
              </a:rPr>
              <a:t>。</a:t>
            </a:r>
            <a:endParaRPr lang="en-US" altLang="zh-CN" sz="1200" dirty="0" smtClean="0">
              <a:latin typeface="Arial" panose="020B0604020202020204" pitchFamily="34" charset="0"/>
              <a:ea typeface="微软雅黑" panose="020B0503020204020204" charset="-122"/>
              <a:sym typeface="+mn-ea"/>
            </a:endParaRPr>
          </a:p>
          <a:p>
            <a:pPr>
              <a:lnSpc>
                <a:spcPct val="150000"/>
              </a:lnSpc>
            </a:pPr>
            <a:r>
              <a:rPr lang="zh-CN" altLang="en-US" sz="1200" dirty="0">
                <a:latin typeface="Arial" panose="020B0604020202020204" pitchFamily="34" charset="0"/>
                <a:ea typeface="微软雅黑" panose="020B0503020204020204" charset="-122"/>
                <a:sym typeface="+mn-ea"/>
              </a:rPr>
              <a:t>码垛机器人于 </a:t>
            </a:r>
            <a:r>
              <a:rPr lang="en-US" altLang="zh-CN" sz="1200" dirty="0">
                <a:latin typeface="Arial" panose="020B0604020202020204" pitchFamily="34" charset="0"/>
                <a:ea typeface="微软雅黑" panose="020B0503020204020204" charset="-122"/>
                <a:sym typeface="+mn-ea"/>
              </a:rPr>
              <a:t>1980 </a:t>
            </a:r>
            <a:r>
              <a:rPr lang="zh-CN" altLang="en-US" sz="1200" dirty="0">
                <a:latin typeface="Arial" panose="020B0604020202020204" pitchFamily="34" charset="0"/>
                <a:ea typeface="微软雅黑" panose="020B0503020204020204" charset="-122"/>
                <a:sym typeface="+mn-ea"/>
              </a:rPr>
              <a:t>年代问世，使用带有末端执行器或产品夹具的机械臂，从传送带或层台上拾取产品，然后将其放置在托盘上。臂端工具可以是机械式、吸力式或磁性夹具。码垛机器人可以根据配置和结构进行分类，码垛机器人可以单独运行，也可以与其他单元协同运行</a:t>
            </a:r>
            <a:r>
              <a:rPr lang="zh-CN" altLang="en-US" sz="1200" dirty="0" smtClean="0">
                <a:latin typeface="Arial" panose="020B0604020202020204" pitchFamily="34" charset="0"/>
                <a:ea typeface="微软雅黑" panose="020B0503020204020204" charset="-122"/>
                <a:sym typeface="+mn-ea"/>
              </a:rPr>
              <a:t>。</a:t>
            </a:r>
            <a:endParaRPr lang="zh-CN" altLang="en-US" sz="1200" dirty="0">
              <a:latin typeface="Arial" panose="020B0604020202020204" pitchFamily="34" charset="0"/>
              <a:ea typeface="微软雅黑" panose="020B0503020204020204" charset="-122"/>
              <a:sym typeface="+mn-ea"/>
            </a:endParaRPr>
          </a:p>
        </p:txBody>
      </p:sp>
      <p:sp>
        <p:nvSpPr>
          <p:cNvPr id="7" name="文本框 6"/>
          <p:cNvSpPr txBox="1"/>
          <p:nvPr/>
        </p:nvSpPr>
        <p:spPr>
          <a:xfrm>
            <a:off x="4034324" y="789406"/>
            <a:ext cx="4262959" cy="52322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搬运码垛机器人系统设计</a:t>
            </a: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04</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206348049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0" y="627534"/>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655747" y="254504"/>
            <a:ext cx="1800493" cy="369332"/>
          </a:xfrm>
          <a:prstGeom prst="rect">
            <a:avLst/>
          </a:prstGeom>
        </p:spPr>
        <p:txBody>
          <a:bodyPr wrap="none">
            <a:spAutoFit/>
          </a:bodyPr>
          <a:lstStyle/>
          <a:p>
            <a:r>
              <a:rPr lang="zh-CN" altLang="en-US" dirty="0"/>
              <a:t>搬运码垛机器人</a:t>
            </a:r>
            <a:endParaRPr lang="zh-CN" altLang="en-US" dirty="0"/>
          </a:p>
        </p:txBody>
      </p:sp>
      <p:pic>
        <p:nvPicPr>
          <p:cNvPr id="8" name="图片 7" descr="cartesian-palletizer(1)"/>
          <p:cNvPicPr/>
          <p:nvPr/>
        </p:nvPicPr>
        <p:blipFill>
          <a:blip r:embed="rId3"/>
          <a:stretch>
            <a:fillRect/>
          </a:stretch>
        </p:blipFill>
        <p:spPr>
          <a:xfrm>
            <a:off x="827584" y="771550"/>
            <a:ext cx="3476235" cy="1584176"/>
          </a:xfrm>
          <a:prstGeom prst="rect">
            <a:avLst/>
          </a:prstGeom>
        </p:spPr>
      </p:pic>
      <p:sp>
        <p:nvSpPr>
          <p:cNvPr id="5" name="矩形 4"/>
          <p:cNvSpPr/>
          <p:nvPr/>
        </p:nvSpPr>
        <p:spPr>
          <a:xfrm>
            <a:off x="2033187" y="2365355"/>
            <a:ext cx="1622560" cy="369332"/>
          </a:xfrm>
          <a:prstGeom prst="rect">
            <a:avLst/>
          </a:prstGeom>
        </p:spPr>
        <p:txBody>
          <a:bodyPr wrap="none">
            <a:spAutoFit/>
          </a:bodyPr>
          <a:lstStyle/>
          <a:p>
            <a:r>
              <a:rPr lang="zh-CN" altLang="zh-CN" kern="100" dirty="0">
                <a:ea typeface="Times New Roman" panose="02020603050405020304" pitchFamily="18" charset="0"/>
              </a:rPr>
              <a:t> </a:t>
            </a:r>
            <a:r>
              <a:rPr lang="zh-CN" altLang="zh-CN" kern="100" dirty="0">
                <a:latin typeface="Times New Roman" panose="02020603050405020304" pitchFamily="18" charset="0"/>
                <a:cs typeface="Times New Roman" panose="02020603050405020304" pitchFamily="18" charset="0"/>
              </a:rPr>
              <a:t>笛卡尔码垛机</a:t>
            </a:r>
            <a:endParaRPr lang="zh-CN" altLang="en-US" dirty="0"/>
          </a:p>
        </p:txBody>
      </p:sp>
      <p:pic>
        <p:nvPicPr>
          <p:cNvPr id="9" name="图片 8" descr="gantry-palletizer(1)"/>
          <p:cNvPicPr/>
          <p:nvPr/>
        </p:nvPicPr>
        <p:blipFill>
          <a:blip r:embed="rId4"/>
          <a:stretch>
            <a:fillRect/>
          </a:stretch>
        </p:blipFill>
        <p:spPr>
          <a:xfrm>
            <a:off x="4716017" y="771550"/>
            <a:ext cx="3528392" cy="1584176"/>
          </a:xfrm>
          <a:prstGeom prst="rect">
            <a:avLst/>
          </a:prstGeom>
        </p:spPr>
      </p:pic>
      <p:sp>
        <p:nvSpPr>
          <p:cNvPr id="10" name="矩形 9"/>
          <p:cNvSpPr/>
          <p:nvPr/>
        </p:nvSpPr>
        <p:spPr>
          <a:xfrm>
            <a:off x="5868144" y="2365355"/>
            <a:ext cx="1800493" cy="369332"/>
          </a:xfrm>
          <a:prstGeom prst="rect">
            <a:avLst/>
          </a:prstGeom>
        </p:spPr>
        <p:txBody>
          <a:bodyPr wrap="none">
            <a:spAutoFit/>
          </a:bodyPr>
          <a:lstStyle/>
          <a:p>
            <a:r>
              <a:rPr lang="zh-CN" altLang="zh-CN" kern="100" dirty="0">
                <a:latin typeface="Times New Roman" panose="02020603050405020304" pitchFamily="18" charset="0"/>
                <a:cs typeface="Times New Roman" panose="02020603050405020304" pitchFamily="18" charset="0"/>
              </a:rPr>
              <a:t>龙门码垛机器人</a:t>
            </a:r>
            <a:endParaRPr lang="zh-CN" altLang="en-US" dirty="0"/>
          </a:p>
        </p:txBody>
      </p:sp>
      <p:pic>
        <p:nvPicPr>
          <p:cNvPr id="11" name="图片 10" descr="scara-palletizer(1)"/>
          <p:cNvPicPr/>
          <p:nvPr/>
        </p:nvPicPr>
        <p:blipFill>
          <a:blip r:embed="rId5"/>
          <a:stretch>
            <a:fillRect/>
          </a:stretch>
        </p:blipFill>
        <p:spPr>
          <a:xfrm>
            <a:off x="827584" y="2859782"/>
            <a:ext cx="3548820" cy="1512168"/>
          </a:xfrm>
          <a:prstGeom prst="rect">
            <a:avLst/>
          </a:prstGeom>
        </p:spPr>
      </p:pic>
      <p:sp>
        <p:nvSpPr>
          <p:cNvPr id="12" name="矩形 11"/>
          <p:cNvSpPr/>
          <p:nvPr/>
        </p:nvSpPr>
        <p:spPr>
          <a:xfrm>
            <a:off x="1907704" y="4506674"/>
            <a:ext cx="1646605" cy="369332"/>
          </a:xfrm>
          <a:prstGeom prst="rect">
            <a:avLst/>
          </a:prstGeom>
        </p:spPr>
        <p:txBody>
          <a:bodyPr wrap="none">
            <a:spAutoFit/>
          </a:bodyPr>
          <a:lstStyle/>
          <a:p>
            <a:r>
              <a:rPr lang="en-US" altLang="zh-CN" kern="100" dirty="0">
                <a:latin typeface="Times New Roman" panose="02020603050405020304" pitchFamily="18" charset="0"/>
              </a:rPr>
              <a:t>SCARA</a:t>
            </a:r>
            <a:r>
              <a:rPr lang="zh-CN" altLang="zh-CN" kern="100" dirty="0">
                <a:latin typeface="Times New Roman" panose="02020603050405020304" pitchFamily="18" charset="0"/>
                <a:cs typeface="Times New Roman" panose="02020603050405020304" pitchFamily="18" charset="0"/>
              </a:rPr>
              <a:t>码垛机</a:t>
            </a:r>
            <a:endParaRPr lang="zh-CN" altLang="en-US" dirty="0"/>
          </a:p>
        </p:txBody>
      </p:sp>
      <p:pic>
        <p:nvPicPr>
          <p:cNvPr id="13" name="图片 12"/>
          <p:cNvPicPr/>
          <p:nvPr/>
        </p:nvPicPr>
        <p:blipFill>
          <a:blip r:embed="rId6">
            <a:extLst>
              <a:ext uri="{28A0092B-C50C-407E-A947-70E740481C1C}">
                <a14:useLocalDpi xmlns:a14="http://schemas.microsoft.com/office/drawing/2010/main" val="0"/>
              </a:ext>
            </a:extLst>
          </a:blip>
          <a:srcRect/>
          <a:stretch>
            <a:fillRect/>
          </a:stretch>
        </p:blipFill>
        <p:spPr bwMode="auto">
          <a:xfrm>
            <a:off x="4716017" y="2859782"/>
            <a:ext cx="3528391" cy="1512168"/>
          </a:xfrm>
          <a:prstGeom prst="rect">
            <a:avLst/>
          </a:prstGeom>
          <a:noFill/>
          <a:ln>
            <a:noFill/>
          </a:ln>
        </p:spPr>
      </p:pic>
      <p:sp>
        <p:nvSpPr>
          <p:cNvPr id="14" name="矩形 13"/>
          <p:cNvSpPr/>
          <p:nvPr/>
        </p:nvSpPr>
        <p:spPr>
          <a:xfrm>
            <a:off x="5521895" y="4391819"/>
            <a:ext cx="2492990" cy="369332"/>
          </a:xfrm>
          <a:prstGeom prst="rect">
            <a:avLst/>
          </a:prstGeom>
        </p:spPr>
        <p:txBody>
          <a:bodyPr wrap="none">
            <a:spAutoFit/>
          </a:bodyPr>
          <a:lstStyle/>
          <a:p>
            <a:r>
              <a:rPr lang="zh-CN" altLang="en-US" kern="100" dirty="0" smtClean="0">
                <a:latin typeface="Times New Roman" panose="02020603050405020304" pitchFamily="18" charset="0"/>
                <a:cs typeface="Times New Roman" panose="02020603050405020304" pitchFamily="18" charset="0"/>
              </a:rPr>
              <a:t>串联</a:t>
            </a:r>
            <a:r>
              <a:rPr lang="zh-CN" altLang="zh-CN" kern="100" dirty="0" smtClean="0">
                <a:latin typeface="Times New Roman" panose="02020603050405020304" pitchFamily="18" charset="0"/>
                <a:cs typeface="Times New Roman" panose="02020603050405020304" pitchFamily="18" charset="0"/>
              </a:rPr>
              <a:t>工业机器人</a:t>
            </a:r>
            <a:r>
              <a:rPr lang="zh-CN" altLang="zh-CN" kern="100" dirty="0">
                <a:latin typeface="Times New Roman" panose="02020603050405020304" pitchFamily="18" charset="0"/>
                <a:cs typeface="Times New Roman" panose="02020603050405020304" pitchFamily="18" charset="0"/>
              </a:rPr>
              <a:t>码垛机</a:t>
            </a:r>
            <a:endParaRPr lang="zh-CN" altLang="en-US" dirty="0"/>
          </a:p>
        </p:txBody>
      </p:sp>
    </p:spTree>
    <p:extLst>
      <p:ext uri="{BB962C8B-B14F-4D97-AF65-F5344CB8AC3E}">
        <p14:creationId xmlns:p14="http://schemas.microsoft.com/office/powerpoint/2010/main" val="309492328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31640" y="1131590"/>
            <a:ext cx="5472608" cy="2554545"/>
          </a:xfrm>
          <a:prstGeom prst="rect">
            <a:avLst/>
          </a:prstGeom>
        </p:spPr>
        <p:txBody>
          <a:bodyPr wrap="square">
            <a:spAutoFit/>
          </a:bodyPr>
          <a:lstStyle/>
          <a:p>
            <a:r>
              <a:rPr lang="zh-CN" altLang="en-US" sz="1600" dirty="0"/>
              <a:t>工业机器人搬运码垛系统通常由以下几部分构成：</a:t>
            </a:r>
          </a:p>
          <a:p>
            <a:r>
              <a:rPr lang="zh-CN" altLang="en-US" sz="1600" dirty="0"/>
              <a:t>（1）</a:t>
            </a:r>
            <a:r>
              <a:rPr lang="zh-CN" altLang="en-US" sz="1600" dirty="0" smtClean="0"/>
              <a:t>托盘</a:t>
            </a:r>
            <a:endParaRPr lang="en-US" altLang="zh-CN" sz="1600" dirty="0" smtClean="0"/>
          </a:p>
          <a:p>
            <a:r>
              <a:rPr lang="zh-CN" altLang="en-US" sz="1600" dirty="0" smtClean="0"/>
              <a:t>（</a:t>
            </a:r>
            <a:r>
              <a:rPr lang="zh-CN" altLang="en-US" sz="1600" dirty="0"/>
              <a:t>2）</a:t>
            </a:r>
            <a:r>
              <a:rPr lang="zh-CN" altLang="en-US" sz="1600" dirty="0" smtClean="0"/>
              <a:t>传送带</a:t>
            </a:r>
            <a:endParaRPr lang="en-US" altLang="zh-CN" sz="1600" dirty="0" smtClean="0"/>
          </a:p>
          <a:p>
            <a:r>
              <a:rPr lang="zh-CN" altLang="en-US" sz="1600" dirty="0" smtClean="0"/>
              <a:t>（</a:t>
            </a:r>
            <a:r>
              <a:rPr lang="zh-CN" altLang="en-US" sz="1600" dirty="0"/>
              <a:t>3）</a:t>
            </a:r>
            <a:r>
              <a:rPr lang="zh-CN" altLang="en-US" sz="1600" dirty="0" smtClean="0"/>
              <a:t>控制器</a:t>
            </a:r>
            <a:endParaRPr lang="en-US" altLang="zh-CN" sz="1600" dirty="0" smtClean="0"/>
          </a:p>
          <a:p>
            <a:r>
              <a:rPr lang="zh-CN" altLang="en-US" sz="1600" dirty="0" smtClean="0"/>
              <a:t>（</a:t>
            </a:r>
            <a:r>
              <a:rPr lang="zh-CN" altLang="en-US" sz="1600" dirty="0"/>
              <a:t>4）</a:t>
            </a:r>
            <a:r>
              <a:rPr lang="zh-CN" altLang="en-US" sz="1600" dirty="0" smtClean="0"/>
              <a:t>操作员</a:t>
            </a:r>
            <a:endParaRPr lang="en-US" altLang="zh-CN" sz="1600" dirty="0" smtClean="0"/>
          </a:p>
          <a:p>
            <a:r>
              <a:rPr lang="zh-CN" altLang="en-US" sz="1600" dirty="0" smtClean="0"/>
              <a:t>（</a:t>
            </a:r>
            <a:r>
              <a:rPr lang="zh-CN" altLang="en-US" sz="1600" dirty="0"/>
              <a:t>5）夹持</a:t>
            </a:r>
            <a:r>
              <a:rPr lang="zh-CN" altLang="en-US" sz="1600" dirty="0" smtClean="0"/>
              <a:t>器</a:t>
            </a:r>
            <a:endParaRPr lang="en-US" altLang="zh-CN" sz="1600" dirty="0" smtClean="0"/>
          </a:p>
          <a:p>
            <a:r>
              <a:rPr lang="zh-CN" altLang="en-US" sz="1600" dirty="0" smtClean="0"/>
              <a:t>（</a:t>
            </a:r>
            <a:r>
              <a:rPr lang="zh-CN" altLang="en-US" sz="1600" dirty="0"/>
              <a:t>6）示教</a:t>
            </a:r>
            <a:r>
              <a:rPr lang="zh-CN" altLang="en-US" sz="1600" dirty="0" smtClean="0"/>
              <a:t>器</a:t>
            </a:r>
            <a:endParaRPr lang="en-US" altLang="zh-CN" sz="1600" dirty="0" smtClean="0"/>
          </a:p>
          <a:p>
            <a:r>
              <a:rPr lang="zh-CN" altLang="en-US" sz="1600" dirty="0" smtClean="0"/>
              <a:t>（</a:t>
            </a:r>
            <a:r>
              <a:rPr lang="zh-CN" altLang="en-US" sz="1600" dirty="0"/>
              <a:t>7）状态</a:t>
            </a:r>
            <a:r>
              <a:rPr lang="zh-CN" altLang="en-US" sz="1600" dirty="0" smtClean="0"/>
              <a:t>灯</a:t>
            </a:r>
            <a:endParaRPr lang="zh-CN" altLang="en-US" sz="1600" dirty="0"/>
          </a:p>
          <a:p>
            <a:r>
              <a:rPr lang="zh-CN" altLang="en-US" sz="1600" dirty="0"/>
              <a:t>（8）电缆</a:t>
            </a:r>
            <a:r>
              <a:rPr lang="zh-CN" altLang="en-US" sz="1600" dirty="0" smtClean="0"/>
              <a:t>管理系统</a:t>
            </a:r>
            <a:endParaRPr lang="zh-CN" altLang="en-US" sz="1600" dirty="0"/>
          </a:p>
          <a:p>
            <a:r>
              <a:rPr lang="zh-CN" altLang="en-US" sz="1600" dirty="0"/>
              <a:t>（9）保障</a:t>
            </a:r>
            <a:r>
              <a:rPr lang="zh-CN" altLang="en-US" sz="1600" dirty="0" smtClean="0"/>
              <a:t>措施</a:t>
            </a:r>
            <a:endParaRPr lang="zh-CN" altLang="en-US" sz="1600" dirty="0"/>
          </a:p>
        </p:txBody>
      </p:sp>
    </p:spTree>
    <p:extLst>
      <p:ext uri="{BB962C8B-B14F-4D97-AF65-F5344CB8AC3E}">
        <p14:creationId xmlns:p14="http://schemas.microsoft.com/office/powerpoint/2010/main" val="66902040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34232899"/>
              </p:ext>
            </p:extLst>
          </p:nvPr>
        </p:nvGraphicFramePr>
        <p:xfrm>
          <a:off x="2627784" y="483518"/>
          <a:ext cx="3771900" cy="4314825"/>
        </p:xfrm>
        <a:graphic>
          <a:graphicData uri="http://schemas.openxmlformats.org/presentationml/2006/ole">
            <mc:AlternateContent xmlns:mc="http://schemas.openxmlformats.org/markup-compatibility/2006">
              <mc:Choice xmlns:v="urn:schemas-microsoft-com:vml" Requires="v">
                <p:oleObj spid="_x0000_s25604" name="Visio" r:id="rId4" imgW="6486514" imgH="7429577" progId="Visio.Drawing.15">
                  <p:embed/>
                </p:oleObj>
              </mc:Choice>
              <mc:Fallback>
                <p:oleObj name="Visio" r:id="rId4" imgW="6486514" imgH="7429577"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7784" y="483518"/>
                        <a:ext cx="3771900" cy="431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2510202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007786" y="2019300"/>
            <a:ext cx="4526710" cy="2585323"/>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移动机器人巡防是一种利用移动机器人进行巡逻、监测和防范的安防措施。在安防领域，移动机器人可以执行各种任务，例如巡逻、侦察、监控、报警和反应等。</a:t>
            </a:r>
          </a:p>
          <a:p>
            <a:pPr>
              <a:lnSpc>
                <a:spcPct val="150000"/>
              </a:lnSpc>
            </a:pPr>
            <a:r>
              <a:rPr lang="zh-CN" altLang="en-US" sz="1200" dirty="0">
                <a:latin typeface="Arial" panose="020B0604020202020204" pitchFamily="34" charset="0"/>
                <a:ea typeface="微软雅黑" panose="020B0503020204020204" charset="-122"/>
                <a:sym typeface="+mn-ea"/>
              </a:rPr>
              <a:t>移动机器人巡防通常使用自主导航算法和多种传感器，如摄像头、激光雷达、超声波传感器和温度传感器等，来规划巡逻路线和监测环境。机器人可以自主地识别和跟踪目标，如犯罪嫌疑人、车辆和物品等，并将相关信息实时传输给指挥中心。同时，移动机器人可以进行自我保护，以避免受到攻击或损坏，并且可以在需要时自动报告或请求支援。</a:t>
            </a:r>
            <a:endParaRPr lang="zh-CN" altLang="en-US" sz="1200" dirty="0">
              <a:latin typeface="Arial" panose="020B0604020202020204" pitchFamily="34" charset="0"/>
              <a:ea typeface="微软雅黑" panose="020B0503020204020204" charset="-122"/>
              <a:sym typeface="+mn-ea"/>
            </a:endParaRPr>
          </a:p>
        </p:txBody>
      </p:sp>
      <p:sp>
        <p:nvSpPr>
          <p:cNvPr id="7" name="文本框 6"/>
          <p:cNvSpPr txBox="1"/>
          <p:nvPr/>
        </p:nvSpPr>
        <p:spPr>
          <a:xfrm>
            <a:off x="4221754" y="1339560"/>
            <a:ext cx="4281192" cy="52322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移动机器人巡防系统设计</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05</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316937410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p:nvPicPr>
        <p:blipFill>
          <a:blip r:embed="rId3"/>
          <a:stretch>
            <a:fillRect/>
          </a:stretch>
        </p:blipFill>
        <p:spPr>
          <a:xfrm>
            <a:off x="1763688" y="2427734"/>
            <a:ext cx="5400600" cy="2232248"/>
          </a:xfrm>
          <a:prstGeom prst="rect">
            <a:avLst/>
          </a:prstGeom>
        </p:spPr>
      </p:pic>
      <p:pic>
        <p:nvPicPr>
          <p:cNvPr id="8" name="图片 7"/>
          <p:cNvPicPr/>
          <p:nvPr/>
        </p:nvPicPr>
        <p:blipFill>
          <a:blip r:embed="rId4"/>
          <a:stretch>
            <a:fillRect/>
          </a:stretch>
        </p:blipFill>
        <p:spPr>
          <a:xfrm>
            <a:off x="5076056" y="348237"/>
            <a:ext cx="3240360" cy="1728192"/>
          </a:xfrm>
          <a:prstGeom prst="rect">
            <a:avLst/>
          </a:prstGeom>
        </p:spPr>
      </p:pic>
      <p:pic>
        <p:nvPicPr>
          <p:cNvPr id="9" name="图片 8"/>
          <p:cNvPicPr/>
          <p:nvPr/>
        </p:nvPicPr>
        <p:blipFill>
          <a:blip r:embed="rId5"/>
          <a:stretch>
            <a:fillRect/>
          </a:stretch>
        </p:blipFill>
        <p:spPr>
          <a:xfrm>
            <a:off x="767934" y="348237"/>
            <a:ext cx="3516034" cy="1728192"/>
          </a:xfrm>
          <a:prstGeom prst="rect">
            <a:avLst/>
          </a:prstGeom>
        </p:spPr>
      </p:pic>
    </p:spTree>
    <p:extLst>
      <p:ext uri="{BB962C8B-B14F-4D97-AF65-F5344CB8AC3E}">
        <p14:creationId xmlns:p14="http://schemas.microsoft.com/office/powerpoint/2010/main" val="35580045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0" y="627534"/>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655747" y="254504"/>
            <a:ext cx="1569660" cy="369332"/>
          </a:xfrm>
          <a:prstGeom prst="rect">
            <a:avLst/>
          </a:prstGeom>
        </p:spPr>
        <p:txBody>
          <a:bodyPr wrap="none">
            <a:spAutoFit/>
          </a:bodyPr>
          <a:lstStyle/>
          <a:p>
            <a:r>
              <a:rPr lang="zh-CN" altLang="en-US" dirty="0" smtClean="0"/>
              <a:t>本门课程实验</a:t>
            </a:r>
            <a:endParaRPr lang="zh-CN" altLang="en-US" dirty="0"/>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51720" y="1140382"/>
            <a:ext cx="5256584" cy="3570081"/>
          </a:xfrm>
          <a:prstGeom prst="rect">
            <a:avLst/>
          </a:prstGeom>
        </p:spPr>
      </p:pic>
    </p:spTree>
    <p:extLst>
      <p:ext uri="{BB962C8B-B14F-4D97-AF65-F5344CB8AC3E}">
        <p14:creationId xmlns:p14="http://schemas.microsoft.com/office/powerpoint/2010/main" val="372144336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067944" y="267494"/>
            <a:ext cx="800219" cy="461665"/>
          </a:xfrm>
          <a:prstGeom prst="rect">
            <a:avLst/>
          </a:prstGeom>
          <a:noFill/>
        </p:spPr>
        <p:txBody>
          <a:bodyPr wrap="none" rtlCol="0">
            <a:spAutoFit/>
          </a:bodyPr>
          <a:lstStyle/>
          <a:p>
            <a:r>
              <a:rPr lang="zh-CN" altLang="en-US" sz="2400" b="1" dirty="0"/>
              <a:t>作业</a:t>
            </a:r>
          </a:p>
        </p:txBody>
      </p:sp>
      <p:sp>
        <p:nvSpPr>
          <p:cNvPr id="3" name="矩形 2"/>
          <p:cNvSpPr/>
          <p:nvPr/>
        </p:nvSpPr>
        <p:spPr>
          <a:xfrm>
            <a:off x="334287" y="915566"/>
            <a:ext cx="8820472" cy="3762568"/>
          </a:xfrm>
          <a:prstGeom prst="rect">
            <a:avLst/>
          </a:prstGeom>
        </p:spPr>
        <p:txBody>
          <a:bodyPr wrap="square">
            <a:spAutoFit/>
          </a:bodyPr>
          <a:lstStyle/>
          <a:p>
            <a:pPr algn="just">
              <a:lnSpc>
                <a:spcPct val="125000"/>
              </a:lnSpc>
              <a:spcAft>
                <a:spcPts val="0"/>
              </a:spcAft>
            </a:pPr>
            <a:r>
              <a:rPr lang="zh-CN" altLang="zh-CN" b="1" kern="2200" dirty="0">
                <a:latin typeface="Times New Roman" panose="02020603050405020304" pitchFamily="18" charset="0"/>
                <a:cs typeface="Times New Roman" panose="02020603050405020304" pitchFamily="18" charset="0"/>
              </a:rPr>
              <a:t>习题</a:t>
            </a:r>
          </a:p>
          <a:p>
            <a:pPr indent="266700" algn="just">
              <a:lnSpc>
                <a:spcPct val="125000"/>
              </a:lnSpc>
              <a:spcAft>
                <a:spcPts val="0"/>
              </a:spcAft>
            </a:pPr>
            <a:r>
              <a:rPr lang="en-US" altLang="zh-CN" kern="100" dirty="0">
                <a:latin typeface="Times New Roman" panose="02020603050405020304" pitchFamily="18" charset="0"/>
                <a:cs typeface="Times New Roman" panose="02020603050405020304" pitchFamily="18" charset="0"/>
              </a:rPr>
              <a:t>1. </a:t>
            </a:r>
            <a:r>
              <a:rPr lang="zh-CN" altLang="zh-CN" kern="100" dirty="0">
                <a:latin typeface="Times New Roman" panose="02020603050405020304" pitchFamily="18" charset="0"/>
                <a:cs typeface="Times New Roman" panose="02020603050405020304" pitchFamily="18" charset="0"/>
              </a:rPr>
              <a:t>在设计机器人系统时需要考虑哪些因素？</a:t>
            </a:r>
          </a:p>
          <a:p>
            <a:pPr indent="266700" algn="just">
              <a:lnSpc>
                <a:spcPct val="125000"/>
              </a:lnSpc>
              <a:spcAft>
                <a:spcPts val="0"/>
              </a:spcAft>
            </a:pPr>
            <a:r>
              <a:rPr lang="en-US" altLang="zh-CN" kern="100" dirty="0">
                <a:latin typeface="Times New Roman" panose="02020603050405020304" pitchFamily="18" charset="0"/>
                <a:cs typeface="Times New Roman" panose="02020603050405020304" pitchFamily="18" charset="0"/>
              </a:rPr>
              <a:t>2. </a:t>
            </a:r>
            <a:r>
              <a:rPr lang="zh-CN" altLang="zh-CN" kern="100" dirty="0">
                <a:latin typeface="Times New Roman" panose="02020603050405020304" pitchFamily="18" charset="0"/>
                <a:cs typeface="Times New Roman" panose="02020603050405020304" pitchFamily="18" charset="0"/>
              </a:rPr>
              <a:t>协作机器人可以应用于哪些领域？举例说明它的必要性和合理性。</a:t>
            </a:r>
          </a:p>
          <a:p>
            <a:pPr indent="266700" algn="just">
              <a:lnSpc>
                <a:spcPct val="125000"/>
              </a:lnSpc>
              <a:spcAft>
                <a:spcPts val="0"/>
              </a:spcAft>
            </a:pPr>
            <a:r>
              <a:rPr lang="en-US" altLang="zh-CN" kern="100" dirty="0">
                <a:latin typeface="Times New Roman" panose="02020603050405020304" pitchFamily="18" charset="0"/>
                <a:cs typeface="Times New Roman" panose="02020603050405020304" pitchFamily="18" charset="0"/>
              </a:rPr>
              <a:t>3. </a:t>
            </a:r>
            <a:r>
              <a:rPr lang="zh-CN" altLang="zh-CN" kern="100" dirty="0">
                <a:latin typeface="Times New Roman" panose="02020603050405020304" pitchFamily="18" charset="0"/>
                <a:cs typeface="Times New Roman" panose="02020603050405020304" pitchFamily="18" charset="0"/>
              </a:rPr>
              <a:t>现有分拣机器人系统有哪些？</a:t>
            </a:r>
          </a:p>
          <a:p>
            <a:pPr indent="266700" algn="just">
              <a:lnSpc>
                <a:spcPct val="125000"/>
              </a:lnSpc>
              <a:spcAft>
                <a:spcPts val="0"/>
              </a:spcAft>
            </a:pPr>
            <a:r>
              <a:rPr lang="en-US" altLang="zh-CN" kern="100" dirty="0">
                <a:latin typeface="Times New Roman" panose="02020603050405020304" pitchFamily="18" charset="0"/>
                <a:cs typeface="Times New Roman" panose="02020603050405020304" pitchFamily="18" charset="0"/>
              </a:rPr>
              <a:t>4. </a:t>
            </a:r>
            <a:r>
              <a:rPr lang="zh-CN" altLang="zh-CN" kern="100" dirty="0">
                <a:latin typeface="Times New Roman" panose="02020603050405020304" pitchFamily="18" charset="0"/>
                <a:cs typeface="Times New Roman" panose="02020603050405020304" pitchFamily="18" charset="0"/>
              </a:rPr>
              <a:t>搬运码垛系统有什么特点</a:t>
            </a:r>
            <a:r>
              <a:rPr lang="en-US" altLang="zh-CN" kern="100" dirty="0">
                <a:latin typeface="Times New Roman" panose="02020603050405020304" pitchFamily="18" charset="0"/>
                <a:cs typeface="Times New Roman" panose="02020603050405020304" pitchFamily="18" charset="0"/>
              </a:rPr>
              <a:t>?</a:t>
            </a:r>
            <a:endParaRPr lang="zh-CN" altLang="zh-CN" kern="100" dirty="0">
              <a:latin typeface="Times New Roman" panose="02020603050405020304" pitchFamily="18" charset="0"/>
              <a:cs typeface="Times New Roman" panose="02020603050405020304" pitchFamily="18" charset="0"/>
            </a:endParaRPr>
          </a:p>
          <a:p>
            <a:pPr indent="266700" algn="just">
              <a:lnSpc>
                <a:spcPct val="125000"/>
              </a:lnSpc>
              <a:spcAft>
                <a:spcPts val="0"/>
              </a:spcAft>
            </a:pPr>
            <a:r>
              <a:rPr lang="en-US" altLang="zh-CN" kern="100" dirty="0">
                <a:latin typeface="Times New Roman" panose="02020603050405020304" pitchFamily="18" charset="0"/>
                <a:cs typeface="Times New Roman" panose="02020603050405020304" pitchFamily="18" charset="0"/>
              </a:rPr>
              <a:t>5. </a:t>
            </a:r>
            <a:r>
              <a:rPr lang="zh-CN" altLang="zh-CN" kern="100" dirty="0">
                <a:latin typeface="Times New Roman" panose="02020603050405020304" pitchFamily="18" charset="0"/>
                <a:cs typeface="Times New Roman" panose="02020603050405020304" pitchFamily="18" charset="0"/>
              </a:rPr>
              <a:t>巡检机器人需要解决哪些核心技术问题？</a:t>
            </a:r>
          </a:p>
          <a:p>
            <a:pPr algn="just">
              <a:lnSpc>
                <a:spcPct val="125000"/>
              </a:lnSpc>
              <a:spcAft>
                <a:spcPts val="0"/>
              </a:spcAft>
            </a:pPr>
            <a:r>
              <a:rPr lang="zh-CN" altLang="zh-CN" b="1" kern="2200" dirty="0">
                <a:latin typeface="Times New Roman" panose="02020603050405020304" pitchFamily="18" charset="0"/>
                <a:cs typeface="Times New Roman" panose="02020603050405020304" pitchFamily="18" charset="0"/>
              </a:rPr>
              <a:t>编程</a:t>
            </a:r>
          </a:p>
          <a:p>
            <a:pPr indent="266700" algn="just">
              <a:lnSpc>
                <a:spcPct val="125000"/>
              </a:lnSpc>
              <a:spcAft>
                <a:spcPts val="0"/>
              </a:spcAft>
            </a:pPr>
            <a:r>
              <a:rPr lang="en-US" altLang="zh-CN" kern="100" dirty="0">
                <a:latin typeface="Times New Roman" panose="02020603050405020304" pitchFamily="18" charset="0"/>
                <a:cs typeface="Times New Roman" panose="02020603050405020304" pitchFamily="18" charset="0"/>
              </a:rPr>
              <a:t>1. </a:t>
            </a:r>
            <a:r>
              <a:rPr lang="zh-CN" altLang="zh-CN" kern="100" dirty="0">
                <a:latin typeface="Times New Roman" panose="02020603050405020304" pitchFamily="18" charset="0"/>
                <a:cs typeface="Times New Roman" panose="02020603050405020304" pitchFamily="18" charset="0"/>
              </a:rPr>
              <a:t>请在</a:t>
            </a:r>
            <a:r>
              <a:rPr lang="en-US" altLang="zh-CN" kern="100" dirty="0">
                <a:latin typeface="Times New Roman" panose="02020603050405020304" pitchFamily="18" charset="0"/>
                <a:cs typeface="Times New Roman" panose="02020603050405020304" pitchFamily="18" charset="0"/>
              </a:rPr>
              <a:t>VREP</a:t>
            </a:r>
            <a:r>
              <a:rPr lang="zh-CN" altLang="zh-CN" kern="100" dirty="0">
                <a:latin typeface="Times New Roman" panose="02020603050405020304" pitchFamily="18" charset="0"/>
                <a:cs typeface="Times New Roman" panose="02020603050405020304" pitchFamily="18" charset="0"/>
              </a:rPr>
              <a:t>等仿真环境下建立包裹分拣机器人的模拟场景，并实现物体的分拣。</a:t>
            </a:r>
          </a:p>
          <a:p>
            <a:pPr indent="266700" algn="just">
              <a:lnSpc>
                <a:spcPct val="125000"/>
              </a:lnSpc>
              <a:spcAft>
                <a:spcPts val="0"/>
              </a:spcAft>
            </a:pPr>
            <a:r>
              <a:rPr lang="en-US" altLang="zh-CN" kern="100" dirty="0">
                <a:latin typeface="Times New Roman" panose="02020603050405020304" pitchFamily="18" charset="0"/>
                <a:cs typeface="Times New Roman" panose="02020603050405020304" pitchFamily="18" charset="0"/>
              </a:rPr>
              <a:t>2. </a:t>
            </a:r>
            <a:r>
              <a:rPr lang="zh-CN" altLang="zh-CN" kern="100" dirty="0">
                <a:latin typeface="Times New Roman" panose="02020603050405020304" pitchFamily="18" charset="0"/>
                <a:cs typeface="Times New Roman" panose="02020603050405020304" pitchFamily="18" charset="0"/>
              </a:rPr>
              <a:t>请使用层次状态机（</a:t>
            </a:r>
            <a:r>
              <a:rPr lang="en-US" altLang="zh-CN" kern="100" dirty="0">
                <a:latin typeface="Times New Roman" panose="02020603050405020304" pitchFamily="18" charset="0"/>
                <a:cs typeface="Times New Roman" panose="02020603050405020304" pitchFamily="18" charset="0"/>
              </a:rPr>
              <a:t>Hierarchical State Machine</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HSM</a:t>
            </a:r>
            <a:r>
              <a:rPr lang="zh-CN" altLang="zh-CN" kern="100" dirty="0">
                <a:latin typeface="Times New Roman" panose="02020603050405020304" pitchFamily="18" charset="0"/>
                <a:cs typeface="Times New Roman" panose="02020603050405020304" pitchFamily="18" charset="0"/>
              </a:rPr>
              <a:t>）编写机器人码垛的代码。</a:t>
            </a:r>
          </a:p>
          <a:p>
            <a:r>
              <a:rPr lang="en-US" altLang="zh-CN" kern="100" dirty="0" smtClean="0">
                <a:latin typeface="Times New Roman" panose="02020603050405020304" pitchFamily="18" charset="0"/>
              </a:rPr>
              <a:t>     3</a:t>
            </a:r>
            <a:r>
              <a:rPr lang="en-US" altLang="zh-CN" kern="100" dirty="0">
                <a:latin typeface="Times New Roman" panose="02020603050405020304" pitchFamily="18" charset="0"/>
              </a:rPr>
              <a:t>. </a:t>
            </a:r>
            <a:r>
              <a:rPr lang="zh-CN" altLang="zh-CN" kern="100" dirty="0">
                <a:latin typeface="Times New Roman" panose="02020603050405020304" pitchFamily="18" charset="0"/>
                <a:cs typeface="Times New Roman" panose="02020603050405020304" pitchFamily="18" charset="0"/>
              </a:rPr>
              <a:t>在</a:t>
            </a:r>
            <a:r>
              <a:rPr lang="en-US" altLang="zh-CN" kern="100" dirty="0">
                <a:latin typeface="Times New Roman" panose="02020603050405020304" pitchFamily="18" charset="0"/>
              </a:rPr>
              <a:t>XML</a:t>
            </a:r>
            <a:r>
              <a:rPr lang="zh-CN" altLang="zh-CN" kern="100" dirty="0">
                <a:latin typeface="Times New Roman" panose="02020603050405020304" pitchFamily="18" charset="0"/>
                <a:cs typeface="Times New Roman" panose="02020603050405020304" pitchFamily="18" charset="0"/>
              </a:rPr>
              <a:t>文件中编辑行为树实现机器人的巡检操作，并将行为树在</a:t>
            </a:r>
            <a:r>
              <a:rPr lang="en-US" altLang="zh-CN" kern="100" dirty="0">
                <a:latin typeface="Times New Roman" panose="02020603050405020304" pitchFamily="18" charset="0"/>
              </a:rPr>
              <a:t>VREP</a:t>
            </a:r>
            <a:r>
              <a:rPr lang="zh-CN" altLang="zh-CN" kern="100" dirty="0">
                <a:latin typeface="Times New Roman" panose="02020603050405020304" pitchFamily="18" charset="0"/>
                <a:cs typeface="Times New Roman" panose="02020603050405020304" pitchFamily="18" charset="0"/>
              </a:rPr>
              <a:t>等仿真软件中可视化。</a:t>
            </a:r>
            <a:endParaRPr lang="zh-CN" altLang="en-US" dirty="0"/>
          </a:p>
        </p:txBody>
      </p:sp>
    </p:spTree>
    <p:extLst>
      <p:ext uri="{BB962C8B-B14F-4D97-AF65-F5344CB8AC3E}">
        <p14:creationId xmlns:p14="http://schemas.microsoft.com/office/powerpoint/2010/main" val="392962089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椭圆 2"/>
          <p:cNvSpPr/>
          <p:nvPr/>
        </p:nvSpPr>
        <p:spPr>
          <a:xfrm>
            <a:off x="1943735" y="-3544570"/>
            <a:ext cx="5256530" cy="52565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3"/>
          <p:cNvSpPr txBox="1"/>
          <p:nvPr/>
        </p:nvSpPr>
        <p:spPr>
          <a:xfrm>
            <a:off x="1352550" y="2116587"/>
            <a:ext cx="6821170" cy="829945"/>
          </a:xfrm>
          <a:prstGeom prst="rect">
            <a:avLst/>
          </a:prstGeom>
          <a:noFill/>
          <a:effectLst/>
        </p:spPr>
        <p:txBody>
          <a:bodyPr wrap="square" rtlCol="0">
            <a:spAutoFit/>
          </a:bodyPr>
          <a:lstStyle/>
          <a:p>
            <a:pPr algn="ctr"/>
            <a:r>
              <a:rPr lang="en-US" sz="4800" b="1" dirty="0" smtClean="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THANK YOU</a:t>
            </a:r>
          </a:p>
        </p:txBody>
      </p:sp>
      <p:sp>
        <p:nvSpPr>
          <p:cNvPr id="5" name="矩形 4"/>
          <p:cNvSpPr/>
          <p:nvPr/>
        </p:nvSpPr>
        <p:spPr>
          <a:xfrm>
            <a:off x="1155383" y="2946400"/>
            <a:ext cx="7215505" cy="275590"/>
          </a:xfrm>
          <a:prstGeom prst="rect">
            <a:avLst/>
          </a:prstGeom>
        </p:spPr>
        <p:txBody>
          <a:bodyPr wrap="square">
            <a:spAutoFit/>
          </a:bodyPr>
          <a:lstStyle/>
          <a:p>
            <a:pPr algn="ctr">
              <a:lnSpc>
                <a:spcPct val="100000"/>
              </a:lnSpc>
            </a:pPr>
            <a:r>
              <a:rPr lang="zh-CN" altLang="en-US" sz="1000">
                <a:solidFill>
                  <a:schemeClr val="tx1"/>
                </a:solidFill>
                <a:latin typeface="Arial" panose="020B0604020202020204" pitchFamily="34" charset="0"/>
                <a:ea typeface="微软雅黑" panose="020B0503020204020204" charset="-122"/>
              </a:rPr>
              <a:t>标题、正文等都可以通过点击进行修改，可以对字体、字号、颜色、行距进行修改</a:t>
            </a:r>
            <a:r>
              <a:rPr lang="zh-CN" altLang="en-US" sz="1200">
                <a:solidFill>
                  <a:schemeClr val="tx1"/>
                </a:solidFill>
                <a:latin typeface="Arial" panose="020B0604020202020204" pitchFamily="34" charset="0"/>
                <a:ea typeface="微软雅黑" panose="020B0503020204020204" charset="-122"/>
              </a:rPr>
              <a:t>。</a:t>
            </a:r>
            <a:endParaRPr lang="zh-CN" altLang="en-US" sz="1200">
              <a:solidFill>
                <a:schemeClr val="tx1"/>
              </a:solidFill>
              <a:latin typeface="Arial" panose="020B0604020202020204" pitchFamily="34" charset="0"/>
              <a:ea typeface="微软雅黑" panose="020B0503020204020204" charset="-122"/>
              <a:sym typeface="+mn-ea"/>
            </a:endParaRPr>
          </a:p>
        </p:txBody>
      </p:sp>
      <p:sp>
        <p:nvSpPr>
          <p:cNvPr id="4" name="椭圆 3"/>
          <p:cNvSpPr/>
          <p:nvPr/>
        </p:nvSpPr>
        <p:spPr>
          <a:xfrm>
            <a:off x="2304415" y="-3183890"/>
            <a:ext cx="4535170" cy="4535170"/>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4289425" y="3444240"/>
            <a:ext cx="948055" cy="215900"/>
          </a:xfrm>
          <a:prstGeom prst="roundRect">
            <a:avLst/>
          </a:prstGeom>
          <a:no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4417695" y="3429635"/>
            <a:ext cx="690880" cy="245110"/>
          </a:xfrm>
          <a:prstGeom prst="rect">
            <a:avLst/>
          </a:prstGeom>
          <a:noFill/>
        </p:spPr>
        <p:txBody>
          <a:bodyPr wrap="none" rtlCol="0">
            <a:spAutoFit/>
          </a:bodyPr>
          <a:lstStyle/>
          <a:p>
            <a:r>
              <a:rPr lang="zh-CN" altLang="en-US" sz="1000">
                <a:latin typeface="微软雅黑" panose="020B0503020204020204" charset="-122"/>
                <a:ea typeface="微软雅黑" panose="020B0503020204020204" charset="-122"/>
              </a:rPr>
              <a:t>添加文字</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新"/>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160464_4*l_h_i*1_1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160464_4*l_h_f*1_1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160464_4*l_h_a*1_1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160464_4*l_h_i*1_2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160464_4*l_h_f*1_2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160464_4*l_h_a*1_2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160464_4*l_h_i*1_3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160464_4*l_h_f*1_3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160464_4*l_h_a*1_3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3696</Words>
  <Application>Microsoft Office PowerPoint</Application>
  <PresentationFormat>全屏显示(16:9)</PresentationFormat>
  <Paragraphs>247</Paragraphs>
  <Slides>23</Slides>
  <Notes>21</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1</vt:i4>
      </vt:variant>
      <vt:variant>
        <vt:lpstr>幻灯片标题</vt:lpstr>
      </vt:variant>
      <vt:variant>
        <vt:i4>23</vt:i4>
      </vt:variant>
    </vt:vector>
  </HeadingPairs>
  <TitlesOfParts>
    <vt:vector size="35" baseType="lpstr">
      <vt:lpstr>楷体</vt:lpstr>
      <vt:lpstr>楷体_GB2312</vt:lpstr>
      <vt:lpstr>宋体</vt:lpstr>
      <vt:lpstr>宋体-简</vt:lpstr>
      <vt:lpstr>微软雅黑</vt:lpstr>
      <vt:lpstr>Arial</vt:lpstr>
      <vt:lpstr>Calibri</vt:lpstr>
      <vt:lpstr>Times New Roman</vt:lpstr>
      <vt:lpstr>Wingdings</vt:lpstr>
      <vt:lpstr>Office 主题​​</vt:lpstr>
      <vt:lpstr>自定义设计方案</vt:lpstr>
      <vt:lpstr>Microsoft Visio 绘图</vt:lpstr>
      <vt:lpstr>PowerPoint 演示文稿</vt:lpstr>
      <vt:lpstr>Textbooks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cp:revision>
  <dcterms:created xsi:type="dcterms:W3CDTF">2017-03-24T14:39:00Z</dcterms:created>
  <dcterms:modified xsi:type="dcterms:W3CDTF">2024-04-28T02:50:14Z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2052-11.1.0.9912</vt:lpwstr>
  </property>
</Properties>
</file>